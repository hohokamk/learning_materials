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sldIdLst>
    <p:sldId id="256" r:id="rId2"/>
    <p:sldId id="257" r:id="rId3"/>
    <p:sldId id="263" r:id="rId4"/>
    <p:sldId id="258" r:id="rId5"/>
    <p:sldId id="273" r:id="rId6"/>
    <p:sldId id="2076139112" r:id="rId7"/>
    <p:sldId id="2076139011" r:id="rId8"/>
    <p:sldId id="2076139107" r:id="rId9"/>
    <p:sldId id="2076139109" r:id="rId10"/>
    <p:sldId id="2076139110" r:id="rId11"/>
    <p:sldId id="2076139012" r:id="rId12"/>
    <p:sldId id="2076139054" r:id="rId13"/>
    <p:sldId id="2076139013" r:id="rId14"/>
    <p:sldId id="2076138971" r:id="rId15"/>
    <p:sldId id="2076139056" r:id="rId16"/>
    <p:sldId id="2076139057" r:id="rId17"/>
    <p:sldId id="2076139026" r:id="rId18"/>
    <p:sldId id="2076139058" r:id="rId19"/>
    <p:sldId id="2076139027" r:id="rId20"/>
    <p:sldId id="2076139111" r:id="rId21"/>
    <p:sldId id="2076139059" r:id="rId22"/>
    <p:sldId id="2076139029" r:id="rId23"/>
    <p:sldId id="2076139060" r:id="rId24"/>
    <p:sldId id="2076139061" r:id="rId25"/>
    <p:sldId id="2076139062" r:id="rId26"/>
    <p:sldId id="2076139063" r:id="rId27"/>
    <p:sldId id="2076139064" r:id="rId28"/>
    <p:sldId id="2076139065" r:id="rId29"/>
    <p:sldId id="2076139066" r:id="rId30"/>
    <p:sldId id="2076139067" r:id="rId31"/>
    <p:sldId id="2076139068" r:id="rId32"/>
    <p:sldId id="2076139069" r:id="rId33"/>
    <p:sldId id="2076139070" r:id="rId34"/>
    <p:sldId id="2076139071" r:id="rId35"/>
    <p:sldId id="2076139072" r:id="rId36"/>
    <p:sldId id="2076139113" r:id="rId37"/>
    <p:sldId id="2076139073" r:id="rId38"/>
    <p:sldId id="2076139074" r:id="rId39"/>
    <p:sldId id="2076139075" r:id="rId40"/>
    <p:sldId id="2076139114" r:id="rId41"/>
    <p:sldId id="2076139115" r:id="rId42"/>
    <p:sldId id="2076139076" r:id="rId43"/>
    <p:sldId id="2076139077" r:id="rId44"/>
    <p:sldId id="2076139078" r:id="rId45"/>
    <p:sldId id="2076139079" r:id="rId46"/>
    <p:sldId id="2076139080" r:id="rId47"/>
    <p:sldId id="2076139081" r:id="rId48"/>
    <p:sldId id="2076139082" r:id="rId49"/>
    <p:sldId id="2076139083" r:id="rId50"/>
    <p:sldId id="2076139116" r:id="rId51"/>
    <p:sldId id="2076139084" r:id="rId52"/>
    <p:sldId id="2076139085" r:id="rId53"/>
    <p:sldId id="2076139086" r:id="rId54"/>
    <p:sldId id="2076139087" r:id="rId55"/>
    <p:sldId id="2076139088" r:id="rId56"/>
    <p:sldId id="2076139089" r:id="rId57"/>
    <p:sldId id="2076139090" r:id="rId58"/>
    <p:sldId id="2076139091" r:id="rId59"/>
    <p:sldId id="2076139092" r:id="rId60"/>
    <p:sldId id="2076139117" r:id="rId61"/>
    <p:sldId id="2076139093" r:id="rId62"/>
    <p:sldId id="2076139094" r:id="rId63"/>
    <p:sldId id="2076139118" r:id="rId64"/>
    <p:sldId id="2076139095" r:id="rId65"/>
    <p:sldId id="2076139096" r:id="rId66"/>
    <p:sldId id="2076139097" r:id="rId67"/>
    <p:sldId id="2076139098" r:id="rId68"/>
    <p:sldId id="2076139099" r:id="rId69"/>
    <p:sldId id="2076139102" r:id="rId70"/>
    <p:sldId id="2076139100" r:id="rId71"/>
    <p:sldId id="2076139103" r:id="rId72"/>
    <p:sldId id="2076139104" r:id="rId73"/>
    <p:sldId id="2076139105" r:id="rId74"/>
    <p:sldId id="2076139119" r:id="rId75"/>
    <p:sldId id="2076139101" r:id="rId76"/>
    <p:sldId id="269" r:id="rId77"/>
    <p:sldId id="270" r:id="rId7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480"/>
    <a:srgbClr val="01717E"/>
    <a:srgbClr val="017C84"/>
    <a:srgbClr val="51ADB7"/>
    <a:srgbClr val="014D53"/>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5" autoAdjust="0"/>
    <p:restoredTop sz="84709" autoAdjust="0"/>
  </p:normalViewPr>
  <p:slideViewPr>
    <p:cSldViewPr snapToGrid="0">
      <p:cViewPr>
        <p:scale>
          <a:sx n="75" d="100"/>
          <a:sy n="75" d="100"/>
        </p:scale>
        <p:origin x="1146" y="474"/>
      </p:cViewPr>
      <p:guideLst/>
    </p:cSldViewPr>
  </p:slideViewPr>
  <p:outlineViewPr>
    <p:cViewPr>
      <p:scale>
        <a:sx n="33" d="100"/>
        <a:sy n="33" d="100"/>
      </p:scale>
      <p:origin x="0" y="-752"/>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2482812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2017181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3223760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4195564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3850801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703966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12</a:t>
            </a:fld>
            <a:endParaRPr lang="zh-CN" altLang="en-US"/>
          </a:p>
        </p:txBody>
      </p:sp>
    </p:spTree>
    <p:extLst>
      <p:ext uri="{BB962C8B-B14F-4D97-AF65-F5344CB8AC3E}">
        <p14:creationId xmlns:p14="http://schemas.microsoft.com/office/powerpoint/2010/main" val="770090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4033321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2904518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1633131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3828023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2427810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3862059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981862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3318489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1564618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3116099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2721412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1527067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21651074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2489511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580207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1850217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31135604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2982376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11806989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32</a:t>
            </a:fld>
            <a:endParaRPr lang="zh-CN" altLang="en-US"/>
          </a:p>
        </p:txBody>
      </p:sp>
    </p:spTree>
    <p:extLst>
      <p:ext uri="{BB962C8B-B14F-4D97-AF65-F5344CB8AC3E}">
        <p14:creationId xmlns:p14="http://schemas.microsoft.com/office/powerpoint/2010/main" val="7466202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32385848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3966181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10415659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extLst>
      <p:ext uri="{BB962C8B-B14F-4D97-AF65-F5344CB8AC3E}">
        <p14:creationId xmlns:p14="http://schemas.microsoft.com/office/powerpoint/2010/main" val="3935442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26834443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extLst>
      <p:ext uri="{BB962C8B-B14F-4D97-AF65-F5344CB8AC3E}">
        <p14:creationId xmlns:p14="http://schemas.microsoft.com/office/powerpoint/2010/main" val="6362601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13468827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34067327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31344146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23855318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43</a:t>
            </a:fld>
            <a:endParaRPr lang="zh-CN" altLang="en-US"/>
          </a:p>
        </p:txBody>
      </p:sp>
    </p:spTree>
    <p:extLst>
      <p:ext uri="{BB962C8B-B14F-4D97-AF65-F5344CB8AC3E}">
        <p14:creationId xmlns:p14="http://schemas.microsoft.com/office/powerpoint/2010/main" val="42783436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44</a:t>
            </a:fld>
            <a:endParaRPr lang="zh-CN" altLang="en-US"/>
          </a:p>
        </p:txBody>
      </p:sp>
    </p:spTree>
    <p:extLst>
      <p:ext uri="{BB962C8B-B14F-4D97-AF65-F5344CB8AC3E}">
        <p14:creationId xmlns:p14="http://schemas.microsoft.com/office/powerpoint/2010/main" val="6158318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39110192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46</a:t>
            </a:fld>
            <a:endParaRPr lang="zh-CN" altLang="en-US"/>
          </a:p>
        </p:txBody>
      </p:sp>
    </p:spTree>
    <p:extLst>
      <p:ext uri="{BB962C8B-B14F-4D97-AF65-F5344CB8AC3E}">
        <p14:creationId xmlns:p14="http://schemas.microsoft.com/office/powerpoint/2010/main" val="27727915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37637277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48</a:t>
            </a:fld>
            <a:endParaRPr lang="zh-CN" altLang="en-US"/>
          </a:p>
        </p:txBody>
      </p:sp>
    </p:spTree>
    <p:extLst>
      <p:ext uri="{BB962C8B-B14F-4D97-AF65-F5344CB8AC3E}">
        <p14:creationId xmlns:p14="http://schemas.microsoft.com/office/powerpoint/2010/main" val="4007510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49</a:t>
            </a:fld>
            <a:endParaRPr lang="zh-CN" altLang="en-US"/>
          </a:p>
        </p:txBody>
      </p:sp>
    </p:spTree>
    <p:extLst>
      <p:ext uri="{BB962C8B-B14F-4D97-AF65-F5344CB8AC3E}">
        <p14:creationId xmlns:p14="http://schemas.microsoft.com/office/powerpoint/2010/main" val="12025928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50</a:t>
            </a:fld>
            <a:endParaRPr lang="zh-CN" altLang="en-US"/>
          </a:p>
        </p:txBody>
      </p:sp>
    </p:spTree>
    <p:extLst>
      <p:ext uri="{BB962C8B-B14F-4D97-AF65-F5344CB8AC3E}">
        <p14:creationId xmlns:p14="http://schemas.microsoft.com/office/powerpoint/2010/main" val="30602217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51</a:t>
            </a:fld>
            <a:endParaRPr lang="zh-CN" altLang="en-US"/>
          </a:p>
        </p:txBody>
      </p:sp>
    </p:spTree>
    <p:extLst>
      <p:ext uri="{BB962C8B-B14F-4D97-AF65-F5344CB8AC3E}">
        <p14:creationId xmlns:p14="http://schemas.microsoft.com/office/powerpoint/2010/main" val="27635952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52</a:t>
            </a:fld>
            <a:endParaRPr lang="zh-CN" altLang="en-US"/>
          </a:p>
        </p:txBody>
      </p:sp>
    </p:spTree>
    <p:extLst>
      <p:ext uri="{BB962C8B-B14F-4D97-AF65-F5344CB8AC3E}">
        <p14:creationId xmlns:p14="http://schemas.microsoft.com/office/powerpoint/2010/main" val="33768485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53</a:t>
            </a:fld>
            <a:endParaRPr lang="zh-CN" altLang="en-US"/>
          </a:p>
        </p:txBody>
      </p:sp>
    </p:spTree>
    <p:extLst>
      <p:ext uri="{BB962C8B-B14F-4D97-AF65-F5344CB8AC3E}">
        <p14:creationId xmlns:p14="http://schemas.microsoft.com/office/powerpoint/2010/main" val="36179339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54</a:t>
            </a:fld>
            <a:endParaRPr lang="zh-CN" altLang="en-US"/>
          </a:p>
        </p:txBody>
      </p:sp>
    </p:spTree>
    <p:extLst>
      <p:ext uri="{BB962C8B-B14F-4D97-AF65-F5344CB8AC3E}">
        <p14:creationId xmlns:p14="http://schemas.microsoft.com/office/powerpoint/2010/main" val="26145570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55</a:t>
            </a:fld>
            <a:endParaRPr lang="zh-CN" altLang="en-US"/>
          </a:p>
        </p:txBody>
      </p:sp>
    </p:spTree>
    <p:extLst>
      <p:ext uri="{BB962C8B-B14F-4D97-AF65-F5344CB8AC3E}">
        <p14:creationId xmlns:p14="http://schemas.microsoft.com/office/powerpoint/2010/main" val="22824091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56</a:t>
            </a:fld>
            <a:endParaRPr lang="zh-CN" altLang="en-US"/>
          </a:p>
        </p:txBody>
      </p:sp>
    </p:spTree>
    <p:extLst>
      <p:ext uri="{BB962C8B-B14F-4D97-AF65-F5344CB8AC3E}">
        <p14:creationId xmlns:p14="http://schemas.microsoft.com/office/powerpoint/2010/main" val="14478743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57</a:t>
            </a:fld>
            <a:endParaRPr lang="zh-CN" altLang="en-US"/>
          </a:p>
        </p:txBody>
      </p:sp>
    </p:spTree>
    <p:extLst>
      <p:ext uri="{BB962C8B-B14F-4D97-AF65-F5344CB8AC3E}">
        <p14:creationId xmlns:p14="http://schemas.microsoft.com/office/powerpoint/2010/main" val="38376815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58</a:t>
            </a:fld>
            <a:endParaRPr lang="zh-CN" altLang="en-US"/>
          </a:p>
        </p:txBody>
      </p:sp>
    </p:spTree>
    <p:extLst>
      <p:ext uri="{BB962C8B-B14F-4D97-AF65-F5344CB8AC3E}">
        <p14:creationId xmlns:p14="http://schemas.microsoft.com/office/powerpoint/2010/main" val="40685151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59</a:t>
            </a:fld>
            <a:endParaRPr lang="zh-CN" altLang="en-US"/>
          </a:p>
        </p:txBody>
      </p:sp>
    </p:spTree>
    <p:extLst>
      <p:ext uri="{BB962C8B-B14F-4D97-AF65-F5344CB8AC3E}">
        <p14:creationId xmlns:p14="http://schemas.microsoft.com/office/powerpoint/2010/main" val="14331529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60</a:t>
            </a:fld>
            <a:endParaRPr lang="zh-CN" altLang="en-US"/>
          </a:p>
        </p:txBody>
      </p:sp>
    </p:spTree>
    <p:extLst>
      <p:ext uri="{BB962C8B-B14F-4D97-AF65-F5344CB8AC3E}">
        <p14:creationId xmlns:p14="http://schemas.microsoft.com/office/powerpoint/2010/main" val="17594158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61</a:t>
            </a:fld>
            <a:endParaRPr lang="zh-CN" altLang="en-US"/>
          </a:p>
        </p:txBody>
      </p:sp>
    </p:spTree>
    <p:extLst>
      <p:ext uri="{BB962C8B-B14F-4D97-AF65-F5344CB8AC3E}">
        <p14:creationId xmlns:p14="http://schemas.microsoft.com/office/powerpoint/2010/main" val="447065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62</a:t>
            </a:fld>
            <a:endParaRPr lang="zh-CN" altLang="en-US"/>
          </a:p>
        </p:txBody>
      </p:sp>
    </p:spTree>
    <p:extLst>
      <p:ext uri="{BB962C8B-B14F-4D97-AF65-F5344CB8AC3E}">
        <p14:creationId xmlns:p14="http://schemas.microsoft.com/office/powerpoint/2010/main" val="17142013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63</a:t>
            </a:fld>
            <a:endParaRPr lang="zh-CN" altLang="en-US"/>
          </a:p>
        </p:txBody>
      </p:sp>
    </p:spTree>
    <p:extLst>
      <p:ext uri="{BB962C8B-B14F-4D97-AF65-F5344CB8AC3E}">
        <p14:creationId xmlns:p14="http://schemas.microsoft.com/office/powerpoint/2010/main" val="9870659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64</a:t>
            </a:fld>
            <a:endParaRPr lang="zh-CN" altLang="en-US"/>
          </a:p>
        </p:txBody>
      </p:sp>
    </p:spTree>
    <p:extLst>
      <p:ext uri="{BB962C8B-B14F-4D97-AF65-F5344CB8AC3E}">
        <p14:creationId xmlns:p14="http://schemas.microsoft.com/office/powerpoint/2010/main" val="13014839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65</a:t>
            </a:fld>
            <a:endParaRPr lang="zh-CN" altLang="en-US"/>
          </a:p>
        </p:txBody>
      </p:sp>
    </p:spTree>
    <p:extLst>
      <p:ext uri="{BB962C8B-B14F-4D97-AF65-F5344CB8AC3E}">
        <p14:creationId xmlns:p14="http://schemas.microsoft.com/office/powerpoint/2010/main" val="33275052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66</a:t>
            </a:fld>
            <a:endParaRPr lang="zh-CN" altLang="en-US"/>
          </a:p>
        </p:txBody>
      </p:sp>
    </p:spTree>
    <p:extLst>
      <p:ext uri="{BB962C8B-B14F-4D97-AF65-F5344CB8AC3E}">
        <p14:creationId xmlns:p14="http://schemas.microsoft.com/office/powerpoint/2010/main" val="41746923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67</a:t>
            </a:fld>
            <a:endParaRPr lang="zh-CN" altLang="en-US"/>
          </a:p>
        </p:txBody>
      </p:sp>
    </p:spTree>
    <p:extLst>
      <p:ext uri="{BB962C8B-B14F-4D97-AF65-F5344CB8AC3E}">
        <p14:creationId xmlns:p14="http://schemas.microsoft.com/office/powerpoint/2010/main" val="37758312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68</a:t>
            </a:fld>
            <a:endParaRPr lang="zh-CN" altLang="en-US"/>
          </a:p>
        </p:txBody>
      </p:sp>
    </p:spTree>
    <p:extLst>
      <p:ext uri="{BB962C8B-B14F-4D97-AF65-F5344CB8AC3E}">
        <p14:creationId xmlns:p14="http://schemas.microsoft.com/office/powerpoint/2010/main" val="1753208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69</a:t>
            </a:fld>
            <a:endParaRPr lang="zh-CN" altLang="en-US"/>
          </a:p>
        </p:txBody>
      </p:sp>
    </p:spTree>
    <p:extLst>
      <p:ext uri="{BB962C8B-B14F-4D97-AF65-F5344CB8AC3E}">
        <p14:creationId xmlns:p14="http://schemas.microsoft.com/office/powerpoint/2010/main" val="38960993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70</a:t>
            </a:fld>
            <a:endParaRPr lang="zh-CN" altLang="en-US"/>
          </a:p>
        </p:txBody>
      </p:sp>
    </p:spTree>
    <p:extLst>
      <p:ext uri="{BB962C8B-B14F-4D97-AF65-F5344CB8AC3E}">
        <p14:creationId xmlns:p14="http://schemas.microsoft.com/office/powerpoint/2010/main" val="416419176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71</a:t>
            </a:fld>
            <a:endParaRPr lang="zh-CN" altLang="en-US"/>
          </a:p>
        </p:txBody>
      </p:sp>
    </p:spTree>
    <p:extLst>
      <p:ext uri="{BB962C8B-B14F-4D97-AF65-F5344CB8AC3E}">
        <p14:creationId xmlns:p14="http://schemas.microsoft.com/office/powerpoint/2010/main" val="217930983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72</a:t>
            </a:fld>
            <a:endParaRPr lang="zh-CN" altLang="en-US"/>
          </a:p>
        </p:txBody>
      </p:sp>
    </p:spTree>
    <p:extLst>
      <p:ext uri="{BB962C8B-B14F-4D97-AF65-F5344CB8AC3E}">
        <p14:creationId xmlns:p14="http://schemas.microsoft.com/office/powerpoint/2010/main" val="190166155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73</a:t>
            </a:fld>
            <a:endParaRPr lang="zh-CN" altLang="en-US"/>
          </a:p>
        </p:txBody>
      </p:sp>
    </p:spTree>
    <p:extLst>
      <p:ext uri="{BB962C8B-B14F-4D97-AF65-F5344CB8AC3E}">
        <p14:creationId xmlns:p14="http://schemas.microsoft.com/office/powerpoint/2010/main" val="7814704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75</a:t>
            </a:fld>
            <a:endParaRPr lang="zh-CN" altLang="en-US"/>
          </a:p>
        </p:txBody>
      </p:sp>
    </p:spTree>
    <p:extLst>
      <p:ext uri="{BB962C8B-B14F-4D97-AF65-F5344CB8AC3E}">
        <p14:creationId xmlns:p14="http://schemas.microsoft.com/office/powerpoint/2010/main" val="28350825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76</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77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jpe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610.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80.png"/><Relationship Id="rId7" Type="http://schemas.openxmlformats.org/officeDocument/2006/relationships/image" Target="../media/image400.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3.png"/><Relationship Id="rId4" Type="http://schemas.openxmlformats.org/officeDocument/2006/relationships/image" Target="../media/image31.jpe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300.png"/><Relationship Id="rId4" Type="http://schemas.openxmlformats.org/officeDocument/2006/relationships/image" Target="../media/image4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40.png"/><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50.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590.png"/></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71.png"/><Relationship Id="rId4" Type="http://schemas.openxmlformats.org/officeDocument/2006/relationships/image" Target="../media/image76.png"/></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77.png"/></Relationships>
</file>

<file path=ppt/slides/_rels/slide51.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80.png"/></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8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84.png"/></Relationships>
</file>

<file path=ppt/slides/_rels/slide5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image" Target="../media/image87.png"/><Relationship Id="rId4" Type="http://schemas.openxmlformats.org/officeDocument/2006/relationships/image" Target="../media/image86.png"/></Relationships>
</file>

<file path=ppt/slides/_rels/slide5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hyperlink" Target="http://images.cnblogs.com/cnblogs_com/LeftNotEasy/201101/201101192226321862.png" TargetMode="External"/><Relationship Id="rId2" Type="http://schemas.openxmlformats.org/officeDocument/2006/relationships/notesSlide" Target="../notesSlides/notesSlide60.xml"/><Relationship Id="rId1" Type="http://schemas.openxmlformats.org/officeDocument/2006/relationships/slideLayout" Target="../slideLayouts/slideLayout3.xml"/><Relationship Id="rId5" Type="http://schemas.openxmlformats.org/officeDocument/2006/relationships/image" Target="../media/image90.png"/><Relationship Id="rId4" Type="http://schemas.openxmlformats.org/officeDocument/2006/relationships/image" Target="../media/image8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91.png"/></Relationships>
</file>

<file path=ppt/slides/_rels/slide63.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hyperlink" Target="http://images.cnblogs.com/cnblogs_com/LeftNotEasy/201101/201101192226321862.png" TargetMode="External"/><Relationship Id="rId7" Type="http://schemas.openxmlformats.org/officeDocument/2006/relationships/image" Target="../media/image92.png"/><Relationship Id="rId2" Type="http://schemas.openxmlformats.org/officeDocument/2006/relationships/notesSlide" Target="../notesSlides/notesSlide63.xml"/><Relationship Id="rId1" Type="http://schemas.openxmlformats.org/officeDocument/2006/relationships/slideLayout" Target="../slideLayouts/slideLayout3.xml"/><Relationship Id="rId6" Type="http://schemas.openxmlformats.org/officeDocument/2006/relationships/hyperlink" Target="http://images.cnblogs.com/cnblogs_com/LeftNotEasy/201101/201101192226335092.png" TargetMode="External"/><Relationship Id="rId5" Type="http://schemas.openxmlformats.org/officeDocument/2006/relationships/image" Target="../media/image90.png"/><Relationship Id="rId10" Type="http://schemas.openxmlformats.org/officeDocument/2006/relationships/image" Target="../media/image94.png"/><Relationship Id="rId4" Type="http://schemas.openxmlformats.org/officeDocument/2006/relationships/image" Target="../media/image89.png"/><Relationship Id="rId9" Type="http://schemas.openxmlformats.org/officeDocument/2006/relationships/hyperlink" Target="http://images.cnblogs.com/cnblogs_com/LeftNotEasy/201101/201101192226349618.png"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5.xml"/><Relationship Id="rId1" Type="http://schemas.openxmlformats.org/officeDocument/2006/relationships/slideLayout" Target="../slideLayouts/slideLayout3.xml"/><Relationship Id="rId5" Type="http://schemas.openxmlformats.org/officeDocument/2006/relationships/image" Target="../media/image98.png"/><Relationship Id="rId4" Type="http://schemas.openxmlformats.org/officeDocument/2006/relationships/image" Target="../media/image97.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840.png"/><Relationship Id="rId2" Type="http://schemas.openxmlformats.org/officeDocument/2006/relationships/notesSlide" Target="../notesSlides/notesSlide68.xml"/><Relationship Id="rId1" Type="http://schemas.openxmlformats.org/officeDocument/2006/relationships/slideLayout" Target="../slideLayouts/slideLayout3.xml"/><Relationship Id="rId4" Type="http://schemas.openxmlformats.org/officeDocument/2006/relationships/image" Target="../media/image850.png"/></Relationships>
</file>

<file path=ppt/slides/_rels/slide69.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881.png"/></Relationships>
</file>

<file path=ppt/slides/_rels/slide71.xml.rels><?xml version="1.0" encoding="UTF-8" standalone="yes"?>
<Relationships xmlns="http://schemas.openxmlformats.org/package/2006/relationships"><Relationship Id="rId3" Type="http://schemas.openxmlformats.org/officeDocument/2006/relationships/image" Target="../media/image880.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hyperlink" Target="mailto:23020251154393@stu.xmu.edu.cn" TargetMode="External"/><Relationship Id="rId2" Type="http://schemas.openxmlformats.org/officeDocument/2006/relationships/image" Target="../media/image99.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01.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
        <p:nvSpPr>
          <p:cNvPr id="2" name="文本框 1">
            <a:extLst>
              <a:ext uri="{FF2B5EF4-FFF2-40B4-BE49-F238E27FC236}">
                <a16:creationId xmlns:a16="http://schemas.microsoft.com/office/drawing/2014/main" id="{BDD85BCF-30CD-8868-FB0B-24C3B7C2E243}"/>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3" name="文本框 2">
            <a:extLst>
              <a:ext uri="{FF2B5EF4-FFF2-40B4-BE49-F238E27FC236}">
                <a16:creationId xmlns:a16="http://schemas.microsoft.com/office/drawing/2014/main" id="{BE13ECBF-8EAA-540B-8E40-06C8A48F20CC}"/>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899808" y="3439840"/>
            <a:ext cx="2441694"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机器学习</a:t>
            </a:r>
            <a:endPar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11170" y="2445722"/>
            <a:ext cx="1569660"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第四章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27129" y="3867301"/>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327129" y="1331721"/>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582141" y="1518829"/>
            <a:ext cx="7136366" cy="1450910"/>
          </a:xfrm>
          <a:prstGeom prst="rect">
            <a:avLst/>
          </a:prstGeom>
        </p:spPr>
        <p:txBody>
          <a:bodyPr wrap="square">
            <a:spAutoFit/>
          </a:bodyPr>
          <a:lstStyle/>
          <a:p>
            <a:pPr indent="575945" algn="just">
              <a:lnSpc>
                <a:spcPct val="130000"/>
              </a:lnSpc>
              <a:spcBef>
                <a:spcPts val="600"/>
              </a:spcBef>
            </a:pPr>
            <a:r>
              <a:rPr lang="zh-CN"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化繁为简、大巧不工</a:t>
            </a:r>
            <a:endParaRPr lang="en-US"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575945" algn="just">
              <a:lnSpc>
                <a:spcPct val="130000"/>
              </a:lnSpc>
              <a:spcBef>
                <a:spcPts val="600"/>
              </a:spcBef>
            </a:pPr>
            <a:r>
              <a:rPr lang="zh-CN" altLang="en-US" sz="1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a:t>
            </a:r>
            <a:r>
              <a:rPr lang="en-US" altLang="zh-CN" sz="1600" b="1" dirty="0">
                <a:solidFill>
                  <a:schemeClr val="bg1"/>
                </a:solidFill>
              </a:rPr>
              <a:t>The object of statistical methods is the reduction of data</a:t>
            </a:r>
            <a:r>
              <a:rPr lang="zh-CN" altLang="en-US" sz="1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a:t>
            </a:r>
            <a:endParaRPr lang="zh-CN" altLang="zh-CN" sz="1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575945" algn="r">
              <a:lnSpc>
                <a:spcPct val="130000"/>
              </a:lnSpc>
              <a:spcBef>
                <a:spcPts val="600"/>
              </a:spcBef>
            </a:pPr>
            <a:r>
              <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t>
            </a:r>
            <a:r>
              <a:rPr lang="zh-CN" altLang="en-US"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罗纳德</a:t>
            </a:r>
            <a:r>
              <a:rPr lang="en-US"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a:t>
            </a:r>
            <a:r>
              <a:rPr lang="zh-CN" altLang="en-US"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费希尔（</a:t>
            </a:r>
            <a:r>
              <a:rPr lang="en-US"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Ronald Fisher</a:t>
            </a:r>
            <a:r>
              <a:rPr lang="zh-CN" altLang="en-US"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a:t>
            </a:r>
          </a:p>
        </p:txBody>
      </p:sp>
      <p:sp>
        <p:nvSpPr>
          <p:cNvPr id="6" name="矩形 5"/>
          <p:cNvSpPr/>
          <p:nvPr/>
        </p:nvSpPr>
        <p:spPr>
          <a:xfrm>
            <a:off x="1504507" y="3940814"/>
            <a:ext cx="9202479" cy="2062103"/>
          </a:xfrm>
          <a:prstGeom prst="rect">
            <a:avLst/>
          </a:prstGeom>
        </p:spPr>
        <p:txBody>
          <a:bodyPr wrap="squar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机器学习是一种“数据驱动学习（</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data-driven learning</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）”的范式，它从数据出发来学习数据中所蕴含的模式，对数据进行抽象。统计学家罗纳德</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艾尔默</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费希尔（</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Ronald Aylmer Fisher</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）将这一过程概括为“化繁为简（</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the object of statistical methods is the reduction of data</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p>
          <a:p>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1959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7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IBM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公司的工程师阿瑟</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塞缪尔（</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Arthur Samuel</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 第一次使用了“机器学习（</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machine learning</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 ，将其定义为“让机器具有不需要明确编程而具有的一种学习能力（</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the ability to learn without being explicitly programmed</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）”的研究，其目标是构造一种学习机器（</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learning machine</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），使之像人一样具有自我学习能力， 而非按部就班完成预设任务。</a:t>
            </a:r>
          </a:p>
        </p:txBody>
      </p:sp>
      <p:pic>
        <p:nvPicPr>
          <p:cNvPr id="1026" name="Picture 2" descr="罗纳德·费希尔">
            <a:extLst>
              <a:ext uri="{FF2B5EF4-FFF2-40B4-BE49-F238E27FC236}">
                <a16:creationId xmlns:a16="http://schemas.microsoft.com/office/drawing/2014/main" id="{E351CDA3-CD01-48DB-BE14-2156448B29D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9893" y="1331720"/>
            <a:ext cx="1871422" cy="2032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006680" y="1638547"/>
            <a:ext cx="6533560" cy="3972562"/>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一、机器学习基本概念</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二、监督学习：回归分析与决策树</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三、无监督学习：</a:t>
            </a: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K</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均值聚类</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四、监督学习与非监督学习下特征降维</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五、演化学习</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机器学习：概念与分类</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31986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867351" y="1883054"/>
            <a:ext cx="10702670"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867351" y="1792172"/>
            <a:ext cx="10469733" cy="3879908"/>
          </a:xfrm>
          <a:prstGeom prst="rect">
            <a:avLst/>
          </a:prstGeom>
        </p:spPr>
        <p:txBody>
          <a:bodyPr wrap="square">
            <a:spAutoFit/>
          </a:bodyPr>
          <a:lstStyle/>
          <a:p>
            <a:pPr marL="285750" indent="-285750" algn="just">
              <a:lnSpc>
                <a:spcPct val="250000"/>
              </a:lnSpc>
              <a:buFont typeface="Wingdings" panose="05000000000000000000" pitchFamily="2" charset="2"/>
              <a:buChar char="l"/>
            </a:pP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机器学习通过对数据的优化学习，</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建立能够刻画数据中所蕴含语义概念或分布结构等信息的模型</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。在模型学习过程中，采用合适手段来利用有标签数据或无标签数据， 对模型参数不断进行优化，从而提升模型性能。</a:t>
            </a:r>
          </a:p>
          <a:p>
            <a:pPr marL="285750" indent="-285750" algn="just">
              <a:lnSpc>
                <a:spcPct val="250000"/>
              </a:lnSpc>
              <a:buFont typeface="Wingdings" panose="05000000000000000000" pitchFamily="2" charset="2"/>
              <a:buChar char="l"/>
            </a:pP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从数据利用的角度，可将机器学习划分为</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监督学习（</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supervised learning</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）、无监督学习（</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unsupervised learning</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）及半监督学习（</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semi-supervised learning</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68928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机器学习：常见任务</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31986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7" name="文本框 6">
            <a:extLst>
              <a:ext uri="{FF2B5EF4-FFF2-40B4-BE49-F238E27FC236}">
                <a16:creationId xmlns:a16="http://schemas.microsoft.com/office/drawing/2014/main" id="{0FF1DA58-7733-16F5-AC08-A79F485D716A}"/>
              </a:ext>
            </a:extLst>
          </p:cNvPr>
          <p:cNvSpPr txBox="1"/>
          <p:nvPr/>
        </p:nvSpPr>
        <p:spPr>
          <a:xfrm>
            <a:off x="361950" y="1720840"/>
            <a:ext cx="6096000" cy="3416320"/>
          </a:xfrm>
          <a:prstGeom prst="rect">
            <a:avLst/>
          </a:prstGeom>
          <a:noFill/>
        </p:spPr>
        <p:txBody>
          <a:bodyPr wrap="square">
            <a:spAutoFit/>
          </a:bodyPr>
          <a:lstStyle/>
          <a:p>
            <a:pPr algn="l"/>
            <a:r>
              <a:rPr lang="zh-CN" altLang="en-US" b="1" i="0" dirty="0">
                <a:solidFill>
                  <a:srgbClr val="000000"/>
                </a:solidFill>
                <a:effectLst/>
                <a:latin typeface="Inter"/>
              </a:rPr>
              <a:t>一、监督学习（</a:t>
            </a:r>
            <a:r>
              <a:rPr lang="en-US" altLang="zh-CN" b="1" i="0" dirty="0">
                <a:solidFill>
                  <a:srgbClr val="000000"/>
                </a:solidFill>
                <a:effectLst/>
                <a:latin typeface="Inter"/>
              </a:rPr>
              <a:t>Supervised Learning</a:t>
            </a:r>
            <a:r>
              <a:rPr lang="zh-CN" altLang="en-US" b="1" i="0" dirty="0">
                <a:solidFill>
                  <a:srgbClr val="000000"/>
                </a:solidFill>
                <a:effectLst/>
                <a:latin typeface="Inter"/>
              </a:rPr>
              <a:t>）</a:t>
            </a:r>
            <a:endParaRPr lang="en-US" altLang="zh-CN" b="1" i="0" dirty="0">
              <a:solidFill>
                <a:srgbClr val="000000"/>
              </a:solidFill>
              <a:effectLst/>
              <a:latin typeface="Inter"/>
            </a:endParaRPr>
          </a:p>
          <a:p>
            <a:pPr algn="l"/>
            <a:r>
              <a:rPr lang="en-US" altLang="zh-CN" b="1" i="0" dirty="0">
                <a:solidFill>
                  <a:srgbClr val="000000"/>
                </a:solidFill>
                <a:effectLst/>
                <a:latin typeface="Inter"/>
              </a:rPr>
              <a:t>1. </a:t>
            </a:r>
            <a:r>
              <a:rPr lang="zh-CN" altLang="en-US" b="1" i="0" dirty="0">
                <a:solidFill>
                  <a:schemeClr val="accent2"/>
                </a:solidFill>
                <a:effectLst/>
                <a:latin typeface="Inter"/>
              </a:rPr>
              <a:t>分类任务</a:t>
            </a:r>
            <a:r>
              <a:rPr lang="zh-CN" altLang="en-US" b="1" i="0" dirty="0">
                <a:solidFill>
                  <a:srgbClr val="000000"/>
                </a:solidFill>
                <a:effectLst/>
                <a:latin typeface="Inter"/>
              </a:rPr>
              <a:t>（</a:t>
            </a:r>
            <a:r>
              <a:rPr lang="en-US" altLang="zh-CN" b="1" i="0" dirty="0">
                <a:solidFill>
                  <a:srgbClr val="000000"/>
                </a:solidFill>
                <a:effectLst/>
                <a:latin typeface="Inter"/>
              </a:rPr>
              <a:t>Classification</a:t>
            </a:r>
            <a:r>
              <a:rPr lang="zh-CN" altLang="en-US" b="1" i="0" dirty="0">
                <a:solidFill>
                  <a:srgbClr val="000000"/>
                </a:solidFill>
                <a:effectLst/>
                <a:latin typeface="Inter"/>
              </a:rPr>
              <a:t>）</a:t>
            </a:r>
          </a:p>
          <a:p>
            <a:pPr algn="l">
              <a:buFont typeface="Arial" panose="020B0604020202020204" pitchFamily="34" charset="0"/>
              <a:buChar char="•"/>
            </a:pPr>
            <a:r>
              <a:rPr lang="zh-CN" altLang="en-US" b="1" i="0" dirty="0">
                <a:solidFill>
                  <a:srgbClr val="000000"/>
                </a:solidFill>
                <a:effectLst/>
                <a:latin typeface="Inter"/>
              </a:rPr>
              <a:t>目标</a:t>
            </a:r>
            <a:r>
              <a:rPr lang="zh-CN" altLang="en-US" b="0" i="0" dirty="0">
                <a:solidFill>
                  <a:srgbClr val="000000"/>
                </a:solidFill>
                <a:effectLst/>
                <a:latin typeface="Inter"/>
              </a:rPr>
              <a:t>：将输入数据划分到</a:t>
            </a:r>
            <a:r>
              <a:rPr lang="zh-CN" altLang="en-US" b="1" i="0" dirty="0">
                <a:solidFill>
                  <a:srgbClr val="000000"/>
                </a:solidFill>
                <a:effectLst/>
                <a:latin typeface="Inter"/>
              </a:rPr>
              <a:t>离散的类别标签</a:t>
            </a:r>
            <a:r>
              <a:rPr lang="zh-CN" altLang="en-US" b="0" i="0" dirty="0">
                <a:solidFill>
                  <a:srgbClr val="000000"/>
                </a:solidFill>
                <a:effectLst/>
                <a:latin typeface="Inter"/>
              </a:rPr>
              <a:t>中（如 “猫 </a:t>
            </a:r>
            <a:r>
              <a:rPr lang="en-US" altLang="zh-CN" b="0" i="0" dirty="0">
                <a:solidFill>
                  <a:srgbClr val="000000"/>
                </a:solidFill>
                <a:effectLst/>
                <a:latin typeface="Inter"/>
              </a:rPr>
              <a:t>/ </a:t>
            </a:r>
            <a:r>
              <a:rPr lang="zh-CN" altLang="en-US" b="0" i="0" dirty="0">
                <a:solidFill>
                  <a:srgbClr val="000000"/>
                </a:solidFill>
                <a:effectLst/>
                <a:latin typeface="Inter"/>
              </a:rPr>
              <a:t>狗”“垃圾邮件 </a:t>
            </a:r>
            <a:r>
              <a:rPr lang="en-US" altLang="zh-CN" b="0" i="0" dirty="0">
                <a:solidFill>
                  <a:srgbClr val="000000"/>
                </a:solidFill>
                <a:effectLst/>
                <a:latin typeface="Inter"/>
              </a:rPr>
              <a:t>/ </a:t>
            </a:r>
            <a:r>
              <a:rPr lang="zh-CN" altLang="en-US" b="0" i="0" dirty="0">
                <a:solidFill>
                  <a:srgbClr val="000000"/>
                </a:solidFill>
                <a:effectLst/>
                <a:latin typeface="Inter"/>
              </a:rPr>
              <a:t>正常邮件”）。</a:t>
            </a:r>
          </a:p>
          <a:p>
            <a:pPr algn="l"/>
            <a:r>
              <a:rPr lang="en-US" altLang="zh-CN" b="1" i="0" dirty="0">
                <a:solidFill>
                  <a:srgbClr val="000000"/>
                </a:solidFill>
                <a:effectLst/>
                <a:latin typeface="Inter"/>
              </a:rPr>
              <a:t>2. </a:t>
            </a:r>
            <a:r>
              <a:rPr lang="zh-CN" altLang="en-US" b="1" i="0" dirty="0">
                <a:solidFill>
                  <a:schemeClr val="accent2"/>
                </a:solidFill>
                <a:effectLst/>
                <a:latin typeface="Inter"/>
              </a:rPr>
              <a:t>回归任务</a:t>
            </a:r>
            <a:r>
              <a:rPr lang="zh-CN" altLang="en-US" b="1" i="0" dirty="0">
                <a:solidFill>
                  <a:srgbClr val="000000"/>
                </a:solidFill>
                <a:effectLst/>
                <a:latin typeface="Inter"/>
              </a:rPr>
              <a:t>（</a:t>
            </a:r>
            <a:r>
              <a:rPr lang="en-US" altLang="zh-CN" b="1" i="0" dirty="0">
                <a:solidFill>
                  <a:srgbClr val="000000"/>
                </a:solidFill>
                <a:effectLst/>
                <a:latin typeface="Inter"/>
              </a:rPr>
              <a:t>Regression</a:t>
            </a:r>
            <a:r>
              <a:rPr lang="zh-CN" altLang="en-US" b="1" i="0" dirty="0">
                <a:solidFill>
                  <a:srgbClr val="000000"/>
                </a:solidFill>
                <a:effectLst/>
                <a:latin typeface="Inter"/>
              </a:rPr>
              <a:t>）</a:t>
            </a:r>
          </a:p>
          <a:p>
            <a:pPr algn="l">
              <a:buFont typeface="Arial" panose="020B0604020202020204" pitchFamily="34" charset="0"/>
              <a:buChar char="•"/>
            </a:pPr>
            <a:r>
              <a:rPr lang="zh-CN" altLang="en-US" b="1" i="0" dirty="0">
                <a:solidFill>
                  <a:srgbClr val="000000"/>
                </a:solidFill>
                <a:effectLst/>
                <a:latin typeface="Inter"/>
              </a:rPr>
              <a:t>目标</a:t>
            </a:r>
            <a:r>
              <a:rPr lang="zh-CN" altLang="en-US" b="0" i="0" dirty="0">
                <a:solidFill>
                  <a:srgbClr val="000000"/>
                </a:solidFill>
                <a:effectLst/>
                <a:latin typeface="Inter"/>
              </a:rPr>
              <a:t>：预测</a:t>
            </a:r>
            <a:r>
              <a:rPr lang="zh-CN" altLang="en-US" b="1" i="0" dirty="0">
                <a:solidFill>
                  <a:srgbClr val="000000"/>
                </a:solidFill>
                <a:effectLst/>
                <a:latin typeface="Inter"/>
              </a:rPr>
              <a:t>连续的数值型标签</a:t>
            </a:r>
            <a:r>
              <a:rPr lang="zh-CN" altLang="en-US" b="0" i="0" dirty="0">
                <a:solidFill>
                  <a:srgbClr val="000000"/>
                </a:solidFill>
                <a:effectLst/>
                <a:latin typeface="Inter"/>
              </a:rPr>
              <a:t>（如 “房价”“温度”“销量”），输出是无限区间内的实数。</a:t>
            </a:r>
          </a:p>
          <a:p>
            <a:pPr algn="l"/>
            <a:r>
              <a:rPr lang="en-US" altLang="zh-CN" b="1" i="0" dirty="0">
                <a:solidFill>
                  <a:srgbClr val="000000"/>
                </a:solidFill>
                <a:effectLst/>
                <a:latin typeface="Inter"/>
              </a:rPr>
              <a:t>3. </a:t>
            </a:r>
            <a:r>
              <a:rPr lang="zh-CN" altLang="en-US" b="1" i="0" dirty="0">
                <a:solidFill>
                  <a:srgbClr val="000000"/>
                </a:solidFill>
                <a:effectLst/>
                <a:latin typeface="Inter"/>
              </a:rPr>
              <a:t>排序任务（</a:t>
            </a:r>
            <a:r>
              <a:rPr lang="en-US" altLang="zh-CN" b="1" i="0" dirty="0">
                <a:solidFill>
                  <a:srgbClr val="000000"/>
                </a:solidFill>
                <a:effectLst/>
                <a:latin typeface="Inter"/>
              </a:rPr>
              <a:t>Ranking</a:t>
            </a:r>
            <a:r>
              <a:rPr lang="zh-CN" altLang="en-US" b="1" i="0" dirty="0">
                <a:solidFill>
                  <a:srgbClr val="000000"/>
                </a:solidFill>
                <a:effectLst/>
                <a:latin typeface="Inter"/>
              </a:rPr>
              <a:t>）</a:t>
            </a:r>
          </a:p>
          <a:p>
            <a:pPr algn="l">
              <a:buFont typeface="Arial" panose="020B0604020202020204" pitchFamily="34" charset="0"/>
              <a:buChar char="•"/>
            </a:pPr>
            <a:r>
              <a:rPr lang="zh-CN" altLang="en-US" b="1" i="0" dirty="0">
                <a:solidFill>
                  <a:srgbClr val="000000"/>
                </a:solidFill>
                <a:effectLst/>
                <a:latin typeface="Inter"/>
              </a:rPr>
              <a:t>目标</a:t>
            </a:r>
            <a:r>
              <a:rPr lang="zh-CN" altLang="en-US" b="0" i="0" dirty="0">
                <a:solidFill>
                  <a:srgbClr val="000000"/>
                </a:solidFill>
                <a:effectLst/>
                <a:latin typeface="Inter"/>
              </a:rPr>
              <a:t>：对输入数据按 “相关性 </a:t>
            </a:r>
            <a:r>
              <a:rPr lang="en-US" altLang="zh-CN" b="0" i="0" dirty="0">
                <a:solidFill>
                  <a:srgbClr val="000000"/>
                </a:solidFill>
                <a:effectLst/>
                <a:latin typeface="Inter"/>
              </a:rPr>
              <a:t>/ </a:t>
            </a:r>
            <a:r>
              <a:rPr lang="zh-CN" altLang="en-US" b="0" i="0" dirty="0">
                <a:solidFill>
                  <a:srgbClr val="000000"/>
                </a:solidFill>
                <a:effectLst/>
                <a:latin typeface="Inter"/>
              </a:rPr>
              <a:t>重要性” 排序，标签通常是 “相对优先级”（而非绝对类别或数值），核心是优化 “排序顺序” 而非单个预测值。</a:t>
            </a:r>
          </a:p>
          <a:p>
            <a:pPr algn="l"/>
            <a:endParaRPr lang="zh-CN" altLang="en-US" b="1" i="0" dirty="0">
              <a:solidFill>
                <a:srgbClr val="000000"/>
              </a:solidFill>
              <a:effectLst/>
              <a:latin typeface="Inter"/>
            </a:endParaRPr>
          </a:p>
        </p:txBody>
      </p:sp>
      <p:sp>
        <p:nvSpPr>
          <p:cNvPr id="9" name="文本框 8">
            <a:extLst>
              <a:ext uri="{FF2B5EF4-FFF2-40B4-BE49-F238E27FC236}">
                <a16:creationId xmlns:a16="http://schemas.microsoft.com/office/drawing/2014/main" id="{0A5CF60A-B162-7A4F-D79D-BB256C05A1FC}"/>
              </a:ext>
            </a:extLst>
          </p:cNvPr>
          <p:cNvSpPr txBox="1"/>
          <p:nvPr/>
        </p:nvSpPr>
        <p:spPr>
          <a:xfrm>
            <a:off x="6619875" y="1720840"/>
            <a:ext cx="4419600" cy="5078313"/>
          </a:xfrm>
          <a:prstGeom prst="rect">
            <a:avLst/>
          </a:prstGeom>
          <a:noFill/>
        </p:spPr>
        <p:txBody>
          <a:bodyPr wrap="square">
            <a:spAutoFit/>
          </a:bodyPr>
          <a:lstStyle/>
          <a:p>
            <a:pPr algn="l"/>
            <a:r>
              <a:rPr lang="zh-CN" altLang="en-US" b="1" i="0" dirty="0">
                <a:solidFill>
                  <a:srgbClr val="000000"/>
                </a:solidFill>
                <a:effectLst/>
                <a:latin typeface="Inter"/>
              </a:rPr>
              <a:t>二、无监督学习（</a:t>
            </a:r>
            <a:r>
              <a:rPr lang="en-US" altLang="zh-CN" b="1" i="0" dirty="0">
                <a:solidFill>
                  <a:srgbClr val="000000"/>
                </a:solidFill>
                <a:effectLst/>
                <a:latin typeface="Inter"/>
              </a:rPr>
              <a:t>Unsupervised Learning</a:t>
            </a:r>
            <a:r>
              <a:rPr lang="zh-CN" altLang="en-US" b="1" i="0" dirty="0">
                <a:solidFill>
                  <a:srgbClr val="000000"/>
                </a:solidFill>
                <a:effectLst/>
                <a:latin typeface="Inter"/>
              </a:rPr>
              <a:t>）</a:t>
            </a:r>
            <a:endParaRPr lang="en-US" altLang="zh-CN" b="1" i="0" dirty="0">
              <a:solidFill>
                <a:srgbClr val="000000"/>
              </a:solidFill>
              <a:effectLst/>
              <a:latin typeface="Inter"/>
            </a:endParaRPr>
          </a:p>
          <a:p>
            <a:pPr algn="l"/>
            <a:r>
              <a:rPr lang="en-US" altLang="zh-CN" b="1" i="0" dirty="0">
                <a:solidFill>
                  <a:srgbClr val="000000"/>
                </a:solidFill>
                <a:effectLst/>
                <a:latin typeface="Inter"/>
              </a:rPr>
              <a:t>1. </a:t>
            </a:r>
            <a:r>
              <a:rPr lang="zh-CN" altLang="en-US" b="1" i="0" dirty="0">
                <a:solidFill>
                  <a:schemeClr val="accent2"/>
                </a:solidFill>
                <a:effectLst/>
                <a:latin typeface="Inter"/>
              </a:rPr>
              <a:t>聚类任务</a:t>
            </a:r>
            <a:r>
              <a:rPr lang="zh-CN" altLang="en-US" b="1" i="0" dirty="0">
                <a:solidFill>
                  <a:srgbClr val="000000"/>
                </a:solidFill>
                <a:effectLst/>
                <a:latin typeface="Inter"/>
              </a:rPr>
              <a:t>（</a:t>
            </a:r>
            <a:r>
              <a:rPr lang="en-US" altLang="zh-CN" b="1" i="0" dirty="0">
                <a:solidFill>
                  <a:srgbClr val="000000"/>
                </a:solidFill>
                <a:effectLst/>
                <a:latin typeface="Inter"/>
              </a:rPr>
              <a:t>Clustering</a:t>
            </a:r>
            <a:r>
              <a:rPr lang="zh-CN" altLang="en-US" b="1" i="0" dirty="0">
                <a:solidFill>
                  <a:srgbClr val="000000"/>
                </a:solidFill>
                <a:effectLst/>
                <a:latin typeface="Inter"/>
              </a:rPr>
              <a:t>）</a:t>
            </a:r>
          </a:p>
          <a:p>
            <a:pPr algn="l">
              <a:buFont typeface="Arial" panose="020B0604020202020204" pitchFamily="34" charset="0"/>
              <a:buChar char="•"/>
            </a:pPr>
            <a:r>
              <a:rPr lang="zh-CN" altLang="en-US" b="1" i="0" dirty="0">
                <a:solidFill>
                  <a:srgbClr val="000000"/>
                </a:solidFill>
                <a:effectLst/>
                <a:latin typeface="Inter"/>
              </a:rPr>
              <a:t>目标</a:t>
            </a:r>
            <a:r>
              <a:rPr lang="zh-CN" altLang="en-US" b="0" i="0" dirty="0">
                <a:solidFill>
                  <a:srgbClr val="000000"/>
                </a:solidFill>
                <a:effectLst/>
                <a:latin typeface="Inter"/>
              </a:rPr>
              <a:t>：将无标签数据按 “相似性” 划分为多个簇（</a:t>
            </a:r>
            <a:r>
              <a:rPr lang="en-US" altLang="zh-CN" b="0" i="0" dirty="0">
                <a:solidFill>
                  <a:srgbClr val="000000"/>
                </a:solidFill>
                <a:effectLst/>
                <a:latin typeface="Inter"/>
              </a:rPr>
              <a:t>Cluster</a:t>
            </a:r>
            <a:r>
              <a:rPr lang="zh-CN" altLang="en-US" b="0" i="0" dirty="0">
                <a:solidFill>
                  <a:srgbClr val="000000"/>
                </a:solidFill>
                <a:effectLst/>
                <a:latin typeface="Inter"/>
              </a:rPr>
              <a:t>），同一簇内数据相似度高，不同簇间相似度低，簇的数量可预设或自动确定。</a:t>
            </a:r>
          </a:p>
          <a:p>
            <a:pPr algn="l"/>
            <a:r>
              <a:rPr lang="en-US" altLang="zh-CN" b="1" i="0" dirty="0">
                <a:solidFill>
                  <a:srgbClr val="000000"/>
                </a:solidFill>
                <a:effectLst/>
                <a:latin typeface="Inter"/>
              </a:rPr>
              <a:t>2. </a:t>
            </a:r>
            <a:r>
              <a:rPr lang="zh-CN" altLang="en-US" b="1" i="0" dirty="0">
                <a:solidFill>
                  <a:srgbClr val="000000"/>
                </a:solidFill>
                <a:effectLst/>
                <a:latin typeface="Inter"/>
              </a:rPr>
              <a:t>降维任务（</a:t>
            </a:r>
            <a:r>
              <a:rPr lang="en-US" altLang="zh-CN" b="1" i="0" dirty="0">
                <a:solidFill>
                  <a:srgbClr val="000000"/>
                </a:solidFill>
                <a:effectLst/>
                <a:latin typeface="Inter"/>
              </a:rPr>
              <a:t>Dimensionality Reduction</a:t>
            </a:r>
            <a:r>
              <a:rPr lang="zh-CN" altLang="en-US" b="1" i="0" dirty="0">
                <a:solidFill>
                  <a:srgbClr val="000000"/>
                </a:solidFill>
                <a:effectLst/>
                <a:latin typeface="Inter"/>
              </a:rPr>
              <a:t>）</a:t>
            </a:r>
          </a:p>
          <a:p>
            <a:pPr algn="l">
              <a:buFont typeface="Arial" panose="020B0604020202020204" pitchFamily="34" charset="0"/>
              <a:buChar char="•"/>
            </a:pPr>
            <a:r>
              <a:rPr lang="zh-CN" altLang="en-US" b="1" i="0" dirty="0">
                <a:solidFill>
                  <a:srgbClr val="000000"/>
                </a:solidFill>
                <a:effectLst/>
                <a:latin typeface="Inter"/>
              </a:rPr>
              <a:t>目标</a:t>
            </a:r>
            <a:r>
              <a:rPr lang="zh-CN" altLang="en-US" b="0" i="0" dirty="0">
                <a:solidFill>
                  <a:srgbClr val="000000"/>
                </a:solidFill>
                <a:effectLst/>
                <a:latin typeface="Inter"/>
              </a:rPr>
              <a:t>：在</a:t>
            </a:r>
            <a:r>
              <a:rPr lang="zh-CN" altLang="en-US" b="1" i="0" dirty="0">
                <a:solidFill>
                  <a:srgbClr val="000000"/>
                </a:solidFill>
                <a:effectLst/>
                <a:latin typeface="Inter"/>
              </a:rPr>
              <a:t>保留数据核心信息</a:t>
            </a:r>
            <a:r>
              <a:rPr lang="zh-CN" altLang="en-US" b="0" i="0" dirty="0">
                <a:solidFill>
                  <a:srgbClr val="000000"/>
                </a:solidFill>
                <a:effectLst/>
                <a:latin typeface="Inter"/>
              </a:rPr>
              <a:t>的前提下，将高维特征空间（如含数百个特征的数据）映射到低维空间（如 </a:t>
            </a:r>
            <a:r>
              <a:rPr lang="en-US" altLang="zh-CN" b="0" i="0" dirty="0">
                <a:solidFill>
                  <a:srgbClr val="000000"/>
                </a:solidFill>
                <a:effectLst/>
                <a:latin typeface="Inter"/>
              </a:rPr>
              <a:t>2-3 </a:t>
            </a:r>
            <a:r>
              <a:rPr lang="zh-CN" altLang="en-US" b="0" i="0" dirty="0">
                <a:solidFill>
                  <a:srgbClr val="000000"/>
                </a:solidFill>
                <a:effectLst/>
                <a:latin typeface="Inter"/>
              </a:rPr>
              <a:t>维），减少数据冗余和计算成本，同时便于可视化。</a:t>
            </a:r>
          </a:p>
          <a:p>
            <a:pPr algn="l"/>
            <a:r>
              <a:rPr lang="en-US" altLang="zh-CN" b="1" i="0" dirty="0">
                <a:solidFill>
                  <a:srgbClr val="000000"/>
                </a:solidFill>
                <a:effectLst/>
                <a:latin typeface="Inter"/>
              </a:rPr>
              <a:t>3. </a:t>
            </a:r>
            <a:r>
              <a:rPr lang="zh-CN" altLang="en-US" b="1" i="0" dirty="0">
                <a:solidFill>
                  <a:srgbClr val="000000"/>
                </a:solidFill>
                <a:effectLst/>
                <a:latin typeface="Inter"/>
              </a:rPr>
              <a:t>异常检测任务（</a:t>
            </a:r>
            <a:r>
              <a:rPr lang="en-US" altLang="zh-CN" b="1" i="0" dirty="0">
                <a:solidFill>
                  <a:srgbClr val="000000"/>
                </a:solidFill>
                <a:effectLst/>
                <a:latin typeface="Inter"/>
              </a:rPr>
              <a:t>Anomaly Detection</a:t>
            </a:r>
            <a:r>
              <a:rPr lang="zh-CN" altLang="en-US" b="1" i="0" dirty="0">
                <a:solidFill>
                  <a:srgbClr val="000000"/>
                </a:solidFill>
                <a:effectLst/>
                <a:latin typeface="Inter"/>
              </a:rPr>
              <a:t>）</a:t>
            </a:r>
          </a:p>
          <a:p>
            <a:pPr algn="l">
              <a:buFont typeface="Arial" panose="020B0604020202020204" pitchFamily="34" charset="0"/>
              <a:buChar char="•"/>
            </a:pPr>
            <a:r>
              <a:rPr lang="zh-CN" altLang="en-US" b="1" i="0" dirty="0">
                <a:solidFill>
                  <a:srgbClr val="000000"/>
                </a:solidFill>
                <a:effectLst/>
                <a:latin typeface="Inter"/>
              </a:rPr>
              <a:t>目标</a:t>
            </a:r>
            <a:r>
              <a:rPr lang="zh-CN" altLang="en-US" b="0" i="0" dirty="0">
                <a:solidFill>
                  <a:srgbClr val="000000"/>
                </a:solidFill>
                <a:effectLst/>
                <a:latin typeface="Inter"/>
              </a:rPr>
              <a:t>：识别数据中 “不符合正常模式” 的异常样本（如欺诈交易、故障设备数据、疾病异常指标），核心是 “区分正常数据与少数异常数据”。</a:t>
            </a:r>
          </a:p>
          <a:p>
            <a:br>
              <a:rPr lang="zh-CN" altLang="en-US" b="0" i="0" dirty="0">
                <a:solidFill>
                  <a:srgbClr val="000000"/>
                </a:solidFill>
                <a:effectLst/>
                <a:latin typeface="Inter"/>
              </a:rPr>
            </a:br>
            <a:endParaRPr lang="zh-CN" altLang="en-US" b="1" i="0" dirty="0">
              <a:solidFill>
                <a:srgbClr val="000000"/>
              </a:solidFill>
              <a:effectLst/>
              <a:latin typeface="Inter"/>
            </a:endParaRPr>
          </a:p>
        </p:txBody>
      </p:sp>
    </p:spTree>
    <p:extLst>
      <p:ext uri="{BB962C8B-B14F-4D97-AF65-F5344CB8AC3E}">
        <p14:creationId xmlns:p14="http://schemas.microsoft.com/office/powerpoint/2010/main" val="2187837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有监督学习</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5895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grpSp>
        <p:nvGrpSpPr>
          <p:cNvPr id="15" name="组合 14">
            <a:extLst>
              <a:ext uri="{FF2B5EF4-FFF2-40B4-BE49-F238E27FC236}">
                <a16:creationId xmlns:a16="http://schemas.microsoft.com/office/drawing/2014/main" id="{D519A776-EDBF-40FA-9B9F-704BF8EAD3E6}"/>
              </a:ext>
            </a:extLst>
          </p:cNvPr>
          <p:cNvGrpSpPr/>
          <p:nvPr/>
        </p:nvGrpSpPr>
        <p:grpSpPr>
          <a:xfrm>
            <a:off x="5166430" y="1350156"/>
            <a:ext cx="7647690" cy="4949471"/>
            <a:chOff x="320634" y="1099037"/>
            <a:chExt cx="8110848" cy="3712101"/>
          </a:xfrm>
        </p:grpSpPr>
        <p:sp>
          <p:nvSpPr>
            <p:cNvPr id="16" name="圆角矩形 20">
              <a:extLst>
                <a:ext uri="{FF2B5EF4-FFF2-40B4-BE49-F238E27FC236}">
                  <a16:creationId xmlns:a16="http://schemas.microsoft.com/office/drawing/2014/main" id="{55453331-5183-4A85-A895-B382D877977F}"/>
                </a:ext>
              </a:extLst>
            </p:cNvPr>
            <p:cNvSpPr/>
            <p:nvPr/>
          </p:nvSpPr>
          <p:spPr bwMode="auto">
            <a:xfrm>
              <a:off x="1199410" y="2529819"/>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图像数据</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7" name="图片 17" descr="semantic gap.jpg">
              <a:extLst>
                <a:ext uri="{FF2B5EF4-FFF2-40B4-BE49-F238E27FC236}">
                  <a16:creationId xmlns:a16="http://schemas.microsoft.com/office/drawing/2014/main" id="{C0BC91A9-BCA6-4950-B4AF-3107630B8C8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8892" y="1242215"/>
              <a:ext cx="1875133" cy="98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减号 17">
              <a:extLst>
                <a:ext uri="{FF2B5EF4-FFF2-40B4-BE49-F238E27FC236}">
                  <a16:creationId xmlns:a16="http://schemas.microsoft.com/office/drawing/2014/main" id="{4C3AE491-1109-476E-8A0A-88E2D1FF6C53}"/>
                </a:ext>
              </a:extLst>
            </p:cNvPr>
            <p:cNvSpPr/>
            <p:nvPr/>
          </p:nvSpPr>
          <p:spPr bwMode="auto">
            <a:xfrm>
              <a:off x="320634" y="2854107"/>
              <a:ext cx="8110848" cy="321013"/>
            </a:xfrm>
            <a:prstGeom prst="mathMinu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pPr>
              <a:endParaRPr kumimoji="0" lang="zh-CN" altLang="en-US" sz="12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圆角矩形 24">
              <a:extLst>
                <a:ext uri="{FF2B5EF4-FFF2-40B4-BE49-F238E27FC236}">
                  <a16:creationId xmlns:a16="http://schemas.microsoft.com/office/drawing/2014/main" id="{743A29DB-AF23-4ACC-B3E4-3CEB8EAA7C93}"/>
                </a:ext>
              </a:extLst>
            </p:cNvPr>
            <p:cNvSpPr/>
            <p:nvPr/>
          </p:nvSpPr>
          <p:spPr bwMode="auto">
            <a:xfrm>
              <a:off x="1204071" y="4570773"/>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文本数据</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 name="Picture 2">
              <a:extLst>
                <a:ext uri="{FF2B5EF4-FFF2-40B4-BE49-F238E27FC236}">
                  <a16:creationId xmlns:a16="http://schemas.microsoft.com/office/drawing/2014/main" id="{616D44A9-7096-43CC-8047-2E35C8F511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892" y="3306808"/>
              <a:ext cx="1875134" cy="1132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右箭头 1">
              <a:extLst>
                <a:ext uri="{FF2B5EF4-FFF2-40B4-BE49-F238E27FC236}">
                  <a16:creationId xmlns:a16="http://schemas.microsoft.com/office/drawing/2014/main" id="{CBDB6032-3E64-47CC-A145-896CFF6EEFFF}"/>
                </a:ext>
              </a:extLst>
            </p:cNvPr>
            <p:cNvSpPr/>
            <p:nvPr/>
          </p:nvSpPr>
          <p:spPr>
            <a:xfrm>
              <a:off x="2897579" y="1735707"/>
              <a:ext cx="2707574" cy="318724"/>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圆角矩形 2">
              <a:extLst>
                <a:ext uri="{FF2B5EF4-FFF2-40B4-BE49-F238E27FC236}">
                  <a16:creationId xmlns:a16="http://schemas.microsoft.com/office/drawing/2014/main" id="{F14743A9-18A4-41EC-B144-869FBC663101}"/>
                </a:ext>
              </a:extLst>
            </p:cNvPr>
            <p:cNvSpPr/>
            <p:nvPr/>
          </p:nvSpPr>
          <p:spPr>
            <a:xfrm>
              <a:off x="5783282" y="1099037"/>
              <a:ext cx="1330037" cy="134841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Person</a:t>
              </a: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Dog</a:t>
              </a: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6" name="Picture 3">
              <a:extLst>
                <a:ext uri="{FF2B5EF4-FFF2-40B4-BE49-F238E27FC236}">
                  <a16:creationId xmlns:a16="http://schemas.microsoft.com/office/drawing/2014/main" id="{BF403DF2-A94E-41EB-8393-CDA1BE4728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2658" y="1148481"/>
              <a:ext cx="1066800"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下箭头 5">
              <a:extLst>
                <a:ext uri="{FF2B5EF4-FFF2-40B4-BE49-F238E27FC236}">
                  <a16:creationId xmlns:a16="http://schemas.microsoft.com/office/drawing/2014/main" id="{00C994A8-C40B-4CD4-82BE-BFDF956135D4}"/>
                </a:ext>
              </a:extLst>
            </p:cNvPr>
            <p:cNvSpPr/>
            <p:nvPr/>
          </p:nvSpPr>
          <p:spPr>
            <a:xfrm rot="3227203">
              <a:off x="2915674" y="1252629"/>
              <a:ext cx="310738" cy="552503"/>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下箭头 25">
              <a:extLst>
                <a:ext uri="{FF2B5EF4-FFF2-40B4-BE49-F238E27FC236}">
                  <a16:creationId xmlns:a16="http://schemas.microsoft.com/office/drawing/2014/main" id="{4F296312-9E1A-4B1C-8068-1926D4674EBE}"/>
                </a:ext>
              </a:extLst>
            </p:cNvPr>
            <p:cNvSpPr/>
            <p:nvPr/>
          </p:nvSpPr>
          <p:spPr>
            <a:xfrm rot="3227203">
              <a:off x="2957285" y="3287965"/>
              <a:ext cx="310738" cy="63667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81B1F538-CD02-4791-929F-D2B4077E9921}"/>
                    </a:ext>
                  </a:extLst>
                </p:cNvPr>
                <p:cNvSpPr/>
                <p:nvPr/>
              </p:nvSpPr>
              <p:spPr>
                <a:xfrm>
                  <a:off x="3277865" y="3320224"/>
                  <a:ext cx="2728023" cy="384962"/>
                </a:xfrm>
                <a:prstGeom prst="rect">
                  <a:avLst/>
                </a:prstGeom>
              </p:spPr>
              <p:txBody>
                <a:bodyPr wrap="none">
                  <a:spAutoFit/>
                </a:bodyPr>
                <a:lstStyle/>
                <a:p>
                  <a14:m>
                    <m:oMath xmlns:m="http://schemas.openxmlformats.org/officeDocument/2006/math">
                      <m:r>
                        <a:rPr lang="en-US" altLang="zh-CN" sz="2800" b="0" i="1" smtClean="0">
                          <a:latin typeface="Cambria Math"/>
                          <a:cs typeface="Times New Roman" panose="02020603050405020304" pitchFamily="18" charset="0"/>
                        </a:rPr>
                        <m:t>𝑓</m:t>
                      </m:r>
                      <m:r>
                        <a:rPr lang="en-US" altLang="zh-CN" sz="2800" i="1" smtClean="0">
                          <a:latin typeface="Cambria Math"/>
                          <a:cs typeface="Times New Roman" panose="02020603050405020304" pitchFamily="18" charset="0"/>
                        </a:rPr>
                        <m:t> </m:t>
                      </m:r>
                    </m:oMath>
                  </a14:m>
                  <a:r>
                    <a:rPr lang="en-US" altLang="zh-CN" dirty="0">
                      <a:latin typeface="Times New Roman" panose="02020603050405020304" pitchFamily="18" charset="0"/>
                      <a:ea typeface="楷体" panose="02010609060101010101" pitchFamily="49" charset="-122"/>
                      <a:cs typeface="Times New Roman" panose="02020603050405020304" pitchFamily="18" charset="0"/>
                    </a:rPr>
                    <a:t>{car, money, drive,…}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3277865" y="3320224"/>
                  <a:ext cx="2728023" cy="384962"/>
                </a:xfrm>
                <a:prstGeom prst="rect">
                  <a:avLst/>
                </a:prstGeom>
                <a:blipFill>
                  <a:blip r:embed="rId6"/>
                  <a:stretch>
                    <a:fillRect r="-1659" b="-13095"/>
                  </a:stretch>
                </a:blipFill>
              </p:spPr>
              <p:txBody>
                <a:bodyPr/>
                <a:lstStyle/>
                <a:p>
                  <a:r>
                    <a:rPr lang="zh-CN" altLang="en-US">
                      <a:noFill/>
                    </a:rPr>
                    <a:t> </a:t>
                  </a:r>
                </a:p>
              </p:txBody>
            </p:sp>
          </mc:Fallback>
        </mc:AlternateContent>
        <p:sp>
          <p:nvSpPr>
            <p:cNvPr id="30" name="右箭头 26">
              <a:extLst>
                <a:ext uri="{FF2B5EF4-FFF2-40B4-BE49-F238E27FC236}">
                  <a16:creationId xmlns:a16="http://schemas.microsoft.com/office/drawing/2014/main" id="{0C490B10-E2FC-4DD0-A7E6-DF4ADB0E430B}"/>
                </a:ext>
              </a:extLst>
            </p:cNvPr>
            <p:cNvSpPr/>
            <p:nvPr/>
          </p:nvSpPr>
          <p:spPr>
            <a:xfrm>
              <a:off x="3029203" y="3841583"/>
              <a:ext cx="2872833" cy="318724"/>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圆角矩形 27">
              <a:extLst>
                <a:ext uri="{FF2B5EF4-FFF2-40B4-BE49-F238E27FC236}">
                  <a16:creationId xmlns:a16="http://schemas.microsoft.com/office/drawing/2014/main" id="{F278E763-BC0A-4D0F-952D-8041B177ABD9}"/>
                </a:ext>
              </a:extLst>
            </p:cNvPr>
            <p:cNvSpPr/>
            <p:nvPr/>
          </p:nvSpPr>
          <p:spPr>
            <a:xfrm>
              <a:off x="5945578" y="3245521"/>
              <a:ext cx="1330037" cy="1117118"/>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喜悦</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愤怒</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圆角矩形 28">
              <a:extLst>
                <a:ext uri="{FF2B5EF4-FFF2-40B4-BE49-F238E27FC236}">
                  <a16:creationId xmlns:a16="http://schemas.microsoft.com/office/drawing/2014/main" id="{46DA3079-934B-4C87-A9BB-FE3DE9774BF0}"/>
                </a:ext>
              </a:extLst>
            </p:cNvPr>
            <p:cNvSpPr/>
            <p:nvPr/>
          </p:nvSpPr>
          <p:spPr bwMode="auto">
            <a:xfrm>
              <a:off x="5856875" y="2578577"/>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类别分类</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3" name="圆角矩形 29">
              <a:extLst>
                <a:ext uri="{FF2B5EF4-FFF2-40B4-BE49-F238E27FC236}">
                  <a16:creationId xmlns:a16="http://schemas.microsoft.com/office/drawing/2014/main" id="{E1A254C3-0024-4140-ACC9-DA0EF36FE0E4}"/>
                </a:ext>
              </a:extLst>
            </p:cNvPr>
            <p:cNvSpPr/>
            <p:nvPr/>
          </p:nvSpPr>
          <p:spPr bwMode="auto">
            <a:xfrm>
              <a:off x="6054796" y="4439084"/>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情感分类</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4A995E3D-E40F-40A8-BBB7-8CBCB291C1EB}"/>
                    </a:ext>
                  </a:extLst>
                </p:cNvPr>
                <p:cNvSpPr/>
                <p:nvPr/>
              </p:nvSpPr>
              <p:spPr>
                <a:xfrm>
                  <a:off x="3184213" y="1130157"/>
                  <a:ext cx="821480" cy="484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600" i="1">
                            <a:latin typeface="Cambria Math"/>
                            <a:cs typeface="Times New Roman" panose="02020603050405020304" pitchFamily="18" charset="0"/>
                          </a:rPr>
                          <m:t>𝑓</m:t>
                        </m:r>
                        <m:r>
                          <m:rPr>
                            <m:nor/>
                          </m:rPr>
                          <a:rPr lang="en-US" altLang="zh-CN" sz="3600" dirty="0">
                            <a:latin typeface="Times New Roman" panose="02020603050405020304" pitchFamily="18" charset="0"/>
                            <a:ea typeface="楷体" panose="02010609060101010101" pitchFamily="49" charset="-122"/>
                            <a:cs typeface="Times New Roman" panose="02020603050405020304" pitchFamily="18" charset="0"/>
                          </a:rPr>
                          <m:t>{</m:t>
                        </m:r>
                      </m:oMath>
                    </m:oMathPara>
                  </a14:m>
                  <a:endParaRPr lang="zh-CN" altLang="en-US" sz="36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4" name="矩形 33">
                  <a:extLst>
                    <a:ext uri="{FF2B5EF4-FFF2-40B4-BE49-F238E27FC236}">
                      <a16:creationId xmlns:a16="http://schemas.microsoft.com/office/drawing/2014/main" id="{4A995E3D-E40F-40A8-BBB7-8CBCB291C1EB}"/>
                    </a:ext>
                  </a:extLst>
                </p:cNvPr>
                <p:cNvSpPr>
                  <a:spLocks noRot="1" noChangeAspect="1" noMove="1" noResize="1" noEditPoints="1" noAdjustHandles="1" noChangeArrowheads="1" noChangeShapeType="1" noTextEdit="1"/>
                </p:cNvSpPr>
                <p:nvPr/>
              </p:nvSpPr>
              <p:spPr>
                <a:xfrm>
                  <a:off x="3184213" y="1130157"/>
                  <a:ext cx="821480" cy="484748"/>
                </a:xfrm>
                <a:prstGeom prst="rect">
                  <a:avLst/>
                </a:prstGeom>
                <a:blipFill>
                  <a:blip r:embed="rId7"/>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AA15EDD-17E8-41A2-8438-9BF013800155}"/>
                  </a:ext>
                </a:extLst>
              </p:cNvPr>
              <p:cNvSpPr/>
              <p:nvPr/>
            </p:nvSpPr>
            <p:spPr>
              <a:xfrm>
                <a:off x="147773" y="1348940"/>
                <a:ext cx="5190995" cy="5220660"/>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监督学习是一种在实践中运用最为广泛的一种机器学习方法，其目标是给定带有标签信息数据的训练集</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𝒟</m:t>
                    </m:r>
                    <m:r>
                      <a:rPr lang="en-US" altLang="zh-CN" sz="1600">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e>
                            </m:d>
                          </m:e>
                        </m:d>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sup>
                    </m:sSub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，学习一个从输入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到输出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的映射。</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可是文档、图像、音频或蛋白质基因等数据或者数据的特征表达，</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为所对应的论文类别、人脸对象、歌曲语音或生命功能等语义内容，其中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𝒟</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被称为训练集，</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是训练样例的数量。</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监督学习算法从假设空间（</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hypothesis space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）学习得到一个</a:t>
                </a: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最优映射函数</a:t>
                </a:r>
                <a14:m>
                  <m:oMath xmlns:m="http://schemas.openxmlformats.org/officeDocument/2006/math">
                    <m:r>
                      <a:rPr lang="en-US" altLang="zh-CN" sz="1600" b="1" i="1">
                        <a:solidFill>
                          <a:srgbClr val="C00000"/>
                        </a:solidFill>
                        <a:latin typeface="Cambria Math" panose="02040503050406030204" pitchFamily="18" charset="0"/>
                        <a:ea typeface="楷体_GB2312"/>
                        <a:cs typeface="Times New Roman" panose="02020603050405020304" pitchFamily="18" charset="0"/>
                      </a:rPr>
                      <m:t>𝒇</m:t>
                    </m:r>
                  </m:oMath>
                </a14:m>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（又称决策函数）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，映射函数</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将输入数据映射到语义标注空间，实现数据的分类和识别。无监督学习则是直接从无标签数据</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出发学习映射函数，而半监督学习在学习映射函数过程中使用的一部分数据有标签、一部分数据没有标签。</a:t>
                </a:r>
              </a:p>
            </p:txBody>
          </p:sp>
        </mc:Choice>
        <mc:Fallback xmlns="">
          <p:sp>
            <p:nvSpPr>
              <p:cNvPr id="8" name="矩形 7">
                <a:extLst>
                  <a:ext uri="{FF2B5EF4-FFF2-40B4-BE49-F238E27FC236}">
                    <a16:creationId xmlns:a16="http://schemas.microsoft.com/office/drawing/2014/main" id="{3AA15EDD-17E8-41A2-8438-9BF013800155}"/>
                  </a:ext>
                </a:extLst>
              </p:cNvPr>
              <p:cNvSpPr>
                <a:spLocks noRot="1" noChangeAspect="1" noMove="1" noResize="1" noEditPoints="1" noAdjustHandles="1" noChangeArrowheads="1" noChangeShapeType="1" noTextEdit="1"/>
              </p:cNvSpPr>
              <p:nvPr/>
            </p:nvSpPr>
            <p:spPr>
              <a:xfrm>
                <a:off x="147773" y="1348940"/>
                <a:ext cx="5190995" cy="5220660"/>
              </a:xfrm>
              <a:prstGeom prst="rect">
                <a:avLst/>
              </a:prstGeom>
              <a:blipFill>
                <a:blip r:embed="rId8"/>
                <a:stretch>
                  <a:fillRect l="-469" r="-4577" b="-4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19873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数据如何表达成数字？</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5895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8" name="矩形 7">
            <a:extLst>
              <a:ext uri="{FF2B5EF4-FFF2-40B4-BE49-F238E27FC236}">
                <a16:creationId xmlns:a16="http://schemas.microsoft.com/office/drawing/2014/main" id="{3AA15EDD-17E8-41A2-8438-9BF013800155}"/>
              </a:ext>
            </a:extLst>
          </p:cNvPr>
          <p:cNvSpPr/>
          <p:nvPr/>
        </p:nvSpPr>
        <p:spPr>
          <a:xfrm>
            <a:off x="147773" y="1348940"/>
            <a:ext cx="5190995" cy="3741409"/>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文档</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ct val="150000"/>
              </a:lnSpc>
              <a:buFont typeface="Wingdings" panose="05000000000000000000" pitchFamily="2" charset="2"/>
              <a:buChar char="l"/>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比如：把每个单词转化成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one-hot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向量</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p:sp>
        <p:nvSpPr>
          <p:cNvPr id="24" name="文本框 23">
            <a:extLst>
              <a:ext uri="{FF2B5EF4-FFF2-40B4-BE49-F238E27FC236}">
                <a16:creationId xmlns:a16="http://schemas.microsoft.com/office/drawing/2014/main" id="{E1866D35-7255-A221-0358-A2BFB8F1A9D2}"/>
              </a:ext>
            </a:extLst>
          </p:cNvPr>
          <p:cNvSpPr txBox="1"/>
          <p:nvPr/>
        </p:nvSpPr>
        <p:spPr>
          <a:xfrm>
            <a:off x="1115982" y="3901066"/>
            <a:ext cx="3870252" cy="1888017"/>
          </a:xfrm>
          <a:prstGeom prst="rect">
            <a:avLst/>
          </a:prstGeom>
          <a:noFill/>
        </p:spPr>
        <p:txBody>
          <a:bodyPr wrap="square">
            <a:spAutoFit/>
          </a:bodyPr>
          <a:lstStyle/>
          <a:p>
            <a:pPr>
              <a:lnSpc>
                <a:spcPct val="200000"/>
              </a:lnSpc>
            </a:pPr>
            <a:r>
              <a:rPr lang="en-US" altLang="zh-CN" sz="12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任何一个机器学习模型如果在一些训练集以外的样本误差小（</a:t>
            </a:r>
            <a:r>
              <a:rPr lang="en-US" altLang="zh-CN" sz="12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off-training set error</a:t>
            </a:r>
            <a:r>
              <a:rPr lang="zh-CN" altLang="zh-CN" sz="12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），那么必然在另外一些训练集以外的样本上表现欠佳，任何模型在平均意义上而言其性能都是一样的，即没有放之四海而皆准的最好算法</a:t>
            </a:r>
            <a:r>
              <a:rPr lang="zh-CN" altLang="en-US" sz="12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 name="箭头: 右 24">
            <a:extLst>
              <a:ext uri="{FF2B5EF4-FFF2-40B4-BE49-F238E27FC236}">
                <a16:creationId xmlns:a16="http://schemas.microsoft.com/office/drawing/2014/main" id="{F3ADF3B9-3578-8349-E738-2D3F74C04F03}"/>
              </a:ext>
            </a:extLst>
          </p:cNvPr>
          <p:cNvSpPr/>
          <p:nvPr/>
        </p:nvSpPr>
        <p:spPr>
          <a:xfrm>
            <a:off x="5205211" y="4440274"/>
            <a:ext cx="2363279" cy="5614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4E4A2870-5DDC-8A64-C10B-065BF43EFD24}"/>
              </a:ext>
            </a:extLst>
          </p:cNvPr>
          <p:cNvSpPr txBox="1"/>
          <p:nvPr/>
        </p:nvSpPr>
        <p:spPr>
          <a:xfrm>
            <a:off x="6386852" y="1348941"/>
            <a:ext cx="537029" cy="2862322"/>
          </a:xfrm>
          <a:prstGeom prst="rect">
            <a:avLst/>
          </a:prstGeom>
          <a:noFill/>
          <a:ln>
            <a:solidFill>
              <a:schemeClr val="accent1"/>
            </a:solidFill>
          </a:ln>
        </p:spPr>
        <p:txBody>
          <a:bodyPr wrap="square" rtlCol="0">
            <a:spAutoFit/>
          </a:bodyPr>
          <a:lstStyle/>
          <a:p>
            <a:r>
              <a:rPr lang="zh-CN" altLang="en-US" dirty="0"/>
              <a:t>一</a:t>
            </a:r>
            <a:endParaRPr lang="en-US" altLang="zh-CN" dirty="0"/>
          </a:p>
          <a:p>
            <a:r>
              <a:rPr lang="zh-CN" altLang="en-US" dirty="0"/>
              <a:t>头</a:t>
            </a:r>
            <a:endParaRPr lang="en-US" altLang="zh-CN" dirty="0"/>
          </a:p>
          <a:p>
            <a:r>
              <a:rPr lang="zh-CN" altLang="en-US" dirty="0"/>
              <a:t>来</a:t>
            </a:r>
            <a:endParaRPr lang="en-US" altLang="zh-CN" dirty="0"/>
          </a:p>
          <a:p>
            <a:r>
              <a:rPr lang="en-US" altLang="zh-CN" dirty="0"/>
              <a:t>…</a:t>
            </a:r>
          </a:p>
          <a:p>
            <a:r>
              <a:rPr lang="zh-CN" altLang="en-US" dirty="0"/>
              <a:t>何任</a:t>
            </a:r>
            <a:endParaRPr lang="en-US" altLang="zh-CN" dirty="0"/>
          </a:p>
          <a:p>
            <a:r>
              <a:rPr lang="zh-CN" altLang="en-US" dirty="0"/>
              <a:t>牛法</a:t>
            </a:r>
            <a:r>
              <a:rPr lang="en-US" altLang="zh-CN" dirty="0"/>
              <a:t>…</a:t>
            </a:r>
          </a:p>
          <a:p>
            <a:r>
              <a:rPr lang="en-US" altLang="zh-CN" dirty="0"/>
              <a:t>…</a:t>
            </a:r>
            <a:endParaRPr lang="zh-CN" altLang="en-US" dirty="0"/>
          </a:p>
        </p:txBody>
      </p:sp>
      <p:sp>
        <p:nvSpPr>
          <p:cNvPr id="38" name="文本框 37">
            <a:extLst>
              <a:ext uri="{FF2B5EF4-FFF2-40B4-BE49-F238E27FC236}">
                <a16:creationId xmlns:a16="http://schemas.microsoft.com/office/drawing/2014/main" id="{CB249432-9459-E9B8-694E-5860C1DFD61C}"/>
              </a:ext>
            </a:extLst>
          </p:cNvPr>
          <p:cNvSpPr txBox="1"/>
          <p:nvPr/>
        </p:nvSpPr>
        <p:spPr>
          <a:xfrm>
            <a:off x="5827485" y="1348940"/>
            <a:ext cx="537029" cy="2862322"/>
          </a:xfrm>
          <a:prstGeom prst="rect">
            <a:avLst/>
          </a:prstGeom>
          <a:noFill/>
          <a:ln>
            <a:noFill/>
          </a:ln>
        </p:spPr>
        <p:txBody>
          <a:bodyPr wrap="square" rtlCol="0">
            <a:spAutoFit/>
          </a:bodyPr>
          <a:lstStyle/>
          <a:p>
            <a:pPr algn="ctr"/>
            <a:r>
              <a:rPr lang="en-US" altLang="zh-CN" dirty="0">
                <a:solidFill>
                  <a:schemeClr val="bg1">
                    <a:lumMod val="75000"/>
                  </a:schemeClr>
                </a:solidFill>
              </a:rPr>
              <a:t>1</a:t>
            </a:r>
          </a:p>
          <a:p>
            <a:pPr algn="ctr"/>
            <a:r>
              <a:rPr lang="en-US" altLang="zh-CN" dirty="0">
                <a:solidFill>
                  <a:schemeClr val="bg1">
                    <a:lumMod val="75000"/>
                  </a:schemeClr>
                </a:solidFill>
              </a:rPr>
              <a:t>2</a:t>
            </a:r>
          </a:p>
          <a:p>
            <a:pPr algn="ctr"/>
            <a:r>
              <a:rPr lang="en-US" altLang="zh-CN" dirty="0">
                <a:solidFill>
                  <a:schemeClr val="bg1">
                    <a:lumMod val="75000"/>
                  </a:schemeClr>
                </a:solidFill>
              </a:rPr>
              <a:t>3</a:t>
            </a:r>
          </a:p>
          <a:p>
            <a:pPr algn="ctr"/>
            <a:r>
              <a:rPr lang="en-US" altLang="zh-CN" dirty="0">
                <a:solidFill>
                  <a:schemeClr val="bg1">
                    <a:lumMod val="75000"/>
                  </a:schemeClr>
                </a:solidFill>
              </a:rPr>
              <a:t>…</a:t>
            </a:r>
          </a:p>
          <a:p>
            <a:pPr algn="ctr"/>
            <a:r>
              <a:rPr lang="en-US" altLang="zh-CN" dirty="0">
                <a:solidFill>
                  <a:schemeClr val="bg1">
                    <a:lumMod val="75000"/>
                  </a:schemeClr>
                </a:solidFill>
              </a:rPr>
              <a:t>99</a:t>
            </a:r>
          </a:p>
          <a:p>
            <a:pPr algn="ctr"/>
            <a:r>
              <a:rPr lang="en-US" altLang="zh-CN" dirty="0">
                <a:solidFill>
                  <a:schemeClr val="bg1">
                    <a:lumMod val="75000"/>
                  </a:schemeClr>
                </a:solidFill>
              </a:rPr>
              <a:t>100</a:t>
            </a:r>
          </a:p>
          <a:p>
            <a:pPr algn="ctr"/>
            <a:r>
              <a:rPr lang="en-US" altLang="zh-CN" dirty="0">
                <a:solidFill>
                  <a:schemeClr val="bg1">
                    <a:lumMod val="75000"/>
                  </a:schemeClr>
                </a:solidFill>
              </a:rPr>
              <a:t>101</a:t>
            </a:r>
          </a:p>
          <a:p>
            <a:pPr algn="ctr"/>
            <a:r>
              <a:rPr lang="en-US" altLang="zh-CN" dirty="0">
                <a:solidFill>
                  <a:schemeClr val="bg1">
                    <a:lumMod val="75000"/>
                  </a:schemeClr>
                </a:solidFill>
              </a:rPr>
              <a:t>102…</a:t>
            </a:r>
          </a:p>
          <a:p>
            <a:pPr algn="ctr"/>
            <a:r>
              <a:rPr lang="en-US" altLang="zh-CN" dirty="0">
                <a:solidFill>
                  <a:schemeClr val="bg1">
                    <a:lumMod val="75000"/>
                  </a:schemeClr>
                </a:solidFill>
              </a:rPr>
              <a:t>M</a:t>
            </a:r>
            <a:endParaRPr lang="zh-CN" altLang="en-US" dirty="0">
              <a:solidFill>
                <a:schemeClr val="bg1">
                  <a:lumMod val="75000"/>
                </a:schemeClr>
              </a:solidFill>
            </a:endParaRPr>
          </a:p>
        </p:txBody>
      </p:sp>
      <p:sp>
        <p:nvSpPr>
          <p:cNvPr id="42" name="文本框 41">
            <a:extLst>
              <a:ext uri="{FF2B5EF4-FFF2-40B4-BE49-F238E27FC236}">
                <a16:creationId xmlns:a16="http://schemas.microsoft.com/office/drawing/2014/main" id="{B51D0C3A-4037-C68B-3C70-47166CD0398C}"/>
              </a:ext>
            </a:extLst>
          </p:cNvPr>
          <p:cNvSpPr txBox="1"/>
          <p:nvPr/>
        </p:nvSpPr>
        <p:spPr>
          <a:xfrm>
            <a:off x="6046464" y="4211262"/>
            <a:ext cx="680775" cy="369332"/>
          </a:xfrm>
          <a:prstGeom prst="rect">
            <a:avLst/>
          </a:prstGeom>
          <a:noFill/>
        </p:spPr>
        <p:txBody>
          <a:bodyPr wrap="square">
            <a:spAutoFit/>
          </a:bodyPr>
          <a:lstStyle/>
          <a:p>
            <a:r>
              <a:rPr lang="zh-CN" altLang="en-US" dirty="0"/>
              <a:t>字典</a:t>
            </a:r>
          </a:p>
        </p:txBody>
      </p:sp>
      <p:graphicFrame>
        <p:nvGraphicFramePr>
          <p:cNvPr id="47" name="表格 46">
            <a:extLst>
              <a:ext uri="{FF2B5EF4-FFF2-40B4-BE49-F238E27FC236}">
                <a16:creationId xmlns:a16="http://schemas.microsoft.com/office/drawing/2014/main" id="{3AA9E0C6-DD73-F34E-0841-9FFC71E2D666}"/>
              </a:ext>
            </a:extLst>
          </p:cNvPr>
          <p:cNvGraphicFramePr>
            <a:graphicFrameLocks noGrp="1"/>
          </p:cNvGraphicFramePr>
          <p:nvPr>
            <p:extLst>
              <p:ext uri="{D42A27DB-BD31-4B8C-83A1-F6EECF244321}">
                <p14:modId xmlns:p14="http://schemas.microsoft.com/office/powerpoint/2010/main" val="3376460901"/>
              </p:ext>
            </p:extLst>
          </p:nvPr>
        </p:nvGraphicFramePr>
        <p:xfrm>
          <a:off x="7908878" y="3512708"/>
          <a:ext cx="2560098" cy="370840"/>
        </p:xfrm>
        <a:graphic>
          <a:graphicData uri="http://schemas.openxmlformats.org/drawingml/2006/table">
            <a:tbl>
              <a:tblPr firstRow="1" bandRow="1">
                <a:tableStyleId>{5940675A-B579-460E-94D1-54222C63F5DA}</a:tableStyleId>
              </a:tblPr>
              <a:tblGrid>
                <a:gridCol w="426683">
                  <a:extLst>
                    <a:ext uri="{9D8B030D-6E8A-4147-A177-3AD203B41FA5}">
                      <a16:colId xmlns:a16="http://schemas.microsoft.com/office/drawing/2014/main" val="3065292669"/>
                    </a:ext>
                  </a:extLst>
                </a:gridCol>
                <a:gridCol w="426683">
                  <a:extLst>
                    <a:ext uri="{9D8B030D-6E8A-4147-A177-3AD203B41FA5}">
                      <a16:colId xmlns:a16="http://schemas.microsoft.com/office/drawing/2014/main" val="40150958"/>
                    </a:ext>
                  </a:extLst>
                </a:gridCol>
                <a:gridCol w="426683">
                  <a:extLst>
                    <a:ext uri="{9D8B030D-6E8A-4147-A177-3AD203B41FA5}">
                      <a16:colId xmlns:a16="http://schemas.microsoft.com/office/drawing/2014/main" val="1407305153"/>
                    </a:ext>
                  </a:extLst>
                </a:gridCol>
                <a:gridCol w="426683">
                  <a:extLst>
                    <a:ext uri="{9D8B030D-6E8A-4147-A177-3AD203B41FA5}">
                      <a16:colId xmlns:a16="http://schemas.microsoft.com/office/drawing/2014/main" val="1853945714"/>
                    </a:ext>
                  </a:extLst>
                </a:gridCol>
                <a:gridCol w="426683">
                  <a:extLst>
                    <a:ext uri="{9D8B030D-6E8A-4147-A177-3AD203B41FA5}">
                      <a16:colId xmlns:a16="http://schemas.microsoft.com/office/drawing/2014/main" val="2469688581"/>
                    </a:ext>
                  </a:extLst>
                </a:gridCol>
                <a:gridCol w="426683">
                  <a:extLst>
                    <a:ext uri="{9D8B030D-6E8A-4147-A177-3AD203B41FA5}">
                      <a16:colId xmlns:a16="http://schemas.microsoft.com/office/drawing/2014/main" val="3455497421"/>
                    </a:ext>
                  </a:extLst>
                </a:gridCol>
              </a:tblGrid>
              <a:tr h="370840">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801617499"/>
                  </a:ext>
                </a:extLst>
              </a:tr>
            </a:tbl>
          </a:graphicData>
        </a:graphic>
      </p:graphicFrame>
      <p:sp>
        <p:nvSpPr>
          <p:cNvPr id="49" name="文本框 48">
            <a:extLst>
              <a:ext uri="{FF2B5EF4-FFF2-40B4-BE49-F238E27FC236}">
                <a16:creationId xmlns:a16="http://schemas.microsoft.com/office/drawing/2014/main" id="{9113E113-85CA-F5C4-38ED-478C2BF7689C}"/>
              </a:ext>
            </a:extLst>
          </p:cNvPr>
          <p:cNvSpPr txBox="1"/>
          <p:nvPr/>
        </p:nvSpPr>
        <p:spPr>
          <a:xfrm>
            <a:off x="9108659" y="3850501"/>
            <a:ext cx="550147" cy="369332"/>
          </a:xfrm>
          <a:prstGeom prst="rect">
            <a:avLst/>
          </a:prstGeom>
          <a:noFill/>
        </p:spPr>
        <p:txBody>
          <a:bodyPr wrap="square">
            <a:spAutoFit/>
          </a:bodyPr>
          <a:lstStyle/>
          <a:p>
            <a:r>
              <a:rPr lang="en-US" altLang="zh-CN" dirty="0">
                <a:solidFill>
                  <a:schemeClr val="bg1">
                    <a:lumMod val="75000"/>
                  </a:schemeClr>
                </a:solidFill>
              </a:rPr>
              <a:t>100</a:t>
            </a:r>
          </a:p>
        </p:txBody>
      </p:sp>
      <p:sp>
        <p:nvSpPr>
          <p:cNvPr id="50" name="文本框 49">
            <a:extLst>
              <a:ext uri="{FF2B5EF4-FFF2-40B4-BE49-F238E27FC236}">
                <a16:creationId xmlns:a16="http://schemas.microsoft.com/office/drawing/2014/main" id="{2B316E00-F485-AA12-4D7F-AA0E79AB07AB}"/>
              </a:ext>
            </a:extLst>
          </p:cNvPr>
          <p:cNvSpPr txBox="1"/>
          <p:nvPr/>
        </p:nvSpPr>
        <p:spPr>
          <a:xfrm>
            <a:off x="7924454" y="3850501"/>
            <a:ext cx="550147" cy="646331"/>
          </a:xfrm>
          <a:prstGeom prst="rect">
            <a:avLst/>
          </a:prstGeom>
          <a:noFill/>
        </p:spPr>
        <p:txBody>
          <a:bodyPr wrap="square">
            <a:spAutoFit/>
          </a:bodyPr>
          <a:lstStyle/>
          <a:p>
            <a:r>
              <a:rPr lang="en-US" altLang="zh-CN" dirty="0">
                <a:solidFill>
                  <a:schemeClr val="bg1">
                    <a:lumMod val="75000"/>
                  </a:schemeClr>
                </a:solidFill>
              </a:rPr>
              <a:t>1…</a:t>
            </a:r>
          </a:p>
          <a:p>
            <a:endParaRPr lang="en-US" altLang="zh-CN" dirty="0">
              <a:solidFill>
                <a:schemeClr val="bg1">
                  <a:lumMod val="75000"/>
                </a:schemeClr>
              </a:solidFill>
            </a:endParaRPr>
          </a:p>
        </p:txBody>
      </p:sp>
      <p:graphicFrame>
        <p:nvGraphicFramePr>
          <p:cNvPr id="51" name="表格 50">
            <a:extLst>
              <a:ext uri="{FF2B5EF4-FFF2-40B4-BE49-F238E27FC236}">
                <a16:creationId xmlns:a16="http://schemas.microsoft.com/office/drawing/2014/main" id="{EB8AF8B9-E983-C2AE-B293-194BF58D2976}"/>
              </a:ext>
            </a:extLst>
          </p:cNvPr>
          <p:cNvGraphicFramePr>
            <a:graphicFrameLocks noGrp="1"/>
          </p:cNvGraphicFramePr>
          <p:nvPr>
            <p:extLst>
              <p:ext uri="{D42A27DB-BD31-4B8C-83A1-F6EECF244321}">
                <p14:modId xmlns:p14="http://schemas.microsoft.com/office/powerpoint/2010/main" val="1248145992"/>
              </p:ext>
            </p:extLst>
          </p:nvPr>
        </p:nvGraphicFramePr>
        <p:xfrm>
          <a:off x="7924454" y="4242340"/>
          <a:ext cx="2560098" cy="370840"/>
        </p:xfrm>
        <a:graphic>
          <a:graphicData uri="http://schemas.openxmlformats.org/drawingml/2006/table">
            <a:tbl>
              <a:tblPr firstRow="1" bandRow="1">
                <a:tableStyleId>{5940675A-B579-460E-94D1-54222C63F5DA}</a:tableStyleId>
              </a:tblPr>
              <a:tblGrid>
                <a:gridCol w="426683">
                  <a:extLst>
                    <a:ext uri="{9D8B030D-6E8A-4147-A177-3AD203B41FA5}">
                      <a16:colId xmlns:a16="http://schemas.microsoft.com/office/drawing/2014/main" val="3065292669"/>
                    </a:ext>
                  </a:extLst>
                </a:gridCol>
                <a:gridCol w="426683">
                  <a:extLst>
                    <a:ext uri="{9D8B030D-6E8A-4147-A177-3AD203B41FA5}">
                      <a16:colId xmlns:a16="http://schemas.microsoft.com/office/drawing/2014/main" val="40150958"/>
                    </a:ext>
                  </a:extLst>
                </a:gridCol>
                <a:gridCol w="426683">
                  <a:extLst>
                    <a:ext uri="{9D8B030D-6E8A-4147-A177-3AD203B41FA5}">
                      <a16:colId xmlns:a16="http://schemas.microsoft.com/office/drawing/2014/main" val="1407305153"/>
                    </a:ext>
                  </a:extLst>
                </a:gridCol>
                <a:gridCol w="426683">
                  <a:extLst>
                    <a:ext uri="{9D8B030D-6E8A-4147-A177-3AD203B41FA5}">
                      <a16:colId xmlns:a16="http://schemas.microsoft.com/office/drawing/2014/main" val="1853945714"/>
                    </a:ext>
                  </a:extLst>
                </a:gridCol>
                <a:gridCol w="426683">
                  <a:extLst>
                    <a:ext uri="{9D8B030D-6E8A-4147-A177-3AD203B41FA5}">
                      <a16:colId xmlns:a16="http://schemas.microsoft.com/office/drawing/2014/main" val="2469688581"/>
                    </a:ext>
                  </a:extLst>
                </a:gridCol>
                <a:gridCol w="426683">
                  <a:extLst>
                    <a:ext uri="{9D8B030D-6E8A-4147-A177-3AD203B41FA5}">
                      <a16:colId xmlns:a16="http://schemas.microsoft.com/office/drawing/2014/main" val="3455497421"/>
                    </a:ext>
                  </a:extLst>
                </a:gridCol>
              </a:tblGrid>
              <a:tr h="370840">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801617499"/>
                  </a:ext>
                </a:extLst>
              </a:tr>
            </a:tbl>
          </a:graphicData>
        </a:graphic>
      </p:graphicFrame>
      <p:sp>
        <p:nvSpPr>
          <p:cNvPr id="52" name="文本框 51">
            <a:extLst>
              <a:ext uri="{FF2B5EF4-FFF2-40B4-BE49-F238E27FC236}">
                <a16:creationId xmlns:a16="http://schemas.microsoft.com/office/drawing/2014/main" id="{BB762EE9-9F11-5279-F468-EC66E713D4D8}"/>
              </a:ext>
            </a:extLst>
          </p:cNvPr>
          <p:cNvSpPr txBox="1"/>
          <p:nvPr/>
        </p:nvSpPr>
        <p:spPr>
          <a:xfrm>
            <a:off x="9124235" y="4580133"/>
            <a:ext cx="550147" cy="369332"/>
          </a:xfrm>
          <a:prstGeom prst="rect">
            <a:avLst/>
          </a:prstGeom>
          <a:noFill/>
        </p:spPr>
        <p:txBody>
          <a:bodyPr wrap="square">
            <a:spAutoFit/>
          </a:bodyPr>
          <a:lstStyle/>
          <a:p>
            <a:r>
              <a:rPr lang="en-US" altLang="zh-CN" dirty="0">
                <a:solidFill>
                  <a:schemeClr val="bg1">
                    <a:lumMod val="75000"/>
                  </a:schemeClr>
                </a:solidFill>
              </a:rPr>
              <a:t>99</a:t>
            </a:r>
          </a:p>
        </p:txBody>
      </p:sp>
      <p:sp>
        <p:nvSpPr>
          <p:cNvPr id="53" name="文本框 52">
            <a:extLst>
              <a:ext uri="{FF2B5EF4-FFF2-40B4-BE49-F238E27FC236}">
                <a16:creationId xmlns:a16="http://schemas.microsoft.com/office/drawing/2014/main" id="{5768EFE1-DB1B-248B-AC72-732284C68CC4}"/>
              </a:ext>
            </a:extLst>
          </p:cNvPr>
          <p:cNvSpPr txBox="1"/>
          <p:nvPr/>
        </p:nvSpPr>
        <p:spPr>
          <a:xfrm>
            <a:off x="7940030" y="4580133"/>
            <a:ext cx="550147" cy="646331"/>
          </a:xfrm>
          <a:prstGeom prst="rect">
            <a:avLst/>
          </a:prstGeom>
          <a:noFill/>
        </p:spPr>
        <p:txBody>
          <a:bodyPr wrap="square">
            <a:spAutoFit/>
          </a:bodyPr>
          <a:lstStyle/>
          <a:p>
            <a:r>
              <a:rPr lang="en-US" altLang="zh-CN" dirty="0">
                <a:solidFill>
                  <a:schemeClr val="bg1">
                    <a:lumMod val="75000"/>
                  </a:schemeClr>
                </a:solidFill>
              </a:rPr>
              <a:t>1…</a:t>
            </a:r>
          </a:p>
          <a:p>
            <a:endParaRPr lang="en-US" altLang="zh-CN" dirty="0">
              <a:solidFill>
                <a:schemeClr val="bg1">
                  <a:lumMod val="75000"/>
                </a:schemeClr>
              </a:solidFill>
            </a:endParaRPr>
          </a:p>
        </p:txBody>
      </p:sp>
      <p:sp>
        <p:nvSpPr>
          <p:cNvPr id="55" name="文本框 54">
            <a:extLst>
              <a:ext uri="{FF2B5EF4-FFF2-40B4-BE49-F238E27FC236}">
                <a16:creationId xmlns:a16="http://schemas.microsoft.com/office/drawing/2014/main" id="{3BE67496-A1C4-E77F-46E1-3527C15E880A}"/>
              </a:ext>
            </a:extLst>
          </p:cNvPr>
          <p:cNvSpPr txBox="1"/>
          <p:nvPr/>
        </p:nvSpPr>
        <p:spPr>
          <a:xfrm rot="5400000">
            <a:off x="8848254" y="4978333"/>
            <a:ext cx="427069" cy="369332"/>
          </a:xfrm>
          <a:prstGeom prst="rect">
            <a:avLst/>
          </a:prstGeom>
          <a:noFill/>
        </p:spPr>
        <p:txBody>
          <a:bodyPr wrap="square">
            <a:spAutoFit/>
          </a:bodyPr>
          <a:lstStyle/>
          <a:p>
            <a:r>
              <a:rPr lang="en-US" altLang="zh-CN" dirty="0"/>
              <a:t>…</a:t>
            </a:r>
          </a:p>
        </p:txBody>
      </p:sp>
      <p:graphicFrame>
        <p:nvGraphicFramePr>
          <p:cNvPr id="56" name="表格 55">
            <a:extLst>
              <a:ext uri="{FF2B5EF4-FFF2-40B4-BE49-F238E27FC236}">
                <a16:creationId xmlns:a16="http://schemas.microsoft.com/office/drawing/2014/main" id="{0120D6B1-4483-D0F8-030B-4CEE7C1B9EE0}"/>
              </a:ext>
            </a:extLst>
          </p:cNvPr>
          <p:cNvGraphicFramePr>
            <a:graphicFrameLocks noGrp="1"/>
          </p:cNvGraphicFramePr>
          <p:nvPr>
            <p:extLst>
              <p:ext uri="{D42A27DB-BD31-4B8C-83A1-F6EECF244321}">
                <p14:modId xmlns:p14="http://schemas.microsoft.com/office/powerpoint/2010/main" val="3924650537"/>
              </p:ext>
            </p:extLst>
          </p:nvPr>
        </p:nvGraphicFramePr>
        <p:xfrm>
          <a:off x="7940030" y="5418648"/>
          <a:ext cx="2560098" cy="370840"/>
        </p:xfrm>
        <a:graphic>
          <a:graphicData uri="http://schemas.openxmlformats.org/drawingml/2006/table">
            <a:tbl>
              <a:tblPr firstRow="1" bandRow="1">
                <a:tableStyleId>{5940675A-B579-460E-94D1-54222C63F5DA}</a:tableStyleId>
              </a:tblPr>
              <a:tblGrid>
                <a:gridCol w="426683">
                  <a:extLst>
                    <a:ext uri="{9D8B030D-6E8A-4147-A177-3AD203B41FA5}">
                      <a16:colId xmlns:a16="http://schemas.microsoft.com/office/drawing/2014/main" val="3065292669"/>
                    </a:ext>
                  </a:extLst>
                </a:gridCol>
                <a:gridCol w="426683">
                  <a:extLst>
                    <a:ext uri="{9D8B030D-6E8A-4147-A177-3AD203B41FA5}">
                      <a16:colId xmlns:a16="http://schemas.microsoft.com/office/drawing/2014/main" val="40150958"/>
                    </a:ext>
                  </a:extLst>
                </a:gridCol>
                <a:gridCol w="426683">
                  <a:extLst>
                    <a:ext uri="{9D8B030D-6E8A-4147-A177-3AD203B41FA5}">
                      <a16:colId xmlns:a16="http://schemas.microsoft.com/office/drawing/2014/main" val="1407305153"/>
                    </a:ext>
                  </a:extLst>
                </a:gridCol>
                <a:gridCol w="426683">
                  <a:extLst>
                    <a:ext uri="{9D8B030D-6E8A-4147-A177-3AD203B41FA5}">
                      <a16:colId xmlns:a16="http://schemas.microsoft.com/office/drawing/2014/main" val="1853945714"/>
                    </a:ext>
                  </a:extLst>
                </a:gridCol>
                <a:gridCol w="426683">
                  <a:extLst>
                    <a:ext uri="{9D8B030D-6E8A-4147-A177-3AD203B41FA5}">
                      <a16:colId xmlns:a16="http://schemas.microsoft.com/office/drawing/2014/main" val="2469688581"/>
                    </a:ext>
                  </a:extLst>
                </a:gridCol>
                <a:gridCol w="426683">
                  <a:extLst>
                    <a:ext uri="{9D8B030D-6E8A-4147-A177-3AD203B41FA5}">
                      <a16:colId xmlns:a16="http://schemas.microsoft.com/office/drawing/2014/main" val="3455497421"/>
                    </a:ext>
                  </a:extLst>
                </a:gridCol>
              </a:tblGrid>
              <a:tr h="370840">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801617499"/>
                  </a:ext>
                </a:extLst>
              </a:tr>
            </a:tbl>
          </a:graphicData>
        </a:graphic>
      </p:graphicFrame>
      <p:sp>
        <p:nvSpPr>
          <p:cNvPr id="57" name="文本框 56">
            <a:extLst>
              <a:ext uri="{FF2B5EF4-FFF2-40B4-BE49-F238E27FC236}">
                <a16:creationId xmlns:a16="http://schemas.microsoft.com/office/drawing/2014/main" id="{661CA07C-F8B5-2110-17D6-E1425E1C9C59}"/>
              </a:ext>
            </a:extLst>
          </p:cNvPr>
          <p:cNvSpPr txBox="1"/>
          <p:nvPr/>
        </p:nvSpPr>
        <p:spPr>
          <a:xfrm>
            <a:off x="9139811" y="5756441"/>
            <a:ext cx="550147" cy="369332"/>
          </a:xfrm>
          <a:prstGeom prst="rect">
            <a:avLst/>
          </a:prstGeom>
          <a:noFill/>
        </p:spPr>
        <p:txBody>
          <a:bodyPr wrap="square">
            <a:spAutoFit/>
          </a:bodyPr>
          <a:lstStyle/>
          <a:p>
            <a:r>
              <a:rPr lang="en-US" altLang="zh-CN" dirty="0">
                <a:solidFill>
                  <a:schemeClr val="bg1">
                    <a:lumMod val="75000"/>
                  </a:schemeClr>
                </a:solidFill>
              </a:rPr>
              <a:t>102</a:t>
            </a:r>
          </a:p>
        </p:txBody>
      </p:sp>
      <p:sp>
        <p:nvSpPr>
          <p:cNvPr id="58" name="文本框 57">
            <a:extLst>
              <a:ext uri="{FF2B5EF4-FFF2-40B4-BE49-F238E27FC236}">
                <a16:creationId xmlns:a16="http://schemas.microsoft.com/office/drawing/2014/main" id="{A23878E6-D890-6B9D-0CA0-00295C955443}"/>
              </a:ext>
            </a:extLst>
          </p:cNvPr>
          <p:cNvSpPr txBox="1"/>
          <p:nvPr/>
        </p:nvSpPr>
        <p:spPr>
          <a:xfrm>
            <a:off x="7955606" y="5756441"/>
            <a:ext cx="550147" cy="646331"/>
          </a:xfrm>
          <a:prstGeom prst="rect">
            <a:avLst/>
          </a:prstGeom>
          <a:noFill/>
        </p:spPr>
        <p:txBody>
          <a:bodyPr wrap="square">
            <a:spAutoFit/>
          </a:bodyPr>
          <a:lstStyle/>
          <a:p>
            <a:r>
              <a:rPr lang="en-US" altLang="zh-CN" dirty="0">
                <a:solidFill>
                  <a:schemeClr val="bg1">
                    <a:lumMod val="75000"/>
                  </a:schemeClr>
                </a:solidFill>
              </a:rPr>
              <a:t>1…</a:t>
            </a:r>
          </a:p>
          <a:p>
            <a:endParaRPr lang="en-US" altLang="zh-CN" dirty="0">
              <a:solidFill>
                <a:schemeClr val="bg1">
                  <a:lumMod val="75000"/>
                </a:schemeClr>
              </a:solidFill>
            </a:endParaRPr>
          </a:p>
        </p:txBody>
      </p:sp>
      <p:sp>
        <p:nvSpPr>
          <p:cNvPr id="59" name="右大括号 58">
            <a:extLst>
              <a:ext uri="{FF2B5EF4-FFF2-40B4-BE49-F238E27FC236}">
                <a16:creationId xmlns:a16="http://schemas.microsoft.com/office/drawing/2014/main" id="{4892AB34-ADF0-7C47-D5E1-A37F055CB5A9}"/>
              </a:ext>
            </a:extLst>
          </p:cNvPr>
          <p:cNvSpPr/>
          <p:nvPr/>
        </p:nvSpPr>
        <p:spPr>
          <a:xfrm rot="16200000">
            <a:off x="9049880" y="2029733"/>
            <a:ext cx="278094" cy="25600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C7D769C4-9CD8-429E-364F-2E2CC0BEF0C9}"/>
              </a:ext>
            </a:extLst>
          </p:cNvPr>
          <p:cNvSpPr txBox="1"/>
          <p:nvPr/>
        </p:nvSpPr>
        <p:spPr>
          <a:xfrm>
            <a:off x="8982366" y="2801402"/>
            <a:ext cx="413121" cy="369332"/>
          </a:xfrm>
          <a:prstGeom prst="rect">
            <a:avLst/>
          </a:prstGeom>
          <a:noFill/>
        </p:spPr>
        <p:txBody>
          <a:bodyPr wrap="square">
            <a:spAutoFit/>
          </a:bodyPr>
          <a:lstStyle/>
          <a:p>
            <a:r>
              <a:rPr lang="en-US" altLang="zh-CN" dirty="0"/>
              <a:t>M</a:t>
            </a:r>
            <a:endParaRPr lang="zh-CN" altLang="en-US" dirty="0"/>
          </a:p>
        </p:txBody>
      </p:sp>
    </p:spTree>
    <p:extLst>
      <p:ext uri="{BB962C8B-B14F-4D97-AF65-F5344CB8AC3E}">
        <p14:creationId xmlns:p14="http://schemas.microsoft.com/office/powerpoint/2010/main" val="749557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数据如何表达成数字？</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5895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8" name="矩形 7">
            <a:extLst>
              <a:ext uri="{FF2B5EF4-FFF2-40B4-BE49-F238E27FC236}">
                <a16:creationId xmlns:a16="http://schemas.microsoft.com/office/drawing/2014/main" id="{3AA15EDD-17E8-41A2-8438-9BF013800155}"/>
              </a:ext>
            </a:extLst>
          </p:cNvPr>
          <p:cNvSpPr/>
          <p:nvPr/>
        </p:nvSpPr>
        <p:spPr>
          <a:xfrm>
            <a:off x="147773" y="1348940"/>
            <a:ext cx="5190995" cy="3742050"/>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图像</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生物</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类别</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、表情类别</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ct val="150000"/>
              </a:lnSpc>
              <a:buFont typeface="Wingdings" panose="05000000000000000000" pitchFamily="2" charset="2"/>
              <a:buChar char="l"/>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比如：把每个类别转化成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one-hot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向量</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p:pic>
        <p:nvPicPr>
          <p:cNvPr id="7" name="图片 6">
            <a:extLst>
              <a:ext uri="{FF2B5EF4-FFF2-40B4-BE49-F238E27FC236}">
                <a16:creationId xmlns:a16="http://schemas.microsoft.com/office/drawing/2014/main" id="{74E5E0F5-F434-D4AE-5F0A-562557E3A902}"/>
              </a:ext>
            </a:extLst>
          </p:cNvPr>
          <p:cNvPicPr>
            <a:picLocks noChangeAspect="1"/>
          </p:cNvPicPr>
          <p:nvPr/>
        </p:nvPicPr>
        <p:blipFill>
          <a:blip r:embed="rId3"/>
          <a:stretch>
            <a:fillRect/>
          </a:stretch>
        </p:blipFill>
        <p:spPr>
          <a:xfrm>
            <a:off x="1706115" y="2124396"/>
            <a:ext cx="828571" cy="1200000"/>
          </a:xfrm>
          <a:prstGeom prst="rect">
            <a:avLst/>
          </a:prstGeom>
        </p:spPr>
      </p:pic>
      <p:graphicFrame>
        <p:nvGraphicFramePr>
          <p:cNvPr id="10" name="表格 9">
            <a:extLst>
              <a:ext uri="{FF2B5EF4-FFF2-40B4-BE49-F238E27FC236}">
                <a16:creationId xmlns:a16="http://schemas.microsoft.com/office/drawing/2014/main" id="{0F082CB2-5AEA-6F63-7F3D-F9D4B60516CD}"/>
              </a:ext>
            </a:extLst>
          </p:cNvPr>
          <p:cNvGraphicFramePr>
            <a:graphicFrameLocks noGrp="1"/>
          </p:cNvGraphicFramePr>
          <p:nvPr>
            <p:extLst>
              <p:ext uri="{D42A27DB-BD31-4B8C-83A1-F6EECF244321}">
                <p14:modId xmlns:p14="http://schemas.microsoft.com/office/powerpoint/2010/main" val="2509017665"/>
              </p:ext>
            </p:extLst>
          </p:nvPr>
        </p:nvGraphicFramePr>
        <p:xfrm>
          <a:off x="3307884" y="1514200"/>
          <a:ext cx="1726084" cy="2225040"/>
        </p:xfrm>
        <a:graphic>
          <a:graphicData uri="http://schemas.openxmlformats.org/drawingml/2006/table">
            <a:tbl>
              <a:tblPr firstRow="1" bandRow="1">
                <a:tableStyleId>{5940675A-B579-460E-94D1-54222C63F5DA}</a:tableStyleId>
              </a:tblPr>
              <a:tblGrid>
                <a:gridCol w="431521">
                  <a:extLst>
                    <a:ext uri="{9D8B030D-6E8A-4147-A177-3AD203B41FA5}">
                      <a16:colId xmlns:a16="http://schemas.microsoft.com/office/drawing/2014/main" val="1149877961"/>
                    </a:ext>
                  </a:extLst>
                </a:gridCol>
                <a:gridCol w="431521">
                  <a:extLst>
                    <a:ext uri="{9D8B030D-6E8A-4147-A177-3AD203B41FA5}">
                      <a16:colId xmlns:a16="http://schemas.microsoft.com/office/drawing/2014/main" val="1896271231"/>
                    </a:ext>
                  </a:extLst>
                </a:gridCol>
                <a:gridCol w="431521">
                  <a:extLst>
                    <a:ext uri="{9D8B030D-6E8A-4147-A177-3AD203B41FA5}">
                      <a16:colId xmlns:a16="http://schemas.microsoft.com/office/drawing/2014/main" val="2727208607"/>
                    </a:ext>
                  </a:extLst>
                </a:gridCol>
                <a:gridCol w="431521">
                  <a:extLst>
                    <a:ext uri="{9D8B030D-6E8A-4147-A177-3AD203B41FA5}">
                      <a16:colId xmlns:a16="http://schemas.microsoft.com/office/drawing/2014/main" val="621921185"/>
                    </a:ext>
                  </a:extLst>
                </a:gridCol>
              </a:tblGrid>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2251851223"/>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2997667332"/>
                  </a:ext>
                </a:extLst>
              </a:tr>
              <a:tr h="37084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extLst>
                  <a:ext uri="{0D108BD9-81ED-4DB2-BD59-A6C34878D82A}">
                    <a16:rowId xmlns:a16="http://schemas.microsoft.com/office/drawing/2014/main" val="3611251585"/>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2347322940"/>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627815144"/>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864575962"/>
                  </a:ext>
                </a:extLst>
              </a:tr>
            </a:tbl>
          </a:graphicData>
        </a:graphic>
      </p:graphicFrame>
      <p:graphicFrame>
        <p:nvGraphicFramePr>
          <p:cNvPr id="11" name="表格 10">
            <a:extLst>
              <a:ext uri="{FF2B5EF4-FFF2-40B4-BE49-F238E27FC236}">
                <a16:creationId xmlns:a16="http://schemas.microsoft.com/office/drawing/2014/main" id="{A7983C8E-2380-E8FA-013A-E1EDD6FDFCA6}"/>
              </a:ext>
            </a:extLst>
          </p:cNvPr>
          <p:cNvGraphicFramePr>
            <a:graphicFrameLocks noGrp="1"/>
          </p:cNvGraphicFramePr>
          <p:nvPr>
            <p:extLst>
              <p:ext uri="{D42A27DB-BD31-4B8C-83A1-F6EECF244321}">
                <p14:modId xmlns:p14="http://schemas.microsoft.com/office/powerpoint/2010/main" val="3289241839"/>
              </p:ext>
            </p:extLst>
          </p:nvPr>
        </p:nvGraphicFramePr>
        <p:xfrm>
          <a:off x="3460284" y="1666600"/>
          <a:ext cx="1726084" cy="2225040"/>
        </p:xfrm>
        <a:graphic>
          <a:graphicData uri="http://schemas.openxmlformats.org/drawingml/2006/table">
            <a:tbl>
              <a:tblPr firstRow="1" bandRow="1">
                <a:tableStyleId>{5940675A-B579-460E-94D1-54222C63F5DA}</a:tableStyleId>
              </a:tblPr>
              <a:tblGrid>
                <a:gridCol w="431521">
                  <a:extLst>
                    <a:ext uri="{9D8B030D-6E8A-4147-A177-3AD203B41FA5}">
                      <a16:colId xmlns:a16="http://schemas.microsoft.com/office/drawing/2014/main" val="1149877961"/>
                    </a:ext>
                  </a:extLst>
                </a:gridCol>
                <a:gridCol w="431521">
                  <a:extLst>
                    <a:ext uri="{9D8B030D-6E8A-4147-A177-3AD203B41FA5}">
                      <a16:colId xmlns:a16="http://schemas.microsoft.com/office/drawing/2014/main" val="1896271231"/>
                    </a:ext>
                  </a:extLst>
                </a:gridCol>
                <a:gridCol w="431521">
                  <a:extLst>
                    <a:ext uri="{9D8B030D-6E8A-4147-A177-3AD203B41FA5}">
                      <a16:colId xmlns:a16="http://schemas.microsoft.com/office/drawing/2014/main" val="2727208607"/>
                    </a:ext>
                  </a:extLst>
                </a:gridCol>
                <a:gridCol w="431521">
                  <a:extLst>
                    <a:ext uri="{9D8B030D-6E8A-4147-A177-3AD203B41FA5}">
                      <a16:colId xmlns:a16="http://schemas.microsoft.com/office/drawing/2014/main" val="621921185"/>
                    </a:ext>
                  </a:extLst>
                </a:gridCol>
              </a:tblGrid>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2251851223"/>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2997667332"/>
                  </a:ext>
                </a:extLst>
              </a:tr>
              <a:tr h="370840">
                <a:tc>
                  <a:txBody>
                    <a:bodyPr/>
                    <a:lstStyle/>
                    <a:p>
                      <a:endParaRPr lang="zh-CN" altLang="en-US" dirty="0"/>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3611251585"/>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2347322940"/>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627815144"/>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1864575962"/>
                  </a:ext>
                </a:extLst>
              </a:tr>
            </a:tbl>
          </a:graphicData>
        </a:graphic>
      </p:graphicFrame>
      <p:graphicFrame>
        <p:nvGraphicFramePr>
          <p:cNvPr id="12" name="表格 11">
            <a:extLst>
              <a:ext uri="{FF2B5EF4-FFF2-40B4-BE49-F238E27FC236}">
                <a16:creationId xmlns:a16="http://schemas.microsoft.com/office/drawing/2014/main" id="{574E1811-01B4-23DB-2858-1CE225034826}"/>
              </a:ext>
            </a:extLst>
          </p:cNvPr>
          <p:cNvGraphicFramePr>
            <a:graphicFrameLocks noGrp="1"/>
          </p:cNvGraphicFramePr>
          <p:nvPr>
            <p:extLst>
              <p:ext uri="{D42A27DB-BD31-4B8C-83A1-F6EECF244321}">
                <p14:modId xmlns:p14="http://schemas.microsoft.com/office/powerpoint/2010/main" val="4066918246"/>
              </p:ext>
            </p:extLst>
          </p:nvPr>
        </p:nvGraphicFramePr>
        <p:xfrm>
          <a:off x="3612684" y="1819000"/>
          <a:ext cx="1726084" cy="2225040"/>
        </p:xfrm>
        <a:graphic>
          <a:graphicData uri="http://schemas.openxmlformats.org/drawingml/2006/table">
            <a:tbl>
              <a:tblPr firstRow="1" bandRow="1">
                <a:tableStyleId>{5940675A-B579-460E-94D1-54222C63F5DA}</a:tableStyleId>
              </a:tblPr>
              <a:tblGrid>
                <a:gridCol w="431521">
                  <a:extLst>
                    <a:ext uri="{9D8B030D-6E8A-4147-A177-3AD203B41FA5}">
                      <a16:colId xmlns:a16="http://schemas.microsoft.com/office/drawing/2014/main" val="1149877961"/>
                    </a:ext>
                  </a:extLst>
                </a:gridCol>
                <a:gridCol w="431521">
                  <a:extLst>
                    <a:ext uri="{9D8B030D-6E8A-4147-A177-3AD203B41FA5}">
                      <a16:colId xmlns:a16="http://schemas.microsoft.com/office/drawing/2014/main" val="1896271231"/>
                    </a:ext>
                  </a:extLst>
                </a:gridCol>
                <a:gridCol w="431521">
                  <a:extLst>
                    <a:ext uri="{9D8B030D-6E8A-4147-A177-3AD203B41FA5}">
                      <a16:colId xmlns:a16="http://schemas.microsoft.com/office/drawing/2014/main" val="2727208607"/>
                    </a:ext>
                  </a:extLst>
                </a:gridCol>
                <a:gridCol w="431521">
                  <a:extLst>
                    <a:ext uri="{9D8B030D-6E8A-4147-A177-3AD203B41FA5}">
                      <a16:colId xmlns:a16="http://schemas.microsoft.com/office/drawing/2014/main" val="621921185"/>
                    </a:ext>
                  </a:extLst>
                </a:gridCol>
              </a:tblGrid>
              <a:tr h="370840">
                <a:tc>
                  <a:txBody>
                    <a:bodyPr/>
                    <a:lstStyle/>
                    <a:p>
                      <a:r>
                        <a:rPr lang="en-US" altLang="zh-CN" dirty="0"/>
                        <a:t>23</a:t>
                      </a:r>
                      <a:endParaRPr lang="zh-CN" altLang="en-US" dirty="0"/>
                    </a:p>
                  </a:txBody>
                  <a:tcPr>
                    <a:solidFill>
                      <a:schemeClr val="bg1"/>
                    </a:solidFill>
                  </a:tcPr>
                </a:tc>
                <a:tc>
                  <a:txBody>
                    <a:bodyPr/>
                    <a:lstStyle/>
                    <a:p>
                      <a:r>
                        <a:rPr lang="en-US" altLang="zh-CN" dirty="0"/>
                        <a:t>1</a:t>
                      </a:r>
                      <a:endParaRPr lang="zh-CN" altLang="en-US" dirty="0"/>
                    </a:p>
                  </a:txBody>
                  <a:tcPr>
                    <a:solidFill>
                      <a:schemeClr val="bg1"/>
                    </a:solidFill>
                  </a:tcPr>
                </a:tc>
                <a:tc>
                  <a:txBody>
                    <a:bodyPr/>
                    <a:lstStyle/>
                    <a:p>
                      <a:r>
                        <a:rPr lang="en-US" altLang="zh-CN" dirty="0"/>
                        <a:t>34</a:t>
                      </a:r>
                      <a:endParaRPr lang="zh-CN" altLang="en-US" dirty="0"/>
                    </a:p>
                  </a:txBody>
                  <a:tcPr>
                    <a:solidFill>
                      <a:schemeClr val="bg1"/>
                    </a:solidFill>
                  </a:tcPr>
                </a:tc>
                <a:tc>
                  <a:txBody>
                    <a:bodyPr/>
                    <a:lstStyle/>
                    <a:p>
                      <a:r>
                        <a:rPr lang="en-US" altLang="zh-CN" dirty="0"/>
                        <a:t>54</a:t>
                      </a:r>
                      <a:endParaRPr lang="zh-CN" altLang="en-US" dirty="0"/>
                    </a:p>
                  </a:txBody>
                  <a:tcPr>
                    <a:solidFill>
                      <a:schemeClr val="bg1"/>
                    </a:solidFill>
                  </a:tcPr>
                </a:tc>
                <a:extLst>
                  <a:ext uri="{0D108BD9-81ED-4DB2-BD59-A6C34878D82A}">
                    <a16:rowId xmlns:a16="http://schemas.microsoft.com/office/drawing/2014/main" val="2251851223"/>
                  </a:ext>
                </a:extLst>
              </a:tr>
              <a:tr h="370840">
                <a:tc>
                  <a:txBody>
                    <a:bodyPr/>
                    <a:lstStyle/>
                    <a:p>
                      <a:r>
                        <a:rPr lang="en-US" altLang="zh-CN" dirty="0"/>
                        <a:t>0</a:t>
                      </a:r>
                      <a:endParaRPr lang="zh-CN" altLang="en-US" dirty="0"/>
                    </a:p>
                  </a:txBody>
                  <a:tcPr>
                    <a:solidFill>
                      <a:schemeClr val="bg1"/>
                    </a:solidFill>
                  </a:tcPr>
                </a:tc>
                <a:tc>
                  <a:txBody>
                    <a:bodyPr/>
                    <a:lstStyle/>
                    <a:p>
                      <a:r>
                        <a:rPr lang="en-US" altLang="zh-CN" dirty="0"/>
                        <a:t>25</a:t>
                      </a:r>
                      <a:endParaRPr lang="zh-CN" altLang="en-US" dirty="0"/>
                    </a:p>
                  </a:txBody>
                  <a:tcPr>
                    <a:solidFill>
                      <a:schemeClr val="bg1"/>
                    </a:solidFill>
                  </a:tcPr>
                </a:tc>
                <a:tc>
                  <a:txBody>
                    <a:bodyPr/>
                    <a:lstStyle/>
                    <a:p>
                      <a:r>
                        <a:rPr lang="en-US" altLang="zh-CN" dirty="0"/>
                        <a:t>…</a:t>
                      </a:r>
                      <a:endParaRPr lang="zh-CN" altLang="en-US" dirty="0"/>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2997667332"/>
                  </a:ext>
                </a:extLst>
              </a:tr>
              <a:tr h="370840">
                <a:tc>
                  <a:txBody>
                    <a:bodyPr/>
                    <a:lstStyle/>
                    <a:p>
                      <a:endParaRPr lang="zh-CN" altLang="en-US" dirty="0"/>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3611251585"/>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2347322940"/>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627815144"/>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r>
                        <a:rPr lang="en-US" altLang="zh-CN" dirty="0"/>
                        <a:t>2</a:t>
                      </a:r>
                      <a:endParaRPr lang="zh-CN" altLang="en-US" dirty="0"/>
                    </a:p>
                  </a:txBody>
                  <a:tcPr>
                    <a:solidFill>
                      <a:schemeClr val="bg1"/>
                    </a:solidFill>
                  </a:tcPr>
                </a:tc>
                <a:tc>
                  <a:txBody>
                    <a:bodyPr/>
                    <a:lstStyle/>
                    <a:p>
                      <a:r>
                        <a:rPr lang="en-US" altLang="zh-CN" dirty="0"/>
                        <a:t>90</a:t>
                      </a:r>
                      <a:endParaRPr lang="zh-CN" altLang="en-US" dirty="0"/>
                    </a:p>
                  </a:txBody>
                  <a:tcPr>
                    <a:solidFill>
                      <a:schemeClr val="bg1"/>
                    </a:solidFill>
                  </a:tcPr>
                </a:tc>
                <a:extLst>
                  <a:ext uri="{0D108BD9-81ED-4DB2-BD59-A6C34878D82A}">
                    <a16:rowId xmlns:a16="http://schemas.microsoft.com/office/drawing/2014/main" val="1864575962"/>
                  </a:ext>
                </a:extLst>
              </a:tr>
            </a:tbl>
          </a:graphicData>
        </a:graphic>
      </p:graphicFrame>
      <p:sp>
        <p:nvSpPr>
          <p:cNvPr id="13" name="箭头: 右 12">
            <a:extLst>
              <a:ext uri="{FF2B5EF4-FFF2-40B4-BE49-F238E27FC236}">
                <a16:creationId xmlns:a16="http://schemas.microsoft.com/office/drawing/2014/main" id="{5C505D1B-AC18-5260-ECE4-276AD257068A}"/>
              </a:ext>
            </a:extLst>
          </p:cNvPr>
          <p:cNvSpPr/>
          <p:nvPr/>
        </p:nvSpPr>
        <p:spPr>
          <a:xfrm>
            <a:off x="2759113" y="2443653"/>
            <a:ext cx="304045" cy="5614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DAEFD0E0-5D08-FCA4-E025-7304389F0D6C}"/>
              </a:ext>
            </a:extLst>
          </p:cNvPr>
          <p:cNvSpPr txBox="1"/>
          <p:nvPr/>
        </p:nvSpPr>
        <p:spPr>
          <a:xfrm>
            <a:off x="4598117" y="5765733"/>
            <a:ext cx="673541" cy="622863"/>
          </a:xfrm>
          <a:prstGeom prst="rect">
            <a:avLst/>
          </a:prstGeom>
          <a:noFill/>
        </p:spPr>
        <p:txBody>
          <a:bodyPr wrap="square">
            <a:spAutoFit/>
          </a:bodyPr>
          <a:lstStyle/>
          <a:p>
            <a:pPr>
              <a:lnSpc>
                <a:spcPct val="200000"/>
              </a:lnSpc>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人</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箭头: 右 8">
            <a:extLst>
              <a:ext uri="{FF2B5EF4-FFF2-40B4-BE49-F238E27FC236}">
                <a16:creationId xmlns:a16="http://schemas.microsoft.com/office/drawing/2014/main" id="{71AA94EE-5067-BE14-F47B-1B8D7299C069}"/>
              </a:ext>
            </a:extLst>
          </p:cNvPr>
          <p:cNvSpPr/>
          <p:nvPr/>
        </p:nvSpPr>
        <p:spPr>
          <a:xfrm>
            <a:off x="5185114" y="5860854"/>
            <a:ext cx="2363279" cy="5614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001432C-3970-08AE-30F6-AB2929A2C563}"/>
              </a:ext>
            </a:extLst>
          </p:cNvPr>
          <p:cNvSpPr txBox="1"/>
          <p:nvPr/>
        </p:nvSpPr>
        <p:spPr>
          <a:xfrm>
            <a:off x="6457553" y="4172209"/>
            <a:ext cx="466379" cy="1754326"/>
          </a:xfrm>
          <a:prstGeom prst="rect">
            <a:avLst/>
          </a:prstGeom>
          <a:noFill/>
          <a:ln>
            <a:solidFill>
              <a:schemeClr val="accent1"/>
            </a:solidFill>
          </a:ln>
        </p:spPr>
        <p:txBody>
          <a:bodyPr wrap="square" rtlCol="0">
            <a:spAutoFit/>
          </a:bodyPr>
          <a:lstStyle/>
          <a:p>
            <a:r>
              <a:rPr lang="zh-CN" altLang="en-US" dirty="0"/>
              <a:t>狗</a:t>
            </a:r>
            <a:endParaRPr lang="en-US" altLang="zh-CN" dirty="0"/>
          </a:p>
          <a:p>
            <a:r>
              <a:rPr lang="zh-CN" altLang="en-US" dirty="0"/>
              <a:t>猪</a:t>
            </a:r>
            <a:endParaRPr lang="en-US" altLang="zh-CN" dirty="0"/>
          </a:p>
          <a:p>
            <a:r>
              <a:rPr lang="en-US" altLang="zh-CN" dirty="0"/>
              <a:t>…</a:t>
            </a:r>
          </a:p>
          <a:p>
            <a:r>
              <a:rPr lang="zh-CN" altLang="en-US" dirty="0"/>
              <a:t>人</a:t>
            </a:r>
            <a:endParaRPr lang="en-US" altLang="zh-CN" dirty="0"/>
          </a:p>
          <a:p>
            <a:r>
              <a:rPr lang="en-US" altLang="zh-CN" dirty="0"/>
              <a:t>…</a:t>
            </a:r>
          </a:p>
          <a:p>
            <a:r>
              <a:rPr lang="en-US" altLang="zh-CN" dirty="0"/>
              <a:t>…</a:t>
            </a:r>
          </a:p>
        </p:txBody>
      </p:sp>
      <p:sp>
        <p:nvSpPr>
          <p:cNvPr id="15" name="文本框 14">
            <a:extLst>
              <a:ext uri="{FF2B5EF4-FFF2-40B4-BE49-F238E27FC236}">
                <a16:creationId xmlns:a16="http://schemas.microsoft.com/office/drawing/2014/main" id="{83463AEB-2B70-3316-9633-F0FD1B3EE5E9}"/>
              </a:ext>
            </a:extLst>
          </p:cNvPr>
          <p:cNvSpPr txBox="1"/>
          <p:nvPr/>
        </p:nvSpPr>
        <p:spPr>
          <a:xfrm>
            <a:off x="5898186" y="4172208"/>
            <a:ext cx="537029" cy="1754326"/>
          </a:xfrm>
          <a:prstGeom prst="rect">
            <a:avLst/>
          </a:prstGeom>
          <a:noFill/>
          <a:ln>
            <a:noFill/>
          </a:ln>
        </p:spPr>
        <p:txBody>
          <a:bodyPr wrap="square" rtlCol="0">
            <a:spAutoFit/>
          </a:bodyPr>
          <a:lstStyle/>
          <a:p>
            <a:pPr algn="ctr"/>
            <a:r>
              <a:rPr lang="en-US" altLang="zh-CN" dirty="0">
                <a:solidFill>
                  <a:schemeClr val="bg1">
                    <a:lumMod val="75000"/>
                  </a:schemeClr>
                </a:solidFill>
              </a:rPr>
              <a:t>1</a:t>
            </a:r>
          </a:p>
          <a:p>
            <a:pPr algn="ctr"/>
            <a:r>
              <a:rPr lang="en-US" altLang="zh-CN" dirty="0">
                <a:solidFill>
                  <a:schemeClr val="bg1">
                    <a:lumMod val="75000"/>
                  </a:schemeClr>
                </a:solidFill>
              </a:rPr>
              <a:t>2</a:t>
            </a:r>
          </a:p>
          <a:p>
            <a:pPr algn="ctr"/>
            <a:r>
              <a:rPr lang="en-US" altLang="zh-CN" dirty="0">
                <a:solidFill>
                  <a:schemeClr val="bg1">
                    <a:lumMod val="75000"/>
                  </a:schemeClr>
                </a:solidFill>
              </a:rPr>
              <a:t>…</a:t>
            </a:r>
          </a:p>
          <a:p>
            <a:pPr algn="ctr"/>
            <a:r>
              <a:rPr lang="en-US" altLang="zh-CN" dirty="0">
                <a:solidFill>
                  <a:schemeClr val="bg1">
                    <a:lumMod val="75000"/>
                  </a:schemeClr>
                </a:solidFill>
              </a:rPr>
              <a:t>23</a:t>
            </a:r>
          </a:p>
          <a:p>
            <a:pPr algn="ctr"/>
            <a:r>
              <a:rPr lang="en-US" altLang="zh-CN" dirty="0">
                <a:solidFill>
                  <a:schemeClr val="bg1">
                    <a:lumMod val="75000"/>
                  </a:schemeClr>
                </a:solidFill>
              </a:rPr>
              <a:t>…</a:t>
            </a:r>
          </a:p>
          <a:p>
            <a:pPr algn="ctr"/>
            <a:r>
              <a:rPr lang="en-US" altLang="zh-CN" dirty="0">
                <a:solidFill>
                  <a:schemeClr val="bg1">
                    <a:lumMod val="75000"/>
                  </a:schemeClr>
                </a:solidFill>
              </a:rPr>
              <a:t>N</a:t>
            </a:r>
            <a:endParaRPr lang="zh-CN" altLang="en-US" dirty="0">
              <a:solidFill>
                <a:schemeClr val="bg1">
                  <a:lumMod val="75000"/>
                </a:schemeClr>
              </a:solidFill>
            </a:endParaRPr>
          </a:p>
        </p:txBody>
      </p:sp>
      <p:graphicFrame>
        <p:nvGraphicFramePr>
          <p:cNvPr id="20" name="表格 19">
            <a:extLst>
              <a:ext uri="{FF2B5EF4-FFF2-40B4-BE49-F238E27FC236}">
                <a16:creationId xmlns:a16="http://schemas.microsoft.com/office/drawing/2014/main" id="{1130D094-C32D-D69A-1547-918BA06845F8}"/>
              </a:ext>
            </a:extLst>
          </p:cNvPr>
          <p:cNvGraphicFramePr>
            <a:graphicFrameLocks noGrp="1"/>
          </p:cNvGraphicFramePr>
          <p:nvPr>
            <p:extLst>
              <p:ext uri="{D42A27DB-BD31-4B8C-83A1-F6EECF244321}">
                <p14:modId xmlns:p14="http://schemas.microsoft.com/office/powerpoint/2010/main" val="3729965816"/>
              </p:ext>
            </p:extLst>
          </p:nvPr>
        </p:nvGraphicFramePr>
        <p:xfrm>
          <a:off x="7904357" y="5662920"/>
          <a:ext cx="2560098" cy="370840"/>
        </p:xfrm>
        <a:graphic>
          <a:graphicData uri="http://schemas.openxmlformats.org/drawingml/2006/table">
            <a:tbl>
              <a:tblPr firstRow="1" bandRow="1">
                <a:tableStyleId>{5940675A-B579-460E-94D1-54222C63F5DA}</a:tableStyleId>
              </a:tblPr>
              <a:tblGrid>
                <a:gridCol w="426683">
                  <a:extLst>
                    <a:ext uri="{9D8B030D-6E8A-4147-A177-3AD203B41FA5}">
                      <a16:colId xmlns:a16="http://schemas.microsoft.com/office/drawing/2014/main" val="3065292669"/>
                    </a:ext>
                  </a:extLst>
                </a:gridCol>
                <a:gridCol w="426683">
                  <a:extLst>
                    <a:ext uri="{9D8B030D-6E8A-4147-A177-3AD203B41FA5}">
                      <a16:colId xmlns:a16="http://schemas.microsoft.com/office/drawing/2014/main" val="40150958"/>
                    </a:ext>
                  </a:extLst>
                </a:gridCol>
                <a:gridCol w="426683">
                  <a:extLst>
                    <a:ext uri="{9D8B030D-6E8A-4147-A177-3AD203B41FA5}">
                      <a16:colId xmlns:a16="http://schemas.microsoft.com/office/drawing/2014/main" val="1407305153"/>
                    </a:ext>
                  </a:extLst>
                </a:gridCol>
                <a:gridCol w="426683">
                  <a:extLst>
                    <a:ext uri="{9D8B030D-6E8A-4147-A177-3AD203B41FA5}">
                      <a16:colId xmlns:a16="http://schemas.microsoft.com/office/drawing/2014/main" val="1853945714"/>
                    </a:ext>
                  </a:extLst>
                </a:gridCol>
                <a:gridCol w="426683">
                  <a:extLst>
                    <a:ext uri="{9D8B030D-6E8A-4147-A177-3AD203B41FA5}">
                      <a16:colId xmlns:a16="http://schemas.microsoft.com/office/drawing/2014/main" val="2469688581"/>
                    </a:ext>
                  </a:extLst>
                </a:gridCol>
                <a:gridCol w="426683">
                  <a:extLst>
                    <a:ext uri="{9D8B030D-6E8A-4147-A177-3AD203B41FA5}">
                      <a16:colId xmlns:a16="http://schemas.microsoft.com/office/drawing/2014/main" val="3455497421"/>
                    </a:ext>
                  </a:extLst>
                </a:gridCol>
              </a:tblGrid>
              <a:tr h="370840">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801617499"/>
                  </a:ext>
                </a:extLst>
              </a:tr>
            </a:tbl>
          </a:graphicData>
        </a:graphic>
      </p:graphicFrame>
      <p:sp>
        <p:nvSpPr>
          <p:cNvPr id="21" name="文本框 20">
            <a:extLst>
              <a:ext uri="{FF2B5EF4-FFF2-40B4-BE49-F238E27FC236}">
                <a16:creationId xmlns:a16="http://schemas.microsoft.com/office/drawing/2014/main" id="{D5BC69F0-14AE-1648-39A1-EDDFC4F621D3}"/>
              </a:ext>
            </a:extLst>
          </p:cNvPr>
          <p:cNvSpPr txBox="1"/>
          <p:nvPr/>
        </p:nvSpPr>
        <p:spPr>
          <a:xfrm>
            <a:off x="9104138" y="6000713"/>
            <a:ext cx="550147" cy="369332"/>
          </a:xfrm>
          <a:prstGeom prst="rect">
            <a:avLst/>
          </a:prstGeom>
          <a:noFill/>
        </p:spPr>
        <p:txBody>
          <a:bodyPr wrap="square">
            <a:spAutoFit/>
          </a:bodyPr>
          <a:lstStyle/>
          <a:p>
            <a:r>
              <a:rPr lang="en-US" altLang="zh-CN" dirty="0">
                <a:solidFill>
                  <a:schemeClr val="bg1">
                    <a:lumMod val="75000"/>
                  </a:schemeClr>
                </a:solidFill>
              </a:rPr>
              <a:t>23</a:t>
            </a:r>
          </a:p>
        </p:txBody>
      </p:sp>
      <p:sp>
        <p:nvSpPr>
          <p:cNvPr id="22" name="文本框 21">
            <a:extLst>
              <a:ext uri="{FF2B5EF4-FFF2-40B4-BE49-F238E27FC236}">
                <a16:creationId xmlns:a16="http://schemas.microsoft.com/office/drawing/2014/main" id="{7BF7583F-CAE2-F934-59C6-3FF32EB73A03}"/>
              </a:ext>
            </a:extLst>
          </p:cNvPr>
          <p:cNvSpPr txBox="1"/>
          <p:nvPr/>
        </p:nvSpPr>
        <p:spPr>
          <a:xfrm>
            <a:off x="7919933" y="6000713"/>
            <a:ext cx="550147" cy="646331"/>
          </a:xfrm>
          <a:prstGeom prst="rect">
            <a:avLst/>
          </a:prstGeom>
          <a:noFill/>
        </p:spPr>
        <p:txBody>
          <a:bodyPr wrap="square">
            <a:spAutoFit/>
          </a:bodyPr>
          <a:lstStyle/>
          <a:p>
            <a:r>
              <a:rPr lang="en-US" altLang="zh-CN" dirty="0">
                <a:solidFill>
                  <a:schemeClr val="bg1">
                    <a:lumMod val="75000"/>
                  </a:schemeClr>
                </a:solidFill>
              </a:rPr>
              <a:t>1…</a:t>
            </a:r>
          </a:p>
          <a:p>
            <a:endParaRPr lang="en-US" altLang="zh-CN" dirty="0"/>
          </a:p>
        </p:txBody>
      </p:sp>
      <p:sp>
        <p:nvSpPr>
          <p:cNvPr id="30" name="右大括号 29">
            <a:extLst>
              <a:ext uri="{FF2B5EF4-FFF2-40B4-BE49-F238E27FC236}">
                <a16:creationId xmlns:a16="http://schemas.microsoft.com/office/drawing/2014/main" id="{0F725998-2502-ECAA-7308-A6CBE79A5934}"/>
              </a:ext>
            </a:extLst>
          </p:cNvPr>
          <p:cNvSpPr/>
          <p:nvPr/>
        </p:nvSpPr>
        <p:spPr>
          <a:xfrm rot="16200000">
            <a:off x="9060935" y="4199365"/>
            <a:ext cx="278094" cy="25600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043DE0EA-D8D2-6340-295A-6C0BA141B19C}"/>
              </a:ext>
            </a:extLst>
          </p:cNvPr>
          <p:cNvSpPr txBox="1"/>
          <p:nvPr/>
        </p:nvSpPr>
        <p:spPr>
          <a:xfrm>
            <a:off x="8993421" y="4971034"/>
            <a:ext cx="413121" cy="369332"/>
          </a:xfrm>
          <a:prstGeom prst="rect">
            <a:avLst/>
          </a:prstGeom>
          <a:noFill/>
        </p:spPr>
        <p:txBody>
          <a:bodyPr wrap="square">
            <a:spAutoFit/>
          </a:bodyPr>
          <a:lstStyle/>
          <a:p>
            <a:r>
              <a:rPr lang="en-US" altLang="zh-CN" dirty="0"/>
              <a:t>N</a:t>
            </a:r>
            <a:endParaRPr lang="zh-CN" altLang="en-US" dirty="0"/>
          </a:p>
        </p:txBody>
      </p:sp>
      <p:sp>
        <p:nvSpPr>
          <p:cNvPr id="33" name="右大括号 32">
            <a:extLst>
              <a:ext uri="{FF2B5EF4-FFF2-40B4-BE49-F238E27FC236}">
                <a16:creationId xmlns:a16="http://schemas.microsoft.com/office/drawing/2014/main" id="{2AD77268-B8C6-EFDB-1B1F-CF4756C63EE1}"/>
              </a:ext>
            </a:extLst>
          </p:cNvPr>
          <p:cNvSpPr/>
          <p:nvPr/>
        </p:nvSpPr>
        <p:spPr>
          <a:xfrm rot="5400000">
            <a:off x="4321231" y="3330810"/>
            <a:ext cx="278094" cy="17569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3C2A5124-D1FD-867A-7665-D3B5A6CECA2A}"/>
              </a:ext>
            </a:extLst>
          </p:cNvPr>
          <p:cNvSpPr txBox="1"/>
          <p:nvPr/>
        </p:nvSpPr>
        <p:spPr>
          <a:xfrm>
            <a:off x="4246302" y="4306649"/>
            <a:ext cx="283523" cy="369332"/>
          </a:xfrm>
          <a:prstGeom prst="rect">
            <a:avLst/>
          </a:prstGeom>
          <a:noFill/>
        </p:spPr>
        <p:txBody>
          <a:bodyPr wrap="square">
            <a:spAutoFit/>
          </a:bodyPr>
          <a:lstStyle/>
          <a:p>
            <a:r>
              <a:rPr lang="en-US" altLang="zh-CN" dirty="0"/>
              <a:t>W</a:t>
            </a:r>
            <a:endParaRPr lang="zh-CN" altLang="en-US" dirty="0"/>
          </a:p>
        </p:txBody>
      </p:sp>
      <p:sp>
        <p:nvSpPr>
          <p:cNvPr id="35" name="文本框 34">
            <a:extLst>
              <a:ext uri="{FF2B5EF4-FFF2-40B4-BE49-F238E27FC236}">
                <a16:creationId xmlns:a16="http://schemas.microsoft.com/office/drawing/2014/main" id="{72028DA4-41E5-0143-AD16-9A70F822FA9F}"/>
              </a:ext>
            </a:extLst>
          </p:cNvPr>
          <p:cNvSpPr txBox="1"/>
          <p:nvPr/>
        </p:nvSpPr>
        <p:spPr>
          <a:xfrm>
            <a:off x="5690042" y="2759565"/>
            <a:ext cx="283523" cy="369332"/>
          </a:xfrm>
          <a:prstGeom prst="rect">
            <a:avLst/>
          </a:prstGeom>
          <a:noFill/>
        </p:spPr>
        <p:txBody>
          <a:bodyPr wrap="square">
            <a:spAutoFit/>
          </a:bodyPr>
          <a:lstStyle/>
          <a:p>
            <a:r>
              <a:rPr lang="en-US" altLang="zh-CN" dirty="0"/>
              <a:t>H</a:t>
            </a:r>
            <a:endParaRPr lang="zh-CN" altLang="en-US" dirty="0"/>
          </a:p>
        </p:txBody>
      </p:sp>
      <p:sp>
        <p:nvSpPr>
          <p:cNvPr id="36" name="右大括号 35">
            <a:extLst>
              <a:ext uri="{FF2B5EF4-FFF2-40B4-BE49-F238E27FC236}">
                <a16:creationId xmlns:a16="http://schemas.microsoft.com/office/drawing/2014/main" id="{F1EA44D7-1AFE-41B1-31FC-7CF2398F80EC}"/>
              </a:ext>
            </a:extLst>
          </p:cNvPr>
          <p:cNvSpPr/>
          <p:nvPr/>
        </p:nvSpPr>
        <p:spPr>
          <a:xfrm>
            <a:off x="5411948" y="1787730"/>
            <a:ext cx="278094" cy="228252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右大括号 39">
            <a:extLst>
              <a:ext uri="{FF2B5EF4-FFF2-40B4-BE49-F238E27FC236}">
                <a16:creationId xmlns:a16="http://schemas.microsoft.com/office/drawing/2014/main" id="{CFBE0D53-3CD0-A571-BB16-398B9490078C}"/>
              </a:ext>
            </a:extLst>
          </p:cNvPr>
          <p:cNvSpPr/>
          <p:nvPr/>
        </p:nvSpPr>
        <p:spPr>
          <a:xfrm rot="5400000">
            <a:off x="1993017" y="3119319"/>
            <a:ext cx="278094" cy="82857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54F3CBE6-E906-F103-5169-CDE5D719D7A3}"/>
              </a:ext>
            </a:extLst>
          </p:cNvPr>
          <p:cNvSpPr txBox="1"/>
          <p:nvPr/>
        </p:nvSpPr>
        <p:spPr>
          <a:xfrm>
            <a:off x="1905576" y="3640691"/>
            <a:ext cx="283523" cy="369332"/>
          </a:xfrm>
          <a:prstGeom prst="rect">
            <a:avLst/>
          </a:prstGeom>
          <a:noFill/>
        </p:spPr>
        <p:txBody>
          <a:bodyPr wrap="square">
            <a:spAutoFit/>
          </a:bodyPr>
          <a:lstStyle/>
          <a:p>
            <a:r>
              <a:rPr lang="en-US" altLang="zh-CN" dirty="0"/>
              <a:t>W</a:t>
            </a:r>
            <a:endParaRPr lang="zh-CN" altLang="en-US" dirty="0"/>
          </a:p>
        </p:txBody>
      </p:sp>
      <p:sp>
        <p:nvSpPr>
          <p:cNvPr id="43" name="文本框 42">
            <a:extLst>
              <a:ext uri="{FF2B5EF4-FFF2-40B4-BE49-F238E27FC236}">
                <a16:creationId xmlns:a16="http://schemas.microsoft.com/office/drawing/2014/main" id="{43C9BA5E-9367-30DE-93BF-206386C49E17}"/>
              </a:ext>
            </a:extLst>
          </p:cNvPr>
          <p:cNvSpPr txBox="1"/>
          <p:nvPr/>
        </p:nvSpPr>
        <p:spPr>
          <a:xfrm>
            <a:off x="1087525" y="2539730"/>
            <a:ext cx="283523" cy="369332"/>
          </a:xfrm>
          <a:prstGeom prst="rect">
            <a:avLst/>
          </a:prstGeom>
          <a:noFill/>
        </p:spPr>
        <p:txBody>
          <a:bodyPr wrap="square">
            <a:spAutoFit/>
          </a:bodyPr>
          <a:lstStyle/>
          <a:p>
            <a:r>
              <a:rPr lang="en-US" altLang="zh-CN" dirty="0"/>
              <a:t>H</a:t>
            </a:r>
            <a:endParaRPr lang="zh-CN" altLang="en-US" dirty="0"/>
          </a:p>
        </p:txBody>
      </p:sp>
      <p:sp>
        <p:nvSpPr>
          <p:cNvPr id="44" name="右大括号 43">
            <a:extLst>
              <a:ext uri="{FF2B5EF4-FFF2-40B4-BE49-F238E27FC236}">
                <a16:creationId xmlns:a16="http://schemas.microsoft.com/office/drawing/2014/main" id="{6F7C558A-C553-5117-D505-58CCB5655363}"/>
              </a:ext>
            </a:extLst>
          </p:cNvPr>
          <p:cNvSpPr/>
          <p:nvPr/>
        </p:nvSpPr>
        <p:spPr>
          <a:xfrm rot="10800000">
            <a:off x="1387154" y="2124396"/>
            <a:ext cx="278094" cy="120251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右大括号 44">
            <a:extLst>
              <a:ext uri="{FF2B5EF4-FFF2-40B4-BE49-F238E27FC236}">
                <a16:creationId xmlns:a16="http://schemas.microsoft.com/office/drawing/2014/main" id="{2AE1193C-4AB5-2632-98C2-3D4B0A4FBADD}"/>
              </a:ext>
            </a:extLst>
          </p:cNvPr>
          <p:cNvSpPr/>
          <p:nvPr/>
        </p:nvSpPr>
        <p:spPr>
          <a:xfrm rot="19631107">
            <a:off x="5229899" y="1330552"/>
            <a:ext cx="278094" cy="40818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4BC36456-89AC-8EF8-BF6A-5E480256C97A}"/>
              </a:ext>
            </a:extLst>
          </p:cNvPr>
          <p:cNvSpPr txBox="1"/>
          <p:nvPr/>
        </p:nvSpPr>
        <p:spPr>
          <a:xfrm>
            <a:off x="5470679" y="1262753"/>
            <a:ext cx="4085303" cy="369332"/>
          </a:xfrm>
          <a:prstGeom prst="rect">
            <a:avLst/>
          </a:prstGeom>
          <a:noFill/>
        </p:spPr>
        <p:txBody>
          <a:bodyPr wrap="square">
            <a:spAutoFit/>
          </a:bodyPr>
          <a:lstStyle/>
          <a:p>
            <a:r>
              <a:rPr lang="en-US" altLang="zh-CN" dirty="0"/>
              <a:t>3 (</a:t>
            </a:r>
            <a:r>
              <a:rPr lang="zh-CN" altLang="en-US" dirty="0"/>
              <a:t>一张彩色图像通常有</a:t>
            </a:r>
            <a:r>
              <a:rPr lang="en-US" altLang="zh-CN" dirty="0"/>
              <a:t>RGB 3</a:t>
            </a:r>
            <a:r>
              <a:rPr lang="zh-CN" altLang="en-US" dirty="0"/>
              <a:t>个通道</a:t>
            </a:r>
            <a:r>
              <a:rPr lang="en-US" altLang="zh-CN" dirty="0"/>
              <a:t>)</a:t>
            </a:r>
            <a:endParaRPr lang="zh-CN" altLang="en-US" dirty="0"/>
          </a:p>
        </p:txBody>
      </p:sp>
    </p:spTree>
    <p:extLst>
      <p:ext uri="{BB962C8B-B14F-4D97-AF65-F5344CB8AC3E}">
        <p14:creationId xmlns:p14="http://schemas.microsoft.com/office/powerpoint/2010/main" val="2519837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有监督学习：以分类任务为例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5895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8" name="矩形 7">
            <a:extLst>
              <a:ext uri="{FF2B5EF4-FFF2-40B4-BE49-F238E27FC236}">
                <a16:creationId xmlns:a16="http://schemas.microsoft.com/office/drawing/2014/main" id="{3AA15EDD-17E8-41A2-8438-9BF013800155}"/>
              </a:ext>
            </a:extLst>
          </p:cNvPr>
          <p:cNvSpPr/>
          <p:nvPr/>
        </p:nvSpPr>
        <p:spPr>
          <a:xfrm>
            <a:off x="147773" y="1348940"/>
            <a:ext cx="5190995" cy="3002745"/>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学习一个映射</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f</a:t>
            </a: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algn="just">
              <a:lnSpc>
                <a:spcPct val="150000"/>
              </a:lnSpc>
              <a:spcAft>
                <a:spcPts val="0"/>
              </a:spcAft>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p:pic>
        <p:nvPicPr>
          <p:cNvPr id="7" name="图片 6">
            <a:extLst>
              <a:ext uri="{FF2B5EF4-FFF2-40B4-BE49-F238E27FC236}">
                <a16:creationId xmlns:a16="http://schemas.microsoft.com/office/drawing/2014/main" id="{74E5E0F5-F434-D4AE-5F0A-562557E3A902}"/>
              </a:ext>
            </a:extLst>
          </p:cNvPr>
          <p:cNvPicPr>
            <a:picLocks noChangeAspect="1"/>
          </p:cNvPicPr>
          <p:nvPr/>
        </p:nvPicPr>
        <p:blipFill>
          <a:blip r:embed="rId3"/>
          <a:stretch>
            <a:fillRect/>
          </a:stretch>
        </p:blipFill>
        <p:spPr>
          <a:xfrm>
            <a:off x="1706115" y="3313417"/>
            <a:ext cx="828571" cy="1200000"/>
          </a:xfrm>
          <a:prstGeom prst="rect">
            <a:avLst/>
          </a:prstGeom>
        </p:spPr>
      </p:pic>
      <p:graphicFrame>
        <p:nvGraphicFramePr>
          <p:cNvPr id="10" name="表格 9">
            <a:extLst>
              <a:ext uri="{FF2B5EF4-FFF2-40B4-BE49-F238E27FC236}">
                <a16:creationId xmlns:a16="http://schemas.microsoft.com/office/drawing/2014/main" id="{0F082CB2-5AEA-6F63-7F3D-F9D4B60516CD}"/>
              </a:ext>
            </a:extLst>
          </p:cNvPr>
          <p:cNvGraphicFramePr>
            <a:graphicFrameLocks noGrp="1"/>
          </p:cNvGraphicFramePr>
          <p:nvPr>
            <p:extLst>
              <p:ext uri="{D42A27DB-BD31-4B8C-83A1-F6EECF244321}">
                <p14:modId xmlns:p14="http://schemas.microsoft.com/office/powerpoint/2010/main" val="2507961519"/>
              </p:ext>
            </p:extLst>
          </p:nvPr>
        </p:nvGraphicFramePr>
        <p:xfrm>
          <a:off x="3307884" y="2703221"/>
          <a:ext cx="1726084" cy="2225040"/>
        </p:xfrm>
        <a:graphic>
          <a:graphicData uri="http://schemas.openxmlformats.org/drawingml/2006/table">
            <a:tbl>
              <a:tblPr firstRow="1" bandRow="1">
                <a:tableStyleId>{5940675A-B579-460E-94D1-54222C63F5DA}</a:tableStyleId>
              </a:tblPr>
              <a:tblGrid>
                <a:gridCol w="431521">
                  <a:extLst>
                    <a:ext uri="{9D8B030D-6E8A-4147-A177-3AD203B41FA5}">
                      <a16:colId xmlns:a16="http://schemas.microsoft.com/office/drawing/2014/main" val="1149877961"/>
                    </a:ext>
                  </a:extLst>
                </a:gridCol>
                <a:gridCol w="431521">
                  <a:extLst>
                    <a:ext uri="{9D8B030D-6E8A-4147-A177-3AD203B41FA5}">
                      <a16:colId xmlns:a16="http://schemas.microsoft.com/office/drawing/2014/main" val="1896271231"/>
                    </a:ext>
                  </a:extLst>
                </a:gridCol>
                <a:gridCol w="431521">
                  <a:extLst>
                    <a:ext uri="{9D8B030D-6E8A-4147-A177-3AD203B41FA5}">
                      <a16:colId xmlns:a16="http://schemas.microsoft.com/office/drawing/2014/main" val="2727208607"/>
                    </a:ext>
                  </a:extLst>
                </a:gridCol>
                <a:gridCol w="431521">
                  <a:extLst>
                    <a:ext uri="{9D8B030D-6E8A-4147-A177-3AD203B41FA5}">
                      <a16:colId xmlns:a16="http://schemas.microsoft.com/office/drawing/2014/main" val="621921185"/>
                    </a:ext>
                  </a:extLst>
                </a:gridCol>
              </a:tblGrid>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2251851223"/>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2997667332"/>
                  </a:ext>
                </a:extLst>
              </a:tr>
              <a:tr h="37084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extLst>
                  <a:ext uri="{0D108BD9-81ED-4DB2-BD59-A6C34878D82A}">
                    <a16:rowId xmlns:a16="http://schemas.microsoft.com/office/drawing/2014/main" val="3611251585"/>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2347322940"/>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627815144"/>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864575962"/>
                  </a:ext>
                </a:extLst>
              </a:tr>
            </a:tbl>
          </a:graphicData>
        </a:graphic>
      </p:graphicFrame>
      <p:graphicFrame>
        <p:nvGraphicFramePr>
          <p:cNvPr id="11" name="表格 10">
            <a:extLst>
              <a:ext uri="{FF2B5EF4-FFF2-40B4-BE49-F238E27FC236}">
                <a16:creationId xmlns:a16="http://schemas.microsoft.com/office/drawing/2014/main" id="{A7983C8E-2380-E8FA-013A-E1EDD6FDFCA6}"/>
              </a:ext>
            </a:extLst>
          </p:cNvPr>
          <p:cNvGraphicFramePr>
            <a:graphicFrameLocks noGrp="1"/>
          </p:cNvGraphicFramePr>
          <p:nvPr>
            <p:extLst>
              <p:ext uri="{D42A27DB-BD31-4B8C-83A1-F6EECF244321}">
                <p14:modId xmlns:p14="http://schemas.microsoft.com/office/powerpoint/2010/main" val="94166377"/>
              </p:ext>
            </p:extLst>
          </p:nvPr>
        </p:nvGraphicFramePr>
        <p:xfrm>
          <a:off x="3460284" y="2855621"/>
          <a:ext cx="1726084" cy="2225040"/>
        </p:xfrm>
        <a:graphic>
          <a:graphicData uri="http://schemas.openxmlformats.org/drawingml/2006/table">
            <a:tbl>
              <a:tblPr firstRow="1" bandRow="1">
                <a:tableStyleId>{5940675A-B579-460E-94D1-54222C63F5DA}</a:tableStyleId>
              </a:tblPr>
              <a:tblGrid>
                <a:gridCol w="431521">
                  <a:extLst>
                    <a:ext uri="{9D8B030D-6E8A-4147-A177-3AD203B41FA5}">
                      <a16:colId xmlns:a16="http://schemas.microsoft.com/office/drawing/2014/main" val="1149877961"/>
                    </a:ext>
                  </a:extLst>
                </a:gridCol>
                <a:gridCol w="431521">
                  <a:extLst>
                    <a:ext uri="{9D8B030D-6E8A-4147-A177-3AD203B41FA5}">
                      <a16:colId xmlns:a16="http://schemas.microsoft.com/office/drawing/2014/main" val="1896271231"/>
                    </a:ext>
                  </a:extLst>
                </a:gridCol>
                <a:gridCol w="431521">
                  <a:extLst>
                    <a:ext uri="{9D8B030D-6E8A-4147-A177-3AD203B41FA5}">
                      <a16:colId xmlns:a16="http://schemas.microsoft.com/office/drawing/2014/main" val="2727208607"/>
                    </a:ext>
                  </a:extLst>
                </a:gridCol>
                <a:gridCol w="431521">
                  <a:extLst>
                    <a:ext uri="{9D8B030D-6E8A-4147-A177-3AD203B41FA5}">
                      <a16:colId xmlns:a16="http://schemas.microsoft.com/office/drawing/2014/main" val="621921185"/>
                    </a:ext>
                  </a:extLst>
                </a:gridCol>
              </a:tblGrid>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2251851223"/>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2997667332"/>
                  </a:ext>
                </a:extLst>
              </a:tr>
              <a:tr h="370840">
                <a:tc>
                  <a:txBody>
                    <a:bodyPr/>
                    <a:lstStyle/>
                    <a:p>
                      <a:endParaRPr lang="zh-CN" altLang="en-US" dirty="0"/>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3611251585"/>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2347322940"/>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627815144"/>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1864575962"/>
                  </a:ext>
                </a:extLst>
              </a:tr>
            </a:tbl>
          </a:graphicData>
        </a:graphic>
      </p:graphicFrame>
      <p:graphicFrame>
        <p:nvGraphicFramePr>
          <p:cNvPr id="12" name="表格 11">
            <a:extLst>
              <a:ext uri="{FF2B5EF4-FFF2-40B4-BE49-F238E27FC236}">
                <a16:creationId xmlns:a16="http://schemas.microsoft.com/office/drawing/2014/main" id="{574E1811-01B4-23DB-2858-1CE225034826}"/>
              </a:ext>
            </a:extLst>
          </p:cNvPr>
          <p:cNvGraphicFramePr>
            <a:graphicFrameLocks noGrp="1"/>
          </p:cNvGraphicFramePr>
          <p:nvPr>
            <p:extLst>
              <p:ext uri="{D42A27DB-BD31-4B8C-83A1-F6EECF244321}">
                <p14:modId xmlns:p14="http://schemas.microsoft.com/office/powerpoint/2010/main" val="263373151"/>
              </p:ext>
            </p:extLst>
          </p:nvPr>
        </p:nvGraphicFramePr>
        <p:xfrm>
          <a:off x="3612684" y="3008021"/>
          <a:ext cx="1726084" cy="2225040"/>
        </p:xfrm>
        <a:graphic>
          <a:graphicData uri="http://schemas.openxmlformats.org/drawingml/2006/table">
            <a:tbl>
              <a:tblPr firstRow="1" bandRow="1">
                <a:tableStyleId>{5940675A-B579-460E-94D1-54222C63F5DA}</a:tableStyleId>
              </a:tblPr>
              <a:tblGrid>
                <a:gridCol w="431521">
                  <a:extLst>
                    <a:ext uri="{9D8B030D-6E8A-4147-A177-3AD203B41FA5}">
                      <a16:colId xmlns:a16="http://schemas.microsoft.com/office/drawing/2014/main" val="1149877961"/>
                    </a:ext>
                  </a:extLst>
                </a:gridCol>
                <a:gridCol w="431521">
                  <a:extLst>
                    <a:ext uri="{9D8B030D-6E8A-4147-A177-3AD203B41FA5}">
                      <a16:colId xmlns:a16="http://schemas.microsoft.com/office/drawing/2014/main" val="1896271231"/>
                    </a:ext>
                  </a:extLst>
                </a:gridCol>
                <a:gridCol w="431521">
                  <a:extLst>
                    <a:ext uri="{9D8B030D-6E8A-4147-A177-3AD203B41FA5}">
                      <a16:colId xmlns:a16="http://schemas.microsoft.com/office/drawing/2014/main" val="2727208607"/>
                    </a:ext>
                  </a:extLst>
                </a:gridCol>
                <a:gridCol w="431521">
                  <a:extLst>
                    <a:ext uri="{9D8B030D-6E8A-4147-A177-3AD203B41FA5}">
                      <a16:colId xmlns:a16="http://schemas.microsoft.com/office/drawing/2014/main" val="621921185"/>
                    </a:ext>
                  </a:extLst>
                </a:gridCol>
              </a:tblGrid>
              <a:tr h="370840">
                <a:tc>
                  <a:txBody>
                    <a:bodyPr/>
                    <a:lstStyle/>
                    <a:p>
                      <a:r>
                        <a:rPr lang="en-US" altLang="zh-CN" dirty="0"/>
                        <a:t>23</a:t>
                      </a:r>
                      <a:endParaRPr lang="zh-CN" altLang="en-US" dirty="0"/>
                    </a:p>
                  </a:txBody>
                  <a:tcPr>
                    <a:solidFill>
                      <a:schemeClr val="bg1"/>
                    </a:solidFill>
                  </a:tcPr>
                </a:tc>
                <a:tc>
                  <a:txBody>
                    <a:bodyPr/>
                    <a:lstStyle/>
                    <a:p>
                      <a:r>
                        <a:rPr lang="en-US" altLang="zh-CN" dirty="0"/>
                        <a:t>1</a:t>
                      </a:r>
                      <a:endParaRPr lang="zh-CN" altLang="en-US" dirty="0"/>
                    </a:p>
                  </a:txBody>
                  <a:tcPr>
                    <a:solidFill>
                      <a:schemeClr val="bg1"/>
                    </a:solidFill>
                  </a:tcPr>
                </a:tc>
                <a:tc>
                  <a:txBody>
                    <a:bodyPr/>
                    <a:lstStyle/>
                    <a:p>
                      <a:r>
                        <a:rPr lang="en-US" altLang="zh-CN" dirty="0"/>
                        <a:t>34</a:t>
                      </a:r>
                      <a:endParaRPr lang="zh-CN" altLang="en-US" dirty="0"/>
                    </a:p>
                  </a:txBody>
                  <a:tcPr>
                    <a:solidFill>
                      <a:schemeClr val="bg1"/>
                    </a:solidFill>
                  </a:tcPr>
                </a:tc>
                <a:tc>
                  <a:txBody>
                    <a:bodyPr/>
                    <a:lstStyle/>
                    <a:p>
                      <a:r>
                        <a:rPr lang="en-US" altLang="zh-CN" dirty="0"/>
                        <a:t>54</a:t>
                      </a:r>
                      <a:endParaRPr lang="zh-CN" altLang="en-US" dirty="0"/>
                    </a:p>
                  </a:txBody>
                  <a:tcPr>
                    <a:solidFill>
                      <a:schemeClr val="bg1"/>
                    </a:solidFill>
                  </a:tcPr>
                </a:tc>
                <a:extLst>
                  <a:ext uri="{0D108BD9-81ED-4DB2-BD59-A6C34878D82A}">
                    <a16:rowId xmlns:a16="http://schemas.microsoft.com/office/drawing/2014/main" val="2251851223"/>
                  </a:ext>
                </a:extLst>
              </a:tr>
              <a:tr h="370840">
                <a:tc>
                  <a:txBody>
                    <a:bodyPr/>
                    <a:lstStyle/>
                    <a:p>
                      <a:r>
                        <a:rPr lang="en-US" altLang="zh-CN" dirty="0"/>
                        <a:t>0</a:t>
                      </a:r>
                      <a:endParaRPr lang="zh-CN" altLang="en-US" dirty="0"/>
                    </a:p>
                  </a:txBody>
                  <a:tcPr>
                    <a:solidFill>
                      <a:schemeClr val="bg1"/>
                    </a:solidFill>
                  </a:tcPr>
                </a:tc>
                <a:tc>
                  <a:txBody>
                    <a:bodyPr/>
                    <a:lstStyle/>
                    <a:p>
                      <a:r>
                        <a:rPr lang="en-US" altLang="zh-CN" dirty="0"/>
                        <a:t>25</a:t>
                      </a:r>
                      <a:endParaRPr lang="zh-CN" altLang="en-US" dirty="0"/>
                    </a:p>
                  </a:txBody>
                  <a:tcPr>
                    <a:solidFill>
                      <a:schemeClr val="bg1"/>
                    </a:solidFill>
                  </a:tcPr>
                </a:tc>
                <a:tc>
                  <a:txBody>
                    <a:bodyPr/>
                    <a:lstStyle/>
                    <a:p>
                      <a:r>
                        <a:rPr lang="en-US" altLang="zh-CN" dirty="0"/>
                        <a:t>…</a:t>
                      </a:r>
                      <a:endParaRPr lang="zh-CN" altLang="en-US" dirty="0"/>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2997667332"/>
                  </a:ext>
                </a:extLst>
              </a:tr>
              <a:tr h="370840">
                <a:tc>
                  <a:txBody>
                    <a:bodyPr/>
                    <a:lstStyle/>
                    <a:p>
                      <a:endParaRPr lang="zh-CN" altLang="en-US" dirty="0"/>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tc>
                  <a:txBody>
                    <a:bodyPr/>
                    <a:lstStyle/>
                    <a:p>
                      <a:endParaRPr lang="zh-CN" altLang="en-US"/>
                    </a:p>
                  </a:txBody>
                  <a:tcPr>
                    <a:solidFill>
                      <a:schemeClr val="bg1"/>
                    </a:solidFill>
                  </a:tcPr>
                </a:tc>
                <a:extLst>
                  <a:ext uri="{0D108BD9-81ED-4DB2-BD59-A6C34878D82A}">
                    <a16:rowId xmlns:a16="http://schemas.microsoft.com/office/drawing/2014/main" val="3611251585"/>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2347322940"/>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endParaRPr lang="zh-CN" altLang="en-US" dirty="0"/>
                    </a:p>
                  </a:txBody>
                  <a:tcPr>
                    <a:solidFill>
                      <a:schemeClr val="bg1"/>
                    </a:solidFill>
                  </a:tcPr>
                </a:tc>
                <a:extLst>
                  <a:ext uri="{0D108BD9-81ED-4DB2-BD59-A6C34878D82A}">
                    <a16:rowId xmlns:a16="http://schemas.microsoft.com/office/drawing/2014/main" val="627815144"/>
                  </a:ext>
                </a:extLst>
              </a:tr>
              <a:tr h="370840">
                <a:tc>
                  <a:txBody>
                    <a:bodyPr/>
                    <a:lstStyle/>
                    <a:p>
                      <a:endParaRPr lang="zh-CN" altLang="en-US"/>
                    </a:p>
                  </a:txBody>
                  <a:tcPr>
                    <a:solidFill>
                      <a:schemeClr val="bg1"/>
                    </a:solidFill>
                  </a:tcPr>
                </a:tc>
                <a:tc>
                  <a:txBody>
                    <a:bodyPr/>
                    <a:lstStyle/>
                    <a:p>
                      <a:endParaRPr lang="zh-CN" altLang="en-US"/>
                    </a:p>
                  </a:txBody>
                  <a:tcPr>
                    <a:solidFill>
                      <a:schemeClr val="bg1"/>
                    </a:solidFill>
                  </a:tcPr>
                </a:tc>
                <a:tc>
                  <a:txBody>
                    <a:bodyPr/>
                    <a:lstStyle/>
                    <a:p>
                      <a:r>
                        <a:rPr lang="en-US" altLang="zh-CN" dirty="0"/>
                        <a:t>2</a:t>
                      </a:r>
                      <a:endParaRPr lang="zh-CN" altLang="en-US" dirty="0"/>
                    </a:p>
                  </a:txBody>
                  <a:tcPr>
                    <a:solidFill>
                      <a:schemeClr val="bg1"/>
                    </a:solidFill>
                  </a:tcPr>
                </a:tc>
                <a:tc>
                  <a:txBody>
                    <a:bodyPr/>
                    <a:lstStyle/>
                    <a:p>
                      <a:r>
                        <a:rPr lang="en-US" altLang="zh-CN" dirty="0"/>
                        <a:t>90</a:t>
                      </a:r>
                      <a:endParaRPr lang="zh-CN" altLang="en-US" dirty="0"/>
                    </a:p>
                  </a:txBody>
                  <a:tcPr>
                    <a:solidFill>
                      <a:schemeClr val="bg1"/>
                    </a:solidFill>
                  </a:tcPr>
                </a:tc>
                <a:extLst>
                  <a:ext uri="{0D108BD9-81ED-4DB2-BD59-A6C34878D82A}">
                    <a16:rowId xmlns:a16="http://schemas.microsoft.com/office/drawing/2014/main" val="1864575962"/>
                  </a:ext>
                </a:extLst>
              </a:tr>
            </a:tbl>
          </a:graphicData>
        </a:graphic>
      </p:graphicFrame>
      <p:sp>
        <p:nvSpPr>
          <p:cNvPr id="13" name="箭头: 右 12">
            <a:extLst>
              <a:ext uri="{FF2B5EF4-FFF2-40B4-BE49-F238E27FC236}">
                <a16:creationId xmlns:a16="http://schemas.microsoft.com/office/drawing/2014/main" id="{5C505D1B-AC18-5260-ECE4-276AD257068A}"/>
              </a:ext>
            </a:extLst>
          </p:cNvPr>
          <p:cNvSpPr/>
          <p:nvPr/>
        </p:nvSpPr>
        <p:spPr>
          <a:xfrm>
            <a:off x="2759113" y="3632674"/>
            <a:ext cx="304045" cy="5614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71AA94EE-5067-BE14-F47B-1B8D7299C069}"/>
              </a:ext>
            </a:extLst>
          </p:cNvPr>
          <p:cNvSpPr/>
          <p:nvPr/>
        </p:nvSpPr>
        <p:spPr>
          <a:xfrm>
            <a:off x="5491168" y="3632674"/>
            <a:ext cx="2363279" cy="5614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0" name="表格 19">
            <a:extLst>
              <a:ext uri="{FF2B5EF4-FFF2-40B4-BE49-F238E27FC236}">
                <a16:creationId xmlns:a16="http://schemas.microsoft.com/office/drawing/2014/main" id="{1130D094-C32D-D69A-1547-918BA06845F8}"/>
              </a:ext>
            </a:extLst>
          </p:cNvPr>
          <p:cNvGraphicFramePr>
            <a:graphicFrameLocks noGrp="1"/>
          </p:cNvGraphicFramePr>
          <p:nvPr>
            <p:extLst>
              <p:ext uri="{D42A27DB-BD31-4B8C-83A1-F6EECF244321}">
                <p14:modId xmlns:p14="http://schemas.microsoft.com/office/powerpoint/2010/main" val="4144254249"/>
              </p:ext>
            </p:extLst>
          </p:nvPr>
        </p:nvGraphicFramePr>
        <p:xfrm>
          <a:off x="7910212" y="3699907"/>
          <a:ext cx="2560098" cy="370840"/>
        </p:xfrm>
        <a:graphic>
          <a:graphicData uri="http://schemas.openxmlformats.org/drawingml/2006/table">
            <a:tbl>
              <a:tblPr firstRow="1" bandRow="1">
                <a:tableStyleId>{5940675A-B579-460E-94D1-54222C63F5DA}</a:tableStyleId>
              </a:tblPr>
              <a:tblGrid>
                <a:gridCol w="426683">
                  <a:extLst>
                    <a:ext uri="{9D8B030D-6E8A-4147-A177-3AD203B41FA5}">
                      <a16:colId xmlns:a16="http://schemas.microsoft.com/office/drawing/2014/main" val="3065292669"/>
                    </a:ext>
                  </a:extLst>
                </a:gridCol>
                <a:gridCol w="426683">
                  <a:extLst>
                    <a:ext uri="{9D8B030D-6E8A-4147-A177-3AD203B41FA5}">
                      <a16:colId xmlns:a16="http://schemas.microsoft.com/office/drawing/2014/main" val="40150958"/>
                    </a:ext>
                  </a:extLst>
                </a:gridCol>
                <a:gridCol w="426683">
                  <a:extLst>
                    <a:ext uri="{9D8B030D-6E8A-4147-A177-3AD203B41FA5}">
                      <a16:colId xmlns:a16="http://schemas.microsoft.com/office/drawing/2014/main" val="1407305153"/>
                    </a:ext>
                  </a:extLst>
                </a:gridCol>
                <a:gridCol w="426683">
                  <a:extLst>
                    <a:ext uri="{9D8B030D-6E8A-4147-A177-3AD203B41FA5}">
                      <a16:colId xmlns:a16="http://schemas.microsoft.com/office/drawing/2014/main" val="1853945714"/>
                    </a:ext>
                  </a:extLst>
                </a:gridCol>
                <a:gridCol w="426683">
                  <a:extLst>
                    <a:ext uri="{9D8B030D-6E8A-4147-A177-3AD203B41FA5}">
                      <a16:colId xmlns:a16="http://schemas.microsoft.com/office/drawing/2014/main" val="2469688581"/>
                    </a:ext>
                  </a:extLst>
                </a:gridCol>
                <a:gridCol w="426683">
                  <a:extLst>
                    <a:ext uri="{9D8B030D-6E8A-4147-A177-3AD203B41FA5}">
                      <a16:colId xmlns:a16="http://schemas.microsoft.com/office/drawing/2014/main" val="3455497421"/>
                    </a:ext>
                  </a:extLst>
                </a:gridCol>
              </a:tblGrid>
              <a:tr h="370840">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801617499"/>
                  </a:ext>
                </a:extLst>
              </a:tr>
            </a:tbl>
          </a:graphicData>
        </a:graphic>
      </p:graphicFrame>
      <p:sp>
        <p:nvSpPr>
          <p:cNvPr id="21" name="文本框 20">
            <a:extLst>
              <a:ext uri="{FF2B5EF4-FFF2-40B4-BE49-F238E27FC236}">
                <a16:creationId xmlns:a16="http://schemas.microsoft.com/office/drawing/2014/main" id="{D5BC69F0-14AE-1648-39A1-EDDFC4F621D3}"/>
              </a:ext>
            </a:extLst>
          </p:cNvPr>
          <p:cNvSpPr txBox="1"/>
          <p:nvPr/>
        </p:nvSpPr>
        <p:spPr>
          <a:xfrm>
            <a:off x="9109993" y="4037700"/>
            <a:ext cx="550147" cy="369332"/>
          </a:xfrm>
          <a:prstGeom prst="rect">
            <a:avLst/>
          </a:prstGeom>
          <a:noFill/>
        </p:spPr>
        <p:txBody>
          <a:bodyPr wrap="square">
            <a:spAutoFit/>
          </a:bodyPr>
          <a:lstStyle/>
          <a:p>
            <a:r>
              <a:rPr lang="en-US" altLang="zh-CN" dirty="0">
                <a:solidFill>
                  <a:schemeClr val="bg1">
                    <a:lumMod val="75000"/>
                  </a:schemeClr>
                </a:solidFill>
              </a:rPr>
              <a:t>23</a:t>
            </a:r>
          </a:p>
        </p:txBody>
      </p:sp>
      <p:sp>
        <p:nvSpPr>
          <p:cNvPr id="22" name="文本框 21">
            <a:extLst>
              <a:ext uri="{FF2B5EF4-FFF2-40B4-BE49-F238E27FC236}">
                <a16:creationId xmlns:a16="http://schemas.microsoft.com/office/drawing/2014/main" id="{7BF7583F-CAE2-F934-59C6-3FF32EB73A03}"/>
              </a:ext>
            </a:extLst>
          </p:cNvPr>
          <p:cNvSpPr txBox="1"/>
          <p:nvPr/>
        </p:nvSpPr>
        <p:spPr>
          <a:xfrm>
            <a:off x="7925788" y="4037700"/>
            <a:ext cx="550147" cy="646331"/>
          </a:xfrm>
          <a:prstGeom prst="rect">
            <a:avLst/>
          </a:prstGeom>
          <a:noFill/>
        </p:spPr>
        <p:txBody>
          <a:bodyPr wrap="square">
            <a:spAutoFit/>
          </a:bodyPr>
          <a:lstStyle/>
          <a:p>
            <a:r>
              <a:rPr lang="en-US" altLang="zh-CN" dirty="0">
                <a:solidFill>
                  <a:schemeClr val="bg1">
                    <a:lumMod val="75000"/>
                  </a:schemeClr>
                </a:solidFill>
              </a:rPr>
              <a:t>1…</a:t>
            </a:r>
          </a:p>
          <a:p>
            <a:endParaRPr lang="en-US" altLang="zh-CN" dirty="0"/>
          </a:p>
        </p:txBody>
      </p:sp>
      <p:sp>
        <p:nvSpPr>
          <p:cNvPr id="30" name="右大括号 29">
            <a:extLst>
              <a:ext uri="{FF2B5EF4-FFF2-40B4-BE49-F238E27FC236}">
                <a16:creationId xmlns:a16="http://schemas.microsoft.com/office/drawing/2014/main" id="{0F725998-2502-ECAA-7308-A6CBE79A5934}"/>
              </a:ext>
            </a:extLst>
          </p:cNvPr>
          <p:cNvSpPr/>
          <p:nvPr/>
        </p:nvSpPr>
        <p:spPr>
          <a:xfrm rot="16200000">
            <a:off x="9066790" y="2236352"/>
            <a:ext cx="278094" cy="25600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043DE0EA-D8D2-6340-295A-6C0BA141B19C}"/>
              </a:ext>
            </a:extLst>
          </p:cNvPr>
          <p:cNvSpPr txBox="1"/>
          <p:nvPr/>
        </p:nvSpPr>
        <p:spPr>
          <a:xfrm>
            <a:off x="8999276" y="3008021"/>
            <a:ext cx="413121" cy="369332"/>
          </a:xfrm>
          <a:prstGeom prst="rect">
            <a:avLst/>
          </a:prstGeom>
          <a:noFill/>
        </p:spPr>
        <p:txBody>
          <a:bodyPr wrap="square">
            <a:spAutoFit/>
          </a:bodyPr>
          <a:lstStyle/>
          <a:p>
            <a:r>
              <a:rPr lang="en-US" altLang="zh-CN" dirty="0"/>
              <a:t>N</a:t>
            </a:r>
            <a:endParaRPr lang="zh-CN" altLang="en-US" dirty="0"/>
          </a:p>
        </p:txBody>
      </p:sp>
      <p:sp>
        <p:nvSpPr>
          <p:cNvPr id="16" name="文本框 15">
            <a:extLst>
              <a:ext uri="{FF2B5EF4-FFF2-40B4-BE49-F238E27FC236}">
                <a16:creationId xmlns:a16="http://schemas.microsoft.com/office/drawing/2014/main" id="{B033934F-74DE-9E97-26FB-6EFA4B5B758E}"/>
              </a:ext>
            </a:extLst>
          </p:cNvPr>
          <p:cNvSpPr txBox="1"/>
          <p:nvPr/>
        </p:nvSpPr>
        <p:spPr>
          <a:xfrm>
            <a:off x="6390548" y="3335425"/>
            <a:ext cx="413121" cy="369332"/>
          </a:xfrm>
          <a:prstGeom prst="rect">
            <a:avLst/>
          </a:prstGeom>
          <a:noFill/>
        </p:spPr>
        <p:txBody>
          <a:bodyPr wrap="square">
            <a:spAutoFit/>
          </a:bodyPr>
          <a:lstStyle/>
          <a:p>
            <a:r>
              <a:rPr lang="en-US" altLang="zh-CN" dirty="0"/>
              <a:t>f</a:t>
            </a:r>
            <a:endParaRPr lang="zh-CN" altLang="en-US" dirty="0"/>
          </a:p>
        </p:txBody>
      </p:sp>
    </p:spTree>
    <p:extLst>
      <p:ext uri="{BB962C8B-B14F-4D97-AF65-F5344CB8AC3E}">
        <p14:creationId xmlns:p14="http://schemas.microsoft.com/office/powerpoint/2010/main" val="1395828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有监督学习：训练集、验证集、测试集</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pic>
        <p:nvPicPr>
          <p:cNvPr id="8" name="图片 7">
            <a:extLst>
              <a:ext uri="{FF2B5EF4-FFF2-40B4-BE49-F238E27FC236}">
                <a16:creationId xmlns:a16="http://schemas.microsoft.com/office/drawing/2014/main" id="{7D3C75AC-1C16-49CD-B225-381E07A45465}"/>
              </a:ext>
            </a:extLst>
          </p:cNvPr>
          <p:cNvPicPr>
            <a:picLocks noChangeAspect="1"/>
          </p:cNvPicPr>
          <p:nvPr/>
        </p:nvPicPr>
        <p:blipFill>
          <a:blip r:embed="rId3"/>
          <a:stretch>
            <a:fillRect/>
          </a:stretch>
        </p:blipFill>
        <p:spPr>
          <a:xfrm>
            <a:off x="6437206" y="1859339"/>
            <a:ext cx="5461082" cy="3471812"/>
          </a:xfrm>
          <a:prstGeom prst="rect">
            <a:avLst/>
          </a:prstGeom>
        </p:spPr>
      </p:pic>
      <p:sp>
        <p:nvSpPr>
          <p:cNvPr id="9" name="矩形 8">
            <a:extLst>
              <a:ext uri="{FF2B5EF4-FFF2-40B4-BE49-F238E27FC236}">
                <a16:creationId xmlns:a16="http://schemas.microsoft.com/office/drawing/2014/main" id="{ADEDC691-549C-4D10-9F6A-8874DDBA3E0E}"/>
              </a:ext>
            </a:extLst>
          </p:cNvPr>
          <p:cNvSpPr/>
          <p:nvPr/>
        </p:nvSpPr>
        <p:spPr>
          <a:xfrm>
            <a:off x="293712" y="1338344"/>
            <a:ext cx="5723123" cy="5038752"/>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dirty="0">
                <a:latin typeface="楷体_GB2312"/>
                <a:ea typeface="华文楷体" panose="02010600040101010101" pitchFamily="2" charset="-122"/>
                <a:cs typeface="Times New Roman" panose="02020603050405020304" pitchFamily="18" charset="0"/>
              </a:rPr>
              <a:t>一旦在</a:t>
            </a:r>
            <a:r>
              <a:rPr lang="zh-CN" altLang="en-US" b="1" dirty="0">
                <a:solidFill>
                  <a:srgbClr val="C00000"/>
                </a:solidFill>
                <a:latin typeface="楷体_GB2312"/>
                <a:ea typeface="华文楷体" panose="02010600040101010101" pitchFamily="2" charset="-122"/>
                <a:cs typeface="Times New Roman" panose="02020603050405020304" pitchFamily="18" charset="0"/>
              </a:rPr>
              <a:t>训练集</a:t>
            </a:r>
            <a:r>
              <a:rPr lang="zh-CN" altLang="en-US" dirty="0">
                <a:latin typeface="楷体_GB2312"/>
                <a:ea typeface="华文楷体" panose="02010600040101010101" pitchFamily="2" charset="-122"/>
                <a:cs typeface="Times New Roman" panose="02020603050405020304" pitchFamily="18" charset="0"/>
              </a:rPr>
              <a:t>上完成了模型参数优化后，需要在测试数据集上对模型性能进行测试。为了在训练优化过程中挑选更好的模型参数，一般可将训练集中一部分数据作为</a:t>
            </a:r>
            <a:r>
              <a:rPr lang="zh-CN" altLang="en-US" b="1" dirty="0">
                <a:solidFill>
                  <a:srgbClr val="C00000"/>
                </a:solidFill>
                <a:latin typeface="楷体_GB2312"/>
                <a:ea typeface="华文楷体" panose="02010600040101010101" pitchFamily="2" charset="-122"/>
                <a:cs typeface="Times New Roman" panose="02020603050405020304" pitchFamily="18" charset="0"/>
              </a:rPr>
              <a:t>验证集（validation set）</a:t>
            </a:r>
            <a:r>
              <a:rPr lang="zh-CN" altLang="en-US" dirty="0">
                <a:latin typeface="楷体_GB2312"/>
                <a:ea typeface="华文楷体" panose="02010600040101010101" pitchFamily="2" charset="-122"/>
                <a:cs typeface="Times New Roman" panose="02020603050405020304" pitchFamily="18" charset="0"/>
              </a:rPr>
              <a:t>。在训练集上训练模型的同时会在验证集上对模型进行评估，以便得到最佳参数，最后在</a:t>
            </a:r>
            <a:r>
              <a:rPr lang="zh-CN" altLang="en-US" b="1" dirty="0">
                <a:solidFill>
                  <a:srgbClr val="C00000"/>
                </a:solidFill>
                <a:latin typeface="楷体_GB2312"/>
                <a:ea typeface="华文楷体" panose="02010600040101010101" pitchFamily="2" charset="-122"/>
                <a:cs typeface="Times New Roman" panose="02020603050405020304" pitchFamily="18" charset="0"/>
              </a:rPr>
              <a:t>测试集</a:t>
            </a:r>
            <a:r>
              <a:rPr lang="zh-CN" altLang="en-US" dirty="0">
                <a:latin typeface="楷体_GB2312"/>
                <a:ea typeface="华文楷体" panose="02010600040101010101" pitchFamily="2" charset="-122"/>
                <a:cs typeface="Times New Roman" panose="02020603050405020304" pitchFamily="18" charset="0"/>
              </a:rPr>
              <a:t>上进行测试，将测试结果作为模型性能最终结果。</a:t>
            </a:r>
          </a:p>
          <a:p>
            <a:pPr marL="285750" indent="-285750" algn="just">
              <a:lnSpc>
                <a:spcPct val="150000"/>
              </a:lnSpc>
              <a:buFont typeface="Wingdings" panose="05000000000000000000" pitchFamily="2" charset="2"/>
              <a:buChar char="l"/>
            </a:pPr>
            <a:r>
              <a:rPr lang="zh-CN" altLang="en-US" dirty="0">
                <a:latin typeface="楷体_GB2312"/>
                <a:ea typeface="华文楷体" panose="02010600040101010101" pitchFamily="2" charset="-122"/>
                <a:cs typeface="Times New Roman" panose="02020603050405020304" pitchFamily="18" charset="0"/>
              </a:rPr>
              <a:t>要注意的是，训练集、验证集和测试集所包含数据之间没有任何交叉。可以说，训练集用于模型训练（好比学生的练习册）、验证集用于评估模型以调整相应参数（好比学生的模拟考卷或小测验）、测试集用于得到模型的优劣水平（好比真正考试）。</a:t>
            </a:r>
          </a:p>
        </p:txBody>
      </p:sp>
      <p:sp>
        <p:nvSpPr>
          <p:cNvPr id="10" name="矩形 9">
            <a:extLst>
              <a:ext uri="{FF2B5EF4-FFF2-40B4-BE49-F238E27FC236}">
                <a16:creationId xmlns:a16="http://schemas.microsoft.com/office/drawing/2014/main" id="{BC8CDE34-5838-4B03-A057-E4DE341292A6}"/>
              </a:ext>
            </a:extLst>
          </p:cNvPr>
          <p:cNvSpPr/>
          <p:nvPr/>
        </p:nvSpPr>
        <p:spPr>
          <a:xfrm>
            <a:off x="6504409" y="5607651"/>
            <a:ext cx="5032147" cy="369332"/>
          </a:xfrm>
          <a:prstGeom prst="rect">
            <a:avLst/>
          </a:prstGeom>
        </p:spPr>
        <p:txBody>
          <a:bodyPr wrap="non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训练集、验证集和测试集三种数据集中数据比例</a:t>
            </a:r>
            <a:endParaRPr lang="zh-CN" altLang="en-US" dirty="0"/>
          </a:p>
        </p:txBody>
      </p:sp>
    </p:spTree>
    <p:extLst>
      <p:ext uri="{BB962C8B-B14F-4D97-AF65-F5344CB8AC3E}">
        <p14:creationId xmlns:p14="http://schemas.microsoft.com/office/powerpoint/2010/main" val="753334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没有免费的午餐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9" name="矩形 8">
            <a:extLst>
              <a:ext uri="{FF2B5EF4-FFF2-40B4-BE49-F238E27FC236}">
                <a16:creationId xmlns:a16="http://schemas.microsoft.com/office/drawing/2014/main" id="{ADEDC691-549C-4D10-9F6A-8874DDBA3E0E}"/>
              </a:ext>
            </a:extLst>
          </p:cNvPr>
          <p:cNvSpPr/>
          <p:nvPr/>
        </p:nvSpPr>
        <p:spPr>
          <a:xfrm>
            <a:off x="440138" y="1370661"/>
            <a:ext cx="11184134" cy="5001818"/>
          </a:xfrm>
          <a:prstGeom prst="rect">
            <a:avLst/>
          </a:prstGeom>
        </p:spPr>
        <p:txBody>
          <a:bodyPr wrap="square">
            <a:spAutoFit/>
          </a:bodyPr>
          <a:lstStyle/>
          <a:p>
            <a:pPr marL="285750" indent="-285750">
              <a:lnSpc>
                <a:spcPct val="200000"/>
              </a:lnSpc>
              <a:buFont typeface="Wingdings" panose="05000000000000000000" pitchFamily="2" charset="2"/>
              <a:buChar char="l"/>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为了在训练优化</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针对不同的任务，往往需要采用不同机器学习模型，</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1995</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David Wolpert</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等学者在所提出了</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没有免费午餐定理</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(No Free Lunch Theorem)”</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指出：</a:t>
            </a:r>
            <a:r>
              <a:rPr lang="zh-CN" altLang="zh-CN"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任何一个机器学习模型如果在一些训练集的样本误差小（</a:t>
            </a:r>
            <a:r>
              <a:rPr lang="en-US" altLang="zh-CN"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off-training set error</a:t>
            </a:r>
            <a:r>
              <a:rPr lang="zh-CN" altLang="zh-CN"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），那么必然在另外一些训练集以外的样本上表现欠佳，任何模型在平均意义上而言其性能都是一样的，即没有放之四海而皆准的最好算法</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nSpc>
                <a:spcPct val="200000"/>
              </a:lnSpc>
              <a:buFont typeface="Wingdings" panose="05000000000000000000" pitchFamily="2" charset="2"/>
              <a:buChar char="l"/>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似乎这一定理给机器学习带来了一个令人沮丧的事实（即针对某一域的所有问题，所有算法的期望性能是相同的），但是这一定理也告诉我们，</a:t>
            </a:r>
            <a:r>
              <a:rPr lang="zh-CN" altLang="zh-CN"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离开具体场景和问题去讨论采用哪种机器学习算法是毫无意义的，应该在机器学习中合理引入已有先验假设对模型进行约束，以提升模型效果</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，如在自然语言理解中引入句子中单词和单词之间的上下文关联（诸如</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n-gram</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文法）、在视觉图像分析引入像素点之间的空间依赖（诸如卷积算子）等。</a:t>
            </a:r>
          </a:p>
        </p:txBody>
      </p:sp>
    </p:spTree>
    <p:extLst>
      <p:ext uri="{BB962C8B-B14F-4D97-AF65-F5344CB8AC3E}">
        <p14:creationId xmlns:p14="http://schemas.microsoft.com/office/powerpoint/2010/main" val="2390298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417221" y="753892"/>
            <a:ext cx="7564942" cy="470990"/>
            <a:chOff x="4042728" y="2846797"/>
            <a:chExt cx="2604900" cy="470990"/>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042728" y="2846797"/>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模型评估与参数估计</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手段：损失函数</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422483" y="2769781"/>
            <a:ext cx="4877847" cy="212651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537763" y="2988855"/>
            <a:ext cx="4725353" cy="1987082"/>
          </a:xfrm>
          <a:prstGeom prst="rect">
            <a:avLst/>
          </a:prstGeom>
        </p:spPr>
        <p:txBody>
          <a:bodyPr wrap="square">
            <a:spAutoFit/>
          </a:bodyPr>
          <a:lstStyle/>
          <a:p>
            <a:pPr algn="ctr">
              <a:lnSpc>
                <a:spcPct val="150000"/>
              </a:lnSpc>
              <a:buClr>
                <a:schemeClr val="bg1"/>
              </a:buClr>
              <a:buSzPct val="80000"/>
            </a:pP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泛化能力（</a:t>
            </a:r>
            <a:r>
              <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generalization</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在机器学习中，需要保证模型在训练集上所取得性能与在测试集上所取得性能保持一致，即模型具有泛化能力（</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generalization</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50000"/>
              </a:lnSpc>
              <a:buClr>
                <a:schemeClr val="bg1"/>
              </a:buClr>
              <a:buSzPct val="80000"/>
            </a:pPr>
            <a:endPar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C231877-7F1F-4A1F-9D37-592C12E09A74}"/>
                  </a:ext>
                </a:extLst>
              </p:cNvPr>
              <p:cNvSpPr/>
              <p:nvPr/>
            </p:nvSpPr>
            <p:spPr>
              <a:xfrm>
                <a:off x="5651204" y="4124509"/>
                <a:ext cx="6432697" cy="2125069"/>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将映射函数记为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个训练数据记为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以及</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的预测结果记为</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acc>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（即</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acc>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，可定义损失函数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𝐿𝑜𝑠𝑠</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i="1">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来估量预测值</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acc>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和真实值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之间差异。很显然，在训练过程中希望映射函数在训练集上累加差异最小，即</a:t>
                </a:r>
                <a14:m>
                  <m:oMath xmlns:m="http://schemas.openxmlformats.org/officeDocument/2006/math">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min</m:t>
                    </m:r>
                    <m:nary>
                      <m:nary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𝑛</m:t>
                        </m:r>
                      </m:sup>
                      <m:e>
                        <m:r>
                          <a:rPr lang="en-US" altLang="zh-CN" i="1">
                            <a:solidFill>
                              <a:srgbClr val="000000"/>
                            </a:solidFill>
                            <a:latin typeface="Cambria Math" panose="02040503050406030204" pitchFamily="18" charset="0"/>
                            <a:ea typeface="楷体_GB2312"/>
                            <a:cs typeface="Times New Roman" panose="02020603050405020304" pitchFamily="18" charset="0"/>
                          </a:rPr>
                          <m:t>𝐿𝑜𝑠𝑠</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i="1">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8" name="矩形 7">
                <a:extLst>
                  <a:ext uri="{FF2B5EF4-FFF2-40B4-BE49-F238E27FC236}">
                    <a16:creationId xmlns:a16="http://schemas.microsoft.com/office/drawing/2014/main" id="{0C231877-7F1F-4A1F-9D37-592C12E09A74}"/>
                  </a:ext>
                </a:extLst>
              </p:cNvPr>
              <p:cNvSpPr>
                <a:spLocks noRot="1" noChangeAspect="1" noMove="1" noResize="1" noEditPoints="1" noAdjustHandles="1" noChangeArrowheads="1" noChangeShapeType="1" noTextEdit="1"/>
              </p:cNvSpPr>
              <p:nvPr/>
            </p:nvSpPr>
            <p:spPr>
              <a:xfrm>
                <a:off x="5651204" y="4124509"/>
                <a:ext cx="6432697" cy="2125069"/>
              </a:xfrm>
              <a:prstGeom prst="rect">
                <a:avLst/>
              </a:prstGeom>
              <a:blipFill>
                <a:blip r:embed="rId3"/>
                <a:stretch>
                  <a:fillRect l="-758" r="-853" b="-31897"/>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EA674564-00C4-40E2-97AE-2F200ED85F42}"/>
              </a:ext>
            </a:extLst>
          </p:cNvPr>
          <p:cNvPicPr>
            <a:picLocks noChangeAspect="1"/>
          </p:cNvPicPr>
          <p:nvPr/>
        </p:nvPicPr>
        <p:blipFill>
          <a:blip r:embed="rId4"/>
          <a:stretch>
            <a:fillRect/>
          </a:stretch>
        </p:blipFill>
        <p:spPr>
          <a:xfrm>
            <a:off x="6118765" y="1665322"/>
            <a:ext cx="5118838" cy="2208917"/>
          </a:xfrm>
          <a:prstGeom prst="rect">
            <a:avLst/>
          </a:prstGeom>
        </p:spPr>
      </p:pic>
    </p:spTree>
    <p:extLst>
      <p:ext uri="{BB962C8B-B14F-4D97-AF65-F5344CB8AC3E}">
        <p14:creationId xmlns:p14="http://schemas.microsoft.com/office/powerpoint/2010/main" val="281555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经验风险与期望风险</a:t>
              </a:r>
            </a:p>
          </p:txBody>
        </p:sp>
      </p:grpSp>
      <p:sp>
        <p:nvSpPr>
          <p:cNvPr id="13" name="矩形 12">
            <a:extLst>
              <a:ext uri="{FF2B5EF4-FFF2-40B4-BE49-F238E27FC236}">
                <a16:creationId xmlns:a16="http://schemas.microsoft.com/office/drawing/2014/main" id="{3A647A71-F424-407A-8955-01CE56E2EFF5}"/>
              </a:ext>
            </a:extLst>
          </p:cNvPr>
          <p:cNvSpPr/>
          <p:nvPr/>
        </p:nvSpPr>
        <p:spPr>
          <a:xfrm>
            <a:off x="852473" y="129010"/>
            <a:ext cx="225895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12" name="矩形: 圆角 6">
            <a:extLst>
              <a:ext uri="{FF2B5EF4-FFF2-40B4-BE49-F238E27FC236}">
                <a16:creationId xmlns:a16="http://schemas.microsoft.com/office/drawing/2014/main" id="{9CDCB932-C432-4718-9DED-A3B2BA8A20DD}"/>
              </a:ext>
            </a:extLst>
          </p:cNvPr>
          <p:cNvSpPr/>
          <p:nvPr/>
        </p:nvSpPr>
        <p:spPr>
          <a:xfrm>
            <a:off x="594543" y="2308836"/>
            <a:ext cx="4880341" cy="331741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B34C3172-60B3-496E-A932-C6C27CE69987}"/>
                  </a:ext>
                </a:extLst>
              </p:cNvPr>
              <p:cNvSpPr/>
              <p:nvPr/>
            </p:nvSpPr>
            <p:spPr>
              <a:xfrm>
                <a:off x="734530" y="2245432"/>
                <a:ext cx="4740354" cy="3521029"/>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经验风险</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a:p>
                <a:pPr algn="just"/>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映射函数</a:t>
                </a:r>
                <a14:m>
                  <m:oMath xmlns:m="http://schemas.openxmlformats.org/officeDocument/2006/math">
                    <m:r>
                      <a:rPr lang="en-US" altLang="zh-CN" i="1">
                        <a:solidFill>
                          <a:schemeClr val="bg1"/>
                        </a:solidFill>
                        <a:latin typeface="Cambria Math" panose="02040503050406030204" pitchFamily="18" charset="0"/>
                      </a:rPr>
                      <m:t>𝑓</m:t>
                    </m:r>
                  </m:oMath>
                </a14:m>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a:t>
                </a:r>
                <a:r>
                  <a:rPr lang="zh-CN" altLang="zh-CN"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训练集</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上所产生损失一般被称为</a:t>
                </a:r>
                <a:r>
                  <a:rPr lang="zh-CN" altLang="zh-CN"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经验风险</a:t>
                </a:r>
                <a14:m>
                  <m:oMath xmlns:m="http://schemas.openxmlformats.org/officeDocument/2006/math">
                    <m:sSub>
                      <m:sSubPr>
                        <m:ctrlPr>
                          <a:rPr lang="zh-CN" altLang="zh-CN" i="1">
                            <a:solidFill>
                              <a:schemeClr val="bg1"/>
                            </a:solidFill>
                            <a:latin typeface="Cambria Math" panose="02040503050406030204" pitchFamily="18" charset="0"/>
                          </a:rPr>
                        </m:ctrlPr>
                      </m:sSubPr>
                      <m:e>
                        <m:r>
                          <a:rPr lang="en-US" altLang="zh-CN" i="1">
                            <a:solidFill>
                              <a:schemeClr val="bg1"/>
                            </a:solidFill>
                            <a:latin typeface="Cambria Math" panose="02040503050406030204" pitchFamily="18" charset="0"/>
                          </a:rPr>
                          <m:t>ℜ</m:t>
                        </m:r>
                      </m:e>
                      <m:sub>
                        <m:r>
                          <a:rPr lang="en-US" altLang="zh-CN" i="1">
                            <a:solidFill>
                              <a:schemeClr val="bg1"/>
                            </a:solidFill>
                            <a:latin typeface="Cambria Math" panose="02040503050406030204" pitchFamily="18" charset="0"/>
                          </a:rPr>
                          <m:t>𝑒𝑚𝑝</m:t>
                        </m:r>
                      </m:sub>
                    </m:sSub>
                  </m:oMath>
                </a14:m>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 (empirical risk)</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。经验风险越小说明模型对训练集数据拟合程度越好。经验风险被定义为：</a:t>
                </a: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den>
                      </m:f>
                      <m:nary>
                        <m:naryPr>
                          <m:chr m:val="∑"/>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p>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𝐿𝑜𝑠𝑠</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e>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𝑓</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e>
                      </m:nary>
                    </m:oMath>
                  </m:oMathPara>
                </a14:m>
                <a:endPar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B34C3172-60B3-496E-A932-C6C27CE69987}"/>
                  </a:ext>
                </a:extLst>
              </p:cNvPr>
              <p:cNvSpPr>
                <a:spLocks noRot="1" noChangeAspect="1" noMove="1" noResize="1" noEditPoints="1" noAdjustHandles="1" noChangeArrowheads="1" noChangeShapeType="1" noTextEdit="1"/>
              </p:cNvSpPr>
              <p:nvPr/>
            </p:nvSpPr>
            <p:spPr>
              <a:xfrm>
                <a:off x="734530" y="2245432"/>
                <a:ext cx="4740354" cy="3521029"/>
              </a:xfrm>
              <a:prstGeom prst="rect">
                <a:avLst/>
              </a:prstGeom>
              <a:blipFill>
                <a:blip r:embed="rId3"/>
                <a:stretch>
                  <a:fillRect l="-1028" r="-1028"/>
                </a:stretch>
              </a:blipFill>
            </p:spPr>
            <p:txBody>
              <a:bodyPr/>
              <a:lstStyle/>
              <a:p>
                <a:r>
                  <a:rPr lang="zh-CN" altLang="en-US">
                    <a:noFill/>
                  </a:rPr>
                  <a:t> </a:t>
                </a:r>
              </a:p>
            </p:txBody>
          </p:sp>
        </mc:Fallback>
      </mc:AlternateContent>
      <p:sp>
        <p:nvSpPr>
          <p:cNvPr id="17" name="矩形: 圆角 6">
            <a:extLst>
              <a:ext uri="{FF2B5EF4-FFF2-40B4-BE49-F238E27FC236}">
                <a16:creationId xmlns:a16="http://schemas.microsoft.com/office/drawing/2014/main" id="{0DCE6ADD-278F-426B-AFF8-B9160A0019B0}"/>
              </a:ext>
            </a:extLst>
          </p:cNvPr>
          <p:cNvSpPr/>
          <p:nvPr/>
        </p:nvSpPr>
        <p:spPr>
          <a:xfrm>
            <a:off x="6658645" y="2245432"/>
            <a:ext cx="4880341" cy="331741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50DD3600-892C-4683-9006-C914CCD89486}"/>
                  </a:ext>
                </a:extLst>
              </p:cNvPr>
              <p:cNvSpPr/>
              <p:nvPr/>
            </p:nvSpPr>
            <p:spPr>
              <a:xfrm>
                <a:off x="6798631" y="2182028"/>
                <a:ext cx="4798825" cy="3702617"/>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期望风险</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a:p>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如果知道某一任务包含的所有数据，则可以从所有数据中计算模型产生的损失，这一误差损失被称为期望风险</a:t>
                </a:r>
                <a14:m>
                  <m:oMath xmlns:m="http://schemas.openxmlformats.org/officeDocument/2006/math">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ℜ</m:t>
                    </m:r>
                  </m:oMath>
                </a14:m>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expected risk</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），即真实风险或真实误差。记该任务中所有数据的联合分布为</a:t>
                </a:r>
                <a14:m>
                  <m:oMath xmlns:m="http://schemas.openxmlformats.org/officeDocument/2006/math">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𝑃</m:t>
                    </m:r>
                    <m:d>
                      <m:dPr>
                        <m:ctrlPr>
                          <a:rPr lang="zh-CN" altLang="zh-CN" i="1">
                            <a:solidFill>
                              <a:schemeClr val="bg1"/>
                            </a:solidFill>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𝑥</m:t>
                        </m:r>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𝑦</m:t>
                        </m:r>
                      </m:e>
                    </m:d>
                  </m:oMath>
                </a14:m>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，期望风险被定义为：</a:t>
                </a:r>
              </a:p>
              <a:p>
                <a:pPr/>
                <a14:m>
                  <m:oMathPara xmlns:m="http://schemas.openxmlformats.org/officeDocument/2006/math">
                    <m:oMathParaPr>
                      <m:jc m:val="centerGroup"/>
                    </m:oMathParaPr>
                    <m:oMath xmlns:m="http://schemas.openxmlformats.org/officeDocument/2006/math">
                      <m:nary>
                        <m:nary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sub>
                        <m:sup/>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𝐿𝑜𝑠𝑠</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𝑓</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e>
                          </m:d>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e>
                          </m:d>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𝑑𝑥𝑑𝑦</m:t>
                          </m:r>
                        </m:e>
                      </m:nary>
                    </m:oMath>
                  </m:oMathPara>
                </a14:m>
                <a:endPar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50DD3600-892C-4683-9006-C914CCD89486}"/>
                  </a:ext>
                </a:extLst>
              </p:cNvPr>
              <p:cNvSpPr>
                <a:spLocks noRot="1" noChangeAspect="1" noMove="1" noResize="1" noEditPoints="1" noAdjustHandles="1" noChangeArrowheads="1" noChangeShapeType="1" noTextEdit="1"/>
              </p:cNvSpPr>
              <p:nvPr/>
            </p:nvSpPr>
            <p:spPr>
              <a:xfrm>
                <a:off x="6798631" y="2182028"/>
                <a:ext cx="4798825" cy="3702617"/>
              </a:xfrm>
              <a:prstGeom prst="rect">
                <a:avLst/>
              </a:prstGeom>
              <a:blipFill>
                <a:blip r:embed="rId4"/>
                <a:stretch>
                  <a:fillRect l="-1017" r="-889"/>
                </a:stretch>
              </a:blipFill>
            </p:spPr>
            <p:txBody>
              <a:bodyPr/>
              <a:lstStyle/>
              <a:p>
                <a:r>
                  <a:rPr lang="zh-CN" altLang="en-US">
                    <a:noFill/>
                  </a:rPr>
                  <a:t> </a:t>
                </a:r>
              </a:p>
            </p:txBody>
          </p:sp>
        </mc:Fallback>
      </mc:AlternateContent>
      <p:sp>
        <p:nvSpPr>
          <p:cNvPr id="9" name="不等号 8">
            <a:extLst>
              <a:ext uri="{FF2B5EF4-FFF2-40B4-BE49-F238E27FC236}">
                <a16:creationId xmlns:a16="http://schemas.microsoft.com/office/drawing/2014/main" id="{747C67AE-0ECC-4953-A9F8-77BF6113DD77}"/>
              </a:ext>
            </a:extLst>
          </p:cNvPr>
          <p:cNvSpPr/>
          <p:nvPr/>
        </p:nvSpPr>
        <p:spPr>
          <a:xfrm>
            <a:off x="5627277" y="3508660"/>
            <a:ext cx="893135" cy="468000"/>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585843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经验风险</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最小化</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3" name="矩形 12">
            <a:extLst>
              <a:ext uri="{FF2B5EF4-FFF2-40B4-BE49-F238E27FC236}">
                <a16:creationId xmlns:a16="http://schemas.microsoft.com/office/drawing/2014/main" id="{3A647A71-F424-407A-8955-01CE56E2EFF5}"/>
              </a:ext>
            </a:extLst>
          </p:cNvPr>
          <p:cNvSpPr/>
          <p:nvPr/>
        </p:nvSpPr>
        <p:spPr>
          <a:xfrm>
            <a:off x="852473" y="129010"/>
            <a:ext cx="225895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12" name="矩形: 圆角 6">
            <a:extLst>
              <a:ext uri="{FF2B5EF4-FFF2-40B4-BE49-F238E27FC236}">
                <a16:creationId xmlns:a16="http://schemas.microsoft.com/office/drawing/2014/main" id="{9CDCB932-C432-4718-9DED-A3B2BA8A20DD}"/>
              </a:ext>
            </a:extLst>
          </p:cNvPr>
          <p:cNvSpPr/>
          <p:nvPr/>
        </p:nvSpPr>
        <p:spPr>
          <a:xfrm>
            <a:off x="546115" y="2561433"/>
            <a:ext cx="4880341" cy="281134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B34C3172-60B3-496E-A932-C6C27CE69987}"/>
              </a:ext>
            </a:extLst>
          </p:cNvPr>
          <p:cNvSpPr/>
          <p:nvPr/>
        </p:nvSpPr>
        <p:spPr>
          <a:xfrm>
            <a:off x="604675" y="2894710"/>
            <a:ext cx="4740354" cy="2308324"/>
          </a:xfrm>
          <a:prstGeom prst="rect">
            <a:avLst/>
          </a:prstGeom>
        </p:spPr>
        <p:txBody>
          <a:bodyPr wrap="square">
            <a:spAutoFit/>
          </a:bodyPr>
          <a:lstStyle/>
          <a:p>
            <a:pPr algn="just"/>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当然，由于无法事先就得到任何任务所对应的所有数据分布（如无法采取世界中所有人脸图像来笃信完成人脸识别），使得计算期望风险这一目标可望不可及。因此，机器学习中模型优化目标一般为</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经验风险最小化（</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empirical risk minimization</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虽然机器学习的目标是追求期望风险最小化，即不断提升模型泛化能力</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0304D0E-0B21-4F19-A367-B09C0C225D39}"/>
                  </a:ext>
                </a:extLst>
              </p:cNvPr>
              <p:cNvSpPr/>
              <p:nvPr/>
            </p:nvSpPr>
            <p:spPr>
              <a:xfrm>
                <a:off x="5927651" y="1912154"/>
                <a:ext cx="6096000" cy="904094"/>
              </a:xfrm>
              <a:prstGeom prst="rect">
                <a:avLst/>
              </a:prstGeom>
            </p:spPr>
            <p:txBody>
              <a:bodyPr>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期望风险</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ℜ</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与经验风险</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ℜ</m:t>
                        </m:r>
                      </m:e>
                      <m:sub>
                        <m:r>
                          <a:rPr lang="en-US" altLang="zh-CN" i="1">
                            <a:solidFill>
                              <a:srgbClr val="000000"/>
                            </a:solidFill>
                            <a:latin typeface="Cambria Math" panose="02040503050406030204" pitchFamily="18" charset="0"/>
                            <a:ea typeface="楷体_GB2312"/>
                            <a:cs typeface="Times New Roman" panose="02020603050405020304" pitchFamily="18" charset="0"/>
                          </a:rPr>
                          <m:t>𝑒𝑚𝑝</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之间存在如下关系：</a:t>
                </a:r>
              </a:p>
              <a:p>
                <a:pPr indent="266700">
                  <a:lnSpc>
                    <a:spcPct val="150000"/>
                  </a:lnSpc>
                </a:pPr>
                <a:endParaRPr lang="en-US" altLang="zh-CN" i="1" kern="100" dirty="0">
                  <a:latin typeface="Cambria Math" panose="02040503050406030204" pitchFamily="18" charset="0"/>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50304D0E-0B21-4F19-A367-B09C0C225D39}"/>
                  </a:ext>
                </a:extLst>
              </p:cNvPr>
              <p:cNvSpPr>
                <a:spLocks noRot="1" noChangeAspect="1" noMove="1" noResize="1" noEditPoints="1" noAdjustHandles="1" noChangeArrowheads="1" noChangeShapeType="1" noTextEdit="1"/>
              </p:cNvSpPr>
              <p:nvPr/>
            </p:nvSpPr>
            <p:spPr>
              <a:xfrm>
                <a:off x="5927651" y="1912154"/>
                <a:ext cx="6096000" cy="90409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B90222D0-0463-4559-A5DC-661E07E88FF4}"/>
                  </a:ext>
                </a:extLst>
              </p:cNvPr>
              <p:cNvSpPr/>
              <p:nvPr/>
            </p:nvSpPr>
            <p:spPr>
              <a:xfrm>
                <a:off x="5704629" y="2816248"/>
                <a:ext cx="6096000" cy="1161793"/>
              </a:xfrm>
              <a:prstGeom prst="rect">
                <a:avLst/>
              </a:prstGeom>
            </p:spPr>
            <p:txBody>
              <a:bodyPr>
                <a:spAutoFit/>
              </a:bodyPr>
              <a:lstStyle/>
              <a:p>
                <a:pPr indent="266700">
                  <a:lnSpc>
                    <a:spcPct val="150000"/>
                  </a:lnSpc>
                </a:pPr>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ℜ</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ℜ</m:t>
                          </m:r>
                        </m:e>
                        <m: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𝑒𝑚𝑝</m:t>
                          </m:r>
                        </m:sub>
                      </m:s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𝑒𝑟𝑟</m:t>
                      </m:r>
                    </m:oMath>
                  </m:oMathPara>
                </a14:m>
                <a:endParaRPr lang="en-US" altLang="zh-CN" sz="2800" kern="100" dirty="0">
                  <a:latin typeface="等线" panose="02010600030101010101" pitchFamily="2" charset="-122"/>
                  <a:ea typeface="等线" panose="02010600030101010101" pitchFamily="2" charset="-122"/>
                  <a:cs typeface="Times New Roman" panose="02020603050405020304" pitchFamily="18" charset="0"/>
                </a:endParaRPr>
              </a:p>
              <a:p>
                <a:pPr indent="266700">
                  <a:lnSpc>
                    <a:spcPct val="150000"/>
                  </a:lnSpc>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B90222D0-0463-4559-A5DC-661E07E88FF4}"/>
                  </a:ext>
                </a:extLst>
              </p:cNvPr>
              <p:cNvSpPr>
                <a:spLocks noRot="1" noChangeAspect="1" noMove="1" noResize="1" noEditPoints="1" noAdjustHandles="1" noChangeArrowheads="1" noChangeShapeType="1" noTextEdit="1"/>
              </p:cNvSpPr>
              <p:nvPr/>
            </p:nvSpPr>
            <p:spPr>
              <a:xfrm>
                <a:off x="5704629" y="2816248"/>
                <a:ext cx="6096000" cy="116179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F09EA42-5CE6-4D32-8FE2-A12A8852963F}"/>
                  </a:ext>
                </a:extLst>
              </p:cNvPr>
              <p:cNvSpPr/>
              <p:nvPr/>
            </p:nvSpPr>
            <p:spPr>
              <a:xfrm>
                <a:off x="5791200" y="4048872"/>
                <a:ext cx="6096000" cy="2158091"/>
              </a:xfrm>
              <a:prstGeom prst="rect">
                <a:avLst/>
              </a:prstGeom>
            </p:spPr>
            <p:txBody>
              <a:bodyPr>
                <a:spAutoFit/>
              </a:bodyPr>
              <a:lstStyle/>
              <a:p>
                <a:pPr>
                  <a:lnSpc>
                    <a:spcPct val="150000"/>
                  </a:lnSpc>
                </a:pPr>
                <a:r>
                  <a:rPr lang="zh-CN" altLang="zh-CN" dirty="0">
                    <a:latin typeface="Times New Roman" panose="02020603050405020304" pitchFamily="18" charset="0"/>
                    <a:ea typeface="等线" panose="02010600030101010101" pitchFamily="2" charset="-122"/>
                    <a:cs typeface="Times New Roman" panose="02020603050405020304" pitchFamily="18" charset="0"/>
                  </a:rPr>
                  <a:t>其中</a:t>
                </a:r>
                <a14:m>
                  <m:oMath xmlns:m="http://schemas.openxmlformats.org/officeDocument/2006/math">
                    <m:r>
                      <a:rPr lang="en-US" altLang="zh-CN" i="1" smtClean="0">
                        <a:solidFill>
                          <a:schemeClr val="accent2"/>
                        </a:solidFill>
                        <a:latin typeface="Cambria Math" panose="02040503050406030204" pitchFamily="18" charset="0"/>
                        <a:ea typeface="等线" panose="02010600030101010101" pitchFamily="2" charset="-122"/>
                        <a:cs typeface="Times New Roman" panose="02020603050405020304" pitchFamily="18" charset="0"/>
                      </a:rPr>
                      <m:t>𝑒𝑟𝑟</m:t>
                    </m:r>
                  </m:oMath>
                </a14:m>
                <a:r>
                  <a:rPr lang="zh-CN" altLang="zh-CN" dirty="0">
                    <a:solidFill>
                      <a:schemeClr val="accent2"/>
                    </a:solidFill>
                    <a:latin typeface="Times New Roman" panose="02020603050405020304" pitchFamily="18" charset="0"/>
                    <a:ea typeface="等线" panose="02010600030101010101" pitchFamily="2" charset="-122"/>
                    <a:cs typeface="Times New Roman" panose="02020603050405020304" pitchFamily="18" charset="0"/>
                  </a:rPr>
                  <a:t>取值与机器学习模型的复杂程度和训练集样本数目有关</a:t>
                </a:r>
                <a:r>
                  <a:rPr lang="zh-CN" altLang="zh-CN" dirty="0">
                    <a:latin typeface="Times New Roman" panose="02020603050405020304" pitchFamily="18" charset="0"/>
                    <a:ea typeface="等线" panose="02010600030101010101" pitchFamily="2" charset="-122"/>
                    <a:cs typeface="Times New Roman" panose="02020603050405020304" pitchFamily="18" charset="0"/>
                  </a:rPr>
                  <a:t>。在模型训练过程中，如果使用同一批训练数据反复训练，模型会变得越复杂，虽然经</a:t>
                </a:r>
                <a:r>
                  <a:rPr lang="zh-CN" altLang="zh-CN"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验风险</a:t>
                </a:r>
                <a14:m>
                  <m:oMath xmlns:m="http://schemas.openxmlformats.org/officeDocument/2006/math">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ℜ</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𝑒𝑚𝑝</m:t>
                        </m:r>
                      </m:sub>
                    </m:sSub>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会降低，但是</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𝑒𝑟𝑟</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取值会越大，导致</a:t>
                </a:r>
                <a:r>
                  <a:rPr lang="zh-CN" altLang="zh-CN"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期望风险</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ℜ</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增加，这一现象被称为过学习（</a:t>
                </a:r>
                <a:r>
                  <a:rPr lang="en-US" altLang="zh-CN" dirty="0">
                    <a:latin typeface="Times New Roman" panose="02020603050405020304" pitchFamily="18" charset="0"/>
                    <a:ea typeface="等线" panose="02010600030101010101" pitchFamily="2" charset="-122"/>
                    <a:cs typeface="Times New Roman" panose="02020603050405020304" pitchFamily="18" charset="0"/>
                  </a:rPr>
                  <a:t>overfitting</a:t>
                </a:r>
                <a:r>
                  <a:rPr lang="zh-CN" altLang="zh-CN"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8F09EA42-5CE6-4D32-8FE2-A12A8852963F}"/>
                  </a:ext>
                </a:extLst>
              </p:cNvPr>
              <p:cNvSpPr>
                <a:spLocks noRot="1" noChangeAspect="1" noMove="1" noResize="1" noEditPoints="1" noAdjustHandles="1" noChangeArrowheads="1" noChangeShapeType="1" noTextEdit="1"/>
              </p:cNvSpPr>
              <p:nvPr/>
            </p:nvSpPr>
            <p:spPr>
              <a:xfrm>
                <a:off x="5791200" y="4048872"/>
                <a:ext cx="6096000" cy="2158091"/>
              </a:xfrm>
              <a:prstGeom prst="rect">
                <a:avLst/>
              </a:prstGeom>
              <a:blipFill>
                <a:blip r:embed="rId5"/>
                <a:stretch>
                  <a:fillRect l="-800" b="-3672"/>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91EF99FD-6B72-4262-946E-ABF30E043597}"/>
              </a:ext>
            </a:extLst>
          </p:cNvPr>
          <p:cNvSpPr/>
          <p:nvPr/>
        </p:nvSpPr>
        <p:spPr>
          <a:xfrm>
            <a:off x="7067805" y="3656702"/>
            <a:ext cx="1005403" cy="338554"/>
          </a:xfrm>
          <a:prstGeom prst="rect">
            <a:avLst/>
          </a:prstGeom>
        </p:spPr>
        <p:txBody>
          <a:bodyPr wrap="none">
            <a:spAutoFit/>
          </a:bodyPr>
          <a:lstStyle/>
          <a:p>
            <a:r>
              <a:rPr lang="zh-CN" altLang="zh-CN" sz="1600" dirty="0">
                <a:solidFill>
                  <a:srgbClr val="000000"/>
                </a:solidFill>
                <a:latin typeface="Times New Roman" panose="02020603050405020304" pitchFamily="18" charset="0"/>
                <a:ea typeface="楷体_GB2312"/>
                <a:cs typeface="Times New Roman" panose="02020603050405020304" pitchFamily="18" charset="0"/>
              </a:rPr>
              <a:t>期望风险</a:t>
            </a:r>
            <a:endParaRPr lang="zh-CN" altLang="en-US" sz="1600" dirty="0"/>
          </a:p>
        </p:txBody>
      </p:sp>
      <p:sp>
        <p:nvSpPr>
          <p:cNvPr id="16" name="矩形 15">
            <a:extLst>
              <a:ext uri="{FF2B5EF4-FFF2-40B4-BE49-F238E27FC236}">
                <a16:creationId xmlns:a16="http://schemas.microsoft.com/office/drawing/2014/main" id="{EA1084BD-BA4E-42EC-87E3-C61BD0C9646D}"/>
              </a:ext>
            </a:extLst>
          </p:cNvPr>
          <p:cNvSpPr/>
          <p:nvPr/>
        </p:nvSpPr>
        <p:spPr>
          <a:xfrm>
            <a:off x="8073208" y="3648095"/>
            <a:ext cx="100540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cs typeface="Times New Roman" panose="02020603050405020304" pitchFamily="18" charset="0"/>
              </a:rPr>
              <a:t>经验</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风险</a:t>
            </a:r>
            <a:endParaRPr lang="zh-CN" altLang="en-US" sz="1600" dirty="0"/>
          </a:p>
        </p:txBody>
      </p:sp>
      <p:cxnSp>
        <p:nvCxnSpPr>
          <p:cNvPr id="20" name="直接连接符 19">
            <a:extLst>
              <a:ext uri="{FF2B5EF4-FFF2-40B4-BE49-F238E27FC236}">
                <a16:creationId xmlns:a16="http://schemas.microsoft.com/office/drawing/2014/main" id="{65769A53-A7C4-4DEA-A4C0-FB93409F6650}"/>
              </a:ext>
            </a:extLst>
          </p:cNvPr>
          <p:cNvCxnSpPr/>
          <p:nvPr/>
        </p:nvCxnSpPr>
        <p:spPr>
          <a:xfrm>
            <a:off x="7261093" y="3538906"/>
            <a:ext cx="541066" cy="0"/>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1D6CE49-7F9B-4E0C-BB3D-5E36544D7905}"/>
              </a:ext>
            </a:extLst>
          </p:cNvPr>
          <p:cNvCxnSpPr/>
          <p:nvPr/>
        </p:nvCxnSpPr>
        <p:spPr>
          <a:xfrm>
            <a:off x="8298134" y="3583508"/>
            <a:ext cx="541066" cy="0"/>
          </a:xfrm>
          <a:prstGeom prst="line">
            <a:avLst/>
          </a:prstGeom>
          <a:ln w="412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831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模型泛化能力与</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经验风险</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和期望风险之间关系</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3" name="矩形 12">
            <a:extLst>
              <a:ext uri="{FF2B5EF4-FFF2-40B4-BE49-F238E27FC236}">
                <a16:creationId xmlns:a16="http://schemas.microsoft.com/office/drawing/2014/main" id="{3A647A71-F424-407A-8955-01CE56E2EFF5}"/>
              </a:ext>
            </a:extLst>
          </p:cNvPr>
          <p:cNvSpPr/>
          <p:nvPr/>
        </p:nvSpPr>
        <p:spPr>
          <a:xfrm>
            <a:off x="852473" y="129010"/>
            <a:ext cx="225895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pic>
        <p:nvPicPr>
          <p:cNvPr id="9" name="图片 8">
            <a:extLst>
              <a:ext uri="{FF2B5EF4-FFF2-40B4-BE49-F238E27FC236}">
                <a16:creationId xmlns:a16="http://schemas.microsoft.com/office/drawing/2014/main" id="{1A6A18DD-9D16-431E-AE69-D14885DB1945}"/>
              </a:ext>
            </a:extLst>
          </p:cNvPr>
          <p:cNvPicPr>
            <a:picLocks noChangeAspect="1"/>
          </p:cNvPicPr>
          <p:nvPr/>
        </p:nvPicPr>
        <p:blipFill>
          <a:blip r:embed="rId3"/>
          <a:stretch>
            <a:fillRect/>
          </a:stretch>
        </p:blipFill>
        <p:spPr>
          <a:xfrm>
            <a:off x="852473" y="2229836"/>
            <a:ext cx="4740519" cy="3033868"/>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0251D9D-E737-46E3-9E57-1031CA02B364}"/>
                  </a:ext>
                </a:extLst>
              </p:cNvPr>
              <p:cNvSpPr/>
              <p:nvPr/>
            </p:nvSpPr>
            <p:spPr>
              <a:xfrm>
                <a:off x="5823626" y="4404114"/>
                <a:ext cx="5869285" cy="2056717"/>
              </a:xfrm>
              <a:prstGeom prst="rect">
                <a:avLst/>
              </a:prstGeom>
            </p:spPr>
            <p:txBody>
              <a:bodyPr wrap="square">
                <a:spAutoFit/>
              </a:bodyPr>
              <a:lstStyle/>
              <a:p>
                <a:pPr indent="266700" algn="just">
                  <a:lnSpc>
                    <a:spcPts val="2200"/>
                  </a:lnSpc>
                  <a:spcAft>
                    <a:spcPts val="0"/>
                  </a:spcAft>
                </a:pPr>
                <a:r>
                  <a:rPr lang="zh-CN" altLang="zh-CN"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 </m:t>
                    </m:r>
                    <m:r>
                      <a:rPr lang="en-US" altLang="zh-CN" i="1" kern="0">
                        <a:solidFill>
                          <a:srgbClr val="000000"/>
                        </a:solidFill>
                        <a:latin typeface="Cambria Math" panose="02040503050406030204" pitchFamily="18" charset="0"/>
                        <a:ea typeface="楷体_GB2312"/>
                        <a:cs typeface="Times New Roman" panose="02020603050405020304" pitchFamily="18" charset="0"/>
                      </a:rPr>
                      <m:t>𝐽</m:t>
                    </m:r>
                    <m:r>
                      <a:rPr lang="en-US" altLang="zh-CN" i="1" kern="0">
                        <a:solidFill>
                          <a:srgbClr val="000000"/>
                        </a:solidFill>
                        <a:latin typeface="Cambria Math" panose="02040503050406030204" pitchFamily="18" charset="0"/>
                        <a:ea typeface="楷体_GB2312"/>
                        <a:cs typeface="Times New Roman" panose="02020603050405020304" pitchFamily="18" charset="0"/>
                      </a:rPr>
                      <m:t>(</m:t>
                    </m:r>
                    <m:r>
                      <a:rPr lang="en-US" altLang="zh-CN" i="1" kern="0">
                        <a:solidFill>
                          <a:srgbClr val="000000"/>
                        </a:solidFill>
                        <a:latin typeface="Cambria Math" panose="02040503050406030204" pitchFamily="18" charset="0"/>
                        <a:ea typeface="楷体_GB2312"/>
                        <a:cs typeface="Times New Roman" panose="02020603050405020304" pitchFamily="18" charset="0"/>
                      </a:rPr>
                      <m:t>𝑓</m:t>
                    </m:r>
                    <m:r>
                      <a:rPr lang="en-US" altLang="zh-CN" i="1" kern="0">
                        <a:solidFill>
                          <a:srgbClr val="000000"/>
                        </a:solidFill>
                        <a:latin typeface="Cambria Math" panose="02040503050406030204" pitchFamily="18" charset="0"/>
                        <a:ea typeface="楷体_GB2312"/>
                        <a:cs typeface="Times New Roman" panose="02020603050405020304" pitchFamily="18" charset="0"/>
                      </a:rPr>
                      <m:t>)</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是正则化因子或惩罚项因子，</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𝜆</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是用来调整惩罚强度的系数。</a:t>
                </a:r>
                <a:r>
                  <a:rPr lang="zh-CN" altLang="zh-CN" kern="0" dirty="0">
                    <a:solidFill>
                      <a:schemeClr val="accent2"/>
                    </a:solidFill>
                    <a:latin typeface="Times New Roman" panose="02020603050405020304" pitchFamily="18" charset="0"/>
                    <a:ea typeface="楷体_GB2312"/>
                    <a:cs typeface="Times New Roman" panose="02020603050405020304" pitchFamily="18" charset="0"/>
                  </a:rPr>
                  <a:t>哲学领域的奥卡姆剃刀定律（</a:t>
                </a:r>
                <a:r>
                  <a:rPr lang="en-US" altLang="zh-CN" kern="0" dirty="0">
                    <a:solidFill>
                      <a:schemeClr val="accent2"/>
                    </a:solidFill>
                    <a:latin typeface="Times New Roman" panose="02020603050405020304" pitchFamily="18" charset="0"/>
                    <a:ea typeface="楷体_GB2312"/>
                    <a:cs typeface="Times New Roman" panose="02020603050405020304" pitchFamily="18" charset="0"/>
                  </a:rPr>
                  <a:t>Occam's Razor, Ockham's Razor</a:t>
                </a:r>
                <a:r>
                  <a:rPr lang="zh-CN" altLang="zh-CN" kern="0" dirty="0">
                    <a:solidFill>
                      <a:schemeClr val="accent2"/>
                    </a:solidFill>
                    <a:latin typeface="Times New Roman" panose="02020603050405020304" pitchFamily="18" charset="0"/>
                    <a:ea typeface="楷体_GB2312"/>
                    <a:cs typeface="Times New Roman" panose="02020603050405020304" pitchFamily="18" charset="0"/>
                  </a:rPr>
                  <a:t>）阐明了</a:t>
                </a:r>
                <a:r>
                  <a:rPr lang="en-US" altLang="zh-CN" kern="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kern="0" dirty="0">
                    <a:solidFill>
                      <a:schemeClr val="accent2"/>
                    </a:solidFill>
                    <a:latin typeface="Times New Roman" panose="02020603050405020304" pitchFamily="18" charset="0"/>
                    <a:ea typeface="楷体_GB2312"/>
                    <a:cs typeface="Times New Roman" panose="02020603050405020304" pitchFamily="18" charset="0"/>
                  </a:rPr>
                  <a:t>如无必要，勿增实体</a:t>
                </a:r>
                <a:r>
                  <a:rPr lang="en-US" altLang="zh-CN" kern="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kern="0" dirty="0">
                    <a:solidFill>
                      <a:schemeClr val="accent2"/>
                    </a:solidFill>
                    <a:latin typeface="Times New Roman" panose="02020603050405020304" pitchFamily="18" charset="0"/>
                    <a:ea typeface="楷体_GB2312"/>
                    <a:cs typeface="Times New Roman" panose="02020603050405020304" pitchFamily="18" charset="0"/>
                  </a:rPr>
                  <a:t>的意义，即</a:t>
                </a:r>
                <a:r>
                  <a:rPr lang="en-US" altLang="zh-CN" kern="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kern="0" dirty="0">
                    <a:solidFill>
                      <a:schemeClr val="accent2"/>
                    </a:solidFill>
                    <a:latin typeface="Times New Roman" panose="02020603050405020304" pitchFamily="18" charset="0"/>
                    <a:ea typeface="楷体_GB2312"/>
                    <a:cs typeface="Times New Roman" panose="02020603050405020304" pitchFamily="18" charset="0"/>
                  </a:rPr>
                  <a:t>简单有效原理</a:t>
                </a:r>
                <a:r>
                  <a:rPr lang="en-US" altLang="zh-CN" kern="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kern="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老子《道德经》曾写道，</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万物之始，大道至简，衍化至繁</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。在模型中加入约束（如约束模型系数稀疏等），使得从数据到模型的建模过程中，能够</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化繁为简、大巧不工</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60251D9D-E737-46E3-9E57-1031CA02B364}"/>
                  </a:ext>
                </a:extLst>
              </p:cNvPr>
              <p:cNvSpPr>
                <a:spLocks noRot="1" noChangeAspect="1" noMove="1" noResize="1" noEditPoints="1" noAdjustHandles="1" noChangeArrowheads="1" noChangeShapeType="1" noTextEdit="1"/>
              </p:cNvSpPr>
              <p:nvPr/>
            </p:nvSpPr>
            <p:spPr>
              <a:xfrm>
                <a:off x="5823626" y="4404114"/>
                <a:ext cx="5869285" cy="2056717"/>
              </a:xfrm>
              <a:prstGeom prst="rect">
                <a:avLst/>
              </a:prstGeom>
              <a:blipFill>
                <a:blip r:embed="rId4"/>
                <a:stretch>
                  <a:fillRect l="-831" t="-2071" r="-935" b="-3550"/>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3E68C0C7-2E0E-4110-B5AF-9C47EC4366F9}"/>
              </a:ext>
            </a:extLst>
          </p:cNvPr>
          <p:cNvSpPr/>
          <p:nvPr/>
        </p:nvSpPr>
        <p:spPr>
          <a:xfrm>
            <a:off x="5823626" y="1706148"/>
            <a:ext cx="6011694" cy="1487202"/>
          </a:xfrm>
          <a:prstGeom prst="rect">
            <a:avLst/>
          </a:prstGeom>
        </p:spPr>
        <p:txBody>
          <a:bodyPr wrap="square">
            <a:spAutoFit/>
          </a:bodyPr>
          <a:lstStyle/>
          <a:p>
            <a:pPr indent="266700" algn="just">
              <a:lnSpc>
                <a:spcPts val="2200"/>
              </a:lnSpc>
              <a:spcBef>
                <a:spcPts val="600"/>
              </a:spcBef>
              <a:spcAft>
                <a:spcPts val="0"/>
              </a:spcAft>
            </a:pPr>
            <a:r>
              <a:rPr lang="zh-CN" altLang="zh-CN" dirty="0">
                <a:solidFill>
                  <a:schemeClr val="accent2"/>
                </a:solidFill>
                <a:latin typeface="Times New Roman" panose="02020603050405020304" pitchFamily="18" charset="0"/>
                <a:ea typeface="楷体_GB2312"/>
                <a:cs typeface="Times New Roman" panose="02020603050405020304" pitchFamily="18" charset="0"/>
              </a:rPr>
              <a:t>如前</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没有免费午餐定理</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所指出，在模型优化中引入恰当先验约束可提升模型性能。</a:t>
            </a:r>
            <a:r>
              <a:rPr lang="zh-CN" altLang="zh-CN" dirty="0">
                <a:solidFill>
                  <a:srgbClr val="000000"/>
                </a:solidFill>
                <a:latin typeface="Times New Roman" panose="02020603050405020304" pitchFamily="18" charset="0"/>
                <a:ea typeface="楷体_GB2312"/>
                <a:cs typeface="Times New Roman" panose="02020603050405020304" pitchFamily="18" charset="0"/>
              </a:rPr>
              <a:t>为了防止过学习，结构风险最小化</a:t>
            </a:r>
            <a:r>
              <a:rPr lang="en-US" altLang="zh-CN" dirty="0">
                <a:solidFill>
                  <a:srgbClr val="000000"/>
                </a:solidFill>
                <a:latin typeface="Times New Roman" panose="02020603050405020304" pitchFamily="18" charset="0"/>
                <a:ea typeface="楷体_GB2312"/>
                <a:cs typeface="Times New Roman" panose="02020603050405020304" pitchFamily="18" charset="0"/>
              </a:rPr>
              <a:t>(structural risk minimization)</a:t>
            </a:r>
            <a:r>
              <a:rPr lang="zh-CN" altLang="zh-CN" dirty="0">
                <a:solidFill>
                  <a:srgbClr val="000000"/>
                </a:solidFill>
                <a:latin typeface="Times New Roman" panose="02020603050405020304" pitchFamily="18" charset="0"/>
                <a:ea typeface="楷体_GB2312"/>
                <a:cs typeface="Times New Roman" panose="02020603050405020304" pitchFamily="18" charset="0"/>
              </a:rPr>
              <a:t>引入正则化</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regularizer</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或惩罚项</a:t>
            </a:r>
            <a:r>
              <a:rPr lang="en-US" altLang="zh-CN" dirty="0">
                <a:solidFill>
                  <a:srgbClr val="000000"/>
                </a:solidFill>
                <a:latin typeface="Times New Roman" panose="02020603050405020304" pitchFamily="18" charset="0"/>
                <a:ea typeface="楷体_GB2312"/>
                <a:cs typeface="Times New Roman" panose="02020603050405020304" pitchFamily="18" charset="0"/>
              </a:rPr>
              <a:t>(penalty term) </a:t>
            </a:r>
            <a:r>
              <a:rPr lang="zh-CN" altLang="zh-CN" dirty="0">
                <a:solidFill>
                  <a:srgbClr val="000000"/>
                </a:solidFill>
                <a:latin typeface="Times New Roman" panose="02020603050405020304" pitchFamily="18" charset="0"/>
                <a:ea typeface="楷体_GB2312"/>
                <a:cs typeface="Times New Roman" panose="02020603050405020304" pitchFamily="18" charset="0"/>
              </a:rPr>
              <a:t>来降低模型模型复杂度，既最小化经验风险、又力求降低模型复杂度，在两者之间寻找平衡：</a:t>
            </a: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9F7F3A21-3EC2-4720-8699-950EF97EE206}"/>
                  </a:ext>
                </a:extLst>
              </p:cNvPr>
              <p:cNvSpPr/>
              <p:nvPr/>
            </p:nvSpPr>
            <p:spPr>
              <a:xfrm>
                <a:off x="7146652" y="3322487"/>
                <a:ext cx="3151632" cy="848566"/>
              </a:xfrm>
              <a:prstGeom prst="rect">
                <a:avLst/>
              </a:prstGeom>
            </p:spPr>
            <p:txBody>
              <a:bodyPr wrap="none">
                <a:spAutoFit/>
              </a:bodyPr>
              <a:lstStyle/>
              <a:p>
                <a:pPr algn="just">
                  <a:spcAft>
                    <a:spcPts val="0"/>
                  </a:spcAft>
                </a:pPr>
                <a14:m>
                  <m:oMathPara xmlns:m="http://schemas.openxmlformats.org/officeDocument/2006/math">
                    <m:oMathParaPr>
                      <m:jc m:val="centerGroup"/>
                    </m:oMathParaPr>
                    <m:oMath xmlns:m="http://schemas.openxmlformats.org/officeDocument/2006/math">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den>
                      </m:f>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𝐿𝑜𝑠𝑠</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𝑓</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𝜆</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𝐽</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𝑓</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7" name="矩形 16">
                <a:extLst>
                  <a:ext uri="{FF2B5EF4-FFF2-40B4-BE49-F238E27FC236}">
                    <a16:creationId xmlns:a16="http://schemas.microsoft.com/office/drawing/2014/main" id="{9F7F3A21-3EC2-4720-8699-950EF97EE206}"/>
                  </a:ext>
                </a:extLst>
              </p:cNvPr>
              <p:cNvSpPr>
                <a:spLocks noRot="1" noChangeAspect="1" noMove="1" noResize="1" noEditPoints="1" noAdjustHandles="1" noChangeArrowheads="1" noChangeShapeType="1" noTextEdit="1"/>
              </p:cNvSpPr>
              <p:nvPr/>
            </p:nvSpPr>
            <p:spPr>
              <a:xfrm>
                <a:off x="7146652" y="3322487"/>
                <a:ext cx="3151632" cy="848566"/>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35099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模型度量方法</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13" name="矩形: 圆角 6">
            <a:extLst>
              <a:ext uri="{FF2B5EF4-FFF2-40B4-BE49-F238E27FC236}">
                <a16:creationId xmlns:a16="http://schemas.microsoft.com/office/drawing/2014/main" id="{EE0079DB-5DC7-4765-8C90-8B3B42AC8D4B}"/>
              </a:ext>
            </a:extLst>
          </p:cNvPr>
          <p:cNvSpPr/>
          <p:nvPr/>
        </p:nvSpPr>
        <p:spPr>
          <a:xfrm>
            <a:off x="1504507" y="2838013"/>
            <a:ext cx="9371016" cy="3588727"/>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3D28EF23-9DF5-44CA-A275-2B793EE66407}"/>
                  </a:ext>
                </a:extLst>
              </p:cNvPr>
              <p:cNvSpPr/>
              <p:nvPr/>
            </p:nvSpPr>
            <p:spPr>
              <a:xfrm>
                <a:off x="1952017" y="3120142"/>
                <a:ext cx="8800289" cy="3085973"/>
              </a:xfrm>
              <a:prstGeom prst="rect">
                <a:avLst/>
              </a:prstGeom>
            </p:spPr>
            <p:txBody>
              <a:bodyPr wrap="square">
                <a:spAutoFit/>
              </a:bodyPr>
              <a:lstStyle/>
              <a:p>
                <a:pPr marL="342900" indent="-342900">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准确率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(accuracy)</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b="1" smtClean="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r>
                      <a:rPr lang="en-US" altLang="zh-CN" b="1" smtClean="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𝑇𝑁</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𝑁</m:t>
                        </m:r>
                      </m:den>
                    </m:f>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。很显然，如果正负样本比例不平衡，</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oMath>
                </a14:m>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不是一个度量模型好的方法。比如，某一种恶性疾病很罕见（如</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万个疑似患者中仅有</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人罹患该疾病），机器学习模型可将所有患者均识别为负类，从而保证</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取值极高，但这就忽略了这一模型应该关注的问题。</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错误率（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error rate</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𝑒𝑟𝑟𝑜𝑟𝑅𝑎𝑡𝑒</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𝐹𝑁</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𝑁</m:t>
                        </m:r>
                      </m:den>
                    </m:f>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，显然有</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𝑒𝑟𝑟𝑜𝑟𝑅𝑎𝑡𝑒</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精确率（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precision</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𝑝𝑟𝑒𝑐𝑖𝑠𝑖𝑜𝑛</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𝐹𝑃</m:t>
                        </m:r>
                      </m:den>
                    </m:f>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，也叫查准率，表示被模型预测为正例的样本中实际为正例的比例。</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召回率（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Recall</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𝑟𝑒𝑐𝑎𝑙𝑙</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𝐹𝑁</m:t>
                        </m:r>
                      </m:den>
                    </m:f>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，也叫查全率，表示所有正例样本中被模型预测为正例的比例。</a:t>
                </a:r>
              </a:p>
            </p:txBody>
          </p:sp>
        </mc:Choice>
        <mc:Fallback xmlns="">
          <p:sp>
            <p:nvSpPr>
              <p:cNvPr id="14" name="矩形 13">
                <a:extLst>
                  <a:ext uri="{FF2B5EF4-FFF2-40B4-BE49-F238E27FC236}">
                    <a16:creationId xmlns:a16="http://schemas.microsoft.com/office/drawing/2014/main" id="{3D28EF23-9DF5-44CA-A275-2B793EE66407}"/>
                  </a:ext>
                </a:extLst>
              </p:cNvPr>
              <p:cNvSpPr>
                <a:spLocks noRot="1" noChangeAspect="1" noMove="1" noResize="1" noEditPoints="1" noAdjustHandles="1" noChangeArrowheads="1" noChangeShapeType="1" noTextEdit="1"/>
              </p:cNvSpPr>
              <p:nvPr/>
            </p:nvSpPr>
            <p:spPr>
              <a:xfrm>
                <a:off x="1952017" y="3120142"/>
                <a:ext cx="8800289" cy="3085973"/>
              </a:xfrm>
              <a:prstGeom prst="rect">
                <a:avLst/>
              </a:prstGeom>
              <a:blipFill>
                <a:blip r:embed="rId3"/>
                <a:stretch>
                  <a:fillRect l="-208" r="-831" b="-29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49C25A1-6039-4B1C-8F1F-BBF9D4CD71FD}"/>
                  </a:ext>
                </a:extLst>
              </p:cNvPr>
              <p:cNvSpPr/>
              <p:nvPr/>
            </p:nvSpPr>
            <p:spPr>
              <a:xfrm>
                <a:off x="852473" y="1569536"/>
                <a:ext cx="10473447" cy="1205073"/>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机器学习模型需要若干性能度量指标来判断其性能优劣。下面以二分类问题（正类、负类）为例，介绍几种主要度量方法。</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为训练样例的总数，正例总数和负例总数分别是</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𝑃</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(positive)</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𝑁</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(negative)</a:t>
                </a:r>
                <a:r>
                  <a:rPr lang="zh-CN" altLang="zh-CN" dirty="0">
                    <a:solidFill>
                      <a:srgbClr val="000000"/>
                    </a:solidFill>
                    <a:latin typeface="Times New Roman" panose="02020603050405020304" pitchFamily="18" charset="0"/>
                    <a:ea typeface="楷体_GB2312"/>
                    <a:cs typeface="Times New Roman" panose="02020603050405020304" pitchFamily="18" charset="0"/>
                  </a:rPr>
                  <a:t>。机器模型预测类别可分为如下四类：真正例（</a:t>
                </a:r>
                <a:r>
                  <a:rPr lang="en-US" altLang="zh-CN" dirty="0">
                    <a:solidFill>
                      <a:srgbClr val="000000"/>
                    </a:solidFill>
                    <a:latin typeface="Times New Roman" panose="02020603050405020304" pitchFamily="18" charset="0"/>
                    <a:ea typeface="楷体_GB2312"/>
                    <a:cs typeface="Times New Roman" panose="02020603050405020304" pitchFamily="18" charset="0"/>
                  </a:rPr>
                  <a:t>True Positive, TP</a:t>
                </a:r>
                <a:r>
                  <a:rPr lang="zh-CN" altLang="zh-CN" dirty="0">
                    <a:solidFill>
                      <a:srgbClr val="000000"/>
                    </a:solidFill>
                    <a:latin typeface="Times New Roman" panose="02020603050405020304" pitchFamily="18" charset="0"/>
                    <a:ea typeface="楷体_GB2312"/>
                    <a:cs typeface="Times New Roman" panose="02020603050405020304" pitchFamily="18" charset="0"/>
                  </a:rPr>
                  <a:t>）、假正例（</a:t>
                </a:r>
                <a:r>
                  <a:rPr lang="en-US" altLang="zh-CN" dirty="0">
                    <a:solidFill>
                      <a:srgbClr val="000000"/>
                    </a:solidFill>
                    <a:latin typeface="Times New Roman" panose="02020603050405020304" pitchFamily="18" charset="0"/>
                    <a:ea typeface="楷体_GB2312"/>
                    <a:cs typeface="Times New Roman" panose="02020603050405020304" pitchFamily="18" charset="0"/>
                  </a:rPr>
                  <a:t>False Positive, FP</a:t>
                </a:r>
                <a:r>
                  <a:rPr lang="zh-CN" altLang="zh-CN" dirty="0">
                    <a:solidFill>
                      <a:srgbClr val="000000"/>
                    </a:solidFill>
                    <a:latin typeface="Times New Roman" panose="02020603050405020304" pitchFamily="18" charset="0"/>
                    <a:ea typeface="楷体_GB2312"/>
                    <a:cs typeface="Times New Roman" panose="02020603050405020304" pitchFamily="18" charset="0"/>
                  </a:rPr>
                  <a:t>）、真反例（</a:t>
                </a:r>
                <a:r>
                  <a:rPr lang="en-US" altLang="zh-CN" dirty="0">
                    <a:solidFill>
                      <a:srgbClr val="000000"/>
                    </a:solidFill>
                    <a:latin typeface="Times New Roman" panose="02020603050405020304" pitchFamily="18" charset="0"/>
                    <a:ea typeface="楷体_GB2312"/>
                    <a:cs typeface="Times New Roman" panose="02020603050405020304" pitchFamily="18" charset="0"/>
                  </a:rPr>
                  <a:t>True Negative, TN</a:t>
                </a:r>
                <a:r>
                  <a:rPr lang="zh-CN" altLang="zh-CN" dirty="0">
                    <a:solidFill>
                      <a:srgbClr val="000000"/>
                    </a:solidFill>
                    <a:latin typeface="Times New Roman" panose="02020603050405020304" pitchFamily="18" charset="0"/>
                    <a:ea typeface="楷体_GB2312"/>
                    <a:cs typeface="Times New Roman" panose="02020603050405020304" pitchFamily="18" charset="0"/>
                  </a:rPr>
                  <a:t>）与假反例（</a:t>
                </a:r>
                <a:r>
                  <a:rPr lang="en-US" altLang="zh-CN" dirty="0">
                    <a:solidFill>
                      <a:srgbClr val="000000"/>
                    </a:solidFill>
                    <a:latin typeface="Times New Roman" panose="02020603050405020304" pitchFamily="18" charset="0"/>
                    <a:ea typeface="楷体_GB2312"/>
                    <a:cs typeface="Times New Roman" panose="02020603050405020304" pitchFamily="18" charset="0"/>
                  </a:rPr>
                  <a:t>False Negative, FN</a:t>
                </a:r>
                <a:r>
                  <a:rPr lang="zh-CN" altLang="zh-CN" dirty="0">
                    <a:solidFill>
                      <a:srgbClr val="000000"/>
                    </a:solidFill>
                    <a:latin typeface="Times New Roman" panose="02020603050405020304" pitchFamily="18" charset="0"/>
                    <a:ea typeface="楷体_GB2312"/>
                    <a:cs typeface="Times New Roman" panose="02020603050405020304" pitchFamily="18" charset="0"/>
                  </a:rPr>
                  <a:t>），令</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𝑇𝑃</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𝐹𝑃</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𝑇𝑁</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𝐹𝑁</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分别表示其对应的样例数</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949C25A1-6039-4B1C-8F1F-BBF9D4CD71FD}"/>
                  </a:ext>
                </a:extLst>
              </p:cNvPr>
              <p:cNvSpPr>
                <a:spLocks noRot="1" noChangeAspect="1" noMove="1" noResize="1" noEditPoints="1" noAdjustHandles="1" noChangeArrowheads="1" noChangeShapeType="1" noTextEdit="1"/>
              </p:cNvSpPr>
              <p:nvPr/>
            </p:nvSpPr>
            <p:spPr>
              <a:xfrm>
                <a:off x="852473" y="1569536"/>
                <a:ext cx="10473447" cy="1205073"/>
              </a:xfrm>
              <a:prstGeom prst="rect">
                <a:avLst/>
              </a:prstGeom>
              <a:blipFill>
                <a:blip r:embed="rId4"/>
                <a:stretch>
                  <a:fillRect l="-524" t="-3535" r="-2619" b="-70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74435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模型度量方法</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496A42D-CAB1-4D02-8694-45036D2769BB}"/>
                  </a:ext>
                </a:extLst>
              </p:cNvPr>
              <p:cNvSpPr/>
              <p:nvPr/>
            </p:nvSpPr>
            <p:spPr>
              <a:xfrm>
                <a:off x="1135858" y="1900369"/>
                <a:ext cx="9716493" cy="3797322"/>
              </a:xfrm>
              <a:prstGeom prst="rect">
                <a:avLst/>
              </a:prstGeom>
            </p:spPr>
            <p:txBody>
              <a:bodyPr wrap="square">
                <a:spAutoFit/>
              </a:bodyPr>
              <a:lstStyle/>
              <a:p>
                <a:pPr indent="266700" algn="just">
                  <a:lnSpc>
                    <a:spcPct val="20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在实际应用中，精确率和召回率之间是相互矛盾的，比如可以将所有样本分类为正例使得召回率为</a:t>
                </a:r>
                <a:r>
                  <a:rPr lang="en-US" altLang="zh-CN" dirty="0">
                    <a:solidFill>
                      <a:srgbClr val="000000"/>
                    </a:solidFill>
                    <a:latin typeface="Times New Roman" panose="02020603050405020304" pitchFamily="18" charset="0"/>
                    <a:ea typeface="楷体_GB2312"/>
                    <a:cs typeface="Times New Roman" panose="02020603050405020304" pitchFamily="18" charset="0"/>
                  </a:rPr>
                  <a:t>100%</a:t>
                </a:r>
                <a:r>
                  <a:rPr lang="zh-CN" altLang="zh-CN" dirty="0">
                    <a:solidFill>
                      <a:srgbClr val="000000"/>
                    </a:solidFill>
                    <a:latin typeface="Times New Roman" panose="02020603050405020304" pitchFamily="18" charset="0"/>
                    <a:ea typeface="楷体_GB2312"/>
                    <a:cs typeface="Times New Roman" panose="02020603050405020304" pitchFamily="18" charset="0"/>
                  </a:rPr>
                  <a:t>而精确率极低。因此为了综合考虑精确率和召回率，可采用</a:t>
                </a:r>
                <a:r>
                  <a:rPr lang="en-US" altLang="zh-CN" dirty="0">
                    <a:solidFill>
                      <a:srgbClr val="000000"/>
                    </a:solidFill>
                    <a:latin typeface="Times New Roman" panose="02020603050405020304" pitchFamily="18" charset="0"/>
                    <a:ea typeface="楷体_GB2312"/>
                    <a:cs typeface="Times New Roman" panose="02020603050405020304" pitchFamily="18" charset="0"/>
                  </a:rPr>
                  <a:t>F1-score</a:t>
                </a:r>
                <a:r>
                  <a:rPr lang="zh-CN" altLang="zh-CN" dirty="0">
                    <a:solidFill>
                      <a:srgbClr val="000000"/>
                    </a:solidFill>
                    <a:latin typeface="Times New Roman" panose="02020603050405020304" pitchFamily="18" charset="0"/>
                    <a:ea typeface="楷体_GB2312"/>
                    <a:cs typeface="Times New Roman" panose="02020603050405020304" pitchFamily="18" charset="0"/>
                  </a:rPr>
                  <a:t>这一综合分类率：</a:t>
                </a:r>
              </a:p>
              <a:p>
                <a:pPr indent="266700" algn="just">
                  <a:lnSpc>
                    <a:spcPct val="200000"/>
                  </a:lnSpc>
                  <a:spcAft>
                    <a:spcPts val="0"/>
                  </a:spcAft>
                </a:pPr>
                <a:r>
                  <a:rPr lang="en-US" altLang="zh-CN" kern="0" dirty="0">
                    <a:solidFill>
                      <a:srgbClr val="000000"/>
                    </a:solidFill>
                    <a:latin typeface="Times New Roman" panose="02020603050405020304" pitchFamily="18" charset="0"/>
                    <a:ea typeface="楷体_GB2312"/>
                    <a:cs typeface="Times New Roman" panose="02020603050405020304" pitchFamily="18" charset="0"/>
                  </a:rPr>
                  <a:t>             </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综合分类率（</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F1-score</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num>
                      <m:den>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𝑃𝑟𝑒𝑐𝑖𝑠𝑖𝑜𝑛</m:t>
                            </m:r>
                          </m:den>
                        </m:f>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𝑅𝑒𝑐𝑎𝑙𝑙</m:t>
                            </m:r>
                          </m:den>
                        </m:f>
                      </m:den>
                    </m:f>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𝑃𝑟𝑒𝑐𝑖𝑠𝑖𝑜𝑛</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𝑅𝑒𝑐𝑎𝑙𝑙</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𝑃𝑟𝑒𝑐𝑖𝑠𝑖𝑜𝑛</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𝑅𝑒𝑐𝑎𝑙𝑙</m:t>
                        </m:r>
                      </m:den>
                    </m:f>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200000"/>
                  </a:lnSpc>
                  <a:spcAft>
                    <a:spcPts val="0"/>
                  </a:spcAft>
                </a:pPr>
                <a:r>
                  <a:rPr lang="en-US" altLang="zh-CN" dirty="0">
                    <a:solidFill>
                      <a:srgbClr val="000000"/>
                    </a:solidFill>
                    <a:latin typeface="Times New Roman" panose="02020603050405020304" pitchFamily="18" charset="0"/>
                    <a:ea typeface="楷体_GB2312"/>
                    <a:cs typeface="Times New Roman" panose="02020603050405020304" pitchFamily="18" charset="0"/>
                  </a:rPr>
                  <a:t>F1-score</a:t>
                </a:r>
                <a:r>
                  <a:rPr lang="zh-CN" altLang="zh-CN" dirty="0">
                    <a:solidFill>
                      <a:srgbClr val="000000"/>
                    </a:solidFill>
                    <a:latin typeface="Times New Roman" panose="02020603050405020304" pitchFamily="18" charset="0"/>
                    <a:ea typeface="楷体_GB2312"/>
                    <a:cs typeface="Times New Roman" panose="02020603050405020304" pitchFamily="18" charset="0"/>
                  </a:rPr>
                  <a:t>是精确率和召回率的调和平均数，</a:t>
                </a:r>
                <a:r>
                  <a:rPr lang="zh-CN" altLang="zh-CN" dirty="0">
                    <a:solidFill>
                      <a:srgbClr val="121212"/>
                    </a:solidFill>
                    <a:latin typeface="Times New Roman" panose="02020603050405020304" pitchFamily="18" charset="0"/>
                    <a:ea typeface="楷体_GB2312"/>
                    <a:cs typeface="Times New Roman" panose="02020603050405020304" pitchFamily="18" charset="0"/>
                  </a:rPr>
                  <a:t>在尽可能提高</a:t>
                </a:r>
                <a:r>
                  <a:rPr lang="zh-CN" altLang="zh-CN" dirty="0">
                    <a:solidFill>
                      <a:srgbClr val="000000"/>
                    </a:solidFill>
                    <a:latin typeface="Times New Roman" panose="02020603050405020304" pitchFamily="18" charset="0"/>
                    <a:ea typeface="楷体_GB2312"/>
                    <a:cs typeface="Times New Roman" panose="02020603050405020304" pitchFamily="18" charset="0"/>
                  </a:rPr>
                  <a:t>精确率和召回率</a:t>
                </a:r>
                <a:r>
                  <a:rPr lang="zh-CN" altLang="zh-CN" dirty="0">
                    <a:solidFill>
                      <a:srgbClr val="121212"/>
                    </a:solidFill>
                    <a:latin typeface="Times New Roman" panose="02020603050405020304" pitchFamily="18" charset="0"/>
                    <a:ea typeface="楷体_GB2312"/>
                    <a:cs typeface="Times New Roman" panose="02020603050405020304" pitchFamily="18" charset="0"/>
                  </a:rPr>
                  <a:t>同时，也希望两者之间的差异尽可能小。</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496A42D-CAB1-4D02-8694-45036D2769BB}"/>
                  </a:ext>
                </a:extLst>
              </p:cNvPr>
              <p:cNvSpPr>
                <a:spLocks noRot="1" noChangeAspect="1" noMove="1" noResize="1" noEditPoints="1" noAdjustHandles="1" noChangeArrowheads="1" noChangeShapeType="1" noTextEdit="1"/>
              </p:cNvSpPr>
              <p:nvPr/>
            </p:nvSpPr>
            <p:spPr>
              <a:xfrm>
                <a:off x="1135858" y="1900369"/>
                <a:ext cx="9716493" cy="3797322"/>
              </a:xfrm>
              <a:prstGeom prst="rect">
                <a:avLst/>
              </a:prstGeom>
              <a:blipFill>
                <a:blip r:embed="rId3"/>
                <a:stretch>
                  <a:fillRect l="-502" r="-565" b="-16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8899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参数优化：频率学派与贝叶斯学派</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9" name="矩形: 圆角 6">
            <a:extLst>
              <a:ext uri="{FF2B5EF4-FFF2-40B4-BE49-F238E27FC236}">
                <a16:creationId xmlns:a16="http://schemas.microsoft.com/office/drawing/2014/main" id="{9B39F6B6-9295-43AB-93D4-AE591838FA96}"/>
              </a:ext>
            </a:extLst>
          </p:cNvPr>
          <p:cNvSpPr/>
          <p:nvPr/>
        </p:nvSpPr>
        <p:spPr>
          <a:xfrm>
            <a:off x="594543" y="2308836"/>
            <a:ext cx="4880341" cy="385342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64796D81-F8E6-4D05-A8F4-D5FB997DA23A}"/>
              </a:ext>
            </a:extLst>
          </p:cNvPr>
          <p:cNvSpPr/>
          <p:nvPr/>
        </p:nvSpPr>
        <p:spPr>
          <a:xfrm>
            <a:off x="734530" y="2245432"/>
            <a:ext cx="4740354" cy="4129144"/>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频率学派</a:t>
            </a: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在频率学派中，频率是概率的经验基础，概率表示的是事件发生频率的极限值。当重复试验的次数趋近于无穷大时，事件发生的频率会收敛到真实概率，即“频率依概率收敛于概率”。</a:t>
            </a:r>
            <a:r>
              <a:rPr lang="zh-CN" altLang="en-US"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从频率学派角度而言，对模型参数优化学习的结果就是得到使观测数据发生概率最大的模型参数</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，又称为</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最大似然估计（</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maximum likelihood estimation</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MLE</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。这里的最大似然可理解为通过调整模型参数使得模型能够最大化样本情况出现的概率。</a:t>
            </a:r>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圆角 6">
            <a:extLst>
              <a:ext uri="{FF2B5EF4-FFF2-40B4-BE49-F238E27FC236}">
                <a16:creationId xmlns:a16="http://schemas.microsoft.com/office/drawing/2014/main" id="{5CB78FFC-EAC6-43DA-B0AA-62AAD97675BA}"/>
              </a:ext>
            </a:extLst>
          </p:cNvPr>
          <p:cNvSpPr/>
          <p:nvPr/>
        </p:nvSpPr>
        <p:spPr>
          <a:xfrm>
            <a:off x="6658645" y="2245432"/>
            <a:ext cx="4880341" cy="398043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33B876B9-276F-46F0-B62B-3D99F175D601}"/>
              </a:ext>
            </a:extLst>
          </p:cNvPr>
          <p:cNvSpPr/>
          <p:nvPr/>
        </p:nvSpPr>
        <p:spPr>
          <a:xfrm>
            <a:off x="6798631" y="2182028"/>
            <a:ext cx="4798825" cy="4406143"/>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贝叶斯学派</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a:p>
            <a:pPr algn="just"/>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在贝叶斯学派中，事件发生的频率既与当前观测数据有关，又与对该事件已获得的历史先验知识有关。从贝叶斯学派角度而言，对模型参数优化学习的结果就是</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似然概率（模型参数产生数据的概率）与先验概率（没有任何实验数据时对模型参数的经验判断）乘积最大</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，又称为</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最大后验估计（</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maximum a posteriori estimation, MAP</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。这里的最大后验估计可理解为最大化在给定数据样本的情况下模型参数的后验概率。</a:t>
            </a:r>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1270CA76-B07F-86A1-E15F-2DD1FD5AC6F1}"/>
              </a:ext>
            </a:extLst>
          </p:cNvPr>
          <p:cNvPicPr>
            <a:picLocks noChangeAspect="1"/>
          </p:cNvPicPr>
          <p:nvPr/>
        </p:nvPicPr>
        <p:blipFill>
          <a:blip r:embed="rId3"/>
          <a:stretch>
            <a:fillRect/>
          </a:stretch>
        </p:blipFill>
        <p:spPr>
          <a:xfrm>
            <a:off x="3402226" y="1590769"/>
            <a:ext cx="1571429" cy="333333"/>
          </a:xfrm>
          <a:prstGeom prst="rect">
            <a:avLst/>
          </a:prstGeom>
        </p:spPr>
      </p:pic>
      <p:pic>
        <p:nvPicPr>
          <p:cNvPr id="16" name="图片 15">
            <a:extLst>
              <a:ext uri="{FF2B5EF4-FFF2-40B4-BE49-F238E27FC236}">
                <a16:creationId xmlns:a16="http://schemas.microsoft.com/office/drawing/2014/main" id="{CCD6BE2B-4D88-E076-54AB-FFC366C2DA48}"/>
              </a:ext>
            </a:extLst>
          </p:cNvPr>
          <p:cNvPicPr>
            <a:picLocks noChangeAspect="1"/>
          </p:cNvPicPr>
          <p:nvPr/>
        </p:nvPicPr>
        <p:blipFill>
          <a:blip r:embed="rId4"/>
          <a:stretch>
            <a:fillRect/>
          </a:stretch>
        </p:blipFill>
        <p:spPr>
          <a:xfrm>
            <a:off x="7712202" y="1823872"/>
            <a:ext cx="2314286" cy="266667"/>
          </a:xfrm>
          <a:prstGeom prst="rect">
            <a:avLst/>
          </a:prstGeom>
        </p:spPr>
      </p:pic>
      <p:pic>
        <p:nvPicPr>
          <p:cNvPr id="7" name="图片 6">
            <a:extLst>
              <a:ext uri="{FF2B5EF4-FFF2-40B4-BE49-F238E27FC236}">
                <a16:creationId xmlns:a16="http://schemas.microsoft.com/office/drawing/2014/main" id="{DC6F285F-809E-EC6E-B7B5-4DA71C71F3EA}"/>
              </a:ext>
            </a:extLst>
          </p:cNvPr>
          <p:cNvPicPr>
            <a:picLocks noChangeAspect="1"/>
          </p:cNvPicPr>
          <p:nvPr/>
        </p:nvPicPr>
        <p:blipFill>
          <a:blip r:embed="rId5"/>
          <a:stretch>
            <a:fillRect/>
          </a:stretch>
        </p:blipFill>
        <p:spPr>
          <a:xfrm>
            <a:off x="3929587" y="1944839"/>
            <a:ext cx="1171429" cy="257143"/>
          </a:xfrm>
          <a:prstGeom prst="rect">
            <a:avLst/>
          </a:prstGeom>
        </p:spPr>
      </p:pic>
      <p:sp>
        <p:nvSpPr>
          <p:cNvPr id="8" name="箭头: 下 7">
            <a:extLst>
              <a:ext uri="{FF2B5EF4-FFF2-40B4-BE49-F238E27FC236}">
                <a16:creationId xmlns:a16="http://schemas.microsoft.com/office/drawing/2014/main" id="{57CD8CEB-8F84-F040-25E9-1A62B408B9B8}"/>
              </a:ext>
            </a:extLst>
          </p:cNvPr>
          <p:cNvSpPr/>
          <p:nvPr/>
        </p:nvSpPr>
        <p:spPr>
          <a:xfrm>
            <a:off x="3897526" y="1875991"/>
            <a:ext cx="331596" cy="912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0B1F4D94-C443-4BD5-D425-EA34BD999E02}"/>
              </a:ext>
            </a:extLst>
          </p:cNvPr>
          <p:cNvSpPr txBox="1"/>
          <p:nvPr/>
        </p:nvSpPr>
        <p:spPr>
          <a:xfrm>
            <a:off x="1085333" y="1602857"/>
            <a:ext cx="2441636" cy="646331"/>
          </a:xfrm>
          <a:prstGeom prst="rect">
            <a:avLst/>
          </a:prstGeom>
          <a:noFill/>
        </p:spPr>
        <p:txBody>
          <a:bodyPr wrap="square">
            <a:spAutoFit/>
          </a:bodyPr>
          <a:lstStyle/>
          <a:p>
            <a:r>
              <a:rPr lang="zh-CN" altLang="en-US" b="0" i="0" dirty="0">
                <a:effectLst/>
                <a:latin typeface="Inter"/>
              </a:rPr>
              <a:t>最大化似然函数：</a:t>
            </a:r>
            <a:endParaRPr lang="en-US" altLang="zh-CN" b="0" i="0" dirty="0">
              <a:effectLst/>
              <a:latin typeface="Inter"/>
            </a:endParaRPr>
          </a:p>
          <a:p>
            <a:r>
              <a:rPr lang="zh-CN" altLang="en-US" dirty="0">
                <a:latin typeface="Inter"/>
              </a:rPr>
              <a:t>最大化对数似然函数：</a:t>
            </a:r>
            <a:endParaRPr lang="zh-CN" altLang="en-US" dirty="0"/>
          </a:p>
        </p:txBody>
      </p:sp>
      <p:pic>
        <p:nvPicPr>
          <p:cNvPr id="19" name="图片 18">
            <a:extLst>
              <a:ext uri="{FF2B5EF4-FFF2-40B4-BE49-F238E27FC236}">
                <a16:creationId xmlns:a16="http://schemas.microsoft.com/office/drawing/2014/main" id="{8037D1CA-0D96-14C4-D56A-2588A1C760CE}"/>
              </a:ext>
            </a:extLst>
          </p:cNvPr>
          <p:cNvPicPr>
            <a:picLocks noChangeAspect="1"/>
          </p:cNvPicPr>
          <p:nvPr/>
        </p:nvPicPr>
        <p:blipFill>
          <a:blip r:embed="rId6"/>
          <a:stretch>
            <a:fillRect/>
          </a:stretch>
        </p:blipFill>
        <p:spPr>
          <a:xfrm>
            <a:off x="3348635" y="1986383"/>
            <a:ext cx="580952" cy="190476"/>
          </a:xfrm>
          <a:prstGeom prst="rect">
            <a:avLst/>
          </a:prstGeom>
        </p:spPr>
      </p:pic>
      <p:sp>
        <p:nvSpPr>
          <p:cNvPr id="20" name="椭圆 19">
            <a:extLst>
              <a:ext uri="{FF2B5EF4-FFF2-40B4-BE49-F238E27FC236}">
                <a16:creationId xmlns:a16="http://schemas.microsoft.com/office/drawing/2014/main" id="{AA35357F-652E-A091-32C3-64DC32BCBD6F}"/>
              </a:ext>
            </a:extLst>
          </p:cNvPr>
          <p:cNvSpPr/>
          <p:nvPr/>
        </p:nvSpPr>
        <p:spPr>
          <a:xfrm>
            <a:off x="9558993" y="1676993"/>
            <a:ext cx="467495" cy="560423"/>
          </a:xfrm>
          <a:prstGeom prst="ellipse">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6098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参数优化：频率学派与贝叶斯学派</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sp>
        <p:nvSpPr>
          <p:cNvPr id="20" name="文本框 19">
            <a:extLst>
              <a:ext uri="{FF2B5EF4-FFF2-40B4-BE49-F238E27FC236}">
                <a16:creationId xmlns:a16="http://schemas.microsoft.com/office/drawing/2014/main" id="{3AC289AF-5FDF-E4AD-8CE5-E05B7889276E}"/>
              </a:ext>
            </a:extLst>
          </p:cNvPr>
          <p:cNvSpPr txBox="1"/>
          <p:nvPr/>
        </p:nvSpPr>
        <p:spPr>
          <a:xfrm>
            <a:off x="2493014" y="1923226"/>
            <a:ext cx="1223386" cy="369332"/>
          </a:xfrm>
          <a:prstGeom prst="rect">
            <a:avLst/>
          </a:prstGeom>
          <a:noFill/>
        </p:spPr>
        <p:txBody>
          <a:bodyPr wrap="square">
            <a:spAutoFit/>
          </a:bodyPr>
          <a:lstStyle/>
          <a:p>
            <a:r>
              <a:rPr lang="zh-CN" altLang="en-US" dirty="0"/>
              <a:t>频率学派</a:t>
            </a:r>
          </a:p>
        </p:txBody>
      </p:sp>
      <p:sp>
        <p:nvSpPr>
          <p:cNvPr id="24" name="文本框 23">
            <a:extLst>
              <a:ext uri="{FF2B5EF4-FFF2-40B4-BE49-F238E27FC236}">
                <a16:creationId xmlns:a16="http://schemas.microsoft.com/office/drawing/2014/main" id="{A2D300D5-E141-B573-C292-2A3EEDE4E8A4}"/>
              </a:ext>
            </a:extLst>
          </p:cNvPr>
          <p:cNvSpPr txBox="1"/>
          <p:nvPr/>
        </p:nvSpPr>
        <p:spPr>
          <a:xfrm>
            <a:off x="8391662" y="1921438"/>
            <a:ext cx="1414305" cy="369332"/>
          </a:xfrm>
          <a:prstGeom prst="rect">
            <a:avLst/>
          </a:prstGeom>
          <a:noFill/>
        </p:spPr>
        <p:txBody>
          <a:bodyPr wrap="square">
            <a:spAutoFit/>
          </a:bodyPr>
          <a:lstStyle/>
          <a:p>
            <a:r>
              <a:rPr lang="zh-CN" altLang="en-US" dirty="0"/>
              <a:t>贝叶斯学派 </a:t>
            </a:r>
          </a:p>
        </p:txBody>
      </p:sp>
      <p:sp>
        <p:nvSpPr>
          <p:cNvPr id="26" name="文本框 25">
            <a:extLst>
              <a:ext uri="{FF2B5EF4-FFF2-40B4-BE49-F238E27FC236}">
                <a16:creationId xmlns:a16="http://schemas.microsoft.com/office/drawing/2014/main" id="{520F5376-DB39-15CD-1B4E-76A1BA2A7163}"/>
              </a:ext>
            </a:extLst>
          </p:cNvPr>
          <p:cNvSpPr txBox="1"/>
          <p:nvPr/>
        </p:nvSpPr>
        <p:spPr>
          <a:xfrm>
            <a:off x="253721" y="2256414"/>
            <a:ext cx="6094324" cy="923330"/>
          </a:xfrm>
          <a:prstGeom prst="rect">
            <a:avLst/>
          </a:prstGeom>
          <a:noFill/>
        </p:spPr>
        <p:txBody>
          <a:bodyPr wrap="square">
            <a:spAutoFit/>
          </a:bodyPr>
          <a:lstStyle/>
          <a:p>
            <a:r>
              <a:rPr lang="zh-CN" altLang="en-US" b="0" i="0" dirty="0">
                <a:effectLst/>
                <a:latin typeface="Inter"/>
              </a:rPr>
              <a:t>核心是 “</a:t>
            </a:r>
            <a:r>
              <a:rPr lang="zh-CN" altLang="en-US" b="0" i="0" dirty="0">
                <a:solidFill>
                  <a:schemeClr val="accent2"/>
                </a:solidFill>
                <a:effectLst/>
                <a:latin typeface="Inter"/>
              </a:rPr>
              <a:t>找到最可能生成当前观测数据的参数值</a:t>
            </a:r>
            <a:r>
              <a:rPr lang="zh-CN" altLang="en-US" b="0" i="0" dirty="0">
                <a:effectLst/>
                <a:latin typeface="Inter"/>
              </a:rPr>
              <a:t>”</a:t>
            </a:r>
            <a:r>
              <a:rPr lang="en-US" altLang="zh-CN" b="0" i="0" dirty="0">
                <a:effectLst/>
                <a:latin typeface="Inter"/>
              </a:rPr>
              <a:t>—— </a:t>
            </a:r>
            <a:r>
              <a:rPr lang="zh-CN" altLang="en-US" b="0" i="0" dirty="0">
                <a:effectLst/>
                <a:latin typeface="Inter"/>
              </a:rPr>
              <a:t>即通过观测数据反向推断 “使数据出现概率最大” 的模型参数，无需依赖参数的先验知识</a:t>
            </a:r>
            <a:endParaRPr lang="zh-CN" altLang="en-US" dirty="0"/>
          </a:p>
        </p:txBody>
      </p:sp>
      <p:sp>
        <p:nvSpPr>
          <p:cNvPr id="28" name="文本框 27">
            <a:extLst>
              <a:ext uri="{FF2B5EF4-FFF2-40B4-BE49-F238E27FC236}">
                <a16:creationId xmlns:a16="http://schemas.microsoft.com/office/drawing/2014/main" id="{617F00DB-3197-10D4-B3AD-FDFFFCD802D7}"/>
              </a:ext>
            </a:extLst>
          </p:cNvPr>
          <p:cNvSpPr txBox="1"/>
          <p:nvPr/>
        </p:nvSpPr>
        <p:spPr>
          <a:xfrm>
            <a:off x="253722" y="3203493"/>
            <a:ext cx="6094324" cy="3416320"/>
          </a:xfrm>
          <a:prstGeom prst="rect">
            <a:avLst/>
          </a:prstGeom>
          <a:noFill/>
        </p:spPr>
        <p:txBody>
          <a:bodyPr wrap="square">
            <a:spAutoFit/>
          </a:bodyPr>
          <a:lstStyle/>
          <a:p>
            <a:pPr algn="l"/>
            <a:r>
              <a:rPr lang="zh-CN" altLang="en-US" sz="1200" b="1" i="0" dirty="0">
                <a:solidFill>
                  <a:srgbClr val="000000"/>
                </a:solidFill>
                <a:effectLst/>
                <a:latin typeface="Inter"/>
              </a:rPr>
              <a:t>一、核心思想：“数据是结果，参数是原因”</a:t>
            </a:r>
          </a:p>
          <a:p>
            <a:pPr algn="l"/>
            <a:r>
              <a:rPr lang="en-US" altLang="zh-CN" sz="1200" b="0" i="0" dirty="0">
                <a:solidFill>
                  <a:srgbClr val="000000"/>
                </a:solidFill>
                <a:effectLst/>
                <a:latin typeface="Inter"/>
              </a:rPr>
              <a:t>MLE </a:t>
            </a:r>
            <a:r>
              <a:rPr lang="zh-CN" altLang="en-US" sz="1200" b="0" i="0" dirty="0">
                <a:solidFill>
                  <a:srgbClr val="000000"/>
                </a:solidFill>
                <a:effectLst/>
                <a:latin typeface="Inter"/>
              </a:rPr>
              <a:t>的本质是基于 “概率反向推理”：假设我们已经观测到一组数据 </a:t>
            </a:r>
            <a:r>
              <a:rPr lang="en-US" altLang="zh-CN" sz="1200" b="0" i="1" dirty="0">
                <a:solidFill>
                  <a:srgbClr val="000000"/>
                </a:solidFill>
                <a:effectLst/>
                <a:latin typeface="KaTeX_Math"/>
              </a:rPr>
              <a:t>D</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x</a:t>
            </a:r>
            <a:r>
              <a:rPr lang="en-US" altLang="zh-CN" sz="1200" b="0" i="0" dirty="0">
                <a:solidFill>
                  <a:srgbClr val="000000"/>
                </a:solidFill>
                <a:effectLst/>
                <a:latin typeface="KaTeX_Main"/>
              </a:rPr>
              <a:t>1​,</a:t>
            </a:r>
            <a:r>
              <a:rPr lang="en-US" altLang="zh-CN" sz="1200" b="0" i="1" dirty="0">
                <a:solidFill>
                  <a:srgbClr val="000000"/>
                </a:solidFill>
                <a:effectLst/>
                <a:latin typeface="KaTeX_Math"/>
              </a:rPr>
              <a:t>x</a:t>
            </a:r>
            <a:r>
              <a:rPr lang="en-US" altLang="zh-CN" sz="1200" b="0" i="0" dirty="0">
                <a:solidFill>
                  <a:srgbClr val="000000"/>
                </a:solidFill>
                <a:effectLst/>
                <a:latin typeface="KaTeX_Main"/>
              </a:rPr>
              <a:t>2​,...,</a:t>
            </a:r>
            <a:r>
              <a:rPr lang="en-US" altLang="zh-CN" sz="1200" b="0" i="1" dirty="0" err="1">
                <a:solidFill>
                  <a:srgbClr val="000000"/>
                </a:solidFill>
                <a:effectLst/>
                <a:latin typeface="KaTeX_Math"/>
              </a:rPr>
              <a:t>xn</a:t>
            </a:r>
            <a:r>
              <a:rPr lang="zh-CN" altLang="en-US" sz="1200" b="0" i="0" dirty="0">
                <a:solidFill>
                  <a:srgbClr val="000000"/>
                </a:solidFill>
                <a:effectLst/>
                <a:latin typeface="KaTeX_Main"/>
              </a:rPr>
              <a:t>​</a:t>
            </a:r>
            <a:r>
              <a:rPr lang="en-US" altLang="zh-CN" sz="1200" b="0" i="0" dirty="0">
                <a:solidFill>
                  <a:srgbClr val="000000"/>
                </a:solidFill>
                <a:effectLst/>
                <a:latin typeface="KaTeX_Main"/>
              </a:rPr>
              <a:t>}</a:t>
            </a:r>
            <a:r>
              <a:rPr lang="zh-CN" altLang="en-US" sz="1200" b="0" i="0" dirty="0">
                <a:solidFill>
                  <a:srgbClr val="000000"/>
                </a:solidFill>
                <a:effectLst/>
                <a:latin typeface="Inter"/>
              </a:rPr>
              <a:t>，且数据服从某个已知形式的概率分布（如正态分布、二项分布），但分布的参数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（如正态分布的均值 </a:t>
            </a:r>
            <a:r>
              <a:rPr lang="en-US" altLang="zh-CN" sz="1200" b="0" i="1" dirty="0">
                <a:solidFill>
                  <a:srgbClr val="000000"/>
                </a:solidFill>
                <a:effectLst/>
                <a:latin typeface="KaTeX_Math"/>
              </a:rPr>
              <a:t>μ</a:t>
            </a:r>
            <a:r>
              <a:rPr lang="zh-CN" altLang="en-US" sz="1200" b="0" i="0" dirty="0">
                <a:solidFill>
                  <a:srgbClr val="000000"/>
                </a:solidFill>
                <a:effectLst/>
                <a:latin typeface="Inter"/>
              </a:rPr>
              <a:t> 和方差 </a:t>
            </a:r>
            <a:r>
              <a:rPr lang="en-US" altLang="zh-CN" sz="1200" b="0" i="1" dirty="0">
                <a:solidFill>
                  <a:srgbClr val="000000"/>
                </a:solidFill>
                <a:effectLst/>
                <a:latin typeface="KaTeX_Math"/>
              </a:rPr>
              <a:t>σ</a:t>
            </a:r>
            <a:r>
              <a:rPr lang="en-US" altLang="zh-CN" sz="1200" b="0" i="0" dirty="0">
                <a:solidFill>
                  <a:srgbClr val="000000"/>
                </a:solidFill>
                <a:effectLst/>
                <a:latin typeface="KaTeX_Main"/>
              </a:rPr>
              <a:t>2</a:t>
            </a:r>
            <a:r>
              <a:rPr lang="zh-CN" altLang="en-US" sz="1200" b="0" i="0" dirty="0">
                <a:solidFill>
                  <a:srgbClr val="000000"/>
                </a:solidFill>
                <a:effectLst/>
                <a:latin typeface="Inter"/>
              </a:rPr>
              <a:t>）未知。</a:t>
            </a:r>
          </a:p>
          <a:p>
            <a:pPr algn="l"/>
            <a:r>
              <a:rPr lang="en-US" altLang="zh-CN" sz="1200" b="0" i="0" dirty="0">
                <a:solidFill>
                  <a:srgbClr val="000000"/>
                </a:solidFill>
                <a:effectLst/>
                <a:latin typeface="Inter"/>
              </a:rPr>
              <a:t>MLE </a:t>
            </a:r>
            <a:r>
              <a:rPr lang="zh-CN" altLang="en-US" sz="1200" b="0" i="0" dirty="0">
                <a:solidFill>
                  <a:srgbClr val="000000"/>
                </a:solidFill>
                <a:effectLst/>
                <a:latin typeface="Inter"/>
              </a:rPr>
              <a:t>的目标是：找到参数 </a:t>
            </a:r>
            <a:r>
              <a:rPr lang="en-US" altLang="zh-CN" sz="1200" b="0" i="1" dirty="0" err="1">
                <a:solidFill>
                  <a:srgbClr val="000000"/>
                </a:solidFill>
                <a:effectLst/>
                <a:latin typeface="KaTeX_Math"/>
              </a:rPr>
              <a:t>θ</a:t>
            </a:r>
            <a:r>
              <a:rPr lang="en-US" altLang="zh-CN" sz="1200" b="0" i="0" dirty="0" err="1">
                <a:solidFill>
                  <a:srgbClr val="000000"/>
                </a:solidFill>
                <a:effectLst/>
                <a:latin typeface="KaTeX_Main"/>
              </a:rPr>
              <a:t>^MLE</a:t>
            </a:r>
            <a:r>
              <a:rPr lang="en-US" altLang="zh-CN" sz="1200" b="0" i="0" dirty="0">
                <a:solidFill>
                  <a:srgbClr val="000000"/>
                </a:solidFill>
                <a:effectLst/>
                <a:latin typeface="KaTeX_Main"/>
              </a:rPr>
              <a:t>​</a:t>
            </a:r>
            <a:r>
              <a:rPr lang="zh-CN" altLang="en-US" sz="1200" b="0" i="0" dirty="0">
                <a:solidFill>
                  <a:srgbClr val="000000"/>
                </a:solidFill>
                <a:effectLst/>
                <a:latin typeface="Inter"/>
              </a:rPr>
              <a:t>，使得 “在该参数下，观测到当前数据 </a:t>
            </a:r>
            <a:r>
              <a:rPr lang="en-US" altLang="zh-CN" sz="1200" b="0" i="1" dirty="0">
                <a:solidFill>
                  <a:srgbClr val="000000"/>
                </a:solidFill>
                <a:effectLst/>
                <a:latin typeface="KaTeX_Math"/>
              </a:rPr>
              <a:t>D</a:t>
            </a:r>
            <a:r>
              <a:rPr lang="zh-CN" altLang="en-US" sz="1200" b="0" i="0" dirty="0">
                <a:solidFill>
                  <a:srgbClr val="000000"/>
                </a:solidFill>
                <a:effectLst/>
                <a:latin typeface="Inter"/>
              </a:rPr>
              <a:t> 的概率（即似然）达到最大”。</a:t>
            </a:r>
          </a:p>
          <a:p>
            <a:pPr algn="l"/>
            <a:r>
              <a:rPr lang="zh-CN" altLang="en-US" sz="1200" b="0" i="0" dirty="0">
                <a:solidFill>
                  <a:srgbClr val="000000"/>
                </a:solidFill>
                <a:effectLst/>
                <a:latin typeface="Inter"/>
              </a:rPr>
              <a:t>通俗理解：“既然这组数据已经发生了，那生成它的参数大概率是让它‘最容易发生’的那个”。</a:t>
            </a:r>
          </a:p>
          <a:p>
            <a:pPr algn="l"/>
            <a:r>
              <a:rPr lang="zh-CN" altLang="en-US" sz="1200" b="1" i="0" dirty="0">
                <a:solidFill>
                  <a:srgbClr val="000000"/>
                </a:solidFill>
                <a:effectLst/>
                <a:latin typeface="Inter"/>
              </a:rPr>
              <a:t>二、关键概念：似然函数（</a:t>
            </a:r>
            <a:r>
              <a:rPr lang="en-US" altLang="zh-CN" sz="1200" b="1" i="0" dirty="0">
                <a:solidFill>
                  <a:srgbClr val="000000"/>
                </a:solidFill>
                <a:effectLst/>
                <a:latin typeface="Inter"/>
              </a:rPr>
              <a:t>Likelihood Function</a:t>
            </a:r>
            <a:r>
              <a:rPr lang="zh-CN" altLang="en-US" sz="1200" b="1" i="0" dirty="0">
                <a:solidFill>
                  <a:srgbClr val="000000"/>
                </a:solidFill>
                <a:effectLst/>
                <a:latin typeface="Inter"/>
              </a:rPr>
              <a:t>）</a:t>
            </a:r>
          </a:p>
          <a:p>
            <a:pPr algn="l"/>
            <a:r>
              <a:rPr lang="zh-CN" altLang="en-US" sz="1200" b="0" i="0" dirty="0">
                <a:solidFill>
                  <a:srgbClr val="000000"/>
                </a:solidFill>
                <a:effectLst/>
                <a:latin typeface="Inter"/>
              </a:rPr>
              <a:t>要理解 </a:t>
            </a:r>
            <a:r>
              <a:rPr lang="en-US" altLang="zh-CN" sz="1200" b="0" i="0" dirty="0">
                <a:solidFill>
                  <a:srgbClr val="000000"/>
                </a:solidFill>
                <a:effectLst/>
                <a:latin typeface="Inter"/>
              </a:rPr>
              <a:t>MLE</a:t>
            </a:r>
            <a:r>
              <a:rPr lang="zh-CN" altLang="en-US" sz="1200" b="0" i="0" dirty="0">
                <a:solidFill>
                  <a:srgbClr val="000000"/>
                </a:solidFill>
                <a:effectLst/>
                <a:latin typeface="Inter"/>
              </a:rPr>
              <a:t>，首先需区分 “概率” 和 “似然”：</a:t>
            </a:r>
          </a:p>
          <a:p>
            <a:pPr algn="l">
              <a:buFont typeface="Arial" panose="020B0604020202020204" pitchFamily="34" charset="0"/>
              <a:buChar char="•"/>
            </a:pPr>
            <a:r>
              <a:rPr lang="zh-CN" altLang="en-US" sz="1200" b="1" i="0" dirty="0">
                <a:solidFill>
                  <a:srgbClr val="000000"/>
                </a:solidFill>
                <a:effectLst/>
                <a:latin typeface="Inter"/>
              </a:rPr>
              <a:t>概率 </a:t>
            </a:r>
            <a:r>
              <a:rPr lang="en-US" altLang="zh-CN" sz="1200" b="1" i="1" dirty="0">
                <a:solidFill>
                  <a:srgbClr val="000000"/>
                </a:solidFill>
                <a:effectLst/>
                <a:latin typeface="KaTeX_Math"/>
              </a:rPr>
              <a:t>P</a:t>
            </a:r>
            <a:r>
              <a:rPr lang="en-US" altLang="zh-CN" sz="1200" b="1" i="0" dirty="0">
                <a:solidFill>
                  <a:srgbClr val="000000"/>
                </a:solidFill>
                <a:effectLst/>
                <a:latin typeface="KaTeX_Main"/>
              </a:rPr>
              <a:t>(</a:t>
            </a:r>
            <a:r>
              <a:rPr lang="en-US" altLang="zh-CN" sz="1200" b="1" i="1" dirty="0">
                <a:solidFill>
                  <a:srgbClr val="000000"/>
                </a:solidFill>
                <a:effectLst/>
                <a:latin typeface="KaTeX_Math"/>
              </a:rPr>
              <a:t>D</a:t>
            </a:r>
            <a:r>
              <a:rPr lang="zh-CN" altLang="en-US" sz="1200" b="1" i="0" dirty="0">
                <a:solidFill>
                  <a:srgbClr val="000000"/>
                </a:solidFill>
                <a:effectLst/>
                <a:latin typeface="KaTeX_Main"/>
              </a:rPr>
              <a:t>∣</a:t>
            </a:r>
            <a:r>
              <a:rPr lang="en-US" altLang="zh-CN" sz="1200" b="1" i="1" dirty="0">
                <a:solidFill>
                  <a:srgbClr val="000000"/>
                </a:solidFill>
                <a:effectLst/>
                <a:latin typeface="KaTeX_Math"/>
              </a:rPr>
              <a:t>θ</a:t>
            </a:r>
            <a:r>
              <a:rPr lang="en-US" altLang="zh-CN" sz="1200" b="1" i="0" dirty="0">
                <a:solidFill>
                  <a:srgbClr val="000000"/>
                </a:solidFill>
                <a:effectLst/>
                <a:latin typeface="KaTeX_Main"/>
              </a:rPr>
              <a:t>)</a:t>
            </a:r>
            <a:r>
              <a:rPr lang="zh-CN" altLang="en-US" sz="1200" b="0" i="0" dirty="0">
                <a:solidFill>
                  <a:srgbClr val="000000"/>
                </a:solidFill>
                <a:effectLst/>
                <a:latin typeface="Inter"/>
              </a:rPr>
              <a:t>：参数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已知时，观测到数据 </a:t>
            </a:r>
            <a:r>
              <a:rPr lang="en-US" altLang="zh-CN" sz="1200" b="0" i="1" dirty="0">
                <a:solidFill>
                  <a:srgbClr val="000000"/>
                </a:solidFill>
                <a:effectLst/>
                <a:latin typeface="KaTeX_Math"/>
              </a:rPr>
              <a:t>D</a:t>
            </a:r>
            <a:r>
              <a:rPr lang="zh-CN" altLang="en-US" sz="1200" b="0" i="0" dirty="0">
                <a:solidFill>
                  <a:srgbClr val="000000"/>
                </a:solidFill>
                <a:effectLst/>
                <a:latin typeface="Inter"/>
              </a:rPr>
              <a:t> 的可能性（描述 “参数→数据” 的正向概率）；</a:t>
            </a:r>
          </a:p>
          <a:p>
            <a:pPr algn="l">
              <a:buFont typeface="Arial" panose="020B0604020202020204" pitchFamily="34" charset="0"/>
              <a:buChar char="•"/>
            </a:pPr>
            <a:r>
              <a:rPr lang="zh-CN" altLang="en-US" sz="1200" b="1" i="0" dirty="0">
                <a:solidFill>
                  <a:srgbClr val="000000"/>
                </a:solidFill>
                <a:effectLst/>
                <a:latin typeface="Inter"/>
              </a:rPr>
              <a:t>似然 </a:t>
            </a:r>
            <a:r>
              <a:rPr lang="en-US" altLang="zh-CN" sz="1200" b="1" i="1" dirty="0">
                <a:solidFill>
                  <a:srgbClr val="000000"/>
                </a:solidFill>
                <a:effectLst/>
                <a:latin typeface="KaTeX_Math"/>
              </a:rPr>
              <a:t>L</a:t>
            </a:r>
            <a:r>
              <a:rPr lang="en-US" altLang="zh-CN" sz="1200" b="1" i="0" dirty="0">
                <a:solidFill>
                  <a:srgbClr val="000000"/>
                </a:solidFill>
                <a:effectLst/>
                <a:latin typeface="KaTeX_Main"/>
              </a:rPr>
              <a:t>(</a:t>
            </a:r>
            <a:r>
              <a:rPr lang="en-US" altLang="zh-CN" sz="1200" b="1" i="1" dirty="0">
                <a:solidFill>
                  <a:srgbClr val="000000"/>
                </a:solidFill>
                <a:effectLst/>
                <a:latin typeface="KaTeX_Math"/>
              </a:rPr>
              <a:t>θ</a:t>
            </a:r>
            <a:r>
              <a:rPr lang="zh-CN" altLang="en-US" sz="1200" b="1" i="0" dirty="0">
                <a:solidFill>
                  <a:srgbClr val="000000"/>
                </a:solidFill>
                <a:effectLst/>
                <a:latin typeface="KaTeX_Main"/>
              </a:rPr>
              <a:t>∣</a:t>
            </a:r>
            <a:r>
              <a:rPr lang="en-US" altLang="zh-CN" sz="1200" b="1" i="1" dirty="0">
                <a:solidFill>
                  <a:srgbClr val="000000"/>
                </a:solidFill>
                <a:effectLst/>
                <a:latin typeface="KaTeX_Math"/>
              </a:rPr>
              <a:t>D</a:t>
            </a:r>
            <a:r>
              <a:rPr lang="en-US" altLang="zh-CN" sz="1200" b="1" i="0" dirty="0">
                <a:solidFill>
                  <a:srgbClr val="000000"/>
                </a:solidFill>
                <a:effectLst/>
                <a:latin typeface="KaTeX_Main"/>
              </a:rPr>
              <a:t>)</a:t>
            </a:r>
            <a:r>
              <a:rPr lang="zh-CN" altLang="en-US" sz="1200" b="0" i="0" dirty="0">
                <a:solidFill>
                  <a:srgbClr val="000000"/>
                </a:solidFill>
                <a:effectLst/>
                <a:latin typeface="Inter"/>
              </a:rPr>
              <a:t>：数据 </a:t>
            </a:r>
            <a:r>
              <a:rPr lang="en-US" altLang="zh-CN" sz="1200" b="0" i="1" dirty="0">
                <a:solidFill>
                  <a:srgbClr val="000000"/>
                </a:solidFill>
                <a:effectLst/>
                <a:latin typeface="KaTeX_Math"/>
              </a:rPr>
              <a:t>D</a:t>
            </a:r>
            <a:r>
              <a:rPr lang="zh-CN" altLang="en-US" sz="1200" b="0" i="0" dirty="0">
                <a:solidFill>
                  <a:srgbClr val="000000"/>
                </a:solidFill>
                <a:effectLst/>
                <a:latin typeface="Inter"/>
              </a:rPr>
              <a:t> 已知时，参数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取某个值的可能性（描述 “数据→参数” 的反向推断，本质是 “以参数为变量的概率函数”）。</a:t>
            </a:r>
          </a:p>
          <a:p>
            <a:pPr algn="l"/>
            <a:r>
              <a:rPr lang="zh-CN" altLang="en-US" sz="1200" b="0" i="0" dirty="0">
                <a:solidFill>
                  <a:srgbClr val="000000"/>
                </a:solidFill>
                <a:effectLst/>
                <a:latin typeface="Inter"/>
              </a:rPr>
              <a:t>在数学上，似然函数与概率函数的表达式相同，但变量不同 </a:t>
            </a:r>
            <a:r>
              <a:rPr lang="en-US" altLang="zh-CN" sz="1200" b="0" i="0" dirty="0">
                <a:solidFill>
                  <a:srgbClr val="000000"/>
                </a:solidFill>
                <a:effectLst/>
                <a:latin typeface="Inter"/>
              </a:rPr>
              <a:t>—— </a:t>
            </a:r>
            <a:r>
              <a:rPr lang="zh-CN" altLang="en-US" sz="1200" b="0" i="0" dirty="0">
                <a:solidFill>
                  <a:srgbClr val="000000"/>
                </a:solidFill>
                <a:effectLst/>
                <a:latin typeface="Inter"/>
              </a:rPr>
              <a:t>似然函数可定义为：</a:t>
            </a:r>
            <a:r>
              <a:rPr lang="en-US" altLang="zh-CN" sz="1200" b="0" i="1" dirty="0">
                <a:solidFill>
                  <a:srgbClr val="000000"/>
                </a:solidFill>
                <a:effectLst/>
                <a:latin typeface="KaTeX_Math"/>
              </a:rPr>
              <a:t>L</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θ</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D</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D</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θ</a:t>
            </a:r>
            <a:r>
              <a:rPr lang="en-US" altLang="zh-CN" sz="1200" b="0" i="0" dirty="0">
                <a:solidFill>
                  <a:srgbClr val="000000"/>
                </a:solidFill>
                <a:effectLst/>
                <a:latin typeface="KaTeX_Main"/>
              </a:rPr>
              <a:t>)</a:t>
            </a:r>
            <a:endParaRPr lang="zh-CN" altLang="en-US" sz="1200" b="0" i="0" dirty="0">
              <a:solidFill>
                <a:srgbClr val="000000"/>
              </a:solidFill>
              <a:effectLst/>
              <a:latin typeface="Inter"/>
            </a:endParaRPr>
          </a:p>
          <a:p>
            <a:pPr algn="l"/>
            <a:r>
              <a:rPr lang="zh-CN" altLang="en-US" sz="1200" b="0" i="0" dirty="0">
                <a:solidFill>
                  <a:srgbClr val="000000"/>
                </a:solidFill>
                <a:effectLst/>
                <a:latin typeface="Inter"/>
              </a:rPr>
              <a:t>若数据 </a:t>
            </a:r>
            <a:r>
              <a:rPr lang="en-US" altLang="zh-CN" sz="1200" b="0" i="1" dirty="0">
                <a:solidFill>
                  <a:srgbClr val="000000"/>
                </a:solidFill>
                <a:effectLst/>
                <a:latin typeface="KaTeX_Math"/>
              </a:rPr>
              <a:t>x</a:t>
            </a:r>
            <a:r>
              <a:rPr lang="en-US" altLang="zh-CN" sz="1200" b="0" i="0" dirty="0">
                <a:solidFill>
                  <a:srgbClr val="000000"/>
                </a:solidFill>
                <a:effectLst/>
                <a:latin typeface="KaTeX_Main"/>
              </a:rPr>
              <a:t>1​,</a:t>
            </a:r>
            <a:r>
              <a:rPr lang="en-US" altLang="zh-CN" sz="1200" b="0" i="1" dirty="0">
                <a:solidFill>
                  <a:srgbClr val="000000"/>
                </a:solidFill>
                <a:effectLst/>
                <a:latin typeface="KaTeX_Math"/>
              </a:rPr>
              <a:t>x</a:t>
            </a:r>
            <a:r>
              <a:rPr lang="en-US" altLang="zh-CN" sz="1200" b="0" i="0" dirty="0">
                <a:solidFill>
                  <a:srgbClr val="000000"/>
                </a:solidFill>
                <a:effectLst/>
                <a:latin typeface="KaTeX_Main"/>
              </a:rPr>
              <a:t>2​,...,</a:t>
            </a:r>
            <a:r>
              <a:rPr lang="en-US" altLang="zh-CN" sz="1200" b="0" i="1" dirty="0" err="1">
                <a:solidFill>
                  <a:srgbClr val="000000"/>
                </a:solidFill>
                <a:effectLst/>
                <a:latin typeface="KaTeX_Math"/>
              </a:rPr>
              <a:t>xn</a:t>
            </a:r>
            <a:r>
              <a:rPr lang="zh-CN" altLang="en-US" sz="1200" b="0" i="0" dirty="0">
                <a:solidFill>
                  <a:srgbClr val="000000"/>
                </a:solidFill>
                <a:effectLst/>
                <a:latin typeface="KaTeX_Main"/>
              </a:rPr>
              <a:t>​</a:t>
            </a:r>
            <a:r>
              <a:rPr lang="zh-CN" altLang="en-US" sz="1200" b="0" i="0" dirty="0">
                <a:solidFill>
                  <a:srgbClr val="000000"/>
                </a:solidFill>
                <a:effectLst/>
                <a:latin typeface="Inter"/>
              </a:rPr>
              <a:t> 相互独立（</a:t>
            </a:r>
            <a:r>
              <a:rPr lang="en-US" altLang="zh-CN" sz="1200" b="0" i="0" dirty="0">
                <a:solidFill>
                  <a:srgbClr val="000000"/>
                </a:solidFill>
                <a:effectLst/>
                <a:latin typeface="Inter"/>
              </a:rPr>
              <a:t>MLE </a:t>
            </a:r>
            <a:r>
              <a:rPr lang="zh-CN" altLang="en-US" sz="1200" b="0" i="0" dirty="0">
                <a:solidFill>
                  <a:srgbClr val="000000"/>
                </a:solidFill>
                <a:effectLst/>
                <a:latin typeface="Inter"/>
              </a:rPr>
              <a:t>的常见前提），则似然函数可拆分为各样本概率的乘积：</a:t>
            </a:r>
            <a:r>
              <a:rPr lang="en-US" altLang="zh-CN" sz="1200" b="0" i="1" dirty="0">
                <a:solidFill>
                  <a:srgbClr val="000000"/>
                </a:solidFill>
                <a:effectLst/>
                <a:latin typeface="KaTeX_Math"/>
              </a:rPr>
              <a:t>L</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θ</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D</a:t>
            </a:r>
            <a:r>
              <a:rPr lang="en-US" altLang="zh-CN" sz="1200" b="0" i="0" dirty="0">
                <a:solidFill>
                  <a:srgbClr val="000000"/>
                </a:solidFill>
                <a:effectLst/>
                <a:latin typeface="KaTeX_Main"/>
              </a:rPr>
              <a:t>)=</a:t>
            </a:r>
            <a:r>
              <a:rPr lang="zh-CN" altLang="en-US" sz="1200" b="0" i="0" dirty="0">
                <a:solidFill>
                  <a:srgbClr val="000000"/>
                </a:solidFill>
                <a:effectLst/>
                <a:latin typeface="KaTeX_Size1"/>
              </a:rPr>
              <a:t>∏</a:t>
            </a:r>
            <a:r>
              <a:rPr lang="en-US" altLang="zh-CN" sz="1200" b="0" i="1" dirty="0" err="1">
                <a:solidFill>
                  <a:srgbClr val="000000"/>
                </a:solidFill>
                <a:effectLst/>
                <a:latin typeface="KaTeX_Math"/>
              </a:rPr>
              <a:t>i</a:t>
            </a:r>
            <a:r>
              <a:rPr lang="en-US" altLang="zh-CN" sz="1200" b="0" i="0" dirty="0">
                <a:solidFill>
                  <a:srgbClr val="000000"/>
                </a:solidFill>
                <a:effectLst/>
                <a:latin typeface="KaTeX_Main"/>
              </a:rPr>
              <a:t>=1</a:t>
            </a:r>
            <a:r>
              <a:rPr lang="en-US" altLang="zh-CN" sz="1200" b="0" i="1" dirty="0">
                <a:solidFill>
                  <a:srgbClr val="000000"/>
                </a:solidFill>
                <a:effectLst/>
                <a:latin typeface="KaTeX_Math"/>
              </a:rPr>
              <a:t>n</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xi</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θ</a:t>
            </a:r>
            <a:r>
              <a:rPr lang="en-US" altLang="zh-CN" sz="1200" b="0" i="0" dirty="0">
                <a:solidFill>
                  <a:srgbClr val="000000"/>
                </a:solidFill>
                <a:effectLst/>
                <a:latin typeface="KaTeX_Main"/>
              </a:rPr>
              <a:t>)</a:t>
            </a:r>
            <a:endParaRPr lang="zh-CN" altLang="en-US" sz="1200" b="0" i="0" dirty="0">
              <a:solidFill>
                <a:srgbClr val="000000"/>
              </a:solidFill>
              <a:effectLst/>
              <a:latin typeface="Inter"/>
            </a:endParaRPr>
          </a:p>
        </p:txBody>
      </p:sp>
      <p:sp>
        <p:nvSpPr>
          <p:cNvPr id="30" name="文本框 29">
            <a:extLst>
              <a:ext uri="{FF2B5EF4-FFF2-40B4-BE49-F238E27FC236}">
                <a16:creationId xmlns:a16="http://schemas.microsoft.com/office/drawing/2014/main" id="{A58FC779-4765-0E41-1E8A-833D7A18C900}"/>
              </a:ext>
            </a:extLst>
          </p:cNvPr>
          <p:cNvSpPr txBox="1"/>
          <p:nvPr/>
        </p:nvSpPr>
        <p:spPr>
          <a:xfrm>
            <a:off x="6348045" y="2256414"/>
            <a:ext cx="6094324" cy="923330"/>
          </a:xfrm>
          <a:prstGeom prst="rect">
            <a:avLst/>
          </a:prstGeom>
          <a:noFill/>
        </p:spPr>
        <p:txBody>
          <a:bodyPr wrap="square">
            <a:spAutoFit/>
          </a:bodyPr>
          <a:lstStyle/>
          <a:p>
            <a:r>
              <a:rPr lang="zh-CN" altLang="en-US" b="0" i="0" dirty="0">
                <a:effectLst/>
                <a:latin typeface="Inter"/>
              </a:rPr>
              <a:t>核心是 “</a:t>
            </a:r>
            <a:r>
              <a:rPr lang="zh-CN" altLang="en-US" b="0" i="0" dirty="0">
                <a:solidFill>
                  <a:schemeClr val="accent2"/>
                </a:solidFill>
                <a:effectLst/>
                <a:latin typeface="Inter"/>
              </a:rPr>
              <a:t>结合先验知识和观测数据，推断最可能的参数值</a:t>
            </a:r>
            <a:r>
              <a:rPr lang="zh-CN" altLang="en-US" b="0" i="0" dirty="0">
                <a:effectLst/>
                <a:latin typeface="Inter"/>
              </a:rPr>
              <a:t>”，本质是贝叶斯定理在参数估计中的直接应用，与 “仅依赖观测数据” 的最大似然估计（</a:t>
            </a:r>
            <a:r>
              <a:rPr lang="en-US" altLang="zh-CN" b="0" i="0" dirty="0">
                <a:effectLst/>
                <a:latin typeface="Inter"/>
              </a:rPr>
              <a:t>MLE</a:t>
            </a:r>
            <a:r>
              <a:rPr lang="zh-CN" altLang="en-US" b="0" i="0" dirty="0">
                <a:effectLst/>
                <a:latin typeface="Inter"/>
              </a:rPr>
              <a:t>）形成互补。</a:t>
            </a:r>
            <a:endParaRPr lang="zh-CN" altLang="en-US" dirty="0"/>
          </a:p>
        </p:txBody>
      </p:sp>
      <p:sp>
        <p:nvSpPr>
          <p:cNvPr id="32" name="文本框 31">
            <a:extLst>
              <a:ext uri="{FF2B5EF4-FFF2-40B4-BE49-F238E27FC236}">
                <a16:creationId xmlns:a16="http://schemas.microsoft.com/office/drawing/2014/main" id="{863376BF-C148-F4CA-B587-DE5C379FDD46}"/>
              </a:ext>
            </a:extLst>
          </p:cNvPr>
          <p:cNvSpPr txBox="1"/>
          <p:nvPr/>
        </p:nvSpPr>
        <p:spPr>
          <a:xfrm>
            <a:off x="6348045" y="3294982"/>
            <a:ext cx="5669784" cy="2862322"/>
          </a:xfrm>
          <a:prstGeom prst="rect">
            <a:avLst/>
          </a:prstGeom>
          <a:noFill/>
        </p:spPr>
        <p:txBody>
          <a:bodyPr wrap="square">
            <a:spAutoFit/>
          </a:bodyPr>
          <a:lstStyle/>
          <a:p>
            <a:pPr algn="l"/>
            <a:r>
              <a:rPr lang="zh-CN" altLang="en-US" sz="1200" b="1" i="0" dirty="0">
                <a:solidFill>
                  <a:srgbClr val="000000"/>
                </a:solidFill>
                <a:effectLst/>
                <a:latin typeface="Inter"/>
              </a:rPr>
              <a:t>一、核心逻辑：从 “贝叶斯定理” 出发</a:t>
            </a:r>
          </a:p>
          <a:p>
            <a:pPr algn="l"/>
            <a:r>
              <a:rPr lang="en-US" altLang="zh-CN" sz="1200" b="0" i="0" dirty="0">
                <a:solidFill>
                  <a:srgbClr val="000000"/>
                </a:solidFill>
                <a:effectLst/>
                <a:latin typeface="Inter"/>
              </a:rPr>
              <a:t>MAP </a:t>
            </a:r>
            <a:r>
              <a:rPr lang="zh-CN" altLang="en-US" sz="1200" b="0" i="0" dirty="0">
                <a:solidFill>
                  <a:srgbClr val="000000"/>
                </a:solidFill>
                <a:effectLst/>
                <a:latin typeface="Inter"/>
              </a:rPr>
              <a:t>估计的理论基础是</a:t>
            </a:r>
            <a:r>
              <a:rPr lang="zh-CN" altLang="en-US" sz="1200" b="1" i="0" dirty="0">
                <a:solidFill>
                  <a:srgbClr val="000000"/>
                </a:solidFill>
                <a:effectLst/>
                <a:latin typeface="Inter"/>
              </a:rPr>
              <a:t>贝叶斯定理</a:t>
            </a:r>
            <a:r>
              <a:rPr lang="zh-CN" altLang="en-US" sz="1200" b="0" i="0" dirty="0">
                <a:solidFill>
                  <a:srgbClr val="000000"/>
                </a:solidFill>
                <a:effectLst/>
                <a:latin typeface="Inter"/>
              </a:rPr>
              <a:t>，其核心思想是：对未知参数的估计，不仅要考虑 “观测数据对参数的支持程度”（似然），还要融入 “参数本身的先验分布”（即我们对参数的已有认知），最终找到 “后验概率最大” 的参数值。</a:t>
            </a:r>
          </a:p>
          <a:p>
            <a:pPr algn="l"/>
            <a:r>
              <a:rPr lang="zh-CN" altLang="en-US" sz="1200" b="0" i="0" dirty="0">
                <a:solidFill>
                  <a:srgbClr val="000000"/>
                </a:solidFill>
                <a:effectLst/>
                <a:latin typeface="Inter"/>
              </a:rPr>
              <a:t>首先明确贝叶斯定理的核心公式，对于未知参数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和观测数据 </a:t>
            </a:r>
            <a:r>
              <a:rPr lang="en-US" altLang="zh-CN" sz="1200" b="0" i="1" dirty="0">
                <a:solidFill>
                  <a:srgbClr val="000000"/>
                </a:solidFill>
                <a:effectLst/>
                <a:latin typeface="KaTeX_Math"/>
              </a:rPr>
              <a:t>D</a:t>
            </a:r>
            <a:r>
              <a:rPr lang="zh-CN" altLang="en-US" sz="1200" b="0" i="0" dirty="0">
                <a:solidFill>
                  <a:srgbClr val="000000"/>
                </a:solidFill>
                <a:effectLst/>
                <a:latin typeface="Inter"/>
              </a:rPr>
              <a:t>：</a:t>
            </a: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θ</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D</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D</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θ</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θ</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 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D</a:t>
            </a:r>
            <a:r>
              <a:rPr lang="en-US" altLang="zh-CN" sz="1200" b="0" i="0" dirty="0">
                <a:solidFill>
                  <a:srgbClr val="000000"/>
                </a:solidFill>
                <a:effectLst/>
                <a:latin typeface="KaTeX_Main"/>
              </a:rPr>
              <a:t>)</a:t>
            </a:r>
            <a:endParaRPr lang="zh-CN" altLang="en-US" sz="1200" b="0" i="0" dirty="0">
              <a:solidFill>
                <a:srgbClr val="000000"/>
              </a:solidFill>
              <a:effectLst/>
              <a:latin typeface="Inter"/>
            </a:endParaRPr>
          </a:p>
          <a:p>
            <a:pPr algn="l"/>
            <a:r>
              <a:rPr lang="zh-CN" altLang="en-US" sz="1200" b="0" i="0" dirty="0">
                <a:solidFill>
                  <a:srgbClr val="000000"/>
                </a:solidFill>
                <a:effectLst/>
                <a:latin typeface="Inter"/>
              </a:rPr>
              <a:t>公式中各部分的含义：</a:t>
            </a:r>
          </a:p>
          <a:p>
            <a:pPr algn="l">
              <a:buFont typeface="Arial" panose="020B0604020202020204" pitchFamily="34" charset="0"/>
              <a:buChar char="•"/>
            </a:pP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θ</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D</a:t>
            </a:r>
            <a:r>
              <a:rPr lang="en-US" altLang="zh-CN" sz="1200" b="0" i="0" dirty="0">
                <a:solidFill>
                  <a:srgbClr val="000000"/>
                </a:solidFill>
                <a:effectLst/>
                <a:latin typeface="KaTeX_Main"/>
              </a:rPr>
              <a:t>)</a:t>
            </a:r>
            <a:r>
              <a:rPr lang="zh-CN" altLang="en-US" sz="1200" b="0" i="0" dirty="0">
                <a:solidFill>
                  <a:srgbClr val="000000"/>
                </a:solidFill>
                <a:effectLst/>
                <a:latin typeface="Inter"/>
              </a:rPr>
              <a:t>：</a:t>
            </a:r>
            <a:r>
              <a:rPr lang="zh-CN" altLang="en-US" sz="1200" b="1" i="0" dirty="0">
                <a:solidFill>
                  <a:srgbClr val="000000"/>
                </a:solidFill>
                <a:effectLst/>
                <a:latin typeface="Inter"/>
              </a:rPr>
              <a:t>后验概率</a:t>
            </a:r>
            <a:r>
              <a:rPr lang="zh-CN" altLang="en-US" sz="1200" b="0" i="0" dirty="0">
                <a:solidFill>
                  <a:srgbClr val="000000"/>
                </a:solidFill>
                <a:effectLst/>
                <a:latin typeface="Inter"/>
              </a:rPr>
              <a:t>（</a:t>
            </a:r>
            <a:r>
              <a:rPr lang="en-US" altLang="zh-CN" sz="1200" b="0" i="0" dirty="0">
                <a:solidFill>
                  <a:srgbClr val="000000"/>
                </a:solidFill>
                <a:effectLst/>
                <a:latin typeface="Inter"/>
              </a:rPr>
              <a:t>Posterior</a:t>
            </a:r>
            <a:r>
              <a:rPr lang="zh-CN" altLang="en-US" sz="1200" b="0" i="0" dirty="0">
                <a:solidFill>
                  <a:srgbClr val="000000"/>
                </a:solidFill>
                <a:effectLst/>
                <a:latin typeface="Inter"/>
              </a:rPr>
              <a:t>）</a:t>
            </a:r>
            <a:r>
              <a:rPr lang="en-US" altLang="zh-CN" sz="1200" b="0" i="0" dirty="0">
                <a:solidFill>
                  <a:srgbClr val="000000"/>
                </a:solidFill>
                <a:effectLst/>
                <a:latin typeface="Inter"/>
              </a:rPr>
              <a:t>—— </a:t>
            </a:r>
            <a:r>
              <a:rPr lang="zh-CN" altLang="en-US" sz="1200" b="0" i="0" dirty="0">
                <a:solidFill>
                  <a:srgbClr val="000000"/>
                </a:solidFill>
                <a:effectLst/>
                <a:latin typeface="Inter"/>
              </a:rPr>
              <a:t>在观测到数据 </a:t>
            </a:r>
            <a:r>
              <a:rPr lang="en-US" altLang="zh-CN" sz="1200" b="0" i="1" dirty="0">
                <a:solidFill>
                  <a:srgbClr val="000000"/>
                </a:solidFill>
                <a:effectLst/>
                <a:latin typeface="KaTeX_Math"/>
              </a:rPr>
              <a:t>D</a:t>
            </a:r>
            <a:r>
              <a:rPr lang="zh-CN" altLang="en-US" sz="1200" b="0" i="0" dirty="0">
                <a:solidFill>
                  <a:srgbClr val="000000"/>
                </a:solidFill>
                <a:effectLst/>
                <a:latin typeface="Inter"/>
              </a:rPr>
              <a:t> 后，参数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取某个值的概率，反映 “数据 </a:t>
            </a:r>
            <a:r>
              <a:rPr lang="en-US" altLang="zh-CN" sz="1200" b="0" i="0" dirty="0">
                <a:solidFill>
                  <a:srgbClr val="000000"/>
                </a:solidFill>
                <a:effectLst/>
                <a:latin typeface="Inter"/>
              </a:rPr>
              <a:t>+ </a:t>
            </a:r>
            <a:r>
              <a:rPr lang="zh-CN" altLang="en-US" sz="1200" b="0" i="0" dirty="0">
                <a:solidFill>
                  <a:srgbClr val="000000"/>
                </a:solidFill>
                <a:effectLst/>
                <a:latin typeface="Inter"/>
              </a:rPr>
              <a:t>先验” 对参数的综合判断；</a:t>
            </a:r>
          </a:p>
          <a:p>
            <a:pPr algn="l">
              <a:buFont typeface="Arial" panose="020B0604020202020204" pitchFamily="34" charset="0"/>
              <a:buChar char="•"/>
            </a:pP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D</a:t>
            </a:r>
            <a:r>
              <a:rPr lang="zh-CN" altLang="en-US" sz="1200" b="0" i="0" dirty="0">
                <a:solidFill>
                  <a:srgbClr val="000000"/>
                </a:solidFill>
                <a:effectLst/>
                <a:latin typeface="KaTeX_Main"/>
              </a:rPr>
              <a:t>∣</a:t>
            </a:r>
            <a:r>
              <a:rPr lang="en-US" altLang="zh-CN" sz="1200" b="0" i="1" dirty="0">
                <a:solidFill>
                  <a:srgbClr val="000000"/>
                </a:solidFill>
                <a:effectLst/>
                <a:latin typeface="KaTeX_Math"/>
              </a:rPr>
              <a:t>θ</a:t>
            </a:r>
            <a:r>
              <a:rPr lang="en-US" altLang="zh-CN" sz="1200" b="0" i="0" dirty="0">
                <a:solidFill>
                  <a:srgbClr val="000000"/>
                </a:solidFill>
                <a:effectLst/>
                <a:latin typeface="KaTeX_Main"/>
              </a:rPr>
              <a:t>)</a:t>
            </a:r>
            <a:r>
              <a:rPr lang="zh-CN" altLang="en-US" sz="1200" b="0" i="0" dirty="0">
                <a:solidFill>
                  <a:srgbClr val="000000"/>
                </a:solidFill>
                <a:effectLst/>
                <a:latin typeface="Inter"/>
              </a:rPr>
              <a:t>：</a:t>
            </a:r>
            <a:r>
              <a:rPr lang="zh-CN" altLang="en-US" sz="1200" b="1" i="0" dirty="0">
                <a:solidFill>
                  <a:srgbClr val="000000"/>
                </a:solidFill>
                <a:effectLst/>
                <a:latin typeface="Inter"/>
              </a:rPr>
              <a:t>似然函数</a:t>
            </a:r>
            <a:r>
              <a:rPr lang="zh-CN" altLang="en-US" sz="1200" b="0" i="0" dirty="0">
                <a:solidFill>
                  <a:srgbClr val="000000"/>
                </a:solidFill>
                <a:effectLst/>
                <a:latin typeface="Inter"/>
              </a:rPr>
              <a:t>（</a:t>
            </a:r>
            <a:r>
              <a:rPr lang="en-US" altLang="zh-CN" sz="1200" b="0" i="0" dirty="0">
                <a:solidFill>
                  <a:srgbClr val="000000"/>
                </a:solidFill>
                <a:effectLst/>
                <a:latin typeface="Inter"/>
              </a:rPr>
              <a:t>Likelihood</a:t>
            </a:r>
            <a:r>
              <a:rPr lang="zh-CN" altLang="en-US" sz="1200" b="0" i="0" dirty="0">
                <a:solidFill>
                  <a:srgbClr val="000000"/>
                </a:solidFill>
                <a:effectLst/>
                <a:latin typeface="Inter"/>
              </a:rPr>
              <a:t>）</a:t>
            </a:r>
            <a:r>
              <a:rPr lang="en-US" altLang="zh-CN" sz="1200" b="0" i="0" dirty="0">
                <a:solidFill>
                  <a:srgbClr val="000000"/>
                </a:solidFill>
                <a:effectLst/>
                <a:latin typeface="Inter"/>
              </a:rPr>
              <a:t>—— </a:t>
            </a:r>
            <a:r>
              <a:rPr lang="zh-CN" altLang="en-US" sz="1200" b="0" i="0" dirty="0">
                <a:solidFill>
                  <a:srgbClr val="000000"/>
                </a:solidFill>
                <a:effectLst/>
                <a:latin typeface="Inter"/>
              </a:rPr>
              <a:t>在参数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已知的情况下，观测到数据 </a:t>
            </a:r>
            <a:r>
              <a:rPr lang="en-US" altLang="zh-CN" sz="1200" b="0" i="1" dirty="0">
                <a:solidFill>
                  <a:srgbClr val="000000"/>
                </a:solidFill>
                <a:effectLst/>
                <a:latin typeface="KaTeX_Math"/>
              </a:rPr>
              <a:t>D</a:t>
            </a:r>
            <a:r>
              <a:rPr lang="zh-CN" altLang="en-US" sz="1200" b="0" i="0" dirty="0">
                <a:solidFill>
                  <a:srgbClr val="000000"/>
                </a:solidFill>
                <a:effectLst/>
                <a:latin typeface="Inter"/>
              </a:rPr>
              <a:t> 的概率，反映 “数据对参数的支持程度”；</a:t>
            </a:r>
          </a:p>
          <a:p>
            <a:pPr algn="l">
              <a:buFont typeface="Arial" panose="020B0604020202020204" pitchFamily="34" charset="0"/>
              <a:buChar char="•"/>
            </a:pP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θ</a:t>
            </a:r>
            <a:r>
              <a:rPr lang="en-US" altLang="zh-CN" sz="1200" b="0" i="0" dirty="0">
                <a:solidFill>
                  <a:srgbClr val="000000"/>
                </a:solidFill>
                <a:effectLst/>
                <a:latin typeface="KaTeX_Main"/>
              </a:rPr>
              <a:t>)</a:t>
            </a:r>
            <a:r>
              <a:rPr lang="zh-CN" altLang="en-US" sz="1200" b="0" i="0" dirty="0">
                <a:solidFill>
                  <a:srgbClr val="000000"/>
                </a:solidFill>
                <a:effectLst/>
                <a:latin typeface="Inter"/>
              </a:rPr>
              <a:t>：</a:t>
            </a:r>
            <a:r>
              <a:rPr lang="zh-CN" altLang="en-US" sz="1200" b="1" i="0" dirty="0">
                <a:solidFill>
                  <a:srgbClr val="000000"/>
                </a:solidFill>
                <a:effectLst/>
                <a:latin typeface="Inter"/>
              </a:rPr>
              <a:t>先验概率</a:t>
            </a:r>
            <a:r>
              <a:rPr lang="zh-CN" altLang="en-US" sz="1200" b="0" i="0" dirty="0">
                <a:solidFill>
                  <a:srgbClr val="000000"/>
                </a:solidFill>
                <a:effectLst/>
                <a:latin typeface="Inter"/>
              </a:rPr>
              <a:t>（</a:t>
            </a:r>
            <a:r>
              <a:rPr lang="en-US" altLang="zh-CN" sz="1200" b="0" i="0" dirty="0">
                <a:solidFill>
                  <a:srgbClr val="000000"/>
                </a:solidFill>
                <a:effectLst/>
                <a:latin typeface="Inter"/>
              </a:rPr>
              <a:t>Prior</a:t>
            </a:r>
            <a:r>
              <a:rPr lang="zh-CN" altLang="en-US" sz="1200" b="0" i="0" dirty="0">
                <a:solidFill>
                  <a:srgbClr val="000000"/>
                </a:solidFill>
                <a:effectLst/>
                <a:latin typeface="Inter"/>
              </a:rPr>
              <a:t>）</a:t>
            </a:r>
            <a:r>
              <a:rPr lang="en-US" altLang="zh-CN" sz="1200" b="0" i="0" dirty="0">
                <a:solidFill>
                  <a:srgbClr val="000000"/>
                </a:solidFill>
                <a:effectLst/>
                <a:latin typeface="Inter"/>
              </a:rPr>
              <a:t>—— </a:t>
            </a:r>
            <a:r>
              <a:rPr lang="zh-CN" altLang="en-US" sz="1200" b="0" i="0" dirty="0">
                <a:solidFill>
                  <a:srgbClr val="000000"/>
                </a:solidFill>
                <a:effectLst/>
                <a:latin typeface="Inter"/>
              </a:rPr>
              <a:t>在观测数据前，我们对参数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分布的已有认知（如 “参数大概率在某个区间内”）；</a:t>
            </a:r>
          </a:p>
          <a:p>
            <a:pPr algn="l">
              <a:buFont typeface="Arial" panose="020B0604020202020204" pitchFamily="34" charset="0"/>
              <a:buChar char="•"/>
            </a:pPr>
            <a:r>
              <a:rPr lang="en-US" altLang="zh-CN" sz="1200" b="0" i="1" dirty="0">
                <a:solidFill>
                  <a:srgbClr val="000000"/>
                </a:solidFill>
                <a:effectLst/>
                <a:latin typeface="KaTeX_Math"/>
              </a:rPr>
              <a:t>P</a:t>
            </a:r>
            <a:r>
              <a:rPr lang="en-US" altLang="zh-CN" sz="1200" b="0" i="0" dirty="0">
                <a:solidFill>
                  <a:srgbClr val="000000"/>
                </a:solidFill>
                <a:effectLst/>
                <a:latin typeface="KaTeX_Main"/>
              </a:rPr>
              <a:t>(</a:t>
            </a:r>
            <a:r>
              <a:rPr lang="en-US" altLang="zh-CN" sz="1200" b="0" i="1" dirty="0">
                <a:solidFill>
                  <a:srgbClr val="000000"/>
                </a:solidFill>
                <a:effectLst/>
                <a:latin typeface="KaTeX_Math"/>
              </a:rPr>
              <a:t>D</a:t>
            </a:r>
            <a:r>
              <a:rPr lang="en-US" altLang="zh-CN" sz="1200" b="0" i="0" dirty="0">
                <a:solidFill>
                  <a:srgbClr val="000000"/>
                </a:solidFill>
                <a:effectLst/>
                <a:latin typeface="KaTeX_Main"/>
              </a:rPr>
              <a:t>)</a:t>
            </a:r>
            <a:r>
              <a:rPr lang="zh-CN" altLang="en-US" sz="1200" b="0" i="0" dirty="0">
                <a:solidFill>
                  <a:srgbClr val="000000"/>
                </a:solidFill>
                <a:effectLst/>
                <a:latin typeface="Inter"/>
              </a:rPr>
              <a:t>：</a:t>
            </a:r>
            <a:r>
              <a:rPr lang="zh-CN" altLang="en-US" sz="1200" b="1" i="0" dirty="0">
                <a:solidFill>
                  <a:srgbClr val="000000"/>
                </a:solidFill>
                <a:effectLst/>
                <a:latin typeface="Inter"/>
              </a:rPr>
              <a:t>证据因子</a:t>
            </a:r>
            <a:r>
              <a:rPr lang="zh-CN" altLang="en-US" sz="1200" b="0" i="0" dirty="0">
                <a:solidFill>
                  <a:srgbClr val="000000"/>
                </a:solidFill>
                <a:effectLst/>
                <a:latin typeface="Inter"/>
              </a:rPr>
              <a:t>（</a:t>
            </a:r>
            <a:r>
              <a:rPr lang="en-US" altLang="zh-CN" sz="1200" b="0" i="0" dirty="0">
                <a:solidFill>
                  <a:srgbClr val="000000"/>
                </a:solidFill>
                <a:effectLst/>
                <a:latin typeface="Inter"/>
              </a:rPr>
              <a:t>Evidence</a:t>
            </a:r>
            <a:r>
              <a:rPr lang="zh-CN" altLang="en-US" sz="1200" b="0" i="0" dirty="0">
                <a:solidFill>
                  <a:srgbClr val="000000"/>
                </a:solidFill>
                <a:effectLst/>
                <a:latin typeface="Inter"/>
              </a:rPr>
              <a:t>）</a:t>
            </a:r>
            <a:r>
              <a:rPr lang="en-US" altLang="zh-CN" sz="1200" b="0" i="0" dirty="0">
                <a:solidFill>
                  <a:srgbClr val="000000"/>
                </a:solidFill>
                <a:effectLst/>
                <a:latin typeface="Inter"/>
              </a:rPr>
              <a:t>—— </a:t>
            </a:r>
            <a:r>
              <a:rPr lang="zh-CN" altLang="en-US" sz="1200" b="0" i="0" dirty="0">
                <a:solidFill>
                  <a:srgbClr val="000000"/>
                </a:solidFill>
                <a:effectLst/>
                <a:latin typeface="Inter"/>
              </a:rPr>
              <a:t>观测数据 </a:t>
            </a:r>
            <a:r>
              <a:rPr lang="en-US" altLang="zh-CN" sz="1200" b="0" i="1" dirty="0">
                <a:solidFill>
                  <a:srgbClr val="000000"/>
                </a:solidFill>
                <a:effectLst/>
                <a:latin typeface="KaTeX_Math"/>
              </a:rPr>
              <a:t>D</a:t>
            </a:r>
            <a:r>
              <a:rPr lang="zh-CN" altLang="en-US" sz="1200" b="0" i="0" dirty="0">
                <a:solidFill>
                  <a:srgbClr val="000000"/>
                </a:solidFill>
                <a:effectLst/>
                <a:latin typeface="Inter"/>
              </a:rPr>
              <a:t> 的边际概率（对所有参数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积分得到），仅与数据相关，与参数 </a:t>
            </a:r>
            <a:r>
              <a:rPr lang="en-US" altLang="zh-CN" sz="1200" b="0" i="1" dirty="0">
                <a:solidFill>
                  <a:srgbClr val="000000"/>
                </a:solidFill>
                <a:effectLst/>
                <a:latin typeface="KaTeX_Math"/>
              </a:rPr>
              <a:t>θ</a:t>
            </a:r>
            <a:r>
              <a:rPr lang="zh-CN" altLang="en-US" sz="1200" b="0" i="0" dirty="0">
                <a:solidFill>
                  <a:srgbClr val="000000"/>
                </a:solidFill>
                <a:effectLst/>
                <a:latin typeface="Inter"/>
              </a:rPr>
              <a:t> 无关，可视为 “归一化常数”。</a:t>
            </a:r>
          </a:p>
        </p:txBody>
      </p:sp>
      <p:pic>
        <p:nvPicPr>
          <p:cNvPr id="34" name="图片 33">
            <a:extLst>
              <a:ext uri="{FF2B5EF4-FFF2-40B4-BE49-F238E27FC236}">
                <a16:creationId xmlns:a16="http://schemas.microsoft.com/office/drawing/2014/main" id="{21135F14-701F-65C0-F9A0-224BC7673B3B}"/>
              </a:ext>
            </a:extLst>
          </p:cNvPr>
          <p:cNvPicPr>
            <a:picLocks noChangeAspect="1"/>
          </p:cNvPicPr>
          <p:nvPr/>
        </p:nvPicPr>
        <p:blipFill>
          <a:blip r:embed="rId3"/>
          <a:stretch>
            <a:fillRect/>
          </a:stretch>
        </p:blipFill>
        <p:spPr>
          <a:xfrm>
            <a:off x="8340496" y="-9592"/>
            <a:ext cx="3851504" cy="1890865"/>
          </a:xfrm>
          <a:prstGeom prst="rect">
            <a:avLst/>
          </a:prstGeom>
        </p:spPr>
      </p:pic>
    </p:spTree>
    <p:extLst>
      <p:ext uri="{BB962C8B-B14F-4D97-AF65-F5344CB8AC3E}">
        <p14:creationId xmlns:p14="http://schemas.microsoft.com/office/powerpoint/2010/main" val="2843540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参数优化：频率学派与贝叶斯学派</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一、机器学习基本概念</a:t>
            </a:r>
            <a:endParaRPr lang="zh-CN" altLang="en-US" sz="1600" dirty="0"/>
          </a:p>
        </p:txBody>
      </p:sp>
      <p:pic>
        <p:nvPicPr>
          <p:cNvPr id="6" name="图片 5">
            <a:extLst>
              <a:ext uri="{FF2B5EF4-FFF2-40B4-BE49-F238E27FC236}">
                <a16:creationId xmlns:a16="http://schemas.microsoft.com/office/drawing/2014/main" id="{77D27165-4A86-473C-A0D2-0470060F10D4}"/>
              </a:ext>
            </a:extLst>
          </p:cNvPr>
          <p:cNvPicPr>
            <a:picLocks noChangeAspect="1"/>
          </p:cNvPicPr>
          <p:nvPr/>
        </p:nvPicPr>
        <p:blipFill>
          <a:blip r:embed="rId3"/>
          <a:stretch>
            <a:fillRect/>
          </a:stretch>
        </p:blipFill>
        <p:spPr>
          <a:xfrm>
            <a:off x="1504507" y="1826507"/>
            <a:ext cx="4832598" cy="4349974"/>
          </a:xfrm>
          <a:prstGeom prst="rect">
            <a:avLst/>
          </a:prstGeom>
        </p:spPr>
      </p:pic>
      <p:pic>
        <p:nvPicPr>
          <p:cNvPr id="7" name="图片 6">
            <a:extLst>
              <a:ext uri="{FF2B5EF4-FFF2-40B4-BE49-F238E27FC236}">
                <a16:creationId xmlns:a16="http://schemas.microsoft.com/office/drawing/2014/main" id="{7CE1BE34-1B65-4553-B1DC-4184B4E423D5}"/>
              </a:ext>
            </a:extLst>
          </p:cNvPr>
          <p:cNvPicPr>
            <a:picLocks noChangeAspect="1"/>
          </p:cNvPicPr>
          <p:nvPr/>
        </p:nvPicPr>
        <p:blipFill>
          <a:blip r:embed="rId4"/>
          <a:stretch>
            <a:fillRect/>
          </a:stretch>
        </p:blipFill>
        <p:spPr>
          <a:xfrm>
            <a:off x="6575670" y="2421958"/>
            <a:ext cx="4956430" cy="3286294"/>
          </a:xfrm>
          <a:prstGeom prst="rect">
            <a:avLst/>
          </a:prstGeom>
        </p:spPr>
      </p:pic>
    </p:spTree>
    <p:extLst>
      <p:ext uri="{BB962C8B-B14F-4D97-AF65-F5344CB8AC3E}">
        <p14:creationId xmlns:p14="http://schemas.microsoft.com/office/powerpoint/2010/main" val="952460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sp>
        <p:nvSpPr>
          <p:cNvPr id="6" name="矩形 5">
            <a:extLst>
              <a:ext uri="{FF2B5EF4-FFF2-40B4-BE49-F238E27FC236}">
                <a16:creationId xmlns:a16="http://schemas.microsoft.com/office/drawing/2014/main" id="{358EA657-9052-473B-8DBE-9A3071EA490E}"/>
              </a:ext>
            </a:extLst>
          </p:cNvPr>
          <p:cNvSpPr/>
          <p:nvPr/>
        </p:nvSpPr>
        <p:spPr>
          <a:xfrm>
            <a:off x="1387715" y="1156618"/>
            <a:ext cx="9079872" cy="1354217"/>
          </a:xfrm>
          <a:prstGeom prst="rect">
            <a:avLst/>
          </a:prstGeom>
        </p:spPr>
        <p:txBody>
          <a:bodyPr wrap="square">
            <a:spAutoFit/>
          </a:bodyPr>
          <a:lstStyle/>
          <a:p>
            <a:endParaRPr lang="zh-CN" altLang="en-US" sz="2800" dirty="0">
              <a:solidFill>
                <a:srgbClr val="000000"/>
              </a:solidFill>
              <a:latin typeface="汉仪玄宋±."/>
            </a:endParaRPr>
          </a:p>
          <a:p>
            <a:pPr algn="just"/>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在现实生活中，往往需要分析若干变量之间的关系，如碳排放量与气候变暖之间的关系，某一商品广告投入量与该商品销售量之间的关系等，这种分析不同变量之间存在关系的研究叫作回归分析，刻画不同变量之间关系的模型称为回归模型。</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E138E86-7220-438B-989F-AFDC2B832DFC}"/>
                  </a:ext>
                </a:extLst>
              </p:cNvPr>
              <p:cNvSpPr/>
              <p:nvPr/>
            </p:nvSpPr>
            <p:spPr>
              <a:xfrm>
                <a:off x="852473" y="4658724"/>
                <a:ext cx="6297998" cy="1477328"/>
              </a:xfrm>
              <a:prstGeom prst="rect">
                <a:avLst/>
              </a:prstGeom>
            </p:spPr>
            <p:txBody>
              <a:bodyPr wrap="square">
                <a:spAutoFit/>
              </a:bodyPr>
              <a:lstStyle/>
              <a:p>
                <a:pPr marL="285750" indent="-285750" algn="just">
                  <a:buFont typeface="Wingdings" panose="05000000000000000000" pitchFamily="2" charset="2"/>
                  <a:buChar char="l"/>
                </a:pPr>
                <a:r>
                  <a:rPr lang="zh-CN" altLang="zh-CN" b="1" dirty="0">
                    <a:latin typeface="Times New Roman" panose="02020603050405020304" pitchFamily="18" charset="0"/>
                    <a:ea typeface="楷体" panose="02010609060101010101" pitchFamily="49" charset="-122"/>
                    <a:cs typeface="Times New Roman" panose="02020603050405020304" pitchFamily="18" charset="0"/>
                  </a:rPr>
                  <a:t>父母平均身高每增加一个单位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其成年子女平均身高只增加</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0.516</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个单位，它反映了这种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衰退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(regression)”</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效应（</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回归</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到正常人平均身高）。</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zh-CN" b="1" dirty="0">
                    <a:latin typeface="Times New Roman" panose="02020603050405020304" pitchFamily="18" charset="0"/>
                    <a:ea typeface="楷体" panose="02010609060101010101" pitchFamily="49" charset="-122"/>
                    <a:cs typeface="Times New Roman" panose="02020603050405020304" pitchFamily="18" charset="0"/>
                  </a:rPr>
                  <a:t>虽然</a:t>
                </a:r>
                <a14:m>
                  <m:oMath xmlns:m="http://schemas.openxmlformats.org/officeDocument/2006/math">
                    <m:r>
                      <a:rPr lang="en-US" altLang="zh-CN" b="1" i="1">
                        <a:latin typeface="Cambria Math"/>
                      </a:rPr>
                      <m:t>𝒙</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b="1" i="1">
                        <a:latin typeface="Cambria Math"/>
                      </a:rPr>
                      <m:t>𝐲</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之间并不总是具有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衰退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（回归）关系，但是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线性回归</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这一名称就保留了下来了。 </a:t>
                </a:r>
              </a:p>
            </p:txBody>
          </p:sp>
        </mc:Choice>
        <mc:Fallback xmlns="">
          <p:sp>
            <p:nvSpPr>
              <p:cNvPr id="8" name="矩形 7">
                <a:extLst>
                  <a:ext uri="{FF2B5EF4-FFF2-40B4-BE49-F238E27FC236}">
                    <a16:creationId xmlns:a16="http://schemas.microsoft.com/office/drawing/2014/main" id="{0E138E86-7220-438B-989F-AFDC2B832DFC}"/>
                  </a:ext>
                </a:extLst>
              </p:cNvPr>
              <p:cNvSpPr>
                <a:spLocks noRot="1" noChangeAspect="1" noMove="1" noResize="1" noEditPoints="1" noAdjustHandles="1" noChangeArrowheads="1" noChangeShapeType="1" noTextEdit="1"/>
              </p:cNvSpPr>
              <p:nvPr/>
            </p:nvSpPr>
            <p:spPr>
              <a:xfrm>
                <a:off x="852473" y="4658724"/>
                <a:ext cx="6297998" cy="1477328"/>
              </a:xfrm>
              <a:prstGeom prst="rect">
                <a:avLst/>
              </a:prstGeom>
              <a:blipFill>
                <a:blip r:embed="rId3"/>
                <a:stretch>
                  <a:fillRect l="-678" t="-2881" r="-774" b="-5761"/>
                </a:stretch>
              </a:blipFill>
            </p:spPr>
            <p:txBody>
              <a:bodyPr/>
              <a:lstStyle/>
              <a:p>
                <a:r>
                  <a:rPr lang="zh-CN" altLang="en-US">
                    <a:noFill/>
                  </a:rPr>
                  <a:t> </a:t>
                </a:r>
              </a:p>
            </p:txBody>
          </p:sp>
        </mc:Fallback>
      </mc:AlternateContent>
      <p:pic>
        <p:nvPicPr>
          <p:cNvPr id="9" name="Picture 2" descr="Francis Galton 1850s.jpg">
            <a:extLst>
              <a:ext uri="{FF2B5EF4-FFF2-40B4-BE49-F238E27FC236}">
                <a16:creationId xmlns:a16="http://schemas.microsoft.com/office/drawing/2014/main" id="{5E67F37F-295E-4936-B57E-69CF04E470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5523" y="3075812"/>
            <a:ext cx="1248365" cy="1582912"/>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11DD706C-726C-445F-AF2E-E35DADFEC811}"/>
              </a:ext>
            </a:extLst>
          </p:cNvPr>
          <p:cNvSpPr/>
          <p:nvPr/>
        </p:nvSpPr>
        <p:spPr>
          <a:xfrm>
            <a:off x="7272278" y="4833619"/>
            <a:ext cx="2398815" cy="1200329"/>
          </a:xfrm>
          <a:prstGeom prst="rect">
            <a:avLst/>
          </a:prstGeom>
        </p:spPr>
        <p:txBody>
          <a:bodyPr wrap="square">
            <a:spAutoFit/>
          </a:bodyPr>
          <a:lstStyle/>
          <a:p>
            <a:pPr algn="ctr"/>
            <a:r>
              <a:rPr lang="zh-CN" altLang="zh-CN" b="1" dirty="0">
                <a:latin typeface="Times New Roman" panose="02020603050405020304" pitchFamily="18" charset="0"/>
                <a:ea typeface="楷体" panose="02010609060101010101" pitchFamily="49" charset="-122"/>
                <a:cs typeface="Times New Roman" panose="02020603050405020304" pitchFamily="18" charset="0"/>
              </a:rPr>
              <a:t>英国著名生物学家兼统计学家高尔顿</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b="1" dirty="0">
                <a:latin typeface="Times New Roman" panose="02020603050405020304" pitchFamily="18" charset="0"/>
                <a:ea typeface="楷体" panose="02010609060101010101" pitchFamily="49" charset="-122"/>
                <a:cs typeface="Times New Roman" panose="02020603050405020304" pitchFamily="18" charset="0"/>
              </a:rPr>
              <a:t>Sir Francis Galton (1822-1911)</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1" name="组合 10">
            <a:extLst>
              <a:ext uri="{FF2B5EF4-FFF2-40B4-BE49-F238E27FC236}">
                <a16:creationId xmlns:a16="http://schemas.microsoft.com/office/drawing/2014/main" id="{415AF7E6-C233-421E-8C36-E0EAFDFE6DE3}"/>
              </a:ext>
            </a:extLst>
          </p:cNvPr>
          <p:cNvGrpSpPr/>
          <p:nvPr/>
        </p:nvGrpSpPr>
        <p:grpSpPr>
          <a:xfrm>
            <a:off x="1504507" y="2866235"/>
            <a:ext cx="5003135" cy="1582913"/>
            <a:chOff x="380010" y="1246909"/>
            <a:chExt cx="5003135" cy="1840675"/>
          </a:xfrm>
        </p:grpSpPr>
        <p:sp>
          <p:nvSpPr>
            <p:cNvPr id="12" name="圆角矩形 12">
              <a:extLst>
                <a:ext uri="{FF2B5EF4-FFF2-40B4-BE49-F238E27FC236}">
                  <a16:creationId xmlns:a16="http://schemas.microsoft.com/office/drawing/2014/main" id="{B8D7FB74-B62C-4E5A-84E5-3236498A45AE}"/>
                </a:ext>
              </a:extLst>
            </p:cNvPr>
            <p:cNvSpPr/>
            <p:nvPr/>
          </p:nvSpPr>
          <p:spPr>
            <a:xfrm>
              <a:off x="380010" y="1246909"/>
              <a:ext cx="5003135" cy="18406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ECFC5822-E095-4434-BF52-89E66FAE9FED}"/>
                    </a:ext>
                  </a:extLst>
                </p:cNvPr>
                <p:cNvSpPr/>
                <p:nvPr/>
              </p:nvSpPr>
              <p:spPr>
                <a:xfrm>
                  <a:off x="1072279" y="1433071"/>
                  <a:ext cx="3930884"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a:rPr>
                          <m:t>𝐲</m:t>
                        </m:r>
                        <m:r>
                          <a:rPr lang="en-US" altLang="zh-CN" sz="2400" b="1" smtClean="0">
                            <a:latin typeface="Cambria Math"/>
                          </a:rPr>
                          <m:t>=</m:t>
                        </m:r>
                        <m:r>
                          <a:rPr lang="en-US" altLang="zh-CN" sz="2400" b="1" i="1" smtClean="0">
                            <a:latin typeface="Cambria Math"/>
                          </a:rPr>
                          <m:t>𝟑</m:t>
                        </m:r>
                        <m:r>
                          <a:rPr lang="en-US" altLang="zh-CN" sz="2400" b="1" i="1">
                            <a:latin typeface="Cambria Math"/>
                          </a:rPr>
                          <m:t>𝟑</m:t>
                        </m:r>
                        <m:r>
                          <a:rPr lang="en-US" altLang="zh-CN" sz="2400" b="1">
                            <a:latin typeface="Cambria Math"/>
                          </a:rPr>
                          <m:t>.</m:t>
                        </m:r>
                        <m:r>
                          <a:rPr lang="en-US" altLang="zh-CN" sz="2400" b="1" i="1">
                            <a:latin typeface="Cambria Math"/>
                          </a:rPr>
                          <m:t>𝟕</m:t>
                        </m:r>
                        <m:r>
                          <a:rPr lang="en-US" altLang="zh-CN" sz="2400" b="1" i="1" smtClean="0">
                            <a:latin typeface="Cambria Math"/>
                          </a:rPr>
                          <m:t>𝟑</m:t>
                        </m:r>
                        <m:r>
                          <a:rPr lang="en-US" altLang="zh-CN" sz="2400" b="1" i="1" smtClean="0">
                            <a:latin typeface="Cambria Math"/>
                          </a:rPr>
                          <m:t>(</m:t>
                        </m:r>
                        <m:r>
                          <a:rPr lang="zh-CN" altLang="en-US" sz="2400" b="1" i="1">
                            <a:latin typeface="Cambria Math"/>
                          </a:rPr>
                          <m:t>英寸</m:t>
                        </m:r>
                        <m:r>
                          <a:rPr lang="en-US" altLang="zh-CN" sz="2400" b="1" i="1" smtClean="0">
                            <a:latin typeface="Cambria Math"/>
                          </a:rPr>
                          <m:t>)</m:t>
                        </m:r>
                        <m:r>
                          <a:rPr lang="en-US" altLang="zh-CN" sz="2400" b="1">
                            <a:latin typeface="Cambria Math"/>
                          </a:rPr>
                          <m:t>+</m:t>
                        </m:r>
                        <m:r>
                          <a:rPr lang="en-US" altLang="zh-CN" sz="2400" b="1" i="1">
                            <a:latin typeface="Cambria Math"/>
                          </a:rPr>
                          <m:t>𝟎</m:t>
                        </m:r>
                        <m:r>
                          <a:rPr lang="en-US" altLang="zh-CN" sz="2400" b="1">
                            <a:latin typeface="Cambria Math"/>
                          </a:rPr>
                          <m:t>.</m:t>
                        </m:r>
                        <m:r>
                          <a:rPr lang="en-US" altLang="zh-CN" sz="2400" b="1" i="1">
                            <a:latin typeface="Cambria Math"/>
                          </a:rPr>
                          <m:t>𝟓𝟏𝟔𝐱</m:t>
                        </m:r>
                      </m:oMath>
                    </m:oMathPara>
                  </a14:m>
                  <a:endParaRPr lang="zh-CN" altLang="en-US" sz="2400" b="1" dirty="0">
                    <a:ea typeface="楷体" panose="02010609060101010101" pitchFamily="49" charset="-122"/>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1072279" y="1433071"/>
                  <a:ext cx="3930884" cy="346249"/>
                </a:xfrm>
                <a:prstGeom prst="rect">
                  <a:avLst/>
                </a:prstGeom>
                <a:blipFill rotWithShape="1">
                  <a:blip r:embed="rId5"/>
                  <a:stretch>
                    <a:fillRect b="-184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C43BDF6A-079A-4FBF-BF95-1D656432D4A7}"/>
                    </a:ext>
                  </a:extLst>
                </p:cNvPr>
                <p:cNvSpPr/>
                <p:nvPr/>
              </p:nvSpPr>
              <p:spPr>
                <a:xfrm>
                  <a:off x="723573" y="2350142"/>
                  <a:ext cx="1851789" cy="276999"/>
                </a:xfrm>
                <a:prstGeom prst="rect">
                  <a:avLst/>
                </a:prstGeom>
                <a:solidFill>
                  <a:srgbClr val="FFFF00"/>
                </a:solidFill>
              </p:spPr>
              <p:txBody>
                <a:bodyPr wrap="none">
                  <a:spAutoFit/>
                </a:bodyPr>
                <a:lstStyle/>
                <a:p>
                  <a14:m>
                    <m:oMath xmlns:m="http://schemas.openxmlformats.org/officeDocument/2006/math">
                      <m:r>
                        <a:rPr lang="en-US" altLang="zh-CN" b="1" i="1" smtClean="0">
                          <a:latin typeface="Cambria Math"/>
                          <a:ea typeface="黑体" panose="02010609060101010101" pitchFamily="49" charset="-122"/>
                          <a:cs typeface="Times New Roman" panose="02020603050405020304" pitchFamily="18" charset="0"/>
                        </a:rPr>
                        <m:t>𝒚</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子女平均身高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723573" y="2350142"/>
                  <a:ext cx="1851789" cy="276999"/>
                </a:xfrm>
                <a:prstGeom prst="rect">
                  <a:avLst/>
                </a:prstGeom>
                <a:blipFill>
                  <a:blip r:embed="rId6"/>
                  <a:stretch>
                    <a:fillRect t="-11475" r="-264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471C93A4-C049-46E6-B959-D21DAAC4163C}"/>
                    </a:ext>
                  </a:extLst>
                </p:cNvPr>
                <p:cNvSpPr/>
                <p:nvPr/>
              </p:nvSpPr>
              <p:spPr>
                <a:xfrm>
                  <a:off x="3064863" y="2350142"/>
                  <a:ext cx="1815895" cy="276999"/>
                </a:xfrm>
                <a:prstGeom prst="rect">
                  <a:avLst/>
                </a:prstGeom>
                <a:solidFill>
                  <a:srgbClr val="FFFF00"/>
                </a:solidFill>
              </p:spPr>
              <p:txBody>
                <a:bodyPr wrap="square">
                  <a:spAutoFit/>
                </a:bodyPr>
                <a:lstStyle/>
                <a:p>
                  <a14:m>
                    <m:oMath xmlns:m="http://schemas.openxmlformats.org/officeDocument/2006/math">
                      <m:r>
                        <a:rPr lang="en-US" altLang="zh-CN" b="1" i="1">
                          <a:latin typeface="Cambria Math"/>
                        </a:rPr>
                        <m:t>𝒙</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父母平均身高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3064863" y="2350142"/>
                  <a:ext cx="1815895" cy="369332"/>
                </a:xfrm>
                <a:prstGeom prst="rect">
                  <a:avLst/>
                </a:prstGeom>
                <a:blipFill rotWithShape="1">
                  <a:blip r:embed="rId7"/>
                  <a:stretch>
                    <a:fillRect t="-13333" b="-26667"/>
                  </a:stretch>
                </a:blipFill>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F840281E-5948-45EC-9994-D227D9B90441}"/>
                </a:ext>
              </a:extLst>
            </p:cNvPr>
            <p:cNvCxnSpPr>
              <a:cxnSpLocks/>
              <a:stCxn id="14" idx="0"/>
            </p:cNvCxnSpPr>
            <p:nvPr/>
          </p:nvCxnSpPr>
          <p:spPr>
            <a:xfrm flipH="1" flipV="1">
              <a:off x="1358721" y="1843187"/>
              <a:ext cx="290747" cy="506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E6DEC06-3D6A-49E6-8747-23205BEE0008}"/>
                </a:ext>
              </a:extLst>
            </p:cNvPr>
            <p:cNvCxnSpPr>
              <a:cxnSpLocks/>
            </p:cNvCxnSpPr>
            <p:nvPr/>
          </p:nvCxnSpPr>
          <p:spPr>
            <a:xfrm flipV="1">
              <a:off x="3866809" y="1779320"/>
              <a:ext cx="640796" cy="5192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52378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sp>
        <p:nvSpPr>
          <p:cNvPr id="18" name="矩形 17">
            <a:extLst>
              <a:ext uri="{FF2B5EF4-FFF2-40B4-BE49-F238E27FC236}">
                <a16:creationId xmlns:a16="http://schemas.microsoft.com/office/drawing/2014/main" id="{010CD354-E092-4AA2-9632-6B18B89D1EB7}"/>
              </a:ext>
            </a:extLst>
          </p:cNvPr>
          <p:cNvSpPr/>
          <p:nvPr/>
        </p:nvSpPr>
        <p:spPr>
          <a:xfrm>
            <a:off x="1725788" y="5519318"/>
            <a:ext cx="9001496" cy="923330"/>
          </a:xfrm>
          <a:prstGeom prst="rect">
            <a:avLst/>
          </a:prstGeom>
        </p:spPr>
        <p:txBody>
          <a:bodyPr wrap="square">
            <a:spAutoFit/>
          </a:bodyPr>
          <a:lstStyle/>
          <a:p>
            <a:pPr marL="285750" indent="-285750" algn="just">
              <a:buFont typeface="Wingdings" panose="05000000000000000000" pitchFamily="2" charset="2"/>
              <a:buChar char="l"/>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给出任意一对父母平均身高，则可根据上述方程，计算得到其子女平均身高</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从父母平均身高来预测其子女平均身高</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如何求取上述线性方程（预测方程）的参数？</a:t>
            </a:r>
            <a:endParaRPr lang="zh-CN"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9" name="组合 18">
            <a:extLst>
              <a:ext uri="{FF2B5EF4-FFF2-40B4-BE49-F238E27FC236}">
                <a16:creationId xmlns:a16="http://schemas.microsoft.com/office/drawing/2014/main" id="{7F4B932C-EB10-4DFF-B1EA-FDFF7857E57D}"/>
              </a:ext>
            </a:extLst>
          </p:cNvPr>
          <p:cNvGrpSpPr/>
          <p:nvPr/>
        </p:nvGrpSpPr>
        <p:grpSpPr>
          <a:xfrm>
            <a:off x="2240552" y="3198740"/>
            <a:ext cx="5003135" cy="1935869"/>
            <a:chOff x="380010" y="1246909"/>
            <a:chExt cx="5003135" cy="1840675"/>
          </a:xfrm>
        </p:grpSpPr>
        <p:sp>
          <p:nvSpPr>
            <p:cNvPr id="20" name="圆角矩形 15">
              <a:extLst>
                <a:ext uri="{FF2B5EF4-FFF2-40B4-BE49-F238E27FC236}">
                  <a16:creationId xmlns:a16="http://schemas.microsoft.com/office/drawing/2014/main" id="{D89A05E3-2A29-4D35-90C7-2989FDE3E142}"/>
                </a:ext>
              </a:extLst>
            </p:cNvPr>
            <p:cNvSpPr/>
            <p:nvPr/>
          </p:nvSpPr>
          <p:spPr>
            <a:xfrm>
              <a:off x="380010" y="1246909"/>
              <a:ext cx="5003135" cy="18406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4118D604-29DF-4022-8BC8-41AB52556D22}"/>
                    </a:ext>
                  </a:extLst>
                </p:cNvPr>
                <p:cNvSpPr/>
                <p:nvPr/>
              </p:nvSpPr>
              <p:spPr>
                <a:xfrm>
                  <a:off x="723573" y="2350142"/>
                  <a:ext cx="1851789" cy="351171"/>
                </a:xfrm>
                <a:prstGeom prst="rect">
                  <a:avLst/>
                </a:prstGeom>
                <a:solidFill>
                  <a:srgbClr val="FFFF00"/>
                </a:solidFill>
              </p:spPr>
              <p:txBody>
                <a:bodyPr wrap="none">
                  <a:spAutoFit/>
                </a:bodyPr>
                <a:lstStyle/>
                <a:p>
                  <a14:m>
                    <m:oMath xmlns:m="http://schemas.openxmlformats.org/officeDocument/2006/math">
                      <m:r>
                        <a:rPr lang="en-US" altLang="zh-CN" b="1" i="1" smtClean="0">
                          <a:latin typeface="Cambria Math"/>
                          <a:ea typeface="黑体" panose="02010609060101010101" pitchFamily="49" charset="-122"/>
                          <a:cs typeface="Times New Roman" panose="02020603050405020304" pitchFamily="18" charset="0"/>
                        </a:rPr>
                        <m:t>𝒚</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子女平均身高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8" name="矩形 17"/>
                <p:cNvSpPr>
                  <a:spLocks noRot="1" noChangeAspect="1" noMove="1" noResize="1" noEditPoints="1" noAdjustHandles="1" noChangeArrowheads="1" noChangeShapeType="1" noTextEdit="1"/>
                </p:cNvSpPr>
                <p:nvPr/>
              </p:nvSpPr>
              <p:spPr>
                <a:xfrm>
                  <a:off x="723573" y="2350142"/>
                  <a:ext cx="1851789" cy="351171"/>
                </a:xfrm>
                <a:prstGeom prst="rect">
                  <a:avLst/>
                </a:prstGeom>
                <a:blipFill>
                  <a:blip r:embed="rId3"/>
                  <a:stretch>
                    <a:fillRect t="-11475" r="-2632"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5F9EE2DF-259D-476C-9A13-1EC6550B383D}"/>
                    </a:ext>
                  </a:extLst>
                </p:cNvPr>
                <p:cNvSpPr/>
                <p:nvPr/>
              </p:nvSpPr>
              <p:spPr>
                <a:xfrm>
                  <a:off x="3064863" y="2350142"/>
                  <a:ext cx="1815895" cy="351171"/>
                </a:xfrm>
                <a:prstGeom prst="rect">
                  <a:avLst/>
                </a:prstGeom>
                <a:solidFill>
                  <a:srgbClr val="FFFF00"/>
                </a:solidFill>
              </p:spPr>
              <p:txBody>
                <a:bodyPr wrap="square">
                  <a:spAutoFit/>
                </a:bodyPr>
                <a:lstStyle/>
                <a:p>
                  <a14:m>
                    <m:oMath xmlns:m="http://schemas.openxmlformats.org/officeDocument/2006/math">
                      <m:r>
                        <a:rPr lang="en-US" altLang="zh-CN" b="1" i="1">
                          <a:latin typeface="Cambria Math"/>
                        </a:rPr>
                        <m:t>𝒙</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父母平均身高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9" name="矩形 18"/>
                <p:cNvSpPr>
                  <a:spLocks noRot="1" noChangeAspect="1" noMove="1" noResize="1" noEditPoints="1" noAdjustHandles="1" noChangeArrowheads="1" noChangeShapeType="1" noTextEdit="1"/>
                </p:cNvSpPr>
                <p:nvPr/>
              </p:nvSpPr>
              <p:spPr>
                <a:xfrm>
                  <a:off x="3064863" y="2350142"/>
                  <a:ext cx="1815895" cy="369332"/>
                </a:xfrm>
                <a:prstGeom prst="rect">
                  <a:avLst/>
                </a:prstGeom>
                <a:blipFill rotWithShape="1">
                  <a:blip r:embed="rId4"/>
                  <a:stretch>
                    <a:fillRect t="-16667" b="-58333"/>
                  </a:stretch>
                </a:blipFill>
              </p:spPr>
              <p:txBody>
                <a:bodyPr/>
                <a:lstStyle/>
                <a:p>
                  <a:r>
                    <a:rPr lang="zh-CN" altLang="en-US">
                      <a:noFill/>
                    </a:rPr>
                    <a:t> </a:t>
                  </a:r>
                </a:p>
              </p:txBody>
            </p:sp>
          </mc:Fallback>
        </mc:AlternateContent>
        <p:cxnSp>
          <p:nvCxnSpPr>
            <p:cNvPr id="24" name="直接箭头连接符 23">
              <a:extLst>
                <a:ext uri="{FF2B5EF4-FFF2-40B4-BE49-F238E27FC236}">
                  <a16:creationId xmlns:a16="http://schemas.microsoft.com/office/drawing/2014/main" id="{BBF8534D-74B4-4C03-B38B-23F65C2BD455}"/>
                </a:ext>
              </a:extLst>
            </p:cNvPr>
            <p:cNvCxnSpPr>
              <a:stCxn id="22" idx="0"/>
            </p:cNvCxnSpPr>
            <p:nvPr/>
          </p:nvCxnSpPr>
          <p:spPr>
            <a:xfrm flipH="1" flipV="1">
              <a:off x="1302161" y="2070888"/>
              <a:ext cx="347307" cy="2792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43BF2695-72F4-4789-AFC3-6899806F9BE1}"/>
                </a:ext>
              </a:extLst>
            </p:cNvPr>
            <p:cNvCxnSpPr/>
            <p:nvPr/>
          </p:nvCxnSpPr>
          <p:spPr>
            <a:xfrm flipV="1">
              <a:off x="3866810" y="2070887"/>
              <a:ext cx="499184" cy="2277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6" name="流程图: 资料带 25">
            <a:extLst>
              <a:ext uri="{FF2B5EF4-FFF2-40B4-BE49-F238E27FC236}">
                <a16:creationId xmlns:a16="http://schemas.microsoft.com/office/drawing/2014/main" id="{50D972E6-7627-40AD-86D4-E34CDA3FD9BC}"/>
              </a:ext>
            </a:extLst>
          </p:cNvPr>
          <p:cNvSpPr/>
          <p:nvPr/>
        </p:nvSpPr>
        <p:spPr>
          <a:xfrm>
            <a:off x="3732717" y="1832242"/>
            <a:ext cx="2921330" cy="1072896"/>
          </a:xfrm>
          <a:prstGeom prst="flowChartPunchedTape">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base">
              <a:spcBef>
                <a:spcPct val="0"/>
              </a:spcBef>
              <a:spcAft>
                <a:spcPct val="0"/>
              </a:spcAft>
              <a:defRPr/>
            </a:pPr>
            <a:r>
              <a:rPr lang="zh-CN" altLang="en-US" sz="2000" b="1" kern="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该回归模型中两个参数</a:t>
            </a:r>
          </a:p>
        </p:txBody>
      </p:sp>
      <p:cxnSp>
        <p:nvCxnSpPr>
          <p:cNvPr id="27" name="直接箭头连接符 26">
            <a:extLst>
              <a:ext uri="{FF2B5EF4-FFF2-40B4-BE49-F238E27FC236}">
                <a16:creationId xmlns:a16="http://schemas.microsoft.com/office/drawing/2014/main" id="{EACA9CCC-94F0-487A-83BA-871DB1D11DC0}"/>
              </a:ext>
            </a:extLst>
          </p:cNvPr>
          <p:cNvCxnSpPr/>
          <p:nvPr/>
        </p:nvCxnSpPr>
        <p:spPr>
          <a:xfrm flipH="1">
            <a:off x="4136478" y="2905138"/>
            <a:ext cx="463138" cy="61443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9851AF01-2EE3-4D8F-A9AD-F2BF61FF3EB6}"/>
              </a:ext>
            </a:extLst>
          </p:cNvPr>
          <p:cNvCxnSpPr/>
          <p:nvPr/>
        </p:nvCxnSpPr>
        <p:spPr>
          <a:xfrm>
            <a:off x="4961029" y="2949558"/>
            <a:ext cx="700424" cy="619961"/>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98F7256-7060-4976-90D7-3EB4B083F849}"/>
              </a:ext>
            </a:extLst>
          </p:cNvPr>
          <p:cNvCxnSpPr/>
          <p:nvPr/>
        </p:nvCxnSpPr>
        <p:spPr>
          <a:xfrm flipH="1">
            <a:off x="6741300" y="2368690"/>
            <a:ext cx="50238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137FA0E2-FBE3-4E36-9137-15F2CB31FC7D}"/>
              </a:ext>
            </a:extLst>
          </p:cNvPr>
          <p:cNvSpPr/>
          <p:nvPr/>
        </p:nvSpPr>
        <p:spPr>
          <a:xfrm>
            <a:off x="7243687" y="1835334"/>
            <a:ext cx="1797301" cy="923330"/>
          </a:xfrm>
          <a:prstGeom prst="rect">
            <a:avLst/>
          </a:prstGeom>
        </p:spPr>
        <p:txBody>
          <a:bodyPr wrap="square">
            <a:spAutoFit/>
          </a:bodyPr>
          <a:lstStyle/>
          <a:p>
            <a:pPr algn="ctr"/>
            <a:r>
              <a:rPr lang="zh-CN" altLang="en-US" b="1" dirty="0">
                <a:latin typeface="Times New Roman" panose="02020603050405020304" pitchFamily="18" charset="0"/>
                <a:ea typeface="楷体" panose="02010609060101010101" pitchFamily="49" charset="-122"/>
                <a:cs typeface="Times New Roman" panose="02020603050405020304" pitchFamily="18" charset="0"/>
              </a:rPr>
              <a:t>需要从标注数据中学习得到</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监督学习</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276AAC66-88FF-4D4C-8114-D4900EC1F2AD}"/>
                  </a:ext>
                </a:extLst>
              </p:cNvPr>
              <p:cNvSpPr/>
              <p:nvPr/>
            </p:nvSpPr>
            <p:spPr>
              <a:xfrm>
                <a:off x="2778951" y="3537852"/>
                <a:ext cx="39308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a:rPr>
                        <m:t>𝐲</m:t>
                      </m:r>
                      <m:r>
                        <a:rPr lang="en-US" altLang="zh-CN" sz="2400" b="1" smtClean="0">
                          <a:latin typeface="Cambria Math"/>
                        </a:rPr>
                        <m:t>=</m:t>
                      </m:r>
                      <m:r>
                        <a:rPr lang="en-US" altLang="zh-CN" sz="2400" b="1" i="1" smtClean="0">
                          <a:latin typeface="Cambria Math"/>
                        </a:rPr>
                        <m:t>𝟑</m:t>
                      </m:r>
                      <m:r>
                        <a:rPr lang="en-US" altLang="zh-CN" sz="2400" b="1" i="1">
                          <a:latin typeface="Cambria Math"/>
                        </a:rPr>
                        <m:t>𝟑</m:t>
                      </m:r>
                      <m:r>
                        <a:rPr lang="en-US" altLang="zh-CN" sz="2400" b="1">
                          <a:latin typeface="Cambria Math"/>
                        </a:rPr>
                        <m:t>.</m:t>
                      </m:r>
                      <m:r>
                        <a:rPr lang="en-US" altLang="zh-CN" sz="2400" b="1" i="1">
                          <a:latin typeface="Cambria Math"/>
                        </a:rPr>
                        <m:t>𝟕</m:t>
                      </m:r>
                      <m:r>
                        <a:rPr lang="en-US" altLang="zh-CN" sz="2400" b="1" i="1" smtClean="0">
                          <a:latin typeface="Cambria Math"/>
                        </a:rPr>
                        <m:t>𝟑</m:t>
                      </m:r>
                      <m:r>
                        <a:rPr lang="en-US" altLang="zh-CN" sz="2400" b="1" i="1" smtClean="0">
                          <a:latin typeface="Cambria Math"/>
                        </a:rPr>
                        <m:t>(</m:t>
                      </m:r>
                      <m:r>
                        <a:rPr lang="zh-CN" altLang="en-US" sz="2400" b="1" i="1">
                          <a:latin typeface="Cambria Math"/>
                        </a:rPr>
                        <m:t>英寸</m:t>
                      </m:r>
                      <m:r>
                        <a:rPr lang="en-US" altLang="zh-CN" sz="2400" b="1" i="1" smtClean="0">
                          <a:latin typeface="Cambria Math"/>
                        </a:rPr>
                        <m:t>)</m:t>
                      </m:r>
                      <m:r>
                        <a:rPr lang="en-US" altLang="zh-CN" sz="2400" b="1">
                          <a:latin typeface="Cambria Math"/>
                        </a:rPr>
                        <m:t>+</m:t>
                      </m:r>
                      <m:r>
                        <a:rPr lang="en-US" altLang="zh-CN" sz="2400" b="1" i="1">
                          <a:latin typeface="Cambria Math"/>
                        </a:rPr>
                        <m:t>𝟎</m:t>
                      </m:r>
                      <m:r>
                        <a:rPr lang="en-US" altLang="zh-CN" sz="2400" b="1">
                          <a:latin typeface="Cambria Math"/>
                        </a:rPr>
                        <m:t>.</m:t>
                      </m:r>
                      <m:r>
                        <a:rPr lang="en-US" altLang="zh-CN" sz="2400" b="1" i="1">
                          <a:latin typeface="Cambria Math"/>
                        </a:rPr>
                        <m:t>𝟓𝟏𝟔𝐱</m:t>
                      </m:r>
                    </m:oMath>
                  </m:oMathPara>
                </a14:m>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1" name="矩形 30">
                <a:extLst>
                  <a:ext uri="{FF2B5EF4-FFF2-40B4-BE49-F238E27FC236}">
                    <a16:creationId xmlns:a16="http://schemas.microsoft.com/office/drawing/2014/main" id="{276AAC66-88FF-4D4C-8114-D4900EC1F2AD}"/>
                  </a:ext>
                </a:extLst>
              </p:cNvPr>
              <p:cNvSpPr>
                <a:spLocks noRot="1" noChangeAspect="1" noMove="1" noResize="1" noEditPoints="1" noAdjustHandles="1" noChangeArrowheads="1" noChangeShapeType="1" noTextEdit="1"/>
              </p:cNvSpPr>
              <p:nvPr/>
            </p:nvSpPr>
            <p:spPr>
              <a:xfrm>
                <a:off x="2778951" y="3537852"/>
                <a:ext cx="3930884" cy="461665"/>
              </a:xfrm>
              <a:prstGeom prst="rect">
                <a:avLst/>
              </a:prstGeom>
              <a:blipFill>
                <a:blip r:embed="rId5"/>
                <a:stretch>
                  <a:fillRect b="-184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792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回归分析：一元线性回归模型</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F8DDD6F0-A923-4677-AA33-E69BC8601EC1}"/>
                  </a:ext>
                </a:extLst>
              </p:cNvPr>
              <p:cNvSpPr/>
              <p:nvPr/>
            </p:nvSpPr>
            <p:spPr>
              <a:xfrm>
                <a:off x="1438336" y="1693666"/>
                <a:ext cx="9111537" cy="646331"/>
              </a:xfrm>
              <a:prstGeom prst="rect">
                <a:avLst/>
              </a:prstGeom>
            </p:spPr>
            <p:txBody>
              <a:bodyPr wrap="square">
                <a:spAutoFit/>
              </a:bodyPr>
              <a:lstStyle/>
              <a:p>
                <a:r>
                  <a:rPr lang="zh-CN" altLang="zh-CN" b="1" dirty="0">
                    <a:latin typeface="Times New Roman" panose="02020603050405020304" pitchFamily="18" charset="0"/>
                    <a:ea typeface="楷体" panose="02010609060101010101" pitchFamily="49" charset="-122"/>
                    <a:cs typeface="Times New Roman" panose="02020603050405020304" pitchFamily="18" charset="0"/>
                  </a:rPr>
                  <a:t>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4.3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给出了芒提兹尼欧（</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Montesinho</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）地区发生森林火灾的部分历史数据</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表中列举了每次发生森林火灾时的气温温度取值</a:t>
                </a:r>
                <a14:m>
                  <m:oMath xmlns:m="http://schemas.openxmlformats.org/officeDocument/2006/math">
                    <m:r>
                      <a:rPr lang="en-US" altLang="zh-CN" b="1" i="1">
                        <a:latin typeface="Cambria Math"/>
                      </a:rPr>
                      <m:t>𝐱</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和受到火灾影响的森林面积</a:t>
                </a:r>
                <a14:m>
                  <m:oMath xmlns:m="http://schemas.openxmlformats.org/officeDocument/2006/math">
                    <m:r>
                      <a:rPr lang="en-US" altLang="zh-CN" b="1" i="1">
                        <a:latin typeface="Cambria Math"/>
                      </a:rPr>
                      <m:t>𝐲</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mc:Choice>
        <mc:Fallback xmlns="">
          <p:sp>
            <p:nvSpPr>
              <p:cNvPr id="33" name="矩形 32">
                <a:extLst>
                  <a:ext uri="{FF2B5EF4-FFF2-40B4-BE49-F238E27FC236}">
                    <a16:creationId xmlns:a16="http://schemas.microsoft.com/office/drawing/2014/main" id="{F8DDD6F0-A923-4677-AA33-E69BC8601EC1}"/>
                  </a:ext>
                </a:extLst>
              </p:cNvPr>
              <p:cNvSpPr>
                <a:spLocks noRot="1" noChangeAspect="1" noMove="1" noResize="1" noEditPoints="1" noAdjustHandles="1" noChangeArrowheads="1" noChangeShapeType="1" noTextEdit="1"/>
              </p:cNvSpPr>
              <p:nvPr/>
            </p:nvSpPr>
            <p:spPr>
              <a:xfrm>
                <a:off x="1438336" y="1693666"/>
                <a:ext cx="9111537" cy="646331"/>
              </a:xfrm>
              <a:prstGeom prst="rect">
                <a:avLst/>
              </a:prstGeom>
              <a:blipFill>
                <a:blip r:embed="rId3"/>
                <a:stretch>
                  <a:fillRect l="-602" t="-7547" b="-12264"/>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73B06CD-EC0D-4AC5-B824-BDF31AA5709F}"/>
              </a:ext>
            </a:extLst>
          </p:cNvPr>
          <p:cNvPicPr>
            <a:picLocks noChangeAspect="1"/>
          </p:cNvPicPr>
          <p:nvPr/>
        </p:nvPicPr>
        <p:blipFill>
          <a:blip r:embed="rId4"/>
          <a:stretch>
            <a:fillRect/>
          </a:stretch>
        </p:blipFill>
        <p:spPr>
          <a:xfrm>
            <a:off x="1112039" y="3094126"/>
            <a:ext cx="4708767" cy="1294022"/>
          </a:xfrm>
          <a:prstGeom prst="rect">
            <a:avLst/>
          </a:prstGeom>
        </p:spPr>
      </p:pic>
      <p:pic>
        <p:nvPicPr>
          <p:cNvPr id="7" name="图片 6">
            <a:extLst>
              <a:ext uri="{FF2B5EF4-FFF2-40B4-BE49-F238E27FC236}">
                <a16:creationId xmlns:a16="http://schemas.microsoft.com/office/drawing/2014/main" id="{F91FA9F7-8FF1-4DDE-A7F3-F7B5DD814385}"/>
              </a:ext>
            </a:extLst>
          </p:cNvPr>
          <p:cNvPicPr>
            <a:picLocks noChangeAspect="1"/>
          </p:cNvPicPr>
          <p:nvPr/>
        </p:nvPicPr>
        <p:blipFill>
          <a:blip r:embed="rId5"/>
          <a:stretch>
            <a:fillRect/>
          </a:stretch>
        </p:blipFill>
        <p:spPr>
          <a:xfrm>
            <a:off x="6158142" y="2627379"/>
            <a:ext cx="3803845" cy="2536955"/>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735D022-DAEC-4051-9C58-CF208E144193}"/>
                  </a:ext>
                </a:extLst>
              </p:cNvPr>
              <p:cNvSpPr/>
              <p:nvPr/>
            </p:nvSpPr>
            <p:spPr>
              <a:xfrm>
                <a:off x="1463318" y="5189167"/>
                <a:ext cx="8714975" cy="879472"/>
              </a:xfrm>
              <a:prstGeom prst="rect">
                <a:avLst/>
              </a:prstGeom>
            </p:spPr>
            <p:txBody>
              <a:bodyPr wrap="square">
                <a:spAutoFit/>
              </a:bodyPr>
              <a:lstStyle/>
              <a:p>
                <a:pPr indent="266700" algn="just">
                  <a:lnSpc>
                    <a:spcPct val="150000"/>
                  </a:lnSpc>
                  <a:spcAft>
                    <a:spcPts val="0"/>
                  </a:spcAft>
                </a:pPr>
                <a:r>
                  <a:rPr lang="zh-CN" altLang="zh-CN" kern="100" dirty="0">
                    <a:latin typeface="Times New Roman" panose="02020603050405020304" pitchFamily="18" charset="0"/>
                    <a:ea typeface="楷体_GB2312"/>
                    <a:cs typeface="Times New Roman" panose="02020603050405020304" pitchFamily="18" charset="0"/>
                  </a:rPr>
                  <a:t>一元线性回归实际上就是寻找一条用</a:t>
                </a:r>
                <a14:m>
                  <m:oMath xmlns:m="http://schemas.openxmlformats.org/officeDocument/2006/math">
                    <m:r>
                      <a:rPr lang="en-US" altLang="zh-CN" i="1" kern="100">
                        <a:latin typeface="Cambria Math" panose="02040503050406030204" pitchFamily="18" charset="0"/>
                        <a:ea typeface="楷体_GB2312"/>
                        <a:cs typeface="Times New Roman" panose="02020603050405020304" pitchFamily="18" charset="0"/>
                      </a:rPr>
                      <m:t>𝑦</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𝑎𝑥</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𝑏</m:t>
                    </m:r>
                  </m:oMath>
                </a14:m>
                <a:r>
                  <a:rPr lang="zh-CN" altLang="zh-CN" kern="100" dirty="0">
                    <a:latin typeface="Times New Roman" panose="02020603050405020304" pitchFamily="18" charset="0"/>
                    <a:ea typeface="楷体_GB2312"/>
                    <a:cs typeface="Times New Roman" panose="02020603050405020304" pitchFamily="18" charset="0"/>
                  </a:rPr>
                  <a:t>表达的直线，使得这条直线尽可能靠近或穿过这</a:t>
                </a:r>
                <a:r>
                  <a:rPr lang="en-US" altLang="zh-CN" kern="100" dirty="0">
                    <a:latin typeface="Times New Roman" panose="02020603050405020304" pitchFamily="18" charset="0"/>
                    <a:ea typeface="楷体_GB2312"/>
                    <a:cs typeface="Times New Roman" panose="02020603050405020304" pitchFamily="18" charset="0"/>
                  </a:rPr>
                  <a:t>8</a:t>
                </a:r>
                <a:r>
                  <a:rPr lang="zh-CN" altLang="zh-CN" kern="100" dirty="0">
                    <a:latin typeface="Times New Roman" panose="02020603050405020304" pitchFamily="18" charset="0"/>
                    <a:ea typeface="楷体_GB2312"/>
                    <a:cs typeface="Times New Roman" panose="02020603050405020304" pitchFamily="18" charset="0"/>
                  </a:rPr>
                  <a:t>组</a:t>
                </a:r>
                <a14:m>
                  <m:oMath xmlns:m="http://schemas.openxmlformats.org/officeDocument/2006/math">
                    <m:r>
                      <a:rPr lang="en-US" altLang="zh-CN"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𝑥</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𝑦</m:t>
                    </m:r>
                    <m:r>
                      <a:rPr lang="en-US" altLang="zh-CN" i="1" kern="100">
                        <a:latin typeface="Cambria Math" panose="02040503050406030204" pitchFamily="18" charset="0"/>
                        <a:ea typeface="楷体_GB2312"/>
                        <a:cs typeface="Times New Roman" panose="02020603050405020304" pitchFamily="18" charset="0"/>
                      </a:rPr>
                      <m:t>)</m:t>
                    </m:r>
                  </m:oMath>
                </a14:m>
                <a:r>
                  <a:rPr lang="zh-CN" altLang="zh-CN" kern="100" dirty="0">
                    <a:latin typeface="Times New Roman" panose="02020603050405020304" pitchFamily="18" charset="0"/>
                    <a:ea typeface="楷体_GB2312"/>
                    <a:cs typeface="Times New Roman" panose="02020603050405020304" pitchFamily="18" charset="0"/>
                  </a:rPr>
                  <a:t>数据，即能够以最小误差来拟合这</a:t>
                </a:r>
                <a:r>
                  <a:rPr lang="en-US" altLang="zh-CN" kern="100" dirty="0">
                    <a:latin typeface="Times New Roman" panose="02020603050405020304" pitchFamily="18" charset="0"/>
                    <a:ea typeface="楷体_GB2312"/>
                    <a:cs typeface="Times New Roman" panose="02020603050405020304" pitchFamily="18" charset="0"/>
                  </a:rPr>
                  <a:t>8</a:t>
                </a:r>
                <a:r>
                  <a:rPr lang="zh-CN" altLang="zh-CN" kern="100" dirty="0">
                    <a:latin typeface="Times New Roman" panose="02020603050405020304" pitchFamily="18" charset="0"/>
                    <a:ea typeface="楷体_GB2312"/>
                    <a:cs typeface="Times New Roman" panose="02020603050405020304" pitchFamily="18" charset="0"/>
                  </a:rPr>
                  <a:t>组</a:t>
                </a:r>
                <a14:m>
                  <m:oMath xmlns:m="http://schemas.openxmlformats.org/officeDocument/2006/math">
                    <m:r>
                      <a:rPr lang="en-US" altLang="zh-CN"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𝑥</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𝑦</m:t>
                    </m:r>
                    <m:r>
                      <a:rPr lang="en-US" altLang="zh-CN" i="1" kern="100">
                        <a:latin typeface="Cambria Math" panose="02040503050406030204" pitchFamily="18" charset="0"/>
                        <a:ea typeface="楷体_GB2312"/>
                        <a:cs typeface="Times New Roman" panose="02020603050405020304" pitchFamily="18" charset="0"/>
                      </a:rPr>
                      <m:t>)</m:t>
                    </m:r>
                  </m:oMath>
                </a14:m>
                <a:r>
                  <a:rPr lang="zh-CN" altLang="zh-CN" kern="100" dirty="0">
                    <a:latin typeface="Times New Roman" panose="02020603050405020304" pitchFamily="18" charset="0"/>
                    <a:ea typeface="楷体_GB2312"/>
                    <a:cs typeface="Times New Roman" panose="02020603050405020304" pitchFamily="18" charset="0"/>
                  </a:rPr>
                  <a:t>数据。</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735D022-DAEC-4051-9C58-CF208E144193}"/>
                  </a:ext>
                </a:extLst>
              </p:cNvPr>
              <p:cNvSpPr>
                <a:spLocks noRot="1" noChangeAspect="1" noMove="1" noResize="1" noEditPoints="1" noAdjustHandles="1" noChangeArrowheads="1" noChangeShapeType="1" noTextEdit="1"/>
              </p:cNvSpPr>
              <p:nvPr/>
            </p:nvSpPr>
            <p:spPr>
              <a:xfrm>
                <a:off x="1463318" y="5189167"/>
                <a:ext cx="8714975" cy="879472"/>
              </a:xfrm>
              <a:prstGeom prst="rect">
                <a:avLst/>
              </a:prstGeom>
              <a:blipFill>
                <a:blip r:embed="rId6"/>
                <a:stretch>
                  <a:fillRect l="-559" r="-559" b="-89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0910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回归分析：一元线性回归模型</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pic>
        <p:nvPicPr>
          <p:cNvPr id="6" name="图片 5">
            <a:extLst>
              <a:ext uri="{FF2B5EF4-FFF2-40B4-BE49-F238E27FC236}">
                <a16:creationId xmlns:a16="http://schemas.microsoft.com/office/drawing/2014/main" id="{673B06CD-EC0D-4AC5-B824-BDF31AA5709F}"/>
              </a:ext>
            </a:extLst>
          </p:cNvPr>
          <p:cNvPicPr>
            <a:picLocks noChangeAspect="1"/>
          </p:cNvPicPr>
          <p:nvPr/>
        </p:nvPicPr>
        <p:blipFill>
          <a:blip r:embed="rId3"/>
          <a:stretch>
            <a:fillRect/>
          </a:stretch>
        </p:blipFill>
        <p:spPr>
          <a:xfrm>
            <a:off x="7166265" y="3186107"/>
            <a:ext cx="4708767" cy="1294022"/>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BFBA5DAD-1A21-41DD-A094-25B9F45B2302}"/>
                  </a:ext>
                </a:extLst>
              </p:cNvPr>
              <p:cNvSpPr/>
              <p:nvPr/>
            </p:nvSpPr>
            <p:spPr>
              <a:xfrm>
                <a:off x="895313" y="1529731"/>
                <a:ext cx="6096000" cy="4794454"/>
              </a:xfrm>
              <a:prstGeom prst="rect">
                <a:avLst/>
              </a:prstGeom>
            </p:spPr>
            <p:txBody>
              <a:bodyPr>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最佳回归模型将使得残差平方和的平均值</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latin typeface="Cambria Math" panose="02040503050406030204" pitchFamily="18" charset="0"/>
                            <a:ea typeface="楷体_GB2312"/>
                            <a:cs typeface="Times New Roman" panose="02020603050405020304" pitchFamily="18" charset="0"/>
                          </a:rPr>
                          <m:t>1</m:t>
                        </m:r>
                      </m:num>
                      <m:den>
                        <m:r>
                          <a:rPr lang="en-US" altLang="zh-CN" i="1">
                            <a:solidFill>
                              <a:srgbClr val="000000"/>
                            </a:solidFill>
                            <a:latin typeface="Cambria Math" panose="02040503050406030204" pitchFamily="18" charset="0"/>
                            <a:ea typeface="楷体_GB2312"/>
                            <a:cs typeface="Times New Roman" panose="02020603050405020304" pitchFamily="18" charset="0"/>
                          </a:rPr>
                          <m:t>𝑁</m:t>
                        </m:r>
                      </m:den>
                    </m:f>
                    <m:nary>
                      <m:naryPr>
                        <m:chr m:val="∑"/>
                        <m:limLoc m:val="undOvr"/>
                        <m:subHide m:val="on"/>
                        <m:supHide m:val="on"/>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sup/>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𝑦</m:t>
                            </m:r>
                            <m:r>
                              <a:rPr lang="en-US" altLang="zh-CN" i="1">
                                <a:solidFill>
                                  <a:srgbClr val="000000"/>
                                </a:solidFill>
                                <a:latin typeface="Cambria Math" panose="02040503050406030204" pitchFamily="18" charset="0"/>
                                <a:ea typeface="楷体_GB2312"/>
                                <a:cs typeface="Times New Roman" panose="02020603050405020304" pitchFamily="18" charset="0"/>
                              </a:rPr>
                              <m:t>−</m:t>
                            </m:r>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r>
                              <a:rPr lang="en-US" altLang="zh-CN">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最小，残差即预测值和真实值之间的差值。残差平方和的平均值最小只与参数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𝑏</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有关，最优解即是使得残差最小所对应的</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𝑏</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的值。</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一般而言，回归模型</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(1≤</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的参数求解过程为：记在当前参数下第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个训练样本</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的标注值（实际值）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与预测值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之差的平方</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，计算训练集中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个样本所产生误差总和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𝐿</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m:t>
                    </m:r>
                    <m:nary>
                      <m:nary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𝑛</m:t>
                        </m:r>
                      </m:sup>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，使用最小二乘法找到误差总和最小，要使函数具有最小值，可对</a:t>
                </a:r>
                <a:r>
                  <a:rPr lang="en-US" altLang="zh-CN" dirty="0">
                    <a:solidFill>
                      <a:srgbClr val="000000"/>
                    </a:solidFill>
                    <a:latin typeface="Cambria Math" panose="02040503050406030204" pitchFamily="18" charset="0"/>
                    <a:ea typeface="楷体_GB2312"/>
                    <a:cs typeface="Cambria Math" panose="02040503050406030204" pitchFamily="18" charset="0"/>
                  </a:rPr>
                  <a:t>𝐿</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分别求导，令其导数值为零，再求取参数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的取值。</a:t>
                </a:r>
              </a:p>
            </p:txBody>
          </p:sp>
        </mc:Choice>
        <mc:Fallback xmlns="">
          <p:sp>
            <p:nvSpPr>
              <p:cNvPr id="9" name="矩形 8">
                <a:extLst>
                  <a:ext uri="{FF2B5EF4-FFF2-40B4-BE49-F238E27FC236}">
                    <a16:creationId xmlns:a16="http://schemas.microsoft.com/office/drawing/2014/main" id="{BFBA5DAD-1A21-41DD-A094-25B9F45B2302}"/>
                  </a:ext>
                </a:extLst>
              </p:cNvPr>
              <p:cNvSpPr>
                <a:spLocks noRot="1" noChangeAspect="1" noMove="1" noResize="1" noEditPoints="1" noAdjustHandles="1" noChangeArrowheads="1" noChangeShapeType="1" noTextEdit="1"/>
              </p:cNvSpPr>
              <p:nvPr/>
            </p:nvSpPr>
            <p:spPr>
              <a:xfrm>
                <a:off x="895313" y="1529731"/>
                <a:ext cx="6096000" cy="4794454"/>
              </a:xfrm>
              <a:prstGeom prst="rect">
                <a:avLst/>
              </a:prstGeom>
              <a:blipFill>
                <a:blip r:embed="rId4"/>
                <a:stretch>
                  <a:fillRect l="-5600" t="-4962" r="-800" b="-11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6911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回归分析：一元线性回归模型参数求解</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B5B5420-8C46-4A8B-B503-4A1ED1591E60}"/>
                  </a:ext>
                </a:extLst>
              </p:cNvPr>
              <p:cNvSpPr/>
              <p:nvPr/>
            </p:nvSpPr>
            <p:spPr>
              <a:xfrm>
                <a:off x="342674" y="2100404"/>
                <a:ext cx="4792033" cy="3792257"/>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一般而言，回归模型</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(1≤</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的参数求解过程为：记在当前参数下第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个训练样本</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的标注值（实际值）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与预测值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之差的平方</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，计算训练集中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个样本所产生误差总和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𝐿</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m:t>
                    </m:r>
                    <m:nary>
                      <m:nary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𝑛</m:t>
                        </m:r>
                      </m:sup>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，使用最小二乘法找到误差总和最小，要使函数具有最小值，可对</a:t>
                </a:r>
                <a:r>
                  <a:rPr lang="en-US" altLang="zh-CN" dirty="0">
                    <a:solidFill>
                      <a:srgbClr val="000000"/>
                    </a:solidFill>
                    <a:latin typeface="Cambria Math" panose="02040503050406030204" pitchFamily="18" charset="0"/>
                    <a:ea typeface="楷体_GB2312"/>
                    <a:cs typeface="Cambria Math" panose="02040503050406030204" pitchFamily="18" charset="0"/>
                  </a:rPr>
                  <a:t>𝐿</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分别求导，令其导数值为零，再求取参数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的取值。</a:t>
                </a:r>
              </a:p>
            </p:txBody>
          </p:sp>
        </mc:Choice>
        <mc:Fallback xmlns="">
          <p:sp>
            <p:nvSpPr>
              <p:cNvPr id="7" name="矩形 6">
                <a:extLst>
                  <a:ext uri="{FF2B5EF4-FFF2-40B4-BE49-F238E27FC236}">
                    <a16:creationId xmlns:a16="http://schemas.microsoft.com/office/drawing/2014/main" id="{3B5B5420-8C46-4A8B-B503-4A1ED1591E60}"/>
                  </a:ext>
                </a:extLst>
              </p:cNvPr>
              <p:cNvSpPr>
                <a:spLocks noRot="1" noChangeAspect="1" noMove="1" noResize="1" noEditPoints="1" noAdjustHandles="1" noChangeArrowheads="1" noChangeShapeType="1" noTextEdit="1"/>
              </p:cNvSpPr>
              <p:nvPr/>
            </p:nvSpPr>
            <p:spPr>
              <a:xfrm>
                <a:off x="342674" y="2100404"/>
                <a:ext cx="4792033" cy="3792257"/>
              </a:xfrm>
              <a:prstGeom prst="rect">
                <a:avLst/>
              </a:prstGeom>
              <a:blipFill>
                <a:blip r:embed="rId3"/>
                <a:stretch>
                  <a:fillRect l="-1018" r="-5852" b="-1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BC224CD-89FC-4428-BC70-A000AF4125EE}"/>
                  </a:ext>
                </a:extLst>
              </p:cNvPr>
              <p:cNvSpPr/>
              <p:nvPr/>
            </p:nvSpPr>
            <p:spPr>
              <a:xfrm>
                <a:off x="5672166" y="1645647"/>
                <a:ext cx="6096000" cy="4789516"/>
              </a:xfrm>
              <a:prstGeom prst="rect">
                <a:avLst/>
              </a:prstGeom>
            </p:spPr>
            <p:txBody>
              <a:bodyPr>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优化目标：</a:t>
                </a:r>
              </a:p>
              <a:p>
                <a:pPr/>
                <a14:m>
                  <m:oMathPara xmlns:m="http://schemas.openxmlformats.org/officeDocument/2006/math">
                    <m:oMathParaPr>
                      <m:jc m:val="centerGroup"/>
                    </m:oMathParaPr>
                    <m:oMath xmlns:m="http://schemas.openxmlformats.org/officeDocument/2006/math">
                      <m:func>
                        <m:func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min</m:t>
                              </m:r>
                            </m:e>
                            <m:li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lim>
                          </m:limLow>
                        </m:fName>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𝐿</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p>
                            </m:e>
                          </m:nary>
                        </m:e>
                      </m:func>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损失函数对</a:t>
                </a:r>
                <a:r>
                  <a:rPr lang="en-US" altLang="zh-CN" dirty="0">
                    <a:solidFill>
                      <a:srgbClr val="000000"/>
                    </a:solidFill>
                    <a:latin typeface="Times New Roman" panose="02020603050405020304" pitchFamily="18" charset="0"/>
                    <a:ea typeface="楷体_GB2312"/>
                    <a:cs typeface="Times New Roman" panose="02020603050405020304" pitchFamily="18" charset="0"/>
                  </a:rPr>
                  <a:t>b</a:t>
                </a:r>
                <a:r>
                  <a:rPr lang="zh-CN" altLang="zh-CN" dirty="0">
                    <a:solidFill>
                      <a:srgbClr val="000000"/>
                    </a:solidFill>
                    <a:latin typeface="Times New Roman" panose="02020603050405020304" pitchFamily="18" charset="0"/>
                    <a:ea typeface="楷体_GB2312"/>
                    <a:cs typeface="Times New Roman" panose="02020603050405020304" pitchFamily="18" charset="0"/>
                  </a:rPr>
                  <a:t>求偏导：</a:t>
                </a:r>
              </a:p>
              <a:p>
                <a:pPr/>
                <a14:m>
                  <m:oMathPara xmlns:m="http://schemas.openxmlformats.org/officeDocument/2006/math">
                    <m:oMathParaPr>
                      <m:jc m:val="centerGroup"/>
                    </m:oMathParaPr>
                    <m:oMath xmlns:m="http://schemas.openxmlformats.org/officeDocument/2006/math">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𝐿</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den>
                      </m:f>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e>
                          </m:d>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(−1)=0</m:t>
                          </m:r>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e>
                          </m:d>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e>
                              </m:nary>
                            </m:e>
                          </m:nary>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𝑛𝑎</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   </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r>
                  <a:rPr lang="en-US"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r>
                  <a:rPr lang="zh-CN" altLang="zh-CN" dirty="0">
                    <a:ea typeface="等线" panose="02010600030101010101" pitchFamily="2" charset="-122"/>
                    <a:cs typeface="Times New Roman" panose="02020603050405020304" pitchFamily="18" charset="0"/>
                  </a:rPr>
                  <a:t>这样就得到了参数</a:t>
                </a:r>
                <a:r>
                  <a:rPr lang="en-US" altLang="zh-CN" dirty="0">
                    <a:ea typeface="等线" panose="02010600030101010101" pitchFamily="2" charset="-122"/>
                    <a:cs typeface="Times New Roman" panose="02020603050405020304" pitchFamily="18" charset="0"/>
                  </a:rPr>
                  <a:t>b</a:t>
                </a:r>
                <a:r>
                  <a:rPr lang="zh-CN" altLang="zh-CN" dirty="0">
                    <a:ea typeface="等线" panose="02010600030101010101" pitchFamily="2" charset="-122"/>
                    <a:cs typeface="Times New Roman" panose="02020603050405020304" pitchFamily="18" charset="0"/>
                  </a:rPr>
                  <a:t>的计算公式</a:t>
                </a:r>
                <a:r>
                  <a:rPr lang="zh-CN" altLang="en-US" dirty="0">
                    <a:ea typeface="等线" panose="02010600030101010101" pitchFamily="2" charset="-122"/>
                    <a:cs typeface="Times New Roman" panose="02020603050405020304" pitchFamily="18" charset="0"/>
                  </a:rPr>
                  <a:t>。</a:t>
                </a:r>
                <a:endParaRPr lang="zh-CN" altLang="en-US" dirty="0"/>
              </a:p>
            </p:txBody>
          </p:sp>
        </mc:Choice>
        <mc:Fallback xmlns="">
          <p:sp>
            <p:nvSpPr>
              <p:cNvPr id="8" name="矩形 7">
                <a:extLst>
                  <a:ext uri="{FF2B5EF4-FFF2-40B4-BE49-F238E27FC236}">
                    <a16:creationId xmlns:a16="http://schemas.microsoft.com/office/drawing/2014/main" id="{6BC224CD-89FC-4428-BC70-A000AF4125EE}"/>
                  </a:ext>
                </a:extLst>
              </p:cNvPr>
              <p:cNvSpPr>
                <a:spLocks noRot="1" noChangeAspect="1" noMove="1" noResize="1" noEditPoints="1" noAdjustHandles="1" noChangeArrowheads="1" noChangeShapeType="1" noTextEdit="1"/>
              </p:cNvSpPr>
              <p:nvPr/>
            </p:nvSpPr>
            <p:spPr>
              <a:xfrm>
                <a:off x="5672166" y="1645647"/>
                <a:ext cx="6096000" cy="4789516"/>
              </a:xfrm>
              <a:prstGeom prst="rect">
                <a:avLst/>
              </a:prstGeom>
              <a:blipFill>
                <a:blip r:embed="rId4"/>
                <a:stretch>
                  <a:fillRect l="-800" t="-1018" b="-1018"/>
                </a:stretch>
              </a:blipFill>
            </p:spPr>
            <p:txBody>
              <a:bodyPr/>
              <a:lstStyle/>
              <a:p>
                <a:r>
                  <a:rPr lang="zh-CN" altLang="en-US">
                    <a:noFill/>
                  </a:rPr>
                  <a:t> </a:t>
                </a:r>
              </a:p>
            </p:txBody>
          </p:sp>
        </mc:Fallback>
      </mc:AlternateContent>
      <p:sp>
        <p:nvSpPr>
          <p:cNvPr id="10" name="矩形: 圆角 9">
            <a:extLst>
              <a:ext uri="{FF2B5EF4-FFF2-40B4-BE49-F238E27FC236}">
                <a16:creationId xmlns:a16="http://schemas.microsoft.com/office/drawing/2014/main" id="{EC685F1A-F113-43D5-8479-9BD9DD4C7614}"/>
              </a:ext>
            </a:extLst>
          </p:cNvPr>
          <p:cNvSpPr/>
          <p:nvPr/>
        </p:nvSpPr>
        <p:spPr>
          <a:xfrm>
            <a:off x="5210458" y="1645647"/>
            <a:ext cx="5740700" cy="4728100"/>
          </a:xfrm>
          <a:prstGeom prst="roundRect">
            <a:avLst/>
          </a:prstGeom>
          <a:solidFill>
            <a:srgbClr val="01748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46784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回归分析：一元线性回归模型参数求解</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B5B5420-8C46-4A8B-B503-4A1ED1591E60}"/>
                  </a:ext>
                </a:extLst>
              </p:cNvPr>
              <p:cNvSpPr/>
              <p:nvPr/>
            </p:nvSpPr>
            <p:spPr>
              <a:xfrm>
                <a:off x="342674" y="2100404"/>
                <a:ext cx="4792033" cy="3792257"/>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一般而言，回归模型</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(1≤</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的参数求解过程为：记在当前参数下第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个训练样本</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的标注值（实际值）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与预测值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之差的平方</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，计算训练集中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个样本所产生误差总和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𝐿</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m:t>
                    </m:r>
                    <m:nary>
                      <m:nary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𝑛</m:t>
                        </m:r>
                      </m:sup>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，使用最小二乘法找到误差总和最小，要使函数具有最小值，可对</a:t>
                </a:r>
                <a:r>
                  <a:rPr lang="en-US" altLang="zh-CN" dirty="0">
                    <a:solidFill>
                      <a:srgbClr val="000000"/>
                    </a:solidFill>
                    <a:latin typeface="Cambria Math" panose="02040503050406030204" pitchFamily="18" charset="0"/>
                    <a:ea typeface="楷体_GB2312"/>
                    <a:cs typeface="Cambria Math" panose="02040503050406030204" pitchFamily="18" charset="0"/>
                  </a:rPr>
                  <a:t>𝐿</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分别求导，令其导数值为零，再求取参数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的取值。</a:t>
                </a:r>
              </a:p>
            </p:txBody>
          </p:sp>
        </mc:Choice>
        <mc:Fallback xmlns="">
          <p:sp>
            <p:nvSpPr>
              <p:cNvPr id="7" name="矩形 6">
                <a:extLst>
                  <a:ext uri="{FF2B5EF4-FFF2-40B4-BE49-F238E27FC236}">
                    <a16:creationId xmlns:a16="http://schemas.microsoft.com/office/drawing/2014/main" id="{3B5B5420-8C46-4A8B-B503-4A1ED1591E60}"/>
                  </a:ext>
                </a:extLst>
              </p:cNvPr>
              <p:cNvSpPr>
                <a:spLocks noRot="1" noChangeAspect="1" noMove="1" noResize="1" noEditPoints="1" noAdjustHandles="1" noChangeArrowheads="1" noChangeShapeType="1" noTextEdit="1"/>
              </p:cNvSpPr>
              <p:nvPr/>
            </p:nvSpPr>
            <p:spPr>
              <a:xfrm>
                <a:off x="342674" y="2100404"/>
                <a:ext cx="4792033" cy="3792257"/>
              </a:xfrm>
              <a:prstGeom prst="rect">
                <a:avLst/>
              </a:prstGeom>
              <a:blipFill>
                <a:blip r:embed="rId3"/>
                <a:stretch>
                  <a:fillRect l="-1018" r="-5852" b="-1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5D1FECF-C8C1-4FCA-9DFB-3A736B682408}"/>
                  </a:ext>
                </a:extLst>
              </p:cNvPr>
              <p:cNvSpPr/>
              <p:nvPr/>
            </p:nvSpPr>
            <p:spPr>
              <a:xfrm>
                <a:off x="5591006" y="1716212"/>
                <a:ext cx="6096000" cy="4663905"/>
              </a:xfrm>
              <a:prstGeom prst="rect">
                <a:avLst/>
              </a:prstGeom>
            </p:spPr>
            <p:txBody>
              <a:bodyPr>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损失函数对</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求偏导：</a:t>
                </a:r>
              </a:p>
              <a:p>
                <a:pPr/>
                <a14:m>
                  <m:oMathPara xmlns:m="http://schemas.openxmlformats.org/officeDocument/2006/math">
                    <m:oMathParaPr>
                      <m:jc m:val="centerGroup"/>
                    </m:oMathParaPr>
                    <m:oMath xmlns:m="http://schemas.openxmlformats.org/officeDocument/2006/math">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𝐿</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um>
                        <m:den>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den>
                      </m:f>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e>
                          </m:d>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将</a:t>
                </a:r>
                <a14:m>
                  <m:oMath xmlns:m="http://schemas.openxmlformats.org/officeDocument/2006/math">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oMath>
                </a14:m>
                <a:r>
                  <a:rPr lang="en-US" altLang="zh-CN" sz="1600"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nary>
                      </m:num>
                      <m:den>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den>
                    </m:f>
                  </m:oMath>
                </a14:m>
                <a:r>
                  <a:rPr lang="en-US" altLang="zh-CN" sz="1600"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nary>
                      </m:num>
                      <m:den>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den>
                    </m:f>
                  </m:oMath>
                </a14:m>
                <a:r>
                  <a:rPr lang="en-US" altLang="zh-CN" sz="1600"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代入上式</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aln/>
                        </m:rP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e>
                          </m:d>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aln/>
                        </m:rP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e>
                          </m:nary>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e>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p>
                            </m:e>
                          </m:nary>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e>
                          </m:nary>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num>
                        <m:den>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e>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p>
                            </m:e>
                          </m:nary>
                        </m:den>
                      </m:f>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5D1FECF-C8C1-4FCA-9DFB-3A736B682408}"/>
                  </a:ext>
                </a:extLst>
              </p:cNvPr>
              <p:cNvSpPr>
                <a:spLocks noRot="1" noChangeAspect="1" noMove="1" noResize="1" noEditPoints="1" noAdjustHandles="1" noChangeArrowheads="1" noChangeShapeType="1" noTextEdit="1"/>
              </p:cNvSpPr>
              <p:nvPr/>
            </p:nvSpPr>
            <p:spPr>
              <a:xfrm>
                <a:off x="5591006" y="1716212"/>
                <a:ext cx="6096000" cy="4663905"/>
              </a:xfrm>
              <a:prstGeom prst="rect">
                <a:avLst/>
              </a:prstGeom>
              <a:blipFill>
                <a:blip r:embed="rId4"/>
                <a:stretch>
                  <a:fillRect t="-131"/>
                </a:stretch>
              </a:blipFill>
            </p:spPr>
            <p:txBody>
              <a:bodyPr/>
              <a:lstStyle/>
              <a:p>
                <a:r>
                  <a:rPr lang="zh-CN" altLang="en-US">
                    <a:noFill/>
                  </a:rPr>
                  <a:t> </a:t>
                </a:r>
              </a:p>
            </p:txBody>
          </p:sp>
        </mc:Fallback>
      </mc:AlternateContent>
      <p:sp>
        <p:nvSpPr>
          <p:cNvPr id="10" name="矩形: 圆角 9">
            <a:extLst>
              <a:ext uri="{FF2B5EF4-FFF2-40B4-BE49-F238E27FC236}">
                <a16:creationId xmlns:a16="http://schemas.microsoft.com/office/drawing/2014/main" id="{564BEE5F-5533-4990-B785-E960C948F9FA}"/>
              </a:ext>
            </a:extLst>
          </p:cNvPr>
          <p:cNvSpPr/>
          <p:nvPr/>
        </p:nvSpPr>
        <p:spPr>
          <a:xfrm>
            <a:off x="5210458" y="1645647"/>
            <a:ext cx="5740700" cy="4728100"/>
          </a:xfrm>
          <a:prstGeom prst="roundRect">
            <a:avLst/>
          </a:prstGeom>
          <a:solidFill>
            <a:srgbClr val="01748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50590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回归分析：一元线性回归模型参数求解</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496D2149-0D9A-40A1-ACA3-14DB4C9E42D4}"/>
                  </a:ext>
                </a:extLst>
              </p:cNvPr>
              <p:cNvSpPr/>
              <p:nvPr/>
            </p:nvSpPr>
            <p:spPr>
              <a:xfrm>
                <a:off x="2174359" y="1829524"/>
                <a:ext cx="7559786" cy="4254306"/>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可以看出只要给出了训练样本</a:t>
                </a:r>
                <a14:m>
                  <m:oMath xmlns:m="http://schemas.openxmlformats.org/officeDocument/2006/math">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=1,…,</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en-US" altLang="zh-CN" b="1" dirty="0">
                    <a:solidFill>
                      <a:srgbClr val="000000"/>
                    </a:solidFill>
                    <a:latin typeface="Times New Roman" panose="02020603050405020304" pitchFamily="18" charset="0"/>
                    <a:ea typeface="楷体_GB2312"/>
                    <a:cs typeface="Times New Roman" panose="02020603050405020304" pitchFamily="18" charset="0"/>
                  </a:rPr>
                  <a:t> </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b="1"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我们就可以从训练样本出发，建立一个线性回归方程，使得对训练样本数据而言，该线性回归方程预测的结果与样本标注结果之间的差值和最小。</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这样，对于上面的案例，可以求得参数</a:t>
                </a:r>
                <a:r>
                  <a:rPr lang="en-US" altLang="zh-CN" dirty="0">
                    <a:solidFill>
                      <a:srgbClr val="000000"/>
                    </a:solidFill>
                    <a:latin typeface="Times New Roman" panose="02020603050405020304" pitchFamily="18" charset="0"/>
                    <a:ea typeface="楷体_GB2312"/>
                    <a:cs typeface="Times New Roman" panose="02020603050405020304" pitchFamily="18" charset="0"/>
                  </a:rPr>
                  <a:t>a</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b</a:t>
                </a:r>
                <a:r>
                  <a:rPr lang="zh-CN" altLang="zh-CN" dirty="0">
                    <a:solidFill>
                      <a:srgbClr val="000000"/>
                    </a:solidFill>
                    <a:latin typeface="Times New Roman" panose="02020603050405020304" pitchFamily="18" charset="0"/>
                    <a:ea typeface="楷体_GB2312"/>
                    <a:cs typeface="Times New Roman" panose="02020603050405020304" pitchFamily="18" charset="0"/>
                  </a:rPr>
                  <a:t>分别为：</a:t>
                </a:r>
              </a:p>
              <a:p>
                <a:pPr>
                  <a:lnSpc>
                    <a:spcPct val="150000"/>
                  </a:lnSpc>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8</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8</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−8</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num>
                        <m:den>
                          <m:sSubSup>
                            <m:sSub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8</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−8</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p>
                        </m:den>
                      </m:f>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=1.428</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acc>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acc>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=−7.09</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即预测芒提兹尼欧地区火灾所影响森林面积与气温温度之间的一元线性回归模型为</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zh-CN" altLang="zh-CN">
                        <a:solidFill>
                          <a:srgbClr val="000000"/>
                        </a:solidFill>
                        <a:latin typeface="Cambria Math" panose="02040503050406030204" pitchFamily="18" charset="0"/>
                        <a:ea typeface="楷体_GB2312"/>
                        <a:cs typeface="Times New Roman" panose="02020603050405020304" pitchFamily="18" charset="0"/>
                      </a:rPr>
                      <m:t>火灾所影响的森林面积</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1.428</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zh-CN" altLang="zh-CN">
                        <a:solidFill>
                          <a:srgbClr val="000000"/>
                        </a:solidFill>
                        <a:latin typeface="Cambria Math" panose="02040503050406030204" pitchFamily="18" charset="0"/>
                        <a:ea typeface="楷体_GB2312"/>
                        <a:cs typeface="Times New Roman" panose="02020603050405020304" pitchFamily="18" charset="0"/>
                      </a:rPr>
                      <m:t>气温温度</m:t>
                    </m:r>
                    <m:r>
                      <a:rPr lang="en-US" altLang="zh-CN" i="1">
                        <a:solidFill>
                          <a:srgbClr val="000000"/>
                        </a:solidFill>
                        <a:latin typeface="Cambria Math" panose="02040503050406030204" pitchFamily="18" charset="0"/>
                        <a:ea typeface="楷体_GB2312"/>
                        <a:cs typeface="Times New Roman" panose="02020603050405020304" pitchFamily="18" charset="0"/>
                      </a:rPr>
                      <m:t>−7.09”</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，即</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𝑦</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1.428</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−7.09</m:t>
                    </m:r>
                  </m:oMath>
                </a14:m>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496D2149-0D9A-40A1-ACA3-14DB4C9E42D4}"/>
                  </a:ext>
                </a:extLst>
              </p:cNvPr>
              <p:cNvSpPr>
                <a:spLocks noRot="1" noChangeAspect="1" noMove="1" noResize="1" noEditPoints="1" noAdjustHandles="1" noChangeArrowheads="1" noChangeShapeType="1" noTextEdit="1"/>
              </p:cNvSpPr>
              <p:nvPr/>
            </p:nvSpPr>
            <p:spPr>
              <a:xfrm>
                <a:off x="2174359" y="1829524"/>
                <a:ext cx="7559786" cy="4254306"/>
              </a:xfrm>
              <a:prstGeom prst="rect">
                <a:avLst/>
              </a:prstGeom>
              <a:blipFill>
                <a:blip r:embed="rId3"/>
                <a:stretch>
                  <a:fillRect l="-726" r="-6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67705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回归分析：从一元线性回归到多元线性回归</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sp>
        <p:nvSpPr>
          <p:cNvPr id="6" name="矩形 5">
            <a:extLst>
              <a:ext uri="{FF2B5EF4-FFF2-40B4-BE49-F238E27FC236}">
                <a16:creationId xmlns:a16="http://schemas.microsoft.com/office/drawing/2014/main" id="{ACAFCA4F-96A0-4126-9978-AD16001B1CB2}"/>
              </a:ext>
            </a:extLst>
          </p:cNvPr>
          <p:cNvSpPr/>
          <p:nvPr/>
        </p:nvSpPr>
        <p:spPr>
          <a:xfrm>
            <a:off x="1914531" y="1792116"/>
            <a:ext cx="8182779" cy="640816"/>
          </a:xfrm>
          <a:prstGeom prst="rect">
            <a:avLst/>
          </a:prstGeom>
        </p:spPr>
        <p:txBody>
          <a:bodyPr wrap="square">
            <a:spAutoFit/>
          </a:bodyPr>
          <a:lstStyle/>
          <a:p>
            <a:pPr indent="266700" algn="ctr">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接下来扩展到数据特征的维度是多维的情况，在上述数据中增加一个影响火灾影响面积的潜在因素</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风力。</a:t>
            </a:r>
          </a:p>
        </p:txBody>
      </p:sp>
      <p:pic>
        <p:nvPicPr>
          <p:cNvPr id="7" name="图片 6">
            <a:extLst>
              <a:ext uri="{FF2B5EF4-FFF2-40B4-BE49-F238E27FC236}">
                <a16:creationId xmlns:a16="http://schemas.microsoft.com/office/drawing/2014/main" id="{5976C2C3-55F6-471A-B84C-B2622625D482}"/>
              </a:ext>
            </a:extLst>
          </p:cNvPr>
          <p:cNvPicPr>
            <a:picLocks noChangeAspect="1"/>
          </p:cNvPicPr>
          <p:nvPr/>
        </p:nvPicPr>
        <p:blipFill>
          <a:blip r:embed="rId3"/>
          <a:stretch>
            <a:fillRect/>
          </a:stretch>
        </p:blipFill>
        <p:spPr>
          <a:xfrm>
            <a:off x="6213355" y="3152944"/>
            <a:ext cx="4642089" cy="1817917"/>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D8BC017-3C91-4BE9-B4E8-A365A39803E7}"/>
                  </a:ext>
                </a:extLst>
              </p:cNvPr>
              <p:cNvSpPr/>
              <p:nvPr/>
            </p:nvSpPr>
            <p:spPr>
              <a:xfrm>
                <a:off x="596894" y="2749289"/>
                <a:ext cx="5330757" cy="3351559"/>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多维数据特征中线性回归的问题定义如下：假设总共有</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𝑚</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个训练数据</a:t>
                </a:r>
                <a14:m>
                  <m:oMath xmlns:m="http://schemas.openxmlformats.org/officeDocument/2006/math">
                    <m:sSubSup>
                      <m:sSub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𝒊</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d>
                          </m:e>
                        </m:d>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𝑚</m:t>
                        </m:r>
                      </m:sup>
                    </m:sSub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𝒊</m:t>
                        </m:r>
                      </m:sub>
                    </m:sSub>
                    <m:r>
                      <a:rPr lang="en-US" altLang="zh-CN" b="1">
                        <a:solidFill>
                          <a:srgbClr val="000000"/>
                        </a:solidFill>
                        <a:latin typeface="Cambria Math" panose="02040503050406030204" pitchFamily="18" charset="0"/>
                        <a:ea typeface="楷体_GB2312"/>
                        <a:cs typeface="Times New Roman" panose="02020603050405020304" pitchFamily="18" charset="0"/>
                      </a:rPr>
                      <m:t>=</m:t>
                    </m:r>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𝐷</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ℝ</m:t>
                        </m:r>
                      </m:e>
                      <m:sup>
                        <m:r>
                          <a:rPr lang="en-US" altLang="zh-CN" i="1">
                            <a:solidFill>
                              <a:srgbClr val="000000"/>
                            </a:solidFill>
                            <a:latin typeface="Cambria Math" panose="02040503050406030204" pitchFamily="18" charset="0"/>
                            <a:ea typeface="楷体_GB2312"/>
                            <a:cs typeface="Times New Roman" panose="02020603050405020304" pitchFamily="18" charset="0"/>
                          </a:rPr>
                          <m:t>𝐷</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𝐷</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为数据特征的维度，线性回归就是要找到一组参数</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𝒂</m:t>
                    </m:r>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a:solidFill>
                              <a:srgbClr val="000000"/>
                            </a:solidFill>
                            <a:latin typeface="Cambria Math" panose="02040503050406030204" pitchFamily="18" charset="0"/>
                            <a:ea typeface="楷体_GB2312"/>
                            <a:cs typeface="Times New Roman" panose="02020603050405020304" pitchFamily="18" charset="0"/>
                          </a:rPr>
                          <m:t>0</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𝐷</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，使得线性函数：</a:t>
                </a: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𝒊</m:t>
                              </m:r>
                            </m:sub>
                          </m:sSub>
                        </m:e>
                      </m:d>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𝑗</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𝑗</m:t>
                              </m:r>
                            </m:sub>
                          </m:sSub>
                        </m:e>
                      </m:nary>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𝑗</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e>
                        <m:sup>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𝑻</m:t>
                          </m:r>
                        </m:sup>
                      </m:sSup>
                      <m:sSub>
                        <m:sSub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𝒊</m:t>
                          </m:r>
                        </m:sub>
                      </m:sSub>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最小化均方误差函数：</a:t>
                </a:r>
              </a:p>
              <a:p>
                <a:pPr/>
                <a14:m>
                  <m:oMathPara xmlns:m="http://schemas.openxmlformats.org/officeDocument/2006/math">
                    <m:oMathParaPr>
                      <m:jc m:val="centerGroup"/>
                    </m:oMathParaPr>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𝐽</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den>
                      </m:f>
                      <m:nary>
                        <m:naryPr>
                          <m:chr m:val="∑"/>
                          <m:limLoc m:val="undOv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p>
                        <m:e>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𝒊</m:t>
                                          </m:r>
                                        </m:sub>
                                      </m:sSub>
                                    </m:e>
                                  </m:d>
                                </m:e>
                              </m:d>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p>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FD8BC017-3C91-4BE9-B4E8-A365A39803E7}"/>
                  </a:ext>
                </a:extLst>
              </p:cNvPr>
              <p:cNvSpPr>
                <a:spLocks noRot="1" noChangeAspect="1" noMove="1" noResize="1" noEditPoints="1" noAdjustHandles="1" noChangeArrowheads="1" noChangeShapeType="1" noTextEdit="1"/>
              </p:cNvSpPr>
              <p:nvPr/>
            </p:nvSpPr>
            <p:spPr>
              <a:xfrm>
                <a:off x="596894" y="2749289"/>
                <a:ext cx="5330757" cy="3351559"/>
              </a:xfrm>
              <a:prstGeom prst="rect">
                <a:avLst/>
              </a:prstGeom>
              <a:blipFill>
                <a:blip r:embed="rId4"/>
                <a:stretch>
                  <a:fillRect l="-1030" t="-1455" r="-9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9168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回归分析：从一元线性回归到多元线性回归</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FFF612F-7BAF-41CA-8484-22B1DB71A312}"/>
                  </a:ext>
                </a:extLst>
              </p:cNvPr>
              <p:cNvSpPr/>
              <p:nvPr/>
            </p:nvSpPr>
            <p:spPr>
              <a:xfrm>
                <a:off x="1895114" y="1529731"/>
                <a:ext cx="10147730" cy="4789516"/>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为了方便，我们使用矩阵来表示所有的训练数据和数据标签。</a:t>
                </a:r>
              </a:p>
              <a:p>
                <a:pPr/>
                <a14:m>
                  <m:oMathPara xmlns:m="http://schemas.openxmlformats.org/officeDocument/2006/math">
                    <m:oMathParaPr>
                      <m:jc m:val="centerGroup"/>
                    </m:oMathParaPr>
                    <m:oMath xmlns:m="http://schemas.openxmlformats.org/officeDocument/2006/math">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b>
                          </m:sSub>
                        </m:e>
                      </m:d>
                      <m:r>
                        <a:rPr lang="en-US" altLang="zh-CN" sz="14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𝒚</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其中每一个数据</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会扩展一个维度，其值为</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，对应参数</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。均方误差函数可以表示为：</a:t>
                </a:r>
              </a:p>
              <a:p>
                <a:pPr/>
                <a14:m>
                  <m:oMathPara xmlns:m="http://schemas.openxmlformats.org/officeDocument/2006/math">
                    <m:oMathParaPr>
                      <m:jc m:val="centerGroup"/>
                    </m:oMathParaPr>
                    <m:oMath xmlns:m="http://schemas.openxmlformats.org/officeDocument/2006/math">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𝐽</m:t>
                          </m:r>
                        </m:e>
                        <m:sub>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e>
                      </m:d>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𝒚</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e>
                                <m: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e>
                          </m:d>
                        </m:e>
                        <m: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𝒚</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e>
                        <m: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我们知道在特征维度只有一维的时候线性回归有</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闭式解</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closed form solution</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），多维情况下同样存在。</a:t>
                </a: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均方误差函数</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𝐽</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𝑛</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d>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对所有参数</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求导可得：</a:t>
                </a:r>
              </a:p>
              <a:p>
                <a:pPr/>
                <a14:m>
                  <m:oMathPara xmlns:m="http://schemas.openxmlformats.org/officeDocument/2006/math">
                    <m:oMathParaPr>
                      <m:jc m:val="centerGroup"/>
                    </m:oMathParaPr>
                    <m:oMath xmlns:m="http://schemas.openxmlformats.org/officeDocument/2006/math">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𝐽</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e>
                      </m:d>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e>
                        <m: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因为均方误差函数</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𝐽</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𝑛</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d>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是一个二次的凸函数，所以函数只存在一个极小值点，也同样是最小值点，所以令</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𝐽</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d>
                    <m:r>
                      <a:rPr lang="en-US" altLang="zh-CN" sz="1400"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可得</a:t>
                </a:r>
              </a:p>
              <a:p>
                <a:pPr/>
                <a14:m>
                  <m:oMathPara xmlns:m="http://schemas.openxmlformats.org/officeDocument/2006/math">
                    <m:oMathParaPr>
                      <m:jc m:val="centerGroup"/>
                    </m:oMathParaPr>
                    <m:oMath xmlns:m="http://schemas.openxmlformats.org/officeDocument/2006/math">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𝑋𝑋</m:t>
                          </m:r>
                        </m:e>
                        <m: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𝒚</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r>
                        <a:rPr lang="en-US" altLang="zh-CN" sz="1400" b="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e>
                                <m: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e>
                          </m:d>
                        </m:e>
                        <m: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𝒚</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对于上面的例子，转化为矩阵的表示形式为：</a:t>
                </a:r>
              </a:p>
              <a:p>
                <a:pPr/>
                <a14:m>
                  <m:oMathPara xmlns:m="http://schemas.openxmlformats.org/officeDocument/2006/math">
                    <m:oMathParaPr>
                      <m:jc m:val="centerGroup"/>
                    </m:oMathParaPr>
                    <m:oMath xmlns:m="http://schemas.openxmlformats.org/officeDocument/2006/math">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8"/>
                                    <m:mcJc m:val="center"/>
                                  </m:mcPr>
                                </m:mc>
                              </m:mcs>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5.1</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8.2</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11.5</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13.9</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15.1</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16.2</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19.6</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23.3</m:t>
                                </m:r>
                              </m:e>
                            </m:mr>
                            <m:mr>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4.5</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5.8</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4.</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6.3</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4.</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7.2</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6.3</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8.5</m:t>
                                </m:r>
                              </m:e>
                            </m:mr>
                            <m:mr>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mr>
                          </m:m>
                        </m:e>
                      </m:d>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𝐲</m:t>
                      </m:r>
                      <m:r>
                        <a:rPr lang="en-US" altLang="zh-CN" sz="1400" b="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8"/>
                                        <m:mcJc m:val="center"/>
                                      </m:mcPr>
                                    </m:mc>
                                  </m:mcs>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2.14</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4.62</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8.24</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11.24</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13.99</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16.33</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19.23</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28.74</m:t>
                                    </m:r>
                                  </m:e>
                                </m:mr>
                              </m:m>
                            </m:e>
                          </m:d>
                        </m:e>
                        <m:sup>
                          <m:r>
                            <m:rPr>
                              <m:sty m:val="p"/>
                            </m:rPr>
                            <a:rPr lang="en-US" altLang="zh-CN" sz="14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T</m:t>
                          </m:r>
                        </m:sup>
                      </m:sSup>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其中矩阵</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多出一行全</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，是因为常数项</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，可以看作是数值为全</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的特征的对应系数。计算可得</a:t>
                </a:r>
              </a:p>
              <a:p>
                <a:pPr/>
                <a14:m>
                  <m:oMathPara xmlns:m="http://schemas.openxmlformats.org/officeDocument/2006/math">
                    <m:oMathParaPr>
                      <m:jc m:val="centerGroup"/>
                    </m:oMathParaPr>
                    <m:oMath xmlns:m="http://schemas.openxmlformats.org/officeDocument/2006/math">
                      <m:r>
                        <a:rPr lang="en-US" altLang="zh-CN" sz="14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𝒂</m:t>
                      </m:r>
                      <m:r>
                        <a:rPr lang="en-US" altLang="zh-CN" sz="1400" b="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3"/>
                                    <m:mcJc m:val="center"/>
                                  </m:mcPr>
                                </m:mc>
                              </m:mcs>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1.312</m:t>
                                </m:r>
                              </m:e>
                              <m:e>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0.626</m:t>
                                </m:r>
                              </m:e>
                              <m:e>
                                <m:r>
                                  <a:rPr lang="en-US"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−9.103</m:t>
                                </m:r>
                              </m:e>
                            </m:mr>
                          </m:m>
                        </m:e>
                      </m:d>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所以对应的线性函数为：</a:t>
                </a:r>
              </a:p>
              <a:p>
                <a:pPr/>
                <a14:m>
                  <m:oMathPara xmlns:m="http://schemas.openxmlformats.org/officeDocument/2006/math">
                    <m:oMathParaPr>
                      <m:jc m:val="centerGroup"/>
                    </m:oMathParaPr>
                    <m:oMath xmlns:m="http://schemas.openxmlformats.org/officeDocument/2006/math">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=−9.103+1.312</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+0.626</m:t>
                      </m:r>
                      <m:r>
                        <a:rPr lang="en-US" altLang="zh-CN" sz="14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𝑧</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BFFF612F-7BAF-41CA-8484-22B1DB71A312}"/>
                  </a:ext>
                </a:extLst>
              </p:cNvPr>
              <p:cNvSpPr>
                <a:spLocks noRot="1" noChangeAspect="1" noMove="1" noResize="1" noEditPoints="1" noAdjustHandles="1" noChangeArrowheads="1" noChangeShapeType="1" noTextEdit="1"/>
              </p:cNvSpPr>
              <p:nvPr/>
            </p:nvSpPr>
            <p:spPr>
              <a:xfrm>
                <a:off x="1895114" y="1529731"/>
                <a:ext cx="10147730" cy="478951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4CE0846-43B9-F1F0-060E-95EFC8DF8AA2}"/>
                  </a:ext>
                </a:extLst>
              </p:cNvPr>
              <p:cNvSpPr txBox="1"/>
              <p:nvPr/>
            </p:nvSpPr>
            <p:spPr>
              <a:xfrm>
                <a:off x="3620908" y="2234074"/>
                <a:ext cx="2373197" cy="428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800"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𝐽</m:t>
                          </m:r>
                        </m:e>
                        <m:sub>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den>
                      </m:f>
                      <m:nary>
                        <m:naryPr>
                          <m:chr m:val="∑"/>
                          <m:limLoc m:val="undOvr"/>
                          <m:ctrlPr>
                            <a:rPr lang="zh-CN" altLang="zh-CN" sz="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p>
                        <m:e>
                          <m:sSup>
                            <m:sSupPr>
                              <m:ctrlPr>
                                <a:rPr lang="zh-CN" altLang="zh-CN" sz="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800"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8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800"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𝒊</m:t>
                                          </m:r>
                                        </m:sub>
                                      </m:sSub>
                                    </m:e>
                                  </m:d>
                                </m:e>
                              </m:d>
                            </m:e>
                            <m:sup>
                              <m:r>
                                <a:rPr lang="en-US" altLang="zh-CN" sz="8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p>
                          </m:sSup>
                        </m:e>
                      </m:nary>
                    </m:oMath>
                  </m:oMathPara>
                </a14:m>
                <a:endParaRPr lang="zh-CN" altLang="en-US" sz="800" dirty="0"/>
              </a:p>
            </p:txBody>
          </p:sp>
        </mc:Choice>
        <mc:Fallback xmlns="">
          <p:sp>
            <p:nvSpPr>
              <p:cNvPr id="7" name="文本框 6">
                <a:extLst>
                  <a:ext uri="{FF2B5EF4-FFF2-40B4-BE49-F238E27FC236}">
                    <a16:creationId xmlns:a16="http://schemas.microsoft.com/office/drawing/2014/main" id="{54CE0846-43B9-F1F0-060E-95EFC8DF8AA2}"/>
                  </a:ext>
                </a:extLst>
              </p:cNvPr>
              <p:cNvSpPr txBox="1">
                <a:spLocks noRot="1" noChangeAspect="1" noMove="1" noResize="1" noEditPoints="1" noAdjustHandles="1" noChangeArrowheads="1" noChangeShapeType="1" noTextEdit="1"/>
              </p:cNvSpPr>
              <p:nvPr/>
            </p:nvSpPr>
            <p:spPr>
              <a:xfrm>
                <a:off x="3620908" y="2234074"/>
                <a:ext cx="2373197" cy="428515"/>
              </a:xfrm>
              <a:prstGeom prst="rect">
                <a:avLst/>
              </a:prstGeom>
              <a:blipFill>
                <a:blip r:embed="rId4"/>
                <a:stretch>
                  <a:fillRect t="-85915" b="-130986"/>
                </a:stretch>
              </a:blipFill>
            </p:spPr>
            <p:txBody>
              <a:bodyPr/>
              <a:lstStyle/>
              <a:p>
                <a:r>
                  <a:rPr lang="zh-CN" altLang="en-US">
                    <a:noFill/>
                  </a:rPr>
                  <a:t> </a:t>
                </a:r>
              </a:p>
            </p:txBody>
          </p:sp>
        </mc:Fallback>
      </mc:AlternateContent>
      <p:sp>
        <p:nvSpPr>
          <p:cNvPr id="9" name="箭头: 右 8">
            <a:extLst>
              <a:ext uri="{FF2B5EF4-FFF2-40B4-BE49-F238E27FC236}">
                <a16:creationId xmlns:a16="http://schemas.microsoft.com/office/drawing/2014/main" id="{E5534BF9-A4BB-CC3B-040D-0AF8173CB17C}"/>
              </a:ext>
            </a:extLst>
          </p:cNvPr>
          <p:cNvSpPr/>
          <p:nvPr/>
        </p:nvSpPr>
        <p:spPr>
          <a:xfrm>
            <a:off x="5439266" y="2341202"/>
            <a:ext cx="235670" cy="214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D29F0B21-C855-C6A9-977C-885DC2F9C14A}"/>
              </a:ext>
            </a:extLst>
          </p:cNvPr>
          <p:cNvPicPr>
            <a:picLocks noChangeAspect="1"/>
          </p:cNvPicPr>
          <p:nvPr/>
        </p:nvPicPr>
        <p:blipFill>
          <a:blip r:embed="rId5"/>
          <a:stretch>
            <a:fillRect/>
          </a:stretch>
        </p:blipFill>
        <p:spPr>
          <a:xfrm>
            <a:off x="2823759" y="723955"/>
            <a:ext cx="6544481" cy="5237316"/>
          </a:xfrm>
          <a:prstGeom prst="rect">
            <a:avLst/>
          </a:prstGeom>
          <a:solidFill>
            <a:srgbClr val="FFFFFF">
              <a:shade val="85000"/>
            </a:srgbClr>
          </a:solidFill>
          <a:ln w="190500" cap="sq">
            <a:solidFill>
              <a:schemeClr val="accent2"/>
            </a:solidFill>
            <a:miter lim="800000"/>
          </a:ln>
          <a:effectLst>
            <a:outerShdw blurRad="50800" dist="38100" dir="13500000" algn="br"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13" name="图片 12">
            <a:extLst>
              <a:ext uri="{FF2B5EF4-FFF2-40B4-BE49-F238E27FC236}">
                <a16:creationId xmlns:a16="http://schemas.microsoft.com/office/drawing/2014/main" id="{BD235764-676E-33C8-ADA7-452716A9A149}"/>
              </a:ext>
            </a:extLst>
          </p:cNvPr>
          <p:cNvPicPr>
            <a:picLocks noChangeAspect="1"/>
          </p:cNvPicPr>
          <p:nvPr/>
        </p:nvPicPr>
        <p:blipFill>
          <a:blip r:embed="rId6"/>
          <a:stretch>
            <a:fillRect/>
          </a:stretch>
        </p:blipFill>
        <p:spPr>
          <a:xfrm>
            <a:off x="3503739" y="723955"/>
            <a:ext cx="4980732" cy="5237316"/>
          </a:xfrm>
          <a:prstGeom prst="rect">
            <a:avLst/>
          </a:prstGeom>
          <a:ln w="76200">
            <a:solidFill>
              <a:schemeClr val="accent5"/>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1825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4C0DBF9-7A0D-4061-82A7-8BA4C08E50A4}"/>
                  </a:ext>
                </a:extLst>
              </p:cNvPr>
              <p:cNvSpPr/>
              <p:nvPr/>
            </p:nvSpPr>
            <p:spPr>
              <a:xfrm>
                <a:off x="852473" y="1758905"/>
                <a:ext cx="10502948" cy="4172168"/>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线性回归一个明显的问题是</a:t>
                </a:r>
                <a:r>
                  <a:rPr lang="zh-CN" altLang="zh-CN" dirty="0">
                    <a:solidFill>
                      <a:schemeClr val="accent2"/>
                    </a:solidFill>
                    <a:latin typeface="Times New Roman" panose="02020603050405020304" pitchFamily="18" charset="0"/>
                    <a:ea typeface="楷体_GB2312"/>
                    <a:cs typeface="Times New Roman" panose="02020603050405020304" pitchFamily="18" charset="0"/>
                  </a:rPr>
                  <a:t>对离群点（和大多数数据点距离较远的数据点，</a:t>
                </a:r>
                <a:r>
                  <a:rPr lang="en-US" altLang="zh-CN" dirty="0">
                    <a:solidFill>
                      <a:schemeClr val="accent2"/>
                    </a:solidFill>
                    <a:latin typeface="Times New Roman" panose="02020603050405020304" pitchFamily="18" charset="0"/>
                    <a:ea typeface="楷体_GB2312"/>
                    <a:cs typeface="Times New Roman" panose="02020603050405020304" pitchFamily="18" charset="0"/>
                  </a:rPr>
                  <a:t>outlier</a:t>
                </a:r>
                <a:r>
                  <a:rPr lang="zh-CN" altLang="zh-CN" dirty="0">
                    <a:solidFill>
                      <a:schemeClr val="accent2"/>
                    </a:solidFill>
                    <a:latin typeface="Times New Roman" panose="02020603050405020304" pitchFamily="18" charset="0"/>
                    <a:ea typeface="楷体_GB2312"/>
                    <a:cs typeface="Times New Roman" panose="02020603050405020304" pitchFamily="18" charset="0"/>
                  </a:rPr>
                  <a:t>）非常敏感，导致模型建模不稳定，使结果有偏</a:t>
                </a:r>
                <a:r>
                  <a:rPr lang="zh-CN" altLang="zh-CN" dirty="0">
                    <a:solidFill>
                      <a:srgbClr val="000000"/>
                    </a:solidFill>
                    <a:latin typeface="Times New Roman" panose="02020603050405020304" pitchFamily="18" charset="0"/>
                    <a:ea typeface="楷体_GB2312"/>
                    <a:cs typeface="Times New Roman" panose="02020603050405020304" pitchFamily="18" charset="0"/>
                  </a:rPr>
                  <a:t>，为了缓解这个问题（特别是在二分类场景中）带来的影响，可考虑逻辑斯蒂回归</a:t>
                </a:r>
                <a:r>
                  <a:rPr lang="en-US" altLang="zh-CN" dirty="0">
                    <a:solidFill>
                      <a:srgbClr val="000000"/>
                    </a:solidFill>
                    <a:latin typeface="Times New Roman" panose="02020603050405020304" pitchFamily="18" charset="0"/>
                    <a:ea typeface="楷体_GB2312"/>
                    <a:cs typeface="Times New Roman" panose="02020603050405020304" pitchFamily="18" charset="0"/>
                  </a:rPr>
                  <a:t>(logistic regression)[Cox 1958]</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逻辑斯蒂回归</a:t>
                </a:r>
                <a:r>
                  <a:rPr lang="en-US" altLang="zh-CN" dirty="0">
                    <a:solidFill>
                      <a:srgbClr val="000000"/>
                    </a:solidFill>
                    <a:latin typeface="Times New Roman" panose="02020603050405020304" pitchFamily="18" charset="0"/>
                    <a:ea typeface="楷体_GB2312"/>
                    <a:cs typeface="Times New Roman" panose="02020603050405020304" pitchFamily="18" charset="0"/>
                  </a:rPr>
                  <a:t>(logistic regression)</a:t>
                </a:r>
                <a:r>
                  <a:rPr lang="zh-CN" altLang="zh-CN" dirty="0">
                    <a:solidFill>
                      <a:srgbClr val="000000"/>
                    </a:solidFill>
                    <a:latin typeface="Times New Roman" panose="02020603050405020304" pitchFamily="18" charset="0"/>
                    <a:ea typeface="楷体_GB2312"/>
                    <a:cs typeface="Times New Roman" panose="02020603050405020304" pitchFamily="18" charset="0"/>
                  </a:rPr>
                  <a:t>就是在回归模型中引入</a:t>
                </a:r>
                <a:r>
                  <a:rPr lang="en-US" altLang="zh-CN" dirty="0">
                    <a:solidFill>
                      <a:schemeClr val="accent2"/>
                    </a:solidFill>
                    <a:latin typeface="Times New Roman" panose="02020603050405020304" pitchFamily="18" charset="0"/>
                    <a:ea typeface="楷体_GB2312"/>
                    <a:cs typeface="Times New Roman" panose="02020603050405020304" pitchFamily="18" charset="0"/>
                  </a:rPr>
                  <a:t>sigmoid</a:t>
                </a:r>
                <a:r>
                  <a:rPr lang="zh-CN" altLang="zh-CN" dirty="0">
                    <a:solidFill>
                      <a:schemeClr val="accent2"/>
                    </a:solidFill>
                    <a:latin typeface="Times New Roman" panose="02020603050405020304" pitchFamily="18" charset="0"/>
                    <a:ea typeface="楷体_GB2312"/>
                    <a:cs typeface="Times New Roman" panose="02020603050405020304" pitchFamily="18" charset="0"/>
                  </a:rPr>
                  <a:t>函数</a:t>
                </a:r>
                <a:r>
                  <a:rPr lang="zh-CN" altLang="zh-CN" dirty="0">
                    <a:solidFill>
                      <a:srgbClr val="000000"/>
                    </a:solidFill>
                    <a:latin typeface="Times New Roman" panose="02020603050405020304" pitchFamily="18" charset="0"/>
                    <a:ea typeface="楷体_GB2312"/>
                    <a:cs typeface="Times New Roman" panose="02020603050405020304" pitchFamily="18" charset="0"/>
                  </a:rPr>
                  <a:t>的一种</a:t>
                </a:r>
                <a:r>
                  <a:rPr lang="zh-CN" altLang="zh-CN" dirty="0">
                    <a:solidFill>
                      <a:schemeClr val="accent2"/>
                    </a:solidFill>
                    <a:latin typeface="Times New Roman" panose="02020603050405020304" pitchFamily="18" charset="0"/>
                    <a:ea typeface="楷体_GB2312"/>
                    <a:cs typeface="Times New Roman" panose="02020603050405020304" pitchFamily="18" charset="0"/>
                  </a:rPr>
                  <a:t>非线性</a:t>
                </a:r>
                <a:r>
                  <a:rPr lang="zh-CN" altLang="zh-CN" dirty="0">
                    <a:solidFill>
                      <a:srgbClr val="000000"/>
                    </a:solidFill>
                    <a:latin typeface="Times New Roman" panose="02020603050405020304" pitchFamily="18" charset="0"/>
                    <a:ea typeface="楷体_GB2312"/>
                    <a:cs typeface="Times New Roman" panose="02020603050405020304" pitchFamily="18" charset="0"/>
                  </a:rPr>
                  <a:t>回归模型。</a:t>
                </a:r>
                <a:r>
                  <a:rPr lang="en-US" altLang="zh-CN" dirty="0">
                    <a:solidFill>
                      <a:srgbClr val="000000"/>
                    </a:solidFill>
                    <a:latin typeface="Times New Roman" panose="02020603050405020304" pitchFamily="18" charset="0"/>
                    <a:ea typeface="楷体_GB2312"/>
                    <a:cs typeface="Times New Roman" panose="02020603050405020304" pitchFamily="18" charset="0"/>
                  </a:rPr>
                  <a:t>Logistic</a:t>
                </a:r>
                <a:r>
                  <a:rPr lang="zh-CN" altLang="zh-CN" dirty="0">
                    <a:solidFill>
                      <a:srgbClr val="000000"/>
                    </a:solidFill>
                    <a:latin typeface="Times New Roman" panose="02020603050405020304" pitchFamily="18" charset="0"/>
                    <a:ea typeface="楷体_GB2312"/>
                    <a:cs typeface="Times New Roman" panose="02020603050405020304" pitchFamily="18" charset="0"/>
                  </a:rPr>
                  <a:t>回归模型可如下表示：</a:t>
                </a:r>
              </a:p>
              <a:p>
                <a:pPr algn="ctr">
                  <a:lnSpc>
                    <a:spcPct val="150000"/>
                  </a:lnSpc>
                  <a:spcAft>
                    <a:spcPts val="0"/>
                  </a:spcAft>
                </a:pPr>
                <a14:m>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𝑧</m:t>
                            </m:r>
                          </m:sup>
                        </m:sSup>
                      </m:den>
                    </m:f>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𝒘</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𝒙</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up>
                        </m:sSup>
                      </m:den>
                    </m:f>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oMath>
                </a14:m>
                <a:r>
                  <a:rPr lang="zh-CN"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0,1</m:t>
                        </m:r>
                      </m:e>
                    </m:d>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𝒘</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𝒙</m:t>
                    </m:r>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b</m:t>
                    </m:r>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en-US"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这里</a:t>
                </a:r>
                <a14:m>
                  <m:oMath xmlns:m="http://schemas.openxmlformats.org/officeDocument/2006/math">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𝑧</m:t>
                            </m:r>
                          </m:sup>
                        </m:sSup>
                      </m:den>
                    </m:f>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函数</a:t>
                </a:r>
                <a:r>
                  <a:rPr lang="zh-CN"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14:m>
                  <m:oMath xmlns:m="http://schemas.openxmlformats.org/officeDocument/2006/math">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𝒙</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ℝ</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𝑑</m:t>
                        </m:r>
                      </m:sup>
                    </m:sSup>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是输入数据</a:t>
                </a:r>
                <a:r>
                  <a:rPr lang="zh-CN"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14:m>
                  <m:oMath xmlns:m="http://schemas.openxmlformats.org/officeDocument/2006/math">
                    <m:r>
                      <a:rPr lang="en-US" altLang="zh-CN" b="1"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𝒘</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ℝ</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𝑑</m:t>
                        </m:r>
                      </m:sup>
                    </m:sSup>
                  </m:oMath>
                </a14:m>
                <a:r>
                  <a:rPr lang="zh-CN"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和</a:t>
                </a:r>
                <a14:m>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ℝ</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是回归函数的参数。</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en-US" altLang="zh-CN" kern="1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logistic</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回归只能用于解决二分类问题，将它推广为多项逻辑斯蒂回归模型</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(multi-nominal logistic model</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，也即</a:t>
                </a:r>
                <a:r>
                  <a:rPr lang="en-US" altLang="zh-CN" kern="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函数</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，用于处理多类分类问题，可以得到处理多类分类问题的</a:t>
                </a:r>
                <a:r>
                  <a:rPr lang="en-US" altLang="zh-CN" kern="0" dirty="0" err="1">
                    <a:solidFill>
                      <a:schemeClr val="accent2"/>
                    </a:solidFill>
                    <a:latin typeface="Times New Roman" panose="02020603050405020304" pitchFamily="18" charset="0"/>
                    <a:ea typeface="楷体_GB2312"/>
                    <a:cs typeface="Times New Roman" panose="02020603050405020304" pitchFamily="18" charset="0"/>
                  </a:rPr>
                  <a:t>softmax</a:t>
                </a:r>
                <a:r>
                  <a:rPr lang="zh-CN" altLang="zh-CN" kern="0" dirty="0">
                    <a:solidFill>
                      <a:schemeClr val="accent2"/>
                    </a:solidFill>
                    <a:latin typeface="Times New Roman" panose="02020603050405020304" pitchFamily="18" charset="0"/>
                    <a:ea typeface="楷体_GB2312"/>
                    <a:cs typeface="Times New Roman" panose="02020603050405020304" pitchFamily="18" charset="0"/>
                  </a:rPr>
                  <a:t>回归</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4C0DBF9-7A0D-4061-82A7-8BA4C08E50A4}"/>
                  </a:ext>
                </a:extLst>
              </p:cNvPr>
              <p:cNvSpPr>
                <a:spLocks noRot="1" noChangeAspect="1" noMove="1" noResize="1" noEditPoints="1" noAdjustHandles="1" noChangeArrowheads="1" noChangeShapeType="1" noTextEdit="1"/>
              </p:cNvSpPr>
              <p:nvPr/>
            </p:nvSpPr>
            <p:spPr>
              <a:xfrm>
                <a:off x="852473" y="1758905"/>
                <a:ext cx="10502948" cy="4172168"/>
              </a:xfrm>
              <a:prstGeom prst="rect">
                <a:avLst/>
              </a:prstGeom>
              <a:blipFill>
                <a:blip r:embed="rId3"/>
                <a:stretch>
                  <a:fillRect l="-522" r="-1161" b="-1316"/>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7FB3DDC2-BD28-AC8D-6345-8190B534001B}"/>
              </a:ext>
            </a:extLst>
          </p:cNvPr>
          <p:cNvPicPr>
            <a:picLocks noChangeAspect="1"/>
          </p:cNvPicPr>
          <p:nvPr/>
        </p:nvPicPr>
        <p:blipFill>
          <a:blip r:embed="rId4"/>
          <a:stretch>
            <a:fillRect/>
          </a:stretch>
        </p:blipFill>
        <p:spPr>
          <a:xfrm>
            <a:off x="8024509" y="3457281"/>
            <a:ext cx="1548475" cy="1142922"/>
          </a:xfrm>
          <a:prstGeom prst="rect">
            <a:avLst/>
          </a:prstGeom>
        </p:spPr>
      </p:pic>
      <p:pic>
        <p:nvPicPr>
          <p:cNvPr id="9" name="图片 8">
            <a:extLst>
              <a:ext uri="{FF2B5EF4-FFF2-40B4-BE49-F238E27FC236}">
                <a16:creationId xmlns:a16="http://schemas.microsoft.com/office/drawing/2014/main" id="{5740AEE3-4343-84DA-FE03-6D7D80CD522F}"/>
              </a:ext>
            </a:extLst>
          </p:cNvPr>
          <p:cNvPicPr>
            <a:picLocks noChangeAspect="1"/>
          </p:cNvPicPr>
          <p:nvPr/>
        </p:nvPicPr>
        <p:blipFill>
          <a:blip r:embed="rId5"/>
          <a:stretch>
            <a:fillRect/>
          </a:stretch>
        </p:blipFill>
        <p:spPr>
          <a:xfrm>
            <a:off x="5048381" y="6004256"/>
            <a:ext cx="2095238" cy="419048"/>
          </a:xfrm>
          <a:prstGeom prst="rect">
            <a:avLst/>
          </a:prstGeom>
        </p:spPr>
      </p:pic>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回归分析：从线性回归到非线性回归</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pic>
        <p:nvPicPr>
          <p:cNvPr id="8" name="图片 7">
            <a:extLst>
              <a:ext uri="{FF2B5EF4-FFF2-40B4-BE49-F238E27FC236}">
                <a16:creationId xmlns:a16="http://schemas.microsoft.com/office/drawing/2014/main" id="{A0E35003-84D2-03DF-BFF8-E4A3294732B5}"/>
              </a:ext>
            </a:extLst>
          </p:cNvPr>
          <p:cNvPicPr>
            <a:picLocks noChangeAspect="1"/>
          </p:cNvPicPr>
          <p:nvPr/>
        </p:nvPicPr>
        <p:blipFill>
          <a:blip r:embed="rId6"/>
          <a:stretch>
            <a:fillRect/>
          </a:stretch>
        </p:blipFill>
        <p:spPr>
          <a:xfrm>
            <a:off x="996708" y="123947"/>
            <a:ext cx="5961905" cy="6666667"/>
          </a:xfrm>
          <a:prstGeom prst="rect">
            <a:avLst/>
          </a:prstGeom>
          <a:ln w="76200">
            <a:solidFill>
              <a:schemeClr val="accent1"/>
            </a:solidFill>
          </a:ln>
        </p:spPr>
      </p:pic>
      <p:sp>
        <p:nvSpPr>
          <p:cNvPr id="15" name="文本框 14">
            <a:extLst>
              <a:ext uri="{FF2B5EF4-FFF2-40B4-BE49-F238E27FC236}">
                <a16:creationId xmlns:a16="http://schemas.microsoft.com/office/drawing/2014/main" id="{613DB273-B0BC-6101-CE59-79910549C877}"/>
              </a:ext>
            </a:extLst>
          </p:cNvPr>
          <p:cNvSpPr txBox="1"/>
          <p:nvPr/>
        </p:nvSpPr>
        <p:spPr>
          <a:xfrm>
            <a:off x="9572984" y="3633203"/>
            <a:ext cx="2624601" cy="938719"/>
          </a:xfrm>
          <a:prstGeom prst="rect">
            <a:avLst/>
          </a:prstGeom>
          <a:noFill/>
        </p:spPr>
        <p:txBody>
          <a:bodyPr wrap="square">
            <a:spAutoFit/>
          </a:bodyPr>
          <a:lstStyle/>
          <a:p>
            <a:r>
              <a:rPr lang="zh-CN" altLang="en-US" sz="1100" dirty="0"/>
              <a:t>引入指数函数的优点：指数函数曲线呈现递增趋势，最重要的是</a:t>
            </a:r>
            <a:r>
              <a:rPr lang="zh-CN" altLang="en-US" sz="1100" dirty="0">
                <a:solidFill>
                  <a:schemeClr val="accent2"/>
                </a:solidFill>
              </a:rPr>
              <a:t>斜率逐渐增大，也就是说在</a:t>
            </a:r>
            <a:r>
              <a:rPr lang="en-US" altLang="zh-CN" sz="1100" dirty="0">
                <a:solidFill>
                  <a:schemeClr val="accent2"/>
                </a:solidFill>
              </a:rPr>
              <a:t>x</a:t>
            </a:r>
            <a:r>
              <a:rPr lang="zh-CN" altLang="en-US" sz="1100" dirty="0">
                <a:solidFill>
                  <a:schemeClr val="accent2"/>
                </a:solidFill>
              </a:rPr>
              <a:t>轴上一个很小的变化，可以导致</a:t>
            </a:r>
            <a:r>
              <a:rPr lang="en-US" altLang="zh-CN" sz="1100" dirty="0">
                <a:solidFill>
                  <a:schemeClr val="accent2"/>
                </a:solidFill>
              </a:rPr>
              <a:t>y</a:t>
            </a:r>
            <a:r>
              <a:rPr lang="zh-CN" altLang="en-US" sz="1100" dirty="0">
                <a:solidFill>
                  <a:schemeClr val="accent2"/>
                </a:solidFill>
              </a:rPr>
              <a:t>轴上很大的变化</a:t>
            </a:r>
            <a:r>
              <a:rPr lang="zh-CN" altLang="en-US" sz="1100" dirty="0"/>
              <a:t>。这种函数曲线能够将输出的数值拉开距离。</a:t>
            </a:r>
          </a:p>
        </p:txBody>
      </p:sp>
    </p:spTree>
    <p:extLst>
      <p:ext uri="{BB962C8B-B14F-4D97-AF65-F5344CB8AC3E}">
        <p14:creationId xmlns:p14="http://schemas.microsoft.com/office/powerpoint/2010/main" val="4047769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pic>
        <p:nvPicPr>
          <p:cNvPr id="7" name="图片 6">
            <a:extLst>
              <a:ext uri="{FF2B5EF4-FFF2-40B4-BE49-F238E27FC236}">
                <a16:creationId xmlns:a16="http://schemas.microsoft.com/office/drawing/2014/main" id="{0822B784-9ACF-443C-A3E6-D1D342382F4B}"/>
              </a:ext>
            </a:extLst>
          </p:cNvPr>
          <p:cNvPicPr>
            <a:picLocks noChangeAspect="1"/>
          </p:cNvPicPr>
          <p:nvPr/>
        </p:nvPicPr>
        <p:blipFill>
          <a:blip r:embed="rId3"/>
          <a:stretch>
            <a:fillRect/>
          </a:stretch>
        </p:blipFill>
        <p:spPr>
          <a:xfrm>
            <a:off x="6438053" y="1955797"/>
            <a:ext cx="4657964" cy="3991180"/>
          </a:xfrm>
          <a:prstGeom prst="rect">
            <a:avLst/>
          </a:prstGeom>
        </p:spPr>
      </p:pic>
      <p:sp>
        <p:nvSpPr>
          <p:cNvPr id="8" name="矩形 7">
            <a:extLst>
              <a:ext uri="{FF2B5EF4-FFF2-40B4-BE49-F238E27FC236}">
                <a16:creationId xmlns:a16="http://schemas.microsoft.com/office/drawing/2014/main" id="{6077FB27-6103-4CE7-AC5D-151EBC9F74DB}"/>
              </a:ext>
            </a:extLst>
          </p:cNvPr>
          <p:cNvSpPr/>
          <p:nvPr/>
        </p:nvSpPr>
        <p:spPr>
          <a:xfrm>
            <a:off x="1095983" y="1852287"/>
            <a:ext cx="5000017" cy="4198201"/>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决策树将</a:t>
            </a:r>
            <a:r>
              <a:rPr lang="zh-CN" altLang="zh-CN" dirty="0">
                <a:solidFill>
                  <a:schemeClr val="accent2"/>
                </a:solidFill>
                <a:latin typeface="Times New Roman" panose="02020603050405020304" pitchFamily="18" charset="0"/>
                <a:ea typeface="楷体_GB2312"/>
                <a:cs typeface="Times New Roman" panose="02020603050405020304" pitchFamily="18" charset="0"/>
              </a:rPr>
              <a:t>分类问题</a:t>
            </a:r>
            <a:r>
              <a:rPr lang="zh-CN" altLang="zh-CN" dirty="0">
                <a:solidFill>
                  <a:srgbClr val="000000"/>
                </a:solidFill>
                <a:latin typeface="Times New Roman" panose="02020603050405020304" pitchFamily="18" charset="0"/>
                <a:ea typeface="楷体_GB2312"/>
                <a:cs typeface="Times New Roman" panose="02020603050405020304" pitchFamily="18" charset="0"/>
              </a:rPr>
              <a:t>分解为若干基于单个信息的推理任务，采用树状结构来逐步完成决策判断。事实上，人们在逻辑推理过程中经常使用决策树的思想。</a:t>
            </a:r>
          </a:p>
          <a:p>
            <a:pPr marL="285750" indent="-285750" algn="just">
              <a:lnSpc>
                <a:spcPct val="1500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下面通过一个例子来解释决策树的分类。银行的数据分析师希望通过历史的贷款记录，包括</a:t>
            </a:r>
            <a:r>
              <a:rPr lang="zh-CN" altLang="zh-CN" dirty="0">
                <a:solidFill>
                  <a:schemeClr val="accent2"/>
                </a:solidFill>
                <a:latin typeface="Times New Roman" panose="02020603050405020304" pitchFamily="18" charset="0"/>
                <a:ea typeface="楷体_GB2312"/>
                <a:cs typeface="Times New Roman" panose="02020603050405020304" pitchFamily="18" charset="0"/>
              </a:rPr>
              <a:t>用户的四种特征（年龄，银行流水，婚姻状况，房产状况）以及最终是否给予贷款</a:t>
            </a:r>
            <a:r>
              <a:rPr lang="zh-CN" altLang="zh-CN" dirty="0">
                <a:solidFill>
                  <a:srgbClr val="000000"/>
                </a:solidFill>
                <a:latin typeface="Times New Roman" panose="02020603050405020304" pitchFamily="18" charset="0"/>
                <a:ea typeface="楷体_GB2312"/>
                <a:cs typeface="Times New Roman" panose="02020603050405020304" pitchFamily="18" charset="0"/>
              </a:rPr>
              <a:t>，来建立分类模型辅助决策者进行决策。</a:t>
            </a:r>
          </a:p>
          <a:p>
            <a:pPr marL="285750" indent="-285750" algn="just">
              <a:lnSpc>
                <a:spcPct val="1500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银行收集整理的数据如表</a:t>
            </a:r>
            <a:r>
              <a:rPr lang="en-US" altLang="zh-CN" dirty="0">
                <a:solidFill>
                  <a:srgbClr val="000000"/>
                </a:solidFill>
                <a:latin typeface="Times New Roman" panose="02020603050405020304" pitchFamily="18" charset="0"/>
                <a:ea typeface="楷体_GB2312"/>
                <a:cs typeface="Times New Roman" panose="02020603050405020304" pitchFamily="18" charset="0"/>
              </a:rPr>
              <a:t>4.5</a:t>
            </a:r>
            <a:r>
              <a:rPr lang="zh-CN" altLang="zh-CN" dirty="0">
                <a:solidFill>
                  <a:srgbClr val="000000"/>
                </a:solidFill>
                <a:latin typeface="Times New Roman" panose="02020603050405020304" pitchFamily="18" charset="0"/>
                <a:ea typeface="楷体_GB2312"/>
                <a:cs typeface="Times New Roman" panose="02020603050405020304" pitchFamily="18" charset="0"/>
              </a:rPr>
              <a:t>所示</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p:spTree>
    <p:extLst>
      <p:ext uri="{BB962C8B-B14F-4D97-AF65-F5344CB8AC3E}">
        <p14:creationId xmlns:p14="http://schemas.microsoft.com/office/powerpoint/2010/main" val="1336200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pic>
        <p:nvPicPr>
          <p:cNvPr id="6" name="图片 5">
            <a:extLst>
              <a:ext uri="{FF2B5EF4-FFF2-40B4-BE49-F238E27FC236}">
                <a16:creationId xmlns:a16="http://schemas.microsoft.com/office/drawing/2014/main" id="{3A5DF249-D90D-4324-9062-430603D57809}"/>
              </a:ext>
            </a:extLst>
          </p:cNvPr>
          <p:cNvPicPr>
            <a:picLocks noChangeAspect="1"/>
          </p:cNvPicPr>
          <p:nvPr/>
        </p:nvPicPr>
        <p:blipFill>
          <a:blip r:embed="rId3"/>
          <a:stretch>
            <a:fillRect/>
          </a:stretch>
        </p:blipFill>
        <p:spPr>
          <a:xfrm>
            <a:off x="1236725" y="2459631"/>
            <a:ext cx="2806844" cy="2650633"/>
          </a:xfrm>
          <a:prstGeom prst="rect">
            <a:avLst/>
          </a:prstGeom>
        </p:spPr>
      </p:pic>
      <p:sp>
        <p:nvSpPr>
          <p:cNvPr id="9" name="矩形 8">
            <a:extLst>
              <a:ext uri="{FF2B5EF4-FFF2-40B4-BE49-F238E27FC236}">
                <a16:creationId xmlns:a16="http://schemas.microsoft.com/office/drawing/2014/main" id="{F8EF9B79-D64E-4618-A2DF-FA469F7408BB}"/>
              </a:ext>
            </a:extLst>
          </p:cNvPr>
          <p:cNvSpPr/>
          <p:nvPr/>
        </p:nvSpPr>
        <p:spPr>
          <a:xfrm>
            <a:off x="4202349" y="1874603"/>
            <a:ext cx="7594059" cy="4480714"/>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第一层是年龄状况，分为小于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岁至</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岁，大于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岁三种取值。</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如果年龄在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岁之间，样本子集为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 7, 12, 13}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，这些样本的标签均为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给予贷款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，所以为叶子节点。 </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如果年龄大于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，样本子集为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 2, 8, 9, 11}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，这些样本具有不同的标签，要进一步使用其他属性对这个样本子集进行划分。经观察，通过</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是否结婚</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这一属性值，可以将该样本子集进一步划分成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 2, 8}</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（未婚）和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{9, 11}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（已婚）两个样本子集。此时这两个样本子集内标签一样，不需要再划分。</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如果年龄小于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岁，样本子集为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{4, 5, 6, 10, 14}</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，这些样本具有不同的标签，同样需要继续划分。通过观察，</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拥有房产</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这个属性值可将该样本子集进一步划分成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{4, 5, 10}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（无房产）和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 14}</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（有房产）两个样本子集。此时这两个样本子集内标签一样，不需要再划分。</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银行流水</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这一特点及其属性值在这次决策树构造过程中没有使用。</a:t>
            </a:r>
          </a:p>
        </p:txBody>
      </p:sp>
    </p:spTree>
    <p:extLst>
      <p:ext uri="{BB962C8B-B14F-4D97-AF65-F5344CB8AC3E}">
        <p14:creationId xmlns:p14="http://schemas.microsoft.com/office/powerpoint/2010/main" val="19600303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决策树：构建决策树</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sp>
        <p:nvSpPr>
          <p:cNvPr id="7" name="矩形 6">
            <a:extLst>
              <a:ext uri="{FF2B5EF4-FFF2-40B4-BE49-F238E27FC236}">
                <a16:creationId xmlns:a16="http://schemas.microsoft.com/office/drawing/2014/main" id="{B25F9F8E-04D9-445D-9343-DE9AA0A9D028}"/>
              </a:ext>
            </a:extLst>
          </p:cNvPr>
          <p:cNvSpPr/>
          <p:nvPr/>
        </p:nvSpPr>
        <p:spPr>
          <a:xfrm>
            <a:off x="1018161" y="1783368"/>
            <a:ext cx="10155677" cy="4497834"/>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建立决策树的过程，就是不断选择属性值对样本集进行划分，直至每个子样本为同一个类别。</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上面的案例数据较少，我们可以通过观察或是穷举的方法来不断选择属性值对样本集进行划分，对于较大的数据集，需要理论和方法来评价不同属性值划分的子样本集的好坏程度，并基于该方法构建决策树。</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构建决策树时划分属性的顺序选择是重要的。性能好的决策树随着划分不断进行，决策树分支结点样本集的</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纯度</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会越来越高，即其所包含样本尽可能属于相同类别。</a:t>
            </a:r>
          </a:p>
          <a:p>
            <a:pPr marL="285750" indent="-285750">
              <a:lnSpc>
                <a:spcPct val="150000"/>
              </a:lnSpc>
              <a:buFont typeface="Arial" panose="020B0604020202020204" pitchFamily="34" charset="0"/>
              <a:buChar char="•"/>
            </a:pP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信息熵（</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entropy</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）就是一种衡量样本集合</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纯度</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的一种指标</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，如果我们计算选择不同属性划分后样本集的</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纯度</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，那么就可以比较和选择属性。</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信息熵越大，说明该集合的不确定性越大，</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纯度</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越低。</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选择属性划分样本集前后信息熵的减少量被称为</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信息增益（</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information gain</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，也就是说信息增益被用来衡量样本集合复杂度（不确定性）所减少的程度。</a:t>
            </a:r>
          </a:p>
          <a:p>
            <a:pPr indent="266700" algn="just">
              <a:lnSpc>
                <a:spcPts val="2200"/>
              </a:lnSpc>
              <a:spcAft>
                <a:spcPts val="0"/>
              </a:spcAft>
            </a:pPr>
            <a:endPar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30117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决策树：构建决策树</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DFA6330-E080-46FC-A7A0-AD9CA8E7D3CF}"/>
                  </a:ext>
                </a:extLst>
              </p:cNvPr>
              <p:cNvSpPr/>
              <p:nvPr/>
            </p:nvSpPr>
            <p:spPr>
              <a:xfrm>
                <a:off x="1063557" y="1529731"/>
                <a:ext cx="10389140" cy="4583242"/>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假设有</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个信息，其组成了集合样本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𝐷</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，记第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个信息发生的概率为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𝑝</m:t>
                        </m:r>
                      </m:e>
                      <m:sub>
                        <m:r>
                          <a:rPr lang="en-US" altLang="zh-CN" i="1">
                            <a:solidFill>
                              <a:srgbClr val="000000"/>
                            </a:solidFill>
                            <a:latin typeface="Cambria Math" panose="02040503050406030204" pitchFamily="18" charset="0"/>
                            <a:ea typeface="楷体_GB2312"/>
                            <a:cs typeface="Times New Roman" panose="02020603050405020304" pitchFamily="18" charset="0"/>
                          </a:rPr>
                          <m:t>𝑘</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1≤</m:t>
                    </m:r>
                    <m:r>
                      <a:rPr lang="en-US" altLang="zh-CN" i="1">
                        <a:solidFill>
                          <a:srgbClr val="000000"/>
                        </a:solidFill>
                        <a:latin typeface="Cambria Math" panose="02040503050406030204" pitchFamily="18" charset="0"/>
                        <a:ea typeface="楷体_GB2312"/>
                        <a:cs typeface="Times New Roman" panose="02020603050405020304" pitchFamily="18" charset="0"/>
                      </a:rPr>
                      <m:t>𝑘</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𝐾</m:t>
                    </m:r>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。如下定义这</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个信息的信息熵：</a:t>
                </a:r>
              </a:p>
              <a:p>
                <a:pPr>
                  <a:lnSpc>
                    <a:spcPct val="150000"/>
                  </a:lnSpc>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𝐸</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d>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𝐾</m:t>
                          </m:r>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func>
                            <m:func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fName>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e>
                          </m:func>
                        </m:e>
                      </m:nary>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𝐸</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𝐷</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值越小，表示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𝐷</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包含的信息越确定，也称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𝐷</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的纯度越高。需要指出，所有</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𝑝</m:t>
                        </m:r>
                      </m:e>
                      <m:sub>
                        <m:r>
                          <a:rPr lang="en-US" altLang="zh-CN" i="1">
                            <a:solidFill>
                              <a:srgbClr val="000000"/>
                            </a:solidFill>
                            <a:latin typeface="Cambria Math" panose="02040503050406030204" pitchFamily="18" charset="0"/>
                            <a:ea typeface="楷体_GB2312"/>
                            <a:cs typeface="Times New Roman" panose="02020603050405020304" pitchFamily="18" charset="0"/>
                          </a:rPr>
                          <m:t>𝑘</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累加起来的和为</a:t>
                </a:r>
                <a:r>
                  <a:rPr lang="en-US" altLang="zh-CN" dirty="0">
                    <a:solidFill>
                      <a:srgbClr val="000000"/>
                    </a:solidFill>
                    <a:latin typeface="Times New Roman" panose="02020603050405020304" pitchFamily="18" charset="0"/>
                    <a:ea typeface="楷体_GB2312"/>
                    <a:cs typeface="Times New Roman" panose="02020603050405020304" pitchFamily="18" charset="0"/>
                  </a:rPr>
                  <a:t>1</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现在应用熵这个度量标准来构建决策树。表</a:t>
                </a:r>
                <a:r>
                  <a:rPr lang="en-US" altLang="zh-CN" dirty="0">
                    <a:solidFill>
                      <a:srgbClr val="000000"/>
                    </a:solidFill>
                    <a:latin typeface="Times New Roman" panose="02020603050405020304" pitchFamily="18" charset="0"/>
                    <a:ea typeface="楷体_GB2312"/>
                    <a:cs typeface="Times New Roman" panose="02020603050405020304" pitchFamily="18" charset="0"/>
                  </a:rPr>
                  <a:t>4.5 </a:t>
                </a:r>
                <a:r>
                  <a:rPr lang="zh-CN" altLang="zh-CN" dirty="0">
                    <a:solidFill>
                      <a:srgbClr val="000000"/>
                    </a:solidFill>
                    <a:latin typeface="Times New Roman" panose="02020603050405020304" pitchFamily="18" charset="0"/>
                    <a:ea typeface="楷体_GB2312"/>
                    <a:cs typeface="Times New Roman" panose="02020603050405020304" pitchFamily="18" charset="0"/>
                  </a:rPr>
                  <a:t>中</a:t>
                </a:r>
                <a:r>
                  <a:rPr lang="en-US" altLang="zh-CN" dirty="0">
                    <a:solidFill>
                      <a:srgbClr val="000000"/>
                    </a:solidFill>
                    <a:latin typeface="Times New Roman" panose="02020603050405020304" pitchFamily="18" charset="0"/>
                    <a:ea typeface="楷体_GB2312"/>
                    <a:cs typeface="Times New Roman" panose="02020603050405020304" pitchFamily="18" charset="0"/>
                  </a:rPr>
                  <a:t>14</a:t>
                </a:r>
                <a:r>
                  <a:rPr lang="zh-CN" altLang="zh-CN" dirty="0">
                    <a:solidFill>
                      <a:srgbClr val="000000"/>
                    </a:solidFill>
                    <a:latin typeface="Times New Roman" panose="02020603050405020304" pitchFamily="18" charset="0"/>
                    <a:ea typeface="楷体_GB2312"/>
                    <a:cs typeface="Times New Roman" panose="02020603050405020304" pitchFamily="18" charset="0"/>
                  </a:rPr>
                  <a:t>个样本分属于</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给予贷款（</a:t>
                </a:r>
                <a:r>
                  <a:rPr lang="en-US" altLang="zh-CN" dirty="0">
                    <a:solidFill>
                      <a:srgbClr val="000000"/>
                    </a:solidFill>
                    <a:latin typeface="Times New Roman" panose="02020603050405020304" pitchFamily="18" charset="0"/>
                    <a:ea typeface="楷体_GB2312"/>
                    <a:cs typeface="Times New Roman" panose="02020603050405020304" pitchFamily="18" charset="0"/>
                  </a:rPr>
                  <a:t>9 </a:t>
                </a:r>
                <a:r>
                  <a:rPr lang="zh-CN" altLang="zh-CN" dirty="0">
                    <a:solidFill>
                      <a:srgbClr val="000000"/>
                    </a:solidFill>
                    <a:latin typeface="Times New Roman" panose="02020603050405020304" pitchFamily="18" charset="0"/>
                    <a:ea typeface="楷体_GB2312"/>
                    <a:cs typeface="Times New Roman" panose="02020603050405020304" pitchFamily="18" charset="0"/>
                  </a:rPr>
                  <a:t>个样本）</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不给予贷款（</a:t>
                </a:r>
                <a:r>
                  <a:rPr lang="en-US" altLang="zh-CN" dirty="0">
                    <a:solidFill>
                      <a:srgbClr val="000000"/>
                    </a:solidFill>
                    <a:latin typeface="Times New Roman" panose="02020603050405020304" pitchFamily="18" charset="0"/>
                    <a:ea typeface="楷体_GB2312"/>
                    <a:cs typeface="Times New Roman" panose="02020603050405020304" pitchFamily="18" charset="0"/>
                  </a:rPr>
                  <a:t>5 </a:t>
                </a:r>
                <a:r>
                  <a:rPr lang="zh-CN" altLang="zh-CN" dirty="0">
                    <a:solidFill>
                      <a:srgbClr val="000000"/>
                    </a:solidFill>
                    <a:latin typeface="Times New Roman" panose="02020603050405020304" pitchFamily="18" charset="0"/>
                    <a:ea typeface="楷体_GB2312"/>
                    <a:cs typeface="Times New Roman" panose="02020603050405020304" pitchFamily="18" charset="0"/>
                  </a:rPr>
                  <a:t>个样本）</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两个类别，即 </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m:t>
                    </m:r>
                    <m:r>
                      <a:rPr lang="en-US" altLang="zh-CN" i="1">
                        <a:solidFill>
                          <a:srgbClr val="000000"/>
                        </a:solidFill>
                        <a:latin typeface="Cambria Math" panose="02040503050406030204" pitchFamily="18" charset="0"/>
                        <a:ea typeface="楷体_GB2312"/>
                        <a:cs typeface="Times New Roman" panose="02020603050405020304" pitchFamily="18" charset="0"/>
                      </a:rPr>
                      <m:t>=2</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gn="ctr">
                  <a:lnSpc>
                    <a:spcPct val="150000"/>
                  </a:lnSpc>
                  <a:spcAft>
                    <a:spcPts val="60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等线" panose="02010600030101010101" pitchFamily="2" charset="-122"/>
                          <a:cs typeface="Times New Roman" panose="02020603050405020304" pitchFamily="18" charset="0"/>
                        </a:rPr>
                        <m:t>𝐸𝑛𝑡</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𝐷</m:t>
                          </m:r>
                        </m:e>
                      </m:d>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r>
                            <a:rPr lang="en-US" altLang="zh-CN"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latin typeface="Cambria Math" panose="02040503050406030204" pitchFamily="18" charset="0"/>
                              <a:ea typeface="等线" panose="02010600030101010101" pitchFamily="2" charset="-122"/>
                              <a:cs typeface="Times New Roman" panose="02020603050405020304" pitchFamily="18" charset="0"/>
                            </a:rPr>
                            <m:t>2</m:t>
                          </m:r>
                        </m:sup>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sub>
                          </m:sSub>
                          <m:func>
                            <m:func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uncPr>
                            <m:fName>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kern="100">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2</m:t>
                                  </m:r>
                                </m:sub>
                                <m:sup/>
                              </m:sSub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sub>
                              </m:sSub>
                            </m:fName>
                            <m:e>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等线" panose="02010600030101010101" pitchFamily="2" charset="-122"/>
                                          <a:cs typeface="Times New Roman" panose="02020603050405020304" pitchFamily="18" charset="0"/>
                                        </a:rPr>
                                        <m:t>9</m:t>
                                      </m:r>
                                    </m:num>
                                    <m:den>
                                      <m:r>
                                        <a:rPr lang="en-US" altLang="zh-CN" i="1" kern="100">
                                          <a:latin typeface="Cambria Math" panose="02040503050406030204" pitchFamily="18" charset="0"/>
                                          <a:ea typeface="等线" panose="02010600030101010101" pitchFamily="2" charset="-122"/>
                                          <a:cs typeface="Times New Roman" panose="02020603050405020304" pitchFamily="18" charset="0"/>
                                        </a:rPr>
                                        <m:t>14</m:t>
                                      </m:r>
                                    </m:den>
                                  </m:f>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2</m:t>
                                          </m:r>
                                        </m:sub>
                                      </m:sSub>
                                    </m:fName>
                                    <m:e>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等线" panose="02010600030101010101" pitchFamily="2" charset="-122"/>
                                              <a:cs typeface="Times New Roman" panose="02020603050405020304" pitchFamily="18" charset="0"/>
                                            </a:rPr>
                                            <m:t>9</m:t>
                                          </m:r>
                                        </m:num>
                                        <m:den>
                                          <m:r>
                                            <a:rPr lang="en-US" altLang="zh-CN" i="1" kern="100">
                                              <a:latin typeface="Cambria Math" panose="02040503050406030204" pitchFamily="18" charset="0"/>
                                              <a:ea typeface="等线" panose="02010600030101010101" pitchFamily="2" charset="-122"/>
                                              <a:cs typeface="Times New Roman" panose="02020603050405020304" pitchFamily="18" charset="0"/>
                                            </a:rPr>
                                            <m:t>14</m:t>
                                          </m:r>
                                        </m:den>
                                      </m:f>
                                    </m:e>
                                  </m:func>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等线" panose="02010600030101010101" pitchFamily="2" charset="-122"/>
                                          <a:cs typeface="Times New Roman" panose="02020603050405020304" pitchFamily="18" charset="0"/>
                                        </a:rPr>
                                        <m:t>5</m:t>
                                      </m:r>
                                    </m:num>
                                    <m:den>
                                      <m:r>
                                        <a:rPr lang="en-US" altLang="zh-CN" i="1" kern="100">
                                          <a:latin typeface="Cambria Math" panose="02040503050406030204" pitchFamily="18" charset="0"/>
                                          <a:ea typeface="等线" panose="02010600030101010101" pitchFamily="2" charset="-122"/>
                                          <a:cs typeface="Times New Roman" panose="02020603050405020304" pitchFamily="18" charset="0"/>
                                        </a:rPr>
                                        <m:t>14</m:t>
                                      </m:r>
                                    </m:den>
                                  </m:f>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2</m:t>
                                          </m:r>
                                        </m:sub>
                                      </m:sSub>
                                    </m:fName>
                                    <m:e>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等线" panose="02010600030101010101" pitchFamily="2" charset="-122"/>
                                              <a:cs typeface="Times New Roman" panose="02020603050405020304" pitchFamily="18" charset="0"/>
                                            </a:rPr>
                                            <m:t>5</m:t>
                                          </m:r>
                                        </m:num>
                                        <m:den>
                                          <m:r>
                                            <a:rPr lang="en-US" altLang="zh-CN" i="1" kern="100">
                                              <a:latin typeface="Cambria Math" panose="02040503050406030204" pitchFamily="18" charset="0"/>
                                              <a:ea typeface="等线" panose="02010600030101010101" pitchFamily="2" charset="-122"/>
                                              <a:cs typeface="Times New Roman" panose="02020603050405020304" pitchFamily="18" charset="0"/>
                                            </a:rPr>
                                            <m:t>14</m:t>
                                          </m:r>
                                        </m:den>
                                      </m:f>
                                    </m:e>
                                  </m:func>
                                </m:e>
                              </m:d>
                              <m:r>
                                <a:rPr lang="en-US" altLang="zh-CN" i="1" kern="100">
                                  <a:latin typeface="Cambria Math" panose="02040503050406030204" pitchFamily="18" charset="0"/>
                                  <a:ea typeface="等线" panose="02010600030101010101" pitchFamily="2" charset="-122"/>
                                  <a:cs typeface="Times New Roman" panose="02020603050405020304" pitchFamily="18" charset="0"/>
                                </a:rPr>
                                <m:t>=0.940</m:t>
                              </m:r>
                            </m:e>
                          </m:func>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ADFA6330-E080-46FC-A7A0-AD9CA8E7D3CF}"/>
                  </a:ext>
                </a:extLst>
              </p:cNvPr>
              <p:cNvSpPr>
                <a:spLocks noRot="1" noChangeAspect="1" noMove="1" noResize="1" noEditPoints="1" noAdjustHandles="1" noChangeArrowheads="1" noChangeShapeType="1" noTextEdit="1"/>
              </p:cNvSpPr>
              <p:nvPr/>
            </p:nvSpPr>
            <p:spPr>
              <a:xfrm>
                <a:off x="1063557" y="1529731"/>
                <a:ext cx="10389140" cy="4583242"/>
              </a:xfrm>
              <a:prstGeom prst="rect">
                <a:avLst/>
              </a:prstGeom>
              <a:blipFill>
                <a:blip r:embed="rId3"/>
                <a:stretch>
                  <a:fillRect l="-469" r="-4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744771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决策树：熵的由来？熵的具体含义？</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DFA6330-E080-46FC-A7A0-AD9CA8E7D3CF}"/>
                  </a:ext>
                </a:extLst>
              </p:cNvPr>
              <p:cNvSpPr/>
              <p:nvPr/>
            </p:nvSpPr>
            <p:spPr>
              <a:xfrm>
                <a:off x="1063557" y="1529731"/>
                <a:ext cx="10389140" cy="2091663"/>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假设有</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个信息，其组成了集合样本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𝐷</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，记第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个信息发生的概率为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𝑝</m:t>
                        </m:r>
                      </m:e>
                      <m:sub>
                        <m:r>
                          <a:rPr lang="en-US" altLang="zh-CN" i="1">
                            <a:solidFill>
                              <a:srgbClr val="000000"/>
                            </a:solidFill>
                            <a:latin typeface="Cambria Math" panose="02040503050406030204" pitchFamily="18" charset="0"/>
                            <a:ea typeface="楷体_GB2312"/>
                            <a:cs typeface="Times New Roman" panose="02020603050405020304" pitchFamily="18" charset="0"/>
                          </a:rPr>
                          <m:t>𝑘</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1≤</m:t>
                    </m:r>
                    <m:r>
                      <a:rPr lang="en-US" altLang="zh-CN" i="1">
                        <a:solidFill>
                          <a:srgbClr val="000000"/>
                        </a:solidFill>
                        <a:latin typeface="Cambria Math" panose="02040503050406030204" pitchFamily="18" charset="0"/>
                        <a:ea typeface="楷体_GB2312"/>
                        <a:cs typeface="Times New Roman" panose="02020603050405020304" pitchFamily="18" charset="0"/>
                      </a:rPr>
                      <m:t>𝑘</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𝐾</m:t>
                    </m:r>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。如下定义这</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个信息的信息熵：</a:t>
                </a:r>
              </a:p>
              <a:p>
                <a:pPr>
                  <a:lnSpc>
                    <a:spcPct val="150000"/>
                  </a:lnSpc>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𝐸</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d>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𝐾</m:t>
                          </m:r>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func>
                            <m:func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fName>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e>
                          </m:func>
                        </m:e>
                      </m:nary>
                      <m:r>
                        <a:rPr lang="en-US" altLang="zh-CN" b="0"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𝐾</m:t>
                          </m:r>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func>
                            <m:func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fName>
                            <m:e>
                              <m:f>
                                <m:fPr>
                                  <m:ctrlPr>
                                    <a:rPr lang="en-US" altLang="zh-CN"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fPr>
                                <m:num>
                                  <m:r>
                                    <a:rPr lang="en-US" altLang="zh-CN" b="0"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den>
                              </m:f>
                            </m:e>
                          </m:func>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ADFA6330-E080-46FC-A7A0-AD9CA8E7D3CF}"/>
                  </a:ext>
                </a:extLst>
              </p:cNvPr>
              <p:cNvSpPr>
                <a:spLocks noRot="1" noChangeAspect="1" noMove="1" noResize="1" noEditPoints="1" noAdjustHandles="1" noChangeArrowheads="1" noChangeShapeType="1" noTextEdit="1"/>
              </p:cNvSpPr>
              <p:nvPr/>
            </p:nvSpPr>
            <p:spPr>
              <a:xfrm>
                <a:off x="1063557" y="1529731"/>
                <a:ext cx="10389140" cy="2091663"/>
              </a:xfrm>
              <a:prstGeom prst="rect">
                <a:avLst/>
              </a:prstGeom>
              <a:blipFill>
                <a:blip r:embed="rId3"/>
                <a:stretch>
                  <a:fillRect l="-469"/>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EB3E042-0666-6698-0382-CDB2619A2843}"/>
              </a:ext>
            </a:extLst>
          </p:cNvPr>
          <p:cNvSpPr txBox="1"/>
          <p:nvPr/>
        </p:nvSpPr>
        <p:spPr>
          <a:xfrm>
            <a:off x="1063557" y="5270232"/>
            <a:ext cx="10229754" cy="1477328"/>
          </a:xfrm>
          <a:prstGeom prst="rect">
            <a:avLst/>
          </a:prstGeom>
          <a:noFill/>
        </p:spPr>
        <p:txBody>
          <a:bodyPr wrap="square">
            <a:spAutoFit/>
          </a:bodyPr>
          <a:lstStyle/>
          <a:p>
            <a:r>
              <a:rPr lang="zh-CN" altLang="en-US" dirty="0"/>
              <a:t>熵是热力学中描述系统无序程度的物理量，也是宇宙演化方向的核心标尺。这一概念最早由克劳修斯于</a:t>
            </a:r>
            <a:r>
              <a:rPr lang="en-US" altLang="zh-CN" dirty="0"/>
              <a:t>1854</a:t>
            </a:r>
            <a:r>
              <a:rPr lang="zh-CN" altLang="en-US" dirty="0"/>
              <a:t>年提出，用于表征物质状态的参量，其物理意义是体系混乱程度的度量。</a:t>
            </a:r>
            <a:r>
              <a:rPr lang="en-US" altLang="zh-CN" dirty="0"/>
              <a:t>1948</a:t>
            </a:r>
            <a:r>
              <a:rPr lang="zh-CN" altLang="en-US" dirty="0"/>
              <a:t>年，香农将熵引入信息论，进一步扩展了其应用范围。</a:t>
            </a:r>
            <a:r>
              <a:rPr lang="zh-CN" altLang="en-US" dirty="0">
                <a:solidFill>
                  <a:schemeClr val="accent2"/>
                </a:solidFill>
              </a:rPr>
              <a:t>一件一定会发生的事情发生了，我们一点也不惊讶，因为没什么信息量；但是假如一件几乎不可能发生的事情发生了，我们会非常惊讶，因为这个事情的信息量太大。</a:t>
            </a:r>
          </a:p>
        </p:txBody>
      </p:sp>
      <p:sp>
        <p:nvSpPr>
          <p:cNvPr id="11" name="矩形 10">
            <a:extLst>
              <a:ext uri="{FF2B5EF4-FFF2-40B4-BE49-F238E27FC236}">
                <a16:creationId xmlns:a16="http://schemas.microsoft.com/office/drawing/2014/main" id="{AE9E6FBF-5B27-F062-7CDC-5342B79C10E3}"/>
              </a:ext>
            </a:extLst>
          </p:cNvPr>
          <p:cNvSpPr/>
          <p:nvPr/>
        </p:nvSpPr>
        <p:spPr>
          <a:xfrm>
            <a:off x="430399" y="4116319"/>
            <a:ext cx="2055044" cy="395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3B9D28C-E91C-0729-3FD5-3700A735B999}"/>
              </a:ext>
            </a:extLst>
          </p:cNvPr>
          <p:cNvSpPr/>
          <p:nvPr/>
        </p:nvSpPr>
        <p:spPr>
          <a:xfrm>
            <a:off x="837323" y="4116319"/>
            <a:ext cx="545184" cy="3959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875DECF-0F3A-E7EB-A6E7-C032CAE1E11D}"/>
                  </a:ext>
                </a:extLst>
              </p:cNvPr>
              <p:cNvSpPr txBox="1"/>
              <p:nvPr/>
            </p:nvSpPr>
            <p:spPr>
              <a:xfrm>
                <a:off x="889563" y="4069184"/>
                <a:ext cx="44070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oMath>
                  </m:oMathPara>
                </a14:m>
                <a:endParaRPr lang="zh-CN" altLang="en-US" dirty="0"/>
              </a:p>
            </p:txBody>
          </p:sp>
        </mc:Choice>
        <mc:Fallback xmlns="">
          <p:sp>
            <p:nvSpPr>
              <p:cNvPr id="14" name="文本框 13">
                <a:extLst>
                  <a:ext uri="{FF2B5EF4-FFF2-40B4-BE49-F238E27FC236}">
                    <a16:creationId xmlns:a16="http://schemas.microsoft.com/office/drawing/2014/main" id="{7875DECF-0F3A-E7EB-A6E7-C032CAE1E11D}"/>
                  </a:ext>
                </a:extLst>
              </p:cNvPr>
              <p:cNvSpPr txBox="1">
                <a:spLocks noRot="1" noChangeAspect="1" noMove="1" noResize="1" noEditPoints="1" noAdjustHandles="1" noChangeArrowheads="1" noChangeShapeType="1" noTextEdit="1"/>
              </p:cNvSpPr>
              <p:nvPr/>
            </p:nvSpPr>
            <p:spPr>
              <a:xfrm>
                <a:off x="889563" y="4069184"/>
                <a:ext cx="440703" cy="369332"/>
              </a:xfrm>
              <a:prstGeom prst="rect">
                <a:avLst/>
              </a:prstGeom>
              <a:blipFill>
                <a:blip r:embed="rId4"/>
                <a:stretch>
                  <a:fillRect b="-6667"/>
                </a:stretch>
              </a:blipFill>
            </p:spPr>
            <p:txBody>
              <a:bodyPr/>
              <a:lstStyle/>
              <a:p>
                <a:r>
                  <a:rPr lang="zh-CN" altLang="en-US">
                    <a:noFill/>
                  </a:rPr>
                  <a:t> </a:t>
                </a:r>
              </a:p>
            </p:txBody>
          </p:sp>
        </mc:Fallback>
      </mc:AlternateContent>
      <p:sp>
        <p:nvSpPr>
          <p:cNvPr id="15" name="右大括号 14">
            <a:extLst>
              <a:ext uri="{FF2B5EF4-FFF2-40B4-BE49-F238E27FC236}">
                <a16:creationId xmlns:a16="http://schemas.microsoft.com/office/drawing/2014/main" id="{56CB88B7-D7AC-06B6-CE77-1317A7E6B418}"/>
              </a:ext>
            </a:extLst>
          </p:cNvPr>
          <p:cNvSpPr/>
          <p:nvPr/>
        </p:nvSpPr>
        <p:spPr>
          <a:xfrm rot="16200000">
            <a:off x="1318876" y="2882235"/>
            <a:ext cx="278094" cy="205504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19413E70-5299-D197-A127-B6836177BDEC}"/>
              </a:ext>
            </a:extLst>
          </p:cNvPr>
          <p:cNvSpPr txBox="1"/>
          <p:nvPr/>
        </p:nvSpPr>
        <p:spPr>
          <a:xfrm>
            <a:off x="1315349" y="3467367"/>
            <a:ext cx="413121" cy="369332"/>
          </a:xfrm>
          <a:prstGeom prst="rect">
            <a:avLst/>
          </a:prstGeom>
          <a:noFill/>
        </p:spPr>
        <p:txBody>
          <a:bodyPr wrap="square">
            <a:spAutoFit/>
          </a:bodyPr>
          <a:lstStyle/>
          <a:p>
            <a:r>
              <a:rPr lang="en-US" altLang="zh-CN" dirty="0"/>
              <a:t>1</a:t>
            </a:r>
            <a:endParaRPr lang="zh-CN" altLang="en-US" dirty="0"/>
          </a:p>
        </p:txBody>
      </p:sp>
      <p:sp>
        <p:nvSpPr>
          <p:cNvPr id="17" name="箭头: 右 16">
            <a:extLst>
              <a:ext uri="{FF2B5EF4-FFF2-40B4-BE49-F238E27FC236}">
                <a16:creationId xmlns:a16="http://schemas.microsoft.com/office/drawing/2014/main" id="{C0202101-85C1-2DDF-27CF-A06F76E77B10}"/>
              </a:ext>
            </a:extLst>
          </p:cNvPr>
          <p:cNvSpPr/>
          <p:nvPr/>
        </p:nvSpPr>
        <p:spPr>
          <a:xfrm>
            <a:off x="2934993" y="4101582"/>
            <a:ext cx="185787" cy="71643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25008B5-CE73-7896-0BA7-1EA10695DBBF}"/>
                  </a:ext>
                </a:extLst>
              </p:cNvPr>
              <p:cNvSpPr txBox="1"/>
              <p:nvPr/>
            </p:nvSpPr>
            <p:spPr>
              <a:xfrm>
                <a:off x="0" y="4571908"/>
                <a:ext cx="2851714" cy="369332"/>
              </a:xfrm>
              <a:prstGeom prst="rect">
                <a:avLst/>
              </a:prstGeom>
              <a:noFill/>
            </p:spPr>
            <p:txBody>
              <a:bodyPr wrap="square">
                <a:spAutoFit/>
              </a:bodyPr>
              <a:lstStyle/>
              <a:p>
                <a:r>
                  <a:rPr lang="zh-CN" altLang="en-US" dirty="0"/>
                  <a:t>第</a:t>
                </a:r>
                <a:r>
                  <a:rPr lang="en-US" altLang="zh-CN" dirty="0"/>
                  <a:t>k</a:t>
                </a:r>
                <a:r>
                  <a:rPr lang="zh-CN" altLang="en-US" dirty="0"/>
                  <a:t>个事情发生的概率为</a:t>
                </a:r>
                <a14:m>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oMath>
                </a14:m>
                <a:endParaRPr lang="zh-CN" altLang="en-US" dirty="0"/>
              </a:p>
            </p:txBody>
          </p:sp>
        </mc:Choice>
        <mc:Fallback xmlns="">
          <p:sp>
            <p:nvSpPr>
              <p:cNvPr id="22" name="文本框 21">
                <a:extLst>
                  <a:ext uri="{FF2B5EF4-FFF2-40B4-BE49-F238E27FC236}">
                    <a16:creationId xmlns:a16="http://schemas.microsoft.com/office/drawing/2014/main" id="{525008B5-CE73-7896-0BA7-1EA10695DBBF}"/>
                  </a:ext>
                </a:extLst>
              </p:cNvPr>
              <p:cNvSpPr txBox="1">
                <a:spLocks noRot="1" noChangeAspect="1" noMove="1" noResize="1" noEditPoints="1" noAdjustHandles="1" noChangeArrowheads="1" noChangeShapeType="1" noTextEdit="1"/>
              </p:cNvSpPr>
              <p:nvPr/>
            </p:nvSpPr>
            <p:spPr>
              <a:xfrm>
                <a:off x="0" y="4571908"/>
                <a:ext cx="2851714" cy="369332"/>
              </a:xfrm>
              <a:prstGeom prst="rect">
                <a:avLst/>
              </a:prstGeom>
              <a:blipFill>
                <a:blip r:embed="rId5"/>
                <a:stretch>
                  <a:fillRect l="-1709" t="-14754"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B2B63954-5429-EA22-622A-38E7C761369C}"/>
                  </a:ext>
                </a:extLst>
              </p:cNvPr>
              <p:cNvSpPr txBox="1"/>
              <p:nvPr/>
            </p:nvSpPr>
            <p:spPr>
              <a:xfrm>
                <a:off x="3226497" y="4057621"/>
                <a:ext cx="2459887" cy="797078"/>
              </a:xfrm>
              <a:prstGeom prst="rect">
                <a:avLst/>
              </a:prstGeom>
              <a:noFill/>
            </p:spPr>
            <p:txBody>
              <a:bodyPr wrap="square">
                <a:spAutoFit/>
              </a:bodyPr>
              <a:lstStyle/>
              <a:p>
                <a:r>
                  <a:rPr lang="zh-CN" altLang="en-US" dirty="0"/>
                  <a:t>在</a:t>
                </a:r>
                <a:r>
                  <a:rPr lang="en-US" altLang="zh-CN" dirty="0"/>
                  <a:t>1</a:t>
                </a:r>
                <a:r>
                  <a:rPr lang="zh-CN" altLang="en-US" dirty="0"/>
                  <a:t>个单位的事件中，总共有</a:t>
                </a:r>
                <a14:m>
                  <m:oMath xmlns:m="http://schemas.openxmlformats.org/officeDocument/2006/math">
                    <m:f>
                      <m:fPr>
                        <m:ctrlPr>
                          <a:rPr lang="en-US" altLang="zh-CN"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fPr>
                      <m:num>
                        <m:r>
                          <a:rPr lang="en-US" altLang="zh-CN" b="0"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den>
                    </m:f>
                  </m:oMath>
                </a14:m>
                <a:r>
                  <a:rPr lang="zh-CN" altLang="en-US" dirty="0"/>
                  <a:t>个不同的事件</a:t>
                </a:r>
              </a:p>
            </p:txBody>
          </p:sp>
        </mc:Choice>
        <mc:Fallback xmlns="">
          <p:sp>
            <p:nvSpPr>
              <p:cNvPr id="26" name="文本框 25">
                <a:extLst>
                  <a:ext uri="{FF2B5EF4-FFF2-40B4-BE49-F238E27FC236}">
                    <a16:creationId xmlns:a16="http://schemas.microsoft.com/office/drawing/2014/main" id="{B2B63954-5429-EA22-622A-38E7C761369C}"/>
                  </a:ext>
                </a:extLst>
              </p:cNvPr>
              <p:cNvSpPr txBox="1">
                <a:spLocks noRot="1" noChangeAspect="1" noMove="1" noResize="1" noEditPoints="1" noAdjustHandles="1" noChangeArrowheads="1" noChangeShapeType="1" noTextEdit="1"/>
              </p:cNvSpPr>
              <p:nvPr/>
            </p:nvSpPr>
            <p:spPr>
              <a:xfrm>
                <a:off x="3226497" y="4057621"/>
                <a:ext cx="2459887" cy="797078"/>
              </a:xfrm>
              <a:prstGeom prst="rect">
                <a:avLst/>
              </a:prstGeom>
              <a:blipFill>
                <a:blip r:embed="rId6"/>
                <a:stretch>
                  <a:fillRect l="-1980" t="-6923" r="-1980" b="-769"/>
                </a:stretch>
              </a:blipFill>
            </p:spPr>
            <p:txBody>
              <a:bodyPr/>
              <a:lstStyle/>
              <a:p>
                <a:r>
                  <a:rPr lang="zh-CN" altLang="en-US">
                    <a:noFill/>
                  </a:rPr>
                  <a:t> </a:t>
                </a:r>
              </a:p>
            </p:txBody>
          </p:sp>
        </mc:Fallback>
      </mc:AlternateContent>
      <p:sp>
        <p:nvSpPr>
          <p:cNvPr id="27" name="箭头: 右 26">
            <a:extLst>
              <a:ext uri="{FF2B5EF4-FFF2-40B4-BE49-F238E27FC236}">
                <a16:creationId xmlns:a16="http://schemas.microsoft.com/office/drawing/2014/main" id="{DEED6A62-F0E9-381F-1759-A8EE8EEDB379}"/>
              </a:ext>
            </a:extLst>
          </p:cNvPr>
          <p:cNvSpPr/>
          <p:nvPr/>
        </p:nvSpPr>
        <p:spPr>
          <a:xfrm>
            <a:off x="5638198" y="4073133"/>
            <a:ext cx="185787" cy="71643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713C787-2A59-EBD1-6D29-951887303DBD}"/>
                  </a:ext>
                </a:extLst>
              </p:cNvPr>
              <p:cNvSpPr txBox="1"/>
              <p:nvPr/>
            </p:nvSpPr>
            <p:spPr>
              <a:xfrm>
                <a:off x="5823985" y="3723281"/>
                <a:ext cx="2926776" cy="1351075"/>
              </a:xfrm>
              <a:prstGeom prst="rect">
                <a:avLst/>
              </a:prstGeom>
              <a:noFill/>
            </p:spPr>
            <p:txBody>
              <a:bodyPr wrap="square">
                <a:spAutoFit/>
              </a:bodyPr>
              <a:lstStyle/>
              <a:p>
                <a:r>
                  <a:rPr lang="zh-CN" altLang="en-US" dirty="0"/>
                  <a:t>每一个事件都用一个二进制数来索引，那么需要</a:t>
                </a:r>
                <a14:m>
                  <m:oMath xmlns:m="http://schemas.openxmlformats.org/officeDocument/2006/math">
                    <m:func>
                      <m:funcPr>
                        <m:ctrlPr>
                          <a:rPr lang="zh-CN" altLang="zh-CN"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fName>
                      <m:e>
                        <m:f>
                          <m:fPr>
                            <m:ctrlPr>
                              <a:rPr lang="en-US" altLang="zh-CN"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fPr>
                          <m:num>
                            <m:r>
                              <a:rPr lang="en-US" altLang="zh-CN" b="0"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𝑘</m:t>
                                </m:r>
                              </m:sub>
                            </m:sSub>
                          </m:den>
                        </m:f>
                      </m:e>
                    </m:func>
                  </m:oMath>
                </a14:m>
                <a:r>
                  <a:rPr lang="zh-CN" altLang="en-US" dirty="0"/>
                  <a:t>来代表，所需的二进制数的位数</a:t>
                </a:r>
                <a:r>
                  <a:rPr lang="en-US" altLang="zh-CN" dirty="0"/>
                  <a:t>(bits)</a:t>
                </a:r>
                <a:r>
                  <a:rPr lang="zh-CN" altLang="en-US" dirty="0"/>
                  <a:t>越多信息流越大</a:t>
                </a:r>
              </a:p>
            </p:txBody>
          </p:sp>
        </mc:Choice>
        <mc:Fallback xmlns="">
          <p:sp>
            <p:nvSpPr>
              <p:cNvPr id="28" name="文本框 27">
                <a:extLst>
                  <a:ext uri="{FF2B5EF4-FFF2-40B4-BE49-F238E27FC236}">
                    <a16:creationId xmlns:a16="http://schemas.microsoft.com/office/drawing/2014/main" id="{E713C787-2A59-EBD1-6D29-951887303DBD}"/>
                  </a:ext>
                </a:extLst>
              </p:cNvPr>
              <p:cNvSpPr txBox="1">
                <a:spLocks noRot="1" noChangeAspect="1" noMove="1" noResize="1" noEditPoints="1" noAdjustHandles="1" noChangeArrowheads="1" noChangeShapeType="1" noTextEdit="1"/>
              </p:cNvSpPr>
              <p:nvPr/>
            </p:nvSpPr>
            <p:spPr>
              <a:xfrm>
                <a:off x="5823985" y="3723281"/>
                <a:ext cx="2926776" cy="1351075"/>
              </a:xfrm>
              <a:prstGeom prst="rect">
                <a:avLst/>
              </a:prstGeom>
              <a:blipFill>
                <a:blip r:embed="rId7"/>
                <a:stretch>
                  <a:fillRect l="-1667" t="-2715" r="-1875" b="-6787"/>
                </a:stretch>
              </a:blipFill>
            </p:spPr>
            <p:txBody>
              <a:bodyPr/>
              <a:lstStyle/>
              <a:p>
                <a:r>
                  <a:rPr lang="zh-CN" altLang="en-US">
                    <a:noFill/>
                  </a:rPr>
                  <a:t> </a:t>
                </a:r>
              </a:p>
            </p:txBody>
          </p:sp>
        </mc:Fallback>
      </mc:AlternateContent>
      <p:sp>
        <p:nvSpPr>
          <p:cNvPr id="29" name="箭头: 右 28">
            <a:extLst>
              <a:ext uri="{FF2B5EF4-FFF2-40B4-BE49-F238E27FC236}">
                <a16:creationId xmlns:a16="http://schemas.microsoft.com/office/drawing/2014/main" id="{A99A6789-3F70-719E-CA89-E16B07846524}"/>
              </a:ext>
            </a:extLst>
          </p:cNvPr>
          <p:cNvSpPr/>
          <p:nvPr/>
        </p:nvSpPr>
        <p:spPr>
          <a:xfrm>
            <a:off x="8782845" y="4080297"/>
            <a:ext cx="185787" cy="71643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4B2B306B-B27F-C74A-3031-00F53CC111F8}"/>
              </a:ext>
            </a:extLst>
          </p:cNvPr>
          <p:cNvSpPr txBox="1"/>
          <p:nvPr/>
        </p:nvSpPr>
        <p:spPr>
          <a:xfrm>
            <a:off x="9022459" y="3770711"/>
            <a:ext cx="2926775" cy="1200329"/>
          </a:xfrm>
          <a:prstGeom prst="rect">
            <a:avLst/>
          </a:prstGeom>
          <a:noFill/>
        </p:spPr>
        <p:txBody>
          <a:bodyPr wrap="square">
            <a:spAutoFit/>
          </a:bodyPr>
          <a:lstStyle/>
          <a:p>
            <a:r>
              <a:rPr lang="zh-CN" altLang="en-US" dirty="0"/>
              <a:t>求所有事件的平均所需要使用的二进制数的位数</a:t>
            </a:r>
            <a:r>
              <a:rPr lang="en-US" altLang="zh-CN" dirty="0"/>
              <a:t>(bits) </a:t>
            </a:r>
            <a:r>
              <a:rPr lang="zh-CN" altLang="en-US" dirty="0"/>
              <a:t>，即为信息熵。所需要的位数越多，那么信息量越大。</a:t>
            </a:r>
          </a:p>
        </p:txBody>
      </p:sp>
      <p:pic>
        <p:nvPicPr>
          <p:cNvPr id="32" name="图片 31">
            <a:extLst>
              <a:ext uri="{FF2B5EF4-FFF2-40B4-BE49-F238E27FC236}">
                <a16:creationId xmlns:a16="http://schemas.microsoft.com/office/drawing/2014/main" id="{8B1D4A80-FAF4-A9EA-347D-804349BE2D95}"/>
              </a:ext>
            </a:extLst>
          </p:cNvPr>
          <p:cNvPicPr>
            <a:picLocks noChangeAspect="1"/>
          </p:cNvPicPr>
          <p:nvPr/>
        </p:nvPicPr>
        <p:blipFill>
          <a:blip r:embed="rId8"/>
          <a:stretch>
            <a:fillRect/>
          </a:stretch>
        </p:blipFill>
        <p:spPr>
          <a:xfrm>
            <a:off x="9311555" y="2040410"/>
            <a:ext cx="2348582" cy="1678535"/>
          </a:xfrm>
          <a:prstGeom prst="rect">
            <a:avLst/>
          </a:prstGeom>
        </p:spPr>
      </p:pic>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FB2E3B7F-75BF-BC01-ABC3-836DC302F0BA}"/>
                  </a:ext>
                </a:extLst>
              </p:cNvPr>
              <p:cNvSpPr txBox="1"/>
              <p:nvPr/>
            </p:nvSpPr>
            <p:spPr>
              <a:xfrm>
                <a:off x="8604595" y="2446032"/>
                <a:ext cx="853126" cy="6594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zh-CN" altLang="zh-CN"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log</m:t>
                              </m:r>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fName>
                        <m:e>
                          <m:f>
                            <m:fPr>
                              <m:ctrlPr>
                                <a:rPr lang="en-US" altLang="zh-CN"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fPr>
                            <m:num>
                              <m:r>
                                <a:rPr lang="en-US" altLang="zh-CN" b="0"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b="0" i="1" kern="10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𝑝</m:t>
                              </m:r>
                            </m:den>
                          </m:f>
                        </m:e>
                      </m:func>
                    </m:oMath>
                  </m:oMathPara>
                </a14:m>
                <a:endParaRPr lang="zh-CN" altLang="en-US" dirty="0"/>
              </a:p>
            </p:txBody>
          </p:sp>
        </mc:Choice>
        <mc:Fallback xmlns="">
          <p:sp>
            <p:nvSpPr>
              <p:cNvPr id="34" name="文本框 33">
                <a:extLst>
                  <a:ext uri="{FF2B5EF4-FFF2-40B4-BE49-F238E27FC236}">
                    <a16:creationId xmlns:a16="http://schemas.microsoft.com/office/drawing/2014/main" id="{FB2E3B7F-75BF-BC01-ABC3-836DC302F0BA}"/>
                  </a:ext>
                </a:extLst>
              </p:cNvPr>
              <p:cNvSpPr txBox="1">
                <a:spLocks noRot="1" noChangeAspect="1" noMove="1" noResize="1" noEditPoints="1" noAdjustHandles="1" noChangeArrowheads="1" noChangeShapeType="1" noTextEdit="1"/>
              </p:cNvSpPr>
              <p:nvPr/>
            </p:nvSpPr>
            <p:spPr>
              <a:xfrm>
                <a:off x="8604595" y="2446032"/>
                <a:ext cx="853126" cy="659411"/>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72560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决策树：构建决策树</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pic>
        <p:nvPicPr>
          <p:cNvPr id="7" name="图片 6">
            <a:extLst>
              <a:ext uri="{FF2B5EF4-FFF2-40B4-BE49-F238E27FC236}">
                <a16:creationId xmlns:a16="http://schemas.microsoft.com/office/drawing/2014/main" id="{E6638B11-2291-42F3-B6D4-53DC9F983AF2}"/>
              </a:ext>
            </a:extLst>
          </p:cNvPr>
          <p:cNvPicPr>
            <a:picLocks noChangeAspect="1"/>
          </p:cNvPicPr>
          <p:nvPr/>
        </p:nvPicPr>
        <p:blipFill>
          <a:blip r:embed="rId3"/>
          <a:stretch>
            <a:fillRect/>
          </a:stretch>
        </p:blipFill>
        <p:spPr>
          <a:xfrm>
            <a:off x="7106578" y="3219558"/>
            <a:ext cx="4632563" cy="1722093"/>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D979446-2943-4F88-835D-4AE2E6188CAF}"/>
                  </a:ext>
                </a:extLst>
              </p:cNvPr>
              <p:cNvSpPr/>
              <p:nvPr/>
            </p:nvSpPr>
            <p:spPr>
              <a:xfrm>
                <a:off x="680936" y="1770933"/>
                <a:ext cx="6212731" cy="4619341"/>
              </a:xfrm>
              <a:prstGeom prst="rect">
                <a:avLst/>
              </a:prstGeom>
            </p:spPr>
            <p:txBody>
              <a:bodyPr wrap="square">
                <a:spAutoFit/>
              </a:bodyPr>
              <a:lstStyle/>
              <a:p>
                <a:pPr indent="266700" algn="just">
                  <a:lnSpc>
                    <a:spcPct val="150000"/>
                  </a:lnSpc>
                  <a:spcAft>
                    <a:spcPts val="0"/>
                  </a:spcAft>
                </a:pPr>
                <a:r>
                  <a:rPr lang="zh-CN" altLang="zh-CN" dirty="0">
                    <a:solidFill>
                      <a:schemeClr val="accent2"/>
                    </a:solidFill>
                    <a:latin typeface="Times New Roman" panose="02020603050405020304" pitchFamily="18" charset="0"/>
                    <a:ea typeface="楷体_GB2312"/>
                    <a:cs typeface="Times New Roman" panose="02020603050405020304" pitchFamily="18" charset="0"/>
                  </a:rPr>
                  <a:t>表</a:t>
                </a:r>
                <a:r>
                  <a:rPr lang="en-US" altLang="zh-CN" dirty="0">
                    <a:solidFill>
                      <a:schemeClr val="accent2"/>
                    </a:solidFill>
                    <a:latin typeface="Times New Roman" panose="02020603050405020304" pitchFamily="18" charset="0"/>
                    <a:ea typeface="楷体_GB2312"/>
                    <a:cs typeface="Times New Roman" panose="02020603050405020304" pitchFamily="18" charset="0"/>
                  </a:rPr>
                  <a:t>4.5</a:t>
                </a:r>
                <a:r>
                  <a:rPr lang="zh-CN" altLang="zh-CN" dirty="0">
                    <a:solidFill>
                      <a:schemeClr val="accent2"/>
                    </a:solidFill>
                    <a:latin typeface="Times New Roman" panose="02020603050405020304" pitchFamily="18" charset="0"/>
                    <a:ea typeface="楷体_GB2312"/>
                    <a:cs typeface="Times New Roman" panose="02020603050405020304" pitchFamily="18" charset="0"/>
                  </a:rPr>
                  <a:t>中有年龄、银行流水、是否结婚、拥有房产四个人物相关的属性特征，下面计算这四个特点所对应的信息熵。</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以年龄为例，年龄包含</a:t>
                </a:r>
                <a:r>
                  <a:rPr lang="en-US" altLang="zh-CN" dirty="0">
                    <a:solidFill>
                      <a:srgbClr val="000000"/>
                    </a:solidFill>
                    <a:latin typeface="Times New Roman" panose="02020603050405020304" pitchFamily="18" charset="0"/>
                    <a:ea typeface="楷体_GB2312"/>
                    <a:cs typeface="Times New Roman" panose="02020603050405020304" pitchFamily="18" charset="0"/>
                  </a:rPr>
                  <a:t>“&gt;30”</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“20~30”</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“&lt;20”</a:t>
                </a:r>
                <a:r>
                  <a:rPr lang="zh-CN" altLang="zh-CN" dirty="0">
                    <a:solidFill>
                      <a:srgbClr val="000000"/>
                    </a:solidFill>
                    <a:latin typeface="Times New Roman" panose="02020603050405020304" pitchFamily="18" charset="0"/>
                    <a:ea typeface="楷体_GB2312"/>
                    <a:cs typeface="Times New Roman" panose="02020603050405020304" pitchFamily="18" charset="0"/>
                  </a:rPr>
                  <a:t>三个属性取值。这三个属性取值对</a:t>
                </a:r>
                <a:r>
                  <a:rPr lang="en-US" altLang="zh-CN" dirty="0">
                    <a:solidFill>
                      <a:srgbClr val="000000"/>
                    </a:solidFill>
                    <a:latin typeface="Times New Roman" panose="02020603050405020304" pitchFamily="18" charset="0"/>
                    <a:ea typeface="楷体_GB2312"/>
                    <a:cs typeface="Times New Roman" panose="02020603050405020304" pitchFamily="18" charset="0"/>
                  </a:rPr>
                  <a:t>14</a:t>
                </a:r>
                <a:r>
                  <a:rPr lang="zh-CN" altLang="zh-CN" dirty="0">
                    <a:solidFill>
                      <a:srgbClr val="000000"/>
                    </a:solidFill>
                    <a:latin typeface="Times New Roman" panose="02020603050405020304" pitchFamily="18" charset="0"/>
                    <a:ea typeface="楷体_GB2312"/>
                    <a:cs typeface="Times New Roman" panose="02020603050405020304" pitchFamily="18" charset="0"/>
                  </a:rPr>
                  <a:t>个样本进行划分，在决策树中产生了三个分支结点，每个分支结点包含一个数据子集，三个数据子集构成了对原数据的划分。如</a:t>
                </a:r>
                <a:r>
                  <a:rPr lang="en-US" altLang="zh-CN" dirty="0">
                    <a:solidFill>
                      <a:srgbClr val="000000"/>
                    </a:solidFill>
                    <a:latin typeface="Times New Roman" panose="02020603050405020304" pitchFamily="18" charset="0"/>
                    <a:ea typeface="楷体_GB2312"/>
                    <a:cs typeface="Times New Roman" panose="02020603050405020304" pitchFamily="18" charset="0"/>
                  </a:rPr>
                  <a:t>“20~30”</a:t>
                </a:r>
                <a:r>
                  <a:rPr lang="zh-CN" altLang="zh-CN" dirty="0">
                    <a:solidFill>
                      <a:srgbClr val="000000"/>
                    </a:solidFill>
                    <a:latin typeface="Times New Roman" panose="02020603050405020304" pitchFamily="18" charset="0"/>
                    <a:ea typeface="楷体_GB2312"/>
                    <a:cs typeface="Times New Roman" panose="02020603050405020304" pitchFamily="18" charset="0"/>
                  </a:rPr>
                  <a:t>这一属性取值包含四个样本</a:t>
                </a:r>
                <a:r>
                  <a:rPr lang="en-US" altLang="zh-CN" dirty="0">
                    <a:solidFill>
                      <a:srgbClr val="000000"/>
                    </a:solidFill>
                    <a:latin typeface="Times New Roman" panose="02020603050405020304" pitchFamily="18" charset="0"/>
                    <a:ea typeface="楷体_GB2312"/>
                    <a:cs typeface="Times New Roman" panose="02020603050405020304" pitchFamily="18" charset="0"/>
                  </a:rPr>
                  <a:t>{3, 7,12,13}</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对年龄属性划分出的子样本集情况的统计如表</a:t>
                </a:r>
                <a:r>
                  <a:rPr lang="en-US" altLang="zh-CN" dirty="0">
                    <a:solidFill>
                      <a:srgbClr val="000000"/>
                    </a:solidFill>
                    <a:latin typeface="Times New Roman" panose="02020603050405020304" pitchFamily="18" charset="0"/>
                    <a:ea typeface="楷体_GB2312"/>
                    <a:cs typeface="Times New Roman" panose="02020603050405020304" pitchFamily="18" charset="0"/>
                  </a:rPr>
                  <a:t>4.6</a:t>
                </a:r>
                <a:r>
                  <a:rPr lang="zh-CN" altLang="zh-CN" dirty="0">
                    <a:solidFill>
                      <a:srgbClr val="000000"/>
                    </a:solidFill>
                    <a:latin typeface="Times New Roman" panose="02020603050405020304" pitchFamily="18" charset="0"/>
                    <a:ea typeface="楷体_GB2312"/>
                    <a:cs typeface="Times New Roman" panose="02020603050405020304" pitchFamily="18" charset="0"/>
                  </a:rPr>
                  <a:t>所示。这里记属性取值为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（即</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0</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zh-CN" altLang="zh-CN">
                        <a:solidFill>
                          <a:srgbClr val="000000"/>
                        </a:solidFill>
                        <a:latin typeface="Cambria Math" panose="02040503050406030204" pitchFamily="18" charset="0"/>
                        <a:ea typeface="楷体_GB2312"/>
                        <a:cs typeface="Times New Roman" panose="02020603050405020304" pitchFamily="18" charset="0"/>
                      </a:rPr>
                      <m:t>年龄</m:t>
                    </m:r>
                    <m:r>
                      <a:rPr lang="en-US" altLang="zh-CN">
                        <a:solidFill>
                          <a:srgbClr val="000000"/>
                        </a:solidFill>
                        <a:latin typeface="Cambria Math" panose="02040503050406030204" pitchFamily="18" charset="0"/>
                        <a:ea typeface="楷体_GB2312"/>
                        <a:cs typeface="Times New Roman" panose="02020603050405020304" pitchFamily="18" charset="0"/>
                      </a:rPr>
                      <m:t>&gt;30</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zh-CN" altLang="zh-CN">
                        <a:solidFill>
                          <a:srgbClr val="000000"/>
                        </a:solidFill>
                        <a:latin typeface="Cambria Math" panose="02040503050406030204" pitchFamily="18" charset="0"/>
                        <a:ea typeface="楷体_GB2312"/>
                        <a:cs typeface="Times New Roman" panose="02020603050405020304" pitchFamily="18" charset="0"/>
                      </a:rPr>
                      <m:t>年龄</m:t>
                    </m:r>
                    <m:r>
                      <a:rPr lang="en-US" altLang="zh-CN">
                        <a:solidFill>
                          <a:srgbClr val="000000"/>
                        </a:solidFill>
                        <a:latin typeface="Cambria Math" panose="02040503050406030204" pitchFamily="18" charset="0"/>
                        <a:ea typeface="楷体_GB2312"/>
                        <a:cs typeface="Times New Roman" panose="02020603050405020304" pitchFamily="18" charset="0"/>
                      </a:rPr>
                      <m:t>20~30</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zh-CN" altLang="zh-CN">
                        <a:solidFill>
                          <a:srgbClr val="000000"/>
                        </a:solidFill>
                        <a:latin typeface="Cambria Math" panose="02040503050406030204" pitchFamily="18" charset="0"/>
                        <a:ea typeface="楷体_GB2312"/>
                        <a:cs typeface="Times New Roman" panose="02020603050405020304" pitchFamily="18" charset="0"/>
                      </a:rPr>
                      <m:t>年龄</m:t>
                    </m:r>
                    <m:r>
                      <a:rPr lang="en-US" altLang="zh-CN" i="1">
                        <a:solidFill>
                          <a:srgbClr val="000000"/>
                        </a:solidFill>
                        <a:latin typeface="Cambria Math" panose="02040503050406030204" pitchFamily="18" charset="0"/>
                        <a:ea typeface="楷体_GB2312"/>
                        <a:cs typeface="Times New Roman" panose="02020603050405020304" pitchFamily="18" charset="0"/>
                      </a:rPr>
                      <m:t>&lt;</m:t>
                    </m:r>
                    <m:r>
                      <a:rPr lang="en-US" altLang="zh-CN">
                        <a:solidFill>
                          <a:srgbClr val="000000"/>
                        </a:solidFill>
                        <a:latin typeface="Cambria Math" panose="02040503050406030204" pitchFamily="18" charset="0"/>
                        <a:ea typeface="楷体_GB2312"/>
                        <a:cs typeface="Times New Roman" panose="02020603050405020304" pitchFamily="18" charset="0"/>
                      </a:rPr>
                      <m:t>20</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）。属性取值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划分出的子样本集记为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𝐷</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，该子样本集包含样本数量记为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𝐷</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8" name="矩形 7">
                <a:extLst>
                  <a:ext uri="{FF2B5EF4-FFF2-40B4-BE49-F238E27FC236}">
                    <a16:creationId xmlns:a16="http://schemas.microsoft.com/office/drawing/2014/main" id="{0D979446-2943-4F88-835D-4AE2E6188CAF}"/>
                  </a:ext>
                </a:extLst>
              </p:cNvPr>
              <p:cNvSpPr>
                <a:spLocks noRot="1" noChangeAspect="1" noMove="1" noResize="1" noEditPoints="1" noAdjustHandles="1" noChangeArrowheads="1" noChangeShapeType="1" noTextEdit="1"/>
              </p:cNvSpPr>
              <p:nvPr/>
            </p:nvSpPr>
            <p:spPr>
              <a:xfrm>
                <a:off x="680936" y="1770933"/>
                <a:ext cx="6212731" cy="4619341"/>
              </a:xfrm>
              <a:prstGeom prst="rect">
                <a:avLst/>
              </a:prstGeom>
              <a:blipFill>
                <a:blip r:embed="rId4"/>
                <a:stretch>
                  <a:fillRect l="-883" r="-785" b="-13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00046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决策树：构建决策树</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7E68A582-FF23-4360-9EBF-6C31CD18338C}"/>
                  </a:ext>
                </a:extLst>
              </p:cNvPr>
              <p:cNvSpPr/>
              <p:nvPr/>
            </p:nvSpPr>
            <p:spPr>
              <a:xfrm>
                <a:off x="428016" y="1822724"/>
                <a:ext cx="7918315" cy="4388061"/>
              </a:xfrm>
              <a:prstGeom prst="rect">
                <a:avLst/>
              </a:prstGeom>
            </p:spPr>
            <p:txBody>
              <a:bodyPr wrap="square">
                <a:spAutoFit/>
              </a:bodyPr>
              <a:lstStyle/>
              <a:p>
                <a:pPr indent="266700" algn="just">
                  <a:lnSpc>
                    <a:spcPts val="2200"/>
                  </a:lnSpc>
                  <a:spcBef>
                    <a:spcPts val="600"/>
                  </a:spcBef>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根据表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4.6</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的统计情况，计算每个属性值划分出的子样本集（即每个分支节点）的</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信息熵</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algn="just">
                  <a:spcAft>
                    <a:spcPts val="0"/>
                  </a:spcAft>
                </a:pPr>
                <a14:m>
                  <m:oMathPara xmlns:m="http://schemas.openxmlformats.org/officeDocument/2006/math">
                    <m:oMathParaPr>
                      <m:jc m:val="centerGroup"/>
                    </m:oMathParaPr>
                    <m:oMath xmlns:m="http://schemas.openxmlformats.org/officeDocument/2006/math">
                      <m:r>
                        <a:rPr lang="en-US" altLang="zh-CN" sz="1600" kern="100">
                          <a:latin typeface="Cambria Math" panose="02040503050406030204" pitchFamily="18" charset="0"/>
                          <a:ea typeface="楷体_GB2312"/>
                          <a:cs typeface="Times New Roman" panose="02020603050405020304" pitchFamily="18" charset="0"/>
                        </a:rPr>
                        <m:t>“</m:t>
                      </m:r>
                      <m:r>
                        <a:rPr lang="zh-CN" altLang="zh-CN" sz="1600" kern="100">
                          <a:latin typeface="Cambria Math" panose="02040503050406030204" pitchFamily="18" charset="0"/>
                          <a:ea typeface="楷体_GB2312"/>
                          <a:cs typeface="Times New Roman" panose="02020603050405020304" pitchFamily="18" charset="0"/>
                        </a:rPr>
                        <m:t>年龄</m:t>
                      </m:r>
                      <m:r>
                        <a:rPr lang="en-US" altLang="zh-CN" sz="1600" kern="100">
                          <a:latin typeface="Cambria Math" panose="02040503050406030204" pitchFamily="18" charset="0"/>
                          <a:ea typeface="楷体_GB2312"/>
                          <a:cs typeface="Times New Roman" panose="02020603050405020304" pitchFamily="18" charset="0"/>
                        </a:rPr>
                        <m:t>&gt;30”:   </m:t>
                      </m:r>
                      <m:r>
                        <a:rPr lang="en-US" altLang="zh-CN" sz="1600" i="1" kern="100">
                          <a:latin typeface="Cambria Math" panose="02040503050406030204" pitchFamily="18" charset="0"/>
                          <a:ea typeface="楷体_GB2312"/>
                          <a:cs typeface="Times New Roman" panose="02020603050405020304" pitchFamily="18" charset="0"/>
                        </a:rPr>
                        <m:t>𝐸𝑛𝑡</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_GB2312"/>
                                  <a:cs typeface="Times New Roman" panose="02020603050405020304" pitchFamily="18" charset="0"/>
                                </a:rPr>
                                <m:t>𝐷</m:t>
                              </m:r>
                            </m:e>
                            <m:sub>
                              <m:r>
                                <a:rPr lang="en-US" altLang="zh-CN" sz="1600" i="1" kern="100">
                                  <a:latin typeface="Cambria Math" panose="02040503050406030204" pitchFamily="18" charset="0"/>
                                  <a:ea typeface="楷体_GB2312"/>
                                  <a:cs typeface="Times New Roman" panose="02020603050405020304" pitchFamily="18" charset="0"/>
                                </a:rPr>
                                <m:t>0</m:t>
                              </m:r>
                            </m:sub>
                          </m:sSub>
                        </m:e>
                      </m:d>
                      <m:r>
                        <a:rPr lang="en-US" altLang="zh-CN" sz="1600" kern="100">
                          <a:latin typeface="Cambria Math" panose="02040503050406030204" pitchFamily="18" charset="0"/>
                          <a:ea typeface="楷体_GB2312"/>
                          <a:cs typeface="Times New Roman" panose="02020603050405020304" pitchFamily="18" charset="0"/>
                        </a:rPr>
                        <m:t>=</m:t>
                      </m:r>
                      <m:r>
                        <a:rPr lang="en-US" altLang="zh-CN" sz="1600" i="1" kern="100">
                          <a:latin typeface="Cambria Math" panose="02040503050406030204" pitchFamily="18" charset="0"/>
                          <a:ea typeface="MS Mincho" panose="02020609040205080304" pitchFamily="49" charset="-128"/>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2</m:t>
                              </m:r>
                            </m:num>
                            <m:den>
                              <m:r>
                                <a:rPr lang="en-US" altLang="zh-CN" sz="1600" kern="100">
                                  <a:latin typeface="Cambria Math" panose="02040503050406030204" pitchFamily="18" charset="0"/>
                                  <a:ea typeface="楷体_GB2312"/>
                                  <a:cs typeface="Times New Roman" panose="02020603050405020304" pitchFamily="18" charset="0"/>
                                </a:rPr>
                                <m:t>5</m:t>
                              </m:r>
                            </m:den>
                          </m:f>
                          <m:r>
                            <a:rPr lang="en-US" altLang="zh-CN" sz="1600" kern="100">
                              <a:latin typeface="Cambria Math" panose="02040503050406030204" pitchFamily="18" charset="0"/>
                              <a:ea typeface="楷体_GB2312"/>
                              <a:cs typeface="Times New Roman" panose="02020603050405020304" pitchFamily="18" charset="0"/>
                            </a:rPr>
                            <m:t>×</m:t>
                          </m:r>
                          <m:func>
                            <m:func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latin typeface="Cambria Math" panose="02040503050406030204" pitchFamily="18" charset="0"/>
                                      <a:ea typeface="楷体_GB2312"/>
                                      <a:cs typeface="Times New Roman" panose="02020603050405020304" pitchFamily="18" charset="0"/>
                                    </a:rPr>
                                    <m:t>log</m:t>
                                  </m:r>
                                </m:e>
                                <m:sub>
                                  <m:r>
                                    <a:rPr lang="en-US" altLang="zh-CN" sz="1600" kern="100">
                                      <a:latin typeface="Cambria Math" panose="02040503050406030204" pitchFamily="18" charset="0"/>
                                      <a:ea typeface="楷体_GB2312"/>
                                      <a:cs typeface="Times New Roman" panose="02020603050405020304" pitchFamily="18" charset="0"/>
                                    </a:rPr>
                                    <m:t>2</m:t>
                                  </m:r>
                                </m:sub>
                              </m:sSub>
                            </m:fName>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2</m:t>
                                  </m:r>
                                </m:num>
                                <m:den>
                                  <m:r>
                                    <a:rPr lang="en-US" altLang="zh-CN" sz="1600" kern="100">
                                      <a:latin typeface="Cambria Math" panose="02040503050406030204" pitchFamily="18" charset="0"/>
                                      <a:ea typeface="楷体_GB2312"/>
                                      <a:cs typeface="Times New Roman" panose="02020603050405020304" pitchFamily="18" charset="0"/>
                                    </a:rPr>
                                    <m:t>5</m:t>
                                  </m:r>
                                </m:den>
                              </m:f>
                            </m:e>
                          </m:func>
                          <m:r>
                            <a:rPr lang="en-US" altLang="zh-CN" sz="1600" kern="100">
                              <a:latin typeface="Cambria Math" panose="02040503050406030204" pitchFamily="18" charset="0"/>
                              <a:ea typeface="楷体_GB2312"/>
                              <a:cs typeface="Times New Roman" panose="02020603050405020304" pitchFamily="18" charset="0"/>
                            </a:rPr>
                            <m:t>+</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3</m:t>
                              </m:r>
                            </m:num>
                            <m:den>
                              <m:r>
                                <a:rPr lang="en-US" altLang="zh-CN" sz="1600" kern="100">
                                  <a:latin typeface="Cambria Math" panose="02040503050406030204" pitchFamily="18" charset="0"/>
                                  <a:ea typeface="楷体_GB2312"/>
                                  <a:cs typeface="Times New Roman" panose="02020603050405020304" pitchFamily="18" charset="0"/>
                                </a:rPr>
                                <m:t>5</m:t>
                              </m:r>
                            </m:den>
                          </m:f>
                          <m:r>
                            <a:rPr lang="en-US" altLang="zh-CN" sz="1600" kern="100">
                              <a:latin typeface="Cambria Math" panose="02040503050406030204" pitchFamily="18" charset="0"/>
                              <a:ea typeface="楷体_GB2312"/>
                              <a:cs typeface="Times New Roman" panose="02020603050405020304" pitchFamily="18" charset="0"/>
                            </a:rPr>
                            <m:t>×</m:t>
                          </m:r>
                          <m:func>
                            <m:func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latin typeface="Cambria Math" panose="02040503050406030204" pitchFamily="18" charset="0"/>
                                      <a:ea typeface="楷体_GB2312"/>
                                      <a:cs typeface="Times New Roman" panose="02020603050405020304" pitchFamily="18" charset="0"/>
                                    </a:rPr>
                                    <m:t>log</m:t>
                                  </m:r>
                                </m:e>
                                <m:sub>
                                  <m:r>
                                    <a:rPr lang="en-US" altLang="zh-CN" sz="1600" kern="100">
                                      <a:latin typeface="Cambria Math" panose="02040503050406030204" pitchFamily="18" charset="0"/>
                                      <a:ea typeface="楷体_GB2312"/>
                                      <a:cs typeface="Times New Roman" panose="02020603050405020304" pitchFamily="18" charset="0"/>
                                    </a:rPr>
                                    <m:t>2</m:t>
                                  </m:r>
                                </m:sub>
                              </m:sSub>
                            </m:fName>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3</m:t>
                                  </m:r>
                                </m:num>
                                <m:den>
                                  <m:r>
                                    <a:rPr lang="en-US" altLang="zh-CN" sz="1600" kern="100">
                                      <a:latin typeface="Cambria Math" panose="02040503050406030204" pitchFamily="18" charset="0"/>
                                      <a:ea typeface="楷体_GB2312"/>
                                      <a:cs typeface="Times New Roman" panose="02020603050405020304" pitchFamily="18" charset="0"/>
                                    </a:rPr>
                                    <m:t>5</m:t>
                                  </m:r>
                                </m:den>
                              </m:f>
                            </m:e>
                          </m:func>
                        </m:e>
                      </m:d>
                      <m:r>
                        <a:rPr lang="en-US" altLang="zh-CN" sz="1600" kern="100">
                          <a:latin typeface="Cambria Math" panose="02040503050406030204" pitchFamily="18" charset="0"/>
                          <a:ea typeface="楷体_GB2312"/>
                          <a:cs typeface="Times New Roman" panose="02020603050405020304" pitchFamily="18" charset="0"/>
                        </a:rPr>
                        <m:t>=0.971</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14:m>
                  <m:oMathPara xmlns:m="http://schemas.openxmlformats.org/officeDocument/2006/math">
                    <m:oMathParaPr>
                      <m:jc m:val="centerGroup"/>
                    </m:oMathParaPr>
                    <m:oMath xmlns:m="http://schemas.openxmlformats.org/officeDocument/2006/math">
                      <m:r>
                        <a:rPr lang="en-US" altLang="zh-CN" sz="1600" kern="100">
                          <a:latin typeface="Cambria Math" panose="02040503050406030204" pitchFamily="18" charset="0"/>
                          <a:ea typeface="楷体_GB2312"/>
                          <a:cs typeface="Times New Roman" panose="02020603050405020304" pitchFamily="18" charset="0"/>
                        </a:rPr>
                        <m:t>“</m:t>
                      </m:r>
                      <m:r>
                        <a:rPr lang="zh-CN" altLang="zh-CN" sz="1600" kern="100">
                          <a:latin typeface="Cambria Math" panose="02040503050406030204" pitchFamily="18" charset="0"/>
                          <a:ea typeface="楷体_GB2312"/>
                          <a:cs typeface="Times New Roman" panose="02020603050405020304" pitchFamily="18" charset="0"/>
                        </a:rPr>
                        <m:t>年龄</m:t>
                      </m:r>
                      <m:r>
                        <a:rPr lang="en-US" altLang="zh-CN" sz="1600" kern="100">
                          <a:latin typeface="Cambria Math" panose="02040503050406030204" pitchFamily="18" charset="0"/>
                          <a:ea typeface="楷体_GB2312"/>
                          <a:cs typeface="Times New Roman" panose="02020603050405020304" pitchFamily="18" charset="0"/>
                        </a:rPr>
                        <m:t>20~30”:   </m:t>
                      </m:r>
                      <m:r>
                        <a:rPr lang="en-US" altLang="zh-CN" sz="1600" i="1" kern="100">
                          <a:latin typeface="Cambria Math" panose="02040503050406030204" pitchFamily="18" charset="0"/>
                          <a:ea typeface="楷体_GB2312"/>
                          <a:cs typeface="Times New Roman" panose="02020603050405020304" pitchFamily="18" charset="0"/>
                        </a:rPr>
                        <m:t>𝐸𝑛𝑡</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_GB2312"/>
                                  <a:cs typeface="Times New Roman" panose="02020603050405020304" pitchFamily="18" charset="0"/>
                                </a:rPr>
                                <m:t>𝐷</m:t>
                              </m:r>
                            </m:e>
                            <m:sub>
                              <m:r>
                                <a:rPr lang="en-US" altLang="zh-CN" sz="1600" i="1" kern="100">
                                  <a:latin typeface="Cambria Math" panose="02040503050406030204" pitchFamily="18" charset="0"/>
                                  <a:ea typeface="楷体_GB2312"/>
                                  <a:cs typeface="Times New Roman" panose="02020603050405020304" pitchFamily="18" charset="0"/>
                                </a:rPr>
                                <m:t>1</m:t>
                              </m:r>
                            </m:sub>
                          </m:sSub>
                        </m:e>
                      </m:d>
                      <m:r>
                        <a:rPr lang="en-US" altLang="zh-CN" sz="1600" kern="100">
                          <a:latin typeface="Cambria Math" panose="02040503050406030204" pitchFamily="18" charset="0"/>
                          <a:ea typeface="楷体_GB2312"/>
                          <a:cs typeface="Times New Roman" panose="02020603050405020304" pitchFamily="18" charset="0"/>
                        </a:rPr>
                        <m:t>=</m:t>
                      </m:r>
                      <m:r>
                        <a:rPr lang="en-US" altLang="zh-CN" sz="1600" i="1" kern="100">
                          <a:latin typeface="Cambria Math" panose="02040503050406030204" pitchFamily="18" charset="0"/>
                          <a:ea typeface="MS Mincho" panose="02020609040205080304" pitchFamily="49" charset="-128"/>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4</m:t>
                              </m:r>
                            </m:num>
                            <m:den>
                              <m:r>
                                <a:rPr lang="en-US" altLang="zh-CN" sz="1600" kern="100">
                                  <a:latin typeface="Cambria Math" panose="02040503050406030204" pitchFamily="18" charset="0"/>
                                  <a:ea typeface="楷体_GB2312"/>
                                  <a:cs typeface="Times New Roman" panose="02020603050405020304" pitchFamily="18" charset="0"/>
                                </a:rPr>
                                <m:t>4</m:t>
                              </m:r>
                            </m:den>
                          </m:f>
                          <m:r>
                            <a:rPr lang="en-US" altLang="zh-CN" sz="1600" kern="100">
                              <a:latin typeface="Cambria Math" panose="02040503050406030204" pitchFamily="18" charset="0"/>
                              <a:ea typeface="楷体_GB2312"/>
                              <a:cs typeface="Times New Roman" panose="02020603050405020304" pitchFamily="18" charset="0"/>
                            </a:rPr>
                            <m:t>×</m:t>
                          </m:r>
                          <m:func>
                            <m:func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latin typeface="Cambria Math" panose="02040503050406030204" pitchFamily="18" charset="0"/>
                                      <a:ea typeface="楷体_GB2312"/>
                                      <a:cs typeface="Times New Roman" panose="02020603050405020304" pitchFamily="18" charset="0"/>
                                    </a:rPr>
                                    <m:t>log</m:t>
                                  </m:r>
                                </m:e>
                                <m:sub>
                                  <m:r>
                                    <a:rPr lang="en-US" altLang="zh-CN" sz="1600" kern="100">
                                      <a:latin typeface="Cambria Math" panose="02040503050406030204" pitchFamily="18" charset="0"/>
                                      <a:ea typeface="楷体_GB2312"/>
                                      <a:cs typeface="Times New Roman" panose="02020603050405020304" pitchFamily="18" charset="0"/>
                                    </a:rPr>
                                    <m:t>2</m:t>
                                  </m:r>
                                </m:sub>
                              </m:sSub>
                            </m:fName>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4</m:t>
                                  </m:r>
                                </m:num>
                                <m:den>
                                  <m:r>
                                    <a:rPr lang="en-US" altLang="zh-CN" sz="1600" kern="100">
                                      <a:latin typeface="Cambria Math" panose="02040503050406030204" pitchFamily="18" charset="0"/>
                                      <a:ea typeface="楷体_GB2312"/>
                                      <a:cs typeface="Times New Roman" panose="02020603050405020304" pitchFamily="18" charset="0"/>
                                    </a:rPr>
                                    <m:t>4</m:t>
                                  </m:r>
                                </m:den>
                              </m:f>
                            </m:e>
                          </m:func>
                          <m:r>
                            <a:rPr lang="en-US" altLang="zh-CN" sz="1600" kern="100">
                              <a:latin typeface="Cambria Math" panose="02040503050406030204" pitchFamily="18" charset="0"/>
                              <a:ea typeface="楷体_GB2312"/>
                              <a:cs typeface="Times New Roman" panose="02020603050405020304" pitchFamily="18" charset="0"/>
                            </a:rPr>
                            <m:t>+0</m:t>
                          </m:r>
                        </m:e>
                      </m:d>
                      <m:r>
                        <a:rPr lang="en-US" altLang="zh-CN" sz="1600" kern="100">
                          <a:latin typeface="Cambria Math" panose="02040503050406030204" pitchFamily="18" charset="0"/>
                          <a:ea typeface="楷体_GB2312"/>
                          <a:cs typeface="Times New Roman" panose="02020603050405020304" pitchFamily="18" charset="0"/>
                        </a:rPr>
                        <m:t>=0</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14:m>
                  <m:oMathPara xmlns:m="http://schemas.openxmlformats.org/officeDocument/2006/math">
                    <m:oMathParaPr>
                      <m:jc m:val="centerGroup"/>
                    </m:oMathParaPr>
                    <m:oMath xmlns:m="http://schemas.openxmlformats.org/officeDocument/2006/math">
                      <m:r>
                        <a:rPr lang="en-US" altLang="zh-CN" sz="1600" kern="100">
                          <a:latin typeface="Cambria Math" panose="02040503050406030204" pitchFamily="18" charset="0"/>
                          <a:ea typeface="楷体_GB2312"/>
                          <a:cs typeface="Times New Roman" panose="02020603050405020304" pitchFamily="18" charset="0"/>
                        </a:rPr>
                        <m:t>“</m:t>
                      </m:r>
                      <m:r>
                        <a:rPr lang="zh-CN" altLang="zh-CN" sz="1600" kern="100">
                          <a:latin typeface="Cambria Math" panose="02040503050406030204" pitchFamily="18" charset="0"/>
                          <a:ea typeface="楷体_GB2312"/>
                          <a:cs typeface="Times New Roman" panose="02020603050405020304" pitchFamily="18" charset="0"/>
                        </a:rPr>
                        <m:t>年龄</m:t>
                      </m:r>
                      <m:r>
                        <a:rPr lang="en-US" altLang="zh-CN" sz="1600" kern="100">
                          <a:latin typeface="Cambria Math" panose="02040503050406030204" pitchFamily="18" charset="0"/>
                          <a:ea typeface="楷体_GB2312"/>
                          <a:cs typeface="Times New Roman" panose="02020603050405020304" pitchFamily="18" charset="0"/>
                        </a:rPr>
                        <m:t>&lt;20”:   </m:t>
                      </m:r>
                      <m:r>
                        <a:rPr lang="en-US" altLang="zh-CN" sz="1600" i="1" kern="100">
                          <a:latin typeface="Cambria Math" panose="02040503050406030204" pitchFamily="18" charset="0"/>
                          <a:ea typeface="楷体_GB2312"/>
                          <a:cs typeface="Times New Roman" panose="02020603050405020304" pitchFamily="18" charset="0"/>
                        </a:rPr>
                        <m:t>𝐸𝑛𝑡</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_GB2312"/>
                                  <a:cs typeface="Times New Roman" panose="02020603050405020304" pitchFamily="18" charset="0"/>
                                </a:rPr>
                                <m:t>𝐷</m:t>
                              </m:r>
                            </m:e>
                            <m:sub>
                              <m:r>
                                <a:rPr lang="en-US" altLang="zh-CN" sz="1600" i="1" kern="100">
                                  <a:latin typeface="Cambria Math" panose="02040503050406030204" pitchFamily="18" charset="0"/>
                                  <a:ea typeface="楷体_GB2312"/>
                                  <a:cs typeface="Times New Roman" panose="02020603050405020304" pitchFamily="18" charset="0"/>
                                </a:rPr>
                                <m:t>2</m:t>
                              </m:r>
                            </m:sub>
                          </m:sSub>
                        </m:e>
                      </m:d>
                      <m:r>
                        <a:rPr lang="en-US" altLang="zh-CN" sz="1600" kern="100">
                          <a:latin typeface="Cambria Math" panose="02040503050406030204" pitchFamily="18" charset="0"/>
                          <a:ea typeface="楷体_GB2312"/>
                          <a:cs typeface="Times New Roman" panose="02020603050405020304" pitchFamily="18" charset="0"/>
                        </a:rPr>
                        <m:t>=</m:t>
                      </m:r>
                      <m:r>
                        <a:rPr lang="en-US" altLang="zh-CN" sz="1600" i="1" kern="100">
                          <a:latin typeface="Cambria Math" panose="02040503050406030204" pitchFamily="18" charset="0"/>
                          <a:ea typeface="MS Mincho" panose="02020609040205080304" pitchFamily="49" charset="-128"/>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3</m:t>
                              </m:r>
                            </m:num>
                            <m:den>
                              <m:r>
                                <a:rPr lang="en-US" altLang="zh-CN" sz="1600" kern="100">
                                  <a:latin typeface="Cambria Math" panose="02040503050406030204" pitchFamily="18" charset="0"/>
                                  <a:ea typeface="楷体_GB2312"/>
                                  <a:cs typeface="Times New Roman" panose="02020603050405020304" pitchFamily="18" charset="0"/>
                                </a:rPr>
                                <m:t>5</m:t>
                              </m:r>
                            </m:den>
                          </m:f>
                          <m:r>
                            <a:rPr lang="en-US" altLang="zh-CN" sz="1600" kern="100">
                              <a:latin typeface="Cambria Math" panose="02040503050406030204" pitchFamily="18" charset="0"/>
                              <a:ea typeface="楷体_GB2312"/>
                              <a:cs typeface="Times New Roman" panose="02020603050405020304" pitchFamily="18" charset="0"/>
                            </a:rPr>
                            <m:t>×</m:t>
                          </m:r>
                          <m:func>
                            <m:func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latin typeface="Cambria Math" panose="02040503050406030204" pitchFamily="18" charset="0"/>
                                      <a:ea typeface="楷体_GB2312"/>
                                      <a:cs typeface="Times New Roman" panose="02020603050405020304" pitchFamily="18" charset="0"/>
                                    </a:rPr>
                                    <m:t>log</m:t>
                                  </m:r>
                                </m:e>
                                <m:sub>
                                  <m:r>
                                    <a:rPr lang="en-US" altLang="zh-CN" sz="1600" kern="100">
                                      <a:latin typeface="Cambria Math" panose="02040503050406030204" pitchFamily="18" charset="0"/>
                                      <a:ea typeface="楷体_GB2312"/>
                                      <a:cs typeface="Times New Roman" panose="02020603050405020304" pitchFamily="18" charset="0"/>
                                    </a:rPr>
                                    <m:t>2</m:t>
                                  </m:r>
                                </m:sub>
                              </m:sSub>
                            </m:fName>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3</m:t>
                                  </m:r>
                                </m:num>
                                <m:den>
                                  <m:r>
                                    <a:rPr lang="en-US" altLang="zh-CN" sz="1600" kern="100">
                                      <a:latin typeface="Cambria Math" panose="02040503050406030204" pitchFamily="18" charset="0"/>
                                      <a:ea typeface="楷体_GB2312"/>
                                      <a:cs typeface="Times New Roman" panose="02020603050405020304" pitchFamily="18" charset="0"/>
                                    </a:rPr>
                                    <m:t>5</m:t>
                                  </m:r>
                                </m:den>
                              </m:f>
                            </m:e>
                          </m:func>
                          <m:r>
                            <a:rPr lang="en-US" altLang="zh-CN" sz="1600" kern="100">
                              <a:latin typeface="Cambria Math" panose="02040503050406030204" pitchFamily="18" charset="0"/>
                              <a:ea typeface="楷体_GB2312"/>
                              <a:cs typeface="Times New Roman" panose="02020603050405020304" pitchFamily="18" charset="0"/>
                            </a:rPr>
                            <m:t>+</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2</m:t>
                              </m:r>
                            </m:num>
                            <m:den>
                              <m:r>
                                <a:rPr lang="en-US" altLang="zh-CN" sz="1600" kern="100">
                                  <a:latin typeface="Cambria Math" panose="02040503050406030204" pitchFamily="18" charset="0"/>
                                  <a:ea typeface="楷体_GB2312"/>
                                  <a:cs typeface="Times New Roman" panose="02020603050405020304" pitchFamily="18" charset="0"/>
                                </a:rPr>
                                <m:t>5</m:t>
                              </m:r>
                            </m:den>
                          </m:f>
                          <m:r>
                            <a:rPr lang="en-US" altLang="zh-CN" sz="1600" kern="100">
                              <a:latin typeface="Cambria Math" panose="02040503050406030204" pitchFamily="18" charset="0"/>
                              <a:ea typeface="楷体_GB2312"/>
                              <a:cs typeface="Times New Roman" panose="02020603050405020304" pitchFamily="18" charset="0"/>
                            </a:rPr>
                            <m:t>×</m:t>
                          </m:r>
                          <m:func>
                            <m:func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latin typeface="Cambria Math" panose="02040503050406030204" pitchFamily="18" charset="0"/>
                                      <a:ea typeface="楷体_GB2312"/>
                                      <a:cs typeface="Times New Roman" panose="02020603050405020304" pitchFamily="18" charset="0"/>
                                    </a:rPr>
                                    <m:t>log</m:t>
                                  </m:r>
                                </m:e>
                                <m:sub>
                                  <m:r>
                                    <a:rPr lang="en-US" altLang="zh-CN" sz="1600" kern="100">
                                      <a:latin typeface="Cambria Math" panose="02040503050406030204" pitchFamily="18" charset="0"/>
                                      <a:ea typeface="楷体_GB2312"/>
                                      <a:cs typeface="Times New Roman" panose="02020603050405020304" pitchFamily="18" charset="0"/>
                                    </a:rPr>
                                    <m:t>2</m:t>
                                  </m:r>
                                </m:sub>
                              </m:sSub>
                            </m:fName>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kern="100">
                                      <a:latin typeface="Cambria Math" panose="02040503050406030204" pitchFamily="18" charset="0"/>
                                      <a:ea typeface="楷体_GB2312"/>
                                      <a:cs typeface="Times New Roman" panose="02020603050405020304" pitchFamily="18" charset="0"/>
                                    </a:rPr>
                                    <m:t>2</m:t>
                                  </m:r>
                                </m:num>
                                <m:den>
                                  <m:r>
                                    <a:rPr lang="en-US" altLang="zh-CN" sz="1600" kern="100">
                                      <a:latin typeface="Cambria Math" panose="02040503050406030204" pitchFamily="18" charset="0"/>
                                      <a:ea typeface="楷体_GB2312"/>
                                      <a:cs typeface="Times New Roman" panose="02020603050405020304" pitchFamily="18" charset="0"/>
                                    </a:rPr>
                                    <m:t>5</m:t>
                                  </m:r>
                                </m:den>
                              </m:f>
                            </m:e>
                          </m:func>
                        </m:e>
                      </m:d>
                      <m:r>
                        <a:rPr lang="en-US" altLang="zh-CN" sz="1600" kern="100">
                          <a:latin typeface="Cambria Math" panose="02040503050406030204" pitchFamily="18" charset="0"/>
                          <a:ea typeface="楷体_GB2312"/>
                          <a:cs typeface="Times New Roman" panose="02020603050405020304" pitchFamily="18" charset="0"/>
                        </a:rPr>
                        <m:t>=0.971</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得到上述三个的信息熵后，可进一步计算</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使用年龄属性对原样本集进行划分后的信息增益</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，计算公式如下：</a:t>
                </a:r>
              </a:p>
              <a:p>
                <a:pPr algn="just">
                  <a:spcAft>
                    <a:spcPts val="0"/>
                  </a:spcAft>
                </a:pPr>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𝐺𝑎𝑖𝑛</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𝐷</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𝐴</m:t>
                          </m:r>
                        </m:e>
                      </m:d>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𝐸𝑛𝑡</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𝐷</m:t>
                          </m:r>
                        </m:e>
                      </m:d>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nary>
                        <m:naryPr>
                          <m: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𝑛</m:t>
                          </m:r>
                        </m:sup>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sub>
                                  </m:sSub>
                                </m:e>
                              </m:d>
                            </m:num>
                            <m:den>
                              <m:d>
                                <m:dPr>
                                  <m:begChr m:val="|"/>
                                  <m:end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𝐷</m:t>
                                  </m:r>
                                </m:e>
                              </m:d>
                            </m:den>
                          </m:f>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𝐸𝑛𝑡</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e>
                      </m:nary>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 </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将 </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𝐴</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zh-CN" altLang="zh-CN" sz="1600">
                        <a:solidFill>
                          <a:srgbClr val="000000"/>
                        </a:solidFill>
                        <a:latin typeface="Cambria Math" panose="02040503050406030204" pitchFamily="18" charset="0"/>
                        <a:ea typeface="楷体_GB2312"/>
                        <a:cs typeface="Times New Roman" panose="02020603050405020304" pitchFamily="18" charset="0"/>
                      </a:rPr>
                      <m:t>年龄</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 代入。于是选择年龄这一属性划分后的信息增益为：</a:t>
                </a:r>
              </a:p>
              <a:p>
                <a:pPr algn="just">
                  <a:spcAft>
                    <a:spcPts val="0"/>
                  </a:spcAft>
                </a:pPr>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ea typeface="楷体_GB2312"/>
                          <a:cs typeface="Times New Roman" panose="02020603050405020304" pitchFamily="18" charset="0"/>
                        </a:rPr>
                        <m:t>𝐺𝑎𝑖𝑛</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_GB2312"/>
                              <a:cs typeface="Times New Roman" panose="02020603050405020304" pitchFamily="18" charset="0"/>
                            </a:rPr>
                            <m:t>𝐷</m:t>
                          </m:r>
                          <m:r>
                            <a:rPr lang="en-US" altLang="zh-CN" sz="1600" i="1" kern="100">
                              <a:latin typeface="Cambria Math" panose="02040503050406030204" pitchFamily="18" charset="0"/>
                              <a:ea typeface="楷体_GB2312"/>
                              <a:cs typeface="Times New Roman" panose="02020603050405020304" pitchFamily="18" charset="0"/>
                            </a:rPr>
                            <m:t>,</m:t>
                          </m:r>
                          <m:r>
                            <a:rPr lang="zh-CN" altLang="zh-CN" sz="1600" kern="100">
                              <a:latin typeface="Cambria Math" panose="02040503050406030204" pitchFamily="18" charset="0"/>
                              <a:ea typeface="楷体_GB2312"/>
                              <a:cs typeface="Times New Roman" panose="02020603050405020304" pitchFamily="18" charset="0"/>
                            </a:rPr>
                            <m:t>年龄</m:t>
                          </m:r>
                        </m:e>
                      </m:d>
                      <m:r>
                        <a:rPr lang="en-US" altLang="zh-CN" sz="1600" i="1" kern="100">
                          <a:latin typeface="Cambria Math" panose="02040503050406030204" pitchFamily="18" charset="0"/>
                          <a:ea typeface="楷体_GB2312"/>
                          <a:cs typeface="Times New Roman" panose="02020603050405020304" pitchFamily="18" charset="0"/>
                        </a:rPr>
                        <m:t>=0.940</m:t>
                      </m:r>
                      <m:r>
                        <a:rPr lang="en-US" altLang="zh-CN" sz="1600" i="1" kern="100">
                          <a:latin typeface="Cambria Math" panose="02040503050406030204" pitchFamily="18" charset="0"/>
                          <a:ea typeface="MS Mincho" panose="02020609040205080304" pitchFamily="49" charset="-128"/>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楷体_GB2312"/>
                                  <a:cs typeface="Times New Roman" panose="02020603050405020304" pitchFamily="18" charset="0"/>
                                </a:rPr>
                                <m:t>5</m:t>
                              </m:r>
                            </m:num>
                            <m:den>
                              <m:r>
                                <a:rPr lang="en-US" altLang="zh-CN" sz="1600" i="1" kern="100">
                                  <a:latin typeface="Cambria Math" panose="02040503050406030204" pitchFamily="18" charset="0"/>
                                  <a:ea typeface="楷体_GB2312"/>
                                  <a:cs typeface="Times New Roman" panose="02020603050405020304" pitchFamily="18" charset="0"/>
                                </a:rPr>
                                <m:t>14</m:t>
                              </m:r>
                            </m:den>
                          </m:f>
                          <m:r>
                            <a:rPr lang="en-US" altLang="zh-CN" sz="1600" i="1" kern="100">
                              <a:latin typeface="Cambria Math" panose="02040503050406030204" pitchFamily="18" charset="0"/>
                              <a:ea typeface="楷体_GB2312"/>
                              <a:cs typeface="Times New Roman" panose="02020603050405020304" pitchFamily="18" charset="0"/>
                            </a:rPr>
                            <m:t>×0.971+</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楷体_GB2312"/>
                                  <a:cs typeface="Times New Roman" panose="02020603050405020304" pitchFamily="18" charset="0"/>
                                </a:rPr>
                                <m:t>4</m:t>
                              </m:r>
                            </m:num>
                            <m:den>
                              <m:r>
                                <a:rPr lang="en-US" altLang="zh-CN" sz="1600" i="1" kern="100">
                                  <a:latin typeface="Cambria Math" panose="02040503050406030204" pitchFamily="18" charset="0"/>
                                  <a:ea typeface="楷体_GB2312"/>
                                  <a:cs typeface="Times New Roman" panose="02020603050405020304" pitchFamily="18" charset="0"/>
                                </a:rPr>
                                <m:t>14</m:t>
                              </m:r>
                            </m:den>
                          </m:f>
                          <m:r>
                            <a:rPr lang="en-US" altLang="zh-CN" sz="1600" i="1" kern="100">
                              <a:latin typeface="Cambria Math" panose="02040503050406030204" pitchFamily="18" charset="0"/>
                              <a:ea typeface="楷体_GB2312"/>
                              <a:cs typeface="Times New Roman" panose="02020603050405020304" pitchFamily="18" charset="0"/>
                            </a:rPr>
                            <m:t>×0+</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楷体_GB2312"/>
                                  <a:cs typeface="Times New Roman" panose="02020603050405020304" pitchFamily="18" charset="0"/>
                                </a:rPr>
                                <m:t>5</m:t>
                              </m:r>
                            </m:num>
                            <m:den>
                              <m:r>
                                <a:rPr lang="en-US" altLang="zh-CN" sz="1600" i="1" kern="100">
                                  <a:latin typeface="Cambria Math" panose="02040503050406030204" pitchFamily="18" charset="0"/>
                                  <a:ea typeface="楷体_GB2312"/>
                                  <a:cs typeface="Times New Roman" panose="02020603050405020304" pitchFamily="18" charset="0"/>
                                </a:rPr>
                                <m:t>14</m:t>
                              </m:r>
                            </m:den>
                          </m:f>
                          <m:r>
                            <a:rPr lang="en-US" altLang="zh-CN" sz="1600" i="1" kern="100">
                              <a:latin typeface="Cambria Math" panose="02040503050406030204" pitchFamily="18" charset="0"/>
                              <a:ea typeface="楷体_GB2312"/>
                              <a:cs typeface="Times New Roman" panose="02020603050405020304" pitchFamily="18" charset="0"/>
                            </a:rPr>
                            <m:t>×0.971</m:t>
                          </m:r>
                        </m:e>
                      </m:d>
                      <m:r>
                        <a:rPr lang="en-US" altLang="zh-CN" sz="1600" i="1" kern="100">
                          <a:latin typeface="Cambria Math" panose="02040503050406030204" pitchFamily="18" charset="0"/>
                          <a:ea typeface="楷体_GB2312"/>
                          <a:cs typeface="Times New Roman" panose="02020603050405020304" pitchFamily="18" charset="0"/>
                        </a:rPr>
                        <m:t>=0.246</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7E68A582-FF23-4360-9EBF-6C31CD18338C}"/>
                  </a:ext>
                </a:extLst>
              </p:cNvPr>
              <p:cNvSpPr>
                <a:spLocks noRot="1" noChangeAspect="1" noMove="1" noResize="1" noEditPoints="1" noAdjustHandles="1" noChangeArrowheads="1" noChangeShapeType="1" noTextEdit="1"/>
              </p:cNvSpPr>
              <p:nvPr/>
            </p:nvSpPr>
            <p:spPr>
              <a:xfrm>
                <a:off x="428016" y="1822724"/>
                <a:ext cx="7918315" cy="4388061"/>
              </a:xfrm>
              <a:prstGeom prst="rect">
                <a:avLst/>
              </a:prstGeom>
              <a:blipFill>
                <a:blip r:embed="rId3"/>
                <a:stretch>
                  <a:fillRect l="-385" t="-139" r="-462"/>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CCD8A6C4-28DB-431C-8F31-11BB4960B112}"/>
              </a:ext>
            </a:extLst>
          </p:cNvPr>
          <p:cNvPicPr>
            <a:picLocks noChangeAspect="1"/>
          </p:cNvPicPr>
          <p:nvPr/>
        </p:nvPicPr>
        <p:blipFill>
          <a:blip r:embed="rId4"/>
          <a:stretch>
            <a:fillRect/>
          </a:stretch>
        </p:blipFill>
        <p:spPr>
          <a:xfrm>
            <a:off x="8476035" y="2892209"/>
            <a:ext cx="3500910" cy="1722093"/>
          </a:xfrm>
          <a:prstGeom prst="rect">
            <a:avLst/>
          </a:prstGeom>
        </p:spPr>
      </p:pic>
    </p:spTree>
    <p:extLst>
      <p:ext uri="{BB962C8B-B14F-4D97-AF65-F5344CB8AC3E}">
        <p14:creationId xmlns:p14="http://schemas.microsoft.com/office/powerpoint/2010/main" val="395857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决策树：构建决策树</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sp>
        <p:nvSpPr>
          <p:cNvPr id="7" name="矩形 6">
            <a:extLst>
              <a:ext uri="{FF2B5EF4-FFF2-40B4-BE49-F238E27FC236}">
                <a16:creationId xmlns:a16="http://schemas.microsoft.com/office/drawing/2014/main" id="{D67C87CB-F774-44AE-A271-E263C2B30B87}"/>
              </a:ext>
            </a:extLst>
          </p:cNvPr>
          <p:cNvSpPr/>
          <p:nvPr/>
        </p:nvSpPr>
        <p:spPr>
          <a:xfrm>
            <a:off x="1070042" y="2905892"/>
            <a:ext cx="5791201" cy="2536207"/>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同理，</a:t>
            </a:r>
            <a:r>
              <a:rPr lang="zh-CN" altLang="zh-CN" dirty="0">
                <a:solidFill>
                  <a:schemeClr val="accent2"/>
                </a:solidFill>
                <a:latin typeface="Times New Roman" panose="02020603050405020304" pitchFamily="18" charset="0"/>
                <a:ea typeface="楷体_GB2312"/>
                <a:cs typeface="Times New Roman" panose="02020603050405020304" pitchFamily="18" charset="0"/>
              </a:rPr>
              <a:t>可以计算银行流水、是否结婚、是否拥有房产三个人物属性的信息增益。通过比较四种属性信息增益的高低来选择最佳属性对原样本集进行划分，得到最大的</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纯度</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。如果划分后的不同子样本集都只存在同类样本，那么停止划分。</a:t>
            </a:r>
            <a:r>
              <a:rPr lang="zh-CN" altLang="zh-CN" dirty="0">
                <a:solidFill>
                  <a:srgbClr val="000000"/>
                </a:solidFill>
                <a:latin typeface="Times New Roman" panose="02020603050405020304" pitchFamily="18" charset="0"/>
                <a:ea typeface="楷体_GB2312"/>
                <a:cs typeface="Times New Roman" panose="02020603050405020304" pitchFamily="18" charset="0"/>
              </a:rPr>
              <a:t>在该案例中，最终可构建如图</a:t>
            </a:r>
            <a:r>
              <a:rPr lang="en-US" altLang="zh-CN" dirty="0">
                <a:solidFill>
                  <a:srgbClr val="000000"/>
                </a:solidFill>
                <a:latin typeface="Times New Roman" panose="02020603050405020304" pitchFamily="18" charset="0"/>
                <a:ea typeface="楷体_GB2312"/>
                <a:cs typeface="Times New Roman" panose="02020603050405020304" pitchFamily="18" charset="0"/>
              </a:rPr>
              <a:t>4.3</a:t>
            </a:r>
            <a:r>
              <a:rPr lang="zh-CN" altLang="zh-CN" dirty="0">
                <a:solidFill>
                  <a:srgbClr val="000000"/>
                </a:solidFill>
                <a:latin typeface="Times New Roman" panose="02020603050405020304" pitchFamily="18" charset="0"/>
                <a:ea typeface="楷体_GB2312"/>
                <a:cs typeface="Times New Roman" panose="02020603050405020304" pitchFamily="18" charset="0"/>
              </a:rPr>
              <a:t>的决策树。</a:t>
            </a:r>
          </a:p>
        </p:txBody>
      </p:sp>
      <p:pic>
        <p:nvPicPr>
          <p:cNvPr id="8" name="图片 7">
            <a:extLst>
              <a:ext uri="{FF2B5EF4-FFF2-40B4-BE49-F238E27FC236}">
                <a16:creationId xmlns:a16="http://schemas.microsoft.com/office/drawing/2014/main" id="{0B835F2E-A6F7-48C4-9CB5-3AC5B554C13D}"/>
              </a:ext>
            </a:extLst>
          </p:cNvPr>
          <p:cNvPicPr>
            <a:picLocks noChangeAspect="1"/>
          </p:cNvPicPr>
          <p:nvPr/>
        </p:nvPicPr>
        <p:blipFill>
          <a:blip r:embed="rId3"/>
          <a:stretch>
            <a:fillRect/>
          </a:stretch>
        </p:blipFill>
        <p:spPr>
          <a:xfrm>
            <a:off x="7490101" y="2660553"/>
            <a:ext cx="3913630" cy="2781546"/>
          </a:xfrm>
          <a:prstGeom prst="rect">
            <a:avLst/>
          </a:prstGeom>
        </p:spPr>
      </p:pic>
    </p:spTree>
    <p:extLst>
      <p:ext uri="{BB962C8B-B14F-4D97-AF65-F5344CB8AC3E}">
        <p14:creationId xmlns:p14="http://schemas.microsoft.com/office/powerpoint/2010/main" val="20323348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回归分析与决策树的优越性与局限性</a:t>
              </a:r>
            </a:p>
          </p:txBody>
        </p:sp>
      </p:grpSp>
      <p:sp>
        <p:nvSpPr>
          <p:cNvPr id="21" name="矩形 20">
            <a:extLst>
              <a:ext uri="{FF2B5EF4-FFF2-40B4-BE49-F238E27FC236}">
                <a16:creationId xmlns:a16="http://schemas.microsoft.com/office/drawing/2014/main" id="{516C3D9D-EAB0-456E-98CD-C6FC12AB3094}"/>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a:t>
            </a:r>
            <a:r>
              <a:rPr lang="zh-CN" altLang="en-US" sz="1600" dirty="0">
                <a:solidFill>
                  <a:srgbClr val="000000"/>
                </a:solidFill>
                <a:latin typeface="Times New Roman" panose="02020603050405020304" pitchFamily="18" charset="0"/>
              </a:rPr>
              <a:t>监督学习：回归分析与决策树</a:t>
            </a:r>
          </a:p>
        </p:txBody>
      </p:sp>
      <p:sp>
        <p:nvSpPr>
          <p:cNvPr id="9" name="文本框 8">
            <a:extLst>
              <a:ext uri="{FF2B5EF4-FFF2-40B4-BE49-F238E27FC236}">
                <a16:creationId xmlns:a16="http://schemas.microsoft.com/office/drawing/2014/main" id="{07F5AED9-DD01-E256-7EE7-AEED07E2FE59}"/>
              </a:ext>
            </a:extLst>
          </p:cNvPr>
          <p:cNvSpPr txBox="1"/>
          <p:nvPr/>
        </p:nvSpPr>
        <p:spPr>
          <a:xfrm>
            <a:off x="744717" y="1663734"/>
            <a:ext cx="11067068" cy="2031325"/>
          </a:xfrm>
          <a:prstGeom prst="rect">
            <a:avLst/>
          </a:prstGeom>
          <a:noFill/>
        </p:spPr>
        <p:txBody>
          <a:bodyPr wrap="square">
            <a:spAutoFit/>
          </a:bodyPr>
          <a:lstStyle/>
          <a:p>
            <a:pPr algn="l"/>
            <a:r>
              <a:rPr lang="zh-CN" altLang="en-US" b="1" i="0" dirty="0">
                <a:solidFill>
                  <a:srgbClr val="000000"/>
                </a:solidFill>
                <a:effectLst/>
                <a:latin typeface="Inter"/>
              </a:rPr>
              <a:t>一、核心原理的本质差异</a:t>
            </a:r>
          </a:p>
          <a:p>
            <a:pPr algn="l"/>
            <a:r>
              <a:rPr lang="zh-CN" altLang="en-US" b="0" i="0" dirty="0">
                <a:solidFill>
                  <a:srgbClr val="000000"/>
                </a:solidFill>
                <a:effectLst/>
                <a:latin typeface="Inter"/>
              </a:rPr>
              <a:t>回归分析与决策树的底层逻辑截然不同，这是其优劣势的根源：</a:t>
            </a:r>
          </a:p>
          <a:p>
            <a:pPr algn="l">
              <a:buFont typeface="Arial" panose="020B0604020202020204" pitchFamily="34" charset="0"/>
              <a:buChar char="•"/>
            </a:pPr>
            <a:r>
              <a:rPr lang="zh-CN" altLang="en-US" b="1" i="0" dirty="0">
                <a:solidFill>
                  <a:srgbClr val="000000"/>
                </a:solidFill>
                <a:effectLst/>
                <a:latin typeface="Inter"/>
              </a:rPr>
              <a:t>回归分析</a:t>
            </a:r>
            <a:r>
              <a:rPr lang="zh-CN" altLang="en-US" b="0" i="0" dirty="0">
                <a:solidFill>
                  <a:srgbClr val="000000"/>
                </a:solidFill>
                <a:effectLst/>
                <a:latin typeface="Inter"/>
              </a:rPr>
              <a:t>：以</a:t>
            </a:r>
            <a:r>
              <a:rPr lang="zh-CN" altLang="en-US" b="1" i="0" dirty="0">
                <a:solidFill>
                  <a:srgbClr val="000000"/>
                </a:solidFill>
                <a:effectLst/>
                <a:latin typeface="Inter"/>
              </a:rPr>
              <a:t>线性假设</a:t>
            </a:r>
            <a:r>
              <a:rPr lang="zh-CN" altLang="en-US" b="0" i="0" dirty="0">
                <a:solidFill>
                  <a:srgbClr val="000000"/>
                </a:solidFill>
                <a:effectLst/>
                <a:latin typeface="Inter"/>
              </a:rPr>
              <a:t>为核心（即使是非线性回归，也常通过特征变换转化为线性形式），通过学习 “特征权重” 建立输入与输出的显式映射（如 </a:t>
            </a:r>
            <a:r>
              <a:rPr lang="en-US" altLang="zh-CN" b="0" i="1" dirty="0">
                <a:solidFill>
                  <a:srgbClr val="000000"/>
                </a:solidFill>
                <a:effectLst/>
                <a:latin typeface="KaTeX_Math"/>
              </a:rPr>
              <a:t>y</a:t>
            </a:r>
            <a:r>
              <a:rPr lang="en-US" altLang="zh-CN" b="0" i="0" dirty="0">
                <a:solidFill>
                  <a:srgbClr val="000000"/>
                </a:solidFill>
                <a:effectLst/>
                <a:latin typeface="KaTeX_Main"/>
              </a:rPr>
              <a:t>=</a:t>
            </a:r>
            <a:r>
              <a:rPr lang="en-US" altLang="zh-CN" b="0" i="1" dirty="0">
                <a:solidFill>
                  <a:srgbClr val="000000"/>
                </a:solidFill>
                <a:effectLst/>
                <a:latin typeface="KaTeX_Math"/>
              </a:rPr>
              <a:t>w</a:t>
            </a:r>
            <a:r>
              <a:rPr lang="en-US" altLang="zh-CN" b="0" i="0" dirty="0">
                <a:solidFill>
                  <a:srgbClr val="000000"/>
                </a:solidFill>
                <a:effectLst/>
                <a:latin typeface="KaTeX_Main"/>
              </a:rPr>
              <a:t>1​</a:t>
            </a:r>
            <a:r>
              <a:rPr lang="en-US" altLang="zh-CN" b="0" i="1" dirty="0">
                <a:solidFill>
                  <a:srgbClr val="000000"/>
                </a:solidFill>
                <a:effectLst/>
                <a:latin typeface="KaTeX_Math"/>
              </a:rPr>
              <a:t>x</a:t>
            </a:r>
            <a:r>
              <a:rPr lang="en-US" altLang="zh-CN" b="0" i="0" dirty="0">
                <a:solidFill>
                  <a:srgbClr val="000000"/>
                </a:solidFill>
                <a:effectLst/>
                <a:latin typeface="KaTeX_Main"/>
              </a:rPr>
              <a:t>1​+</a:t>
            </a:r>
            <a:r>
              <a:rPr lang="en-US" altLang="zh-CN" b="0" i="1" dirty="0">
                <a:solidFill>
                  <a:srgbClr val="000000"/>
                </a:solidFill>
                <a:effectLst/>
                <a:latin typeface="KaTeX_Math"/>
              </a:rPr>
              <a:t>w</a:t>
            </a:r>
            <a:r>
              <a:rPr lang="en-US" altLang="zh-CN" b="0" i="0" dirty="0">
                <a:solidFill>
                  <a:srgbClr val="000000"/>
                </a:solidFill>
                <a:effectLst/>
                <a:latin typeface="KaTeX_Main"/>
              </a:rPr>
              <a:t>2​</a:t>
            </a:r>
            <a:r>
              <a:rPr lang="en-US" altLang="zh-CN" b="0" i="1" dirty="0">
                <a:solidFill>
                  <a:srgbClr val="000000"/>
                </a:solidFill>
                <a:effectLst/>
                <a:latin typeface="KaTeX_Math"/>
              </a:rPr>
              <a:t>x</a:t>
            </a:r>
            <a:r>
              <a:rPr lang="en-US" altLang="zh-CN" b="0" i="0" dirty="0">
                <a:solidFill>
                  <a:srgbClr val="000000"/>
                </a:solidFill>
                <a:effectLst/>
                <a:latin typeface="KaTeX_Main"/>
              </a:rPr>
              <a:t>2​+</a:t>
            </a:r>
            <a:r>
              <a:rPr lang="en-US" altLang="zh-CN" b="0" i="1" dirty="0">
                <a:solidFill>
                  <a:srgbClr val="000000"/>
                </a:solidFill>
                <a:effectLst/>
                <a:latin typeface="KaTeX_Math"/>
              </a:rPr>
              <a:t>b</a:t>
            </a:r>
            <a:r>
              <a:rPr lang="zh-CN" altLang="en-US" b="0" i="0" dirty="0">
                <a:solidFill>
                  <a:srgbClr val="000000"/>
                </a:solidFill>
                <a:effectLst/>
                <a:latin typeface="Inter"/>
              </a:rPr>
              <a:t>），属于</a:t>
            </a:r>
            <a:r>
              <a:rPr lang="zh-CN" altLang="en-US" b="1" i="0" dirty="0">
                <a:solidFill>
                  <a:srgbClr val="000000"/>
                </a:solidFill>
                <a:effectLst/>
                <a:latin typeface="Inter"/>
              </a:rPr>
              <a:t>参数化模型</a:t>
            </a:r>
            <a:r>
              <a:rPr lang="zh-CN" altLang="en-US" b="0" i="0" dirty="0">
                <a:solidFill>
                  <a:srgbClr val="000000"/>
                </a:solidFill>
                <a:effectLst/>
                <a:latin typeface="Inter"/>
              </a:rPr>
              <a:t>（模型结构固定，仅参数需学习）。</a:t>
            </a:r>
          </a:p>
          <a:p>
            <a:pPr algn="l">
              <a:buFont typeface="Arial" panose="020B0604020202020204" pitchFamily="34" charset="0"/>
              <a:buChar char="•"/>
            </a:pPr>
            <a:r>
              <a:rPr lang="zh-CN" altLang="en-US" b="1" i="0" dirty="0">
                <a:solidFill>
                  <a:srgbClr val="000000"/>
                </a:solidFill>
                <a:effectLst/>
                <a:latin typeface="Inter"/>
              </a:rPr>
              <a:t>决策树</a:t>
            </a:r>
            <a:r>
              <a:rPr lang="zh-CN" altLang="en-US" b="0" i="0" dirty="0">
                <a:solidFill>
                  <a:srgbClr val="000000"/>
                </a:solidFill>
                <a:effectLst/>
                <a:latin typeface="Inter"/>
              </a:rPr>
              <a:t>：以</a:t>
            </a:r>
            <a:r>
              <a:rPr lang="zh-CN" altLang="en-US" b="1" i="0" dirty="0">
                <a:solidFill>
                  <a:srgbClr val="000000"/>
                </a:solidFill>
                <a:effectLst/>
                <a:latin typeface="Inter"/>
              </a:rPr>
              <a:t>分层决策规则</a:t>
            </a:r>
            <a:r>
              <a:rPr lang="zh-CN" altLang="en-US" b="0" i="0" dirty="0">
                <a:solidFill>
                  <a:srgbClr val="000000"/>
                </a:solidFill>
                <a:effectLst/>
                <a:latin typeface="Inter"/>
              </a:rPr>
              <a:t>为核心，通过递归分裂特征（如 “年龄</a:t>
            </a:r>
            <a:r>
              <a:rPr lang="en-US" altLang="zh-CN" b="0" i="0" dirty="0">
                <a:solidFill>
                  <a:srgbClr val="000000"/>
                </a:solidFill>
                <a:effectLst/>
                <a:latin typeface="Inter"/>
              </a:rPr>
              <a:t>&gt; 30</a:t>
            </a:r>
            <a:r>
              <a:rPr lang="zh-CN" altLang="en-US" b="0" i="0" dirty="0">
                <a:solidFill>
                  <a:srgbClr val="000000"/>
                </a:solidFill>
                <a:effectLst/>
                <a:latin typeface="Inter"/>
              </a:rPr>
              <a:t>？”“收入≤</a:t>
            </a:r>
            <a:r>
              <a:rPr lang="en-US" altLang="zh-CN" b="0" i="0" dirty="0">
                <a:solidFill>
                  <a:srgbClr val="000000"/>
                </a:solidFill>
                <a:effectLst/>
                <a:latin typeface="Inter"/>
              </a:rPr>
              <a:t>50k</a:t>
            </a:r>
            <a:r>
              <a:rPr lang="zh-CN" altLang="en-US" b="0" i="0" dirty="0">
                <a:solidFill>
                  <a:srgbClr val="000000"/>
                </a:solidFill>
                <a:effectLst/>
                <a:latin typeface="Inter"/>
              </a:rPr>
              <a:t>？”）构建树状结构，每个叶节点对应一个预测结果，属于</a:t>
            </a:r>
            <a:r>
              <a:rPr lang="zh-CN" altLang="en-US" b="1" i="0" dirty="0">
                <a:solidFill>
                  <a:srgbClr val="000000"/>
                </a:solidFill>
                <a:effectLst/>
                <a:latin typeface="Inter"/>
              </a:rPr>
              <a:t>非参数化模型</a:t>
            </a:r>
            <a:r>
              <a:rPr lang="zh-CN" altLang="en-US" b="0" i="0" dirty="0">
                <a:solidFill>
                  <a:srgbClr val="000000"/>
                </a:solidFill>
                <a:effectLst/>
                <a:latin typeface="Inter"/>
              </a:rPr>
              <a:t>（模型结构随数据变化，无需预设函数形式）。</a:t>
            </a:r>
          </a:p>
        </p:txBody>
      </p:sp>
      <p:sp>
        <p:nvSpPr>
          <p:cNvPr id="13" name="文本框 12">
            <a:extLst>
              <a:ext uri="{FF2B5EF4-FFF2-40B4-BE49-F238E27FC236}">
                <a16:creationId xmlns:a16="http://schemas.microsoft.com/office/drawing/2014/main" id="{CB5820F9-E5FD-5654-E7EE-36F5BF348525}"/>
              </a:ext>
            </a:extLst>
          </p:cNvPr>
          <p:cNvSpPr txBox="1"/>
          <p:nvPr/>
        </p:nvSpPr>
        <p:spPr>
          <a:xfrm>
            <a:off x="2483689" y="3687913"/>
            <a:ext cx="6094140" cy="2954655"/>
          </a:xfrm>
          <a:prstGeom prst="rect">
            <a:avLst/>
          </a:prstGeom>
          <a:noFill/>
        </p:spPr>
        <p:txBody>
          <a:bodyPr wrap="square">
            <a:spAutoFit/>
          </a:bodyPr>
          <a:lstStyle/>
          <a:p>
            <a:r>
              <a:rPr lang="zh-CN" altLang="en-US" sz="1400" dirty="0"/>
              <a:t>回归分析的优越性与局限性</a:t>
            </a:r>
          </a:p>
          <a:p>
            <a:r>
              <a:rPr lang="en-US" altLang="zh-CN" sz="1400" dirty="0"/>
              <a:t>1. </a:t>
            </a:r>
            <a:r>
              <a:rPr lang="zh-CN" altLang="en-US" sz="1400" dirty="0"/>
              <a:t>优越性（</a:t>
            </a:r>
            <a:r>
              <a:rPr lang="en-US" altLang="zh-CN" sz="1400" dirty="0"/>
              <a:t>Strengths</a:t>
            </a:r>
            <a:r>
              <a:rPr lang="zh-CN" altLang="en-US" sz="1400" dirty="0"/>
              <a:t>）</a:t>
            </a:r>
          </a:p>
          <a:p>
            <a:r>
              <a:rPr lang="en-US" altLang="zh-CN" sz="1400" dirty="0"/>
              <a:t>- </a:t>
            </a:r>
            <a:r>
              <a:rPr lang="zh-CN" altLang="en-US" sz="1400" dirty="0"/>
              <a:t>强可解释性，结果易解读</a:t>
            </a:r>
          </a:p>
          <a:p>
            <a:r>
              <a:rPr lang="en-US" altLang="zh-CN" sz="1400" dirty="0"/>
              <a:t>- </a:t>
            </a:r>
            <a:r>
              <a:rPr lang="zh-CN" altLang="en-US" sz="1400" dirty="0"/>
              <a:t>计算效率高，训练成本低</a:t>
            </a:r>
          </a:p>
          <a:p>
            <a:r>
              <a:rPr lang="en-US" altLang="zh-CN" sz="1400" dirty="0"/>
              <a:t>- </a:t>
            </a:r>
            <a:r>
              <a:rPr lang="zh-CN" altLang="en-US" sz="1400" dirty="0"/>
              <a:t>对小样本数据更鲁棒</a:t>
            </a:r>
          </a:p>
          <a:p>
            <a:r>
              <a:rPr lang="en-US" altLang="zh-CN" sz="1400" dirty="0"/>
              <a:t>- </a:t>
            </a:r>
            <a:r>
              <a:rPr lang="zh-CN" altLang="en-US" sz="1400" dirty="0">
                <a:solidFill>
                  <a:schemeClr val="accent2"/>
                </a:solidFill>
              </a:rPr>
              <a:t>输出可量化概率（逻辑回归）</a:t>
            </a:r>
          </a:p>
          <a:p>
            <a:endParaRPr lang="zh-CN" altLang="en-US" sz="1400" dirty="0"/>
          </a:p>
          <a:p>
            <a:r>
              <a:rPr lang="en-US" altLang="zh-CN" sz="1400" dirty="0"/>
              <a:t>2. </a:t>
            </a:r>
            <a:r>
              <a:rPr lang="zh-CN" altLang="en-US" sz="1400" dirty="0"/>
              <a:t>局限性（</a:t>
            </a:r>
            <a:r>
              <a:rPr lang="en-US" altLang="zh-CN" sz="1400" dirty="0"/>
              <a:t>Weaknesses</a:t>
            </a:r>
            <a:r>
              <a:rPr lang="zh-CN" altLang="en-US" sz="1400" dirty="0"/>
              <a:t>）</a:t>
            </a:r>
          </a:p>
          <a:p>
            <a:r>
              <a:rPr lang="en-US" altLang="zh-CN" sz="1400" dirty="0"/>
              <a:t>- </a:t>
            </a:r>
            <a:r>
              <a:rPr lang="zh-CN" altLang="en-US" sz="1400" dirty="0"/>
              <a:t>强依赖“线性假设”，无法拟合非线性关系</a:t>
            </a:r>
          </a:p>
          <a:p>
            <a:r>
              <a:rPr lang="en-US" altLang="zh-CN" sz="1400" dirty="0"/>
              <a:t>- </a:t>
            </a:r>
            <a:r>
              <a:rPr lang="zh-CN" altLang="en-US" sz="1400" dirty="0"/>
              <a:t>对异常值敏感，抗干扰能力弱</a:t>
            </a:r>
          </a:p>
          <a:p>
            <a:r>
              <a:rPr lang="en-US" altLang="zh-CN" sz="1400" dirty="0"/>
              <a:t>- </a:t>
            </a:r>
            <a:r>
              <a:rPr lang="zh-CN" altLang="en-US" sz="1400" dirty="0"/>
              <a:t>无法自动处理特征交互，需人工设计</a:t>
            </a:r>
          </a:p>
          <a:p>
            <a:r>
              <a:rPr lang="en-US" altLang="zh-CN" sz="1400" dirty="0"/>
              <a:t>- </a:t>
            </a:r>
            <a:r>
              <a:rPr lang="zh-CN" altLang="en-US" sz="1400" dirty="0"/>
              <a:t>对特征尺度敏感，需预处理</a:t>
            </a:r>
          </a:p>
          <a:p>
            <a:endParaRPr lang="zh-CN" altLang="en-US" dirty="0"/>
          </a:p>
        </p:txBody>
      </p:sp>
      <p:sp>
        <p:nvSpPr>
          <p:cNvPr id="15" name="文本框 14">
            <a:extLst>
              <a:ext uri="{FF2B5EF4-FFF2-40B4-BE49-F238E27FC236}">
                <a16:creationId xmlns:a16="http://schemas.microsoft.com/office/drawing/2014/main" id="{8B6DDD61-5C1F-A182-59B9-74743CC765CB}"/>
              </a:ext>
            </a:extLst>
          </p:cNvPr>
          <p:cNvSpPr txBox="1"/>
          <p:nvPr/>
        </p:nvSpPr>
        <p:spPr>
          <a:xfrm>
            <a:off x="6372966" y="3695059"/>
            <a:ext cx="6094140" cy="2677656"/>
          </a:xfrm>
          <a:prstGeom prst="rect">
            <a:avLst/>
          </a:prstGeom>
          <a:noFill/>
        </p:spPr>
        <p:txBody>
          <a:bodyPr wrap="square">
            <a:spAutoFit/>
          </a:bodyPr>
          <a:lstStyle/>
          <a:p>
            <a:r>
              <a:rPr lang="zh-CN" altLang="en-US" sz="1400" dirty="0"/>
              <a:t>决策树的优越性与局限性</a:t>
            </a:r>
          </a:p>
          <a:p>
            <a:r>
              <a:rPr lang="en-US" altLang="zh-CN" sz="1400" dirty="0"/>
              <a:t>1. </a:t>
            </a:r>
            <a:r>
              <a:rPr lang="zh-CN" altLang="en-US" sz="1400" dirty="0"/>
              <a:t>优越性（</a:t>
            </a:r>
            <a:r>
              <a:rPr lang="en-US" altLang="zh-CN" sz="1400" dirty="0"/>
              <a:t>Strengths</a:t>
            </a:r>
            <a:r>
              <a:rPr lang="zh-CN" altLang="en-US" sz="1400" dirty="0"/>
              <a:t>）</a:t>
            </a:r>
          </a:p>
          <a:p>
            <a:r>
              <a:rPr lang="en-US" altLang="zh-CN" sz="1400" dirty="0"/>
              <a:t>- </a:t>
            </a:r>
            <a:r>
              <a:rPr lang="zh-CN" altLang="en-US" sz="1400" dirty="0"/>
              <a:t>无需线性假设，擅长拟合非线性关系</a:t>
            </a:r>
          </a:p>
          <a:p>
            <a:r>
              <a:rPr lang="en-US" altLang="zh-CN" sz="1400" dirty="0"/>
              <a:t>- </a:t>
            </a:r>
            <a:r>
              <a:rPr lang="zh-CN" altLang="en-US" sz="1400" dirty="0"/>
              <a:t>自动处理特征交互，无需人工干预</a:t>
            </a:r>
          </a:p>
          <a:p>
            <a:r>
              <a:rPr lang="en-US" altLang="zh-CN" sz="1400" dirty="0"/>
              <a:t>- </a:t>
            </a:r>
            <a:r>
              <a:rPr lang="zh-CN" altLang="en-US" sz="1400" dirty="0"/>
              <a:t>对数据预处理要求低，易用性强</a:t>
            </a:r>
          </a:p>
          <a:p>
            <a:r>
              <a:rPr lang="en-US" altLang="zh-CN" sz="1400" dirty="0"/>
              <a:t>- </a:t>
            </a:r>
            <a:r>
              <a:rPr lang="zh-CN" altLang="en-US" sz="1400" dirty="0"/>
              <a:t>模型结构直观，可解释性强（单棵树）</a:t>
            </a:r>
          </a:p>
          <a:p>
            <a:endParaRPr lang="zh-CN" altLang="en-US" sz="1400" dirty="0"/>
          </a:p>
          <a:p>
            <a:r>
              <a:rPr lang="en-US" altLang="zh-CN" sz="1400" dirty="0"/>
              <a:t>2. </a:t>
            </a:r>
            <a:r>
              <a:rPr lang="zh-CN" altLang="en-US" sz="1400" dirty="0"/>
              <a:t>局限性（</a:t>
            </a:r>
            <a:r>
              <a:rPr lang="en-US" altLang="zh-CN" sz="1400" dirty="0"/>
              <a:t>Weaknesses</a:t>
            </a:r>
            <a:r>
              <a:rPr lang="zh-CN" altLang="en-US" sz="1400" dirty="0"/>
              <a:t>）</a:t>
            </a:r>
          </a:p>
          <a:p>
            <a:r>
              <a:rPr lang="en-US" altLang="zh-CN" sz="1400" dirty="0"/>
              <a:t>- </a:t>
            </a:r>
            <a:r>
              <a:rPr lang="zh-CN" altLang="en-US" sz="1400" dirty="0"/>
              <a:t>易过拟合，泛化能力差（单棵树）</a:t>
            </a:r>
          </a:p>
          <a:p>
            <a:r>
              <a:rPr lang="en-US" altLang="zh-CN" sz="1400" dirty="0"/>
              <a:t>- </a:t>
            </a:r>
            <a:r>
              <a:rPr lang="zh-CN" altLang="en-US" sz="1400" dirty="0"/>
              <a:t>稳定性差，对数据微小变化敏感</a:t>
            </a:r>
          </a:p>
          <a:p>
            <a:r>
              <a:rPr lang="en-US" altLang="zh-CN" sz="1400" dirty="0"/>
              <a:t>- </a:t>
            </a:r>
            <a:r>
              <a:rPr lang="zh-CN" altLang="en-US" sz="1400" dirty="0"/>
              <a:t>类别不平衡数据中易偏向多数类</a:t>
            </a:r>
          </a:p>
          <a:p>
            <a:r>
              <a:rPr lang="en-US" altLang="zh-CN" sz="1400" dirty="0"/>
              <a:t>- </a:t>
            </a:r>
            <a:r>
              <a:rPr lang="zh-CN" altLang="en-US" sz="1400" dirty="0"/>
              <a:t>预测精度受“贪心分裂”限制</a:t>
            </a:r>
          </a:p>
        </p:txBody>
      </p:sp>
    </p:spTree>
    <p:extLst>
      <p:ext uri="{BB962C8B-B14F-4D97-AF65-F5344CB8AC3E}">
        <p14:creationId xmlns:p14="http://schemas.microsoft.com/office/powerpoint/2010/main" val="150509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聚类任务</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279435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三、无监督学习：</a:t>
            </a:r>
            <a:r>
              <a:rPr lang="en-US" altLang="zh-CN" sz="1600" dirty="0">
                <a:solidFill>
                  <a:srgbClr val="000000"/>
                </a:solidFill>
                <a:latin typeface="Times New Roman" panose="02020603050405020304" pitchFamily="18" charset="0"/>
              </a:rPr>
              <a:t>K</a:t>
            </a:r>
            <a:r>
              <a:rPr lang="zh-CN" altLang="en-US" sz="1600" dirty="0">
                <a:solidFill>
                  <a:srgbClr val="000000"/>
                </a:solidFill>
                <a:latin typeface="Times New Roman" panose="02020603050405020304" pitchFamily="18" charset="0"/>
              </a:rPr>
              <a:t>均值聚类</a:t>
            </a:r>
          </a:p>
        </p:txBody>
      </p:sp>
      <p:pic>
        <p:nvPicPr>
          <p:cNvPr id="8" name="图片 7">
            <a:extLst>
              <a:ext uri="{FF2B5EF4-FFF2-40B4-BE49-F238E27FC236}">
                <a16:creationId xmlns:a16="http://schemas.microsoft.com/office/drawing/2014/main" id="{46FBFF6E-ADF0-ECC0-B75F-B9D6D9491F97}"/>
              </a:ext>
            </a:extLst>
          </p:cNvPr>
          <p:cNvPicPr>
            <a:picLocks noChangeAspect="1"/>
          </p:cNvPicPr>
          <p:nvPr/>
        </p:nvPicPr>
        <p:blipFill>
          <a:blip r:embed="rId3"/>
          <a:stretch>
            <a:fillRect/>
          </a:stretch>
        </p:blipFill>
        <p:spPr>
          <a:xfrm>
            <a:off x="1391275" y="1669996"/>
            <a:ext cx="2923809" cy="2028571"/>
          </a:xfrm>
          <a:prstGeom prst="rect">
            <a:avLst/>
          </a:prstGeom>
        </p:spPr>
      </p:pic>
      <p:pic>
        <p:nvPicPr>
          <p:cNvPr id="11" name="图片 10">
            <a:extLst>
              <a:ext uri="{FF2B5EF4-FFF2-40B4-BE49-F238E27FC236}">
                <a16:creationId xmlns:a16="http://schemas.microsoft.com/office/drawing/2014/main" id="{6D9A16F2-32AC-CF71-B04C-704073971110}"/>
              </a:ext>
            </a:extLst>
          </p:cNvPr>
          <p:cNvPicPr>
            <a:picLocks noChangeAspect="1"/>
          </p:cNvPicPr>
          <p:nvPr/>
        </p:nvPicPr>
        <p:blipFill>
          <a:blip r:embed="rId4"/>
          <a:stretch>
            <a:fillRect/>
          </a:stretch>
        </p:blipFill>
        <p:spPr>
          <a:xfrm>
            <a:off x="1391275" y="4243029"/>
            <a:ext cx="3009524" cy="2123810"/>
          </a:xfrm>
          <a:prstGeom prst="rect">
            <a:avLst/>
          </a:prstGeom>
        </p:spPr>
      </p:pic>
      <p:sp>
        <p:nvSpPr>
          <p:cNvPr id="12" name="箭头: 下 11">
            <a:extLst>
              <a:ext uri="{FF2B5EF4-FFF2-40B4-BE49-F238E27FC236}">
                <a16:creationId xmlns:a16="http://schemas.microsoft.com/office/drawing/2014/main" id="{2844B87B-4CF9-2655-E618-AA03C88550B7}"/>
              </a:ext>
            </a:extLst>
          </p:cNvPr>
          <p:cNvSpPr/>
          <p:nvPr/>
        </p:nvSpPr>
        <p:spPr>
          <a:xfrm>
            <a:off x="2648932" y="3817856"/>
            <a:ext cx="527901" cy="2828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B66D55C1-B513-D76A-383D-EB543C186D04}"/>
              </a:ext>
            </a:extLst>
          </p:cNvPr>
          <p:cNvSpPr txBox="1"/>
          <p:nvPr/>
        </p:nvSpPr>
        <p:spPr>
          <a:xfrm>
            <a:off x="3176833" y="3786132"/>
            <a:ext cx="695226" cy="369332"/>
          </a:xfrm>
          <a:prstGeom prst="rect">
            <a:avLst/>
          </a:prstGeom>
          <a:noFill/>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聚类</a:t>
            </a:r>
            <a:endParaRPr lang="zh-CN" altLang="en-US" dirty="0"/>
          </a:p>
        </p:txBody>
      </p:sp>
      <p:sp>
        <p:nvSpPr>
          <p:cNvPr id="17" name="文本框 16">
            <a:extLst>
              <a:ext uri="{FF2B5EF4-FFF2-40B4-BE49-F238E27FC236}">
                <a16:creationId xmlns:a16="http://schemas.microsoft.com/office/drawing/2014/main" id="{FAF500C1-4E5B-0F43-09EA-3009884BF8B3}"/>
              </a:ext>
            </a:extLst>
          </p:cNvPr>
          <p:cNvSpPr txBox="1"/>
          <p:nvPr/>
        </p:nvSpPr>
        <p:spPr>
          <a:xfrm>
            <a:off x="4962532" y="2084116"/>
            <a:ext cx="6160416" cy="3970318"/>
          </a:xfrm>
          <a:prstGeom prst="rect">
            <a:avLst/>
          </a:prstGeom>
          <a:noFill/>
        </p:spPr>
        <p:txBody>
          <a:bodyPr wrap="square">
            <a:spAutoFit/>
          </a:bodyPr>
          <a:lstStyle/>
          <a:p>
            <a:r>
              <a:rPr lang="zh-CN" altLang="en-US" dirty="0"/>
              <a:t>聚类任务的应用：</a:t>
            </a:r>
            <a:endParaRPr lang="en-US" altLang="zh-CN" dirty="0"/>
          </a:p>
          <a:p>
            <a:pPr marL="342900" indent="-342900">
              <a:buAutoNum type="arabicPeriod"/>
            </a:pPr>
            <a:r>
              <a:rPr lang="zh-CN" altLang="en-US" b="0" i="0" dirty="0">
                <a:solidFill>
                  <a:srgbClr val="1C1F23"/>
                </a:solidFill>
                <a:effectLst/>
                <a:latin typeface="ui-sans-serif"/>
              </a:rPr>
              <a:t>用户分群：电商、社交平台按用户消费习惯、行为偏好聚类（如“高频高客单价用户”“低频浏览用户”），用于精准营销、个性化推荐； </a:t>
            </a:r>
            <a:endParaRPr lang="en-US" altLang="zh-CN" b="0" i="0" dirty="0">
              <a:solidFill>
                <a:srgbClr val="1C1F23"/>
              </a:solidFill>
              <a:effectLst/>
              <a:latin typeface="ui-sans-serif"/>
            </a:endParaRPr>
          </a:p>
          <a:p>
            <a:pPr marL="342900" indent="-342900">
              <a:buAutoNum type="arabicPeriod"/>
            </a:pPr>
            <a:r>
              <a:rPr lang="zh-CN" altLang="en-US" b="0" i="0" dirty="0">
                <a:solidFill>
                  <a:srgbClr val="1C1F23"/>
                </a:solidFill>
                <a:effectLst/>
                <a:latin typeface="ui-sans-serif"/>
              </a:rPr>
              <a:t>图像分割：对医学影像（如</a:t>
            </a:r>
            <a:r>
              <a:rPr lang="en-US" altLang="zh-CN" b="0" i="0" dirty="0">
                <a:solidFill>
                  <a:srgbClr val="1C1F23"/>
                </a:solidFill>
                <a:effectLst/>
                <a:latin typeface="ui-sans-serif"/>
              </a:rPr>
              <a:t>CT</a:t>
            </a:r>
            <a:r>
              <a:rPr lang="zh-CN" altLang="en-US" b="0" i="0" dirty="0">
                <a:solidFill>
                  <a:srgbClr val="1C1F23"/>
                </a:solidFill>
                <a:effectLst/>
                <a:latin typeface="ui-sans-serif"/>
              </a:rPr>
              <a:t>、</a:t>
            </a:r>
            <a:r>
              <a:rPr lang="en-US" altLang="zh-CN" b="0" i="0" dirty="0">
                <a:solidFill>
                  <a:srgbClr val="1C1F23"/>
                </a:solidFill>
                <a:effectLst/>
                <a:latin typeface="ui-sans-serif"/>
              </a:rPr>
              <a:t>MRI</a:t>
            </a:r>
            <a:r>
              <a:rPr lang="zh-CN" altLang="en-US" b="0" i="0" dirty="0">
                <a:solidFill>
                  <a:srgbClr val="1C1F23"/>
                </a:solidFill>
                <a:effectLst/>
                <a:latin typeface="ui-sans-serif"/>
              </a:rPr>
              <a:t>）按组织密度聚类，区分病变区域与正常组织，辅助疾病诊断； </a:t>
            </a:r>
            <a:endParaRPr lang="en-US" altLang="zh-CN" b="0" i="0" dirty="0">
              <a:solidFill>
                <a:srgbClr val="1C1F23"/>
              </a:solidFill>
              <a:effectLst/>
              <a:latin typeface="ui-sans-serif"/>
            </a:endParaRPr>
          </a:p>
          <a:p>
            <a:pPr marL="342900" indent="-342900">
              <a:buAutoNum type="arabicPeriod"/>
            </a:pPr>
            <a:r>
              <a:rPr lang="zh-CN" altLang="en-US" b="0" i="0" dirty="0">
                <a:solidFill>
                  <a:srgbClr val="1C1F23"/>
                </a:solidFill>
                <a:effectLst/>
                <a:latin typeface="ui-sans-serif"/>
              </a:rPr>
              <a:t>异常检测：金融领域对交易数据聚类，将偏离正常簇的交易（如“异地大额高频转账”）识别为欺诈交易； </a:t>
            </a:r>
            <a:endParaRPr lang="en-US" altLang="zh-CN" b="0" i="0" dirty="0">
              <a:solidFill>
                <a:srgbClr val="1C1F23"/>
              </a:solidFill>
              <a:effectLst/>
              <a:latin typeface="ui-sans-serif"/>
            </a:endParaRPr>
          </a:p>
          <a:p>
            <a:pPr marL="342900" indent="-342900">
              <a:buAutoNum type="arabicPeriod"/>
            </a:pPr>
            <a:r>
              <a:rPr lang="zh-CN" altLang="en-US" b="0" i="0" dirty="0">
                <a:solidFill>
                  <a:srgbClr val="1C1F23"/>
                </a:solidFill>
                <a:effectLst/>
                <a:latin typeface="ui-sans-serif"/>
              </a:rPr>
              <a:t>文本聚类：新闻、文献平台按内容主题聚类（如“科技新闻”“财经新闻”），实现内容分类、相似文本推荐； </a:t>
            </a:r>
            <a:endParaRPr lang="en-US" altLang="zh-CN" b="0" i="0" dirty="0">
              <a:solidFill>
                <a:srgbClr val="1C1F23"/>
              </a:solidFill>
              <a:effectLst/>
              <a:latin typeface="ui-sans-serif"/>
            </a:endParaRPr>
          </a:p>
          <a:p>
            <a:pPr marL="342900" indent="-342900">
              <a:buAutoNum type="arabicPeriod"/>
            </a:pPr>
            <a:r>
              <a:rPr lang="zh-CN" altLang="en-US" b="0" i="0" dirty="0">
                <a:solidFill>
                  <a:srgbClr val="1C1F23"/>
                </a:solidFill>
                <a:effectLst/>
                <a:latin typeface="ui-sans-serif"/>
              </a:rPr>
              <a:t>产品分类：零售行业按商品属性（价格、品类、销量）聚类，优化库存管理、货架陈列； </a:t>
            </a:r>
            <a:endParaRPr lang="en-US" altLang="zh-CN" b="0" i="0" dirty="0">
              <a:solidFill>
                <a:srgbClr val="1C1F23"/>
              </a:solidFill>
              <a:effectLst/>
              <a:latin typeface="ui-sans-serif"/>
            </a:endParaRPr>
          </a:p>
          <a:p>
            <a:pPr marL="342900" indent="-342900">
              <a:buAutoNum type="arabicPeriod"/>
            </a:pPr>
            <a:r>
              <a:rPr lang="zh-CN" altLang="en-US" b="0" i="0" dirty="0">
                <a:solidFill>
                  <a:srgbClr val="1C1F23"/>
                </a:solidFill>
                <a:effectLst/>
                <a:latin typeface="ui-sans-serif"/>
              </a:rPr>
              <a:t>生物信息：对基因表达数据聚类，划分不同细胞类型、识别疾病相关基因簇，助力生物研究。</a:t>
            </a:r>
            <a:endParaRPr lang="zh-CN" altLang="en-US" dirty="0"/>
          </a:p>
        </p:txBody>
      </p:sp>
    </p:spTree>
    <p:extLst>
      <p:ext uri="{BB962C8B-B14F-4D97-AF65-F5344CB8AC3E}">
        <p14:creationId xmlns:p14="http://schemas.microsoft.com/office/powerpoint/2010/main" val="3574520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279435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三、无监督学习：</a:t>
            </a:r>
            <a:r>
              <a:rPr lang="en-US" altLang="zh-CN" sz="1600" dirty="0">
                <a:solidFill>
                  <a:srgbClr val="000000"/>
                </a:solidFill>
                <a:latin typeface="Times New Roman" panose="02020603050405020304" pitchFamily="18" charset="0"/>
              </a:rPr>
              <a:t>K</a:t>
            </a:r>
            <a:r>
              <a:rPr lang="zh-CN" altLang="en-US" sz="1600" dirty="0">
                <a:solidFill>
                  <a:srgbClr val="000000"/>
                </a:solidFill>
                <a:latin typeface="Times New Roman" panose="02020603050405020304" pitchFamily="18" charset="0"/>
              </a:rPr>
              <a:t>均值聚类</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72403F3-F061-4B0C-9FFB-BA30650292BA}"/>
                  </a:ext>
                </a:extLst>
              </p:cNvPr>
              <p:cNvSpPr/>
              <p:nvPr/>
            </p:nvSpPr>
            <p:spPr>
              <a:xfrm>
                <a:off x="618283" y="2062223"/>
                <a:ext cx="6096000" cy="4198201"/>
              </a:xfrm>
              <a:prstGeom prst="rect">
                <a:avLst/>
              </a:prstGeom>
            </p:spPr>
            <p:txBody>
              <a:bodyPr>
                <a:spAutoFit/>
              </a:bodyPr>
              <a:lstStyle/>
              <a:p>
                <a:pPr marL="285750" indent="-285750" algn="just">
                  <a:lnSpc>
                    <a:spcPct val="150000"/>
                  </a:lnSpc>
                  <a:spcAft>
                    <a:spcPts val="0"/>
                  </a:spcAft>
                  <a:buFont typeface="Wingdings" panose="05000000000000000000" pitchFamily="2" charset="2"/>
                  <a:buChar char="l"/>
                </a:pPr>
                <a:r>
                  <a:rPr lang="en-US" altLang="zh-CN" dirty="0">
                    <a:solidFill>
                      <a:schemeClr val="accent2"/>
                    </a:solidFill>
                    <a:latin typeface="Times New Roman" panose="02020603050405020304" pitchFamily="18" charset="0"/>
                    <a:ea typeface="楷体_GB2312"/>
                    <a:cs typeface="Times New Roman" panose="02020603050405020304" pitchFamily="18" charset="0"/>
                  </a:rPr>
                  <a:t>k-means</a:t>
                </a:r>
                <a:r>
                  <a:rPr lang="zh-CN" altLang="zh-CN" dirty="0">
                    <a:solidFill>
                      <a:schemeClr val="accent2"/>
                    </a:solidFill>
                    <a:latin typeface="Times New Roman" panose="02020603050405020304" pitchFamily="18" charset="0"/>
                    <a:ea typeface="楷体_GB2312"/>
                    <a:cs typeface="Times New Roman" panose="02020603050405020304" pitchFamily="18" charset="0"/>
                  </a:rPr>
                  <a:t>算法的目标是将</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个</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𝑑</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维数据</a:t>
                </a:r>
                <a14:m>
                  <m:oMath xmlns:m="http://schemas.openxmlformats.org/officeDocument/2006/math">
                    <m:r>
                      <a:rPr lang="en-US" altLang="zh-CN">
                        <a:solidFill>
                          <a:schemeClr val="accent2"/>
                        </a:solidFill>
                        <a:latin typeface="Cambria Math" panose="02040503050406030204" pitchFamily="18" charset="0"/>
                        <a:ea typeface="楷体_GB2312"/>
                        <a:cs typeface="Times New Roman" panose="02020603050405020304" pitchFamily="18" charset="0"/>
                      </a:rPr>
                      <m:t>{</m:t>
                    </m:r>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chemeClr val="accent2"/>
                            </a:solidFill>
                            <a:latin typeface="Cambria Math" panose="02040503050406030204" pitchFamily="18" charset="0"/>
                            <a:ea typeface="楷体_GB2312"/>
                            <a:cs typeface="Times New Roman" panose="02020603050405020304" pitchFamily="18" charset="0"/>
                          </a:rPr>
                          <m:t>𝑥</m:t>
                        </m:r>
                      </m:e>
                      <m:sub>
                        <m:r>
                          <a:rPr lang="en-US" altLang="zh-CN" i="1">
                            <a:solidFill>
                              <a:schemeClr val="accent2"/>
                            </a:solidFill>
                            <a:latin typeface="Cambria Math" panose="02040503050406030204" pitchFamily="18" charset="0"/>
                            <a:ea typeface="楷体_GB2312"/>
                            <a:cs typeface="Times New Roman" panose="02020603050405020304" pitchFamily="18" charset="0"/>
                          </a:rPr>
                          <m:t>𝑖</m:t>
                        </m:r>
                      </m:sub>
                    </m:sSub>
                    <m:r>
                      <a:rPr lang="en-US" altLang="zh-CN" i="1">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𝑖</m:t>
                    </m:r>
                    <m:r>
                      <a:rPr lang="en-US" altLang="zh-CN" i="1">
                        <a:solidFill>
                          <a:schemeClr val="accent2"/>
                        </a:solidFill>
                        <a:latin typeface="Cambria Math" panose="02040503050406030204" pitchFamily="18" charset="0"/>
                        <a:ea typeface="楷体_GB2312"/>
                        <a:cs typeface="Times New Roman" panose="02020603050405020304" pitchFamily="18" charset="0"/>
                      </a:rPr>
                      <m:t>=1,…,</m:t>
                    </m:r>
                    <m:r>
                      <a:rPr lang="en-US" altLang="zh-CN" i="1">
                        <a:solidFill>
                          <a:schemeClr val="accent2"/>
                        </a:solidFill>
                        <a:latin typeface="Cambria Math" panose="02040503050406030204" pitchFamily="18" charset="0"/>
                        <a:ea typeface="楷体_GB2312"/>
                        <a:cs typeface="Times New Roman" panose="02020603050405020304" pitchFamily="18" charset="0"/>
                      </a:rPr>
                      <m:t>𝑛</m:t>
                    </m:r>
                    <m:r>
                      <a:rPr lang="en-US" altLang="zh-CN" i="1">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划分为</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𝐾</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个聚簇，使得</a:t>
                </a:r>
                <a:r>
                  <a:rPr lang="zh-CN" altLang="zh-CN" b="1" dirty="0">
                    <a:solidFill>
                      <a:schemeClr val="accent2"/>
                    </a:solidFill>
                    <a:latin typeface="Times New Roman" panose="02020603050405020304" pitchFamily="18" charset="0"/>
                    <a:ea typeface="楷体_GB2312"/>
                    <a:cs typeface="Times New Roman" panose="02020603050405020304" pitchFamily="18" charset="0"/>
                  </a:rPr>
                  <a:t>簇内方差最小化</a:t>
                </a:r>
                <a:r>
                  <a:rPr lang="zh-CN" altLang="zh-CN" dirty="0">
                    <a:solidFill>
                      <a:srgbClr val="000000"/>
                    </a:solidFill>
                    <a:latin typeface="Times New Roman" panose="02020603050405020304" pitchFamily="18" charset="0"/>
                    <a:ea typeface="楷体_GB2312"/>
                    <a:cs typeface="Times New Roman" panose="02020603050405020304" pitchFamily="18" charset="0"/>
                  </a:rPr>
                  <a:t>。由于原始数据可能的聚类结果数量巨大，要求一个特定的聚类算法总是能达到最优是不切实际的。所以，</a:t>
                </a:r>
                <a:r>
                  <a:rPr lang="en-US" altLang="zh-CN" dirty="0">
                    <a:solidFill>
                      <a:srgbClr val="000000"/>
                    </a:solidFill>
                    <a:latin typeface="Times New Roman" panose="02020603050405020304" pitchFamily="18" charset="0"/>
                    <a:ea typeface="楷体_GB2312"/>
                    <a:cs typeface="Times New Roman" panose="02020603050405020304" pitchFamily="18" charset="0"/>
                  </a:rPr>
                  <a:t>k-means</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算法找到的是一个</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局部</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最优，即没有任何其他的聚类结果，能够让簇内的方差更小，但不能保证找到全局最优</a:t>
                </a:r>
                <a:r>
                  <a:rPr lang="en-US" altLang="zh-CN" dirty="0">
                    <a:solidFill>
                      <a:srgbClr val="000000"/>
                    </a:solidFill>
                    <a:latin typeface="Times New Roman" panose="02020603050405020304" pitchFamily="18" charset="0"/>
                    <a:ea typeface="楷体_GB2312"/>
                    <a:cs typeface="Times New Roman" panose="02020603050405020304" pitchFamily="18" charset="0"/>
                  </a:rPr>
                  <a:t>[Hartigan 1979]</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chemeClr val="accent2"/>
                    </a:solidFill>
                    <a:latin typeface="Times New Roman" panose="02020603050405020304" pitchFamily="18" charset="0"/>
                    <a:ea typeface="楷体_GB2312"/>
                    <a:cs typeface="Times New Roman" panose="02020603050405020304" pitchFamily="18" charset="0"/>
                  </a:rPr>
                  <a:t>k-means</a:t>
                </a:r>
                <a:r>
                  <a:rPr lang="zh-CN" altLang="zh-CN" dirty="0">
                    <a:solidFill>
                      <a:schemeClr val="accent2"/>
                    </a:solidFill>
                    <a:latin typeface="Times New Roman" panose="02020603050405020304" pitchFamily="18" charset="0"/>
                    <a:ea typeface="楷体_GB2312"/>
                    <a:cs typeface="Times New Roman" panose="02020603050405020304" pitchFamily="18" charset="0"/>
                  </a:rPr>
                  <a:t>同时也是一个易受初始值影响的迭代算法，可以用不同的初始值重复几次，以达到上述的</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局部</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最优</a:t>
                </a:r>
                <a:r>
                  <a:rPr lang="zh-CN" altLang="zh-CN" dirty="0">
                    <a:solidFill>
                      <a:srgbClr val="000000"/>
                    </a:solidFill>
                    <a:latin typeface="Times New Roman" panose="02020603050405020304" pitchFamily="18" charset="0"/>
                    <a:ea typeface="楷体_GB2312"/>
                    <a:cs typeface="Times New Roman" panose="02020603050405020304" pitchFamily="18" charset="0"/>
                  </a:rPr>
                  <a:t>，常用的初始化方法包括</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Forgy</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Random Partition[</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Hamerly</a:t>
                </a:r>
                <a:r>
                  <a:rPr lang="en-US" altLang="zh-CN" dirty="0">
                    <a:solidFill>
                      <a:srgbClr val="000000"/>
                    </a:solidFill>
                    <a:latin typeface="Times New Roman" panose="02020603050405020304" pitchFamily="18" charset="0"/>
                    <a:ea typeface="楷体_GB2312"/>
                    <a:cs typeface="Times New Roman" panose="02020603050405020304" pitchFamily="18" charset="0"/>
                  </a:rPr>
                  <a:t> 2002]</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6" name="矩形 5">
                <a:extLst>
                  <a:ext uri="{FF2B5EF4-FFF2-40B4-BE49-F238E27FC236}">
                    <a16:creationId xmlns:a16="http://schemas.microsoft.com/office/drawing/2014/main" id="{C72403F3-F061-4B0C-9FFB-BA30650292BA}"/>
                  </a:ext>
                </a:extLst>
              </p:cNvPr>
              <p:cNvSpPr>
                <a:spLocks noRot="1" noChangeAspect="1" noMove="1" noResize="1" noEditPoints="1" noAdjustHandles="1" noChangeArrowheads="1" noChangeShapeType="1" noTextEdit="1"/>
              </p:cNvSpPr>
              <p:nvPr/>
            </p:nvSpPr>
            <p:spPr>
              <a:xfrm>
                <a:off x="618283" y="2062223"/>
                <a:ext cx="6096000" cy="4198201"/>
              </a:xfrm>
              <a:prstGeom prst="rect">
                <a:avLst/>
              </a:prstGeom>
              <a:blipFill>
                <a:blip r:embed="rId3"/>
                <a:stretch>
                  <a:fillRect l="-600" r="-4600" b="-1306"/>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541B9E3D-EA50-4460-B143-3567EF2443A4}"/>
              </a:ext>
            </a:extLst>
          </p:cNvPr>
          <p:cNvPicPr>
            <a:picLocks noChangeAspect="1"/>
          </p:cNvPicPr>
          <p:nvPr/>
        </p:nvPicPr>
        <p:blipFill>
          <a:blip r:embed="rId4"/>
          <a:stretch>
            <a:fillRect/>
          </a:stretch>
        </p:blipFill>
        <p:spPr>
          <a:xfrm>
            <a:off x="7018462" y="2658889"/>
            <a:ext cx="4810372" cy="2615716"/>
          </a:xfrm>
          <a:prstGeom prst="rect">
            <a:avLst/>
          </a:prstGeom>
        </p:spPr>
      </p:pic>
    </p:spTree>
    <p:extLst>
      <p:ext uri="{BB962C8B-B14F-4D97-AF65-F5344CB8AC3E}">
        <p14:creationId xmlns:p14="http://schemas.microsoft.com/office/powerpoint/2010/main" val="4638840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279435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三、无监督学习：</a:t>
            </a:r>
            <a:r>
              <a:rPr lang="en-US" altLang="zh-CN" sz="1600" dirty="0">
                <a:solidFill>
                  <a:srgbClr val="000000"/>
                </a:solidFill>
                <a:latin typeface="Times New Roman" panose="02020603050405020304" pitchFamily="18" charset="0"/>
              </a:rPr>
              <a:t>K</a:t>
            </a:r>
            <a:r>
              <a:rPr lang="zh-CN" altLang="en-US" sz="1600" dirty="0">
                <a:solidFill>
                  <a:srgbClr val="000000"/>
                </a:solidFill>
                <a:latin typeface="Times New Roman" panose="02020603050405020304" pitchFamily="18" charset="0"/>
              </a:rPr>
              <a:t>均值聚类</a:t>
            </a:r>
          </a:p>
        </p:txBody>
      </p:sp>
      <p:pic>
        <p:nvPicPr>
          <p:cNvPr id="7" name="图片 6">
            <a:extLst>
              <a:ext uri="{FF2B5EF4-FFF2-40B4-BE49-F238E27FC236}">
                <a16:creationId xmlns:a16="http://schemas.microsoft.com/office/drawing/2014/main" id="{B109AE26-E254-49FD-8CC8-B920603038ED}"/>
              </a:ext>
            </a:extLst>
          </p:cNvPr>
          <p:cNvPicPr>
            <a:picLocks noChangeAspect="1"/>
          </p:cNvPicPr>
          <p:nvPr/>
        </p:nvPicPr>
        <p:blipFill>
          <a:blip r:embed="rId3"/>
          <a:stretch>
            <a:fillRect/>
          </a:stretch>
        </p:blipFill>
        <p:spPr>
          <a:xfrm>
            <a:off x="1187132" y="2337625"/>
            <a:ext cx="4740519" cy="3337097"/>
          </a:xfrm>
          <a:prstGeom prst="rect">
            <a:avLst/>
          </a:prstGeom>
        </p:spPr>
      </p:pic>
      <p:pic>
        <p:nvPicPr>
          <p:cNvPr id="8" name="图片 7">
            <a:extLst>
              <a:ext uri="{FF2B5EF4-FFF2-40B4-BE49-F238E27FC236}">
                <a16:creationId xmlns:a16="http://schemas.microsoft.com/office/drawing/2014/main" id="{318EA1DC-8D5D-4817-8C2C-C0772DAEB011}"/>
              </a:ext>
            </a:extLst>
          </p:cNvPr>
          <p:cNvPicPr>
            <a:picLocks noChangeAspect="1"/>
          </p:cNvPicPr>
          <p:nvPr/>
        </p:nvPicPr>
        <p:blipFill>
          <a:blip r:embed="rId4"/>
          <a:stretch>
            <a:fillRect/>
          </a:stretch>
        </p:blipFill>
        <p:spPr>
          <a:xfrm>
            <a:off x="6386086" y="2696418"/>
            <a:ext cx="4724643" cy="2619510"/>
          </a:xfrm>
          <a:prstGeom prst="rect">
            <a:avLst/>
          </a:prstGeom>
        </p:spPr>
      </p:pic>
    </p:spTree>
    <p:extLst>
      <p:ext uri="{BB962C8B-B14F-4D97-AF65-F5344CB8AC3E}">
        <p14:creationId xmlns:p14="http://schemas.microsoft.com/office/powerpoint/2010/main" val="42192880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另外一种解释</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279435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三、无监督学习：</a:t>
            </a:r>
            <a:r>
              <a:rPr lang="en-US" altLang="zh-CN" sz="1600" dirty="0">
                <a:solidFill>
                  <a:srgbClr val="000000"/>
                </a:solidFill>
                <a:latin typeface="Times New Roman" panose="02020603050405020304" pitchFamily="18" charset="0"/>
              </a:rPr>
              <a:t>K</a:t>
            </a:r>
            <a:r>
              <a:rPr lang="zh-CN" altLang="en-US" sz="1600" dirty="0">
                <a:solidFill>
                  <a:srgbClr val="000000"/>
                </a:solidFill>
                <a:latin typeface="Times New Roman" panose="02020603050405020304" pitchFamily="18" charset="0"/>
              </a:rPr>
              <a:t>均值聚类</a:t>
            </a:r>
          </a:p>
        </p:txBody>
      </p:sp>
      <p:sp>
        <p:nvSpPr>
          <p:cNvPr id="9" name="椭圆形标注 20">
            <a:extLst>
              <a:ext uri="{FF2B5EF4-FFF2-40B4-BE49-F238E27FC236}">
                <a16:creationId xmlns:a16="http://schemas.microsoft.com/office/drawing/2014/main" id="{2F70396D-8A28-49DB-A0EC-AD201B0A881A}"/>
              </a:ext>
            </a:extLst>
          </p:cNvPr>
          <p:cNvSpPr/>
          <p:nvPr/>
        </p:nvSpPr>
        <p:spPr>
          <a:xfrm>
            <a:off x="4369139" y="1926058"/>
            <a:ext cx="1557011" cy="1216681"/>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黑体" pitchFamily="49" charset="-122"/>
            </a:endParaRPr>
          </a:p>
        </p:txBody>
      </p:sp>
      <mc:AlternateContent xmlns:mc="http://schemas.openxmlformats.org/markup-compatibility/2006" xmlns:a14="http://schemas.microsoft.com/office/drawing/2010/main">
        <mc:Choice Requires="a14">
          <p:sp>
            <p:nvSpPr>
              <p:cNvPr id="10" name="TextBox 3">
                <a:extLst>
                  <a:ext uri="{FF2B5EF4-FFF2-40B4-BE49-F238E27FC236}">
                    <a16:creationId xmlns:a16="http://schemas.microsoft.com/office/drawing/2014/main" id="{E6790A23-73E2-4CC9-A854-CA3294CE9C92}"/>
                  </a:ext>
                </a:extLst>
              </p:cNvPr>
              <p:cNvSpPr txBox="1"/>
              <p:nvPr/>
            </p:nvSpPr>
            <p:spPr>
              <a:xfrm>
                <a:off x="3070976" y="1867660"/>
                <a:ext cx="5552289" cy="9130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altLang="zh-CN" i="1" smtClean="0">
                              <a:latin typeface="Cambria Math" panose="02040503050406030204" pitchFamily="18" charset="0"/>
                              <a:ea typeface="黑体" pitchFamily="49" charset="-122"/>
                            </a:rPr>
                          </m:ctrlPr>
                        </m:funcPr>
                        <m:fName>
                          <m:limLow>
                            <m:limLowPr>
                              <m:ctrlPr>
                                <a:rPr lang="en-US" altLang="zh-CN" i="1" smtClean="0">
                                  <a:latin typeface="Cambria Math" panose="02040503050406030204" pitchFamily="18" charset="0"/>
                                  <a:ea typeface="黑体" pitchFamily="49" charset="-122"/>
                                </a:rPr>
                              </m:ctrlPr>
                            </m:limLowPr>
                            <m:e>
                              <m:r>
                                <m:rPr>
                                  <m:sty m:val="p"/>
                                </m:rPr>
                                <a:rPr lang="en-US" altLang="zh-CN" b="0" i="0" smtClean="0">
                                  <a:latin typeface="Cambria Math"/>
                                  <a:ea typeface="黑体" pitchFamily="49" charset="-122"/>
                                </a:rPr>
                                <m:t>arg</m:t>
                              </m:r>
                              <m:r>
                                <a:rPr lang="en-US" altLang="zh-CN" b="0" i="0" smtClean="0">
                                  <a:latin typeface="Cambria Math"/>
                                  <a:ea typeface="黑体" pitchFamily="49" charset="-122"/>
                                </a:rPr>
                                <m:t> </m:t>
                              </m:r>
                              <m:r>
                                <m:rPr>
                                  <m:sty m:val="p"/>
                                </m:rPr>
                                <a:rPr lang="en-US" altLang="zh-CN" i="0" smtClean="0">
                                  <a:latin typeface="Cambria Math"/>
                                  <a:ea typeface="黑体" pitchFamily="49" charset="-122"/>
                                </a:rPr>
                                <m:t>min</m:t>
                              </m:r>
                            </m:e>
                            <m:lim>
                              <m:r>
                                <a:rPr lang="en-US" altLang="zh-CN" b="0" i="1" smtClean="0">
                                  <a:latin typeface="Cambria Math"/>
                                  <a:ea typeface="黑体" pitchFamily="49" charset="-122"/>
                                </a:rPr>
                                <m:t>𝐺</m:t>
                              </m:r>
                            </m:lim>
                          </m:limLow>
                          <m:nary>
                            <m:naryPr>
                              <m:chr m:val="∑"/>
                              <m:ctrlPr>
                                <a:rPr lang="en-US" altLang="zh-CN" i="1" smtClean="0">
                                  <a:latin typeface="Cambria Math" panose="02040503050406030204" pitchFamily="18" charset="0"/>
                                  <a:ea typeface="黑体" pitchFamily="49" charset="-122"/>
                                </a:rPr>
                              </m:ctrlPr>
                            </m:naryPr>
                            <m:sub>
                              <m:r>
                                <m:rPr>
                                  <m:brk m:alnAt="23"/>
                                </m:rPr>
                                <a:rPr lang="en-US" altLang="zh-CN" b="0" i="1" smtClean="0">
                                  <a:latin typeface="Cambria Math"/>
                                  <a:ea typeface="黑体" pitchFamily="49" charset="-122"/>
                                </a:rPr>
                                <m:t>𝑖</m:t>
                              </m:r>
                              <m:r>
                                <a:rPr lang="en-US" altLang="zh-CN" b="0" i="1" smtClean="0">
                                  <a:latin typeface="Cambria Math"/>
                                  <a:ea typeface="黑体" pitchFamily="49" charset="-122"/>
                                </a:rPr>
                                <m:t>=1</m:t>
                              </m:r>
                            </m:sub>
                            <m:sup>
                              <m:r>
                                <a:rPr lang="en-US" altLang="zh-CN" b="0" i="1" smtClean="0">
                                  <a:latin typeface="Cambria Math"/>
                                  <a:ea typeface="黑体" pitchFamily="49" charset="-122"/>
                                </a:rPr>
                                <m:t>𝑘</m:t>
                              </m:r>
                            </m:sup>
                            <m:e>
                              <m:nary>
                                <m:naryPr>
                                  <m:chr m:val="∑"/>
                                  <m:supHide m:val="on"/>
                                  <m:ctrlPr>
                                    <a:rPr lang="en-US" altLang="zh-CN" i="1" smtClean="0">
                                      <a:latin typeface="Cambria Math" panose="02040503050406030204" pitchFamily="18" charset="0"/>
                                      <a:ea typeface="黑体" pitchFamily="49" charset="-122"/>
                                    </a:rPr>
                                  </m:ctrlPr>
                                </m:naryPr>
                                <m:sub>
                                  <m:r>
                                    <m:rPr>
                                      <m:brk m:alnAt="7"/>
                                    </m:rPr>
                                    <a:rPr lang="en-US" altLang="zh-CN" b="0" i="1" smtClean="0">
                                      <a:latin typeface="Cambria Math"/>
                                      <a:ea typeface="黑体" pitchFamily="49" charset="-122"/>
                                    </a:rPr>
                                    <m:t>𝑥</m:t>
                                  </m:r>
                                  <m:r>
                                    <a:rPr lang="en-US" altLang="zh-CN" i="1" smtClean="0">
                                      <a:latin typeface="Cambria Math"/>
                                      <a:ea typeface="Cambria Math"/>
                                    </a:rPr>
                                    <m:t>∈</m:t>
                                  </m:r>
                                  <m:sSub>
                                    <m:sSubPr>
                                      <m:ctrlPr>
                                        <a:rPr lang="en-US" altLang="zh-CN" b="0" i="1" smtClean="0">
                                          <a:latin typeface="Cambria Math" panose="02040503050406030204" pitchFamily="18" charset="0"/>
                                          <a:ea typeface="Cambria Math"/>
                                        </a:rPr>
                                      </m:ctrlPr>
                                    </m:sSubPr>
                                    <m:e>
                                      <m:r>
                                        <a:rPr lang="en-US" altLang="zh-CN" b="0" i="1" smtClean="0">
                                          <a:latin typeface="Cambria Math"/>
                                          <a:ea typeface="Cambria Math"/>
                                        </a:rPr>
                                        <m:t>𝐺</m:t>
                                      </m:r>
                                    </m:e>
                                    <m:sub>
                                      <m:r>
                                        <a:rPr lang="en-US" altLang="zh-CN" b="0" i="1" smtClean="0">
                                          <a:latin typeface="Cambria Math"/>
                                          <a:ea typeface="Cambria Math"/>
                                        </a:rPr>
                                        <m:t>𝑖</m:t>
                                      </m:r>
                                    </m:sub>
                                  </m:sSub>
                                </m:sub>
                                <m:sup/>
                                <m:e>
                                  <m:sSup>
                                    <m:sSupPr>
                                      <m:ctrlPr>
                                        <a:rPr lang="en-US" altLang="zh-CN" i="1" smtClean="0">
                                          <a:latin typeface="Cambria Math" panose="02040503050406030204" pitchFamily="18" charset="0"/>
                                          <a:ea typeface="黑体" pitchFamily="49" charset="-122"/>
                                        </a:rPr>
                                      </m:ctrlPr>
                                    </m:sSupPr>
                                    <m:e>
                                      <m:r>
                                        <a:rPr lang="en-US" altLang="zh-CN" b="0" i="1" smtClean="0">
                                          <a:latin typeface="Cambria Math"/>
                                          <a:ea typeface="黑体" pitchFamily="49" charset="-122"/>
                                        </a:rPr>
                                        <m:t>||</m:t>
                                      </m:r>
                                      <m:r>
                                        <a:rPr lang="en-US" altLang="zh-CN" b="0" i="1" smtClean="0">
                                          <a:latin typeface="Cambria Math"/>
                                          <a:ea typeface="黑体" pitchFamily="49" charset="-122"/>
                                        </a:rPr>
                                        <m:t>𝑥</m:t>
                                      </m:r>
                                      <m:r>
                                        <a:rPr lang="en-US" altLang="zh-CN" b="0" i="1" smtClean="0">
                                          <a:latin typeface="Cambria Math"/>
                                          <a:ea typeface="黑体" pitchFamily="49" charset="-122"/>
                                        </a:rPr>
                                        <m:t>−</m:t>
                                      </m:r>
                                      <m:sSub>
                                        <m:sSubPr>
                                          <m:ctrlPr>
                                            <a:rPr lang="en-US" altLang="zh-CN" b="0" i="1" smtClean="0">
                                              <a:latin typeface="Cambria Math" panose="02040503050406030204" pitchFamily="18" charset="0"/>
                                              <a:ea typeface="黑体" pitchFamily="49" charset="-122"/>
                                            </a:rPr>
                                          </m:ctrlPr>
                                        </m:sSubPr>
                                        <m:e>
                                          <m:r>
                                            <a:rPr lang="en-US" altLang="zh-CN" b="0" i="1" smtClean="0">
                                              <a:latin typeface="Cambria Math"/>
                                              <a:ea typeface="黑体" pitchFamily="49" charset="-122"/>
                                            </a:rPr>
                                            <m:t>𝐺</m:t>
                                          </m:r>
                                        </m:e>
                                        <m:sub>
                                          <m:r>
                                            <a:rPr lang="en-US" altLang="zh-CN" b="0" i="1" smtClean="0">
                                              <a:latin typeface="Cambria Math"/>
                                              <a:ea typeface="黑体" pitchFamily="49" charset="-122"/>
                                            </a:rPr>
                                            <m:t>𝑖</m:t>
                                          </m:r>
                                        </m:sub>
                                      </m:sSub>
                                      <m:r>
                                        <a:rPr lang="en-US" altLang="zh-CN" b="0" i="1" smtClean="0">
                                          <a:latin typeface="Cambria Math"/>
                                          <a:ea typeface="黑体" pitchFamily="49" charset="-122"/>
                                        </a:rPr>
                                        <m:t>||</m:t>
                                      </m:r>
                                    </m:e>
                                    <m:sup>
                                      <m:r>
                                        <a:rPr lang="en-US" altLang="zh-CN" b="0" i="1" smtClean="0">
                                          <a:latin typeface="Cambria Math"/>
                                          <a:ea typeface="黑体" pitchFamily="49" charset="-122"/>
                                        </a:rPr>
                                        <m:t>2</m:t>
                                      </m:r>
                                    </m:sup>
                                  </m:sSup>
                                  <m:r>
                                    <a:rPr lang="en-US" altLang="zh-CN" b="0" i="1" smtClean="0">
                                      <a:latin typeface="Cambria Math"/>
                                      <a:ea typeface="黑体" pitchFamily="49" charset="-122"/>
                                    </a:rPr>
                                    <m:t>=</m:t>
                                  </m:r>
                                  <m:func>
                                    <m:funcPr>
                                      <m:ctrlPr>
                                        <a:rPr lang="en-US" altLang="zh-CN" b="0" i="1" smtClean="0">
                                          <a:latin typeface="Cambria Math" panose="02040503050406030204" pitchFamily="18" charset="0"/>
                                          <a:ea typeface="黑体" pitchFamily="49" charset="-122"/>
                                        </a:rPr>
                                      </m:ctrlPr>
                                    </m:funcPr>
                                    <m:fName>
                                      <m:limLow>
                                        <m:limLowPr>
                                          <m:ctrlPr>
                                            <a:rPr lang="en-US" altLang="zh-CN" b="0" i="1" smtClean="0">
                                              <a:latin typeface="Cambria Math" panose="02040503050406030204" pitchFamily="18" charset="0"/>
                                              <a:ea typeface="黑体" pitchFamily="49" charset="-122"/>
                                            </a:rPr>
                                          </m:ctrlPr>
                                        </m:limLowPr>
                                        <m:e>
                                          <m:r>
                                            <m:rPr>
                                              <m:sty m:val="p"/>
                                            </m:rPr>
                                            <a:rPr lang="en-US" altLang="zh-CN" b="0" i="0" smtClean="0">
                                              <a:latin typeface="Cambria Math"/>
                                              <a:ea typeface="黑体" pitchFamily="49" charset="-122"/>
                                            </a:rPr>
                                            <m:t>arg</m:t>
                                          </m:r>
                                          <m:r>
                                            <a:rPr lang="en-US" altLang="zh-CN" b="0" i="0" smtClean="0">
                                              <a:latin typeface="Cambria Math"/>
                                              <a:ea typeface="黑体" pitchFamily="49" charset="-122"/>
                                            </a:rPr>
                                            <m:t> </m:t>
                                          </m:r>
                                          <m:r>
                                            <m:rPr>
                                              <m:sty m:val="p"/>
                                            </m:rPr>
                                            <a:rPr lang="en-US" altLang="zh-CN" b="0" i="0" smtClean="0">
                                              <a:latin typeface="Cambria Math"/>
                                              <a:ea typeface="黑体" pitchFamily="49" charset="-122"/>
                                            </a:rPr>
                                            <m:t>min</m:t>
                                          </m:r>
                                        </m:e>
                                        <m:lim>
                                          <m:r>
                                            <a:rPr lang="en-US" altLang="zh-CN" b="0" i="1" smtClean="0">
                                              <a:latin typeface="Cambria Math"/>
                                              <a:ea typeface="黑体" pitchFamily="49" charset="-122"/>
                                            </a:rPr>
                                            <m:t>𝐺</m:t>
                                          </m:r>
                                        </m:lim>
                                      </m:limLow>
                                    </m:fName>
                                    <m:e>
                                      <m:nary>
                                        <m:naryPr>
                                          <m:chr m:val="∑"/>
                                          <m:ctrlPr>
                                            <a:rPr lang="en-US" altLang="zh-CN" b="0" i="1" smtClean="0">
                                              <a:latin typeface="Cambria Math" panose="02040503050406030204" pitchFamily="18" charset="0"/>
                                              <a:ea typeface="黑体" pitchFamily="49" charset="-122"/>
                                            </a:rPr>
                                          </m:ctrlPr>
                                        </m:naryPr>
                                        <m:sub>
                                          <m:r>
                                            <m:rPr>
                                              <m:brk m:alnAt="23"/>
                                            </m:rPr>
                                            <a:rPr lang="en-US" altLang="zh-CN" b="0" i="1" smtClean="0">
                                              <a:latin typeface="Cambria Math"/>
                                              <a:ea typeface="黑体" pitchFamily="49" charset="-122"/>
                                            </a:rPr>
                                            <m:t>𝑖</m:t>
                                          </m:r>
                                          <m:r>
                                            <a:rPr lang="en-US" altLang="zh-CN" b="0" i="1" smtClean="0">
                                              <a:latin typeface="Cambria Math"/>
                                              <a:ea typeface="黑体" pitchFamily="49" charset="-122"/>
                                            </a:rPr>
                                            <m:t>=1</m:t>
                                          </m:r>
                                        </m:sub>
                                        <m:sup>
                                          <m:r>
                                            <a:rPr lang="en-US" altLang="zh-CN" b="0" i="1" smtClean="0">
                                              <a:latin typeface="Cambria Math"/>
                                              <a:ea typeface="黑体" pitchFamily="49" charset="-122"/>
                                            </a:rPr>
                                            <m:t>𝑘</m:t>
                                          </m:r>
                                        </m:sup>
                                        <m:e>
                                          <m:r>
                                            <a:rPr lang="en-US" altLang="zh-CN" b="0" i="1" smtClean="0">
                                              <a:latin typeface="Cambria Math"/>
                                              <a:ea typeface="黑体" pitchFamily="49" charset="-122"/>
                                            </a:rPr>
                                            <m:t>|</m:t>
                                          </m:r>
                                          <m:sSub>
                                            <m:sSubPr>
                                              <m:ctrlPr>
                                                <a:rPr lang="en-US" altLang="zh-CN" b="0" i="1" smtClean="0">
                                                  <a:latin typeface="Cambria Math" panose="02040503050406030204" pitchFamily="18" charset="0"/>
                                                  <a:ea typeface="黑体" pitchFamily="49" charset="-122"/>
                                                </a:rPr>
                                              </m:ctrlPr>
                                            </m:sSubPr>
                                            <m:e>
                                              <m:r>
                                                <a:rPr lang="en-US" altLang="zh-CN" b="0" i="1" smtClean="0">
                                                  <a:latin typeface="Cambria Math"/>
                                                  <a:ea typeface="黑体" pitchFamily="49" charset="-122"/>
                                                </a:rPr>
                                                <m:t>𝐺</m:t>
                                              </m:r>
                                            </m:e>
                                            <m:sub>
                                              <m:r>
                                                <a:rPr lang="en-US" altLang="zh-CN" b="0" i="1" smtClean="0">
                                                  <a:latin typeface="Cambria Math"/>
                                                  <a:ea typeface="黑体" pitchFamily="49" charset="-122"/>
                                                </a:rPr>
                                                <m:t>𝑖</m:t>
                                              </m:r>
                                            </m:sub>
                                          </m:sSub>
                                          <m:r>
                                            <a:rPr lang="en-US" altLang="zh-CN" b="0" i="1" smtClean="0">
                                              <a:latin typeface="Cambria Math"/>
                                              <a:ea typeface="黑体" pitchFamily="49" charset="-122"/>
                                            </a:rPr>
                                            <m:t>|</m:t>
                                          </m:r>
                                        </m:e>
                                      </m:nary>
                                    </m:e>
                                  </m:func>
                                  <m:r>
                                    <a:rPr lang="en-US" altLang="zh-CN" b="0" i="1" smtClean="0">
                                      <a:latin typeface="Cambria Math"/>
                                      <a:ea typeface="黑体" pitchFamily="49" charset="-122"/>
                                    </a:rPr>
                                    <m:t>𝑉𝑎𝑟</m:t>
                                  </m:r>
                                </m:e>
                              </m:nary>
                              <m:sSub>
                                <m:sSubPr>
                                  <m:ctrlPr>
                                    <a:rPr lang="en-US" altLang="zh-CN" i="1" smtClean="0">
                                      <a:latin typeface="Cambria Math" panose="02040503050406030204" pitchFamily="18" charset="0"/>
                                      <a:ea typeface="黑体" pitchFamily="49" charset="-122"/>
                                    </a:rPr>
                                  </m:ctrlPr>
                                </m:sSubPr>
                                <m:e>
                                  <m:r>
                                    <a:rPr lang="en-US" altLang="zh-CN" b="0" i="1" smtClean="0">
                                      <a:latin typeface="Cambria Math"/>
                                      <a:ea typeface="黑体" pitchFamily="49" charset="-122"/>
                                    </a:rPr>
                                    <m:t>𝐺</m:t>
                                  </m:r>
                                </m:e>
                                <m:sub>
                                  <m:r>
                                    <a:rPr lang="en-US" altLang="zh-CN" b="0" i="1" smtClean="0">
                                      <a:latin typeface="Cambria Math"/>
                                      <a:ea typeface="黑体" pitchFamily="49" charset="-122"/>
                                    </a:rPr>
                                    <m:t>𝑖</m:t>
                                  </m:r>
                                </m:sub>
                              </m:sSub>
                            </m:e>
                          </m:nary>
                        </m:fName>
                        <m:e/>
                      </m:func>
                    </m:oMath>
                  </m:oMathPara>
                </a14:m>
                <a:endParaRPr lang="zh-CN" altLang="en-US" dirty="0">
                  <a:ea typeface="黑体" pitchFamily="49" charset="-122"/>
                </a:endParaRPr>
              </a:p>
            </p:txBody>
          </p:sp>
        </mc:Choice>
        <mc:Fallback xmlns="">
          <p:sp>
            <p:nvSpPr>
              <p:cNvPr id="10" name="TextBox 3">
                <a:extLst>
                  <a:ext uri="{FF2B5EF4-FFF2-40B4-BE49-F238E27FC236}">
                    <a16:creationId xmlns:a16="http://schemas.microsoft.com/office/drawing/2014/main" id="{E6790A23-73E2-4CC9-A854-CA3294CE9C92}"/>
                  </a:ext>
                </a:extLst>
              </p:cNvPr>
              <p:cNvSpPr txBox="1">
                <a:spLocks noRot="1" noChangeAspect="1" noMove="1" noResize="1" noEditPoints="1" noAdjustHandles="1" noChangeArrowheads="1" noChangeShapeType="1" noTextEdit="1"/>
              </p:cNvSpPr>
              <p:nvPr/>
            </p:nvSpPr>
            <p:spPr>
              <a:xfrm>
                <a:off x="3070976" y="1867660"/>
                <a:ext cx="5552289" cy="913070"/>
              </a:xfrm>
              <a:prstGeom prst="rect">
                <a:avLst/>
              </a:prstGeom>
              <a:blipFill>
                <a:blip r:embed="rId3"/>
                <a:stretch>
                  <a:fillRect/>
                </a:stretch>
              </a:blipFill>
            </p:spPr>
            <p:txBody>
              <a:bodyPr/>
              <a:lstStyle/>
              <a:p>
                <a:r>
                  <a:rPr lang="zh-CN" altLang="en-US">
                    <a:noFill/>
                  </a:rPr>
                  <a:t> </a:t>
                </a:r>
              </a:p>
            </p:txBody>
          </p:sp>
        </mc:Fallback>
      </mc:AlternateContent>
      <p:cxnSp>
        <p:nvCxnSpPr>
          <p:cNvPr id="11" name="直接连接符 10">
            <a:extLst>
              <a:ext uri="{FF2B5EF4-FFF2-40B4-BE49-F238E27FC236}">
                <a16:creationId xmlns:a16="http://schemas.microsoft.com/office/drawing/2014/main" id="{1FF104C0-742C-4495-AA84-BBD276B39B1D}"/>
              </a:ext>
            </a:extLst>
          </p:cNvPr>
          <p:cNvCxnSpPr/>
          <p:nvPr/>
        </p:nvCxnSpPr>
        <p:spPr>
          <a:xfrm flipV="1">
            <a:off x="4512014" y="3295141"/>
            <a:ext cx="1285875" cy="127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6F69DBA-2EA2-4B1F-866C-35AF2B5F0B34}"/>
                  </a:ext>
                </a:extLst>
              </p:cNvPr>
              <p:cNvSpPr/>
              <p:nvPr/>
            </p:nvSpPr>
            <p:spPr>
              <a:xfrm>
                <a:off x="3092672" y="3621731"/>
                <a:ext cx="5058885" cy="521168"/>
              </a:xfrm>
              <a:prstGeom prst="rect">
                <a:avLst/>
              </a:prstGeom>
            </p:spPr>
            <p:txBody>
              <a:bodyPr wrap="none">
                <a:spAutoFit/>
              </a:bodyPr>
              <a:lstStyle/>
              <a:p>
                <a:r>
                  <a:rPr lang="zh-CN" altLang="en-US" dirty="0">
                    <a:latin typeface="楷体" panose="02010609060101010101" pitchFamily="49" charset="-122"/>
                    <a:ea typeface="楷体" panose="02010609060101010101" pitchFamily="49" charset="-122"/>
                    <a:cs typeface="Times New Roman" panose="02020603050405020304" pitchFamily="18" charset="0"/>
                  </a:rPr>
                  <a:t>第</a:t>
                </a:r>
                <a14:m>
                  <m:oMath xmlns:m="http://schemas.openxmlformats.org/officeDocument/2006/math">
                    <m:r>
                      <a:rPr lang="en-US" altLang="zh-CN" b="0" i="1" smtClean="0">
                        <a:latin typeface="Cambria Math"/>
                        <a:ea typeface="黑体" panose="02010609060101010101" pitchFamily="49" charset="-122"/>
                        <a:cs typeface="Times New Roman" panose="02020603050405020304" pitchFamily="18" charset="0"/>
                      </a:rPr>
                      <m:t>𝑖</m:t>
                    </m:r>
                  </m:oMath>
                </a14:m>
                <a:r>
                  <a:rPr lang="zh-CN" altLang="en-US" dirty="0">
                    <a:latin typeface="楷体" panose="02010609060101010101" pitchFamily="49" charset="-122"/>
                    <a:ea typeface="楷体" panose="02010609060101010101" pitchFamily="49" charset="-122"/>
                    <a:cs typeface="Times New Roman" panose="02020603050405020304" pitchFamily="18" charset="0"/>
                  </a:rPr>
                  <a:t>个类簇的方差</a:t>
                </a:r>
                <a:r>
                  <a:rPr lang="en-US" altLang="zh-CN" dirty="0">
                    <a:latin typeface="楷体" panose="02010609060101010101" pitchFamily="49" charset="-122"/>
                    <a:ea typeface="楷体" panose="02010609060101010101" pitchFamily="49" charset="-122"/>
                    <a:cs typeface="Times New Roman" panose="02020603050405020304" pitchFamily="18" charset="0"/>
                  </a:rPr>
                  <a:t>:</a:t>
                </a:r>
                <a:r>
                  <a:rPr lang="zh-CN" altLang="en-US" dirty="0">
                    <a:latin typeface="楷体" panose="02010609060101010101" pitchFamily="49" charset="-122"/>
                    <a:ea typeface="楷体" panose="02010609060101010101" pitchFamily="49" charset="-122"/>
                    <a:cs typeface="Times New Roman" panose="02020603050405020304" pitchFamily="18" charset="0"/>
                  </a:rPr>
                  <a:t> </a:t>
                </a:r>
                <a14:m>
                  <m:oMath xmlns:m="http://schemas.openxmlformats.org/officeDocument/2006/math">
                    <m:r>
                      <m:rPr>
                        <m:sty m:val="p"/>
                      </m:rPr>
                      <a:rPr lang="en-US" altLang="zh-CN" b="0" i="0" smtClean="0">
                        <a:latin typeface="Cambria Math"/>
                        <a:ea typeface="黑体" panose="02010609060101010101" pitchFamily="49" charset="-122"/>
                        <a:cs typeface="Times New Roman" panose="02020603050405020304" pitchFamily="18" charset="0"/>
                      </a:rPr>
                      <m:t>var</m:t>
                    </m:r>
                    <m:d>
                      <m:d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a:ea typeface="黑体" panose="02010609060101010101" pitchFamily="49" charset="-122"/>
                                <a:cs typeface="Times New Roman" panose="02020603050405020304" pitchFamily="18" charset="0"/>
                              </a:rPr>
                              <m:t>𝐺</m:t>
                            </m:r>
                          </m:e>
                          <m:sub>
                            <m:r>
                              <a:rPr lang="en-US" altLang="zh-CN" b="0" i="1" smtClean="0">
                                <a:latin typeface="Cambria Math"/>
                                <a:ea typeface="黑体" panose="02010609060101010101" pitchFamily="49" charset="-122"/>
                                <a:cs typeface="Times New Roman" panose="02020603050405020304" pitchFamily="18" charset="0"/>
                              </a:rPr>
                              <m:t>𝑖</m:t>
                            </m:r>
                          </m:sub>
                        </m:sSub>
                      </m:e>
                    </m:d>
                    <m:r>
                      <a:rPr lang="en-US" altLang="zh-CN" b="0" i="0" smtClean="0">
                        <a:latin typeface="Cambria Math"/>
                        <a:ea typeface="黑体" panose="02010609060101010101" pitchFamily="49" charset="-122"/>
                        <a:cs typeface="Times New Roman" panose="02020603050405020304" pitchFamily="18" charset="0"/>
                      </a:rPr>
                      <m:t>=</m:t>
                    </m:r>
                    <m:f>
                      <m:fPr>
                        <m:ctrlPr>
                          <a:rPr lang="en-US" altLang="zh-CN" i="1" smtClean="0">
                            <a:latin typeface="Cambria Math" panose="02040503050406030204" pitchFamily="18" charset="0"/>
                            <a:ea typeface="黑体" panose="02010609060101010101" pitchFamily="49" charset="-122"/>
                            <a:cs typeface="Times New Roman" panose="02020603050405020304" pitchFamily="18" charset="0"/>
                          </a:rPr>
                        </m:ctrlPr>
                      </m:fPr>
                      <m:num>
                        <m:r>
                          <a:rPr lang="en-US" altLang="zh-CN" b="0" i="1" smtClean="0">
                            <a:latin typeface="Cambria Math"/>
                            <a:ea typeface="黑体" panose="02010609060101010101" pitchFamily="49" charset="-122"/>
                            <a:cs typeface="Times New Roman" panose="02020603050405020304" pitchFamily="18" charset="0"/>
                          </a:rPr>
                          <m:t>1</m:t>
                        </m:r>
                      </m:num>
                      <m:den>
                        <m:r>
                          <a:rPr lang="en-US" altLang="zh-CN" b="0" i="1" smtClean="0">
                            <a:latin typeface="Cambria Math"/>
                            <a:ea typeface="黑体" panose="02010609060101010101" pitchFamily="49" charset="-122"/>
                            <a:cs typeface="Times New Roman" panose="02020603050405020304" pitchFamily="18" charset="0"/>
                          </a:rPr>
                          <m:t>|</m:t>
                        </m:r>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a:ea typeface="黑体" panose="02010609060101010101" pitchFamily="49" charset="-122"/>
                                <a:cs typeface="Times New Roman" panose="02020603050405020304" pitchFamily="18" charset="0"/>
                              </a:rPr>
                              <m:t>𝐺</m:t>
                            </m:r>
                          </m:e>
                          <m:sub>
                            <m:r>
                              <a:rPr lang="en-US" altLang="zh-CN" b="0" i="1" smtClean="0">
                                <a:latin typeface="Cambria Math"/>
                                <a:ea typeface="黑体" panose="02010609060101010101" pitchFamily="49" charset="-122"/>
                                <a:cs typeface="Times New Roman" panose="02020603050405020304" pitchFamily="18" charset="0"/>
                              </a:rPr>
                              <m:t>𝑖</m:t>
                            </m:r>
                          </m:sub>
                        </m:sSub>
                        <m:r>
                          <a:rPr lang="en-US" altLang="zh-CN" b="0" i="1" smtClean="0">
                            <a:latin typeface="Cambria Math"/>
                            <a:ea typeface="黑体" panose="02010609060101010101" pitchFamily="49" charset="-122"/>
                            <a:cs typeface="Times New Roman" panose="02020603050405020304" pitchFamily="18" charset="0"/>
                          </a:rPr>
                          <m:t>|</m:t>
                        </m:r>
                      </m:den>
                    </m:f>
                    <m:nary>
                      <m:naryPr>
                        <m:chr m:val="∑"/>
                        <m:supHide m:val="on"/>
                        <m:ctrlPr>
                          <a:rPr lang="en-US" altLang="zh-CN" i="1" smtClean="0">
                            <a:latin typeface="Cambria Math" panose="02040503050406030204" pitchFamily="18" charset="0"/>
                            <a:ea typeface="黑体" panose="02010609060101010101" pitchFamily="49" charset="-122"/>
                            <a:cs typeface="Times New Roman" panose="02020603050405020304" pitchFamily="18" charset="0"/>
                          </a:rPr>
                        </m:ctrlPr>
                      </m:naryPr>
                      <m:sub>
                        <m:r>
                          <m:rPr>
                            <m:brk m:alnAt="7"/>
                          </m:rPr>
                          <a:rPr lang="en-US" altLang="zh-CN" b="0" i="1" smtClean="0">
                            <a:latin typeface="Cambria Math"/>
                            <a:ea typeface="黑体" panose="02010609060101010101" pitchFamily="49" charset="-122"/>
                            <a:cs typeface="Times New Roman" panose="02020603050405020304" pitchFamily="18" charset="0"/>
                          </a:rPr>
                          <m:t>𝑥</m:t>
                        </m:r>
                        <m:r>
                          <a:rPr lang="en-US" altLang="zh-CN" b="0" i="1" smtClean="0">
                            <a:latin typeface="Cambria Math"/>
                            <a:ea typeface="Cambria Math"/>
                            <a:cs typeface="Times New Roman" panose="02020603050405020304" pitchFamily="18" charset="0"/>
                          </a:rPr>
                          <m:t>∈</m:t>
                        </m:r>
                        <m:sSub>
                          <m:sSubPr>
                            <m:ctrlPr>
                              <a:rPr lang="en-US" altLang="zh-CN" b="0" i="1" smtClean="0">
                                <a:latin typeface="Cambria Math" panose="02040503050406030204" pitchFamily="18" charset="0"/>
                                <a:ea typeface="Cambria Math"/>
                                <a:cs typeface="Times New Roman" panose="02020603050405020304" pitchFamily="18" charset="0"/>
                              </a:rPr>
                            </m:ctrlPr>
                          </m:sSubPr>
                          <m:e>
                            <m:r>
                              <a:rPr lang="en-US" altLang="zh-CN" b="0" i="1" smtClean="0">
                                <a:latin typeface="Cambria Math"/>
                                <a:ea typeface="Cambria Math"/>
                                <a:cs typeface="Times New Roman" panose="02020603050405020304" pitchFamily="18" charset="0"/>
                              </a:rPr>
                              <m:t>𝐺</m:t>
                            </m:r>
                          </m:e>
                          <m:sub>
                            <m:r>
                              <a:rPr lang="en-US" altLang="zh-CN" b="0" i="1" smtClean="0">
                                <a:latin typeface="Cambria Math"/>
                                <a:ea typeface="Cambria Math"/>
                                <a:cs typeface="Times New Roman" panose="02020603050405020304" pitchFamily="18" charset="0"/>
                              </a:rPr>
                              <m:t>𝑖</m:t>
                            </m:r>
                          </m:sub>
                        </m:sSub>
                      </m:sub>
                      <m:sup/>
                      <m:e>
                        <m:sSup>
                          <m:sSupPr>
                            <m:ctrlPr>
                              <a:rPr lang="en-US" altLang="zh-CN" i="1" smtClean="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b="0" i="1" smtClean="0">
                                <a:latin typeface="Cambria Math"/>
                                <a:ea typeface="黑体" panose="02010609060101010101" pitchFamily="49" charset="-122"/>
                                <a:cs typeface="Times New Roman" panose="02020603050405020304" pitchFamily="18" charset="0"/>
                              </a:rPr>
                              <m:t>||</m:t>
                            </m:r>
                            <m:r>
                              <a:rPr lang="en-US" altLang="zh-CN" b="0" i="1" smtClean="0">
                                <a:latin typeface="Cambria Math"/>
                                <a:ea typeface="黑体" panose="02010609060101010101" pitchFamily="49" charset="-122"/>
                                <a:cs typeface="Times New Roman" panose="02020603050405020304" pitchFamily="18" charset="0"/>
                              </a:rPr>
                              <m:t>𝑥</m:t>
                            </m:r>
                            <m:r>
                              <a:rPr lang="en-US" altLang="zh-CN" b="0" i="1" smtClean="0">
                                <a:latin typeface="Cambria Math"/>
                                <a:ea typeface="黑体" panose="02010609060101010101" pitchFamily="49" charset="-122"/>
                                <a:cs typeface="Times New Roman" panose="02020603050405020304" pitchFamily="18" charset="0"/>
                              </a:rPr>
                              <m:t>−</m:t>
                            </m:r>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a:ea typeface="黑体" panose="02010609060101010101" pitchFamily="49" charset="-122"/>
                                    <a:cs typeface="Times New Roman" panose="02020603050405020304" pitchFamily="18" charset="0"/>
                                  </a:rPr>
                                  <m:t>𝐺</m:t>
                                </m:r>
                              </m:e>
                              <m:sub>
                                <m:r>
                                  <a:rPr lang="en-US" altLang="zh-CN" b="0" i="1" smtClean="0">
                                    <a:latin typeface="Cambria Math"/>
                                    <a:ea typeface="黑体" panose="02010609060101010101" pitchFamily="49" charset="-122"/>
                                    <a:cs typeface="Times New Roman" panose="02020603050405020304" pitchFamily="18" charset="0"/>
                                  </a:rPr>
                                  <m:t>𝑖</m:t>
                                </m:r>
                              </m:sub>
                            </m:sSub>
                            <m:r>
                              <a:rPr lang="en-US" altLang="zh-CN" b="0" i="1" smtClean="0">
                                <a:latin typeface="Cambria Math"/>
                                <a:ea typeface="黑体" panose="02010609060101010101" pitchFamily="49" charset="-122"/>
                                <a:cs typeface="Times New Roman" panose="02020603050405020304" pitchFamily="18" charset="0"/>
                              </a:rPr>
                              <m:t>||</m:t>
                            </m:r>
                          </m:e>
                          <m:sup>
                            <m:r>
                              <a:rPr lang="en-US" altLang="zh-CN" b="0" i="1" smtClean="0">
                                <a:latin typeface="Cambria Math"/>
                                <a:ea typeface="黑体" panose="02010609060101010101" pitchFamily="49" charset="-122"/>
                                <a:cs typeface="Times New Roman" panose="02020603050405020304" pitchFamily="18" charset="0"/>
                              </a:rPr>
                              <m:t>2</m:t>
                            </m:r>
                          </m:sup>
                        </m:sSup>
                      </m:e>
                    </m:nary>
                  </m:oMath>
                </a14:m>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66F69DBA-2EA2-4B1F-866C-35AF2B5F0B34}"/>
                  </a:ext>
                </a:extLst>
              </p:cNvPr>
              <p:cNvSpPr>
                <a:spLocks noRot="1" noChangeAspect="1" noMove="1" noResize="1" noEditPoints="1" noAdjustHandles="1" noChangeArrowheads="1" noChangeShapeType="1" noTextEdit="1"/>
              </p:cNvSpPr>
              <p:nvPr/>
            </p:nvSpPr>
            <p:spPr>
              <a:xfrm>
                <a:off x="3092672" y="3621731"/>
                <a:ext cx="5058885" cy="521168"/>
              </a:xfrm>
              <a:prstGeom prst="rect">
                <a:avLst/>
              </a:prstGeom>
              <a:blipFill>
                <a:blip r:embed="rId4"/>
                <a:stretch>
                  <a:fillRect l="-964" t="-73256" b="-112791"/>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4FC95C3E-CCF2-4B6A-99FA-941B935C2AA7}"/>
              </a:ext>
            </a:extLst>
          </p:cNvPr>
          <p:cNvSpPr/>
          <p:nvPr/>
        </p:nvSpPr>
        <p:spPr>
          <a:xfrm>
            <a:off x="1297021" y="4245236"/>
            <a:ext cx="9717527" cy="1477328"/>
          </a:xfrm>
          <a:prstGeom prst="rect">
            <a:avLst/>
          </a:prstGeom>
        </p:spPr>
        <p:txBody>
          <a:bodyPr wrap="square">
            <a:spAutoFit/>
          </a:bodyPr>
          <a:lstStyle/>
          <a:p>
            <a:pPr marL="285750" indent="-285750">
              <a:buFont typeface="Arial" panose="020B0604020202020204" pitchFamily="34" charset="0"/>
              <a:buChar char="•"/>
            </a:pP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聚类算法的目标都是得到一个聚类结果，最小化类内距离（或最大化类内相似度），而最大化类间距离（或最小化类间相似度）。</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en-US" altLang="zh-CN" i="1" dirty="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-means</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聚类就是通过最小化聚簇内的数据方差来实现最大化类内相似度的，即最小化每个类簇方差，使得最终聚类结果中每个聚类集合所包含的数据呈现出的差异性最小。</a:t>
            </a:r>
            <a:endParaRPr lang="zh-CN" altLang="en-US" sz="16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4E1D51A3-7B21-4C50-9E2B-3746B6FD97F2}"/>
              </a:ext>
            </a:extLst>
          </p:cNvPr>
          <p:cNvCxnSpPr/>
          <p:nvPr/>
        </p:nvCxnSpPr>
        <p:spPr>
          <a:xfrm flipV="1">
            <a:off x="5154950" y="3367731"/>
            <a:ext cx="0" cy="37739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694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sp>
        <p:nvSpPr>
          <p:cNvPr id="16" name="文本框 15">
            <a:extLst>
              <a:ext uri="{FF2B5EF4-FFF2-40B4-BE49-F238E27FC236}">
                <a16:creationId xmlns:a16="http://schemas.microsoft.com/office/drawing/2014/main" id="{F1F5B165-511A-495E-A97E-0DC526DE3990}"/>
              </a:ext>
            </a:extLst>
          </p:cNvPr>
          <p:cNvSpPr txBox="1"/>
          <p:nvPr/>
        </p:nvSpPr>
        <p:spPr>
          <a:xfrm>
            <a:off x="1446179" y="1525029"/>
            <a:ext cx="8774624" cy="1701748"/>
          </a:xfrm>
          <a:prstGeom prst="rect">
            <a:avLst/>
          </a:prstGeom>
          <a:noFill/>
        </p:spPr>
        <p:txBody>
          <a:bodyPr wrap="square">
            <a:spAutoFit/>
          </a:bodyPr>
          <a:lstStyle/>
          <a:p>
            <a:pPr indent="266700" algn="just">
              <a:lnSpc>
                <a:spcPct val="150000"/>
              </a:lnSpc>
              <a:spcBef>
                <a:spcPts val="1000"/>
              </a:spcBef>
              <a:spcAft>
                <a:spcPts val="300"/>
              </a:spcAft>
            </a:pP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线性判别分析</a:t>
            </a:r>
            <a:r>
              <a:rPr lang="en-US" altLang="zh-CN" sz="1800" dirty="0">
                <a:effectLst/>
                <a:latin typeface="Times New Roman" panose="02020603050405020304" pitchFamily="18" charset="0"/>
                <a:ea typeface="楷体" panose="02010609060101010101" pitchFamily="49" charset="-122"/>
                <a:cs typeface="Times New Roman" panose="02020603050405020304" pitchFamily="18" charset="0"/>
              </a:rPr>
              <a:t>(linear discriminant analysis</a:t>
            </a: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800" dirty="0">
                <a:effectLst/>
                <a:latin typeface="Times New Roman" panose="02020603050405020304" pitchFamily="18" charset="0"/>
                <a:ea typeface="楷体" panose="02010609060101010101" pitchFamily="49" charset="-122"/>
                <a:cs typeface="Times New Roman" panose="02020603050405020304" pitchFamily="18" charset="0"/>
              </a:rPr>
              <a:t>LDA)</a:t>
            </a: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是一种基于监督学习的降维方法，也称为</a:t>
            </a:r>
            <a:r>
              <a:rPr lang="en-US" altLang="zh-CN" sz="1800" dirty="0">
                <a:effectLst/>
                <a:latin typeface="Times New Roman" panose="02020603050405020304" pitchFamily="18" charset="0"/>
                <a:ea typeface="楷体" panose="02010609060101010101" pitchFamily="49" charset="-122"/>
                <a:cs typeface="Times New Roman" panose="02020603050405020304" pitchFamily="18" charset="0"/>
              </a:rPr>
              <a:t>Fisher</a:t>
            </a: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线性判别分析（</a:t>
            </a:r>
            <a:r>
              <a:rPr lang="en-US" altLang="zh-CN" sz="1800" dirty="0">
                <a:effectLst/>
                <a:latin typeface="Times New Roman" panose="02020603050405020304" pitchFamily="18" charset="0"/>
                <a:ea typeface="楷体" panose="02010609060101010101" pitchFamily="49" charset="-122"/>
                <a:cs typeface="Times New Roman" panose="02020603050405020304" pitchFamily="18" charset="0"/>
              </a:rPr>
              <a:t>fisher's discriminant analysis</a:t>
            </a: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dirty="0">
                <a:effectLst/>
                <a:latin typeface="Times New Roman" panose="02020603050405020304" pitchFamily="18" charset="0"/>
                <a:ea typeface="楷体" panose="02010609060101010101" pitchFamily="49" charset="-122"/>
                <a:cs typeface="Times New Roman" panose="02020603050405020304" pitchFamily="18" charset="0"/>
              </a:rPr>
              <a:t>FDA) [ Fisher 1936]</a:t>
            </a: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800" dirty="0">
                <a:solidFill>
                  <a:schemeClr val="accent2"/>
                </a:solidFill>
                <a:effectLst/>
                <a:latin typeface="Times New Roman" panose="02020603050405020304" pitchFamily="18" charset="0"/>
                <a:ea typeface="楷体" panose="02010609060101010101" pitchFamily="49" charset="-122"/>
                <a:cs typeface="Times New Roman" panose="02020603050405020304" pitchFamily="18" charset="0"/>
              </a:rPr>
              <a:t>对于一组具有标签信息的高维数据样本，</a:t>
            </a:r>
            <a:r>
              <a:rPr lang="en-US" altLang="zh-CN" sz="1800" dirty="0">
                <a:solidFill>
                  <a:schemeClr val="accent2"/>
                </a:solidFill>
                <a:effectLst/>
                <a:latin typeface="Times New Roman" panose="02020603050405020304" pitchFamily="18" charset="0"/>
                <a:ea typeface="楷体" panose="02010609060101010101" pitchFamily="49" charset="-122"/>
                <a:cs typeface="Times New Roman" panose="02020603050405020304" pitchFamily="18" charset="0"/>
              </a:rPr>
              <a:t>LDA</a:t>
            </a:r>
            <a:r>
              <a:rPr lang="zh-CN" altLang="zh-CN" sz="1800" dirty="0">
                <a:solidFill>
                  <a:schemeClr val="accent2"/>
                </a:solidFill>
                <a:effectLst/>
                <a:latin typeface="Times New Roman" panose="02020603050405020304" pitchFamily="18" charset="0"/>
                <a:ea typeface="楷体" panose="02010609060101010101" pitchFamily="49" charset="-122"/>
                <a:cs typeface="Times New Roman" panose="02020603050405020304" pitchFamily="18" charset="0"/>
              </a:rPr>
              <a:t>利用其类别信息，将其线性投影到一个低维空间上，在低维空间中同一类别样本尽可能靠近，不同类别样本尽可能彼此远离。</a:t>
            </a:r>
            <a:endParaRPr lang="zh-CN" altLang="zh-CN" sz="1800" dirty="0">
              <a:solidFill>
                <a:schemeClr val="accent2"/>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椭圆形标注 9">
            <a:extLst>
              <a:ext uri="{FF2B5EF4-FFF2-40B4-BE49-F238E27FC236}">
                <a16:creationId xmlns:a16="http://schemas.microsoft.com/office/drawing/2014/main" id="{CE46E7C3-57C8-449E-A13C-6FD1A03B2305}"/>
              </a:ext>
            </a:extLst>
          </p:cNvPr>
          <p:cNvSpPr/>
          <p:nvPr/>
        </p:nvSpPr>
        <p:spPr>
          <a:xfrm>
            <a:off x="350195" y="3955434"/>
            <a:ext cx="4870315" cy="1377537"/>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lgn="ctr">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类内方差小、类间间隔大</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p>
          <a:p>
            <a:pPr marL="285750" indent="-285750" algn="ctr">
              <a:buFont typeface="Wingdings" panose="05000000000000000000" pitchFamily="2" charset="2"/>
              <a:buChar char="l"/>
            </a:pPr>
            <a:r>
              <a:rPr lang="zh-CN" altLang="zh-CN" dirty="0">
                <a:latin typeface="Times New Roman" panose="02020603050405020304" pitchFamily="18" charset="0"/>
                <a:ea typeface="楷体" panose="02010609060101010101" pitchFamily="49" charset="-122"/>
                <a:cs typeface="Times New Roman" panose="02020603050405020304" pitchFamily="18" charset="0"/>
              </a:rPr>
              <a:t>《论语</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子路》</a:t>
            </a:r>
            <a:r>
              <a:rPr lang="zh-CN" altLang="en-US"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君子和而不同，小人同而不和</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矩形: 圆角 18">
            <a:extLst>
              <a:ext uri="{FF2B5EF4-FFF2-40B4-BE49-F238E27FC236}">
                <a16:creationId xmlns:a16="http://schemas.microsoft.com/office/drawing/2014/main" id="{D78CD778-C7EF-478C-BBFB-2F485BE84403}"/>
              </a:ext>
            </a:extLst>
          </p:cNvPr>
          <p:cNvSpPr/>
          <p:nvPr/>
        </p:nvSpPr>
        <p:spPr>
          <a:xfrm>
            <a:off x="9085635" y="4575045"/>
            <a:ext cx="2604100" cy="757926"/>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正方形表示患病个体、圆形表示不患病个体</a:t>
            </a:r>
          </a:p>
        </p:txBody>
      </p:sp>
      <p:pic>
        <p:nvPicPr>
          <p:cNvPr id="6" name="图片 5">
            <a:extLst>
              <a:ext uri="{FF2B5EF4-FFF2-40B4-BE49-F238E27FC236}">
                <a16:creationId xmlns:a16="http://schemas.microsoft.com/office/drawing/2014/main" id="{BBD04381-9076-42D0-AA95-D0654FF64E10}"/>
              </a:ext>
            </a:extLst>
          </p:cNvPr>
          <p:cNvPicPr>
            <a:picLocks noChangeAspect="1"/>
          </p:cNvPicPr>
          <p:nvPr/>
        </p:nvPicPr>
        <p:blipFill>
          <a:blip r:embed="rId3"/>
          <a:stretch>
            <a:fillRect/>
          </a:stretch>
        </p:blipFill>
        <p:spPr>
          <a:xfrm>
            <a:off x="5383118" y="3358311"/>
            <a:ext cx="3539909" cy="2846253"/>
          </a:xfrm>
          <a:prstGeom prst="rect">
            <a:avLst/>
          </a:prstGeom>
        </p:spPr>
      </p:pic>
    </p:spTree>
    <p:extLst>
      <p:ext uri="{BB962C8B-B14F-4D97-AF65-F5344CB8AC3E}">
        <p14:creationId xmlns:p14="http://schemas.microsoft.com/office/powerpoint/2010/main" val="4241941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DB0FFE4-551D-43BC-A6BF-58ADF32E7C1C}"/>
                  </a:ext>
                </a:extLst>
              </p:cNvPr>
              <p:cNvSpPr/>
              <p:nvPr/>
            </p:nvSpPr>
            <p:spPr>
              <a:xfrm>
                <a:off x="667966" y="1776883"/>
                <a:ext cx="11102501" cy="4296369"/>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假设样本集为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𝒟</m:t>
                    </m:r>
                    <m:r>
                      <a:rPr lang="en-US" altLang="zh-CN" sz="1600">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e>
                            </m:d>
                          </m:e>
                        </m:d>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sup>
                    </m:sSub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，样本</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ℝ</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𝑑</m:t>
                        </m:r>
                      </m:sup>
                    </m:sSup>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(d</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维向量</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的类别标签为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的取值范围是</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𝒞</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𝒞</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𝐾</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，即一共有</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𝐾</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类样本。定义</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𝑿</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为所有样本构成集合、</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𝑁</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个类别所包含样本个数、</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类样本的集合、</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𝒎</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为所有样本的均值向量、</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类样本的均值向量。</a:t>
                </a:r>
                <a14:m>
                  <m:oMath xmlns:m="http://schemas.openxmlformats.org/officeDocument/2006/math">
                    <m:sSub>
                      <m:sSubPr>
                        <m:ctrlPr>
                          <a:rPr lang="zh-CN" altLang="zh-CN" sz="1600" i="1" smtClea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𝛴</m:t>
                        </m:r>
                      </m:e>
                      <m:sub>
                        <m:r>
                          <a:rPr lang="en-US" altLang="zh-CN" sz="1600" i="1">
                            <a:solidFill>
                              <a:schemeClr val="accent2"/>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为第</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𝑖</m:t>
                    </m:r>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类样本的协方差矩阵</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，其定义为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1600"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𝑿</m:t>
                              </m:r>
                            </m:e>
                            <m:sub>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𝒊</m:t>
                              </m:r>
                            </m:sub>
                          </m:sSub>
                        </m:sub>
                        <m:sup/>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𝑇</m:t>
                              </m:r>
                            </m:sup>
                          </m:sSup>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先来看</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𝐾</m:t>
                    </m:r>
                    <m:r>
                      <a:rPr lang="en-US" altLang="zh-CN" sz="1600">
                        <a:solidFill>
                          <a:srgbClr val="000000"/>
                        </a:solidFill>
                        <a:latin typeface="Cambria Math" panose="02040503050406030204" pitchFamily="18" charset="0"/>
                        <a:ea typeface="楷体_GB2312"/>
                        <a:cs typeface="Times New Roman" panose="02020603050405020304" pitchFamily="18" charset="0"/>
                      </a:rPr>
                      <m:t>=2</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的情况，即二分类问题。在二分类问题中，训练样本归属于</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𝒞</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或</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𝒞</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2</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两个类别，并通过如下的线性函数投影到一维空间上：</a:t>
                </a:r>
              </a:p>
              <a:p>
                <a:pPr indent="266700" algn="ctr">
                  <a:lnSpc>
                    <a:spcPct val="150000"/>
                  </a:lnSpc>
                  <a:spcAft>
                    <a:spcPts val="0"/>
                  </a:spcAft>
                </a:pPr>
                <a14:m>
                  <m:oMath xmlns:m="http://schemas.openxmlformats.org/officeDocument/2006/math">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oMath>
                </a14:m>
                <a:r>
                  <a:rPr lang="en-US" altLang="zh-CN" sz="1600" b="1" i="1"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i="1" kern="100"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𝒘</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ℝ</m:t>
                        </m:r>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𝑛</m:t>
                        </m:r>
                      </m:sup>
                    </m:sSup>
                  </m:oMath>
                </a14:m>
                <a:r>
                  <a:rPr lang="en-US" altLang="zh-CN" sz="1600" i="1" kern="1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投影之后类别</a:t>
                </a:r>
                <a14:m>
                  <m:oMath xmlns:m="http://schemas.openxmlformats.org/officeDocument/2006/math">
                    <m:sSub>
                      <m:sSub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𝒞</m:t>
                        </m:r>
                      </m:e>
                      <m:sub>
                        <m:r>
                          <a:rPr lang="en-US" altLang="zh-CN" sz="1600">
                            <a:solidFill>
                              <a:schemeClr val="accent2"/>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的协方差矩阵</a:t>
                </a:r>
                <a14:m>
                  <m:oMath xmlns:m="http://schemas.openxmlformats.org/officeDocument/2006/math">
                    <m:sSub>
                      <m:sSub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𝑠</m:t>
                        </m:r>
                      </m:e>
                      <m:sub>
                        <m:r>
                          <a:rPr lang="en-US" altLang="zh-CN" sz="1600">
                            <a:solidFill>
                              <a:schemeClr val="accent2"/>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为：</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𝒞</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Sub>
                        </m:sub>
                        <m:sup/>
                        <m:e>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Sub>
                                </m:e>
                              </m:d>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2</m:t>
                              </m:r>
                            </m:sup>
                          </m:sSup>
                        </m:e>
                      </m:nary>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𝑇</m:t>
                          </m:r>
                        </m:sup>
                      </m:sSup>
                      <m:nary>
                        <m:naryPr>
                          <m:chr m:val="∑"/>
                          <m:limLoc m:val="undOvr"/>
                          <m:supHide m:val="on"/>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𝒞</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Sub>
                        </m:sub>
                        <m:sup/>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Sub>
                            </m:e>
                          </m:d>
                        </m:e>
                      </m:nary>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Sub>
                            </m:e>
                          </m:d>
                        </m:e>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b="1" i="1" kern="100">
                          <a:latin typeface="Cambria Math" panose="02040503050406030204" pitchFamily="18" charset="0"/>
                          <a:ea typeface="楷体" panose="02010609060101010101" pitchFamily="49" charset="-122"/>
                          <a:cs typeface="Times New Roman" panose="02020603050405020304" pitchFamily="18" charset="0"/>
                        </a:rPr>
                        <m:t>𝒘</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同理可得到</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投影之后类别</a:t>
                </a:r>
                <a14:m>
                  <m:oMath xmlns:m="http://schemas.openxmlformats.org/officeDocument/2006/math">
                    <m:sSub>
                      <m:sSub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𝒞</m:t>
                        </m:r>
                      </m:e>
                      <m:sub>
                        <m:r>
                          <a:rPr lang="en-US" altLang="zh-CN" sz="1600">
                            <a:solidFill>
                              <a:schemeClr val="accent2"/>
                            </a:solidFill>
                            <a:latin typeface="Cambria Math" panose="02040503050406030204" pitchFamily="18" charset="0"/>
                            <a:ea typeface="楷体_GB2312"/>
                            <a:cs typeface="Times New Roman" panose="02020603050405020304" pitchFamily="18" charset="0"/>
                          </a:rPr>
                          <m:t>2</m:t>
                        </m:r>
                      </m:sub>
                    </m:sSub>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的协方差矩阵</a:t>
                </a:r>
                <a14:m>
                  <m:oMath xmlns:m="http://schemas.openxmlformats.org/officeDocument/2006/math">
                    <m:sSub>
                      <m:sSub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𝑠</m:t>
                        </m:r>
                      </m:e>
                      <m:sub>
                        <m:r>
                          <a:rPr lang="en-US" altLang="zh-CN" sz="1600">
                            <a:solidFill>
                              <a:schemeClr val="accent2"/>
                            </a:solidFill>
                            <a:latin typeface="Cambria Math" panose="02040503050406030204" pitchFamily="18" charset="0"/>
                            <a:ea typeface="楷体_GB2312"/>
                            <a:cs typeface="Times New Roman" panose="02020603050405020304" pitchFamily="18" charset="0"/>
                          </a:rPr>
                          <m:t>2</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7" name="矩形 6">
                <a:extLst>
                  <a:ext uri="{FF2B5EF4-FFF2-40B4-BE49-F238E27FC236}">
                    <a16:creationId xmlns:a16="http://schemas.microsoft.com/office/drawing/2014/main" id="{5DB0FFE4-551D-43BC-A6BF-58ADF32E7C1C}"/>
                  </a:ext>
                </a:extLst>
              </p:cNvPr>
              <p:cNvSpPr>
                <a:spLocks noRot="1" noChangeAspect="1" noMove="1" noResize="1" noEditPoints="1" noAdjustHandles="1" noChangeArrowheads="1" noChangeShapeType="1" noTextEdit="1"/>
              </p:cNvSpPr>
              <p:nvPr/>
            </p:nvSpPr>
            <p:spPr>
              <a:xfrm>
                <a:off x="667966" y="1776883"/>
                <a:ext cx="11102501" cy="4296369"/>
              </a:xfrm>
              <a:prstGeom prst="rect">
                <a:avLst/>
              </a:prstGeom>
              <a:blipFill>
                <a:blip r:embed="rId3"/>
                <a:stretch>
                  <a:fillRect l="-329" t="-142" r="-2142" b="-8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653060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46D57B9-8340-4B95-A272-504403489FFC}"/>
                  </a:ext>
                </a:extLst>
              </p:cNvPr>
              <p:cNvSpPr/>
              <p:nvPr/>
            </p:nvSpPr>
            <p:spPr>
              <a:xfrm>
                <a:off x="2174359" y="2051403"/>
                <a:ext cx="7950741" cy="3792064"/>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可以看到，投影后两个协方差矩阵</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分别为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a:solidFill>
                                  <a:srgbClr val="000000"/>
                                </a:solidFill>
                                <a:latin typeface="Cambria Math" panose="02040503050406030204" pitchFamily="18" charset="0"/>
                                <a:ea typeface="楷体_GB2312"/>
                                <a:cs typeface="Times New Roman" panose="02020603050405020304" pitchFamily="18" charset="0"/>
                              </a:rPr>
                              <m:t>𝒘</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i="1">
                            <a:solidFill>
                              <a:srgbClr val="000000"/>
                            </a:solidFill>
                            <a:latin typeface="Cambria Math" panose="02040503050406030204" pitchFamily="18" charset="0"/>
                            <a:ea typeface="楷体_GB2312"/>
                            <a:cs typeface="Times New Roman" panose="02020603050405020304" pitchFamily="18" charset="0"/>
                          </a:rPr>
                          <m:t>𝛴</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a:solidFill>
                                  <a:srgbClr val="000000"/>
                                </a:solidFill>
                                <a:latin typeface="Cambria Math" panose="02040503050406030204" pitchFamily="18" charset="0"/>
                                <a:ea typeface="楷体_GB2312"/>
                                <a:cs typeface="Times New Roman" panose="02020603050405020304" pitchFamily="18" charset="0"/>
                              </a:rPr>
                              <m:t>𝒘</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i="1">
                            <a:solidFill>
                              <a:srgbClr val="000000"/>
                            </a:solidFill>
                            <a:latin typeface="Cambria Math" panose="02040503050406030204" pitchFamily="18" charset="0"/>
                            <a:ea typeface="楷体_GB2312"/>
                            <a:cs typeface="Times New Roman" panose="02020603050405020304" pitchFamily="18" charset="0"/>
                          </a:rPr>
                          <m:t>𝛴</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。由于将数据样本投影到了一维空间直线上，</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都是实数。</a:t>
                </a:r>
                <a14:m>
                  <m:oMath xmlns:m="http://schemas.openxmlformats.org/officeDocument/2006/math">
                    <m:sSub>
                      <m:sSubPr>
                        <m:ctrlPr>
                          <a:rPr lang="zh-CN" altLang="zh-CN" i="1" smtClea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chemeClr val="accent2"/>
                            </a:solidFill>
                            <a:latin typeface="Cambria Math" panose="02040503050406030204" pitchFamily="18" charset="0"/>
                            <a:ea typeface="楷体_GB2312"/>
                            <a:cs typeface="Times New Roman" panose="02020603050405020304" pitchFamily="18" charset="0"/>
                          </a:rPr>
                          <m:t>𝑠</m:t>
                        </m:r>
                      </m:e>
                      <m:sub>
                        <m:r>
                          <a:rPr lang="en-US" altLang="zh-CN">
                            <a:solidFill>
                              <a:schemeClr val="accent2"/>
                            </a:solidFill>
                            <a:latin typeface="Cambria Math" panose="02040503050406030204" pitchFamily="18" charset="0"/>
                            <a:ea typeface="楷体_GB2312"/>
                            <a:cs typeface="Times New Roman" panose="02020603050405020304" pitchFamily="18" charset="0"/>
                          </a:rPr>
                          <m:t>1</m:t>
                        </m:r>
                      </m:sub>
                    </m:sSub>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chemeClr val="accent2"/>
                            </a:solidFill>
                            <a:latin typeface="Cambria Math" panose="02040503050406030204" pitchFamily="18" charset="0"/>
                            <a:ea typeface="楷体_GB2312"/>
                            <a:cs typeface="Times New Roman" panose="02020603050405020304" pitchFamily="18" charset="0"/>
                          </a:rPr>
                          <m:t>𝑠</m:t>
                        </m:r>
                      </m:e>
                      <m:sub>
                        <m:r>
                          <a:rPr lang="en-US" altLang="zh-CN">
                            <a:solidFill>
                              <a:schemeClr val="accent2"/>
                            </a:solidFill>
                            <a:latin typeface="Cambria Math" panose="02040503050406030204" pitchFamily="18" charset="0"/>
                            <a:ea typeface="楷体_GB2312"/>
                            <a:cs typeface="Times New Roman" panose="02020603050405020304" pitchFamily="18" charset="0"/>
                          </a:rPr>
                          <m:t>2</m:t>
                        </m:r>
                      </m:sub>
                    </m:sSub>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可用来衡量</a:t>
                </a:r>
                <a:r>
                  <a:rPr lang="zh-CN" altLang="en-US" dirty="0">
                    <a:solidFill>
                      <a:schemeClr val="accent2"/>
                    </a:solidFill>
                    <a:latin typeface="Times New Roman" panose="02020603050405020304" pitchFamily="18" charset="0"/>
                    <a:ea typeface="楷体_GB2312"/>
                    <a:cs typeface="Times New Roman" panose="02020603050405020304" pitchFamily="18" charset="0"/>
                  </a:rPr>
                  <a:t>两个类别的类别内</a:t>
                </a:r>
                <a:r>
                  <a:rPr lang="zh-CN" altLang="zh-CN" dirty="0">
                    <a:solidFill>
                      <a:schemeClr val="accent2"/>
                    </a:solidFill>
                    <a:latin typeface="Times New Roman" panose="02020603050405020304" pitchFamily="18" charset="0"/>
                    <a:ea typeface="楷体_GB2312"/>
                    <a:cs typeface="Times New Roman" panose="02020603050405020304" pitchFamily="18" charset="0"/>
                  </a:rPr>
                  <a:t>数据样本之间</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分散程度</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。为了使得归属于同一类别的样本数据在投影后的空间中尽可能靠近，需要最小化</a:t>
                </a:r>
                <a14:m>
                  <m:oMath xmlns:m="http://schemas.openxmlformats.org/officeDocument/2006/math">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chemeClr val="accent2"/>
                            </a:solidFill>
                            <a:latin typeface="Cambria Math" panose="02040503050406030204" pitchFamily="18" charset="0"/>
                            <a:ea typeface="楷体_GB2312"/>
                            <a:cs typeface="Times New Roman" panose="02020603050405020304" pitchFamily="18" charset="0"/>
                          </a:rPr>
                          <m:t>𝑠</m:t>
                        </m:r>
                      </m:e>
                      <m:sub>
                        <m:r>
                          <a:rPr lang="en-US" altLang="zh-CN">
                            <a:solidFill>
                              <a:schemeClr val="accent2"/>
                            </a:solidFill>
                            <a:latin typeface="Cambria Math" panose="02040503050406030204" pitchFamily="18" charset="0"/>
                            <a:ea typeface="楷体_GB2312"/>
                            <a:cs typeface="Times New Roman" panose="02020603050405020304" pitchFamily="18" charset="0"/>
                          </a:rPr>
                          <m:t>1</m:t>
                        </m:r>
                      </m:sub>
                    </m:sSub>
                  </m:oMath>
                </a14:m>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chemeClr val="accent2"/>
                            </a:solidFill>
                            <a:latin typeface="Cambria Math" panose="02040503050406030204" pitchFamily="18" charset="0"/>
                            <a:ea typeface="楷体_GB2312"/>
                            <a:cs typeface="Times New Roman" panose="02020603050405020304" pitchFamily="18" charset="0"/>
                          </a:rPr>
                          <m:t>𝑠</m:t>
                        </m:r>
                      </m:e>
                      <m:sub>
                        <m:r>
                          <a:rPr lang="en-US" altLang="zh-CN">
                            <a:solidFill>
                              <a:schemeClr val="accent2"/>
                            </a:solidFill>
                            <a:latin typeface="Cambria Math" panose="02040503050406030204" pitchFamily="18" charset="0"/>
                            <a:ea typeface="楷体_GB2312"/>
                            <a:cs typeface="Times New Roman" panose="02020603050405020304" pitchFamily="18" charset="0"/>
                          </a:rPr>
                          <m:t>2</m:t>
                        </m:r>
                      </m:sub>
                    </m:sSub>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取值。</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在投影之后的空间中，</a:t>
                </a:r>
                <a:r>
                  <a:rPr lang="zh-CN" altLang="zh-CN" dirty="0">
                    <a:solidFill>
                      <a:schemeClr val="accent2"/>
                    </a:solidFill>
                    <a:latin typeface="Times New Roman" panose="02020603050405020304" pitchFamily="18" charset="0"/>
                    <a:ea typeface="楷体_GB2312"/>
                    <a:cs typeface="Times New Roman" panose="02020603050405020304" pitchFamily="18" charset="0"/>
                  </a:rPr>
                  <a:t>归属于两个类别的数据样本中心</a:t>
                </a:r>
                <a:r>
                  <a:rPr lang="zh-CN" altLang="zh-CN" dirty="0">
                    <a:solidFill>
                      <a:srgbClr val="000000"/>
                    </a:solidFill>
                    <a:latin typeface="Times New Roman" panose="02020603050405020304" pitchFamily="18" charset="0"/>
                    <a:ea typeface="楷体_GB2312"/>
                    <a:cs typeface="Times New Roman" panose="02020603050405020304" pitchFamily="18" charset="0"/>
                  </a:rPr>
                  <a:t>可分别如下计算：</a:t>
                </a:r>
              </a:p>
              <a:p>
                <a:pPr indent="266700" algn="ctr">
                  <a:lnSpc>
                    <a:spcPct val="150000"/>
                  </a:lnSpc>
                  <a:spcAft>
                    <a:spcPts val="0"/>
                  </a:spcAft>
                </a:pP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这样，就可以通过</a:t>
                </a:r>
                <a14:m>
                  <m:oMath xmlns:m="http://schemas.openxmlformats.org/officeDocument/2006/math">
                    <m:sSubSup>
                      <m:sSub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𝑚</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𝑚</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e>
                        </m:d>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up>
                        <m:r>
                          <a:rPr lang="en-US" altLang="zh-CN">
                            <a:solidFill>
                              <a:srgbClr val="000000"/>
                            </a:solidFill>
                            <a:latin typeface="Cambria Math" panose="02040503050406030204" pitchFamily="18" charset="0"/>
                            <a:ea typeface="楷体_GB2312"/>
                            <a:cs typeface="Times New Roman" panose="02020603050405020304" pitchFamily="18" charset="0"/>
                          </a:rPr>
                          <m:t>2</m:t>
                        </m:r>
                      </m:sup>
                    </m:sSub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来衡量不同类别之间的距离。为了使得归属于不同类别的样本数据在投影后空间中尽可能彼此远离，需要最大化过</a:t>
                </a:r>
                <a14:m>
                  <m:oMath xmlns:m="http://schemas.openxmlformats.org/officeDocument/2006/math">
                    <m:sSubSup>
                      <m:sSub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𝑚</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𝑚</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e>
                        </m:d>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up>
                        <m:r>
                          <a:rPr lang="en-US" altLang="zh-CN">
                            <a:solidFill>
                              <a:srgbClr val="000000"/>
                            </a:solidFill>
                            <a:latin typeface="Cambria Math" panose="02040503050406030204" pitchFamily="18" charset="0"/>
                            <a:ea typeface="楷体_GB2312"/>
                            <a:cs typeface="Times New Roman" panose="02020603050405020304" pitchFamily="18" charset="0"/>
                          </a:rPr>
                          <m:t>2</m:t>
                        </m:r>
                      </m:sup>
                    </m:sSub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取值。</a:t>
                </a:r>
              </a:p>
            </p:txBody>
          </p:sp>
        </mc:Choice>
        <mc:Fallback xmlns="">
          <p:sp>
            <p:nvSpPr>
              <p:cNvPr id="6" name="矩形 5">
                <a:extLst>
                  <a:ext uri="{FF2B5EF4-FFF2-40B4-BE49-F238E27FC236}">
                    <a16:creationId xmlns:a16="http://schemas.microsoft.com/office/drawing/2014/main" id="{C46D57B9-8340-4B95-A272-504403489FFC}"/>
                  </a:ext>
                </a:extLst>
              </p:cNvPr>
              <p:cNvSpPr>
                <a:spLocks noRot="1" noChangeAspect="1" noMove="1" noResize="1" noEditPoints="1" noAdjustHandles="1" noChangeArrowheads="1" noChangeShapeType="1" noTextEdit="1"/>
              </p:cNvSpPr>
              <p:nvPr/>
            </p:nvSpPr>
            <p:spPr>
              <a:xfrm>
                <a:off x="2174359" y="2051403"/>
                <a:ext cx="7950741" cy="3792064"/>
              </a:xfrm>
              <a:prstGeom prst="rect">
                <a:avLst/>
              </a:prstGeom>
              <a:blipFill>
                <a:blip r:embed="rId3"/>
                <a:stretch>
                  <a:fillRect l="-690" r="-613" b="-16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01565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优化目标</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FDF8C9C-EC9F-4E2C-818F-DF7DE1EB2070}"/>
                  </a:ext>
                </a:extLst>
              </p:cNvPr>
              <p:cNvSpPr/>
              <p:nvPr/>
            </p:nvSpPr>
            <p:spPr>
              <a:xfrm>
                <a:off x="1371599" y="1627008"/>
                <a:ext cx="9795753" cy="4658391"/>
              </a:xfrm>
              <a:prstGeom prst="rect">
                <a:avLst/>
              </a:prstGeom>
            </p:spPr>
            <p:txBody>
              <a:bodyPr wrap="square">
                <a:spAutoFit/>
              </a:bodyPr>
              <a:lstStyle/>
              <a:p>
                <a:pPr indent="266700" algn="just">
                  <a:lnSpc>
                    <a:spcPts val="2200"/>
                  </a:lnSpc>
                  <a:spcAft>
                    <a:spcPts val="0"/>
                  </a:spcAft>
                </a:pPr>
                <a:r>
                  <a:rPr lang="zh-CN" altLang="zh-CN" dirty="0">
                    <a:solidFill>
                      <a:schemeClr val="accent2"/>
                    </a:solidFill>
                    <a:latin typeface="Times New Roman" panose="02020603050405020304" pitchFamily="18" charset="0"/>
                    <a:ea typeface="楷体_GB2312"/>
                    <a:cs typeface="Times New Roman" panose="02020603050405020304" pitchFamily="18" charset="0"/>
                  </a:rPr>
                  <a:t>最大化的目标</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𝐽</m:t>
                    </m:r>
                    <m:r>
                      <a:rPr lang="en-US" altLang="zh-CN" i="1">
                        <a:solidFill>
                          <a:schemeClr val="accent2"/>
                        </a:solidFill>
                        <a:latin typeface="Cambria Math" panose="02040503050406030204" pitchFamily="18" charset="0"/>
                        <a:ea typeface="楷体_GB2312"/>
                        <a:cs typeface="Times New Roman" panose="02020603050405020304" pitchFamily="18" charset="0"/>
                      </a:rPr>
                      <m:t>(</m:t>
                    </m:r>
                    <m:r>
                      <a:rPr lang="en-US" altLang="zh-CN" b="1" i="1">
                        <a:solidFill>
                          <a:schemeClr val="accent2"/>
                        </a:solidFill>
                        <a:latin typeface="Cambria Math" panose="02040503050406030204" pitchFamily="18" charset="0"/>
                        <a:ea typeface="楷体_GB2312"/>
                        <a:cs typeface="Times New Roman" panose="02020603050405020304" pitchFamily="18" charset="0"/>
                      </a:rPr>
                      <m:t>𝒘</m:t>
                    </m:r>
                    <m:r>
                      <a:rPr lang="en-US" altLang="zh-CN" i="1">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，定义如下：</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𝐽</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d>
                      <m:r>
                        <a:rPr lang="en-US" altLang="zh-CN"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kern="100">
                                          <a:latin typeface="Cambria Math" panose="02040503050406030204" pitchFamily="18" charset="0"/>
                                          <a:ea typeface="楷体" panose="02010609060101010101" pitchFamily="49" charset="-122"/>
                                          <a:cs typeface="Times New Roman" panose="02020603050405020304" pitchFamily="18" charset="0"/>
                                        </a:rPr>
                                        <m:t>1</m:t>
                                      </m:r>
                                    </m:sub>
                                  </m:sSub>
                                </m:e>
                              </m:d>
                            </m:e>
                            <m:sub>
                              <m:r>
                                <a:rPr lang="en-US" altLang="zh-CN" kern="100">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kern="100">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kern="100">
                                  <a:latin typeface="Cambria Math" panose="02040503050406030204" pitchFamily="18" charset="0"/>
                                  <a:ea typeface="楷体" panose="02010609060101010101" pitchFamily="49" charset="-122"/>
                                  <a:cs typeface="Times New Roman" panose="02020603050405020304" pitchFamily="18" charset="0"/>
                                </a:rPr>
                                <m:t>2</m:t>
                              </m:r>
                            </m:sub>
                          </m:sSub>
                        </m:den>
                      </m:f>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60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可以把上述式子右边改写成与</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相关的式子：</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𝐽</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d>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num>
                        <m:den>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𝑤</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𝑏</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称为类间散度矩阵</a:t>
                </a:r>
                <a:r>
                  <a:rPr lang="en-US" altLang="zh-CN" dirty="0">
                    <a:solidFill>
                      <a:srgbClr val="000000"/>
                    </a:solidFill>
                    <a:latin typeface="Times New Roman" panose="02020603050405020304" pitchFamily="18" charset="0"/>
                    <a:ea typeface="楷体_GB2312"/>
                    <a:cs typeface="Times New Roman" panose="02020603050405020304" pitchFamily="18" charset="0"/>
                  </a:rPr>
                  <a:t>(between-class scatter matrix)</a:t>
                </a:r>
                <a:r>
                  <a:rPr lang="zh-CN" altLang="zh-CN" dirty="0">
                    <a:solidFill>
                      <a:srgbClr val="000000"/>
                    </a:solidFill>
                    <a:latin typeface="Times New Roman" panose="02020603050405020304" pitchFamily="18" charset="0"/>
                    <a:ea typeface="楷体_GB2312"/>
                    <a:cs typeface="Times New Roman" panose="02020603050405020304" pitchFamily="18" charset="0"/>
                  </a:rPr>
                  <a:t>，即衡量两个类别均值点之间的</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分离</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程度，可定义如下</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则称为类内散度矩阵</a:t>
                </a:r>
                <a:r>
                  <a:rPr lang="en-US" altLang="zh-CN" dirty="0">
                    <a:solidFill>
                      <a:srgbClr val="000000"/>
                    </a:solidFill>
                    <a:latin typeface="Times New Roman" panose="02020603050405020304" pitchFamily="18" charset="0"/>
                    <a:ea typeface="楷体_GB2312"/>
                    <a:cs typeface="Times New Roman" panose="02020603050405020304" pitchFamily="18" charset="0"/>
                  </a:rPr>
                  <a:t>(within-class scatter matrix)</a:t>
                </a:r>
                <a:r>
                  <a:rPr lang="zh-CN" altLang="zh-CN" dirty="0">
                    <a:solidFill>
                      <a:srgbClr val="000000"/>
                    </a:solidFill>
                    <a:latin typeface="Times New Roman" panose="02020603050405020304" pitchFamily="18" charset="0"/>
                    <a:ea typeface="楷体_GB2312"/>
                    <a:cs typeface="Times New Roman" panose="02020603050405020304" pitchFamily="18" charset="0"/>
                  </a:rPr>
                  <a:t>，即衡量每个类别中数据点的</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分离</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程度，可定义如下：</a:t>
                </a:r>
                <a14:m>
                  <m:oMath xmlns:m="http://schemas.openxmlformats.org/officeDocument/2006/math">
                    <m:sSub>
                      <m:sSubPr>
                        <m:ctrlPr>
                          <a:rPr lang="zh-CN" altLang="zh-CN" i="1">
                            <a:latin typeface="Cambria Math" panose="02040503050406030204" pitchFamily="18" charset="0"/>
                          </a:rPr>
                        </m:ctrlPr>
                      </m:sSubPr>
                      <m:e>
                        <m:r>
                          <a:rPr lang="en-US" altLang="zh-CN" b="1" i="1">
                            <a:latin typeface="Cambria Math" panose="02040503050406030204" pitchFamily="18" charset="0"/>
                          </a:rPr>
                          <m:t>𝑺</m:t>
                        </m:r>
                      </m:e>
                      <m:sub>
                        <m:r>
                          <a:rPr lang="en-US" altLang="zh-CN" i="1">
                            <a:latin typeface="Cambria Math" panose="02040503050406030204" pitchFamily="18" charset="0"/>
                          </a:rPr>
                          <m:t>𝑤</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𝛴</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𝛴</m:t>
                        </m:r>
                      </m:e>
                      <m:sub>
                        <m:r>
                          <a:rPr lang="en-US" altLang="zh-CN" i="1">
                            <a:latin typeface="Cambria Math" panose="02040503050406030204" pitchFamily="18" charset="0"/>
                          </a:rPr>
                          <m:t>2</m:t>
                        </m:r>
                      </m:sub>
                    </m:sSub>
                  </m:oMath>
                </a14:m>
                <a:endParaRPr lang="zh-CN" altLang="zh-CN" dirty="0"/>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𝑤</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EFDF8C9C-EC9F-4E2C-818F-DF7DE1EB2070}"/>
                  </a:ext>
                </a:extLst>
              </p:cNvPr>
              <p:cNvSpPr>
                <a:spLocks noRot="1" noChangeAspect="1" noMove="1" noResize="1" noEditPoints="1" noAdjustHandles="1" noChangeArrowheads="1" noChangeShapeType="1" noTextEdit="1"/>
              </p:cNvSpPr>
              <p:nvPr/>
            </p:nvSpPr>
            <p:spPr>
              <a:xfrm>
                <a:off x="1371599" y="1627008"/>
                <a:ext cx="9795753" cy="4658391"/>
              </a:xfrm>
              <a:prstGeom prst="rect">
                <a:avLst/>
              </a:prstGeom>
              <a:blipFill>
                <a:blip r:embed="rId3"/>
                <a:stretch>
                  <a:fillRect l="-498" t="-1047" r="-1493"/>
                </a:stretch>
              </a:blipFill>
            </p:spPr>
            <p:txBody>
              <a:bodyPr/>
              <a:lstStyle/>
              <a:p>
                <a:r>
                  <a:rPr lang="zh-CN" altLang="en-US">
                    <a:noFill/>
                  </a:rPr>
                  <a:t> </a:t>
                </a:r>
              </a:p>
            </p:txBody>
          </p:sp>
        </mc:Fallback>
      </mc:AlternateContent>
      <p:sp>
        <p:nvSpPr>
          <p:cNvPr id="9" name="标注: 线形 8">
            <a:extLst>
              <a:ext uri="{FF2B5EF4-FFF2-40B4-BE49-F238E27FC236}">
                <a16:creationId xmlns:a16="http://schemas.microsoft.com/office/drawing/2014/main" id="{CF431615-4E22-B20D-BEEF-8CBCEA48976B}"/>
              </a:ext>
            </a:extLst>
          </p:cNvPr>
          <p:cNvSpPr/>
          <p:nvPr/>
        </p:nvSpPr>
        <p:spPr>
          <a:xfrm>
            <a:off x="8310098" y="1554979"/>
            <a:ext cx="2685069" cy="995359"/>
          </a:xfrm>
          <a:prstGeom prst="borderCallout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40C0E2D-76D9-E127-5703-E20B37D699F9}"/>
              </a:ext>
            </a:extLst>
          </p:cNvPr>
          <p:cNvSpPr txBox="1"/>
          <p:nvPr/>
        </p:nvSpPr>
        <p:spPr>
          <a:xfrm>
            <a:off x="8310098" y="1627008"/>
            <a:ext cx="2721989" cy="923330"/>
          </a:xfrm>
          <a:prstGeom prst="rect">
            <a:avLst/>
          </a:prstGeom>
          <a:noFill/>
        </p:spPr>
        <p:txBody>
          <a:bodyPr wrap="square">
            <a:spAutoFit/>
          </a:bodyPr>
          <a:lstStyle/>
          <a:p>
            <a:r>
              <a:rPr lang="zh-CN" altLang="zh-CN" sz="1800" dirty="0">
                <a:solidFill>
                  <a:schemeClr val="accent2"/>
                </a:solidFill>
                <a:effectLst/>
                <a:latin typeface="Times New Roman" panose="02020603050405020304" pitchFamily="18" charset="0"/>
                <a:ea typeface="楷体" panose="02010609060101010101" pitchFamily="49" charset="-122"/>
                <a:cs typeface="Times New Roman" panose="02020603050405020304" pitchFamily="18" charset="0"/>
              </a:rPr>
              <a:t>在低维空间中同一类别样本尽可能靠近，不同类别样本尽可能彼此远离</a:t>
            </a:r>
            <a:endParaRPr lang="zh-CN" altLang="en-US" dirty="0"/>
          </a:p>
        </p:txBody>
      </p:sp>
    </p:spTree>
    <p:extLst>
      <p:ext uri="{BB962C8B-B14F-4D97-AF65-F5344CB8AC3E}">
        <p14:creationId xmlns:p14="http://schemas.microsoft.com/office/powerpoint/2010/main" val="3539404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优化目标</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FDF8C9C-EC9F-4E2C-818F-DF7DE1EB2070}"/>
                  </a:ext>
                </a:extLst>
              </p:cNvPr>
              <p:cNvSpPr/>
              <p:nvPr/>
            </p:nvSpPr>
            <p:spPr>
              <a:xfrm>
                <a:off x="1371599" y="1627008"/>
                <a:ext cx="9795753" cy="1159676"/>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𝐽</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d>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num>
                        <m:den>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𝑤</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EFDF8C9C-EC9F-4E2C-818F-DF7DE1EB2070}"/>
                  </a:ext>
                </a:extLst>
              </p:cNvPr>
              <p:cNvSpPr>
                <a:spLocks noRot="1" noChangeAspect="1" noMove="1" noResize="1" noEditPoints="1" noAdjustHandles="1" noChangeArrowheads="1" noChangeShapeType="1" noTextEdit="1"/>
              </p:cNvSpPr>
              <p:nvPr/>
            </p:nvSpPr>
            <p:spPr>
              <a:xfrm>
                <a:off x="1371599" y="1627008"/>
                <a:ext cx="9795753" cy="115967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6BDD8C1D-C057-4CAE-95D0-B864CC2A2DF8}"/>
                  </a:ext>
                </a:extLst>
              </p:cNvPr>
              <p:cNvSpPr/>
              <p:nvPr/>
            </p:nvSpPr>
            <p:spPr>
              <a:xfrm>
                <a:off x="1047346" y="2786684"/>
                <a:ext cx="10097308" cy="1705210"/>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由于</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𝐽</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𝒘</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的分子和分母都是关于</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的二项式，因此最后的解只与</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的方向有关，与</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的长度无关，因此可令分母</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a:solidFill>
                              <a:srgbClr val="000000"/>
                            </a:solidFill>
                            <a:latin typeface="Cambria Math" panose="02040503050406030204" pitchFamily="18" charset="0"/>
                            <a:ea typeface="楷体_GB2312"/>
                            <a:cs typeface="Times New Roman" panose="02020603050405020304" pitchFamily="18" charset="0"/>
                          </a:rPr>
                          <m:t>𝒘</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𝑊</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r>
                      <a:rPr lang="en-US" altLang="zh-CN"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，然后用</a:t>
                </a:r>
                <a:r>
                  <a:rPr lang="zh-CN" altLang="zh-CN" dirty="0">
                    <a:solidFill>
                      <a:schemeClr val="accent2"/>
                    </a:solidFill>
                    <a:latin typeface="Times New Roman" panose="02020603050405020304" pitchFamily="18" charset="0"/>
                    <a:ea typeface="楷体_GB2312"/>
                    <a:cs typeface="Times New Roman" panose="02020603050405020304" pitchFamily="18" charset="0"/>
                  </a:rPr>
                  <a:t>拉格朗日乘子法</a:t>
                </a:r>
                <a:r>
                  <a:rPr lang="zh-CN" altLang="zh-CN" dirty="0">
                    <a:solidFill>
                      <a:srgbClr val="000000"/>
                    </a:solidFill>
                    <a:latin typeface="Times New Roman" panose="02020603050405020304" pitchFamily="18" charset="0"/>
                    <a:ea typeface="楷体_GB2312"/>
                    <a:cs typeface="Times New Roman" panose="02020603050405020304" pitchFamily="18" charset="0"/>
                  </a:rPr>
                  <a:t>来求解这个问题。拉格朗日乘子法就是求在某个</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某些约束条件下的函数极值的方法，其主要思想是将约束条件函数与原函数联立，从而求出使原函数取得极值时各个变量的解。</a:t>
                </a:r>
              </a:p>
            </p:txBody>
          </p:sp>
        </mc:Choice>
        <mc:Fallback xmlns="">
          <p:sp>
            <p:nvSpPr>
              <p:cNvPr id="6" name="矩形 5">
                <a:extLst>
                  <a:ext uri="{FF2B5EF4-FFF2-40B4-BE49-F238E27FC236}">
                    <a16:creationId xmlns:a16="http://schemas.microsoft.com/office/drawing/2014/main" id="{6BDD8C1D-C057-4CAE-95D0-B864CC2A2DF8}"/>
                  </a:ext>
                </a:extLst>
              </p:cNvPr>
              <p:cNvSpPr>
                <a:spLocks noRot="1" noChangeAspect="1" noMove="1" noResize="1" noEditPoints="1" noAdjustHandles="1" noChangeArrowheads="1" noChangeShapeType="1" noTextEdit="1"/>
              </p:cNvSpPr>
              <p:nvPr/>
            </p:nvSpPr>
            <p:spPr>
              <a:xfrm>
                <a:off x="1047346" y="2786684"/>
                <a:ext cx="10097308" cy="1705210"/>
              </a:xfrm>
              <a:prstGeom prst="rect">
                <a:avLst/>
              </a:prstGeom>
              <a:blipFill>
                <a:blip r:embed="rId4"/>
                <a:stretch>
                  <a:fillRect l="-543" r="-2717" b="-4643"/>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1CD3B935-DD67-19BB-31D6-9BF8E771A6D2}"/>
              </a:ext>
            </a:extLst>
          </p:cNvPr>
          <p:cNvPicPr>
            <a:picLocks noChangeAspect="1"/>
          </p:cNvPicPr>
          <p:nvPr/>
        </p:nvPicPr>
        <p:blipFill>
          <a:blip r:embed="rId5"/>
          <a:stretch>
            <a:fillRect/>
          </a:stretch>
        </p:blipFill>
        <p:spPr>
          <a:xfrm>
            <a:off x="4472065" y="4271761"/>
            <a:ext cx="3901487" cy="2080794"/>
          </a:xfrm>
          <a:prstGeom prst="rect">
            <a:avLst/>
          </a:prstGeom>
          <a:ln w="127000" cap="sq">
            <a:solidFill>
              <a:schemeClr val="accent2"/>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6543836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）：拉格朗日乘子法</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sp>
        <p:nvSpPr>
          <p:cNvPr id="10" name="文本框 9">
            <a:extLst>
              <a:ext uri="{FF2B5EF4-FFF2-40B4-BE49-F238E27FC236}">
                <a16:creationId xmlns:a16="http://schemas.microsoft.com/office/drawing/2014/main" id="{019BD0D1-C506-0203-3F9D-CC501E275540}"/>
              </a:ext>
            </a:extLst>
          </p:cNvPr>
          <p:cNvSpPr txBox="1"/>
          <p:nvPr/>
        </p:nvSpPr>
        <p:spPr>
          <a:xfrm>
            <a:off x="626723" y="1706584"/>
            <a:ext cx="11178284" cy="923330"/>
          </a:xfrm>
          <a:prstGeom prst="rect">
            <a:avLst/>
          </a:prstGeom>
          <a:noFill/>
        </p:spPr>
        <p:txBody>
          <a:bodyPr wrap="square">
            <a:spAutoFit/>
          </a:bodyPr>
          <a:lstStyle/>
          <a:p>
            <a:r>
              <a:rPr lang="zh-CN" altLang="en-US" i="0" dirty="0">
                <a:effectLst/>
                <a:latin typeface="Inter"/>
              </a:rPr>
              <a:t>拉格朗日乘子法（</a:t>
            </a:r>
            <a:r>
              <a:rPr lang="en-US" altLang="zh-CN" i="0" dirty="0">
                <a:effectLst/>
                <a:latin typeface="Inter"/>
              </a:rPr>
              <a:t>Lagrange Multiplier Method</a:t>
            </a:r>
            <a:r>
              <a:rPr lang="zh-CN" altLang="en-US" i="0" dirty="0">
                <a:effectLst/>
                <a:latin typeface="Inter"/>
              </a:rPr>
              <a:t>）是一种在</a:t>
            </a:r>
            <a:r>
              <a:rPr lang="zh-CN" altLang="en-US" i="0" dirty="0">
                <a:solidFill>
                  <a:schemeClr val="accent2"/>
                </a:solidFill>
                <a:effectLst/>
                <a:latin typeface="Inter"/>
              </a:rPr>
              <a:t>数学优化</a:t>
            </a:r>
            <a:r>
              <a:rPr lang="zh-CN" altLang="en-US" i="0" dirty="0">
                <a:effectLst/>
                <a:latin typeface="Inter"/>
              </a:rPr>
              <a:t>领域中，用于</a:t>
            </a:r>
            <a:r>
              <a:rPr lang="zh-CN" altLang="en-US" i="0" dirty="0">
                <a:solidFill>
                  <a:schemeClr val="accent2"/>
                </a:solidFill>
                <a:effectLst/>
                <a:latin typeface="Inter"/>
              </a:rPr>
              <a:t>求解带有等式约束的函数极值问题</a:t>
            </a:r>
            <a:r>
              <a:rPr lang="zh-CN" altLang="en-US" i="0" dirty="0">
                <a:effectLst/>
                <a:latin typeface="Inter"/>
              </a:rPr>
              <a:t>的经典方法。它的核心思想是通过引入</a:t>
            </a:r>
            <a:r>
              <a:rPr lang="zh-CN" altLang="en-US" i="0" dirty="0">
                <a:solidFill>
                  <a:srgbClr val="000000"/>
                </a:solidFill>
                <a:effectLst/>
                <a:latin typeface="Inter"/>
              </a:rPr>
              <a:t>拉格朗日乘子</a:t>
            </a:r>
            <a:r>
              <a:rPr lang="zh-CN" altLang="en-US" i="0" dirty="0">
                <a:effectLst/>
                <a:latin typeface="Inter"/>
              </a:rPr>
              <a:t>，将约束条件与原目标函数结合，转化为一个无约束的方程组求解问题，从而找出使目标函数取得极值的变量值。</a:t>
            </a:r>
            <a:endParaRPr lang="zh-CN" altLang="en-US" dirty="0"/>
          </a:p>
        </p:txBody>
      </p:sp>
      <p:pic>
        <p:nvPicPr>
          <p:cNvPr id="12" name="图片 11">
            <a:extLst>
              <a:ext uri="{FF2B5EF4-FFF2-40B4-BE49-F238E27FC236}">
                <a16:creationId xmlns:a16="http://schemas.microsoft.com/office/drawing/2014/main" id="{1E084EFA-7E97-47ED-9BF7-0B3612809E0D}"/>
              </a:ext>
            </a:extLst>
          </p:cNvPr>
          <p:cNvPicPr>
            <a:picLocks noChangeAspect="1"/>
          </p:cNvPicPr>
          <p:nvPr/>
        </p:nvPicPr>
        <p:blipFill>
          <a:blip r:embed="rId3"/>
          <a:stretch>
            <a:fillRect/>
          </a:stretch>
        </p:blipFill>
        <p:spPr>
          <a:xfrm>
            <a:off x="626723" y="2909536"/>
            <a:ext cx="5742857" cy="1876190"/>
          </a:xfrm>
          <a:prstGeom prst="rect">
            <a:avLst/>
          </a:prstGeom>
        </p:spPr>
      </p:pic>
      <p:pic>
        <p:nvPicPr>
          <p:cNvPr id="14" name="图片 13">
            <a:extLst>
              <a:ext uri="{FF2B5EF4-FFF2-40B4-BE49-F238E27FC236}">
                <a16:creationId xmlns:a16="http://schemas.microsoft.com/office/drawing/2014/main" id="{C97264A8-056B-38E7-C4C3-6FFE9B8E5169}"/>
              </a:ext>
            </a:extLst>
          </p:cNvPr>
          <p:cNvPicPr>
            <a:picLocks noChangeAspect="1"/>
          </p:cNvPicPr>
          <p:nvPr/>
        </p:nvPicPr>
        <p:blipFill>
          <a:blip r:embed="rId4"/>
          <a:stretch>
            <a:fillRect/>
          </a:stretch>
        </p:blipFill>
        <p:spPr>
          <a:xfrm>
            <a:off x="6369580" y="2879602"/>
            <a:ext cx="5771429" cy="3257143"/>
          </a:xfrm>
          <a:prstGeom prst="rect">
            <a:avLst/>
          </a:prstGeom>
        </p:spPr>
      </p:pic>
    </p:spTree>
    <p:extLst>
      <p:ext uri="{BB962C8B-B14F-4D97-AF65-F5344CB8AC3E}">
        <p14:creationId xmlns:p14="http://schemas.microsoft.com/office/powerpoint/2010/main" val="16827539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43418" y="696913"/>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优化目标</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FDF8C9C-EC9F-4E2C-818F-DF7DE1EB2070}"/>
                  </a:ext>
                </a:extLst>
              </p:cNvPr>
              <p:cNvSpPr/>
              <p:nvPr/>
            </p:nvSpPr>
            <p:spPr>
              <a:xfrm>
                <a:off x="1198122" y="1096179"/>
                <a:ext cx="9795753" cy="1159676"/>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𝐽</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d>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𝛴</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num>
                        <m:den>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𝑤</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den>
                      </m:f>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EFDF8C9C-EC9F-4E2C-818F-DF7DE1EB2070}"/>
                  </a:ext>
                </a:extLst>
              </p:cNvPr>
              <p:cNvSpPr>
                <a:spLocks noRot="1" noChangeAspect="1" noMove="1" noResize="1" noEditPoints="1" noAdjustHandles="1" noChangeArrowheads="1" noChangeShapeType="1" noTextEdit="1"/>
              </p:cNvSpPr>
              <p:nvPr/>
            </p:nvSpPr>
            <p:spPr>
              <a:xfrm>
                <a:off x="1198122" y="1096179"/>
                <a:ext cx="9795753" cy="115967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AF0E82D6-A698-4280-859F-6B64ACFB4B67}"/>
                  </a:ext>
                </a:extLst>
              </p:cNvPr>
              <p:cNvSpPr/>
              <p:nvPr/>
            </p:nvSpPr>
            <p:spPr>
              <a:xfrm>
                <a:off x="363166" y="2290141"/>
                <a:ext cx="11465667" cy="4129272"/>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上述带约束条件（即</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a:solidFill>
                              <a:srgbClr val="000000"/>
                            </a:solidFill>
                            <a:latin typeface="Cambria Math" panose="02040503050406030204" pitchFamily="18" charset="0"/>
                            <a:ea typeface="楷体_GB2312"/>
                            <a:cs typeface="Times New Roman" panose="02020603050405020304" pitchFamily="18" charset="0"/>
                          </a:rPr>
                          <m:t>𝒘</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𝑊</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r>
                      <a:rPr lang="en-US" altLang="zh-CN" i="1">
                        <a:solidFill>
                          <a:srgbClr val="000000"/>
                        </a:solidFill>
                        <a:latin typeface="Cambria Math" panose="02040503050406030204" pitchFamily="18" charset="0"/>
                        <a:ea typeface="MS Mincho" panose="02020609040205080304" pitchFamily="49" charset="-128"/>
                        <a:cs typeface="Times New Roman" panose="02020603050405020304" pitchFamily="18" charset="0"/>
                      </a:rPr>
                      <m:t>−</m:t>
                    </m:r>
                    <m:r>
                      <a:rPr lang="en-US" altLang="zh-CN">
                        <a:solidFill>
                          <a:srgbClr val="000000"/>
                        </a:solidFill>
                        <a:latin typeface="Cambria Math" panose="02040503050406030204" pitchFamily="18" charset="0"/>
                        <a:ea typeface="MS Mincho" panose="02020609040205080304" pitchFamily="49" charset="-128"/>
                        <a:cs typeface="Times New Roman" panose="02020603050405020304" pitchFamily="18" charset="0"/>
                      </a:rPr>
                      <m:t>1=0</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）的函数极大值（即</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 </m:t>
                        </m:r>
                        <m:r>
                          <a:rPr lang="en-US" altLang="zh-CN" b="1" i="1">
                            <a:solidFill>
                              <a:srgbClr val="000000"/>
                            </a:solidFill>
                            <a:latin typeface="Cambria Math" panose="02040503050406030204" pitchFamily="18" charset="0"/>
                            <a:ea typeface="楷体_GB2312"/>
                            <a:cs typeface="Times New Roman" panose="02020603050405020304" pitchFamily="18" charset="0"/>
                          </a:rPr>
                          <m:t>𝒘</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𝑏</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取值最大）优化问题所对应拉格朗日函数为：</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𝐿</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d>
                      <m:r>
                        <a:rPr lang="en-US" altLang="zh-CN"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𝜆</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𝑤</m:t>
                          </m:r>
                        </m:sub>
                      </m:s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𝒘</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kern="100">
                          <a:latin typeface="Cambria Math" panose="02040503050406030204" pitchFamily="18" charset="0"/>
                          <a:ea typeface="楷体" panose="02010609060101010101" pitchFamily="49" charset="-122"/>
                          <a:cs typeface="Times New Roman" panose="02020603050405020304" pitchFamily="18" charset="0"/>
                        </a:rPr>
                        <m:t>1)</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求偏导并使其求导结果为零，可得</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e>
                      <m:sup>
                        <m:r>
                          <a:rPr lang="en-US" altLang="zh-CN" i="1">
                            <a:solidFill>
                              <a:srgbClr val="000000"/>
                            </a:solidFill>
                            <a:latin typeface="Cambria Math" panose="02040503050406030204" pitchFamily="18" charset="0"/>
                            <a:ea typeface="楷体_GB2312"/>
                            <a:cs typeface="Times New Roman" panose="02020603050405020304" pitchFamily="18" charset="0"/>
                          </a:rPr>
                          <m:t>−1</m:t>
                        </m:r>
                      </m:sup>
                    </m:s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𝑏</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𝜆</m:t>
                    </m:r>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。由此可见，</a:t>
                </a:r>
                <a14:m>
                  <m:oMath xmlns:m="http://schemas.openxmlformats.org/officeDocument/2006/math">
                    <m:r>
                      <m:rPr>
                        <m:sty m:val="p"/>
                      </m:rPr>
                      <a:rPr lang="en-US" altLang="zh-CN" smtClean="0">
                        <a:solidFill>
                          <a:schemeClr val="accent2"/>
                        </a:solidFill>
                        <a:latin typeface="Cambria Math" panose="02040503050406030204" pitchFamily="18" charset="0"/>
                        <a:ea typeface="楷体_GB2312"/>
                        <a:cs typeface="Times New Roman" panose="02020603050405020304" pitchFamily="18" charset="0"/>
                      </a:rPr>
                      <m:t>λ</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b="1" i="1">
                        <a:solidFill>
                          <a:schemeClr val="accent2"/>
                        </a:solidFill>
                        <a:latin typeface="Cambria Math" panose="02040503050406030204" pitchFamily="18" charset="0"/>
                        <a:ea typeface="楷体_GB2312"/>
                        <a:cs typeface="Times New Roman" panose="02020603050405020304" pitchFamily="18" charset="0"/>
                      </a:rPr>
                      <m:t>𝒘</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分别是</a:t>
                </a:r>
                <a14:m>
                  <m:oMath xmlns:m="http://schemas.openxmlformats.org/officeDocument/2006/math">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i="1">
                                <a:solidFill>
                                  <a:schemeClr val="accent2"/>
                                </a:solidFill>
                                <a:latin typeface="Cambria Math" panose="02040503050406030204" pitchFamily="18" charset="0"/>
                                <a:ea typeface="楷体_GB2312"/>
                                <a:cs typeface="Times New Roman" panose="02020603050405020304" pitchFamily="18" charset="0"/>
                              </a:rPr>
                              <m:t>𝑤</m:t>
                            </m:r>
                          </m:sub>
                        </m:sSub>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r>
                          <a:rPr lang="en-US" altLang="zh-CN">
                            <a:solidFill>
                              <a:schemeClr val="accent2"/>
                            </a:solidFill>
                            <a:latin typeface="Cambria Math" panose="02040503050406030204" pitchFamily="18" charset="0"/>
                            <a:ea typeface="楷体_GB2312"/>
                            <a:cs typeface="Times New Roman" panose="02020603050405020304" pitchFamily="18" charset="0"/>
                          </a:rPr>
                          <m:t>1</m:t>
                        </m:r>
                      </m:sup>
                    </m:sSup>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i="1">
                            <a:solidFill>
                              <a:schemeClr val="accent2"/>
                            </a:solidFill>
                            <a:latin typeface="Cambria Math" panose="02040503050406030204" pitchFamily="18" charset="0"/>
                            <a:ea typeface="楷体_GB2312"/>
                            <a:cs typeface="Times New Roman" panose="02020603050405020304" pitchFamily="18" charset="0"/>
                          </a:rPr>
                          <m:t>𝑏</m:t>
                        </m:r>
                      </m:sub>
                    </m:sSub>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的特征根和特征向量</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p>
                      <m:sSupPr>
                        <m:ctrlPr>
                          <a:rPr lang="zh-CN" altLang="zh-CN" i="1" smtClea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i="1">
                                <a:solidFill>
                                  <a:schemeClr val="accent2"/>
                                </a:solidFill>
                                <a:latin typeface="Cambria Math" panose="02040503050406030204" pitchFamily="18" charset="0"/>
                                <a:ea typeface="楷体_GB2312"/>
                                <a:cs typeface="Times New Roman" panose="02020603050405020304" pitchFamily="18" charset="0"/>
                              </a:rPr>
                              <m:t>𝑤</m:t>
                            </m:r>
                          </m:sub>
                        </m:sSub>
                      </m:e>
                      <m:sup>
                        <m:r>
                          <a:rPr lang="en-US" altLang="zh-CN" i="1">
                            <a:solidFill>
                              <a:schemeClr val="accent2"/>
                            </a:solidFill>
                            <a:latin typeface="Cambria Math" panose="02040503050406030204" pitchFamily="18" charset="0"/>
                            <a:ea typeface="楷体_GB2312"/>
                            <a:cs typeface="Times New Roman" panose="02020603050405020304" pitchFamily="18" charset="0"/>
                          </a:rPr>
                          <m:t>−1</m:t>
                        </m:r>
                      </m:sup>
                    </m:sSup>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i="1">
                            <a:solidFill>
                              <a:schemeClr val="accent2"/>
                            </a:solidFill>
                            <a:latin typeface="Cambria Math" panose="02040503050406030204" pitchFamily="18" charset="0"/>
                            <a:ea typeface="楷体_GB2312"/>
                            <a:cs typeface="Times New Roman" panose="02020603050405020304" pitchFamily="18" charset="0"/>
                          </a:rPr>
                          <m:t>𝑏</m:t>
                        </m:r>
                      </m:sub>
                    </m:sSub>
                    <m:r>
                      <a:rPr lang="en-US" altLang="zh-CN" b="1" i="1">
                        <a:solidFill>
                          <a:schemeClr val="accent2"/>
                        </a:solidFill>
                        <a:latin typeface="Cambria Math" panose="02040503050406030204" pitchFamily="18" charset="0"/>
                        <a:ea typeface="楷体_GB2312"/>
                        <a:cs typeface="Times New Roman" panose="02020603050405020304" pitchFamily="18" charset="0"/>
                      </a:rPr>
                      <m:t>𝒘</m:t>
                    </m:r>
                    <m:r>
                      <a:rPr lang="en-US" altLang="zh-CN" i="1">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𝜆</m:t>
                    </m:r>
                    <m:r>
                      <a:rPr lang="en-US" altLang="zh-CN" b="1" i="1">
                        <a:solidFill>
                          <a:schemeClr val="accent2"/>
                        </a:solidFill>
                        <a:latin typeface="Cambria Math" panose="02040503050406030204" pitchFamily="18" charset="0"/>
                        <a:ea typeface="楷体_GB2312"/>
                        <a:cs typeface="Times New Roman" panose="02020603050405020304" pitchFamily="18" charset="0"/>
                      </a:rPr>
                      <m:t>𝒘</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也被称为</a:t>
                </a:r>
                <a:r>
                  <a:rPr lang="en-US" altLang="zh-CN" dirty="0">
                    <a:solidFill>
                      <a:schemeClr val="accent2"/>
                    </a:solidFill>
                    <a:latin typeface="Times New Roman" panose="02020603050405020304" pitchFamily="18" charset="0"/>
                    <a:ea typeface="楷体_GB2312"/>
                    <a:cs typeface="Times New Roman" panose="02020603050405020304" pitchFamily="18" charset="0"/>
                  </a:rPr>
                  <a:t>Fisher</a:t>
                </a:r>
                <a:r>
                  <a:rPr lang="zh-CN" altLang="zh-CN" dirty="0">
                    <a:solidFill>
                      <a:schemeClr val="accent2"/>
                    </a:solidFill>
                    <a:latin typeface="Times New Roman" panose="02020603050405020304" pitchFamily="18" charset="0"/>
                    <a:ea typeface="楷体_GB2312"/>
                    <a:cs typeface="Times New Roman" panose="02020603050405020304" pitchFamily="18" charset="0"/>
                  </a:rPr>
                  <a:t>线性判别（</a:t>
                </a:r>
                <a:r>
                  <a:rPr lang="en-US" altLang="zh-CN" dirty="0">
                    <a:solidFill>
                      <a:schemeClr val="accent2"/>
                    </a:solidFill>
                    <a:latin typeface="Times New Roman" panose="02020603050405020304" pitchFamily="18" charset="0"/>
                    <a:ea typeface="楷体_GB2312"/>
                    <a:cs typeface="Times New Roman" panose="02020603050405020304" pitchFamily="18" charset="0"/>
                  </a:rPr>
                  <a:t>Fisher linear discrimination</a:t>
                </a:r>
                <a:r>
                  <a:rPr lang="zh-CN"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nSpc>
                    <a:spcPct val="150000"/>
                  </a:lnSpc>
                </a:pPr>
                <a:r>
                  <a:rPr lang="zh-CN" altLang="zh-CN" dirty="0">
                    <a:solidFill>
                      <a:srgbClr val="000000"/>
                    </a:solidFill>
                    <a:latin typeface="Times New Roman" panose="02020603050405020304" pitchFamily="18" charset="0"/>
                    <a:ea typeface="楷体_GB2312"/>
                    <a:cs typeface="Times New Roman" panose="02020603050405020304" pitchFamily="18" charset="0"/>
                  </a:rPr>
                  <a:t>因为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𝑏</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a:solidFill>
                          <a:srgbClr val="000000"/>
                        </a:solidFill>
                        <a:latin typeface="Cambria Math" panose="02040503050406030204" pitchFamily="18" charset="0"/>
                        <a:ea typeface="楷体_GB2312"/>
                        <a:cs typeface="Times New Roman" panose="02020603050405020304" pitchFamily="18" charset="0"/>
                      </a:rPr>
                      <m:t> </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，令实数</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𝜆</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，那么</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𝑏</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r>
                      <a:rPr lang="en-US" altLang="zh-CN" i="1">
                        <a:solidFill>
                          <a:srgbClr val="000000"/>
                        </a:solidFill>
                        <a:latin typeface="Cambria Math" panose="02040503050406030204" pitchFamily="18" charset="0"/>
                        <a:ea typeface="楷体_GB2312"/>
                        <a:cs typeface="Times New Roman" panose="02020603050405020304" pitchFamily="18" charset="0"/>
                      </a:rPr>
                      <m:t>=</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e>
                    </m:d>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e>
                        </m:d>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b="1" i="1">
                        <a:solidFill>
                          <a:srgbClr val="000000"/>
                        </a:solidFill>
                        <a:latin typeface="Cambria Math" panose="02040503050406030204" pitchFamily="18" charset="0"/>
                        <a:ea typeface="楷体_GB2312"/>
                        <a:cs typeface="Times New Roman" panose="02020603050405020304" pitchFamily="18" charset="0"/>
                      </a:rPr>
                      <m:t>𝒘</m:t>
                    </m:r>
                    <m:r>
                      <a:rPr lang="en-US" altLang="zh-CN" b="1" i="1">
                        <a:solidFill>
                          <a:srgbClr val="000000"/>
                        </a:solidFill>
                        <a:latin typeface="Cambria Math" panose="02040503050406030204" pitchFamily="18" charset="0"/>
                        <a:ea typeface="楷体_GB2312"/>
                        <a:cs typeface="Times New Roman" panose="02020603050405020304" pitchFamily="18" charset="0"/>
                      </a:rPr>
                      <m:t>=</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e>
                    </m:d>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𝜆</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，将其代入</a:t>
                </a:r>
                <a:r>
                  <a:rPr lang="en-US" altLang="zh-CN" dirty="0">
                    <a:solidFill>
                      <a:srgbClr val="000000"/>
                    </a:solidFill>
                    <a:latin typeface="Times New Roman" panose="02020603050405020304" pitchFamily="18" charset="0"/>
                    <a:ea typeface="楷体_GB2312"/>
                    <a:cs typeface="Times New Roman" panose="02020603050405020304" pitchFamily="18" charset="0"/>
                  </a:rPr>
                  <a:t>Fisher</a:t>
                </a:r>
                <a:r>
                  <a:rPr lang="zh-CN" altLang="zh-CN" dirty="0">
                    <a:solidFill>
                      <a:srgbClr val="000000"/>
                    </a:solidFill>
                    <a:latin typeface="Times New Roman" panose="02020603050405020304" pitchFamily="18" charset="0"/>
                    <a:ea typeface="楷体_GB2312"/>
                    <a:cs typeface="Times New Roman" panose="02020603050405020304" pitchFamily="18" charset="0"/>
                  </a:rPr>
                  <a:t>线性判别，可得：</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e>
                        <m:sup>
                          <m:r>
                            <a:rPr lang="en-US" altLang="zh-CN" i="1">
                              <a:solidFill>
                                <a:srgbClr val="000000"/>
                              </a:solidFill>
                              <a:latin typeface="Cambria Math" panose="02040503050406030204" pitchFamily="18" charset="0"/>
                              <a:ea typeface="楷体_GB2312"/>
                              <a:cs typeface="Times New Roman" panose="02020603050405020304" pitchFamily="18" charset="0"/>
                            </a:rPr>
                            <m:t>−1</m:t>
                          </m:r>
                        </m:sup>
                      </m:s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𝑏</m:t>
                          </m:r>
                        </m:sub>
                      </m:sSub>
                      <m:r>
                        <a:rPr lang="en-US" altLang="zh-CN" b="1" i="1">
                          <a:solidFill>
                            <a:srgbClr val="000000"/>
                          </a:solidFill>
                          <a:latin typeface="Cambria Math" panose="02040503050406030204" pitchFamily="18" charset="0"/>
                          <a:ea typeface="楷体_GB2312"/>
                          <a:cs typeface="Times New Roman" panose="02020603050405020304" pitchFamily="18" charset="0"/>
                        </a:rPr>
                        <m:t>𝒘</m:t>
                      </m:r>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e>
                        <m:sup>
                          <m:r>
                            <a:rPr lang="en-US" altLang="zh-CN" i="1">
                              <a:solidFill>
                                <a:srgbClr val="000000"/>
                              </a:solidFill>
                              <a:latin typeface="Cambria Math" panose="02040503050406030204" pitchFamily="18" charset="0"/>
                              <a:ea typeface="楷体_GB2312"/>
                              <a:cs typeface="Times New Roman" panose="02020603050405020304" pitchFamily="18" charset="0"/>
                            </a:rPr>
                            <m:t>−1</m:t>
                          </m:r>
                        </m:sup>
                      </m:sSup>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𝒎</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e>
                      </m:d>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𝜆</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𝜆</m:t>
                      </m:r>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m:oMathPara>
                </a14:m>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由于对</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的放大和缩小操作不影响结果，因此可约去上式中的未知数</a:t>
                </a:r>
                <a14:m>
                  <m:oMath xmlns:m="http://schemas.openxmlformats.org/officeDocument/2006/math">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λ</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𝜆</m:t>
                        </m:r>
                      </m:e>
                      <m:sub>
                        <m:r>
                          <a:rPr lang="en-US" altLang="zh-CN" i="1">
                            <a:solidFill>
                              <a:srgbClr val="000000"/>
                            </a:solidFill>
                            <a:latin typeface="Cambria Math" panose="02040503050406030204" pitchFamily="18" charset="0"/>
                            <a:ea typeface="楷体_GB2312"/>
                            <a:cs typeface="Times New Roman" panose="02020603050405020304" pitchFamily="18" charset="0"/>
                          </a:rPr>
                          <m:t>𝑤</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，得到：</a:t>
                </a:r>
                <a14:m>
                  <m:oMath xmlns:m="http://schemas.openxmlformats.org/officeDocument/2006/math">
                    <m:r>
                      <a:rPr lang="en-US" altLang="zh-CN" b="1" i="1" smtClean="0">
                        <a:solidFill>
                          <a:schemeClr val="accent2"/>
                        </a:solidFill>
                        <a:latin typeface="Cambria Math" panose="02040503050406030204" pitchFamily="18" charset="0"/>
                        <a:ea typeface="楷体_GB2312"/>
                        <a:cs typeface="Times New Roman" panose="02020603050405020304" pitchFamily="18" charset="0"/>
                      </a:rPr>
                      <m:t>𝒘</m:t>
                    </m:r>
                    <m:r>
                      <a:rPr lang="en-US" altLang="zh-CN" i="1">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i="1">
                                <a:solidFill>
                                  <a:schemeClr val="accent2"/>
                                </a:solidFill>
                                <a:latin typeface="Cambria Math" panose="02040503050406030204" pitchFamily="18" charset="0"/>
                                <a:ea typeface="楷体_GB2312"/>
                                <a:cs typeface="Times New Roman" panose="02020603050405020304" pitchFamily="18" charset="0"/>
                              </a:rPr>
                              <m:t>𝑤</m:t>
                            </m:r>
                          </m:sub>
                        </m:sSub>
                      </m:e>
                      <m:sup>
                        <m:r>
                          <a:rPr lang="en-US" altLang="zh-CN" i="1">
                            <a:solidFill>
                              <a:schemeClr val="accent2"/>
                            </a:solidFill>
                            <a:latin typeface="Cambria Math" panose="02040503050406030204" pitchFamily="18" charset="0"/>
                            <a:ea typeface="楷体_GB2312"/>
                            <a:cs typeface="Times New Roman" panose="02020603050405020304" pitchFamily="18" charset="0"/>
                          </a:rPr>
                          <m:t>−1</m:t>
                        </m:r>
                      </m:sup>
                    </m:sSup>
                    <m:r>
                      <a:rPr lang="en-US" altLang="zh-CN" i="1">
                        <a:solidFill>
                          <a:schemeClr val="accent2"/>
                        </a:solidFill>
                        <a:latin typeface="Cambria Math" panose="02040503050406030204" pitchFamily="18" charset="0"/>
                        <a:ea typeface="楷体_GB2312"/>
                        <a:cs typeface="Times New Roman" panose="02020603050405020304" pitchFamily="18" charset="0"/>
                      </a:rPr>
                      <m:t>(</m:t>
                    </m:r>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chemeClr val="accent2"/>
                            </a:solidFill>
                            <a:latin typeface="Cambria Math" panose="02040503050406030204" pitchFamily="18" charset="0"/>
                            <a:ea typeface="楷体_GB2312"/>
                            <a:cs typeface="Times New Roman" panose="02020603050405020304" pitchFamily="18" charset="0"/>
                          </a:rPr>
                          <m:t>𝒎</m:t>
                        </m:r>
                      </m:e>
                      <m:sub>
                        <m:r>
                          <a:rPr lang="en-US" altLang="zh-CN" i="1">
                            <a:solidFill>
                              <a:schemeClr val="accent2"/>
                            </a:solidFill>
                            <a:latin typeface="Cambria Math" panose="02040503050406030204" pitchFamily="18" charset="0"/>
                            <a:ea typeface="楷体_GB2312"/>
                            <a:cs typeface="Times New Roman" panose="02020603050405020304" pitchFamily="18" charset="0"/>
                          </a:rPr>
                          <m:t>2</m:t>
                        </m:r>
                      </m:sub>
                    </m:sSub>
                    <m:r>
                      <a:rPr lang="en-US" altLang="zh-CN" i="1">
                        <a:solidFill>
                          <a:schemeClr val="accent2"/>
                        </a:solidFill>
                        <a:latin typeface="Cambria Math" panose="02040503050406030204" pitchFamily="18" charset="0"/>
                        <a:ea typeface="楷体_GB2312"/>
                        <a:cs typeface="Times New Roman" panose="02020603050405020304" pitchFamily="18" charset="0"/>
                      </a:rPr>
                      <m:t>−</m:t>
                    </m:r>
                    <m:sSub>
                      <m:sSub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chemeClr val="accent2"/>
                            </a:solidFill>
                            <a:latin typeface="Cambria Math" panose="02040503050406030204" pitchFamily="18" charset="0"/>
                            <a:ea typeface="楷体_GB2312"/>
                            <a:cs typeface="Times New Roman" panose="02020603050405020304" pitchFamily="18" charset="0"/>
                          </a:rPr>
                          <m:t>𝒎</m:t>
                        </m:r>
                      </m:e>
                      <m:sub>
                        <m:r>
                          <a:rPr lang="en-US" altLang="zh-CN" i="1">
                            <a:solidFill>
                              <a:schemeClr val="accent2"/>
                            </a:solidFill>
                            <a:latin typeface="Cambria Math" panose="02040503050406030204" pitchFamily="18" charset="0"/>
                            <a:ea typeface="楷体_GB2312"/>
                            <a:cs typeface="Times New Roman" panose="02020603050405020304" pitchFamily="18" charset="0"/>
                          </a:rPr>
                          <m:t>1</m:t>
                        </m:r>
                      </m:sub>
                    </m:sSub>
                    <m:r>
                      <a:rPr lang="en-US" altLang="zh-CN" i="1">
                        <a:solidFill>
                          <a:schemeClr val="accent2"/>
                        </a:solidFill>
                        <a:latin typeface="Cambria Math" panose="02040503050406030204" pitchFamily="18" charset="0"/>
                        <a:ea typeface="楷体_GB2312"/>
                        <a:cs typeface="Times New Roman" panose="02020603050405020304" pitchFamily="18" charset="0"/>
                      </a:rPr>
                      <m:t>)</m:t>
                    </m:r>
                  </m:oMath>
                </a14:m>
                <a:endParaRPr lang="en-US" altLang="zh-CN" dirty="0">
                  <a:solidFill>
                    <a:schemeClr val="accent2"/>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en-US" dirty="0">
                    <a:solidFill>
                      <a:srgbClr val="000000"/>
                    </a:solidFill>
                    <a:latin typeface="Times New Roman" panose="02020603050405020304" pitchFamily="18" charset="0"/>
                    <a:ea typeface="楷体_GB2312"/>
                    <a:cs typeface="Times New Roman" panose="02020603050405020304" pitchFamily="18" charset="0"/>
                  </a:rPr>
                  <a:t>注：上述推导中利用了如下公式：如果</a:t>
                </a:r>
                <a14:m>
                  <m:oMath xmlns:m="http://schemas.openxmlformats.org/officeDocument/2006/math">
                    <m:r>
                      <a:rPr lang="en-US" altLang="zh-CN" b="1" i="0" smtClean="0">
                        <a:solidFill>
                          <a:srgbClr val="000000"/>
                        </a:solidFill>
                        <a:latin typeface="Cambria Math" panose="02040503050406030204" pitchFamily="18" charset="0"/>
                        <a:ea typeface="楷体_GB2312"/>
                        <a:cs typeface="Times New Roman" panose="02020603050405020304" pitchFamily="18" charset="0"/>
                      </a:rPr>
                      <m:t>𝐀</m:t>
                    </m:r>
                  </m:oMath>
                </a14:m>
                <a:r>
                  <a:rPr lang="zh-CN" altLang="en-US" dirty="0">
                    <a:solidFill>
                      <a:srgbClr val="000000"/>
                    </a:solidFill>
                    <a:latin typeface="Times New Roman" panose="02020603050405020304" pitchFamily="18" charset="0"/>
                    <a:ea typeface="楷体_GB2312"/>
                    <a:cs typeface="Times New Roman" panose="02020603050405020304" pitchFamily="18" charset="0"/>
                  </a:rPr>
                  <a:t>是实对称矩阵，则</a:t>
                </a:r>
                <a14:m>
                  <m:oMath xmlns:m="http://schemas.openxmlformats.org/officeDocument/2006/math">
                    <m:sSup>
                      <m:sSupPr>
                        <m:ctrlPr>
                          <a:rPr lang="en-US" altLang="zh-CN" b="1" i="1" smtClean="0">
                            <a:solidFill>
                              <a:srgbClr val="000000"/>
                            </a:solidFill>
                            <a:latin typeface="Cambria Math" panose="02040503050406030204" pitchFamily="18" charset="0"/>
                            <a:cs typeface="Times New Roman" panose="02020603050405020304" pitchFamily="18" charset="0"/>
                          </a:rPr>
                        </m:ctrlPr>
                      </m:sSupPr>
                      <m:e>
                        <m:r>
                          <a:rPr lang="en-US" altLang="zh-CN" b="1" i="1" smtClean="0">
                            <a:solidFill>
                              <a:srgbClr val="000000"/>
                            </a:solidFill>
                            <a:latin typeface="Cambria Math" panose="02040503050406030204" pitchFamily="18" charset="0"/>
                            <a:cs typeface="Times New Roman" panose="02020603050405020304" pitchFamily="18" charset="0"/>
                          </a:rPr>
                          <m:t>𝒙</m:t>
                        </m:r>
                      </m:e>
                      <m:sup>
                        <m:r>
                          <a:rPr lang="en-US" altLang="zh-CN" b="1" i="1" smtClean="0">
                            <a:solidFill>
                              <a:srgbClr val="000000"/>
                            </a:solidFill>
                            <a:latin typeface="Cambria Math" panose="02040503050406030204" pitchFamily="18" charset="0"/>
                            <a:cs typeface="Times New Roman" panose="02020603050405020304" pitchFamily="18" charset="0"/>
                          </a:rPr>
                          <m:t>𝑻</m:t>
                        </m:r>
                      </m:sup>
                    </m:sSup>
                    <m:r>
                      <a:rPr lang="en-US" altLang="zh-CN" b="1">
                        <a:solidFill>
                          <a:srgbClr val="000000"/>
                        </a:solidFill>
                        <a:latin typeface="Cambria Math" panose="02040503050406030204" pitchFamily="18" charset="0"/>
                        <a:ea typeface="楷体_GB2312"/>
                        <a:cs typeface="Times New Roman" panose="02020603050405020304" pitchFamily="18" charset="0"/>
                      </a:rPr>
                      <m:t>𝐀</m:t>
                    </m:r>
                    <m:r>
                      <a:rPr lang="en-US" altLang="zh-CN" b="1" i="1" smtClean="0">
                        <a:solidFill>
                          <a:srgbClr val="000000"/>
                        </a:solidFill>
                        <a:latin typeface="Cambria Math" panose="02040503050406030204" pitchFamily="18" charset="0"/>
                        <a:ea typeface="楷体_GB2312"/>
                        <a:cs typeface="Times New Roman" panose="02020603050405020304" pitchFamily="18" charset="0"/>
                      </a:rPr>
                      <m:t>𝒙</m:t>
                    </m:r>
                  </m:oMath>
                </a14:m>
                <a:r>
                  <a:rPr lang="zh-CN" altLang="en-US"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en-US" dirty="0">
                    <a:solidFill>
                      <a:srgbClr val="000000"/>
                    </a:solidFill>
                    <a:latin typeface="Times New Roman" panose="02020603050405020304" pitchFamily="18" charset="0"/>
                    <a:ea typeface="楷体_GB2312"/>
                    <a:cs typeface="Times New Roman" panose="02020603050405020304" pitchFamily="18" charset="0"/>
                  </a:rPr>
                  <a:t>的导数为</a:t>
                </a:r>
                <a14:m>
                  <m:oMath xmlns:m="http://schemas.openxmlformats.org/officeDocument/2006/math">
                    <m:f>
                      <m:fPr>
                        <m:ctrlPr>
                          <a:rPr lang="en-US" altLang="zh-CN" b="1" i="1" smtClean="0">
                            <a:solidFill>
                              <a:srgbClr val="000000"/>
                            </a:solidFill>
                            <a:latin typeface="Cambria Math" panose="02040503050406030204" pitchFamily="18" charset="0"/>
                            <a:cs typeface="Times New Roman" panose="02020603050405020304" pitchFamily="18" charset="0"/>
                          </a:rPr>
                        </m:ctrlPr>
                      </m:fPr>
                      <m:num>
                        <m:r>
                          <a:rPr lang="en-US" altLang="zh-CN" b="1" i="1" smtClean="0">
                            <a:solidFill>
                              <a:srgbClr val="000000"/>
                            </a:solidFill>
                            <a:latin typeface="Cambria Math" panose="02040503050406030204" pitchFamily="18" charset="0"/>
                            <a:cs typeface="Times New Roman" panose="02020603050405020304" pitchFamily="18" charset="0"/>
                          </a:rPr>
                          <m:t>𝒅</m:t>
                        </m:r>
                        <m:sSup>
                          <m:sSupPr>
                            <m:ctrlPr>
                              <a:rPr lang="en-US" altLang="zh-CN" b="1" i="1">
                                <a:solidFill>
                                  <a:srgbClr val="000000"/>
                                </a:solidFill>
                                <a:latin typeface="Cambria Math" panose="02040503050406030204" pitchFamily="18" charset="0"/>
                                <a:cs typeface="Times New Roman" panose="02020603050405020304" pitchFamily="18" charset="0"/>
                              </a:rPr>
                            </m:ctrlPr>
                          </m:sSupPr>
                          <m:e>
                            <m:r>
                              <a:rPr lang="en-US" altLang="zh-CN" b="1" i="1">
                                <a:solidFill>
                                  <a:srgbClr val="000000"/>
                                </a:solidFill>
                                <a:latin typeface="Cambria Math" panose="02040503050406030204" pitchFamily="18" charset="0"/>
                                <a:cs typeface="Times New Roman" panose="02020603050405020304" pitchFamily="18" charset="0"/>
                              </a:rPr>
                              <m:t>𝒙</m:t>
                            </m:r>
                          </m:e>
                          <m:sup>
                            <m:r>
                              <a:rPr lang="en-US" altLang="zh-CN" b="1" i="1">
                                <a:solidFill>
                                  <a:srgbClr val="000000"/>
                                </a:solidFill>
                                <a:latin typeface="Cambria Math" panose="02040503050406030204" pitchFamily="18" charset="0"/>
                                <a:cs typeface="Times New Roman" panose="02020603050405020304" pitchFamily="18" charset="0"/>
                              </a:rPr>
                              <m:t>𝑻</m:t>
                            </m:r>
                          </m:sup>
                        </m:sSup>
                        <m:r>
                          <a:rPr lang="en-US" altLang="zh-CN" b="1">
                            <a:solidFill>
                              <a:srgbClr val="000000"/>
                            </a:solidFill>
                            <a:latin typeface="Cambria Math" panose="02040503050406030204" pitchFamily="18" charset="0"/>
                            <a:ea typeface="楷体_GB2312"/>
                            <a:cs typeface="Times New Roman" panose="02020603050405020304" pitchFamily="18" charset="0"/>
                          </a:rPr>
                          <m:t>𝐀</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num>
                      <m:den>
                        <m:r>
                          <a:rPr lang="en-US" altLang="zh-CN" b="1" i="1" smtClean="0">
                            <a:solidFill>
                              <a:srgbClr val="000000"/>
                            </a:solidFill>
                            <a:latin typeface="Cambria Math" panose="02040503050406030204" pitchFamily="18" charset="0"/>
                            <a:cs typeface="Times New Roman" panose="02020603050405020304" pitchFamily="18" charset="0"/>
                          </a:rPr>
                          <m:t>𝒙</m:t>
                        </m:r>
                      </m:den>
                    </m:f>
                    <m:r>
                      <a:rPr lang="en-US" altLang="zh-CN" b="1" i="1" smtClean="0">
                        <a:solidFill>
                          <a:srgbClr val="000000"/>
                        </a:solidFill>
                        <a:latin typeface="Cambria Math" panose="02040503050406030204" pitchFamily="18" charset="0"/>
                        <a:cs typeface="Times New Roman" panose="02020603050405020304" pitchFamily="18" charset="0"/>
                      </a:rPr>
                      <m:t>=</m:t>
                    </m:r>
                    <m:r>
                      <a:rPr lang="en-US" altLang="zh-CN" b="1" i="1" smtClean="0">
                        <a:solidFill>
                          <a:srgbClr val="000000"/>
                        </a:solidFill>
                        <a:latin typeface="Cambria Math" panose="02040503050406030204" pitchFamily="18" charset="0"/>
                        <a:cs typeface="Times New Roman" panose="02020603050405020304" pitchFamily="18" charset="0"/>
                      </a:rPr>
                      <m:t>𝟐</m:t>
                    </m:r>
                    <m:r>
                      <a:rPr lang="en-US" altLang="zh-CN" b="1" i="0" smtClean="0">
                        <a:solidFill>
                          <a:srgbClr val="000000"/>
                        </a:solidFill>
                        <a:latin typeface="Cambria Math" panose="02040503050406030204" pitchFamily="18" charset="0"/>
                        <a:cs typeface="Times New Roman" panose="02020603050405020304" pitchFamily="18" charset="0"/>
                      </a:rPr>
                      <m:t>𝐀</m:t>
                    </m:r>
                    <m:r>
                      <a:rPr lang="en-US" altLang="zh-CN" b="1" i="1" smtClean="0">
                        <a:solidFill>
                          <a:srgbClr val="000000"/>
                        </a:solidFill>
                        <a:latin typeface="Cambria Math" panose="02040503050406030204" pitchFamily="18" charset="0"/>
                        <a:cs typeface="Times New Roman" panose="02020603050405020304" pitchFamily="18" charset="0"/>
                      </a:rPr>
                      <m:t>𝒙</m:t>
                    </m:r>
                  </m:oMath>
                </a14:m>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AF0E82D6-A698-4280-859F-6B64ACFB4B67}"/>
                  </a:ext>
                </a:extLst>
              </p:cNvPr>
              <p:cNvSpPr>
                <a:spLocks noRot="1" noChangeAspect="1" noMove="1" noResize="1" noEditPoints="1" noAdjustHandles="1" noChangeArrowheads="1" noChangeShapeType="1" noTextEdit="1"/>
              </p:cNvSpPr>
              <p:nvPr/>
            </p:nvSpPr>
            <p:spPr>
              <a:xfrm>
                <a:off x="363166" y="2290141"/>
                <a:ext cx="11465667" cy="4129272"/>
              </a:xfrm>
              <a:prstGeom prst="rect">
                <a:avLst/>
              </a:prstGeom>
              <a:blipFill>
                <a:blip r:embed="rId4"/>
                <a:stretch>
                  <a:fillRect r="-24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815613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C243C06-5CAA-424B-9180-919EB53C0E85}"/>
                  </a:ext>
                </a:extLst>
              </p:cNvPr>
              <p:cNvSpPr/>
              <p:nvPr/>
            </p:nvSpPr>
            <p:spPr>
              <a:xfrm>
                <a:off x="871928" y="2297901"/>
                <a:ext cx="4406949" cy="3782702"/>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为了获得</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类内汇聚、类间间隔</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的最佳投影结果，只需要分别求出待投影数据的均值和方差，就可以</a:t>
                </a:r>
                <a:r>
                  <a:rPr lang="zh-CN" altLang="en-US" dirty="0">
                    <a:solidFill>
                      <a:srgbClr val="000000"/>
                    </a:solidFill>
                    <a:latin typeface="Times New Roman" panose="02020603050405020304" pitchFamily="18" charset="0"/>
                    <a:ea typeface="楷体_GB2312"/>
                    <a:cs typeface="Times New Roman" panose="02020603050405020304" pitchFamily="18" charset="0"/>
                  </a:rPr>
                  <a:t>计算</a:t>
                </a:r>
                <a:r>
                  <a:rPr lang="zh-CN" altLang="zh-CN" dirty="0">
                    <a:solidFill>
                      <a:srgbClr val="000000"/>
                    </a:solidFill>
                    <a:latin typeface="Times New Roman" panose="02020603050405020304" pitchFamily="18" charset="0"/>
                    <a:ea typeface="楷体_GB2312"/>
                    <a:cs typeface="Times New Roman" panose="02020603050405020304" pitchFamily="18" charset="0"/>
                  </a:rPr>
                  <a:t>得到最佳投影方向</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𝒘</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，这就是线性判别分析的做法。</a:t>
                </a:r>
                <a:r>
                  <a:rPr lang="zh-CN" altLang="zh-CN" dirty="0">
                    <a:solidFill>
                      <a:schemeClr val="accent2"/>
                    </a:solidFill>
                    <a:latin typeface="Times New Roman" panose="02020603050405020304" pitchFamily="18" charset="0"/>
                    <a:ea typeface="楷体_GB2312"/>
                    <a:cs typeface="Times New Roman" panose="02020603050405020304" pitchFamily="18" charset="0"/>
                  </a:rPr>
                  <a:t>将原始数据通过</a:t>
                </a:r>
                <a14:m>
                  <m:oMath xmlns:m="http://schemas.openxmlformats.org/officeDocument/2006/math">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a:solidFill>
                              <a:schemeClr val="accent2"/>
                            </a:solidFill>
                            <a:latin typeface="Cambria Math" panose="02040503050406030204" pitchFamily="18" charset="0"/>
                            <a:ea typeface="楷体_GB2312"/>
                            <a:cs typeface="Times New Roman" panose="02020603050405020304" pitchFamily="18" charset="0"/>
                          </a:rPr>
                          <m:t>𝒘</m:t>
                        </m:r>
                      </m:e>
                      <m:sup>
                        <m:r>
                          <a:rPr lang="en-US" altLang="zh-CN" i="1">
                            <a:solidFill>
                              <a:schemeClr val="accent2"/>
                            </a:solidFill>
                            <a:latin typeface="Cambria Math" panose="02040503050406030204" pitchFamily="18" charset="0"/>
                            <a:ea typeface="楷体_GB2312"/>
                            <a:cs typeface="Times New Roman" panose="02020603050405020304" pitchFamily="18" charset="0"/>
                          </a:rPr>
                          <m:t>𝑇</m:t>
                        </m:r>
                      </m:sup>
                    </m:sSup>
                    <m:r>
                      <a:rPr lang="en-US" altLang="zh-CN" b="1" i="1">
                        <a:solidFill>
                          <a:schemeClr val="accent2"/>
                        </a:solidFill>
                        <a:latin typeface="Cambria Math" panose="02040503050406030204" pitchFamily="18" charset="0"/>
                        <a:ea typeface="楷体_GB2312"/>
                        <a:cs typeface="Times New Roman" panose="02020603050405020304" pitchFamily="18" charset="0"/>
                      </a:rPr>
                      <m:t>𝒙</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进行投影，实现了从高维到低维的映射，因此也是一种降维操作，实现了数据约减少，且这一降维结果保持了样本数据的</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类内汇聚、类间间隔</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结构分布。</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7C243C06-5CAA-424B-9180-919EB53C0E85}"/>
                  </a:ext>
                </a:extLst>
              </p:cNvPr>
              <p:cNvSpPr>
                <a:spLocks noRot="1" noChangeAspect="1" noMove="1" noResize="1" noEditPoints="1" noAdjustHandles="1" noChangeArrowheads="1" noChangeShapeType="1" noTextEdit="1"/>
              </p:cNvSpPr>
              <p:nvPr/>
            </p:nvSpPr>
            <p:spPr>
              <a:xfrm>
                <a:off x="871928" y="2297901"/>
                <a:ext cx="4406949" cy="3782702"/>
              </a:xfrm>
              <a:prstGeom prst="rect">
                <a:avLst/>
              </a:prstGeom>
              <a:blipFill>
                <a:blip r:embed="rId3"/>
                <a:stretch>
                  <a:fillRect l="-1107" r="-1245" b="-17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DD0BBD0-7E4D-4E35-8ED9-E253206047FF}"/>
                  </a:ext>
                </a:extLst>
              </p:cNvPr>
              <p:cNvSpPr/>
              <p:nvPr/>
            </p:nvSpPr>
            <p:spPr>
              <a:xfrm>
                <a:off x="5635557" y="2016832"/>
                <a:ext cx="6096000" cy="4048801"/>
              </a:xfrm>
              <a:prstGeom prst="rect">
                <a:avLst/>
              </a:prstGeom>
            </p:spPr>
            <p:txBody>
              <a:bodyPr>
                <a:spAutoFit/>
              </a:bodyPr>
              <a:lstStyle/>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于是，给定原始</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𝑑</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维数据样本</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，通过</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将其从</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𝑑</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维空间映射到</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𝑟</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维空间，实现了原始数据的降维，也使得原始数据形成了具有区别力的紧凑表达。在后续分类等操作中，只是使用</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降维后的结果，而不是</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的原始特征。</a:t>
                </a: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下面对线性判别分析的降维步骤描述如下：</a:t>
                </a: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计算数据样本集中每个类别样本的均值</a:t>
                </a: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计算类内散度矩阵</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和类间散度矩阵</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𝑺</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𝑏</m:t>
                        </m:r>
                      </m:sub>
                    </m:sSub>
                  </m:oMath>
                </a14:m>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根据</a:t>
                </a:r>
                <a14:m>
                  <m:oMath xmlns:m="http://schemas.openxmlformats.org/officeDocument/2006/math">
                    <m:sSup>
                      <m:sSup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𝑤</m:t>
                            </m:r>
                          </m:sub>
                        </m:sSub>
                      </m:e>
                      <m:sup>
                        <m:r>
                          <a:rPr lang="en-US" altLang="zh-CN" sz="1400" i="1">
                            <a:solidFill>
                              <a:schemeClr val="accent2"/>
                            </a:solidFill>
                            <a:latin typeface="Cambria Math" panose="02040503050406030204" pitchFamily="18" charset="0"/>
                            <a:ea typeface="楷体_GB2312"/>
                            <a:cs typeface="Times New Roman" panose="02020603050405020304" pitchFamily="18" charset="0"/>
                          </a:rPr>
                          <m:t>−1</m:t>
                        </m:r>
                      </m:sup>
                    </m:sSup>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𝑏</m:t>
                        </m:r>
                      </m:sub>
                    </m:sSub>
                    <m:r>
                      <a:rPr lang="en-US" altLang="zh-CN" sz="1400" b="1" i="1">
                        <a:solidFill>
                          <a:schemeClr val="accent2"/>
                        </a:solidFill>
                        <a:latin typeface="Cambria Math" panose="02040503050406030204" pitchFamily="18" charset="0"/>
                        <a:ea typeface="楷体_GB2312"/>
                        <a:cs typeface="Times New Roman" panose="02020603050405020304" pitchFamily="18" charset="0"/>
                      </a:rPr>
                      <m:t>𝑾</m:t>
                    </m:r>
                    <m:r>
                      <a:rPr lang="en-US" altLang="zh-CN" sz="1400" i="1">
                        <a:solidFill>
                          <a:schemeClr val="accent2"/>
                        </a:solidFill>
                        <a:latin typeface="Cambria Math" panose="02040503050406030204" pitchFamily="18" charset="0"/>
                        <a:ea typeface="楷体_GB2312"/>
                        <a:cs typeface="Times New Roman" panose="02020603050405020304" pitchFamily="18" charset="0"/>
                      </a:rPr>
                      <m:t>=</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𝜆</m:t>
                    </m:r>
                    <m:r>
                      <a:rPr lang="en-US" altLang="zh-CN" sz="1400" b="1" i="1">
                        <a:solidFill>
                          <a:schemeClr val="accent2"/>
                        </a:solidFill>
                        <a:latin typeface="Cambria Math" panose="02040503050406030204" pitchFamily="18" charset="0"/>
                        <a:ea typeface="楷体_GB2312"/>
                        <a:cs typeface="Times New Roman" panose="02020603050405020304" pitchFamily="18" charset="0"/>
                      </a:rPr>
                      <m:t>𝑾</m:t>
                    </m:r>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来求解</a:t>
                </a:r>
                <a14:m>
                  <m:oMath xmlns:m="http://schemas.openxmlformats.org/officeDocument/2006/math">
                    <m:sSup>
                      <m:sSup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𝑤</m:t>
                            </m:r>
                          </m:sub>
                        </m:sSub>
                      </m:e>
                      <m:sup>
                        <m:r>
                          <a:rPr lang="en-US" altLang="zh-CN" sz="1400" i="1">
                            <a:solidFill>
                              <a:schemeClr val="accent2"/>
                            </a:solidFill>
                            <a:latin typeface="Cambria Math" panose="02040503050406030204" pitchFamily="18" charset="0"/>
                            <a:ea typeface="楷体_GB2312"/>
                            <a:cs typeface="Times New Roman" panose="02020603050405020304" pitchFamily="18" charset="0"/>
                          </a:rPr>
                          <m:t>−1</m:t>
                        </m:r>
                      </m:sup>
                    </m:sSup>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𝑏</m:t>
                        </m:r>
                      </m:sub>
                    </m:sSub>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所对应前</a:t>
                </a:r>
                <a14:m>
                  <m:oMath xmlns:m="http://schemas.openxmlformats.org/officeDocument/2006/math">
                    <m:r>
                      <a:rPr lang="en-US" altLang="zh-CN" sz="1400" i="1">
                        <a:solidFill>
                          <a:schemeClr val="accent2"/>
                        </a:solidFill>
                        <a:latin typeface="Cambria Math" panose="02040503050406030204" pitchFamily="18" charset="0"/>
                        <a:ea typeface="楷体_GB2312"/>
                        <a:cs typeface="Times New Roman" panose="02020603050405020304" pitchFamily="18" charset="0"/>
                      </a:rPr>
                      <m:t>𝑟</m:t>
                    </m:r>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个最大特征值所对应特征向量</a:t>
                </a:r>
                <a14:m>
                  <m:oMath xmlns:m="http://schemas.openxmlformats.org/officeDocument/2006/math">
                    <m:d>
                      <m:d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𝒘</m:t>
                            </m:r>
                          </m:e>
                          <m:sub>
                            <m:r>
                              <a:rPr lang="en-US" altLang="zh-CN" sz="1400">
                                <a:solidFill>
                                  <a:schemeClr val="accent2"/>
                                </a:solidFill>
                                <a:latin typeface="Cambria Math" panose="02040503050406030204" pitchFamily="18" charset="0"/>
                                <a:ea typeface="楷体_GB2312"/>
                                <a:cs typeface="Times New Roman" panose="02020603050405020304" pitchFamily="18" charset="0"/>
                              </a:rPr>
                              <m:t>1</m:t>
                            </m:r>
                          </m:sub>
                        </m:sSub>
                        <m:r>
                          <a:rPr lang="en-US" altLang="zh-CN" sz="1400">
                            <a:solidFill>
                              <a:schemeClr val="accent2"/>
                            </a:solidFill>
                            <a:latin typeface="Cambria Math" panose="02040503050406030204" pitchFamily="18" charset="0"/>
                            <a:ea typeface="楷体_GB2312"/>
                            <a:cs typeface="Times New Roman" panose="02020603050405020304" pitchFamily="18" charset="0"/>
                          </a:rPr>
                          <m:t>,</m:t>
                        </m:r>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𝒘</m:t>
                            </m:r>
                          </m:e>
                          <m:sub>
                            <m:r>
                              <a:rPr lang="en-US" altLang="zh-CN" sz="1400">
                                <a:solidFill>
                                  <a:schemeClr val="accent2"/>
                                </a:solidFill>
                                <a:latin typeface="Cambria Math" panose="02040503050406030204" pitchFamily="18" charset="0"/>
                                <a:ea typeface="楷体_GB2312"/>
                                <a:cs typeface="Times New Roman" panose="02020603050405020304" pitchFamily="18" charset="0"/>
                              </a:rPr>
                              <m:t>2</m:t>
                            </m:r>
                          </m:sub>
                        </m:sSub>
                        <m:r>
                          <a:rPr lang="en-US" altLang="zh-CN" sz="1400">
                            <a:solidFill>
                              <a:schemeClr val="accent2"/>
                            </a:solidFill>
                            <a:latin typeface="Cambria Math" panose="02040503050406030204" pitchFamily="18" charset="0"/>
                            <a:ea typeface="楷体_GB2312"/>
                            <a:cs typeface="Times New Roman" panose="02020603050405020304" pitchFamily="18" charset="0"/>
                          </a:rPr>
                          <m:t>,…,</m:t>
                        </m:r>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𝒘</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𝑟</m:t>
                            </m:r>
                          </m:sub>
                        </m:sSub>
                      </m:e>
                    </m:d>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，构成矩阵</a:t>
                </a:r>
                <a14:m>
                  <m:oMath xmlns:m="http://schemas.openxmlformats.org/officeDocument/2006/math">
                    <m:r>
                      <a:rPr lang="en-US" altLang="zh-CN" sz="1400" b="1" i="1">
                        <a:solidFill>
                          <a:schemeClr val="accent2"/>
                        </a:solidFill>
                        <a:latin typeface="Cambria Math" panose="02040503050406030204" pitchFamily="18" charset="0"/>
                        <a:ea typeface="楷体_GB2312"/>
                        <a:cs typeface="Times New Roman" panose="02020603050405020304" pitchFamily="18" charset="0"/>
                      </a:rPr>
                      <m:t>𝑾</m:t>
                    </m:r>
                  </m:oMath>
                </a14:m>
                <a:endParaRPr lang="zh-CN" altLang="zh-CN" sz="1400" dirty="0">
                  <a:solidFill>
                    <a:schemeClr val="accent2"/>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通过矩阵</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将每个样本映射到低维空间，实现特征降维。</a:t>
                </a:r>
              </a:p>
              <a:p>
                <a:pPr indent="266700" algn="just">
                  <a:lnSpc>
                    <a:spcPct val="150000"/>
                  </a:lnSpc>
                  <a:spcAft>
                    <a:spcPts val="0"/>
                  </a:spcAft>
                </a:pP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需要注意的是，通过</a:t>
                </a:r>
                <a:r>
                  <a:rPr lang="en-US" altLang="zh-CN" sz="1400" dirty="0">
                    <a:solidFill>
                      <a:schemeClr val="accent2"/>
                    </a:solidFill>
                    <a:latin typeface="Times New Roman" panose="02020603050405020304" pitchFamily="18" charset="0"/>
                    <a:ea typeface="楷体_GB2312"/>
                    <a:cs typeface="Times New Roman" panose="02020603050405020304" pitchFamily="18" charset="0"/>
                  </a:rPr>
                  <a:t>LDA</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对原始</a:t>
                </a:r>
                <a14:m>
                  <m:oMath xmlns:m="http://schemas.openxmlformats.org/officeDocument/2006/math">
                    <m:r>
                      <a:rPr lang="en-US" altLang="zh-CN" sz="1400" i="1">
                        <a:solidFill>
                          <a:schemeClr val="accent2"/>
                        </a:solidFill>
                        <a:latin typeface="Cambria Math" panose="02040503050406030204" pitchFamily="18" charset="0"/>
                        <a:ea typeface="楷体_GB2312"/>
                        <a:cs typeface="Times New Roman" panose="02020603050405020304" pitchFamily="18" charset="0"/>
                      </a:rPr>
                      <m:t>𝑑</m:t>
                    </m:r>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维数据进行降维后，所得维度</a:t>
                </a:r>
                <a14:m>
                  <m:oMath xmlns:m="http://schemas.openxmlformats.org/officeDocument/2006/math">
                    <m:r>
                      <a:rPr lang="en-US" altLang="zh-CN" sz="1400" i="1">
                        <a:solidFill>
                          <a:schemeClr val="accent2"/>
                        </a:solidFill>
                        <a:latin typeface="Cambria Math" panose="02040503050406030204" pitchFamily="18" charset="0"/>
                        <a:ea typeface="楷体_GB2312"/>
                        <a:cs typeface="Times New Roman" panose="02020603050405020304" pitchFamily="18" charset="0"/>
                      </a:rPr>
                      <m:t>𝑟</m:t>
                    </m:r>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最大取值为</a:t>
                </a:r>
                <a14:m>
                  <m:oMath xmlns:m="http://schemas.openxmlformats.org/officeDocument/2006/math">
                    <m:func>
                      <m:func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1400">
                                <a:solidFill>
                                  <a:schemeClr val="accent2"/>
                                </a:solidFill>
                                <a:latin typeface="Cambria Math" panose="02040503050406030204" pitchFamily="18" charset="0"/>
                                <a:ea typeface="楷体_GB2312"/>
                                <a:cs typeface="Times New Roman" panose="02020603050405020304" pitchFamily="18" charset="0"/>
                              </a:rPr>
                              <m:t>min</m:t>
                            </m:r>
                          </m:e>
                          <m:lim>
                            <m:r>
                              <a:rPr lang="en-US" altLang="zh-CN" sz="1400" i="1">
                                <a:solidFill>
                                  <a:schemeClr val="accent2"/>
                                </a:solidFill>
                                <a:latin typeface="Cambria Math" panose="02040503050406030204" pitchFamily="18" charset="0"/>
                                <a:ea typeface="楷体_GB2312"/>
                                <a:cs typeface="Times New Roman" panose="02020603050405020304" pitchFamily="18" charset="0"/>
                              </a:rPr>
                              <m:t> </m:t>
                            </m:r>
                          </m:lim>
                        </m:limLow>
                      </m:fName>
                      <m:e>
                        <m:r>
                          <a:rPr lang="en-US" altLang="zh-CN" sz="1400">
                            <a:solidFill>
                              <a:schemeClr val="accent2"/>
                            </a:solidFill>
                            <a:latin typeface="Cambria Math" panose="02040503050406030204" pitchFamily="18" charset="0"/>
                            <a:ea typeface="楷体_GB2312"/>
                            <a:cs typeface="Times New Roman" panose="02020603050405020304" pitchFamily="18" charset="0"/>
                          </a:rPr>
                          <m:t>(</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𝐾</m:t>
                        </m:r>
                        <m:r>
                          <a:rPr lang="en-US" altLang="zh-CN" sz="1400" i="1">
                            <a:solidFill>
                              <a:schemeClr val="accent2"/>
                            </a:solidFill>
                            <a:latin typeface="Cambria Math" panose="02040503050406030204" pitchFamily="18" charset="0"/>
                            <a:ea typeface="楷体_GB2312"/>
                            <a:cs typeface="Times New Roman" panose="02020603050405020304" pitchFamily="18" charset="0"/>
                          </a:rPr>
                          <m:t>−1,</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𝑑</m:t>
                        </m:r>
                        <m:r>
                          <a:rPr lang="en-US" altLang="zh-CN" sz="1400">
                            <a:solidFill>
                              <a:schemeClr val="accent2"/>
                            </a:solidFill>
                            <a:latin typeface="Cambria Math" panose="02040503050406030204" pitchFamily="18" charset="0"/>
                            <a:ea typeface="楷体_GB2312"/>
                            <a:cs typeface="Times New Roman" panose="02020603050405020304" pitchFamily="18" charset="0"/>
                          </a:rPr>
                          <m:t>)</m:t>
                        </m:r>
                      </m:e>
                    </m:func>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，这是因为</a:t>
                </a:r>
                <a14:m>
                  <m:oMath xmlns:m="http://schemas.openxmlformats.org/officeDocument/2006/math">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chemeClr val="accent2"/>
                            </a:solidFill>
                            <a:latin typeface="Cambria Math" panose="02040503050406030204" pitchFamily="18" charset="0"/>
                            <a:ea typeface="楷体_GB2312"/>
                            <a:cs typeface="Times New Roman" panose="02020603050405020304" pitchFamily="18" charset="0"/>
                          </a:rPr>
                          <m:t>𝑺</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𝑏</m:t>
                        </m:r>
                      </m:sub>
                    </m:sSub>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的秩为</a:t>
                </a:r>
                <a14:m>
                  <m:oMath xmlns:m="http://schemas.openxmlformats.org/officeDocument/2006/math">
                    <m:func>
                      <m:func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1400">
                                <a:solidFill>
                                  <a:schemeClr val="accent2"/>
                                </a:solidFill>
                                <a:latin typeface="Cambria Math" panose="02040503050406030204" pitchFamily="18" charset="0"/>
                                <a:ea typeface="楷体_GB2312"/>
                                <a:cs typeface="Times New Roman" panose="02020603050405020304" pitchFamily="18" charset="0"/>
                              </a:rPr>
                              <m:t>min</m:t>
                            </m:r>
                          </m:e>
                          <m:lim>
                            <m:r>
                              <a:rPr lang="en-US" altLang="zh-CN" sz="1400" i="1">
                                <a:solidFill>
                                  <a:schemeClr val="accent2"/>
                                </a:solidFill>
                                <a:latin typeface="Cambria Math" panose="02040503050406030204" pitchFamily="18" charset="0"/>
                                <a:ea typeface="楷体_GB2312"/>
                                <a:cs typeface="Times New Roman" panose="02020603050405020304" pitchFamily="18" charset="0"/>
                              </a:rPr>
                              <m:t> </m:t>
                            </m:r>
                          </m:lim>
                        </m:limLow>
                      </m:fName>
                      <m:e>
                        <m:r>
                          <a:rPr lang="en-US" altLang="zh-CN" sz="1400">
                            <a:solidFill>
                              <a:schemeClr val="accent2"/>
                            </a:solidFill>
                            <a:latin typeface="Cambria Math" panose="02040503050406030204" pitchFamily="18" charset="0"/>
                            <a:ea typeface="楷体_GB2312"/>
                            <a:cs typeface="Times New Roman" panose="02020603050405020304" pitchFamily="18" charset="0"/>
                          </a:rPr>
                          <m:t>(</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𝐾</m:t>
                        </m:r>
                        <m:r>
                          <a:rPr lang="en-US" altLang="zh-CN" sz="1400" i="1">
                            <a:solidFill>
                              <a:schemeClr val="accent2"/>
                            </a:solidFill>
                            <a:latin typeface="Cambria Math" panose="02040503050406030204" pitchFamily="18" charset="0"/>
                            <a:ea typeface="楷体_GB2312"/>
                            <a:cs typeface="Times New Roman" panose="02020603050405020304" pitchFamily="18" charset="0"/>
                          </a:rPr>
                          <m:t>−1,</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𝑑</m:t>
                        </m:r>
                        <m:r>
                          <a:rPr lang="en-US" altLang="zh-CN" sz="1400">
                            <a:solidFill>
                              <a:schemeClr val="accent2"/>
                            </a:solidFill>
                            <a:latin typeface="Cambria Math" panose="02040503050406030204" pitchFamily="18" charset="0"/>
                            <a:ea typeface="楷体_GB2312"/>
                            <a:cs typeface="Times New Roman" panose="02020603050405020304" pitchFamily="18" charset="0"/>
                          </a:rPr>
                          <m:t>)</m:t>
                        </m:r>
                      </m:e>
                    </m:func>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。这也说明了在二分类问题中，原始高维数据只能被投影到一维空间中（无论其原始维度是多少）</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9" name="矩形 8">
                <a:extLst>
                  <a:ext uri="{FF2B5EF4-FFF2-40B4-BE49-F238E27FC236}">
                    <a16:creationId xmlns:a16="http://schemas.microsoft.com/office/drawing/2014/main" id="{6DD0BBD0-7E4D-4E35-8ED9-E253206047FF}"/>
                  </a:ext>
                </a:extLst>
              </p:cNvPr>
              <p:cNvSpPr>
                <a:spLocks noRot="1" noChangeAspect="1" noMove="1" noResize="1" noEditPoints="1" noAdjustHandles="1" noChangeArrowheads="1" noChangeShapeType="1" noTextEdit="1"/>
              </p:cNvSpPr>
              <p:nvPr/>
            </p:nvSpPr>
            <p:spPr>
              <a:xfrm>
                <a:off x="5635557" y="2016832"/>
                <a:ext cx="6096000" cy="4048801"/>
              </a:xfrm>
              <a:prstGeom prst="rect">
                <a:avLst/>
              </a:prstGeom>
              <a:blipFill>
                <a:blip r:embed="rId4"/>
                <a:stretch>
                  <a:fillRect l="-300" r="-3300" b="-6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51811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sp>
        <p:nvSpPr>
          <p:cNvPr id="6" name="矩形 5">
            <a:extLst>
              <a:ext uri="{FF2B5EF4-FFF2-40B4-BE49-F238E27FC236}">
                <a16:creationId xmlns:a16="http://schemas.microsoft.com/office/drawing/2014/main" id="{6338DB0B-8ED1-491C-A5E5-95A292C9A393}"/>
              </a:ext>
            </a:extLst>
          </p:cNvPr>
          <p:cNvSpPr/>
          <p:nvPr/>
        </p:nvSpPr>
        <p:spPr>
          <a:xfrm>
            <a:off x="486383" y="1738716"/>
            <a:ext cx="11452697" cy="4194738"/>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主成分分析（</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principal component analysis</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）是一种特征降维方法，在消除数据噪声、冗余等方面具有广泛应用。主成分分析也被称为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变换（</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Karhunen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Loève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transform, KLT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）、霍林特变换（</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Hotelling</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transform</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）或者本征正交分解（</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proper orthogonal decomposition, POD</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）等。</a:t>
            </a:r>
          </a:p>
          <a:p>
            <a:pPr marL="285750" indent="-285750" algn="just">
              <a:lnSpc>
                <a:spcPct val="150000"/>
              </a:lnSpc>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顾名思义，主成分分析即通过分析找到数据特征的主要成分，使用这些主要成分来代替原始数据。这样一方面可以加深对数据本身的理解（认识到数据的主要成分）；另一方面，简化后的数据（主要成分）在用于下游的其他任务时，有着噪声少、易于处理计算的特点。 这种使用主要成分而不是全部数据的思想也与“如无必要，勿增实体”的奥卡姆剃刀原则相符，体现了“简单有效原理”。</a:t>
            </a:r>
          </a:p>
          <a:p>
            <a:pPr marL="285750" indent="-285750" algn="just">
              <a:lnSpc>
                <a:spcPct val="150000"/>
              </a:lnSpc>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主成分分析要求“降维后的结果要保持原始数据的原有结构”，例如，对于图像数据，要求保持视觉对象区域构成的空间分布；对于文本数据，要求保持单词之间的（共现）相似或不相似的特性。更准确地说，主成分分析要求最大限度保持原始高维数据的总体方差结构。</a:t>
            </a:r>
          </a:p>
        </p:txBody>
      </p:sp>
    </p:spTree>
    <p:extLst>
      <p:ext uri="{BB962C8B-B14F-4D97-AF65-F5344CB8AC3E}">
        <p14:creationId xmlns:p14="http://schemas.microsoft.com/office/powerpoint/2010/main" val="31351026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pic>
        <p:nvPicPr>
          <p:cNvPr id="7" name="图片 6">
            <a:extLst>
              <a:ext uri="{FF2B5EF4-FFF2-40B4-BE49-F238E27FC236}">
                <a16:creationId xmlns:a16="http://schemas.microsoft.com/office/drawing/2014/main" id="{1945BA7B-337D-4F2A-B59F-14BE8228BBCE}"/>
              </a:ext>
            </a:extLst>
          </p:cNvPr>
          <p:cNvPicPr>
            <a:picLocks noChangeAspect="1"/>
          </p:cNvPicPr>
          <p:nvPr/>
        </p:nvPicPr>
        <p:blipFill>
          <a:blip r:embed="rId3"/>
          <a:stretch>
            <a:fillRect/>
          </a:stretch>
        </p:blipFill>
        <p:spPr>
          <a:xfrm>
            <a:off x="7316709" y="2489749"/>
            <a:ext cx="4708767" cy="3042046"/>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FB04668-50A1-4FF3-B463-119349B90DE6}"/>
                  </a:ext>
                </a:extLst>
              </p:cNvPr>
              <p:cNvSpPr/>
              <p:nvPr/>
            </p:nvSpPr>
            <p:spPr>
              <a:xfrm>
                <a:off x="265887" y="1586486"/>
                <a:ext cx="6828819" cy="4848571"/>
              </a:xfrm>
              <a:prstGeom prst="rect">
                <a:avLst/>
              </a:prstGeom>
            </p:spPr>
            <p:txBody>
              <a:bodyPr wrap="square">
                <a:spAutoFit/>
              </a:bodyPr>
              <a:lstStyle/>
              <a:p>
                <a:pPr indent="267970" algn="just">
                  <a:lnSpc>
                    <a:spcPts val="2200"/>
                  </a:lnSpc>
                  <a:spcAft>
                    <a:spcPts val="0"/>
                  </a:spcAft>
                </a:pPr>
                <a:r>
                  <a:rPr lang="zh-CN" altLang="zh-CN" sz="1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方差 </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方差描述了样本数据的波动程度，数值上等于各个数据与样本均值之差的平方和之平均数，假设有</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个数据，记为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r>
                      <a:rPr lang="en-US" altLang="zh-CN" sz="1600">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，那么样本方差（</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sample variance</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）即为</a:t>
                </a:r>
              </a:p>
              <a:p>
                <a:pPr algn="just">
                  <a:spcAft>
                    <a:spcPts val="0"/>
                  </a:spcAft>
                </a:pPr>
                <a14:m>
                  <m:oMathPara xmlns:m="http://schemas.openxmlformats.org/officeDocument/2006/math">
                    <m:oMathParaPr>
                      <m:jc m:val="centerGroup"/>
                    </m:oMathParaPr>
                    <m:oMath xmlns:m="http://schemas.openxmlformats.org/officeDocument/2006/math">
                      <m:r>
                        <m:rPr>
                          <m:sty m:val="p"/>
                        </m:rP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var</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e>
                      </m:d>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den>
                      </m:f>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sSup>
                            <m:sSupPr>
                              <m:ctrlPr>
                                <a:rPr lang="zh-CN" altLang="zh-CN" sz="1600"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𝑢</m:t>
                                  </m:r>
                                </m:e>
                              </m:d>
                            </m:e>
                            <m:sup>
                              <m:r>
                                <a:rPr lang="en-US" altLang="zh-CN" sz="1600" i="1" kern="100">
                                  <a:solidFill>
                                    <a:srgbClr val="000000"/>
                                  </a:solidFill>
                                  <a:latin typeface="Cambria Math" panose="02040503050406030204" pitchFamily="18" charset="0"/>
                                  <a:ea typeface="PingFang SC"/>
                                  <a:cs typeface="Times New Roman" panose="02020603050405020304" pitchFamily="18" charset="0"/>
                                </a:rPr>
                                <m:t>2</m:t>
                              </m:r>
                            </m:sup>
                          </m:sSup>
                          <m:r>
                            <a:rPr lang="en-US" altLang="zh-CN" sz="1600" i="1" kern="100">
                              <a:solidFill>
                                <a:srgbClr val="000000"/>
                              </a:solidFill>
                              <a:latin typeface="Cambria Math" panose="02040503050406030204" pitchFamily="18" charset="0"/>
                              <a:ea typeface="PingFang SC"/>
                              <a:cs typeface="Times New Roman" panose="02020603050405020304" pitchFamily="18" charset="0"/>
                            </a:rPr>
                            <m:t> </m:t>
                          </m:r>
                        </m:e>
                      </m:nary>
                      <m:r>
                        <a:rPr lang="en-US" altLang="zh-CN" sz="1600" i="1" kern="100">
                          <a:solidFill>
                            <a:srgbClr val="000000"/>
                          </a:solidFill>
                          <a:latin typeface="Cambria Math" panose="02040503050406030204" pitchFamily="18" charset="0"/>
                          <a:ea typeface="PingFang SC"/>
                          <a:cs typeface="Times New Roman" panose="02020603050405020304" pitchFamily="18" charset="0"/>
                        </a:rPr>
                        <m:t> </m:t>
                      </m:r>
                      <m:r>
                        <a:rPr lang="en-US" altLang="zh-CN" sz="1600" kern="100">
                          <a:solidFill>
                            <a:srgbClr val="000000"/>
                          </a:solidFill>
                          <a:latin typeface="Cambria Math" panose="02040503050406030204" pitchFamily="18" charset="0"/>
                          <a:ea typeface="PingFang SC"/>
                          <a:cs typeface="Times New Roman" panose="02020603050405020304" pitchFamily="18" charset="0"/>
                        </a:rPr>
                        <m:t> </m:t>
                      </m:r>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𝑢</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是样本均值，</a:t>
                </a:r>
                <a14:m>
                  <m:oMath xmlns:m="http://schemas.openxmlformats.org/officeDocument/2006/math">
                    <m: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𝑢</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den>
                    </m:f>
                    <m:nary>
                      <m:naryPr>
                        <m: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p>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sub>
                        </m:sSub>
                      </m:e>
                    </m:nary>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。上述样本方差公式里分母为</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n</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的目的是为了让对方差的估计是</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无偏估计</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(unbiased estimator)</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。其原因留为书后的习题。</a:t>
                </a:r>
              </a:p>
              <a:p>
                <a:pPr indent="267970" algn="just">
                  <a:lnSpc>
                    <a:spcPts val="2200"/>
                  </a:lnSpc>
                  <a:spcAft>
                    <a:spcPts val="0"/>
                  </a:spcAft>
                </a:pPr>
                <a:r>
                  <a:rPr lang="zh-CN" altLang="zh-CN" sz="1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协方差</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协方差衡量了两个变量之间的相关度，假设有两个变量，观察到不同时刻两个变量的取值，记为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  (</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，那么两个变量的协方差为：</a:t>
                </a:r>
              </a:p>
              <a:p>
                <a:pPr algn="just">
                  <a:spcAft>
                    <a:spcPts val="0"/>
                  </a:spcAft>
                </a:pPr>
                <a14:m>
                  <m:oMathPara xmlns:m="http://schemas.openxmlformats.org/officeDocument/2006/math">
                    <m:oMathParaPr>
                      <m:jc m:val="centerGroup"/>
                    </m:oMathParaPr>
                    <m:oMath xmlns:m="http://schemas.openxmlformats.org/officeDocument/2006/math">
                      <m:r>
                        <m:rPr>
                          <m:sty m:val="p"/>
                        </m:rP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cov</m:t>
                      </m:r>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𝑌</m:t>
                      </m:r>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den>
                      </m:f>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𝐸</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𝐸</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𝑌</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e>
                      </m:nary>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35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𝐸</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𝐸</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𝑌</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分别是</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𝑌</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的样本均值</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分别定义如下</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𝐸</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r>
                      <a:rPr lang="en-US" altLang="zh-CN" sz="1600">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den>
                    </m:f>
                    <m:r>
                      <a:rPr lang="en-US" altLang="zh-CN" sz="1600">
                        <a:solidFill>
                          <a:srgbClr val="000000"/>
                        </a:solidFill>
                        <a:latin typeface="Cambria Math" panose="02040503050406030204" pitchFamily="18" charset="0"/>
                        <a:ea typeface="楷体_GB2312"/>
                        <a:cs typeface="Times New Roman" panose="02020603050405020304" pitchFamily="18" charset="0"/>
                      </a:rPr>
                      <m:t> </m:t>
                    </m:r>
                    <m:nary>
                      <m:naryPr>
                        <m: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600">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p>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sub>
                        </m:sSub>
                      </m:e>
                    </m:nary>
                    <m:r>
                      <a:rPr lang="en-US" altLang="zh-CN" sz="1600">
                        <a:solidFill>
                          <a:srgbClr val="000000"/>
                        </a:solidFill>
                        <a:latin typeface="Cambria Math" panose="02040503050406030204" pitchFamily="18" charset="0"/>
                        <a:ea typeface="楷体_GB2312"/>
                        <a:cs typeface="Times New Roman" panose="02020603050405020304" pitchFamily="18" charset="0"/>
                      </a:rPr>
                      <m:t>, </m:t>
                    </m:r>
                    <m:r>
                      <a:rPr lang="en-US" altLang="zh-CN" sz="1600" i="1">
                        <a:solidFill>
                          <a:srgbClr val="000000"/>
                        </a:solidFill>
                        <a:latin typeface="Cambria Math" panose="02040503050406030204" pitchFamily="18" charset="0"/>
                        <a:ea typeface="楷体_GB2312"/>
                        <a:cs typeface="Times New Roman" panose="02020603050405020304" pitchFamily="18" charset="0"/>
                      </a:rPr>
                      <m:t>𝐸</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𝑌</m:t>
                    </m:r>
                    <m:r>
                      <a:rPr lang="en-US" altLang="zh-CN" sz="1600">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den>
                    </m:f>
                    <m:r>
                      <a:rPr lang="en-US" altLang="zh-CN" sz="1600">
                        <a:solidFill>
                          <a:srgbClr val="000000"/>
                        </a:solidFill>
                        <a:latin typeface="Cambria Math" panose="02040503050406030204" pitchFamily="18" charset="0"/>
                        <a:ea typeface="楷体_GB2312"/>
                        <a:cs typeface="Times New Roman" panose="02020603050405020304" pitchFamily="18" charset="0"/>
                      </a:rPr>
                      <m:t> </m:t>
                    </m:r>
                    <m:nary>
                      <m:naryPr>
                        <m: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600">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p>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sub>
                        </m:sSub>
                      </m:e>
                    </m:nary>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p:txBody>
          </p:sp>
        </mc:Choice>
        <mc:Fallback xmlns="">
          <p:sp>
            <p:nvSpPr>
              <p:cNvPr id="8" name="矩形 7">
                <a:extLst>
                  <a:ext uri="{FF2B5EF4-FFF2-40B4-BE49-F238E27FC236}">
                    <a16:creationId xmlns:a16="http://schemas.microsoft.com/office/drawing/2014/main" id="{2FB04668-50A1-4FF3-B463-119349B90DE6}"/>
                  </a:ext>
                </a:extLst>
              </p:cNvPr>
              <p:cNvSpPr>
                <a:spLocks noRot="1" noChangeAspect="1" noMove="1" noResize="1" noEditPoints="1" noAdjustHandles="1" noChangeArrowheads="1" noChangeShapeType="1" noTextEdit="1"/>
              </p:cNvSpPr>
              <p:nvPr/>
            </p:nvSpPr>
            <p:spPr>
              <a:xfrm>
                <a:off x="265887" y="1586486"/>
                <a:ext cx="6828819" cy="4848571"/>
              </a:xfrm>
              <a:prstGeom prst="rect">
                <a:avLst/>
              </a:prstGeom>
              <a:blipFill>
                <a:blip r:embed="rId4"/>
                <a:stretch>
                  <a:fillRect l="-1518" t="-377" r="-446" b="-99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54364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F39DC59-12B6-49EF-9B7C-734ED3E7185B}"/>
                  </a:ext>
                </a:extLst>
              </p:cNvPr>
              <p:cNvSpPr/>
              <p:nvPr/>
            </p:nvSpPr>
            <p:spPr>
              <a:xfrm>
                <a:off x="457201" y="1611108"/>
                <a:ext cx="11190052" cy="4508222"/>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由于协方差会受到变量取值尺度的影响，可以通过皮尔逊相关系数（</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Pearson Correlation coefficient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）将两组变量之间的关联度规整到一定的取值范围内。皮尔逊相关系数定义如下：</a:t>
                </a:r>
              </a:p>
              <a:p>
                <a:pPr algn="just">
                  <a:spcAft>
                    <a:spcPts val="0"/>
                  </a:spcAft>
                </a:pPr>
                <a14:m>
                  <m:oMathPara xmlns:m="http://schemas.openxmlformats.org/officeDocument/2006/math">
                    <m:oMathParaPr>
                      <m:jc m:val="centerGroup"/>
                    </m:oMathParaPr>
                    <m:oMath xmlns:m="http://schemas.openxmlformats.org/officeDocument/2006/math">
                      <m:r>
                        <m:rPr>
                          <m:sty m:val="p"/>
                        </m:rP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corr</m:t>
                      </m:r>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𝑌</m:t>
                      </m:r>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Cov</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𝑌</m:t>
                              </m:r>
                            </m:e>
                          </m:d>
                        </m:num>
                        <m:den>
                          <m:rad>
                            <m:radPr>
                              <m:degHide m:val="on"/>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Var</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e>
                                  </m:d>
                                  <m:r>
                                    <m:rPr>
                                      <m:sty m:val="p"/>
                                    </m:rP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Var</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𝑌</m:t>
                                      </m:r>
                                    </m:e>
                                  </m:d>
                                </m:e>
                              </m:d>
                            </m:e>
                          </m:rad>
                        </m:den>
                      </m:f>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Cov</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𝑌</m:t>
                              </m:r>
                            </m:e>
                          </m:d>
                        </m:num>
                        <m:den>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𝜎</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𝜎</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sub>
                          </m:sSub>
                        </m:den>
                      </m:f>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𝜎</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sub>
                    </m:sSub>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𝜎</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sub>
                    </m:sSub>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𝑌</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的标准差。皮尔逊相关系数所具有的性质如下：</a:t>
                </a:r>
              </a:p>
              <a:p>
                <a:pPr algn="just">
                  <a:spcAft>
                    <a:spcPts val="0"/>
                  </a:spcAft>
                </a:pPr>
                <a14:m>
                  <m:oMathPara xmlns:m="http://schemas.openxmlformats.org/officeDocument/2006/math">
                    <m:oMathParaPr>
                      <m:jc m:val="centerGroup"/>
                    </m:oMathParaPr>
                    <m:oMath xmlns:m="http://schemas.openxmlformats.org/officeDocument/2006/math">
                      <m:r>
                        <a:rPr lang="en-US" altLang="zh-CN" sz="1600" kern="100">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corr</m:t>
                      </m:r>
                      <m:r>
                        <a:rPr lang="en-US" altLang="zh-CN" sz="1600"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kern="100">
                          <a:latin typeface="Cambria Math" panose="02040503050406030204" pitchFamily="18" charset="0"/>
                          <a:ea typeface="等线" panose="02010600030101010101" pitchFamily="2" charset="-122"/>
                          <a:cs typeface="Times New Roman" panose="02020603050405020304" pitchFamily="18" charset="0"/>
                        </a:rPr>
                        <m:t>)|≤1</m:t>
                      </m:r>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14:m>
                  <m:oMath xmlns:m="http://schemas.openxmlformats.org/officeDocument/2006/math">
                    <m:r>
                      <m:rPr>
                        <m:sty m:val="p"/>
                      </m:rPr>
                      <a:rPr lang="en-US" altLang="zh-CN" sz="1600" smtClea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corr</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a:solidFill>
                          <a:schemeClr val="accent2"/>
                        </a:solidFill>
                        <a:latin typeface="Cambria Math" panose="02040503050406030204" pitchFamily="18" charset="0"/>
                        <a:ea typeface="楷体_GB2312"/>
                        <a:cs typeface="Times New Roman" panose="02020603050405020304" pitchFamily="18" charset="0"/>
                      </a:rPr>
                      <m:t>)=1</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的充要条件是存在常数</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𝑎</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𝑏</m:t>
                    </m:r>
                  </m:oMath>
                </a14:m>
                <a:r>
                  <a:rPr lang="en-US"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使得</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𝑎𝑋</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𝑏</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，在上面的案例中，可以计算得</a:t>
                </a:r>
                <a14:m>
                  <m:oMath xmlns:m="http://schemas.openxmlformats.org/officeDocument/2006/math">
                    <m:r>
                      <m:rPr>
                        <m:sty m:val="p"/>
                      </m:rPr>
                      <a:rPr lang="en-US" altLang="zh-CN" sz="16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corr</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𝑌</m:t>
                        </m:r>
                      </m:e>
                    </m:d>
                    <m:r>
                      <a:rPr lang="en-US" altLang="zh-CN" sz="1600">
                        <a:solidFill>
                          <a:schemeClr val="accent2"/>
                        </a:solidFill>
                        <a:latin typeface="Cambria Math" panose="02040503050406030204" pitchFamily="18" charset="0"/>
                        <a:ea typeface="楷体_GB2312"/>
                        <a:cs typeface="Times New Roman" panose="02020603050405020304" pitchFamily="18" charset="0"/>
                      </a:rPr>
                      <m:t>=1.0</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，同时可以找到常数</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𝑎</m:t>
                    </m:r>
                    <m:r>
                      <a:rPr lang="en-US" altLang="zh-CN" sz="1600">
                        <a:solidFill>
                          <a:schemeClr val="accent2"/>
                        </a:solidFill>
                        <a:latin typeface="Cambria Math" panose="02040503050406030204" pitchFamily="18" charset="0"/>
                        <a:ea typeface="楷体_GB2312"/>
                        <a:cs typeface="Times New Roman" panose="02020603050405020304" pitchFamily="18" charset="0"/>
                      </a:rPr>
                      <m:t>=2</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𝑏</m:t>
                    </m:r>
                    <m:r>
                      <a:rPr lang="en-US" altLang="zh-CN" sz="16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=5</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，即</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𝑌</m:t>
                    </m:r>
                    <m:r>
                      <a:rPr lang="en-US" altLang="zh-CN" sz="1600" i="1">
                        <a:solidFill>
                          <a:schemeClr val="accent2"/>
                        </a:solidFill>
                        <a:latin typeface="Cambria Math" panose="02040503050406030204" pitchFamily="18" charset="0"/>
                        <a:ea typeface="楷体_GB2312"/>
                        <a:cs typeface="Times New Roman" panose="02020603050405020304" pitchFamily="18" charset="0"/>
                      </a:rPr>
                      <m:t>=2</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𝑋</m:t>
                    </m:r>
                    <m:r>
                      <a:rPr lang="en-US" altLang="zh-CN" sz="1600" i="1">
                        <a:solidFill>
                          <a:schemeClr val="accent2"/>
                        </a:solidFill>
                        <a:latin typeface="Cambria Math" panose="02040503050406030204" pitchFamily="18" charset="0"/>
                        <a:ea typeface="楷体_GB2312"/>
                        <a:cs typeface="Times New Roman" panose="02020603050405020304" pitchFamily="18" charset="0"/>
                      </a:rPr>
                      <m:t>+5</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完全拟合上面的数据。</a:t>
                </a: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皮尔逊相关系数是对称的，即</a:t>
                </a:r>
                <a14:m>
                  <m:oMath xmlns:m="http://schemas.openxmlformats.org/officeDocument/2006/math">
                    <m:r>
                      <m:rPr>
                        <m:sty m:val="p"/>
                      </m:rPr>
                      <a:rPr lang="en-US" altLang="zh-CN" sz="16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corr</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corr</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由此衍生出如下性质：皮尔逊相关系数刻画了变量</a:t>
                </a:r>
                <a14:m>
                  <m:oMath xmlns:m="http://schemas.openxmlformats.org/officeDocument/2006/math">
                    <m:r>
                      <m:rPr>
                        <m:sty m:val="p"/>
                      </m:rPr>
                      <a:rPr lang="en-US" altLang="zh-CN" sz="16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X</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m:rPr>
                        <m:sty m:val="p"/>
                      </m:rPr>
                      <a:rPr lang="en-US" altLang="zh-CN" sz="16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Y</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之间线性相关程度，如果</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corr</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的取值越大，则两者在线性相关的意义下相关程度越大。</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corr</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表示两者不存在线性相关关系（可能存在其他非线性相关的关系）。</a:t>
                </a:r>
              </a:p>
              <a:p>
                <a:pPr indent="266700" algn="just">
                  <a:lnSpc>
                    <a:spcPts val="2200"/>
                  </a:lnSpc>
                  <a:spcAft>
                    <a:spcPts val="0"/>
                  </a:spcAft>
                </a:pP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正线性相关意味着变量</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𝑋</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增加的情况下，变量</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𝑌</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也随之增加；负线性相关意味着变量</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𝑋</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减少的情况下，变量</a:t>
                </a:r>
                <a14:m>
                  <m:oMath xmlns:m="http://schemas.openxmlformats.org/officeDocument/2006/math">
                    <m:r>
                      <a:rPr lang="en-US"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𝑌</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随之增加。</a:t>
                </a: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注意，线性无关与之前学习过的另外一个概念</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独立</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不同，线性无关是一个比独立要弱的概念，即两个变量独立一定线性无关，即</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corr</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，但是两个线性无关的变量不一定独立（</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可能存在其他复杂的关联关系</a:t>
                </a:r>
                <a:r>
                  <a:rPr lang="zh-CN" altLang="en-US"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，比如非线性依赖关系</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）。独立指两个变量彼此之间不相互影响。</a:t>
                </a:r>
              </a:p>
            </p:txBody>
          </p:sp>
        </mc:Choice>
        <mc:Fallback xmlns="">
          <p:sp>
            <p:nvSpPr>
              <p:cNvPr id="6" name="矩形 5">
                <a:extLst>
                  <a:ext uri="{FF2B5EF4-FFF2-40B4-BE49-F238E27FC236}">
                    <a16:creationId xmlns:a16="http://schemas.microsoft.com/office/drawing/2014/main" id="{3F39DC59-12B6-49EF-9B7C-734ED3E7185B}"/>
                  </a:ext>
                </a:extLst>
              </p:cNvPr>
              <p:cNvSpPr>
                <a:spLocks noRot="1" noChangeAspect="1" noMove="1" noResize="1" noEditPoints="1" noAdjustHandles="1" noChangeArrowheads="1" noChangeShapeType="1" noTextEdit="1"/>
              </p:cNvSpPr>
              <p:nvPr/>
            </p:nvSpPr>
            <p:spPr>
              <a:xfrm>
                <a:off x="457201" y="1611108"/>
                <a:ext cx="11190052" cy="4508222"/>
              </a:xfrm>
              <a:prstGeom prst="rect">
                <a:avLst/>
              </a:prstGeom>
              <a:blipFill>
                <a:blip r:embed="rId3"/>
                <a:stretch>
                  <a:fillRect l="-272" t="-405" r="-201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FE59EA94-3706-F009-2EE2-3EB6B27B8D9A}"/>
              </a:ext>
            </a:extLst>
          </p:cNvPr>
          <p:cNvSpPr txBox="1"/>
          <p:nvPr/>
        </p:nvSpPr>
        <p:spPr>
          <a:xfrm>
            <a:off x="4527004" y="5884908"/>
            <a:ext cx="2801294" cy="369332"/>
          </a:xfrm>
          <a:prstGeom prst="rect">
            <a:avLst/>
          </a:prstGeom>
          <a:noFill/>
        </p:spPr>
        <p:txBody>
          <a:bodyPr wrap="square">
            <a:spAutoFit/>
          </a:bodyPr>
          <a:lstStyle/>
          <a:p>
            <a:r>
              <a:rPr lang="zh-CN" altLang="zh-CN" sz="1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变量独立</a:t>
            </a:r>
            <a:r>
              <a:rPr lang="zh-CN" altLang="en-US" sz="1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0" i="1" dirty="0">
                <a:effectLst/>
                <a:latin typeface="KaTeX_Math"/>
              </a:rPr>
              <a:t>P</a:t>
            </a:r>
            <a:r>
              <a:rPr lang="en-US" altLang="zh-CN" b="0" i="0" dirty="0">
                <a:effectLst/>
                <a:latin typeface="KaTeX_Main"/>
              </a:rPr>
              <a:t>(</a:t>
            </a:r>
            <a:r>
              <a:rPr lang="en-US" altLang="zh-CN" b="0" i="1" dirty="0">
                <a:effectLst/>
                <a:latin typeface="KaTeX_Math"/>
              </a:rPr>
              <a:t>X</a:t>
            </a:r>
            <a:r>
              <a:rPr lang="en-US" altLang="zh-CN" b="0" i="0" dirty="0">
                <a:effectLst/>
                <a:latin typeface="KaTeX_Main"/>
              </a:rPr>
              <a:t>,</a:t>
            </a:r>
            <a:r>
              <a:rPr lang="en-US" altLang="zh-CN" b="0" i="1" dirty="0">
                <a:effectLst/>
                <a:latin typeface="KaTeX_Math"/>
              </a:rPr>
              <a:t>Y</a:t>
            </a:r>
            <a:r>
              <a:rPr lang="en-US" altLang="zh-CN" b="0" i="0" dirty="0">
                <a:effectLst/>
                <a:latin typeface="KaTeX_Main"/>
              </a:rPr>
              <a:t>)=</a:t>
            </a:r>
            <a:r>
              <a:rPr lang="en-US" altLang="zh-CN" b="0" i="1" dirty="0">
                <a:effectLst/>
                <a:latin typeface="KaTeX_Math"/>
              </a:rPr>
              <a:t>P</a:t>
            </a:r>
            <a:r>
              <a:rPr lang="en-US" altLang="zh-CN" b="0" i="0" dirty="0">
                <a:effectLst/>
                <a:latin typeface="KaTeX_Main"/>
              </a:rPr>
              <a:t>(</a:t>
            </a:r>
            <a:r>
              <a:rPr lang="en-US" altLang="zh-CN" b="0" i="1" dirty="0">
                <a:effectLst/>
                <a:latin typeface="KaTeX_Math"/>
              </a:rPr>
              <a:t>X</a:t>
            </a:r>
            <a:r>
              <a:rPr lang="en-US" altLang="zh-CN" b="0" i="0" dirty="0">
                <a:effectLst/>
                <a:latin typeface="KaTeX_Main"/>
              </a:rPr>
              <a:t>)</a:t>
            </a:r>
            <a:r>
              <a:rPr lang="en-US" altLang="zh-CN" b="0" i="1" dirty="0">
                <a:effectLst/>
                <a:latin typeface="KaTeX_Math"/>
              </a:rPr>
              <a:t>P</a:t>
            </a:r>
            <a:r>
              <a:rPr lang="en-US" altLang="zh-CN" b="0" i="0" dirty="0">
                <a:effectLst/>
                <a:latin typeface="KaTeX_Main"/>
              </a:rPr>
              <a:t>(</a:t>
            </a:r>
            <a:r>
              <a:rPr lang="en-US" altLang="zh-CN" b="0" i="1" dirty="0">
                <a:effectLst/>
                <a:latin typeface="KaTeX_Math"/>
              </a:rPr>
              <a:t>Y</a:t>
            </a:r>
            <a:r>
              <a:rPr lang="en-US" altLang="zh-CN" b="0" i="0" dirty="0">
                <a:effectLst/>
                <a:latin typeface="KaTeX_Main"/>
              </a:rPr>
              <a:t>)</a:t>
            </a:r>
            <a:endParaRPr lang="zh-CN" altLang="en-US" dirty="0"/>
          </a:p>
        </p:txBody>
      </p:sp>
    </p:spTree>
    <p:extLst>
      <p:ext uri="{BB962C8B-B14F-4D97-AF65-F5344CB8AC3E}">
        <p14:creationId xmlns:p14="http://schemas.microsoft.com/office/powerpoint/2010/main" val="9874837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pic>
        <p:nvPicPr>
          <p:cNvPr id="7" name="图片 6">
            <a:extLst>
              <a:ext uri="{FF2B5EF4-FFF2-40B4-BE49-F238E27FC236}">
                <a16:creationId xmlns:a16="http://schemas.microsoft.com/office/drawing/2014/main" id="{91B2A237-990B-4C28-A763-A7E13E9D0F38}"/>
              </a:ext>
            </a:extLst>
          </p:cNvPr>
          <p:cNvPicPr>
            <a:picLocks noChangeAspect="1"/>
          </p:cNvPicPr>
          <p:nvPr/>
        </p:nvPicPr>
        <p:blipFill>
          <a:blip r:embed="rId3"/>
          <a:stretch>
            <a:fillRect/>
          </a:stretch>
        </p:blipFill>
        <p:spPr>
          <a:xfrm>
            <a:off x="6472400" y="2774601"/>
            <a:ext cx="4364213" cy="2497789"/>
          </a:xfrm>
          <a:prstGeom prst="rect">
            <a:avLst/>
          </a:prstGeom>
        </p:spPr>
      </p:pic>
      <p:sp>
        <p:nvSpPr>
          <p:cNvPr id="8" name="矩形 7">
            <a:extLst>
              <a:ext uri="{FF2B5EF4-FFF2-40B4-BE49-F238E27FC236}">
                <a16:creationId xmlns:a16="http://schemas.microsoft.com/office/drawing/2014/main" id="{2C97C987-D82D-44C8-8944-0F62E94C5B5A}"/>
              </a:ext>
            </a:extLst>
          </p:cNvPr>
          <p:cNvSpPr/>
          <p:nvPr/>
        </p:nvSpPr>
        <p:spPr>
          <a:xfrm>
            <a:off x="441251" y="2584263"/>
            <a:ext cx="5343201" cy="2541658"/>
          </a:xfrm>
          <a:prstGeom prst="rect">
            <a:avLst/>
          </a:prstGeom>
        </p:spPr>
        <p:txBody>
          <a:bodyPr wrap="square">
            <a:spAutoFit/>
          </a:bodyPr>
          <a:lstStyle/>
          <a:p>
            <a:pPr>
              <a:lnSpc>
                <a:spcPct val="150000"/>
              </a:lnSpc>
            </a:pPr>
            <a:r>
              <a:rPr lang="zh-CN" altLang="zh-CN" dirty="0">
                <a:latin typeface="Times New Roman" panose="02020603050405020304" pitchFamily="18" charset="0"/>
                <a:ea typeface="等线" panose="02010600030101010101" pitchFamily="2" charset="-122"/>
                <a:cs typeface="Times New Roman" panose="02020603050405020304" pitchFamily="18" charset="0"/>
              </a:rPr>
              <a:t>降维需要尽可能将数据向方差最大的方向进行投影，使得数据所蕴含的信息丢失得尽可能少。如图</a:t>
            </a:r>
            <a:r>
              <a:rPr lang="en-US" altLang="zh-CN" dirty="0">
                <a:latin typeface="Times New Roman" panose="02020603050405020304" pitchFamily="18" charset="0"/>
                <a:ea typeface="等线" panose="02010600030101010101" pitchFamily="2" charset="-122"/>
                <a:cs typeface="Times New Roman" panose="02020603050405020304" pitchFamily="18" charset="0"/>
              </a:rPr>
              <a:t>4.5</a:t>
            </a:r>
            <a:r>
              <a:rPr lang="zh-CN" altLang="zh-CN" dirty="0">
                <a:latin typeface="Times New Roman" panose="02020603050405020304" pitchFamily="18" charset="0"/>
                <a:ea typeface="等线" panose="02010600030101010101" pitchFamily="2" charset="-122"/>
                <a:cs typeface="Times New Roman" panose="02020603050405020304" pitchFamily="18" charset="0"/>
              </a:rPr>
              <a:t>左图所示，向</a:t>
            </a:r>
            <a:r>
              <a:rPr lang="en-US" altLang="zh-CN" dirty="0">
                <a:latin typeface="Times New Roman" panose="02020603050405020304" pitchFamily="18" charset="0"/>
                <a:ea typeface="Cambria Math" panose="02040503050406030204" pitchFamily="18" charset="0"/>
                <a:cs typeface="Times New Roman" panose="02020603050405020304" pitchFamily="18" charset="0"/>
              </a:rPr>
              <a:t>𝑦</a:t>
            </a:r>
            <a:r>
              <a:rPr lang="zh-CN" altLang="zh-CN" dirty="0">
                <a:latin typeface="Times New Roman" panose="02020603050405020304" pitchFamily="18" charset="0"/>
                <a:ea typeface="等线" panose="02010600030101010101" pitchFamily="2" charset="-122"/>
                <a:cs typeface="Times New Roman" panose="02020603050405020304" pitchFamily="18" charset="0"/>
              </a:rPr>
              <a:t>方向投影（使得二维数据映射为一维）就比向</a:t>
            </a:r>
            <a:r>
              <a:rPr lang="en-US" altLang="zh-CN" dirty="0">
                <a:latin typeface="Times New Roman" panose="02020603050405020304" pitchFamily="18" charset="0"/>
                <a:ea typeface="Cambria Math" panose="02040503050406030204" pitchFamily="18" charset="0"/>
                <a:cs typeface="Times New Roman" panose="02020603050405020304" pitchFamily="18" charset="0"/>
              </a:rPr>
              <a:t>𝑥</a:t>
            </a:r>
            <a:r>
              <a:rPr lang="zh-CN" altLang="zh-CN" dirty="0">
                <a:latin typeface="Times New Roman" panose="02020603050405020304" pitchFamily="18" charset="0"/>
                <a:ea typeface="等线" panose="02010600030101010101" pitchFamily="2" charset="-122"/>
                <a:cs typeface="Times New Roman" panose="02020603050405020304" pitchFamily="18" charset="0"/>
              </a:rPr>
              <a:t>方向投影结果在降维这个意义上而言要好；图</a:t>
            </a:r>
            <a:r>
              <a:rPr lang="en-US" altLang="zh-CN" dirty="0">
                <a:latin typeface="Times New Roman" panose="02020603050405020304" pitchFamily="18" charset="0"/>
                <a:ea typeface="等线" panose="02010600030101010101" pitchFamily="2" charset="-122"/>
                <a:cs typeface="Times New Roman" panose="02020603050405020304" pitchFamily="18" charset="0"/>
              </a:rPr>
              <a:t>4.5</a:t>
            </a:r>
            <a:r>
              <a:rPr lang="zh-CN" altLang="zh-CN" dirty="0">
                <a:latin typeface="Times New Roman" panose="02020603050405020304" pitchFamily="18" charset="0"/>
                <a:ea typeface="等线" panose="02010600030101010101" pitchFamily="2" charset="-122"/>
                <a:cs typeface="Times New Roman" panose="02020603050405020304" pitchFamily="18" charset="0"/>
              </a:rPr>
              <a:t>右图则是黄线方向投影要好。这样的投影结果更好的保留了未降维前数据的离散程度。</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72784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F28FD6A-5F9B-4C4E-BB56-37741EEFB541}"/>
                  </a:ext>
                </a:extLst>
              </p:cNvPr>
              <p:cNvSpPr/>
              <p:nvPr/>
            </p:nvSpPr>
            <p:spPr>
              <a:xfrm>
                <a:off x="1519314" y="2365279"/>
                <a:ext cx="9395119" cy="2229841"/>
              </a:xfrm>
              <a:prstGeom prst="rect">
                <a:avLst/>
              </a:prstGeom>
            </p:spPr>
            <p:txBody>
              <a:bodyPr wrap="square">
                <a:spAutoFit/>
              </a:bodyPr>
              <a:lstStyle/>
              <a:p>
                <a:pPr>
                  <a:lnSpc>
                    <a:spcPct val="200000"/>
                  </a:lnSpc>
                </a:pPr>
                <a:r>
                  <a:rPr lang="zh-CN" altLang="zh-CN" dirty="0">
                    <a:latin typeface="Times New Roman" panose="02020603050405020304" pitchFamily="18" charset="0"/>
                    <a:ea typeface="等线" panose="02010600030101010101" pitchFamily="2" charset="-122"/>
                    <a:cs typeface="Times New Roman" panose="02020603050405020304" pitchFamily="18" charset="0"/>
                  </a:rPr>
                  <a:t>主成分分析（</a:t>
                </a:r>
                <a:r>
                  <a:rPr lang="en-US" altLang="zh-CN" dirty="0">
                    <a:latin typeface="Times New Roman" panose="02020603050405020304" pitchFamily="18" charset="0"/>
                    <a:ea typeface="等线" panose="02010600030101010101" pitchFamily="2" charset="-122"/>
                    <a:cs typeface="Times New Roman" panose="02020603050405020304" pitchFamily="18" charset="0"/>
                  </a:rPr>
                  <a:t>Principle Component Analysis</a:t>
                </a:r>
                <a:r>
                  <a:rPr lang="zh-CN" altLang="zh-CN" dirty="0">
                    <a:latin typeface="Times New Roman" panose="02020603050405020304" pitchFamily="18" charset="0"/>
                    <a:ea typeface="等线" panose="02010600030101010101" pitchFamily="2" charset="-122"/>
                    <a:cs typeface="Times New Roman" panose="02020603050405020304" pitchFamily="18" charset="0"/>
                  </a:rPr>
                  <a:t>）的思想是将</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𝑑</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维特征数据映射到</a:t>
                </a:r>
                <a:r>
                  <a:rPr lang="en-US" altLang="zh-CN" dirty="0">
                    <a:latin typeface="Times New Roman" panose="02020603050405020304" pitchFamily="18" charset="0"/>
                    <a:ea typeface="Cambria Math" panose="02040503050406030204" pitchFamily="18" charset="0"/>
                    <a:cs typeface="Times New Roman" panose="02020603050405020304" pitchFamily="18" charset="0"/>
                  </a:rPr>
                  <a:t>𝑙</a:t>
                </a:r>
                <a:r>
                  <a:rPr lang="zh-CN" altLang="zh-CN" dirty="0">
                    <a:latin typeface="Times New Roman" panose="02020603050405020304" pitchFamily="18" charset="0"/>
                    <a:ea typeface="等线" panose="02010600030101010101" pitchFamily="2" charset="-122"/>
                    <a:cs typeface="Times New Roman" panose="02020603050405020304" pitchFamily="18" charset="0"/>
                  </a:rPr>
                  <a:t>维空间（一般</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𝑑</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𝑙</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去除原始数据之间的冗余性（通过去除相关性手段达到这一目的）。将原始数据向这些数据方差最大的方向进行投影。一旦发现了方差最大的投影方向，则继续寻找保持方差第二的方向且进行投影。其目标是使得数据每一维的方差都尽可能大。</a:t>
                </a:r>
                <a:endParaRPr lang="zh-CN" altLang="en-US" dirty="0">
                  <a:latin typeface="Times New Roman" panose="02020603050405020304" pitchFamily="18" charset="0"/>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FF28FD6A-5F9B-4C4E-BB56-37741EEFB541}"/>
                  </a:ext>
                </a:extLst>
              </p:cNvPr>
              <p:cNvSpPr>
                <a:spLocks noRot="1" noChangeAspect="1" noMove="1" noResize="1" noEditPoints="1" noAdjustHandles="1" noChangeArrowheads="1" noChangeShapeType="1" noTextEdit="1"/>
              </p:cNvSpPr>
              <p:nvPr/>
            </p:nvSpPr>
            <p:spPr>
              <a:xfrm>
                <a:off x="1519314" y="2365279"/>
                <a:ext cx="9395119" cy="2229841"/>
              </a:xfrm>
              <a:prstGeom prst="rect">
                <a:avLst/>
              </a:prstGeom>
              <a:blipFill>
                <a:blip r:embed="rId3"/>
                <a:stretch>
                  <a:fillRect l="-519" r="-65" b="-35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46445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grpSp>
        <p:nvGrpSpPr>
          <p:cNvPr id="10" name="组合 9">
            <a:extLst>
              <a:ext uri="{FF2B5EF4-FFF2-40B4-BE49-F238E27FC236}">
                <a16:creationId xmlns:a16="http://schemas.microsoft.com/office/drawing/2014/main" id="{F1532D6F-DBD6-484D-B45D-3F583F67EE19}"/>
              </a:ext>
            </a:extLst>
          </p:cNvPr>
          <p:cNvGrpSpPr/>
          <p:nvPr/>
        </p:nvGrpSpPr>
        <p:grpSpPr>
          <a:xfrm>
            <a:off x="1211482" y="2044599"/>
            <a:ext cx="9862734" cy="3775269"/>
            <a:chOff x="1211482" y="2044599"/>
            <a:chExt cx="9862734" cy="3775269"/>
          </a:xfrm>
        </p:grpSpPr>
        <p:pic>
          <p:nvPicPr>
            <p:cNvPr id="7" name="图片 6">
              <a:extLst>
                <a:ext uri="{FF2B5EF4-FFF2-40B4-BE49-F238E27FC236}">
                  <a16:creationId xmlns:a16="http://schemas.microsoft.com/office/drawing/2014/main" id="{857EDFAF-CDF9-4E9D-9E52-EEE586D22B5D}"/>
                </a:ext>
              </a:extLst>
            </p:cNvPr>
            <p:cNvPicPr>
              <a:picLocks noChangeAspect="1"/>
            </p:cNvPicPr>
            <p:nvPr/>
          </p:nvPicPr>
          <p:blipFill>
            <a:blip r:embed="rId3"/>
            <a:stretch>
              <a:fillRect/>
            </a:stretch>
          </p:blipFill>
          <p:spPr>
            <a:xfrm>
              <a:off x="1211482" y="2044599"/>
              <a:ext cx="4619862" cy="3775269"/>
            </a:xfrm>
            <a:prstGeom prst="rect">
              <a:avLst/>
            </a:prstGeom>
          </p:spPr>
        </p:pic>
        <p:pic>
          <p:nvPicPr>
            <p:cNvPr id="8" name="图片 7">
              <a:extLst>
                <a:ext uri="{FF2B5EF4-FFF2-40B4-BE49-F238E27FC236}">
                  <a16:creationId xmlns:a16="http://schemas.microsoft.com/office/drawing/2014/main" id="{AAB022FC-7341-4040-AB9D-8B8FBBF5755E}"/>
                </a:ext>
              </a:extLst>
            </p:cNvPr>
            <p:cNvPicPr>
              <a:picLocks noChangeAspect="1"/>
            </p:cNvPicPr>
            <p:nvPr/>
          </p:nvPicPr>
          <p:blipFill>
            <a:blip r:embed="rId4"/>
            <a:stretch>
              <a:fillRect/>
            </a:stretch>
          </p:blipFill>
          <p:spPr>
            <a:xfrm>
              <a:off x="6422602" y="2103264"/>
              <a:ext cx="4651614" cy="2794144"/>
            </a:xfrm>
            <a:prstGeom prst="rect">
              <a:avLst/>
            </a:prstGeom>
          </p:spPr>
        </p:pic>
        <p:pic>
          <p:nvPicPr>
            <p:cNvPr id="9" name="图片 8">
              <a:extLst>
                <a:ext uri="{FF2B5EF4-FFF2-40B4-BE49-F238E27FC236}">
                  <a16:creationId xmlns:a16="http://schemas.microsoft.com/office/drawing/2014/main" id="{564DC8EE-408F-4E56-A8A0-3D70197F43F5}"/>
                </a:ext>
              </a:extLst>
            </p:cNvPr>
            <p:cNvPicPr>
              <a:picLocks noChangeAspect="1"/>
            </p:cNvPicPr>
            <p:nvPr/>
          </p:nvPicPr>
          <p:blipFill>
            <a:blip r:embed="rId5"/>
            <a:stretch>
              <a:fillRect/>
            </a:stretch>
          </p:blipFill>
          <p:spPr>
            <a:xfrm>
              <a:off x="6422602" y="4829827"/>
              <a:ext cx="4619862" cy="920797"/>
            </a:xfrm>
            <a:prstGeom prst="rect">
              <a:avLst/>
            </a:prstGeom>
          </p:spPr>
        </p:pic>
      </p:grpSp>
      <p:sp>
        <p:nvSpPr>
          <p:cNvPr id="6" name="矩形 5">
            <a:extLst>
              <a:ext uri="{FF2B5EF4-FFF2-40B4-BE49-F238E27FC236}">
                <a16:creationId xmlns:a16="http://schemas.microsoft.com/office/drawing/2014/main" id="{BE806D6D-6C69-85F6-3AF3-DF23A532E936}"/>
              </a:ext>
            </a:extLst>
          </p:cNvPr>
          <p:cNvSpPr/>
          <p:nvPr/>
        </p:nvSpPr>
        <p:spPr>
          <a:xfrm>
            <a:off x="3616503" y="2250040"/>
            <a:ext cx="1756881" cy="236306"/>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D3A40AD6-70B1-4B56-F148-776C830E0E69}"/>
              </a:ext>
            </a:extLst>
          </p:cNvPr>
          <p:cNvSpPr/>
          <p:nvPr/>
        </p:nvSpPr>
        <p:spPr>
          <a:xfrm>
            <a:off x="8844022" y="2525729"/>
            <a:ext cx="827071" cy="196922"/>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C5E03ABE-A1A6-30E5-2935-AC8E764175C2}"/>
              </a:ext>
            </a:extLst>
          </p:cNvPr>
          <p:cNvSpPr/>
          <p:nvPr/>
        </p:nvSpPr>
        <p:spPr>
          <a:xfrm>
            <a:off x="6360658" y="3898697"/>
            <a:ext cx="4619860" cy="35454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71F5FBC-5C43-9C57-F9A5-7136D02EB683}"/>
              </a:ext>
            </a:extLst>
          </p:cNvPr>
          <p:cNvSpPr/>
          <p:nvPr/>
        </p:nvSpPr>
        <p:spPr>
          <a:xfrm>
            <a:off x="6360658" y="5092698"/>
            <a:ext cx="4619860" cy="35454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4" name="对话气泡: 矩形 13">
            <a:extLst>
              <a:ext uri="{FF2B5EF4-FFF2-40B4-BE49-F238E27FC236}">
                <a16:creationId xmlns:a16="http://schemas.microsoft.com/office/drawing/2014/main" id="{E40D7681-B24C-0217-9A71-E94DC7213D93}"/>
              </a:ext>
            </a:extLst>
          </p:cNvPr>
          <p:cNvSpPr/>
          <p:nvPr/>
        </p:nvSpPr>
        <p:spPr>
          <a:xfrm>
            <a:off x="9124950" y="1250048"/>
            <a:ext cx="2219325" cy="999992"/>
          </a:xfrm>
          <a:prstGeom prst="wedgeRectCallout">
            <a:avLst>
              <a:gd name="adj1" fmla="val -42292"/>
              <a:gd name="adj2" fmla="val 60595"/>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100" dirty="0">
                <a:solidFill>
                  <a:schemeClr val="tx1"/>
                </a:solidFill>
              </a:rPr>
              <a:t>为什么要求映射矩阵的每一行向量</a:t>
            </a:r>
            <a:r>
              <a:rPr lang="en-US" altLang="zh-CN" sz="1100" dirty="0">
                <a:solidFill>
                  <a:schemeClr val="tx1"/>
                </a:solidFill>
              </a:rPr>
              <a:t>w</a:t>
            </a:r>
            <a:r>
              <a:rPr lang="en-US" altLang="zh-CN" sz="1100" baseline="-25000" dirty="0">
                <a:solidFill>
                  <a:schemeClr val="tx1"/>
                </a:solidFill>
              </a:rPr>
              <a:t>i</a:t>
            </a:r>
            <a:r>
              <a:rPr lang="zh-CN" altLang="en-US" sz="1100" dirty="0">
                <a:solidFill>
                  <a:schemeClr val="tx1"/>
                </a:solidFill>
              </a:rPr>
              <a:t>为单位向量？</a:t>
            </a:r>
            <a:endParaRPr lang="en-US" altLang="zh-CN" sz="1100" dirty="0">
              <a:solidFill>
                <a:schemeClr val="tx1"/>
              </a:solidFill>
            </a:endParaRPr>
          </a:p>
          <a:p>
            <a:pPr algn="ctr"/>
            <a:endParaRPr lang="en-US" altLang="zh-CN" sz="1100" dirty="0">
              <a:solidFill>
                <a:schemeClr val="accent2"/>
              </a:solidFill>
            </a:endParaRPr>
          </a:p>
          <a:p>
            <a:pPr algn="ctr"/>
            <a:r>
              <a:rPr lang="zh-CN" altLang="en-US" sz="1100" b="1" i="0" dirty="0">
                <a:solidFill>
                  <a:srgbClr val="000000"/>
                </a:solidFill>
                <a:effectLst/>
                <a:latin typeface="Inter"/>
              </a:rPr>
              <a:t>消除 “长度缩放” 对 “方差计算” 的无意义影响等</a:t>
            </a:r>
          </a:p>
        </p:txBody>
      </p:sp>
      <p:sp>
        <p:nvSpPr>
          <p:cNvPr id="16" name="标注: 线形 15">
            <a:extLst>
              <a:ext uri="{FF2B5EF4-FFF2-40B4-BE49-F238E27FC236}">
                <a16:creationId xmlns:a16="http://schemas.microsoft.com/office/drawing/2014/main" id="{37603072-98E5-36C7-24F4-FBC2C1E4FDF7}"/>
              </a:ext>
            </a:extLst>
          </p:cNvPr>
          <p:cNvSpPr/>
          <p:nvPr/>
        </p:nvSpPr>
        <p:spPr>
          <a:xfrm>
            <a:off x="10058400" y="4046666"/>
            <a:ext cx="2038350" cy="479779"/>
          </a:xfrm>
          <a:prstGeom prst="borderCallout1">
            <a:avLst>
              <a:gd name="adj1" fmla="val 18750"/>
              <a:gd name="adj2" fmla="val -8333"/>
              <a:gd name="adj3" fmla="val 68824"/>
              <a:gd name="adj4" fmla="val -4683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100" dirty="0"/>
              <a:t>第二个等号成立的原因是在上式两边同时乘以</a:t>
            </a:r>
            <a:r>
              <a:rPr lang="en-US" altLang="zh-CN" sz="1100" dirty="0" err="1"/>
              <a:t>w</a:t>
            </a:r>
            <a:r>
              <a:rPr lang="en-US" altLang="zh-CN" sz="1100" baseline="-25000" dirty="0" err="1">
                <a:solidFill>
                  <a:schemeClr val="tx1"/>
                </a:solidFill>
              </a:rPr>
              <a:t>i</a:t>
            </a:r>
            <a:r>
              <a:rPr lang="en-US" altLang="zh-CN" sz="1100" baseline="30000" dirty="0" err="1"/>
              <a:t>T</a:t>
            </a:r>
            <a:r>
              <a:rPr lang="zh-CN" altLang="en-US" sz="1100" dirty="0"/>
              <a:t>，并根据</a:t>
            </a:r>
            <a:r>
              <a:rPr lang="en-US" altLang="zh-CN" sz="1100" dirty="0">
                <a:solidFill>
                  <a:schemeClr val="tx1"/>
                </a:solidFill>
              </a:rPr>
              <a:t>w</a:t>
            </a:r>
            <a:r>
              <a:rPr lang="en-US" altLang="zh-CN" sz="1100" baseline="-25000" dirty="0">
                <a:solidFill>
                  <a:schemeClr val="tx1"/>
                </a:solidFill>
              </a:rPr>
              <a:t>i</a:t>
            </a:r>
            <a:r>
              <a:rPr lang="zh-CN" altLang="en-US" sz="1100" dirty="0">
                <a:solidFill>
                  <a:schemeClr val="tx1"/>
                </a:solidFill>
              </a:rPr>
              <a:t>为单位向量的约束进行简化</a:t>
            </a:r>
          </a:p>
        </p:txBody>
      </p:sp>
    </p:spTree>
    <p:extLst>
      <p:ext uri="{BB962C8B-B14F-4D97-AF65-F5344CB8AC3E}">
        <p14:creationId xmlns:p14="http://schemas.microsoft.com/office/powerpoint/2010/main" val="9008035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pic>
        <p:nvPicPr>
          <p:cNvPr id="6" name="图片 5">
            <a:extLst>
              <a:ext uri="{FF2B5EF4-FFF2-40B4-BE49-F238E27FC236}">
                <a16:creationId xmlns:a16="http://schemas.microsoft.com/office/drawing/2014/main" id="{A8EA6CB9-34A0-4969-90B3-4837CEF92DF0}"/>
              </a:ext>
            </a:extLst>
          </p:cNvPr>
          <p:cNvPicPr>
            <a:picLocks noChangeAspect="1"/>
          </p:cNvPicPr>
          <p:nvPr/>
        </p:nvPicPr>
        <p:blipFill>
          <a:blip r:embed="rId3"/>
          <a:stretch>
            <a:fillRect/>
          </a:stretch>
        </p:blipFill>
        <p:spPr>
          <a:xfrm>
            <a:off x="1729271" y="1981461"/>
            <a:ext cx="9005262" cy="3653023"/>
          </a:xfrm>
          <a:prstGeom prst="rect">
            <a:avLst/>
          </a:prstGeom>
        </p:spPr>
      </p:pic>
    </p:spTree>
    <p:extLst>
      <p:ext uri="{BB962C8B-B14F-4D97-AF65-F5344CB8AC3E}">
        <p14:creationId xmlns:p14="http://schemas.microsoft.com/office/powerpoint/2010/main" val="19218903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：特征值分解</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sp>
        <p:nvSpPr>
          <p:cNvPr id="7" name="Rectangle 1">
            <a:extLst>
              <a:ext uri="{FF2B5EF4-FFF2-40B4-BE49-F238E27FC236}">
                <a16:creationId xmlns:a16="http://schemas.microsoft.com/office/drawing/2014/main" id="{160CA6BB-5C19-69DA-91F3-20FADE8232ED}"/>
              </a:ext>
            </a:extLst>
          </p:cNvPr>
          <p:cNvSpPr>
            <a:spLocks noChangeArrowheads="1"/>
          </p:cNvSpPr>
          <p:nvPr/>
        </p:nvSpPr>
        <p:spPr bwMode="auto">
          <a:xfrm>
            <a:off x="3047144" y="2228671"/>
            <a:ext cx="5160196"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如果说一个向量v是方阵A的特征向量，将一定可以表示成下面的形式：</a:t>
            </a:r>
          </a:p>
        </p:txBody>
      </p:sp>
      <p:pic>
        <p:nvPicPr>
          <p:cNvPr id="2050" name="Picture 2" descr="image">
            <a:hlinkClick r:id="rId3"/>
            <a:extLst>
              <a:ext uri="{FF2B5EF4-FFF2-40B4-BE49-F238E27FC236}">
                <a16:creationId xmlns:a16="http://schemas.microsoft.com/office/drawing/2014/main" id="{97EFF623-757D-23BE-80E5-273B2F3023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8219" y="2505670"/>
            <a:ext cx="800100" cy="32385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1BECDED1-54B9-1B4E-296F-90F0A903FC2B}"/>
              </a:ext>
            </a:extLst>
          </p:cNvPr>
          <p:cNvSpPr txBox="1"/>
          <p:nvPr/>
        </p:nvSpPr>
        <p:spPr>
          <a:xfrm>
            <a:off x="3047144" y="2782669"/>
            <a:ext cx="6097712" cy="646331"/>
          </a:xfrm>
          <a:prstGeom prst="rect">
            <a:avLst/>
          </a:prstGeom>
          <a:noFill/>
        </p:spPr>
        <p:txBody>
          <a:bodyPr wrap="square">
            <a:spAutoFit/>
          </a:bodyPr>
          <a:lstStyle/>
          <a:p>
            <a:r>
              <a:rPr lang="zh-CN" altLang="en-US" sz="1200" dirty="0">
                <a:solidFill>
                  <a:srgbClr val="4B4B4B"/>
                </a:solidFill>
                <a:latin typeface="Arial" panose="020B0604020202020204" pitchFamily="34" charset="0"/>
              </a:rPr>
              <a:t>这时候</a:t>
            </a:r>
            <a:r>
              <a:rPr lang="en-US" altLang="zh-CN" sz="1200" dirty="0">
                <a:solidFill>
                  <a:srgbClr val="4B4B4B"/>
                </a:solidFill>
                <a:latin typeface="Arial" panose="020B0604020202020204" pitchFamily="34" charset="0"/>
              </a:rPr>
              <a:t>λ</a:t>
            </a:r>
            <a:r>
              <a:rPr lang="zh-CN" altLang="en-US" sz="1200" dirty="0">
                <a:solidFill>
                  <a:srgbClr val="4B4B4B"/>
                </a:solidFill>
                <a:latin typeface="Arial" panose="020B0604020202020204" pitchFamily="34" charset="0"/>
              </a:rPr>
              <a:t>就被称为特征向量</a:t>
            </a:r>
            <a:r>
              <a:rPr lang="en-US" altLang="zh-CN" sz="1200" dirty="0">
                <a:solidFill>
                  <a:srgbClr val="4B4B4B"/>
                </a:solidFill>
                <a:latin typeface="Arial" panose="020B0604020202020204" pitchFamily="34" charset="0"/>
              </a:rPr>
              <a:t>v</a:t>
            </a:r>
            <a:r>
              <a:rPr lang="zh-CN" altLang="en-US" sz="1200" dirty="0">
                <a:solidFill>
                  <a:srgbClr val="4B4B4B"/>
                </a:solidFill>
                <a:latin typeface="Arial" panose="020B0604020202020204" pitchFamily="34" charset="0"/>
              </a:rPr>
              <a:t>对应的特征值，一个矩阵的一组特征向量是一组正交向量。</a:t>
            </a:r>
            <a:r>
              <a:rPr lang="zh-CN" altLang="en-US" sz="1200" b="0" i="0" dirty="0">
                <a:solidFill>
                  <a:srgbClr val="4B4B4B"/>
                </a:solidFill>
                <a:effectLst/>
                <a:latin typeface="PingFang SC"/>
              </a:rPr>
              <a:t>特征值分解是将一个矩阵分解成下面的形式：</a:t>
            </a:r>
            <a:endParaRPr lang="zh-CN" altLang="en-US" sz="1200" dirty="0"/>
          </a:p>
          <a:p>
            <a:endParaRPr lang="zh-CN" altLang="en-US" sz="1200" dirty="0">
              <a:solidFill>
                <a:srgbClr val="4B4B4B"/>
              </a:solidFill>
              <a:latin typeface="Arial" panose="020B0604020202020204" pitchFamily="34" charset="0"/>
            </a:endParaRPr>
          </a:p>
        </p:txBody>
      </p:sp>
      <p:pic>
        <p:nvPicPr>
          <p:cNvPr id="2052" name="Picture 4" descr="image">
            <a:extLst>
              <a:ext uri="{FF2B5EF4-FFF2-40B4-BE49-F238E27FC236}">
                <a16:creationId xmlns:a16="http://schemas.microsoft.com/office/drawing/2014/main" id="{7848D197-E58D-94C1-99DD-F394F2C7C5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8219" y="3207468"/>
            <a:ext cx="1066800" cy="361950"/>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B6FB5A29-5AE1-A00B-8135-A3B3D8F8A9C5}"/>
              </a:ext>
            </a:extLst>
          </p:cNvPr>
          <p:cNvSpPr txBox="1"/>
          <p:nvPr/>
        </p:nvSpPr>
        <p:spPr>
          <a:xfrm>
            <a:off x="3057117" y="3532401"/>
            <a:ext cx="5807770" cy="1754326"/>
          </a:xfrm>
          <a:prstGeom prst="rect">
            <a:avLst/>
          </a:prstGeom>
          <a:noFill/>
        </p:spPr>
        <p:txBody>
          <a:bodyPr wrap="square">
            <a:spAutoFit/>
          </a:bodyPr>
          <a:lstStyle/>
          <a:p>
            <a:pPr algn="l"/>
            <a:r>
              <a:rPr lang="zh-CN" altLang="en-US" sz="1200" dirty="0">
                <a:solidFill>
                  <a:srgbClr val="4B4B4B"/>
                </a:solidFill>
                <a:latin typeface="Arial" panose="020B0604020202020204" pitchFamily="34" charset="0"/>
              </a:rPr>
              <a:t>其中</a:t>
            </a:r>
            <a:r>
              <a:rPr lang="en-US" altLang="zh-CN" sz="1200" dirty="0">
                <a:solidFill>
                  <a:srgbClr val="4B4B4B"/>
                </a:solidFill>
                <a:latin typeface="Arial" panose="020B0604020202020204" pitchFamily="34" charset="0"/>
              </a:rPr>
              <a:t>Q</a:t>
            </a:r>
            <a:r>
              <a:rPr lang="zh-CN" altLang="en-US" sz="1200" dirty="0">
                <a:solidFill>
                  <a:srgbClr val="4B4B4B"/>
                </a:solidFill>
                <a:latin typeface="Arial" panose="020B0604020202020204" pitchFamily="34" charset="0"/>
              </a:rPr>
              <a:t>是这个矩阵</a:t>
            </a:r>
            <a:r>
              <a:rPr lang="en-US" altLang="zh-CN" sz="1200" dirty="0">
                <a:solidFill>
                  <a:srgbClr val="4B4B4B"/>
                </a:solidFill>
                <a:latin typeface="Arial" panose="020B0604020202020204" pitchFamily="34" charset="0"/>
              </a:rPr>
              <a:t>A</a:t>
            </a:r>
            <a:r>
              <a:rPr lang="zh-CN" altLang="en-US" sz="1200" dirty="0">
                <a:solidFill>
                  <a:srgbClr val="4B4B4B"/>
                </a:solidFill>
                <a:latin typeface="Arial" panose="020B0604020202020204" pitchFamily="34" charset="0"/>
              </a:rPr>
              <a:t>的特征向量组成的矩阵，正交矩阵是可逆的</a:t>
            </a:r>
            <a:r>
              <a:rPr lang="en-US" altLang="zh-CN" sz="1200" dirty="0">
                <a:solidFill>
                  <a:srgbClr val="4B4B4B"/>
                </a:solidFill>
                <a:latin typeface="Arial" panose="020B0604020202020204" pitchFamily="34" charset="0"/>
              </a:rPr>
              <a:t>Σ = </a:t>
            </a:r>
            <a:r>
              <a:rPr lang="en-US" altLang="zh-CN" sz="1200" dirty="0" err="1">
                <a:solidFill>
                  <a:srgbClr val="4B4B4B"/>
                </a:solidFill>
                <a:latin typeface="Arial" panose="020B0604020202020204" pitchFamily="34" charset="0"/>
              </a:rPr>
              <a:t>diag</a:t>
            </a:r>
            <a:r>
              <a:rPr lang="en-US" altLang="zh-CN" sz="1200" dirty="0">
                <a:solidFill>
                  <a:srgbClr val="4B4B4B"/>
                </a:solidFill>
                <a:latin typeface="Arial" panose="020B0604020202020204" pitchFamily="34" charset="0"/>
              </a:rPr>
              <a:t>(λ1, λ2, ..., </a:t>
            </a:r>
            <a:r>
              <a:rPr lang="en-US" altLang="zh-CN" sz="1200" dirty="0" err="1">
                <a:solidFill>
                  <a:srgbClr val="4B4B4B"/>
                </a:solidFill>
                <a:latin typeface="Arial" panose="020B0604020202020204" pitchFamily="34" charset="0"/>
              </a:rPr>
              <a:t>λn</a:t>
            </a:r>
            <a:r>
              <a:rPr lang="en-US" altLang="zh-CN" sz="1200" dirty="0">
                <a:solidFill>
                  <a:srgbClr val="4B4B4B"/>
                </a:solidFill>
                <a:latin typeface="Arial" panose="020B0604020202020204" pitchFamily="34" charset="0"/>
              </a:rPr>
              <a:t>)</a:t>
            </a:r>
            <a:r>
              <a:rPr lang="zh-CN" altLang="en-US" sz="1200" dirty="0">
                <a:solidFill>
                  <a:srgbClr val="4B4B4B"/>
                </a:solidFill>
                <a:latin typeface="Arial" panose="020B0604020202020204" pitchFamily="34" charset="0"/>
              </a:rPr>
              <a:t>是一个对角阵，每一个对角线上的元素就是一个特征值。</a:t>
            </a:r>
          </a:p>
          <a:p>
            <a:pPr algn="l"/>
            <a:r>
              <a:rPr lang="zh-CN" altLang="en-US" sz="1200" dirty="0">
                <a:solidFill>
                  <a:schemeClr val="accent2"/>
                </a:solidFill>
                <a:latin typeface="Arial" panose="020B0604020202020204" pitchFamily="34" charset="0"/>
              </a:rPr>
              <a:t>一个矩阵其实就是一个线性变换</a:t>
            </a:r>
            <a:r>
              <a:rPr lang="zh-CN" altLang="en-US" sz="1200" dirty="0">
                <a:solidFill>
                  <a:srgbClr val="4B4B4B"/>
                </a:solidFill>
                <a:latin typeface="Arial" panose="020B0604020202020204" pitchFamily="34" charset="0"/>
              </a:rPr>
              <a:t>，因为一个矩阵乘以一个向量后得到的向量，其实就相当于将这个向量进行了线性变换。</a:t>
            </a:r>
            <a:r>
              <a:rPr lang="zh-CN" altLang="en-US" sz="1200" dirty="0">
                <a:solidFill>
                  <a:schemeClr val="accent2"/>
                </a:solidFill>
                <a:latin typeface="Arial" panose="020B0604020202020204" pitchFamily="34" charset="0"/>
              </a:rPr>
              <a:t>这个变换也同样有很多的变换方向，我们通过特征值分解得到的前</a:t>
            </a:r>
            <a:r>
              <a:rPr lang="en-US" altLang="zh-CN" sz="1200" dirty="0">
                <a:solidFill>
                  <a:schemeClr val="accent2"/>
                </a:solidFill>
                <a:latin typeface="Arial" panose="020B0604020202020204" pitchFamily="34" charset="0"/>
              </a:rPr>
              <a:t>N</a:t>
            </a:r>
            <a:r>
              <a:rPr lang="zh-CN" altLang="en-US" sz="1200" dirty="0">
                <a:solidFill>
                  <a:schemeClr val="accent2"/>
                </a:solidFill>
                <a:latin typeface="Arial" panose="020B0604020202020204" pitchFamily="34" charset="0"/>
              </a:rPr>
              <a:t>个特征向量，那么就对应了这个矩阵最主要的</a:t>
            </a:r>
            <a:r>
              <a:rPr lang="en-US" altLang="zh-CN" sz="1200" dirty="0">
                <a:solidFill>
                  <a:schemeClr val="accent2"/>
                </a:solidFill>
                <a:latin typeface="Arial" panose="020B0604020202020204" pitchFamily="34" charset="0"/>
              </a:rPr>
              <a:t>N</a:t>
            </a:r>
            <a:r>
              <a:rPr lang="zh-CN" altLang="en-US" sz="1200" dirty="0">
                <a:solidFill>
                  <a:schemeClr val="accent2"/>
                </a:solidFill>
                <a:latin typeface="Arial" panose="020B0604020202020204" pitchFamily="34" charset="0"/>
              </a:rPr>
              <a:t>个变化方向。</a:t>
            </a:r>
            <a:r>
              <a:rPr lang="zh-CN" altLang="en-US" sz="1200" dirty="0">
                <a:solidFill>
                  <a:srgbClr val="4B4B4B"/>
                </a:solidFill>
                <a:latin typeface="Arial" panose="020B0604020202020204" pitchFamily="34" charset="0"/>
              </a:rPr>
              <a:t>我们利用这前</a:t>
            </a:r>
            <a:r>
              <a:rPr lang="en-US" altLang="zh-CN" sz="1200" dirty="0">
                <a:solidFill>
                  <a:srgbClr val="4B4B4B"/>
                </a:solidFill>
                <a:latin typeface="Arial" panose="020B0604020202020204" pitchFamily="34" charset="0"/>
              </a:rPr>
              <a:t>N</a:t>
            </a:r>
            <a:r>
              <a:rPr lang="zh-CN" altLang="en-US" sz="1200" dirty="0">
                <a:solidFill>
                  <a:srgbClr val="4B4B4B"/>
                </a:solidFill>
                <a:latin typeface="Arial" panose="020B0604020202020204" pitchFamily="34" charset="0"/>
              </a:rPr>
              <a:t>个变化方向，就可以近似这个矩阵（变换）。也就是之前说的：提取这个矩阵最重要的特征。总结一下，</a:t>
            </a:r>
            <a:r>
              <a:rPr lang="zh-CN" altLang="en-US" sz="1200" dirty="0">
                <a:solidFill>
                  <a:schemeClr val="accent2"/>
                </a:solidFill>
                <a:latin typeface="Arial" panose="020B0604020202020204" pitchFamily="34" charset="0"/>
              </a:rPr>
              <a:t>特征值分解可以得到特征值与特征向量，特征值表示的是这个特征到底有多重要，而特征向量表示这个特征是什么</a:t>
            </a:r>
            <a:r>
              <a:rPr lang="zh-CN" altLang="en-US" sz="1200" dirty="0">
                <a:solidFill>
                  <a:srgbClr val="4B4B4B"/>
                </a:solidFill>
                <a:latin typeface="Arial" panose="020B0604020202020204" pitchFamily="34" charset="0"/>
              </a:rPr>
              <a:t>。</a:t>
            </a:r>
          </a:p>
          <a:p>
            <a:pPr algn="l"/>
            <a:r>
              <a:rPr lang="zh-CN" altLang="en-US" sz="1200" dirty="0">
                <a:solidFill>
                  <a:srgbClr val="4B4B4B"/>
                </a:solidFill>
                <a:latin typeface="Arial" panose="020B0604020202020204" pitchFamily="34" charset="0"/>
              </a:rPr>
              <a:t>　　</a:t>
            </a:r>
            <a:r>
              <a:rPr lang="zh-CN" altLang="en-US" sz="1200" dirty="0">
                <a:solidFill>
                  <a:srgbClr val="FF0000"/>
                </a:solidFill>
                <a:latin typeface="Arial" panose="020B0604020202020204" pitchFamily="34" charset="0"/>
              </a:rPr>
              <a:t>不过，特征值分解也有很多的局限，比如说变换的矩阵必须是方阵。</a:t>
            </a:r>
          </a:p>
        </p:txBody>
      </p:sp>
    </p:spTree>
    <p:extLst>
      <p:ext uri="{BB962C8B-B14F-4D97-AF65-F5344CB8AC3E}">
        <p14:creationId xmlns:p14="http://schemas.microsoft.com/office/powerpoint/2010/main" val="17628842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从</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到特征人脸</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sp>
        <p:nvSpPr>
          <p:cNvPr id="7" name="矩形 6">
            <a:extLst>
              <a:ext uri="{FF2B5EF4-FFF2-40B4-BE49-F238E27FC236}">
                <a16:creationId xmlns:a16="http://schemas.microsoft.com/office/drawing/2014/main" id="{4F07E740-89CB-443A-988F-F99EF48C4B3B}"/>
              </a:ext>
            </a:extLst>
          </p:cNvPr>
          <p:cNvSpPr/>
          <p:nvPr/>
        </p:nvSpPr>
        <p:spPr>
          <a:xfrm>
            <a:off x="963038" y="1749612"/>
            <a:ext cx="10265923" cy="3640740"/>
          </a:xfrm>
          <a:prstGeom prst="rect">
            <a:avLst/>
          </a:prstGeom>
        </p:spPr>
        <p:txBody>
          <a:bodyPr wrap="square">
            <a:spAutoFit/>
          </a:bodyPr>
          <a:lstStyle/>
          <a:p>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特征人脸是基于外观的人脸识别方法，其目的是捕捉人脸图像集合中的特征信息，并使用该信息对各个人脸图像进行编码和比较。换句话说，特征人脸提取了人脸图像的面部信息，这些信息可能与人的直觉相符，如眼睛、鼻子和嘴唇的大小、形状特征。这样，特征人脸就可以有效地表现原始面部图像，减少计算和空间复杂度。</a:t>
            </a:r>
          </a:p>
          <a:p>
            <a:pPr marL="285750" indent="-285750" algn="just">
              <a:lnSpc>
                <a:spcPct val="150000"/>
              </a:lnSpc>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使用主成分分析的手段表示特征人脸的思想最先由</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Sirovich</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Kirby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提出，其本质是</a:t>
            </a:r>
            <a:r>
              <a:rPr lang="zh-CN" altLang="en-US"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使用一组特征向量的线性组合来表示原始人脸，进而实现人脸识别</a:t>
            </a:r>
            <a:r>
              <a:rPr lang="zh-CN" altLang="en-US" dirty="0"/>
              <a:t>。</a:t>
            </a:r>
            <a:endParaRPr lang="en-US" altLang="zh-CN" dirty="0"/>
          </a:p>
          <a:p>
            <a:pPr marL="285750" indent="-285750" algn="just">
              <a:lnSpc>
                <a:spcPct val="150000"/>
              </a:lnSpc>
              <a:buFont typeface="Wingdings" panose="05000000000000000000" pitchFamily="2" charset="2"/>
              <a:buChar char="l"/>
            </a:pPr>
            <a:r>
              <a:rPr lang="zh-CN" altLang="zh-CN" dirty="0">
                <a:latin typeface="Times New Roman" panose="02020603050405020304" pitchFamily="18" charset="0"/>
                <a:ea typeface="楷体" panose="02010609060101010101" pitchFamily="49" charset="-122"/>
                <a:cs typeface="Times New Roman" panose="02020603050405020304" pitchFamily="18" charset="0"/>
              </a:rPr>
              <a:t>特征人脸方法用一种称为“特征人脸</a:t>
            </a:r>
            <a:r>
              <a:rPr lang="en-US" altLang="zh-CN" dirty="0">
                <a:latin typeface="Times New Roman" panose="02020603050405020304" pitchFamily="18" charset="0"/>
                <a:ea typeface="楷体" panose="02010609060101010101" pitchFamily="49" charset="-122"/>
                <a:cs typeface="Times New Roman" panose="02020603050405020304" pitchFamily="18" charset="0"/>
              </a:rPr>
              <a:t>(eigenface)</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”的特征向量按照线性组合形式来表达</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每一张</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原始人脸</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图像</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，进而实现人脸识别。</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78763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从</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到特征人脸</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563EF59-BADC-4843-BFC3-C2712CABB573}"/>
                  </a:ext>
                </a:extLst>
              </p:cNvPr>
              <p:cNvSpPr/>
              <p:nvPr/>
            </p:nvSpPr>
            <p:spPr>
              <a:xfrm>
                <a:off x="1342416" y="1679606"/>
                <a:ext cx="9935183" cy="923330"/>
              </a:xfrm>
              <a:prstGeom prst="rect">
                <a:avLst/>
              </a:prstGeom>
            </p:spPr>
            <p:txBody>
              <a:bodyPr wrap="square">
                <a:spAutoFit/>
              </a:bodyPr>
              <a:lstStyle/>
              <a:p>
                <a:r>
                  <a:rPr lang="zh-CN" altLang="zh-CN" dirty="0">
                    <a:latin typeface="Times New Roman" panose="02020603050405020304" pitchFamily="18" charset="0"/>
                    <a:ea typeface="等线" panose="02010600030101010101" pitchFamily="2" charset="-122"/>
                    <a:cs typeface="Times New Roman" panose="02020603050405020304" pitchFamily="18" charset="0"/>
                  </a:rPr>
                  <a:t>假设总共有</a:t>
                </a:r>
                <a14:m>
                  <m:oMath xmlns:m="http://schemas.openxmlformats.org/officeDocument/2006/math">
                    <m:r>
                      <m:rPr>
                        <m:sty m:val="p"/>
                      </m:rPr>
                      <a:rPr lang="en-US" altLang="zh-CN">
                        <a:latin typeface="Cambria Math" panose="02040503050406030204" pitchFamily="18" charset="0"/>
                        <a:ea typeface="等线" panose="02010600030101010101" pitchFamily="2" charset="-122"/>
                        <a:cs typeface="Times New Roman" panose="02020603050405020304" pitchFamily="18" charset="0"/>
                      </a:rPr>
                      <m:t>n</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张灰度人脸图像，每张人脸图像</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𝛤</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的分辨率为</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𝑑</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𝑑</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。如果</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𝑑</m:t>
                    </m:r>
                    <m:r>
                      <a:rPr lang="en-US" altLang="zh-CN" i="1">
                        <a:latin typeface="Cambria Math" panose="02040503050406030204" pitchFamily="18" charset="0"/>
                        <a:ea typeface="等线" panose="02010600030101010101" pitchFamily="2" charset="-122"/>
                        <a:cs typeface="Times New Roman" panose="02020603050405020304" pitchFamily="18" charset="0"/>
                      </a:rPr>
                      <m:t>=32</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，即人脸图像的分辨率为</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32×32</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，人脸图像在计算机中可以表示为一个</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32×32</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的像素矩阵，如果将该矩阵铺平，可以转换为一个</a:t>
                </a:r>
                <a14:m>
                  <m:oMath xmlns:m="http://schemas.openxmlformats.org/officeDocument/2006/math">
                    <m:r>
                      <a:rPr lang="en-US" altLang="zh-CN">
                        <a:latin typeface="Cambria Math" panose="02040503050406030204" pitchFamily="18" charset="0"/>
                        <a:ea typeface="等线" panose="02010600030101010101" pitchFamily="2" charset="-122"/>
                        <a:cs typeface="Times New Roman" panose="02020603050405020304" pitchFamily="18" charset="0"/>
                      </a:rPr>
                      <m:t>1024</m:t>
                    </m:r>
                  </m:oMath>
                </a14:m>
                <a:r>
                  <a:rPr lang="zh-CN" altLang="zh-CN" dirty="0">
                    <a:latin typeface="Times New Roman" panose="02020603050405020304" pitchFamily="18" charset="0"/>
                    <a:ea typeface="等线" panose="02010600030101010101" pitchFamily="2" charset="-122"/>
                    <a:cs typeface="Times New Roman" panose="02020603050405020304" pitchFamily="18" charset="0"/>
                  </a:rPr>
                  <a:t>维的列向量，如图</a:t>
                </a:r>
                <a:r>
                  <a:rPr lang="en-US" altLang="zh-CN" dirty="0">
                    <a:latin typeface="Times New Roman" panose="02020603050405020304" pitchFamily="18" charset="0"/>
                    <a:ea typeface="等线" panose="02010600030101010101" pitchFamily="2" charset="-122"/>
                    <a:cs typeface="Times New Roman" panose="02020603050405020304" pitchFamily="18" charset="0"/>
                  </a:rPr>
                  <a:t>4.6</a:t>
                </a:r>
                <a:r>
                  <a:rPr lang="zh-CN" altLang="zh-CN" dirty="0">
                    <a:latin typeface="Times New Roman" panose="02020603050405020304" pitchFamily="18" charset="0"/>
                    <a:ea typeface="等线" panose="02010600030101010101" pitchFamily="2" charset="-122"/>
                    <a:cs typeface="Times New Roman" panose="02020603050405020304" pitchFamily="18" charset="0"/>
                  </a:rPr>
                  <a:t>所示</a:t>
                </a:r>
                <a:endParaRPr lang="zh-CN" altLang="en-US" dirty="0">
                  <a:latin typeface="Times New Roman" panose="02020603050405020304" pitchFamily="18" charset="0"/>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C563EF59-BADC-4843-BFC3-C2712CABB573}"/>
                  </a:ext>
                </a:extLst>
              </p:cNvPr>
              <p:cNvSpPr>
                <a:spLocks noRot="1" noChangeAspect="1" noMove="1" noResize="1" noEditPoints="1" noAdjustHandles="1" noChangeArrowheads="1" noChangeShapeType="1" noTextEdit="1"/>
              </p:cNvSpPr>
              <p:nvPr/>
            </p:nvSpPr>
            <p:spPr>
              <a:xfrm>
                <a:off x="1342416" y="1679606"/>
                <a:ext cx="9935183" cy="923330"/>
              </a:xfrm>
              <a:prstGeom prst="rect">
                <a:avLst/>
              </a:prstGeom>
              <a:blipFill>
                <a:blip r:embed="rId3"/>
                <a:stretch>
                  <a:fillRect l="-491" t="-3974" b="-9934"/>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C4575EC-FF5E-4435-B94B-19203DB92B05}"/>
              </a:ext>
            </a:extLst>
          </p:cNvPr>
          <p:cNvPicPr>
            <a:picLocks noChangeAspect="1"/>
          </p:cNvPicPr>
          <p:nvPr/>
        </p:nvPicPr>
        <p:blipFill>
          <a:blip r:embed="rId4"/>
          <a:stretch>
            <a:fillRect/>
          </a:stretch>
        </p:blipFill>
        <p:spPr>
          <a:xfrm>
            <a:off x="3979395" y="2771937"/>
            <a:ext cx="3740342" cy="2086082"/>
          </a:xfrm>
          <a:prstGeom prst="rect">
            <a:avLst/>
          </a:prstGeom>
        </p:spPr>
      </p:pic>
      <p:sp>
        <p:nvSpPr>
          <p:cNvPr id="9" name="矩形 8">
            <a:extLst>
              <a:ext uri="{FF2B5EF4-FFF2-40B4-BE49-F238E27FC236}">
                <a16:creationId xmlns:a16="http://schemas.microsoft.com/office/drawing/2014/main" id="{CC63AE30-1810-4BE6-9E4B-D30D10BA48BB}"/>
              </a:ext>
            </a:extLst>
          </p:cNvPr>
          <p:cNvSpPr/>
          <p:nvPr/>
        </p:nvSpPr>
        <p:spPr>
          <a:xfrm>
            <a:off x="1271080" y="4359295"/>
            <a:ext cx="10051915" cy="1908215"/>
          </a:xfrm>
          <a:prstGeom prst="rect">
            <a:avLst/>
          </a:prstGeom>
        </p:spPr>
        <p:txBody>
          <a:bodyPr wrap="square">
            <a:spAutoFit/>
          </a:bodyPr>
          <a:lstStyle/>
          <a:p>
            <a:endParaRPr lang="zh-CN" altLang="en-US" sz="2800" dirty="0">
              <a:solidFill>
                <a:srgbClr val="000000"/>
              </a:solidFill>
              <a:latin typeface="Times New Roman" panose="02020603050405020304" pitchFamily="18" charset="0"/>
              <a:cs typeface="Times New Roman" panose="02020603050405020304" pitchFamily="18" charset="0"/>
            </a:endParaRPr>
          </a:p>
          <a:p>
            <a:pPr algn="just"/>
            <a:r>
              <a:rPr lang="zh-CN" altLang="en-US" dirty="0">
                <a:latin typeface="Times New Roman" panose="02020603050405020304" pitchFamily="18" charset="0"/>
                <a:ea typeface="等线" panose="02010600030101010101" pitchFamily="2" charset="-122"/>
                <a:cs typeface="Times New Roman" panose="02020603050405020304" pitchFamily="18" charset="0"/>
              </a:rPr>
              <a:t>该</a:t>
            </a:r>
            <a:r>
              <a:rPr lang="en-US" altLang="zh-CN" dirty="0">
                <a:latin typeface="Times New Roman" panose="02020603050405020304" pitchFamily="18" charset="0"/>
                <a:ea typeface="等线" panose="02010600030101010101" pitchFamily="2" charset="-122"/>
                <a:cs typeface="Times New Roman" panose="02020603050405020304" pitchFamily="18" charset="0"/>
              </a:rPr>
              <a:t>1024</a:t>
            </a:r>
            <a:r>
              <a:rPr lang="zh-CN" altLang="en-US" dirty="0">
                <a:latin typeface="Times New Roman" panose="02020603050405020304" pitchFamily="18" charset="0"/>
                <a:ea typeface="等线" panose="02010600030101010101" pitchFamily="2" charset="-122"/>
                <a:cs typeface="Times New Roman" panose="02020603050405020304" pitchFamily="18" charset="0"/>
              </a:rPr>
              <a:t>维的列向量是原始灰度图像的表达。</a:t>
            </a:r>
            <a:r>
              <a:rPr lang="zh-CN" altLang="en-US" dirty="0">
                <a:solidFill>
                  <a:schemeClr val="accent2"/>
                </a:solidFill>
                <a:latin typeface="Times New Roman" panose="02020603050405020304" pitchFamily="18" charset="0"/>
                <a:ea typeface="等线" panose="02010600030101010101" pitchFamily="2" charset="-122"/>
                <a:cs typeface="Times New Roman" panose="02020603050405020304" pitchFamily="18" charset="0"/>
              </a:rPr>
              <a:t>但是直觉表明，人脸具有一定的拓扑结构，像素点之间有较强的空间位置关系，也就是说，可以使用一个低维向量来表达原始图像大部分的信息。这样就可以使用前面讲述的主成分分析算法来实现降维。</a:t>
            </a:r>
            <a:r>
              <a:rPr lang="zh-CN" altLang="en-US" dirty="0">
                <a:latin typeface="Times New Roman" panose="02020603050405020304" pitchFamily="18" charset="0"/>
                <a:ea typeface="等线" panose="02010600030101010101" pitchFamily="2" charset="-122"/>
                <a:cs typeface="Times New Roman" panose="02020603050405020304" pitchFamily="18" charset="0"/>
              </a:rPr>
              <a:t>不过在特征维度较高的情况下，主成分分析算法暴力求解特征向量是一个耗时操作。这里介绍一种新的矩阵分解方法</a:t>
            </a:r>
            <a:r>
              <a:rPr lang="en-US" altLang="zh-CN" dirty="0">
                <a:latin typeface="Times New Roman" panose="02020603050405020304" pitchFamily="18" charset="0"/>
                <a:ea typeface="等线" panose="02010600030101010101" pitchFamily="2" charset="-122"/>
                <a:cs typeface="Times New Roman" panose="02020603050405020304" pitchFamily="18" charset="0"/>
              </a:rPr>
              <a:t>——</a:t>
            </a:r>
            <a:r>
              <a:rPr lang="zh-CN" altLang="en-US" dirty="0">
                <a:solidFill>
                  <a:schemeClr val="accent2"/>
                </a:solidFill>
                <a:latin typeface="Times New Roman" panose="02020603050405020304" pitchFamily="18" charset="0"/>
                <a:ea typeface="等线" panose="02010600030101010101" pitchFamily="2" charset="-122"/>
                <a:cs typeface="Times New Roman" panose="02020603050405020304" pitchFamily="18" charset="0"/>
              </a:rPr>
              <a:t>奇异值分解（</a:t>
            </a:r>
            <a:r>
              <a:rPr lang="en-US" altLang="zh-CN" dirty="0">
                <a:solidFill>
                  <a:schemeClr val="accent2"/>
                </a:solidFill>
                <a:latin typeface="Times New Roman" panose="02020603050405020304" pitchFamily="18" charset="0"/>
                <a:ea typeface="等线" panose="02010600030101010101" pitchFamily="2" charset="-122"/>
                <a:cs typeface="Times New Roman" panose="02020603050405020304" pitchFamily="18" charset="0"/>
              </a:rPr>
              <a:t>singular value decomposition</a:t>
            </a:r>
            <a:r>
              <a:rPr lang="zh-CN" altLang="en-US" dirty="0">
                <a:solidFill>
                  <a:schemeClr val="accent2"/>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dirty="0">
                <a:solidFill>
                  <a:schemeClr val="accent2"/>
                </a:solidFill>
                <a:latin typeface="Times New Roman" panose="02020603050405020304" pitchFamily="18" charset="0"/>
                <a:ea typeface="等线" panose="02010600030101010101" pitchFamily="2" charset="-122"/>
                <a:cs typeface="Times New Roman" panose="02020603050405020304" pitchFamily="18" charset="0"/>
              </a:rPr>
              <a:t>SVD</a:t>
            </a:r>
            <a:r>
              <a:rPr lang="zh-CN" altLang="en-US" dirty="0">
                <a:solidFill>
                  <a:schemeClr val="accent2"/>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dirty="0">
                <a:latin typeface="Times New Roman" panose="02020603050405020304" pitchFamily="18" charset="0"/>
                <a:ea typeface="等线" panose="02010600030101010101" pitchFamily="2" charset="-122"/>
                <a:cs typeface="Times New Roman" panose="02020603050405020304" pitchFamily="18" charset="0"/>
              </a:rPr>
              <a:t>来实现主成分分析，对原始数据进行降维。</a:t>
            </a:r>
          </a:p>
        </p:txBody>
      </p:sp>
    </p:spTree>
    <p:extLst>
      <p:ext uri="{BB962C8B-B14F-4D97-AF65-F5344CB8AC3E}">
        <p14:creationId xmlns:p14="http://schemas.microsoft.com/office/powerpoint/2010/main" val="6946680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424066" cy="369332"/>
            </a:xfrm>
            <a:prstGeom prst="rect">
              <a:avLst/>
            </a:prstGeom>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：奇异值分解</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(SVD</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分解</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sp>
        <p:nvSpPr>
          <p:cNvPr id="7" name="Rectangle 1">
            <a:extLst>
              <a:ext uri="{FF2B5EF4-FFF2-40B4-BE49-F238E27FC236}">
                <a16:creationId xmlns:a16="http://schemas.microsoft.com/office/drawing/2014/main" id="{160CA6BB-5C19-69DA-91F3-20FADE8232ED}"/>
              </a:ext>
            </a:extLst>
          </p:cNvPr>
          <p:cNvSpPr>
            <a:spLocks noChangeArrowheads="1"/>
          </p:cNvSpPr>
          <p:nvPr/>
        </p:nvSpPr>
        <p:spPr bwMode="auto">
          <a:xfrm>
            <a:off x="345041" y="2434154"/>
            <a:ext cx="5160196"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如果说一个向量v是方阵A的特征向量，将一定可以表示成下面的形式：</a:t>
            </a:r>
          </a:p>
        </p:txBody>
      </p:sp>
      <p:pic>
        <p:nvPicPr>
          <p:cNvPr id="2050" name="Picture 2" descr="image">
            <a:hlinkClick r:id="rId3"/>
            <a:extLst>
              <a:ext uri="{FF2B5EF4-FFF2-40B4-BE49-F238E27FC236}">
                <a16:creationId xmlns:a16="http://schemas.microsoft.com/office/drawing/2014/main" id="{97EFF623-757D-23BE-80E5-273B2F3023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116" y="2711153"/>
            <a:ext cx="800100" cy="32385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1BECDED1-54B9-1B4E-296F-90F0A903FC2B}"/>
              </a:ext>
            </a:extLst>
          </p:cNvPr>
          <p:cNvSpPr txBox="1"/>
          <p:nvPr/>
        </p:nvSpPr>
        <p:spPr>
          <a:xfrm>
            <a:off x="345041" y="2988152"/>
            <a:ext cx="6097712" cy="646331"/>
          </a:xfrm>
          <a:prstGeom prst="rect">
            <a:avLst/>
          </a:prstGeom>
          <a:noFill/>
        </p:spPr>
        <p:txBody>
          <a:bodyPr wrap="square">
            <a:spAutoFit/>
          </a:bodyPr>
          <a:lstStyle/>
          <a:p>
            <a:r>
              <a:rPr lang="zh-CN" altLang="en-US" sz="1200" dirty="0">
                <a:solidFill>
                  <a:srgbClr val="4B4B4B"/>
                </a:solidFill>
                <a:latin typeface="Arial" panose="020B0604020202020204" pitchFamily="34" charset="0"/>
              </a:rPr>
              <a:t>这时候</a:t>
            </a:r>
            <a:r>
              <a:rPr lang="en-US" altLang="zh-CN" sz="1200" dirty="0">
                <a:solidFill>
                  <a:srgbClr val="4B4B4B"/>
                </a:solidFill>
                <a:latin typeface="Arial" panose="020B0604020202020204" pitchFamily="34" charset="0"/>
              </a:rPr>
              <a:t>λ</a:t>
            </a:r>
            <a:r>
              <a:rPr lang="zh-CN" altLang="en-US" sz="1200" dirty="0">
                <a:solidFill>
                  <a:srgbClr val="4B4B4B"/>
                </a:solidFill>
                <a:latin typeface="Arial" panose="020B0604020202020204" pitchFamily="34" charset="0"/>
              </a:rPr>
              <a:t>就被称为特征向量</a:t>
            </a:r>
            <a:r>
              <a:rPr lang="en-US" altLang="zh-CN" sz="1200" dirty="0">
                <a:solidFill>
                  <a:srgbClr val="4B4B4B"/>
                </a:solidFill>
                <a:latin typeface="Arial" panose="020B0604020202020204" pitchFamily="34" charset="0"/>
              </a:rPr>
              <a:t>v</a:t>
            </a:r>
            <a:r>
              <a:rPr lang="zh-CN" altLang="en-US" sz="1200" dirty="0">
                <a:solidFill>
                  <a:srgbClr val="4B4B4B"/>
                </a:solidFill>
                <a:latin typeface="Arial" panose="020B0604020202020204" pitchFamily="34" charset="0"/>
              </a:rPr>
              <a:t>对应的特征值，一个矩阵的一组特征向量是一组正交向量。</a:t>
            </a:r>
            <a:r>
              <a:rPr lang="zh-CN" altLang="en-US" sz="1200" b="0" i="0" dirty="0">
                <a:solidFill>
                  <a:srgbClr val="4B4B4B"/>
                </a:solidFill>
                <a:effectLst/>
                <a:latin typeface="PingFang SC"/>
              </a:rPr>
              <a:t>特征值分解是将一个矩阵分解成下面的形式：</a:t>
            </a:r>
            <a:endParaRPr lang="zh-CN" altLang="en-US" sz="1200" dirty="0"/>
          </a:p>
          <a:p>
            <a:endParaRPr lang="zh-CN" altLang="en-US" sz="1200" dirty="0">
              <a:solidFill>
                <a:srgbClr val="4B4B4B"/>
              </a:solidFill>
              <a:latin typeface="Arial" panose="020B0604020202020204" pitchFamily="34" charset="0"/>
            </a:endParaRPr>
          </a:p>
        </p:txBody>
      </p:sp>
      <p:pic>
        <p:nvPicPr>
          <p:cNvPr id="2052" name="Picture 4" descr="image">
            <a:extLst>
              <a:ext uri="{FF2B5EF4-FFF2-40B4-BE49-F238E27FC236}">
                <a16:creationId xmlns:a16="http://schemas.microsoft.com/office/drawing/2014/main" id="{7848D197-E58D-94C1-99DD-F394F2C7C5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116" y="3412951"/>
            <a:ext cx="1066800" cy="361950"/>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B6FB5A29-5AE1-A00B-8135-A3B3D8F8A9C5}"/>
              </a:ext>
            </a:extLst>
          </p:cNvPr>
          <p:cNvSpPr txBox="1"/>
          <p:nvPr/>
        </p:nvSpPr>
        <p:spPr>
          <a:xfrm>
            <a:off x="355014" y="3737884"/>
            <a:ext cx="5807770" cy="1754326"/>
          </a:xfrm>
          <a:prstGeom prst="rect">
            <a:avLst/>
          </a:prstGeom>
          <a:noFill/>
        </p:spPr>
        <p:txBody>
          <a:bodyPr wrap="square">
            <a:spAutoFit/>
          </a:bodyPr>
          <a:lstStyle/>
          <a:p>
            <a:pPr algn="l"/>
            <a:r>
              <a:rPr lang="zh-CN" altLang="en-US" sz="1200" dirty="0">
                <a:solidFill>
                  <a:srgbClr val="4B4B4B"/>
                </a:solidFill>
                <a:latin typeface="Arial" panose="020B0604020202020204" pitchFamily="34" charset="0"/>
              </a:rPr>
              <a:t>其中</a:t>
            </a:r>
            <a:r>
              <a:rPr lang="en-US" altLang="zh-CN" sz="1200" dirty="0">
                <a:solidFill>
                  <a:srgbClr val="4B4B4B"/>
                </a:solidFill>
                <a:latin typeface="Arial" panose="020B0604020202020204" pitchFamily="34" charset="0"/>
              </a:rPr>
              <a:t>Q</a:t>
            </a:r>
            <a:r>
              <a:rPr lang="zh-CN" altLang="en-US" sz="1200" dirty="0">
                <a:solidFill>
                  <a:srgbClr val="4B4B4B"/>
                </a:solidFill>
                <a:latin typeface="Arial" panose="020B0604020202020204" pitchFamily="34" charset="0"/>
              </a:rPr>
              <a:t>是这个矩阵</a:t>
            </a:r>
            <a:r>
              <a:rPr lang="en-US" altLang="zh-CN" sz="1200" dirty="0">
                <a:solidFill>
                  <a:srgbClr val="4B4B4B"/>
                </a:solidFill>
                <a:latin typeface="Arial" panose="020B0604020202020204" pitchFamily="34" charset="0"/>
              </a:rPr>
              <a:t>A</a:t>
            </a:r>
            <a:r>
              <a:rPr lang="zh-CN" altLang="en-US" sz="1200" dirty="0">
                <a:solidFill>
                  <a:srgbClr val="4B4B4B"/>
                </a:solidFill>
                <a:latin typeface="Arial" panose="020B0604020202020204" pitchFamily="34" charset="0"/>
              </a:rPr>
              <a:t>的特征向量组成的矩阵，正交矩阵是可逆的</a:t>
            </a:r>
            <a:r>
              <a:rPr lang="en-US" altLang="zh-CN" sz="1200" dirty="0">
                <a:solidFill>
                  <a:srgbClr val="4B4B4B"/>
                </a:solidFill>
                <a:latin typeface="Arial" panose="020B0604020202020204" pitchFamily="34" charset="0"/>
              </a:rPr>
              <a:t>Σ = </a:t>
            </a:r>
            <a:r>
              <a:rPr lang="en-US" altLang="zh-CN" sz="1200" dirty="0" err="1">
                <a:solidFill>
                  <a:srgbClr val="4B4B4B"/>
                </a:solidFill>
                <a:latin typeface="Arial" panose="020B0604020202020204" pitchFamily="34" charset="0"/>
              </a:rPr>
              <a:t>diag</a:t>
            </a:r>
            <a:r>
              <a:rPr lang="en-US" altLang="zh-CN" sz="1200" dirty="0">
                <a:solidFill>
                  <a:srgbClr val="4B4B4B"/>
                </a:solidFill>
                <a:latin typeface="Arial" panose="020B0604020202020204" pitchFamily="34" charset="0"/>
              </a:rPr>
              <a:t>(λ1, λ2, ..., </a:t>
            </a:r>
            <a:r>
              <a:rPr lang="en-US" altLang="zh-CN" sz="1200" dirty="0" err="1">
                <a:solidFill>
                  <a:srgbClr val="4B4B4B"/>
                </a:solidFill>
                <a:latin typeface="Arial" panose="020B0604020202020204" pitchFamily="34" charset="0"/>
              </a:rPr>
              <a:t>λn</a:t>
            </a:r>
            <a:r>
              <a:rPr lang="en-US" altLang="zh-CN" sz="1200" dirty="0">
                <a:solidFill>
                  <a:srgbClr val="4B4B4B"/>
                </a:solidFill>
                <a:latin typeface="Arial" panose="020B0604020202020204" pitchFamily="34" charset="0"/>
              </a:rPr>
              <a:t>)</a:t>
            </a:r>
            <a:r>
              <a:rPr lang="zh-CN" altLang="en-US" sz="1200" dirty="0">
                <a:solidFill>
                  <a:srgbClr val="4B4B4B"/>
                </a:solidFill>
                <a:latin typeface="Arial" panose="020B0604020202020204" pitchFamily="34" charset="0"/>
              </a:rPr>
              <a:t>是一个对角阵，每一个对角线上的元素就是一个特征值。</a:t>
            </a:r>
          </a:p>
          <a:p>
            <a:pPr algn="l"/>
            <a:r>
              <a:rPr lang="zh-CN" altLang="en-US" sz="1200" dirty="0">
                <a:solidFill>
                  <a:schemeClr val="accent2"/>
                </a:solidFill>
                <a:latin typeface="Arial" panose="020B0604020202020204" pitchFamily="34" charset="0"/>
              </a:rPr>
              <a:t>一个矩阵其实就是一个线性变换</a:t>
            </a:r>
            <a:r>
              <a:rPr lang="zh-CN" altLang="en-US" sz="1200" dirty="0">
                <a:solidFill>
                  <a:srgbClr val="4B4B4B"/>
                </a:solidFill>
                <a:latin typeface="Arial" panose="020B0604020202020204" pitchFamily="34" charset="0"/>
              </a:rPr>
              <a:t>，因为一个矩阵乘以一个向量后得到的向量，其实就相当于将这个向量进行了线性变换。</a:t>
            </a:r>
            <a:r>
              <a:rPr lang="zh-CN" altLang="en-US" sz="1200" dirty="0">
                <a:solidFill>
                  <a:schemeClr val="accent2"/>
                </a:solidFill>
                <a:latin typeface="Arial" panose="020B0604020202020204" pitchFamily="34" charset="0"/>
              </a:rPr>
              <a:t>这个变换也同样有很多的变换方向，我们通过特征值分解得到的前</a:t>
            </a:r>
            <a:r>
              <a:rPr lang="en-US" altLang="zh-CN" sz="1200" dirty="0">
                <a:solidFill>
                  <a:schemeClr val="accent2"/>
                </a:solidFill>
                <a:latin typeface="Arial" panose="020B0604020202020204" pitchFamily="34" charset="0"/>
              </a:rPr>
              <a:t>N</a:t>
            </a:r>
            <a:r>
              <a:rPr lang="zh-CN" altLang="en-US" sz="1200" dirty="0">
                <a:solidFill>
                  <a:schemeClr val="accent2"/>
                </a:solidFill>
                <a:latin typeface="Arial" panose="020B0604020202020204" pitchFamily="34" charset="0"/>
              </a:rPr>
              <a:t>个特征向量，那么就对应了这个矩阵最主要的</a:t>
            </a:r>
            <a:r>
              <a:rPr lang="en-US" altLang="zh-CN" sz="1200" dirty="0">
                <a:solidFill>
                  <a:schemeClr val="accent2"/>
                </a:solidFill>
                <a:latin typeface="Arial" panose="020B0604020202020204" pitchFamily="34" charset="0"/>
              </a:rPr>
              <a:t>N</a:t>
            </a:r>
            <a:r>
              <a:rPr lang="zh-CN" altLang="en-US" sz="1200" dirty="0">
                <a:solidFill>
                  <a:schemeClr val="accent2"/>
                </a:solidFill>
                <a:latin typeface="Arial" panose="020B0604020202020204" pitchFamily="34" charset="0"/>
              </a:rPr>
              <a:t>个变化方向。</a:t>
            </a:r>
            <a:r>
              <a:rPr lang="zh-CN" altLang="en-US" sz="1200" dirty="0">
                <a:solidFill>
                  <a:srgbClr val="4B4B4B"/>
                </a:solidFill>
                <a:latin typeface="Arial" panose="020B0604020202020204" pitchFamily="34" charset="0"/>
              </a:rPr>
              <a:t>我们利用这前</a:t>
            </a:r>
            <a:r>
              <a:rPr lang="en-US" altLang="zh-CN" sz="1200" dirty="0">
                <a:solidFill>
                  <a:srgbClr val="4B4B4B"/>
                </a:solidFill>
                <a:latin typeface="Arial" panose="020B0604020202020204" pitchFamily="34" charset="0"/>
              </a:rPr>
              <a:t>N</a:t>
            </a:r>
            <a:r>
              <a:rPr lang="zh-CN" altLang="en-US" sz="1200" dirty="0">
                <a:solidFill>
                  <a:srgbClr val="4B4B4B"/>
                </a:solidFill>
                <a:latin typeface="Arial" panose="020B0604020202020204" pitchFamily="34" charset="0"/>
              </a:rPr>
              <a:t>个变化方向，就可以近似这个矩阵（变换）。也就是之前说的：提取这个矩阵最重要的特征。总结一下，</a:t>
            </a:r>
            <a:r>
              <a:rPr lang="zh-CN" altLang="en-US" sz="1200" dirty="0">
                <a:solidFill>
                  <a:schemeClr val="accent2"/>
                </a:solidFill>
                <a:latin typeface="Arial" panose="020B0604020202020204" pitchFamily="34" charset="0"/>
              </a:rPr>
              <a:t>特征值分解可以得到特征值与特征向量，特征值表示的是这个特征到底有多重要，而特征向量表示这个特征是什么</a:t>
            </a:r>
            <a:r>
              <a:rPr lang="zh-CN" altLang="en-US" sz="1200" dirty="0">
                <a:solidFill>
                  <a:srgbClr val="4B4B4B"/>
                </a:solidFill>
                <a:latin typeface="Arial" panose="020B0604020202020204" pitchFamily="34" charset="0"/>
              </a:rPr>
              <a:t>。</a:t>
            </a:r>
          </a:p>
          <a:p>
            <a:pPr algn="l"/>
            <a:r>
              <a:rPr lang="zh-CN" altLang="en-US" sz="1200" dirty="0">
                <a:solidFill>
                  <a:srgbClr val="4B4B4B"/>
                </a:solidFill>
                <a:latin typeface="Arial" panose="020B0604020202020204" pitchFamily="34" charset="0"/>
              </a:rPr>
              <a:t>　　</a:t>
            </a:r>
            <a:r>
              <a:rPr lang="zh-CN" altLang="en-US" sz="1200" dirty="0">
                <a:solidFill>
                  <a:srgbClr val="FF0000"/>
                </a:solidFill>
                <a:latin typeface="Arial" panose="020B0604020202020204" pitchFamily="34" charset="0"/>
              </a:rPr>
              <a:t>不过，特征值分解也有很多的局限，比如说变换的矩阵必须是方阵。</a:t>
            </a:r>
          </a:p>
        </p:txBody>
      </p:sp>
      <p:sp>
        <p:nvSpPr>
          <p:cNvPr id="8" name="文本框 7">
            <a:extLst>
              <a:ext uri="{FF2B5EF4-FFF2-40B4-BE49-F238E27FC236}">
                <a16:creationId xmlns:a16="http://schemas.microsoft.com/office/drawing/2014/main" id="{F67D61B5-A43A-C26F-26B2-EFB05F829C7C}"/>
              </a:ext>
            </a:extLst>
          </p:cNvPr>
          <p:cNvSpPr txBox="1"/>
          <p:nvPr/>
        </p:nvSpPr>
        <p:spPr>
          <a:xfrm>
            <a:off x="2093359" y="2052812"/>
            <a:ext cx="1379306" cy="369332"/>
          </a:xfrm>
          <a:prstGeom prst="rect">
            <a:avLst/>
          </a:prstGeom>
          <a:noFill/>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特征值分解</a:t>
            </a:r>
            <a:endParaRPr lang="zh-CN" altLang="en-US" dirty="0"/>
          </a:p>
        </p:txBody>
      </p:sp>
      <p:sp>
        <p:nvSpPr>
          <p:cNvPr id="10" name="Rectangle 1">
            <a:extLst>
              <a:ext uri="{FF2B5EF4-FFF2-40B4-BE49-F238E27FC236}">
                <a16:creationId xmlns:a16="http://schemas.microsoft.com/office/drawing/2014/main" id="{1BA2132E-CC15-4B93-1DDF-7B58C9EC4235}"/>
              </a:ext>
            </a:extLst>
          </p:cNvPr>
          <p:cNvSpPr>
            <a:spLocks noChangeArrowheads="1"/>
          </p:cNvSpPr>
          <p:nvPr/>
        </p:nvSpPr>
        <p:spPr bwMode="auto">
          <a:xfrm>
            <a:off x="6442753" y="2425937"/>
            <a:ext cx="4878390"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奇异值分解是一个能适用于任意的矩阵的一种分解的方法：</a:t>
            </a:r>
          </a:p>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 </a:t>
            </a:r>
            <a:endParaRPr lang="en-US"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zh-CN"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假设A是一个M * N的矩阵，那么得到的U是一个M * M的方阵（里面的向量是正交的，U里面的向量称为左奇异向量），Σ是一个M * N的实数对角矩阵（对角线以外的元素都是0，对角线上的元素称为奇异值），VT(V的转置)是一个N * N的矩阵，里面的向量也是正交的，V里面的向量称为右奇异向量），从图片来反映几个相乘的矩阵的大小可得下面的图片</a:t>
            </a:r>
          </a:p>
        </p:txBody>
      </p:sp>
      <p:pic>
        <p:nvPicPr>
          <p:cNvPr id="3074" name="Picture 2" descr="image">
            <a:hlinkClick r:id="rId6"/>
            <a:extLst>
              <a:ext uri="{FF2B5EF4-FFF2-40B4-BE49-F238E27FC236}">
                <a16:creationId xmlns:a16="http://schemas.microsoft.com/office/drawing/2014/main" id="{AD562FDE-0347-D01D-3A38-5B0508128D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5796" y="2690582"/>
            <a:ext cx="1123950" cy="3810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a:extLst>
              <a:ext uri="{FF2B5EF4-FFF2-40B4-BE49-F238E27FC236}">
                <a16:creationId xmlns:a16="http://schemas.microsoft.com/office/drawing/2014/main" id="{E5A6B3F1-2AA3-E3D6-95F6-24C2A353F3A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59102" y="4172452"/>
            <a:ext cx="3086554" cy="106869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5">
            <a:extLst>
              <a:ext uri="{FF2B5EF4-FFF2-40B4-BE49-F238E27FC236}">
                <a16:creationId xmlns:a16="http://schemas.microsoft.com/office/drawing/2014/main" id="{2AEF80C0-F01F-CEF8-2CF2-968A48FEDEC4}"/>
              </a:ext>
            </a:extLst>
          </p:cNvPr>
          <p:cNvSpPr>
            <a:spLocks noChangeArrowheads="1"/>
          </p:cNvSpPr>
          <p:nvPr/>
        </p:nvSpPr>
        <p:spPr bwMode="auto">
          <a:xfrm>
            <a:off x="6442753" y="5284734"/>
            <a:ext cx="5139647"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奇异值和特征值</a:t>
            </a:r>
            <a:r>
              <a:rPr lang="zh-CN" altLang="en-US" sz="1200" dirty="0">
                <a:solidFill>
                  <a:srgbClr val="4B4B4B"/>
                </a:solidFill>
              </a:rPr>
              <a:t>的对应方式：</a:t>
            </a:r>
            <a:endParaRPr lang="en-US"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首先，我们将一个矩阵A的转置 A</a:t>
            </a:r>
            <a:r>
              <a:rPr lang="zh-CN" altLang="zh-CN" sz="1200" baseline="30000" dirty="0">
                <a:solidFill>
                  <a:srgbClr val="4B4B4B"/>
                </a:solidFill>
              </a:rPr>
              <a:t>T</a:t>
            </a:r>
            <a:r>
              <a:rPr lang="zh-CN" altLang="zh-CN" sz="1200" dirty="0">
                <a:solidFill>
                  <a:srgbClr val="4B4B4B"/>
                </a:solidFill>
              </a:rPr>
              <a:t> * A，将会得到 A</a:t>
            </a:r>
            <a:r>
              <a:rPr lang="zh-CN" altLang="zh-CN" sz="1200" baseline="30000" dirty="0">
                <a:solidFill>
                  <a:srgbClr val="4B4B4B"/>
                </a:solidFill>
              </a:rPr>
              <a:t>T</a:t>
            </a:r>
            <a:r>
              <a:rPr lang="zh-CN" altLang="zh-CN" sz="1200" dirty="0">
                <a:solidFill>
                  <a:srgbClr val="4B4B4B"/>
                </a:solidFill>
              </a:rPr>
              <a:t>A 是一个方阵，我们用这个方阵求特征值可以得到：</a:t>
            </a:r>
            <a:endParaRPr lang="en-US"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                      </a:t>
            </a:r>
            <a:endParaRPr lang="en-US" altLang="zh-CN" sz="1200" dirty="0">
              <a:solidFill>
                <a:srgbClr val="4B4B4B"/>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zh-CN" sz="1200" dirty="0">
                <a:solidFill>
                  <a:srgbClr val="4B4B4B"/>
                </a:solidFill>
              </a:rPr>
              <a:t>这里得到的v，就是我们上面的右奇异向量。 </a:t>
            </a:r>
          </a:p>
        </p:txBody>
      </p:sp>
      <p:pic>
        <p:nvPicPr>
          <p:cNvPr id="3078" name="Picture 6" descr="image">
            <a:hlinkClick r:id="rId9"/>
            <a:extLst>
              <a:ext uri="{FF2B5EF4-FFF2-40B4-BE49-F238E27FC236}">
                <a16:creationId xmlns:a16="http://schemas.microsoft.com/office/drawing/2014/main" id="{89B8D996-BD6C-1C66-1A63-D0546950E8C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5578" y="5975212"/>
            <a:ext cx="1457325" cy="419101"/>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F042FDB0-78AA-06F2-FC7D-804A8B670A54}"/>
              </a:ext>
            </a:extLst>
          </p:cNvPr>
          <p:cNvSpPr txBox="1"/>
          <p:nvPr/>
        </p:nvSpPr>
        <p:spPr>
          <a:xfrm>
            <a:off x="8232168" y="2054870"/>
            <a:ext cx="1338209" cy="369332"/>
          </a:xfrm>
          <a:prstGeom prst="rect">
            <a:avLst/>
          </a:prstGeom>
          <a:noFill/>
        </p:spPr>
        <p:txBody>
          <a:bodyPr wrap="squar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奇异值分解</a:t>
            </a:r>
            <a:endParaRPr lang="zh-CN" altLang="en-US" dirty="0"/>
          </a:p>
        </p:txBody>
      </p:sp>
      <p:sp>
        <p:nvSpPr>
          <p:cNvPr id="15" name="矩形 14">
            <a:extLst>
              <a:ext uri="{FF2B5EF4-FFF2-40B4-BE49-F238E27FC236}">
                <a16:creationId xmlns:a16="http://schemas.microsoft.com/office/drawing/2014/main" id="{35939B28-F425-39DA-92CC-610A22446756}"/>
              </a:ext>
            </a:extLst>
          </p:cNvPr>
          <p:cNvSpPr/>
          <p:nvPr/>
        </p:nvSpPr>
        <p:spPr>
          <a:xfrm>
            <a:off x="246580" y="2396003"/>
            <a:ext cx="6047313" cy="427372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77B45360-FCF8-E774-9C68-DDD196FA7337}"/>
              </a:ext>
            </a:extLst>
          </p:cNvPr>
          <p:cNvSpPr/>
          <p:nvPr/>
        </p:nvSpPr>
        <p:spPr>
          <a:xfrm>
            <a:off x="6364101" y="2382348"/>
            <a:ext cx="5581319" cy="427372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6711594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从</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到特征人脸</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pic>
        <p:nvPicPr>
          <p:cNvPr id="7" name="图片 6">
            <a:extLst>
              <a:ext uri="{FF2B5EF4-FFF2-40B4-BE49-F238E27FC236}">
                <a16:creationId xmlns:a16="http://schemas.microsoft.com/office/drawing/2014/main" id="{53053183-7233-4B85-9677-D99348619CF5}"/>
              </a:ext>
            </a:extLst>
          </p:cNvPr>
          <p:cNvPicPr>
            <a:picLocks noChangeAspect="1"/>
          </p:cNvPicPr>
          <p:nvPr/>
        </p:nvPicPr>
        <p:blipFill>
          <a:blip r:embed="rId3"/>
          <a:stretch>
            <a:fillRect/>
          </a:stretch>
        </p:blipFill>
        <p:spPr>
          <a:xfrm>
            <a:off x="3473250" y="1860440"/>
            <a:ext cx="4908802" cy="3959428"/>
          </a:xfrm>
          <a:prstGeom prst="rect">
            <a:avLst/>
          </a:prstGeom>
        </p:spPr>
      </p:pic>
    </p:spTree>
    <p:extLst>
      <p:ext uri="{BB962C8B-B14F-4D97-AF65-F5344CB8AC3E}">
        <p14:creationId xmlns:p14="http://schemas.microsoft.com/office/powerpoint/2010/main" val="31662717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从</a:t>
              </a:r>
              <a:r>
                <a:rPr lang="zh-CN" altLang="fr-FR"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到特征人脸：奇异值分解得到特征人脸</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36728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四、监督学习与非监督学习下特征降维</a:t>
            </a:r>
          </a:p>
        </p:txBody>
      </p:sp>
      <p:grpSp>
        <p:nvGrpSpPr>
          <p:cNvPr id="9" name="组合 8">
            <a:extLst>
              <a:ext uri="{FF2B5EF4-FFF2-40B4-BE49-F238E27FC236}">
                <a16:creationId xmlns:a16="http://schemas.microsoft.com/office/drawing/2014/main" id="{3B9EDE13-D451-4A41-8B26-A5B43E460DD3}"/>
              </a:ext>
            </a:extLst>
          </p:cNvPr>
          <p:cNvGrpSpPr/>
          <p:nvPr/>
        </p:nvGrpSpPr>
        <p:grpSpPr>
          <a:xfrm>
            <a:off x="1258860" y="1816864"/>
            <a:ext cx="3994076" cy="4473311"/>
            <a:chOff x="1258860" y="1816864"/>
            <a:chExt cx="3994076" cy="4473311"/>
          </a:xfrm>
        </p:grpSpPr>
        <p:pic>
          <p:nvPicPr>
            <p:cNvPr id="6" name="图片 5">
              <a:extLst>
                <a:ext uri="{FF2B5EF4-FFF2-40B4-BE49-F238E27FC236}">
                  <a16:creationId xmlns:a16="http://schemas.microsoft.com/office/drawing/2014/main" id="{1CE61386-D74B-4337-AB68-2528B8CD24A6}"/>
                </a:ext>
              </a:extLst>
            </p:cNvPr>
            <p:cNvPicPr>
              <a:picLocks noChangeAspect="1"/>
            </p:cNvPicPr>
            <p:nvPr/>
          </p:nvPicPr>
          <p:blipFill>
            <a:blip r:embed="rId3"/>
            <a:stretch>
              <a:fillRect/>
            </a:stretch>
          </p:blipFill>
          <p:spPr>
            <a:xfrm>
              <a:off x="1258860" y="2069618"/>
              <a:ext cx="3994076" cy="4220557"/>
            </a:xfrm>
            <a:prstGeom prst="rect">
              <a:avLst/>
            </a:prstGeom>
          </p:spPr>
        </p:pic>
        <p:pic>
          <p:nvPicPr>
            <p:cNvPr id="8" name="图片 7">
              <a:extLst>
                <a:ext uri="{FF2B5EF4-FFF2-40B4-BE49-F238E27FC236}">
                  <a16:creationId xmlns:a16="http://schemas.microsoft.com/office/drawing/2014/main" id="{FB05FC78-C6A3-4630-897D-5991B63C1B2A}"/>
                </a:ext>
              </a:extLst>
            </p:cNvPr>
            <p:cNvPicPr>
              <a:picLocks noChangeAspect="1"/>
            </p:cNvPicPr>
            <p:nvPr/>
          </p:nvPicPr>
          <p:blipFill>
            <a:blip r:embed="rId4"/>
            <a:stretch>
              <a:fillRect/>
            </a:stretch>
          </p:blipFill>
          <p:spPr>
            <a:xfrm>
              <a:off x="1336697" y="1816864"/>
              <a:ext cx="3916239" cy="252754"/>
            </a:xfrm>
            <a:prstGeom prst="rect">
              <a:avLst/>
            </a:prstGeom>
          </p:spPr>
        </p:pic>
      </p:grpSp>
      <p:pic>
        <p:nvPicPr>
          <p:cNvPr id="10" name="图片 9">
            <a:extLst>
              <a:ext uri="{FF2B5EF4-FFF2-40B4-BE49-F238E27FC236}">
                <a16:creationId xmlns:a16="http://schemas.microsoft.com/office/drawing/2014/main" id="{62258001-2898-472B-9C79-CEA046E0F441}"/>
              </a:ext>
            </a:extLst>
          </p:cNvPr>
          <p:cNvPicPr>
            <a:picLocks noChangeAspect="1"/>
          </p:cNvPicPr>
          <p:nvPr/>
        </p:nvPicPr>
        <p:blipFill>
          <a:blip r:embed="rId5"/>
          <a:stretch>
            <a:fillRect/>
          </a:stretch>
        </p:blipFill>
        <p:spPr>
          <a:xfrm>
            <a:off x="5817404" y="2536381"/>
            <a:ext cx="5213762" cy="3259202"/>
          </a:xfrm>
          <a:prstGeom prst="rect">
            <a:avLst/>
          </a:prstGeom>
        </p:spPr>
      </p:pic>
      <p:sp>
        <p:nvSpPr>
          <p:cNvPr id="7" name="矩形 6">
            <a:extLst>
              <a:ext uri="{FF2B5EF4-FFF2-40B4-BE49-F238E27FC236}">
                <a16:creationId xmlns:a16="http://schemas.microsoft.com/office/drawing/2014/main" id="{32AB4834-A833-DC6B-5DB8-50B2DFF5D0EB}"/>
              </a:ext>
            </a:extLst>
          </p:cNvPr>
          <p:cNvSpPr/>
          <p:nvPr/>
        </p:nvSpPr>
        <p:spPr>
          <a:xfrm>
            <a:off x="984886" y="2752215"/>
            <a:ext cx="4268050" cy="543481"/>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0829741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p:sp>
        <p:nvSpPr>
          <p:cNvPr id="6" name="矩形 5">
            <a:extLst>
              <a:ext uri="{FF2B5EF4-FFF2-40B4-BE49-F238E27FC236}">
                <a16:creationId xmlns:a16="http://schemas.microsoft.com/office/drawing/2014/main" id="{C0705370-BA02-4E69-ABCE-71D21D520A81}"/>
              </a:ext>
            </a:extLst>
          </p:cNvPr>
          <p:cNvSpPr/>
          <p:nvPr/>
        </p:nvSpPr>
        <p:spPr>
          <a:xfrm>
            <a:off x="541065" y="1935038"/>
            <a:ext cx="11167584" cy="4610236"/>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演化算法（</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Evolutionary Algorithms</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）是指一大类受自然演化启发的启发式随机优化算法，</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通过</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突变重组</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自然选择</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这两种机制来模拟自然演化过程</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。演化算法有很多种实现方法，如</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遗传算法</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(genetic algorithm)</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、遗传规划</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(genetic programming</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GP)</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、演化策略</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(evolutionary strategy)</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等。</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遗传算法（</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Genetic Algorithm, GA</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）是演化学习的代表性算法之一，其受到达尔文</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物竞天择、适者生存</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进化论思想启示，引入</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选择</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(selection)</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、交叉</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(crossover)</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和变异</a:t>
            </a:r>
            <a:r>
              <a:rPr lang="en-US"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(mutation)</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等操作以搜索方式来进行优化求解。遗传算法由密歇根大学的约翰</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霍兰德（</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John H. Holland</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）和他的同事于</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二十世纪六十年代</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在对细胞自动机（</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cellular automata</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）进行研究时率先提出。</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在遗传算法中，对于一个待求解的最优化问题，先给定一定数量候选解（称为个体或染色体），然后让这些染色体所构成种群向最优解进化。在每一次进化过程中，计算每个染色体（即候选解）的适应度（</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fitness</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），根据适应度选择合适染色体，</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随后</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施以选择和变异来产生新的生命种群，该种群在算法下一次迭代中被作为当前种群。</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p:spTree>
    <p:extLst>
      <p:ext uri="{BB962C8B-B14F-4D97-AF65-F5344CB8AC3E}">
        <p14:creationId xmlns:p14="http://schemas.microsoft.com/office/powerpoint/2010/main" val="32334412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p:sp>
        <p:nvSpPr>
          <p:cNvPr id="7" name="矩形 6">
            <a:extLst>
              <a:ext uri="{FF2B5EF4-FFF2-40B4-BE49-F238E27FC236}">
                <a16:creationId xmlns:a16="http://schemas.microsoft.com/office/drawing/2014/main" id="{5249BD49-D16F-41BF-BC4C-41421DE6FC10}"/>
              </a:ext>
            </a:extLst>
          </p:cNvPr>
          <p:cNvSpPr/>
          <p:nvPr/>
        </p:nvSpPr>
        <p:spPr>
          <a:xfrm>
            <a:off x="1352662" y="2016832"/>
            <a:ext cx="8370277" cy="3740768"/>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：初始化具有若干规模数目的群体。当前进化代数</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Generation=0</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采用评估函数计算群体中每个染色体的适应值</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，保存适应值最大的染色体</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Best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：采用轮盘赌选择算法对群体中染色体进行</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选择</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，产生同样规模的种群。</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：按照概率从种群中选择两对染色体进行</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交叉</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操作，即对所选中两对染色体中相应基因片段信息进行交换。交叉所得染色体进入新种群，未交叉操作染色体被复制进入新种群。</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：按照概率对新种群中被选中染色体的若干基因片段进行</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变异</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操作。变异后染色体取代原有染色体进入新种群，未发生变异染色体直接进入新群体。</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计算种群中各个染色体的适应值</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。倘若种群中染色体最大适应值大于已知</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Best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适应值，则取代原有</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Best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7</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：当前进化代数</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Generation</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加</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Generation</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超过规定的最大进化代数或</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Best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达到规定的误差要求，算法结束；否则返回步骤</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p:spTree>
    <p:extLst>
      <p:ext uri="{BB962C8B-B14F-4D97-AF65-F5344CB8AC3E}">
        <p14:creationId xmlns:p14="http://schemas.microsoft.com/office/powerpoint/2010/main" val="25376009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A89B0A6-F08A-4DDC-A882-21D7CCA8A945}"/>
                  </a:ext>
                </a:extLst>
              </p:cNvPr>
              <p:cNvSpPr/>
              <p:nvPr/>
            </p:nvSpPr>
            <p:spPr>
              <a:xfrm>
                <a:off x="578939" y="1763699"/>
                <a:ext cx="11259565" cy="1118768"/>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已知函数</a:t>
                </a:r>
                <a14:m>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𝑦</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Sub>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num>
                      <m:den>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+8</m:t>
                        </m:r>
                      </m:den>
                    </m:f>
                  </m:oMath>
                </a14:m>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−5≤</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≤5</m:t>
                    </m:r>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，用遗传算法求解函数</a:t>
                </a:r>
                <a14:m>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𝑦</m:t>
                    </m:r>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的最大值及对应变量</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Sub>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Sub>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的取值。</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3A89B0A6-F08A-4DDC-A882-21D7CCA8A945}"/>
                  </a:ext>
                </a:extLst>
              </p:cNvPr>
              <p:cNvSpPr>
                <a:spLocks noRot="1" noChangeAspect="1" noMove="1" noResize="1" noEditPoints="1" noAdjustHandles="1" noChangeArrowheads="1" noChangeShapeType="1" noTextEdit="1"/>
              </p:cNvSpPr>
              <p:nvPr/>
            </p:nvSpPr>
            <p:spPr>
              <a:xfrm>
                <a:off x="578939" y="1763699"/>
                <a:ext cx="11259565" cy="1118768"/>
              </a:xfrm>
              <a:prstGeom prst="rect">
                <a:avLst/>
              </a:prstGeom>
              <a:blipFill>
                <a:blip r:embed="rId3"/>
                <a:stretch>
                  <a:fillRect l="-487" r="-433" b="-54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E75EB36-7A23-4DA7-92A0-BF354E42FE0D}"/>
                  </a:ext>
                </a:extLst>
              </p:cNvPr>
              <p:cNvSpPr/>
              <p:nvPr/>
            </p:nvSpPr>
            <p:spPr>
              <a:xfrm>
                <a:off x="952495" y="3140034"/>
                <a:ext cx="9398300" cy="3016210"/>
              </a:xfrm>
              <a:prstGeom prst="rect">
                <a:avLst/>
              </a:prstGeom>
            </p:spPr>
            <p:txBody>
              <a:bodyPr wrap="square">
                <a:spAutoFit/>
              </a:bodyPr>
              <a:lstStyle/>
              <a:p>
                <a:pPr indent="127000" algn="just">
                  <a:lnSpc>
                    <a:spcPts val="2200"/>
                  </a:lnSpc>
                  <a:spcAft>
                    <a:spcPts val="0"/>
                  </a:spcAft>
                </a:pPr>
                <a:r>
                  <a:rPr lang="zh-CN" altLang="zh-CN"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zh-CN"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：初始化</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假设种群规模数目为</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，使用浮点数编码方式构造染色体（即候选解）。每个染色体以四维向量形式表示，对应函数</a:t>
                </a:r>
                <a14:m>
                  <m:oMath xmlns:m="http://schemas.openxmlformats.org/officeDocument/2006/math">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sub>
                        </m:sSub>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sub>
                        </m:sSub>
                      </m:e>
                    </m:d>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中四个变量取值。初始化后得到如下五个染色体：</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−2.1351, 2.0917, −0.1327, −4.1006</m:t>
                          </m: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1.0152, −3.9811, −2.6638, 3.7535</m:t>
                          </m: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4.0589, 2.1904, −0.1503, 0.0023</m:t>
                          </m: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−3.4098, −3.0714, −0.9008, −4.3712</m:t>
                          </m: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5</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0.2073, 2.9932, −4.0802, 1.8794</m:t>
                          </m: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AE75EB36-7A23-4DA7-92A0-BF354E42FE0D}"/>
                  </a:ext>
                </a:extLst>
              </p:cNvPr>
              <p:cNvSpPr>
                <a:spLocks noRot="1" noChangeAspect="1" noMove="1" noResize="1" noEditPoints="1" noAdjustHandles="1" noChangeArrowheads="1" noChangeShapeType="1" noTextEdit="1"/>
              </p:cNvSpPr>
              <p:nvPr/>
            </p:nvSpPr>
            <p:spPr>
              <a:xfrm>
                <a:off x="952495" y="3140034"/>
                <a:ext cx="9398300" cy="3016210"/>
              </a:xfrm>
              <a:prstGeom prst="rect">
                <a:avLst/>
              </a:prstGeom>
              <a:blipFill>
                <a:blip r:embed="rId4"/>
                <a:stretch>
                  <a:fillRect l="-519" t="-2020" r="-29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058040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A5711E6-01AD-4438-8198-1E3C5F754FF5}"/>
                  </a:ext>
                </a:extLst>
              </p:cNvPr>
              <p:cNvSpPr/>
              <p:nvPr/>
            </p:nvSpPr>
            <p:spPr>
              <a:xfrm>
                <a:off x="990274" y="2056010"/>
                <a:ext cx="10447841" cy="3611758"/>
              </a:xfrm>
              <a:prstGeom prst="rect">
                <a:avLst/>
              </a:prstGeom>
            </p:spPr>
            <p:txBody>
              <a:bodyPr wrap="square">
                <a:spAutoFit/>
              </a:bodyPr>
              <a:lstStyle/>
              <a:p>
                <a:pPr algn="just">
                  <a:lnSpc>
                    <a:spcPct val="150000"/>
                  </a:lnSpc>
                  <a:spcAft>
                    <a:spcPts val="0"/>
                  </a:spcAft>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步骤</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：计算适应值</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如下计算每个染色体适应值</a:t>
                </a:r>
                <a:r>
                  <a:rPr lang="zh-CN" altLang="zh-CN" kern="100" dirty="0">
                    <a:latin typeface="等线" panose="02010600030101010101" pitchFamily="2" charset="-122"/>
                    <a:ea typeface="Times New Roman" panose="02020603050405020304" pitchFamily="18" charset="0"/>
                    <a:cs typeface="Times New Roman" panose="02020603050405020304" pitchFamily="18" charset="0"/>
                  </a:rPr>
                  <a:t> </a:t>
                </a:r>
                <a14:m>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𝐸𝑣𝑎𝑙</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Sub>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num>
                      <m:den>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+8</m:t>
                        </m:r>
                      </m:den>
                    </m:f>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𝐸𝑣𝑎𝑙</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1</m:t>
                              </m:r>
                            </m:sub>
                          </m:sSub>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−2.1351, 2.0917, −0.1327, −4.1006</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kern="100">
                          <a:latin typeface="Cambria Math" panose="02040503050406030204" pitchFamily="18" charset="0"/>
                          <a:ea typeface="楷体" panose="02010609060101010101" pitchFamily="49" charset="-122"/>
                          <a:cs typeface="Times New Roman" panose="02020603050405020304" pitchFamily="18" charset="0"/>
                        </a:rPr>
                        <m:t>0.0296152</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𝐸𝑣𝑎𝑙</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2</m:t>
                              </m:r>
                            </m:sub>
                          </m:sSub>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1.0152, −3.9811, −2.6638, 3.7535</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kern="100">
                          <a:latin typeface="Cambria Math" panose="02040503050406030204" pitchFamily="18" charset="0"/>
                          <a:ea typeface="楷体" panose="02010609060101010101" pitchFamily="49" charset="-122"/>
                          <a:cs typeface="Times New Roman" panose="02020603050405020304" pitchFamily="18" charset="0"/>
                        </a:rPr>
                        <m:t>0.0217087</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nSpc>
                    <a:spcPct val="150000"/>
                  </a:lnSpc>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𝐸𝑣𝑎𝑙</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Sub>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4.0589, 2.1904, −0.1503, 0.0023</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kern="100">
                          <a:latin typeface="Cambria Math" panose="02040503050406030204" pitchFamily="18" charset="0"/>
                          <a:ea typeface="楷体" panose="02010609060101010101" pitchFamily="49" charset="-122"/>
                          <a:cs typeface="Times New Roman" panose="02020603050405020304" pitchFamily="18" charset="0"/>
                        </a:rPr>
                        <m:t>0.0341354</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𝐸𝑣𝑎𝑙</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Sub>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−3.4098, −3.0714, −0.9008, −4.3712</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kern="100">
                          <a:latin typeface="Cambria Math" panose="02040503050406030204" pitchFamily="18" charset="0"/>
                          <a:ea typeface="楷体" panose="02010609060101010101" pitchFamily="49" charset="-122"/>
                          <a:cs typeface="Times New Roman" panose="02020603050405020304" pitchFamily="18" charset="0"/>
                        </a:rPr>
                        <m:t>0.0204169</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𝐸𝑣𝑎𝑙</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5</m:t>
                              </m:r>
                            </m:sub>
                          </m:sSub>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0.2073, 2.9932, −4.0802, 1.8794</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kern="100">
                          <a:latin typeface="Cambria Math" panose="02040503050406030204" pitchFamily="18" charset="0"/>
                          <a:ea typeface="楷体" panose="02010609060101010101" pitchFamily="49" charset="-122"/>
                          <a:cs typeface="Times New Roman" panose="02020603050405020304" pitchFamily="18" charset="0"/>
                        </a:rPr>
                        <m:t>0.0268944</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因此</a:t>
                </a:r>
                <a14:m>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𝐵𝑒𝑠𝑡</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𝐸𝑣𝑎𝑙</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𝐵𝑒𝑠𝑡</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kern="100">
                        <a:latin typeface="Cambria Math" panose="02040503050406030204" pitchFamily="18" charset="0"/>
                        <a:ea typeface="楷体" panose="02010609060101010101" pitchFamily="49" charset="-122"/>
                        <a:cs typeface="Times New Roman" panose="02020603050405020304" pitchFamily="18" charset="0"/>
                      </a:rPr>
                      <m:t>0.0341354</m:t>
                    </m:r>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6A5711E6-01AD-4438-8198-1E3C5F754FF5}"/>
                  </a:ext>
                </a:extLst>
              </p:cNvPr>
              <p:cNvSpPr>
                <a:spLocks noRot="1" noChangeAspect="1" noMove="1" noResize="1" noEditPoints="1" noAdjustHandles="1" noChangeArrowheads="1" noChangeShapeType="1" noTextEdit="1"/>
              </p:cNvSpPr>
              <p:nvPr/>
            </p:nvSpPr>
            <p:spPr>
              <a:xfrm>
                <a:off x="990274" y="2056010"/>
                <a:ext cx="10447841" cy="3611758"/>
              </a:xfrm>
              <a:prstGeom prst="rect">
                <a:avLst/>
              </a:prstGeom>
              <a:blipFill>
                <a:blip r:embed="rId3"/>
                <a:stretch>
                  <a:fillRect l="-467" b="-10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251309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p:sp>
        <p:nvSpPr>
          <p:cNvPr id="7" name="矩形 6">
            <a:extLst>
              <a:ext uri="{FF2B5EF4-FFF2-40B4-BE49-F238E27FC236}">
                <a16:creationId xmlns:a16="http://schemas.microsoft.com/office/drawing/2014/main" id="{66176340-FB83-4921-BCB2-FD9783E9A71C}"/>
              </a:ext>
            </a:extLst>
          </p:cNvPr>
          <p:cNvSpPr/>
          <p:nvPr/>
        </p:nvSpPr>
        <p:spPr>
          <a:xfrm>
            <a:off x="438545" y="1928589"/>
            <a:ext cx="10978211" cy="923330"/>
          </a:xfrm>
          <a:prstGeom prst="rect">
            <a:avLst/>
          </a:prstGeom>
        </p:spPr>
        <p:txBody>
          <a:bodyPr wrap="square">
            <a:spAutoFit/>
          </a:bodyPr>
          <a:lstStyle/>
          <a:p>
            <a:pPr algn="just">
              <a:lnSpc>
                <a:spcPct val="150000"/>
              </a:lnSpc>
              <a:spcAft>
                <a:spcPts val="0"/>
              </a:spcAft>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步骤</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：选择</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采用轮盘赌选择算法</a:t>
            </a:r>
            <a:r>
              <a:rPr lang="zh-CN" altLang="en-US" kern="100" dirty="0">
                <a:latin typeface="Times New Roman" panose="02020603050405020304" pitchFamily="18" charset="0"/>
                <a:ea typeface="楷体" panose="02010609060101010101" pitchFamily="49" charset="-122"/>
                <a:cs typeface="Times New Roman" panose="02020603050405020304" pitchFamily="18" charset="0"/>
              </a:rPr>
              <a:t>对染色体进行选择</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，得到新种群为：</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p:cNvSpPr/>
              <p:nvPr/>
            </p:nvSpPr>
            <p:spPr>
              <a:xfrm>
                <a:off x="-219635" y="3228031"/>
                <a:ext cx="6096000" cy="1938992"/>
              </a:xfrm>
              <a:prstGeom prst="rect">
                <a:avLst/>
              </a:prstGeom>
            </p:spPr>
            <p:txBody>
              <a:bodyPr>
                <a:spAutoFit/>
              </a:bodyPr>
              <a:lstStyle/>
              <a:p>
                <a:pPr indent="266700">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−2.1351, 2.0917, −0.1327, −4.1006</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1.0152, −3.9811, −2.6638, 3.7535</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3</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4.0589, 2.1904, −0.1503, 0.0023</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4</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−3.4098, −3.0714, −0.9008, −4.3712</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5</m:t>
                          </m:r>
                        </m:sub>
                      </m:s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0.2073, 2.9932, −4.0802, 1.8794</m:t>
                          </m:r>
                        </m:e>
                      </m:d>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219635" y="3228031"/>
                <a:ext cx="6096000" cy="193899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441576" y="3228031"/>
                <a:ext cx="6096000" cy="1938992"/>
              </a:xfrm>
              <a:prstGeom prst="rect">
                <a:avLst/>
              </a:prstGeom>
            </p:spPr>
            <p:txBody>
              <a:bodyPr>
                <a:spAutoFit/>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1.0152, −3.9811, −2.6638, 3.7535</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4.0589, 2.1904, −0.1503, 0.0023</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3</m:t>
                          </m:r>
                        </m:sub>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1.0152, −3.9811, −2.6638, 3.7535</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4</m:t>
                          </m:r>
                        </m:sub>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1.0152, −3.9811, −2.6638, 3.7535</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5</m:t>
                          </m:r>
                        </m:sub>
                        <m: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0.2073, 2.9932, −4.0802, 1.8794</m:t>
                          </m:r>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5441576" y="3228031"/>
                <a:ext cx="6096000" cy="1938992"/>
              </a:xfrm>
              <a:prstGeom prst="rect">
                <a:avLst/>
              </a:prstGeom>
              <a:blipFill>
                <a:blip r:embed="rId4"/>
                <a:stretch>
                  <a:fillRect/>
                </a:stretch>
              </a:blipFill>
            </p:spPr>
            <p:txBody>
              <a:bodyPr/>
              <a:lstStyle/>
              <a:p>
                <a:r>
                  <a:rPr lang="zh-CN" altLang="en-US">
                    <a:noFill/>
                  </a:rPr>
                  <a:t> </a:t>
                </a:r>
              </a:p>
            </p:txBody>
          </p:sp>
        </mc:Fallback>
      </mc:AlternateContent>
      <p:sp>
        <p:nvSpPr>
          <p:cNvPr id="9" name="右箭头 8"/>
          <p:cNvSpPr/>
          <p:nvPr/>
        </p:nvSpPr>
        <p:spPr>
          <a:xfrm>
            <a:off x="5284695" y="3949874"/>
            <a:ext cx="1012750" cy="3630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978090" y="3580542"/>
            <a:ext cx="1338828" cy="369332"/>
          </a:xfrm>
          <a:prstGeom prst="rect">
            <a:avLst/>
          </a:prstGeom>
        </p:spPr>
        <p:txBody>
          <a:bodyPr wrap="none">
            <a:spAutoFit/>
          </a:bodyPr>
          <a:lstStyle/>
          <a:p>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轮盘赌选择</a:t>
            </a:r>
            <a:endParaRPr lang="zh-CN" altLang="en-US" dirty="0"/>
          </a:p>
        </p:txBody>
      </p:sp>
    </p:spTree>
    <p:extLst>
      <p:ext uri="{BB962C8B-B14F-4D97-AF65-F5344CB8AC3E}">
        <p14:creationId xmlns:p14="http://schemas.microsoft.com/office/powerpoint/2010/main" val="40725493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E48F294-017C-4023-9C98-A7813FDAB24D}"/>
                  </a:ext>
                </a:extLst>
              </p:cNvPr>
              <p:cNvSpPr/>
              <p:nvPr/>
            </p:nvSpPr>
            <p:spPr>
              <a:xfrm>
                <a:off x="587340" y="1946989"/>
                <a:ext cx="10918692" cy="4301434"/>
              </a:xfrm>
              <a:prstGeom prst="rect">
                <a:avLst/>
              </a:prstGeom>
            </p:spPr>
            <p:txBody>
              <a:bodyPr wrap="square">
                <a:spAutoFit/>
              </a:bodyPr>
              <a:lstStyle/>
              <a:p>
                <a:pPr indent="127000" algn="just">
                  <a:lnSpc>
                    <a:spcPts val="2200"/>
                  </a:lnSpc>
                  <a:spcAft>
                    <a:spcPts val="0"/>
                  </a:spcAft>
                </a:pPr>
                <a:r>
                  <a:rPr lang="zh-CN" altLang="zh-CN"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步骤</a:t>
                </a:r>
                <a:r>
                  <a:rPr lang="en-US" altLang="zh-CN"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zh-CN"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：交叉</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具体而言，随机生成</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至</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之间一个自然数作为交叉位，每对染色体交换交叉位及之后基因信息（例如交叉位为</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，则交换这对染色体</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号位以及之后的基因信息）：</a:t>
                </a:r>
                <a:endParaRPr lang="en-US" altLang="zh-CN"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en-US" altLang="zh-CN" kern="100" dirty="0">
                  <a:latin typeface="Times New Roman" panose="02020603050405020304" pitchFamily="18" charset="0"/>
                  <a:ea typeface="楷体" panose="02010609060101010101" pitchFamily="49" charset="-122"/>
                  <a:cs typeface="Times New Roman" panose="02020603050405020304" pitchFamily="18" charset="0"/>
                </a:endParaRPr>
              </a:p>
              <a:p>
                <a:pPr lvl="0">
                  <a:lnSpc>
                    <a:spcPct val="150000"/>
                  </a:lnSpc>
                </a:pPr>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2</m:t>
                        </m:r>
                      </m:sub>
                      <m:sup>
                        <m:r>
                          <a:rPr lang="en-US" altLang="zh-CN" i="1">
                            <a:latin typeface="Cambria Math" panose="02040503050406030204" pitchFamily="18" charset="0"/>
                          </a:rPr>
                          <m:t>′</m:t>
                        </m:r>
                      </m:sup>
                    </m:sSub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交叉位为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，交换这对染色体</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号位以及之后基因信息，得到新的染色体：</a:t>
                </a:r>
                <a:endParaRPr lang="zh-CN" altLang="zh-CN" dirty="0">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1.0152, −3.9811, −0.1503, 0.0023</m:t>
                          </m:r>
                        </m:e>
                      </m:d>
                    </m:oMath>
                  </m:oMathPara>
                </a14:m>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4.0589, 2.1904, −2.6638, 3.7535</m:t>
                          </m:r>
                        </m:e>
                      </m:d>
                    </m:oMath>
                  </m:oMathPara>
                </a14:m>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lvl="0">
                  <a:lnSpc>
                    <a:spcPct val="150000"/>
                  </a:lnSpc>
                </a:pPr>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4</m:t>
                        </m:r>
                      </m:sub>
                      <m:sup>
                        <m:r>
                          <a:rPr lang="en-US" altLang="zh-CN" i="1">
                            <a:latin typeface="Cambria Math" panose="02040503050406030204" pitchFamily="18" charset="0"/>
                          </a:rPr>
                          <m:t>′</m:t>
                        </m:r>
                      </m:sup>
                    </m:sSub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5</m:t>
                        </m:r>
                      </m:sub>
                      <m:sup>
                        <m:r>
                          <a:rPr lang="en-US" altLang="zh-CN" i="1">
                            <a:latin typeface="Cambria Math" panose="02040503050406030204" pitchFamily="18" charset="0"/>
                          </a:rPr>
                          <m:t>′</m:t>
                        </m:r>
                      </m:sup>
                    </m:sSub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交叉位为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，交换这对染色体</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号位以及之后基因信息，得到新的染色体：</a:t>
                </a:r>
                <a:endParaRPr lang="zh-CN" altLang="zh-CN" dirty="0">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4</m:t>
                          </m:r>
                        </m:sub>
                        <m:sup>
                          <m:r>
                            <a:rPr lang="en-US" altLang="zh-CN" i="1">
                              <a:latin typeface="Cambria Math" panose="02040503050406030204" pitchFamily="18" charset="0"/>
                            </a:rPr>
                            <m:t>′′</m:t>
                          </m:r>
                        </m:sup>
                      </m:sSubSup>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1.0152, −3.9811, −2.6638, 1.8794</m:t>
                          </m:r>
                        </m:e>
                      </m:d>
                    </m:oMath>
                  </m:oMathPara>
                </a14:m>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5</m:t>
                          </m:r>
                        </m:sub>
                        <m:sup>
                          <m:r>
                            <a:rPr lang="en-US" altLang="zh-CN" i="1">
                              <a:latin typeface="Cambria Math" panose="02040503050406030204" pitchFamily="18" charset="0"/>
                            </a:rPr>
                            <m:t>′′</m:t>
                          </m:r>
                        </m:sup>
                      </m:sSubSup>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0.2073, 2.9932, −4.0802, 3.7535</m:t>
                          </m:r>
                        </m:e>
                      </m:d>
                    </m:oMath>
                  </m:oMathPara>
                </a14:m>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0E48F294-017C-4023-9C98-A7813FDAB24D}"/>
                  </a:ext>
                </a:extLst>
              </p:cNvPr>
              <p:cNvSpPr>
                <a:spLocks noRot="1" noChangeAspect="1" noMove="1" noResize="1" noEditPoints="1" noAdjustHandles="1" noChangeArrowheads="1" noChangeShapeType="1" noTextEdit="1"/>
              </p:cNvSpPr>
              <p:nvPr/>
            </p:nvSpPr>
            <p:spPr>
              <a:xfrm>
                <a:off x="587340" y="1946989"/>
                <a:ext cx="10918692" cy="4301434"/>
              </a:xfrm>
              <a:prstGeom prst="rect">
                <a:avLst/>
              </a:prstGeom>
              <a:blipFill>
                <a:blip r:embed="rId3"/>
                <a:stretch>
                  <a:fillRect l="-447" t="-1416" r="-5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4371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7FC24B3-D214-4D38-96B5-8BDE2FA5E46C}"/>
                  </a:ext>
                </a:extLst>
              </p:cNvPr>
              <p:cNvSpPr/>
              <p:nvPr/>
            </p:nvSpPr>
            <p:spPr>
              <a:xfrm>
                <a:off x="1420301" y="2320911"/>
                <a:ext cx="9482161" cy="2957733"/>
              </a:xfrm>
              <a:prstGeom prst="rect">
                <a:avLst/>
              </a:prstGeom>
            </p:spPr>
            <p:txBody>
              <a:bodyPr wrap="square">
                <a:spAutoFit/>
              </a:bodyPr>
              <a:lstStyle/>
              <a:p>
                <a:pPr algn="just">
                  <a:lnSpc>
                    <a:spcPct val="150000"/>
                  </a:lnSpc>
                  <a:spcAft>
                    <a:spcPts val="0"/>
                  </a:spcAft>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步骤</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5</a:t>
                </a: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：变异</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假设变异概率为</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。对于每个染色体中若干基因随机生成</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的随机数，若该随机数小于</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，则改变该基因信息取值，否则不改变该基因信息取值：</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algn="just">
                  <a:lnSpc>
                    <a:spcPct val="150000"/>
                  </a:lnSpc>
                  <a:spcAft>
                    <a:spcPts val="0"/>
                  </a:spcAft>
                </a:pPr>
                <a14:m>
                  <m:oMath xmlns:m="http://schemas.openxmlformats.org/officeDocument/2006/math">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up>
                    </m:sSubSup>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的一号位基因采样所得随机数小于</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0.1</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，该基因发生随机变异，其它基因信息保持不变：</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3</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1.0152, −3.9811, −2.6638, 3.7535</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3.0953, −3.9811, −2.6638, 3.7535</m:t>
                          </m: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 xmlns:m="http://schemas.openxmlformats.org/officeDocument/2006/math">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4</m:t>
                        </m:r>
                      </m:sub>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up>
                    </m:sSubSup>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的二号位基因采样所得随机数小于</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0.1</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，该基因发生随机变异，其它基因信息保持不变：</a:t>
                </a:r>
                <a14:m>
                  <m:oMath xmlns:m="http://schemas.openxmlformats.org/officeDocument/2006/math">
                    <m:sSubSup>
                      <m:sSubSupPr>
                        <m:ctrlPr>
                          <a:rPr lang="zh-CN" altLang="zh-CN" i="1" ker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𝐶</m:t>
                        </m:r>
                      </m:e>
                      <m:sub>
                        <m:r>
                          <a:rPr lang="en-US" altLang="zh-CN" kern="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sub>
                      <m:sup>
                        <m:r>
                          <a:rPr lang="en-US" altLang="zh-CN" i="1" ker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1.0152, −3.9811, −2.6638, 1.8794</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1.0152, 0.0153, −2.6638, 1.8794</m:t>
                        </m:r>
                      </m:e>
                    </m:d>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57FC24B3-D214-4D38-96B5-8BDE2FA5E46C}"/>
                  </a:ext>
                </a:extLst>
              </p:cNvPr>
              <p:cNvSpPr>
                <a:spLocks noRot="1" noChangeAspect="1" noMove="1" noResize="1" noEditPoints="1" noAdjustHandles="1" noChangeArrowheads="1" noChangeShapeType="1" noTextEdit="1"/>
              </p:cNvSpPr>
              <p:nvPr/>
            </p:nvSpPr>
            <p:spPr>
              <a:xfrm>
                <a:off x="1420301" y="2320911"/>
                <a:ext cx="9482161" cy="2957733"/>
              </a:xfrm>
              <a:prstGeom prst="rect">
                <a:avLst/>
              </a:prstGeom>
              <a:blipFill>
                <a:blip r:embed="rId3"/>
                <a:stretch>
                  <a:fillRect l="-579" r="-5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02622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evolutionary algorithm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1" name="矩形 20">
            <a:extLst>
              <a:ext uri="{FF2B5EF4-FFF2-40B4-BE49-F238E27FC236}">
                <a16:creationId xmlns:a16="http://schemas.microsoft.com/office/drawing/2014/main" id="{516C3D9D-EAB0-456E-98CD-C6FC12AB3094}"/>
              </a:ext>
            </a:extLst>
          </p:cNvPr>
          <p:cNvSpPr/>
          <p:nvPr/>
        </p:nvSpPr>
        <p:spPr>
          <a:xfrm>
            <a:off x="871928"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五、演化学习</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535E2C8-1842-457D-A62A-73F0C4518245}"/>
                  </a:ext>
                </a:extLst>
              </p:cNvPr>
              <p:cNvSpPr/>
              <p:nvPr/>
            </p:nvSpPr>
            <p:spPr>
              <a:xfrm>
                <a:off x="1336432" y="2716874"/>
                <a:ext cx="10750962" cy="2226828"/>
              </a:xfrm>
              <a:prstGeom prst="rect">
                <a:avLst/>
              </a:prstGeom>
            </p:spPr>
            <p:txBody>
              <a:bodyPr wrap="square">
                <a:spAutoFit/>
              </a:bodyPr>
              <a:lstStyle/>
              <a:p>
                <a:pPr algn="just">
                  <a:lnSpc>
                    <a:spcPct val="200000"/>
                  </a:lnSpc>
                  <a:spcAft>
                    <a:spcPts val="0"/>
                  </a:spcAft>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步骤</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6</a:t>
                </a: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：重新评价染色体适应值，更新</a:t>
                </a:r>
                <a14:m>
                  <m:oMath xmlns:m="http://schemas.openxmlformats.org/officeDocument/2006/math">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𝑩𝒆𝒔𝒕</m:t>
                    </m:r>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200000"/>
                  </a:lnSpc>
                  <a:spcAft>
                    <a:spcPts val="0"/>
                  </a:spcAft>
                </a:pPr>
                <a:endParaRPr lang="en-US" altLang="zh-CN" b="1" kern="1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200000"/>
                  </a:lnSpc>
                  <a:spcAft>
                    <a:spcPts val="0"/>
                  </a:spcAft>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步骤</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7</a:t>
                </a: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：判断结束</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200000"/>
                  </a:lnSpc>
                  <a:spcAft>
                    <a:spcPts val="0"/>
                  </a:spcAft>
                </a:pP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如果符合算法终止条件，则输出所找到最优解</a:t>
                </a:r>
                <a14:m>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𝐵𝑒𝑠𝑡</m:t>
                    </m:r>
                  </m:oMath>
                </a14:m>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，退出程序，否则返回步骤</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继续执行。</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5535E2C8-1842-457D-A62A-73F0C4518245}"/>
                  </a:ext>
                </a:extLst>
              </p:cNvPr>
              <p:cNvSpPr>
                <a:spLocks noRot="1" noChangeAspect="1" noMove="1" noResize="1" noEditPoints="1" noAdjustHandles="1" noChangeArrowheads="1" noChangeShapeType="1" noTextEdit="1"/>
              </p:cNvSpPr>
              <p:nvPr/>
            </p:nvSpPr>
            <p:spPr>
              <a:xfrm>
                <a:off x="1336432" y="2716874"/>
                <a:ext cx="10750962" cy="2226828"/>
              </a:xfrm>
              <a:prstGeom prst="rect">
                <a:avLst/>
              </a:prstGeom>
              <a:blipFill>
                <a:blip r:embed="rId3"/>
                <a:stretch>
                  <a:fillRect l="-454" b="-35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79209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E02CB85-DED0-55A7-59EF-3625979B1696}"/>
              </a:ext>
            </a:extLst>
          </p:cNvPr>
          <p:cNvPicPr>
            <a:picLocks noChangeAspect="1"/>
          </p:cNvPicPr>
          <p:nvPr/>
        </p:nvPicPr>
        <p:blipFill>
          <a:blip r:embed="rId2"/>
          <a:stretch>
            <a:fillRect/>
          </a:stretch>
        </p:blipFill>
        <p:spPr>
          <a:xfrm>
            <a:off x="746438" y="1276150"/>
            <a:ext cx="6179351" cy="5455546"/>
          </a:xfrm>
          <a:prstGeom prst="rect">
            <a:avLst/>
          </a:prstGeom>
        </p:spPr>
      </p:pic>
      <p:sp>
        <p:nvSpPr>
          <p:cNvPr id="6" name="文本框 5">
            <a:extLst>
              <a:ext uri="{FF2B5EF4-FFF2-40B4-BE49-F238E27FC236}">
                <a16:creationId xmlns:a16="http://schemas.microsoft.com/office/drawing/2014/main" id="{9B097B1F-718E-2B93-ED85-0CFB54A3211B}"/>
              </a:ext>
            </a:extLst>
          </p:cNvPr>
          <p:cNvSpPr txBox="1"/>
          <p:nvPr/>
        </p:nvSpPr>
        <p:spPr>
          <a:xfrm>
            <a:off x="7055776" y="2753442"/>
            <a:ext cx="4708134" cy="1477328"/>
          </a:xfrm>
          <a:prstGeom prst="rect">
            <a:avLst/>
          </a:prstGeom>
          <a:noFill/>
        </p:spPr>
        <p:txBody>
          <a:bodyPr wrap="square">
            <a:spAutoFit/>
          </a:bodyPr>
          <a:lstStyle/>
          <a:p>
            <a:r>
              <a:rPr lang="zh-CN" altLang="en-US" dirty="0"/>
              <a:t>提交事项：</a:t>
            </a:r>
          </a:p>
          <a:p>
            <a:r>
              <a:rPr lang="zh-CN" altLang="en-US" dirty="0"/>
              <a:t>截止时间：</a:t>
            </a:r>
            <a:r>
              <a:rPr lang="en-US" altLang="zh-CN" dirty="0"/>
              <a:t>2025 </a:t>
            </a:r>
            <a:r>
              <a:rPr lang="zh-CN" altLang="en-US" dirty="0"/>
              <a:t>年</a:t>
            </a:r>
            <a:r>
              <a:rPr lang="en-US" altLang="zh-CN" dirty="0"/>
              <a:t>10</a:t>
            </a:r>
            <a:r>
              <a:rPr lang="zh-CN" altLang="en-US" dirty="0"/>
              <a:t>月</a:t>
            </a:r>
            <a:r>
              <a:rPr lang="en-US" altLang="zh-CN" dirty="0"/>
              <a:t>31 </a:t>
            </a:r>
            <a:r>
              <a:rPr lang="zh-CN" altLang="en-US" dirty="0"/>
              <a:t>日</a:t>
            </a:r>
            <a:r>
              <a:rPr lang="en-US" altLang="zh-CN" dirty="0"/>
              <a:t>24</a:t>
            </a:r>
            <a:r>
              <a:rPr lang="zh-CN" altLang="en-US" dirty="0"/>
              <a:t>：</a:t>
            </a:r>
            <a:r>
              <a:rPr lang="en-US" altLang="zh-CN" dirty="0"/>
              <a:t>00</a:t>
            </a:r>
          </a:p>
          <a:p>
            <a:r>
              <a:rPr lang="zh-CN" altLang="en-US" dirty="0"/>
              <a:t>提交内容：源代码和报告（</a:t>
            </a:r>
            <a:r>
              <a:rPr lang="zh-CN" altLang="en-US" dirty="0">
                <a:solidFill>
                  <a:srgbClr val="FF0000"/>
                </a:solidFill>
              </a:rPr>
              <a:t>禁止抄袭！</a:t>
            </a:r>
            <a:r>
              <a:rPr lang="zh-CN" altLang="en-US" dirty="0"/>
              <a:t>）</a:t>
            </a:r>
            <a:endParaRPr lang="en-US" altLang="zh-CN" dirty="0"/>
          </a:p>
          <a:p>
            <a:r>
              <a:rPr lang="zh-CN" altLang="en-US" dirty="0"/>
              <a:t>提交邮箱：</a:t>
            </a:r>
            <a:r>
              <a:rPr lang="en-US" altLang="zh-CN" dirty="0">
                <a:hlinkClick r:id="rId3"/>
              </a:rPr>
              <a:t>23020251154393@stu.xmu.edu.cn</a:t>
            </a:r>
            <a:r>
              <a:rPr lang="zh-CN" altLang="en-US" dirty="0"/>
              <a:t>（助教邮箱）</a:t>
            </a:r>
          </a:p>
        </p:txBody>
      </p:sp>
      <p:grpSp>
        <p:nvGrpSpPr>
          <p:cNvPr id="7" name="组合 6">
            <a:extLst>
              <a:ext uri="{FF2B5EF4-FFF2-40B4-BE49-F238E27FC236}">
                <a16:creationId xmlns:a16="http://schemas.microsoft.com/office/drawing/2014/main" id="{8F149261-0579-0512-FA14-4902ECD5AA63}"/>
              </a:ext>
            </a:extLst>
          </p:cNvPr>
          <p:cNvGrpSpPr/>
          <p:nvPr/>
        </p:nvGrpSpPr>
        <p:grpSpPr>
          <a:xfrm>
            <a:off x="1642731" y="741597"/>
            <a:ext cx="8846288" cy="497934"/>
            <a:chOff x="2228892" y="2819853"/>
            <a:chExt cx="4786506" cy="497934"/>
          </a:xfrm>
        </p:grpSpPr>
        <p:sp>
          <p:nvSpPr>
            <p:cNvPr id="8" name="平行四边形 7">
              <a:extLst>
                <a:ext uri="{FF2B5EF4-FFF2-40B4-BE49-F238E27FC236}">
                  <a16:creationId xmlns:a16="http://schemas.microsoft.com/office/drawing/2014/main" id="{404131F4-D4E1-E363-215A-845EE57AB57A}"/>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a:extLst>
                <a:ext uri="{FF2B5EF4-FFF2-40B4-BE49-F238E27FC236}">
                  <a16:creationId xmlns:a16="http://schemas.microsoft.com/office/drawing/2014/main" id="{1A301F0C-593D-2C79-137F-E69FCE7A64F8}"/>
                </a:ext>
              </a:extLst>
            </p:cNvPr>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41106259-B8CD-D9F0-A603-CC7349D8C02B}"/>
                </a:ext>
              </a:extLst>
            </p:cNvPr>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实验：</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均值异常检测</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4371575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547" y="72588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mc:AlternateContent xmlns:mc="http://schemas.openxmlformats.org/markup-compatibility/2006" xmlns:a14="http://schemas.microsoft.com/office/drawing/2010/main">
        <mc:Choice Requires="a14">
          <p:sp>
            <p:nvSpPr>
              <p:cNvPr id="40" name="矩形 39"/>
              <p:cNvSpPr/>
              <p:nvPr/>
            </p:nvSpPr>
            <p:spPr>
              <a:xfrm>
                <a:off x="612095" y="1578377"/>
                <a:ext cx="11106170" cy="4313938"/>
              </a:xfrm>
              <a:prstGeom prst="rect">
                <a:avLst/>
              </a:prstGeom>
            </p:spPr>
            <p:txBody>
              <a:bodyPr wrap="square">
                <a:spAutoFit/>
              </a:bodyPr>
              <a:lstStyle/>
              <a:p>
                <a:pPr marL="285750" indent="-285750">
                  <a:buFont typeface="Wingdings" panose="05000000000000000000" pitchFamily="2" charset="2"/>
                  <a:buChar char="l"/>
                </a:pP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以上是频率派所使用的统计推断方法，贝叶斯学派又如何解决德国坦克问题呢？频率学派认为参数</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客观的不确定性</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，即找出这个固定参数，但也引入置信度来解释对客观固定取值的一种信心。对于贝叶斯派观点而言，模型参数</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不是固定的（可被认为随机变量）。因此，贝叶斯推断不是优化模型参数</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本身，而是参数</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可取各种可能值的分布情况。贝叶斯派在解决坦克问题时将坦克总数</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视为服从某种概率分布的随机变量。随着采样样本增加，</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的概率分布函数不断被更新，贝叶斯推断描述这个更新的过程。</a:t>
                </a:r>
              </a:p>
              <a:p>
                <a:pPr marL="285750" indent="-285750">
                  <a:buFont typeface="Wingdings" panose="05000000000000000000" pitchFamily="2" charset="2"/>
                  <a:buChar char="l"/>
                </a:pP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预设坦克整体分布均匀，通过</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次采样，得到最大坦克编号是</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的概率。本质上这是在已知先验概率分布情况下，求取后验概率分布问题。首先，我们遍历抽样</a:t>
                </a:r>
                <a14:m>
                  <m:oMath xmlns:m="http://schemas.openxmlformats.org/officeDocument/2006/math">
                    <m:r>
                      <m:rPr>
                        <m:sty m:val="p"/>
                      </m:rPr>
                      <a:rPr lang="en-US" altLang="zh-CN" sz="1700">
                        <a:latin typeface="Cambria Math" panose="02040503050406030204" pitchFamily="18" charset="0"/>
                        <a:ea typeface="微软雅黑" panose="020B0503020204020204" pitchFamily="34" charset="-122"/>
                        <a:cs typeface="Times New Roman" panose="02020603050405020304" pitchFamily="18" charset="0"/>
                      </a:rPr>
                      <m:t>n</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辆坦克且抽到最大坦克编号为</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的所有组合情况，因为已知第</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辆坦克的编号为</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，所以该组合情况即为从</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辆坦克中选择</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辆的组合数，即</a:t>
                </a:r>
                <a14:m>
                  <m:oMath xmlns:m="http://schemas.openxmlformats.org/officeDocument/2006/math">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sup>
                    </m:sSubSup>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。这代表了已知最大坦克编号为</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的情况下，抽样</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次得到当前结果的可能组合数。然后假设坦克总数为</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，则从中抽样</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次的所有可能组合数则为</a:t>
                </a:r>
                <a14:m>
                  <m:oMath xmlns:m="http://schemas.openxmlformats.org/officeDocument/2006/math">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sup>
                    </m:sSubSup>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，而我们的本次观察只是这</a:t>
                </a:r>
                <a14:m>
                  <m:oMath xmlns:m="http://schemas.openxmlformats.org/officeDocument/2006/math">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sup>
                    </m:sSubSup>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种情况种一种，即</a:t>
                </a:r>
                <a14:m>
                  <m:oMath xmlns:m="http://schemas.openxmlformats.org/officeDocument/2006/math">
                    <m:f>
                      <m:f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num>
                      <m:den>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sup>
                        </m:sSubSup>
                      </m:den>
                    </m:f>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。综上，坦克总数的概率质量函数（</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probability mass function</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）为：</a:t>
                </a:r>
                <a14:m>
                  <m:oMath xmlns:m="http://schemas.openxmlformats.org/officeDocument/2006/math">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𝑃</m:t>
                    </m:r>
                    <m:d>
                      <m:d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zh-CN" sz="1700">
                            <a:latin typeface="Cambria Math" panose="02040503050406030204" pitchFamily="18" charset="0"/>
                            <a:ea typeface="微软雅黑" panose="020B0503020204020204" pitchFamily="34" charset="-122"/>
                            <a:cs typeface="Times New Roman" panose="02020603050405020304" pitchFamily="18" charset="0"/>
                          </a:rPr>
                          <m:t>坦克总数</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e>
                    </m:d>
                    <m:r>
                      <a:rPr lang="en-US" altLang="zh-CN" sz="1700">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den>
                    </m:f>
                    <m:r>
                      <a:rPr lang="en-US" altLang="zh-CN" sz="1700">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fPr>
                      <m:num>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sup>
                        </m:sSubSup>
                      </m:num>
                      <m:den>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sup>
                        </m:sSubSup>
                      </m:den>
                    </m:f>
                  </m:oMath>
                </a14:m>
                <a:endParaRPr lang="zh-CN"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l"/>
                </a:pP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在上述二战期间德军坦克总数的估计中，</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(n - 1) / n </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表示调整因子，用于校正概率。</a:t>
                </a:r>
                <a14:m>
                  <m:oMath xmlns:m="http://schemas.openxmlformats.org/officeDocument/2006/math">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sup>
                    </m:sSubSup>
                    <m:f>
                      <m:f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700">
                            <a:latin typeface="Cambria Math" panose="02040503050406030204" pitchFamily="18" charset="0"/>
                            <a:ea typeface="微软雅黑" panose="020B0503020204020204" pitchFamily="34" charset="-122"/>
                            <a:cs typeface="Times New Roman" panose="02020603050405020304" pitchFamily="18" charset="0"/>
                          </a:rPr>
                          <m:t>1</m:t>
                        </m:r>
                      </m:num>
                      <m:den>
                        <m:sSubSup>
                          <m:sSubSupPr>
                            <m:ctrlPr>
                              <a:rPr lang="zh-CN" altLang="zh-CN" sz="1700"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170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𝑁</m:t>
                            </m:r>
                          </m:sub>
                          <m:sup>
                            <m:r>
                              <a:rPr lang="en-US" altLang="zh-CN" sz="1700">
                                <a:latin typeface="Cambria Math" panose="02040503050406030204" pitchFamily="18" charset="0"/>
                                <a:ea typeface="微软雅黑" panose="020B0503020204020204" pitchFamily="34" charset="-122"/>
                                <a:cs typeface="Times New Roman" panose="02020603050405020304" pitchFamily="18" charset="0"/>
                              </a:rPr>
                              <m:t>𝑛</m:t>
                            </m:r>
                          </m:sup>
                        </m:sSubSup>
                      </m:den>
                    </m:f>
                  </m:oMath>
                </a14:m>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表示当前情况下占坦克总数为</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时随机抽样得到当前状况的概率。</a:t>
                </a: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0" name="矩形 39"/>
              <p:cNvSpPr>
                <a:spLocks noRot="1" noChangeAspect="1" noMove="1" noResize="1" noEditPoints="1" noAdjustHandles="1" noChangeArrowheads="1" noChangeShapeType="1" noTextEdit="1"/>
              </p:cNvSpPr>
              <p:nvPr/>
            </p:nvSpPr>
            <p:spPr>
              <a:xfrm>
                <a:off x="612095" y="1578377"/>
                <a:ext cx="11106170" cy="4313938"/>
              </a:xfrm>
              <a:prstGeom prst="rect">
                <a:avLst/>
              </a:prstGeom>
              <a:blipFill>
                <a:blip r:embed="rId3"/>
                <a:stretch>
                  <a:fillRect l="-220" t="-565"/>
                </a:stretch>
              </a:blipFill>
            </p:spPr>
            <p:txBody>
              <a:bodyPr/>
              <a:lstStyle/>
              <a:p>
                <a:r>
                  <a:rPr lang="zh-CN" altLang="en-US">
                    <a:noFill/>
                  </a:rPr>
                  <a:t> </a:t>
                </a:r>
              </a:p>
            </p:txBody>
          </p:sp>
        </mc:Fallback>
      </mc:AlternateContent>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4801314" cy="461665"/>
          </a:xfrm>
          <a:prstGeom prst="rect">
            <a:avLst/>
          </a:prstGeom>
        </p:spPr>
        <p:txBody>
          <a:bodyPr wrap="none">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二战中德军每个月生产多少坦克？</a:t>
            </a:r>
          </a:p>
        </p:txBody>
      </p:sp>
    </p:spTree>
    <p:extLst>
      <p:ext uri="{BB962C8B-B14F-4D97-AF65-F5344CB8AC3E}">
        <p14:creationId xmlns:p14="http://schemas.microsoft.com/office/powerpoint/2010/main" val="21245676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700" dirty="0">
              <a:solidFill>
                <a:schemeClr val="lt1"/>
              </a:solidFill>
            </a:endParaRPr>
          </a:p>
        </p:txBody>
      </p:sp>
      <p:sp>
        <p:nvSpPr>
          <p:cNvPr id="7" name="矩形 6"/>
          <p:cNvSpPr/>
          <p:nvPr/>
        </p:nvSpPr>
        <p:spPr>
          <a:xfrm>
            <a:off x="1334616" y="1181462"/>
            <a:ext cx="9818367" cy="4616135"/>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en-US" altLang="zh-CN" dirty="0">
                <a:solidFill>
                  <a:schemeClr val="bg1"/>
                </a:solidFill>
                <a:latin typeface="微软雅黑" panose="020B0503020204020204" pitchFamily="34" charset="-122"/>
                <a:ea typeface="微软雅黑" panose="020B0503020204020204" pitchFamily="34" charset="-122"/>
              </a:rPr>
              <a:t>1959</a:t>
            </a:r>
            <a:r>
              <a:rPr lang="zh-CN" altLang="zh-CN" dirty="0">
                <a:solidFill>
                  <a:schemeClr val="bg1"/>
                </a:solidFill>
                <a:latin typeface="微软雅黑" panose="020B0503020204020204" pitchFamily="34" charset="-122"/>
                <a:ea typeface="微软雅黑" panose="020B0503020204020204" pitchFamily="34" charset="-122"/>
              </a:rPr>
              <a:t>年</a:t>
            </a:r>
            <a:r>
              <a:rPr lang="en-US" altLang="zh-CN" dirty="0">
                <a:solidFill>
                  <a:schemeClr val="bg1"/>
                </a:solidFill>
                <a:latin typeface="微软雅黑" panose="020B0503020204020204" pitchFamily="34" charset="-122"/>
                <a:ea typeface="微软雅黑" panose="020B0503020204020204" pitchFamily="34" charset="-122"/>
              </a:rPr>
              <a:t>7</a:t>
            </a:r>
            <a:r>
              <a:rPr lang="zh-CN" altLang="zh-CN" dirty="0">
                <a:solidFill>
                  <a:schemeClr val="bg1"/>
                </a:solidFill>
                <a:latin typeface="微软雅黑" panose="020B0503020204020204" pitchFamily="34" charset="-122"/>
                <a:ea typeface="微软雅黑" panose="020B0503020204020204" pitchFamily="34" charset="-122"/>
              </a:rPr>
              <a:t>月，塞缪尔发表了一篇名为</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通过国际跳棋进行机器学习的研究</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论文中，第一次使用了</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机器学习</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这一术语</a:t>
            </a:r>
            <a:r>
              <a:rPr lang="en-US" altLang="zh-CN" dirty="0">
                <a:solidFill>
                  <a:schemeClr val="bg1"/>
                </a:solidFill>
                <a:latin typeface="微软雅黑" panose="020B0503020204020204" pitchFamily="34" charset="-122"/>
                <a:ea typeface="微软雅黑" panose="020B0503020204020204" pitchFamily="34" charset="-122"/>
              </a:rPr>
              <a:t>[Samuel 1959]</a:t>
            </a:r>
            <a:r>
              <a:rPr lang="zh-CN" altLang="zh-CN" dirty="0">
                <a:solidFill>
                  <a:schemeClr val="bg1"/>
                </a:solidFill>
                <a:latin typeface="微软雅黑" panose="020B0503020204020204" pitchFamily="34" charset="-122"/>
                <a:ea typeface="微软雅黑" panose="020B0503020204020204" pitchFamily="34" charset="-122"/>
              </a:rPr>
              <a:t>。在人工智能发展早期，使用国际跳棋而非国际象棋或围棋，是因为国际跳棋中对落子的选择和判断相对简单。</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lnSpc>
                <a:spcPct val="200000"/>
              </a:lnSpc>
              <a:buClr>
                <a:schemeClr val="bg1"/>
              </a:buClr>
              <a:buSzPct val="80000"/>
              <a:buFont typeface="Wingdings" panose="05000000000000000000" pitchFamily="2" charset="2"/>
              <a:buChar char="u"/>
            </a:pPr>
            <a:r>
              <a:rPr lang="zh-CN" altLang="zh-CN"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从数据中学习概念或模式形成判断和决策能力是机器学习的一个基本目标</a:t>
            </a:r>
            <a:r>
              <a:rPr lang="zh-CN" altLang="zh-CN" dirty="0">
                <a:solidFill>
                  <a:schemeClr val="bg1"/>
                </a:solidFill>
                <a:latin typeface="微软雅黑" panose="020B0503020204020204" pitchFamily="34" charset="-122"/>
                <a:ea typeface="微软雅黑" panose="020B0503020204020204" pitchFamily="34" charset="-122"/>
              </a:rPr>
              <a:t>。监督学习从标注数据出发，学习得到一个映射函数，将原始输出映射到语义任务空间，架构起了</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从底层特征到高层语义</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的</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桥梁</a:t>
            </a:r>
            <a:r>
              <a:rPr lang="en-US" altLang="zh-CN" dirty="0">
                <a:solidFill>
                  <a:schemeClr val="bg1"/>
                </a:solidFill>
                <a:latin typeface="微软雅黑" panose="020B0503020204020204" pitchFamily="34" charset="-122"/>
                <a:ea typeface="微软雅黑" panose="020B0503020204020204" pitchFamily="34" charset="-122"/>
              </a:rPr>
              <a:t>”</a:t>
            </a:r>
            <a:r>
              <a:rPr lang="zh-CN" altLang="zh-CN" dirty="0">
                <a:solidFill>
                  <a:schemeClr val="bg1"/>
                </a:solidFill>
                <a:latin typeface="微软雅黑" panose="020B0503020204020204" pitchFamily="34" charset="-122"/>
                <a:ea typeface="微软雅黑" panose="020B0503020204020204" pitchFamily="34" charset="-122"/>
              </a:rPr>
              <a:t>。</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微软雅黑" panose="020B0503020204020204" pitchFamily="34" charset="-122"/>
                <a:ea typeface="微软雅黑" panose="020B0503020204020204" pitchFamily="34" charset="-122"/>
              </a:rPr>
              <a:t>如何形成</a:t>
            </a:r>
            <a:r>
              <a:rPr lang="zh-CN" altLang="zh-CN"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数据依赖灵活、且在学习过程中有效利用知识或先验</a:t>
            </a:r>
            <a:r>
              <a:rPr lang="zh-CN" altLang="zh-CN" dirty="0">
                <a:solidFill>
                  <a:schemeClr val="bg1"/>
                </a:solidFill>
                <a:latin typeface="微软雅黑" panose="020B0503020204020204" pitchFamily="34" charset="-122"/>
                <a:ea typeface="微软雅黑" panose="020B0503020204020204" pitchFamily="34" charset="-122"/>
              </a:rPr>
              <a:t>，是机器学习今后发展的重要方向。同时，一个任务是否可以</a:t>
            </a:r>
            <a:r>
              <a:rPr lang="zh-CN" altLang="zh-CN"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被学习（</a:t>
            </a:r>
            <a:r>
              <a:rPr lang="en-US" altLang="zh-CN"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Learnability</a:t>
            </a:r>
            <a:r>
              <a:rPr lang="zh-CN" altLang="zh-CN"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chemeClr val="bg1"/>
                </a:solidFill>
                <a:latin typeface="微软雅黑" panose="020B0503020204020204" pitchFamily="34" charset="-122"/>
                <a:ea typeface="微软雅黑" panose="020B0503020204020204" pitchFamily="34" charset="-122"/>
              </a:rPr>
              <a:t>仍然是学术界的热点和难点。</a:t>
            </a: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17142</TotalTime>
  <Words>12724</Words>
  <Application>Microsoft Office PowerPoint</Application>
  <PresentationFormat>宽屏</PresentationFormat>
  <Paragraphs>849</Paragraphs>
  <Slides>77</Slides>
  <Notes>76</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77</vt:i4>
      </vt:variant>
    </vt:vector>
  </HeadingPairs>
  <TitlesOfParts>
    <vt:vector size="101" baseType="lpstr">
      <vt:lpstr>Inter</vt:lpstr>
      <vt:lpstr>KaTeX_Main</vt:lpstr>
      <vt:lpstr>KaTeX_Math</vt:lpstr>
      <vt:lpstr>KaTeX_Size1</vt:lpstr>
      <vt:lpstr>PingFang SC</vt:lpstr>
      <vt:lpstr>ui-sans-serif</vt:lpstr>
      <vt:lpstr>等线</vt:lpstr>
      <vt:lpstr>方正美黑简体</vt:lpstr>
      <vt:lpstr>方正颜宋简体_大</vt:lpstr>
      <vt:lpstr>方正颜宋简体_中</vt:lpstr>
      <vt:lpstr>汉仪玄宋±.</vt:lpstr>
      <vt:lpstr>黑体</vt:lpstr>
      <vt:lpstr>华文中宋</vt:lpstr>
      <vt:lpstr>楷体</vt:lpstr>
      <vt:lpstr>楷体_GB2312</vt:lpstr>
      <vt:lpstr>微软雅黑</vt:lpstr>
      <vt:lpstr>Arial</vt:lpstr>
      <vt:lpstr>Bauhaus 93</vt:lpstr>
      <vt:lpstr>Calibri</vt:lpstr>
      <vt:lpstr>Cambria</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708</cp:revision>
  <dcterms:created xsi:type="dcterms:W3CDTF">2023-07-27T09:00:19Z</dcterms:created>
  <dcterms:modified xsi:type="dcterms:W3CDTF">2026-07-15T08:26:13Z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