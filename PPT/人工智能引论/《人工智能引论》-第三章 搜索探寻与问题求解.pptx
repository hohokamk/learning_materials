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076139054" r:id="rId4"/>
    <p:sldId id="263" r:id="rId5"/>
    <p:sldId id="258" r:id="rId6"/>
    <p:sldId id="273" r:id="rId7"/>
    <p:sldId id="2076139011" r:id="rId8"/>
    <p:sldId id="2076139012" r:id="rId9"/>
    <p:sldId id="2076139013" r:id="rId10"/>
    <p:sldId id="2076139014" r:id="rId11"/>
    <p:sldId id="2076139015" r:id="rId12"/>
    <p:sldId id="2076139055" r:id="rId13"/>
    <p:sldId id="2076139056" r:id="rId14"/>
    <p:sldId id="2076139058" r:id="rId15"/>
    <p:sldId id="2076139016" r:id="rId16"/>
    <p:sldId id="2076138971" r:id="rId17"/>
    <p:sldId id="2076139017" r:id="rId18"/>
    <p:sldId id="2076138972" r:id="rId19"/>
    <p:sldId id="2076139018" r:id="rId20"/>
    <p:sldId id="2076139019" r:id="rId21"/>
    <p:sldId id="2076139020" r:id="rId22"/>
    <p:sldId id="2076139021" r:id="rId23"/>
    <p:sldId id="2076139022" r:id="rId24"/>
    <p:sldId id="2076138973" r:id="rId25"/>
    <p:sldId id="2076139023" r:id="rId26"/>
    <p:sldId id="2076139024" r:id="rId27"/>
    <p:sldId id="2076139025" r:id="rId28"/>
    <p:sldId id="2076139026" r:id="rId29"/>
    <p:sldId id="2076139027" r:id="rId30"/>
    <p:sldId id="2076139028" r:id="rId31"/>
    <p:sldId id="2076139029" r:id="rId32"/>
    <p:sldId id="2076139030" r:id="rId33"/>
    <p:sldId id="2076139031" r:id="rId34"/>
    <p:sldId id="2076139033" r:id="rId35"/>
    <p:sldId id="2076139034" r:id="rId36"/>
    <p:sldId id="2076139035" r:id="rId37"/>
    <p:sldId id="2076139036" r:id="rId38"/>
    <p:sldId id="2076139037" r:id="rId39"/>
    <p:sldId id="2076139038" r:id="rId40"/>
    <p:sldId id="2076139039" r:id="rId41"/>
    <p:sldId id="2076139040" r:id="rId42"/>
    <p:sldId id="2076139041" r:id="rId43"/>
    <p:sldId id="2076139042" r:id="rId44"/>
    <p:sldId id="2076139043" r:id="rId45"/>
    <p:sldId id="2076139044" r:id="rId46"/>
    <p:sldId id="2076139045" r:id="rId47"/>
    <p:sldId id="2076139046" r:id="rId48"/>
    <p:sldId id="2076139059" r:id="rId49"/>
    <p:sldId id="2076139047" r:id="rId50"/>
    <p:sldId id="2076139048" r:id="rId51"/>
    <p:sldId id="2076139049" r:id="rId52"/>
    <p:sldId id="2076139050" r:id="rId53"/>
    <p:sldId id="2076139051" r:id="rId54"/>
    <p:sldId id="2076139052" r:id="rId55"/>
    <p:sldId id="2076139053" r:id="rId56"/>
    <p:sldId id="2076139060" r:id="rId57"/>
    <p:sldId id="264" r:id="rId58"/>
    <p:sldId id="269" r:id="rId59"/>
    <p:sldId id="270"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17E"/>
    <a:srgbClr val="017C84"/>
    <a:srgbClr val="51ADB7"/>
    <a:srgbClr val="014D53"/>
    <a:srgbClr val="017480"/>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2" autoAdjust="0"/>
    <p:restoredTop sz="95024" autoAdjust="0"/>
  </p:normalViewPr>
  <p:slideViewPr>
    <p:cSldViewPr snapToGrid="0">
      <p:cViewPr varScale="1">
        <p:scale>
          <a:sx n="105" d="100"/>
          <a:sy n="105" d="100"/>
        </p:scale>
        <p:origin x="810" y="102"/>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extLst>
      <p:ext uri="{BB962C8B-B14F-4D97-AF65-F5344CB8AC3E}">
        <p14:creationId xmlns:p14="http://schemas.microsoft.com/office/powerpoint/2010/main" val="739822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2017181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703966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4033321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2478438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2958431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1944352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2904518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3253626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774689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3820564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3873589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3852937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1950946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20803735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3418873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2683929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28547407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1818508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2427810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981862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40103763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31160998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31854767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28500726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27598579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5157548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26355500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160588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16162707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8442707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39667053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40035518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6913187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9470856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5406673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18993515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35555772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3766786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25216525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49</a:t>
            </a:fld>
            <a:endParaRPr lang="zh-CN" altLang="en-US"/>
          </a:p>
        </p:txBody>
      </p:sp>
    </p:spTree>
    <p:extLst>
      <p:ext uri="{BB962C8B-B14F-4D97-AF65-F5344CB8AC3E}">
        <p14:creationId xmlns:p14="http://schemas.microsoft.com/office/powerpoint/2010/main" val="11366672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50</a:t>
            </a:fld>
            <a:endParaRPr lang="zh-CN" altLang="en-US"/>
          </a:p>
        </p:txBody>
      </p:sp>
    </p:spTree>
    <p:extLst>
      <p:ext uri="{BB962C8B-B14F-4D97-AF65-F5344CB8AC3E}">
        <p14:creationId xmlns:p14="http://schemas.microsoft.com/office/powerpoint/2010/main" val="4049675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35348939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42612144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53</a:t>
            </a:fld>
            <a:endParaRPr lang="zh-CN" altLang="en-US"/>
          </a:p>
        </p:txBody>
      </p:sp>
    </p:spTree>
    <p:extLst>
      <p:ext uri="{BB962C8B-B14F-4D97-AF65-F5344CB8AC3E}">
        <p14:creationId xmlns:p14="http://schemas.microsoft.com/office/powerpoint/2010/main" val="28483200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54</a:t>
            </a:fld>
            <a:endParaRPr lang="zh-CN" altLang="en-US"/>
          </a:p>
        </p:txBody>
      </p:sp>
    </p:spTree>
    <p:extLst>
      <p:ext uri="{BB962C8B-B14F-4D97-AF65-F5344CB8AC3E}">
        <p14:creationId xmlns:p14="http://schemas.microsoft.com/office/powerpoint/2010/main" val="23625893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55</a:t>
            </a:fld>
            <a:endParaRPr lang="zh-CN" altLang="en-US"/>
          </a:p>
        </p:txBody>
      </p:sp>
    </p:spTree>
    <p:extLst>
      <p:ext uri="{BB962C8B-B14F-4D97-AF65-F5344CB8AC3E}">
        <p14:creationId xmlns:p14="http://schemas.microsoft.com/office/powerpoint/2010/main" val="32362186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56</a:t>
            </a:fld>
            <a:endParaRPr lang="zh-CN" altLang="en-US"/>
          </a:p>
        </p:txBody>
      </p:sp>
    </p:spTree>
    <p:extLst>
      <p:ext uri="{BB962C8B-B14F-4D97-AF65-F5344CB8AC3E}">
        <p14:creationId xmlns:p14="http://schemas.microsoft.com/office/powerpoint/2010/main" val="25817050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57</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58</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59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40.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5.png"/><Relationship Id="rId9"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2.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29.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png"/><Relationship Id="rId7"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54.png"/><Relationship Id="rId5" Type="http://schemas.openxmlformats.org/officeDocument/2006/relationships/image" Target="../media/image52.png"/><Relationship Id="rId10" Type="http://schemas.openxmlformats.org/officeDocument/2006/relationships/image" Target="../media/image53.png"/><Relationship Id="rId9"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61.png"/><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70.png"/><Relationship Id="rId7" Type="http://schemas.openxmlformats.org/officeDocument/2006/relationships/image" Target="../media/image71.pn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700.png"/><Relationship Id="rId5" Type="http://schemas.openxmlformats.org/officeDocument/2006/relationships/image" Target="../media/image70.png"/><Relationship Id="rId4" Type="http://schemas.openxmlformats.org/officeDocument/2006/relationships/image" Target="../media/image680.png"/></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3" Type="http://schemas.openxmlformats.org/officeDocument/2006/relationships/image" Target="../media/image770.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79.png"/><Relationship Id="rId4" Type="http://schemas.openxmlformats.org/officeDocument/2006/relationships/image" Target="../media/image7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84.png"/><Relationship Id="rId4" Type="http://schemas.openxmlformats.org/officeDocument/2006/relationships/image" Target="../media/image83.png"/></Relationships>
</file>

<file path=ppt/slides/_rels/slide5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hyperlink" Target="mailto:23020251154393@stu.xmu.edu.cn" TargetMode="External"/><Relationship Id="rId4" Type="http://schemas.openxmlformats.org/officeDocument/2006/relationships/hyperlink" Target="https://www.runoob.com/python3/python3-tutorial.html" TargetMode="Externa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13" name="文本框 12">
            <a:extLst>
              <a:ext uri="{FF2B5EF4-FFF2-40B4-BE49-F238E27FC236}">
                <a16:creationId xmlns:a16="http://schemas.microsoft.com/office/drawing/2014/main" id="{B79C80C3-6243-1019-F140-BD8753465748}"/>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14" name="文本框 13">
            <a:extLst>
              <a:ext uri="{FF2B5EF4-FFF2-40B4-BE49-F238E27FC236}">
                <a16:creationId xmlns:a16="http://schemas.microsoft.com/office/drawing/2014/main" id="{F56D1C31-D5EA-F460-7D2E-FAB8C570EB58}"/>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489165" y="3439840"/>
            <a:ext cx="5262979" cy="769441"/>
          </a:xfrm>
          <a:prstGeom prst="rect">
            <a:avLst/>
          </a:prstGeom>
        </p:spPr>
        <p:txBody>
          <a:bodyPr wrap="none">
            <a:spAutoFit/>
          </a:bodyPr>
          <a:lstStyle/>
          <a:p>
            <a:pPr algn="ctr"/>
            <a:r>
              <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搜索探寻与问题求解</a:t>
            </a:r>
          </a:p>
        </p:txBody>
      </p:sp>
      <p:sp>
        <p:nvSpPr>
          <p:cNvPr id="8" name="矩形 7"/>
          <p:cNvSpPr/>
          <p:nvPr/>
        </p:nvSpPr>
        <p:spPr>
          <a:xfrm>
            <a:off x="5311170" y="2445722"/>
            <a:ext cx="1569660"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第三章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3">
            <a:extLst>
              <a:ext uri="{FF2B5EF4-FFF2-40B4-BE49-F238E27FC236}">
                <a16:creationId xmlns:a16="http://schemas.microsoft.com/office/drawing/2014/main" id="{A8178247-A50F-39C9-5CF7-A8FC388529A5}"/>
              </a:ext>
            </a:extLst>
          </p:cNvPr>
          <p:cNvSpPr txBox="1">
            <a:spLocks/>
          </p:cNvSpPr>
          <p:nvPr/>
        </p:nvSpPr>
        <p:spPr>
          <a:xfrm>
            <a:off x="-1167881" y="717711"/>
            <a:ext cx="9144000" cy="654051"/>
          </a:xfr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人工智能三种主流方法区别</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表格 21">
            <a:extLst>
              <a:ext uri="{FF2B5EF4-FFF2-40B4-BE49-F238E27FC236}">
                <a16:creationId xmlns:a16="http://schemas.microsoft.com/office/drawing/2014/main" id="{FBB1A9B9-46D0-D0F7-9E1E-337E036DE0AE}"/>
              </a:ext>
            </a:extLst>
          </p:cNvPr>
          <p:cNvGraphicFramePr>
            <a:graphicFrameLocks noGrp="1"/>
          </p:cNvGraphicFramePr>
          <p:nvPr>
            <p:extLst>
              <p:ext uri="{D42A27DB-BD31-4B8C-83A1-F6EECF244321}">
                <p14:modId xmlns:p14="http://schemas.microsoft.com/office/powerpoint/2010/main" val="412613791"/>
              </p:ext>
            </p:extLst>
          </p:nvPr>
        </p:nvGraphicFramePr>
        <p:xfrm>
          <a:off x="411130" y="1191947"/>
          <a:ext cx="5785016" cy="4537934"/>
        </p:xfrm>
        <a:graphic>
          <a:graphicData uri="http://schemas.openxmlformats.org/drawingml/2006/table">
            <a:tbl>
              <a:tblPr/>
              <a:tblGrid>
                <a:gridCol w="1446254">
                  <a:extLst>
                    <a:ext uri="{9D8B030D-6E8A-4147-A177-3AD203B41FA5}">
                      <a16:colId xmlns:a16="http://schemas.microsoft.com/office/drawing/2014/main" val="437909781"/>
                    </a:ext>
                  </a:extLst>
                </a:gridCol>
                <a:gridCol w="1446254">
                  <a:extLst>
                    <a:ext uri="{9D8B030D-6E8A-4147-A177-3AD203B41FA5}">
                      <a16:colId xmlns:a16="http://schemas.microsoft.com/office/drawing/2014/main" val="2171003894"/>
                    </a:ext>
                  </a:extLst>
                </a:gridCol>
                <a:gridCol w="1446254">
                  <a:extLst>
                    <a:ext uri="{9D8B030D-6E8A-4147-A177-3AD203B41FA5}">
                      <a16:colId xmlns:a16="http://schemas.microsoft.com/office/drawing/2014/main" val="4030586977"/>
                    </a:ext>
                  </a:extLst>
                </a:gridCol>
                <a:gridCol w="1446254">
                  <a:extLst>
                    <a:ext uri="{9D8B030D-6E8A-4147-A177-3AD203B41FA5}">
                      <a16:colId xmlns:a16="http://schemas.microsoft.com/office/drawing/2014/main" val="3103089181"/>
                    </a:ext>
                  </a:extLst>
                </a:gridCol>
              </a:tblGrid>
              <a:tr h="427588">
                <a:tc>
                  <a:txBody>
                    <a:bodyPr/>
                    <a:lstStyle/>
                    <a:p>
                      <a:r>
                        <a:rPr lang="zh-CN" altLang="en-US" sz="1000" b="1" dirty="0">
                          <a:effectLst/>
                        </a:rPr>
                        <a:t>维度</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1">
                          <a:effectLst/>
                        </a:rPr>
                        <a:t>符号主义（</a:t>
                      </a:r>
                      <a:r>
                        <a:rPr lang="en-US" sz="1000" b="1">
                          <a:effectLst/>
                        </a:rPr>
                        <a:t>Symbolism）</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1">
                          <a:effectLst/>
                        </a:rPr>
                        <a:t>联结主义（</a:t>
                      </a:r>
                      <a:r>
                        <a:rPr lang="en-US" sz="1000" b="1">
                          <a:effectLst/>
                        </a:rPr>
                        <a:t>Connectionism）</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1">
                          <a:effectLst/>
                        </a:rPr>
                        <a:t>行为主义（</a:t>
                      </a:r>
                      <a:r>
                        <a:rPr lang="en-US" sz="1000" b="1">
                          <a:effectLst/>
                        </a:rPr>
                        <a:t>Behaviorism）</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54864552"/>
                  </a:ext>
                </a:extLst>
              </a:tr>
              <a:tr h="729415">
                <a:tc>
                  <a:txBody>
                    <a:bodyPr/>
                    <a:lstStyle/>
                    <a:p>
                      <a:r>
                        <a:rPr lang="zh-CN" altLang="en-US" sz="1000" b="1">
                          <a:effectLst/>
                        </a:rPr>
                        <a:t>核心假设</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dirty="0">
                          <a:effectLst/>
                        </a:rPr>
                        <a:t>智能源于 “逻辑推理”，可通过符号（如数学公式、规则）表示和操作</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智能源于 “大脑神经元连接”，可通过模拟神经网络的分布式学习实现</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智能源于 “环境交互中的行为强化”，无需内部复杂表示，只需优化输入 </a:t>
                      </a:r>
                      <a:r>
                        <a:rPr lang="en-US" altLang="zh-CN" sz="1000" b="0">
                          <a:effectLst/>
                        </a:rPr>
                        <a:t>- </a:t>
                      </a:r>
                      <a:r>
                        <a:rPr lang="zh-CN" altLang="en-US" sz="1000" b="0">
                          <a:effectLst/>
                        </a:rPr>
                        <a:t>输出映射</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6891642"/>
                  </a:ext>
                </a:extLst>
              </a:tr>
              <a:tr h="578502">
                <a:tc>
                  <a:txBody>
                    <a:bodyPr/>
                    <a:lstStyle/>
                    <a:p>
                      <a:r>
                        <a:rPr lang="zh-CN" altLang="en-US" sz="1000" b="1">
                          <a:effectLst/>
                        </a:rPr>
                        <a:t>研究方法</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基于规则和逻辑，人工定义符号、知识图谱和推理规则</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基于数据和统计，通过神经网络从数据中自动学习特征和模式</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基于 “试错 </a:t>
                      </a:r>
                      <a:r>
                        <a:rPr lang="en-US" altLang="zh-CN" sz="1000" b="0">
                          <a:effectLst/>
                        </a:rPr>
                        <a:t>- </a:t>
                      </a:r>
                      <a:r>
                        <a:rPr lang="zh-CN" altLang="en-US" sz="1000" b="0">
                          <a:effectLst/>
                        </a:rPr>
                        <a:t>强化”，通过环境反馈（奖励 </a:t>
                      </a:r>
                      <a:r>
                        <a:rPr lang="en-US" altLang="zh-CN" sz="1000" b="0">
                          <a:effectLst/>
                        </a:rPr>
                        <a:t>/ </a:t>
                      </a:r>
                      <a:r>
                        <a:rPr lang="zh-CN" altLang="en-US" sz="1000" b="0">
                          <a:effectLst/>
                        </a:rPr>
                        <a:t>惩罚）优化行为策略</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06164555"/>
                  </a:ext>
                </a:extLst>
              </a:tr>
              <a:tr h="729415">
                <a:tc>
                  <a:txBody>
                    <a:bodyPr/>
                    <a:lstStyle/>
                    <a:p>
                      <a:r>
                        <a:rPr lang="zh-CN" altLang="en-US" sz="1000" b="1">
                          <a:effectLst/>
                        </a:rPr>
                        <a:t>核心技术</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专家系统、逻辑程序设计（如 </a:t>
                      </a:r>
                      <a:r>
                        <a:rPr lang="en-US" altLang="zh-CN" sz="1000" b="0">
                          <a:effectLst/>
                        </a:rPr>
                        <a:t>Prolog</a:t>
                      </a:r>
                      <a:r>
                        <a:rPr lang="zh-CN" altLang="en-US" sz="1000" b="0">
                          <a:effectLst/>
                        </a:rPr>
                        <a:t>）、知识图谱</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人工神经网络（</a:t>
                      </a:r>
                      <a:r>
                        <a:rPr lang="en-US" sz="1000" b="0">
                          <a:effectLst/>
                        </a:rPr>
                        <a:t>ANN）、</a:t>
                      </a:r>
                      <a:r>
                        <a:rPr lang="zh-CN" altLang="en-US" sz="1000" b="0">
                          <a:effectLst/>
                        </a:rPr>
                        <a:t>深度学习（</a:t>
                      </a:r>
                      <a:r>
                        <a:rPr lang="en-US" sz="1000" b="0">
                          <a:effectLst/>
                        </a:rPr>
                        <a:t>CNN/RNN/Transformer）</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强化学习（</a:t>
                      </a:r>
                      <a:r>
                        <a:rPr lang="en-US" sz="1000" b="0">
                          <a:effectLst/>
                        </a:rPr>
                        <a:t>RL）、Q-learning、</a:t>
                      </a:r>
                      <a:r>
                        <a:rPr lang="zh-CN" altLang="en-US" sz="1000" b="0">
                          <a:effectLst/>
                        </a:rPr>
                        <a:t>策略梯度</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34412156"/>
                  </a:ext>
                </a:extLst>
              </a:tr>
              <a:tr h="578502">
                <a:tc>
                  <a:txBody>
                    <a:bodyPr/>
                    <a:lstStyle/>
                    <a:p>
                      <a:r>
                        <a:rPr lang="zh-CN" altLang="en-US" sz="1000" b="1">
                          <a:effectLst/>
                        </a:rPr>
                        <a:t>数据依赖</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依赖 “人工定义的知识”，对数据需求量低</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依赖 “大规模标注数据”，数据量直接影响性能</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依赖 “环境交互数据”，可通过试错生成数据（无需人工标注）</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00572011"/>
                  </a:ext>
                </a:extLst>
              </a:tr>
              <a:tr h="578502">
                <a:tc>
                  <a:txBody>
                    <a:bodyPr/>
                    <a:lstStyle/>
                    <a:p>
                      <a:r>
                        <a:rPr lang="zh-CN" altLang="en-US" sz="1000" b="1">
                          <a:effectLst/>
                        </a:rPr>
                        <a:t>典型案例</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早期专家系统（如医学诊断系统 </a:t>
                      </a:r>
                      <a:r>
                        <a:rPr lang="en-US" altLang="zh-CN" sz="1000" b="0">
                          <a:effectLst/>
                        </a:rPr>
                        <a:t>MYCIN</a:t>
                      </a:r>
                      <a:r>
                        <a:rPr lang="zh-CN" altLang="en-US" sz="1000" b="0">
                          <a:effectLst/>
                        </a:rPr>
                        <a:t>）、定理证明器</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图像识别（</a:t>
                      </a:r>
                      <a:r>
                        <a:rPr lang="en-US" altLang="zh-CN" sz="1000" b="0">
                          <a:effectLst/>
                        </a:rPr>
                        <a:t>ResNet</a:t>
                      </a:r>
                      <a:r>
                        <a:rPr lang="zh-CN" altLang="en-US" sz="1000" b="0">
                          <a:effectLst/>
                        </a:rPr>
                        <a:t>）、自然语言处理（</a:t>
                      </a:r>
                      <a:r>
                        <a:rPr lang="en-US" altLang="zh-CN" sz="1000" b="0">
                          <a:effectLst/>
                        </a:rPr>
                        <a:t>GPT</a:t>
                      </a:r>
                      <a:r>
                        <a:rPr lang="zh-CN" altLang="en-US" sz="1000" b="0">
                          <a:effectLst/>
                        </a:rPr>
                        <a:t>）、语音识别</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阿尔法狗（</a:t>
                      </a:r>
                      <a:r>
                        <a:rPr lang="en-US" sz="1000" b="0">
                          <a:effectLst/>
                        </a:rPr>
                        <a:t>AlphaGo）、</a:t>
                      </a:r>
                      <a:r>
                        <a:rPr lang="zh-CN" altLang="en-US" sz="1000" b="0">
                          <a:effectLst/>
                        </a:rPr>
                        <a:t>机器人避障、游戏 </a:t>
                      </a:r>
                      <a:r>
                        <a:rPr lang="en-US" sz="1000" b="0">
                          <a:effectLst/>
                        </a:rPr>
                        <a:t>AI（</a:t>
                      </a:r>
                      <a:r>
                        <a:rPr lang="zh-CN" altLang="en-US" sz="1000" b="0">
                          <a:effectLst/>
                        </a:rPr>
                        <a:t>如 </a:t>
                      </a:r>
                      <a:r>
                        <a:rPr lang="en-US" sz="1000" b="0">
                          <a:effectLst/>
                        </a:rPr>
                        <a:t>Atari </a:t>
                      </a:r>
                      <a:r>
                        <a:rPr lang="zh-CN" altLang="en-US" sz="1000" b="0">
                          <a:effectLst/>
                        </a:rPr>
                        <a:t>游戏）</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37717279"/>
                  </a:ext>
                </a:extLst>
              </a:tr>
              <a:tr h="729415">
                <a:tc>
                  <a:txBody>
                    <a:bodyPr/>
                    <a:lstStyle/>
                    <a:p>
                      <a:r>
                        <a:rPr lang="zh-CN" altLang="en-US" sz="1000" b="1">
                          <a:effectLst/>
                        </a:rPr>
                        <a:t>优缺点</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dirty="0">
                          <a:effectLst/>
                        </a:rPr>
                        <a:t>✅ 推理过程透明、可解释；❌ 难以处理模糊 </a:t>
                      </a:r>
                      <a:r>
                        <a:rPr lang="en-US" altLang="zh-CN" sz="1000" b="0" dirty="0">
                          <a:effectLst/>
                        </a:rPr>
                        <a:t>/ </a:t>
                      </a:r>
                      <a:r>
                        <a:rPr lang="zh-CN" altLang="en-US" sz="1000" b="0" dirty="0">
                          <a:effectLst/>
                        </a:rPr>
                        <a:t>不确定问题，知识获取成本高</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 擅长感知、模式识别；❌ 推理过程 “黑箱”，依赖数据质量</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dirty="0">
                          <a:effectLst/>
                        </a:rPr>
                        <a:t>✅ 擅长动态环境交互、决策优化；❌ 难以处理复杂逻辑推理，依赖环境建模</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78710200"/>
                  </a:ext>
                </a:extLst>
              </a:tr>
            </a:tbl>
          </a:graphicData>
        </a:graphic>
      </p:graphicFrame>
      <p:sp>
        <p:nvSpPr>
          <p:cNvPr id="6" name="文本框 5">
            <a:extLst>
              <a:ext uri="{FF2B5EF4-FFF2-40B4-BE49-F238E27FC236}">
                <a16:creationId xmlns:a16="http://schemas.microsoft.com/office/drawing/2014/main" id="{B3EEF4C1-CFE8-6A7C-0F25-397F61A2762E}"/>
              </a:ext>
            </a:extLst>
          </p:cNvPr>
          <p:cNvSpPr txBox="1"/>
          <p:nvPr/>
        </p:nvSpPr>
        <p:spPr>
          <a:xfrm>
            <a:off x="6754761" y="3508689"/>
            <a:ext cx="5232372" cy="1477328"/>
          </a:xfrm>
          <a:prstGeom prst="rect">
            <a:avLst/>
          </a:prstGeom>
          <a:noFill/>
        </p:spPr>
        <p:txBody>
          <a:bodyPr wrap="square">
            <a:spAutoFit/>
          </a:bodyPr>
          <a:lstStyle/>
          <a:p>
            <a:r>
              <a:rPr lang="zh-CN" altLang="en-US" dirty="0"/>
              <a:t>搜索探寻与问题求解这一类方法是</a:t>
            </a:r>
            <a:r>
              <a:rPr lang="zh-CN" altLang="en-US" b="0" i="0" dirty="0">
                <a:solidFill>
                  <a:schemeClr val="accent2"/>
                </a:solidFill>
                <a:effectLst/>
                <a:latin typeface="Inter"/>
              </a:rPr>
              <a:t>人工智能中实现智能的具体方法和过程</a:t>
            </a:r>
            <a:r>
              <a:rPr lang="zh-CN" altLang="en-US" b="0" i="0" dirty="0">
                <a:effectLst/>
                <a:latin typeface="Inter"/>
              </a:rPr>
              <a:t>，而符号主义、联结主义、行为主义是人工智能的不同学派，</a:t>
            </a:r>
            <a:r>
              <a:rPr lang="zh-CN" altLang="en-US" b="0" i="0" dirty="0">
                <a:solidFill>
                  <a:schemeClr val="accent2"/>
                </a:solidFill>
                <a:effectLst/>
                <a:latin typeface="Inter"/>
              </a:rPr>
              <a:t>可以将</a:t>
            </a:r>
            <a:r>
              <a:rPr lang="zh-CN" altLang="en-US" dirty="0">
                <a:solidFill>
                  <a:schemeClr val="accent2"/>
                </a:solidFill>
              </a:rPr>
              <a:t>搜索探寻与问题求解用于</a:t>
            </a:r>
            <a:r>
              <a:rPr lang="zh-CN" altLang="en-US" b="0" i="0" dirty="0">
                <a:solidFill>
                  <a:schemeClr val="accent2"/>
                </a:solidFill>
                <a:effectLst/>
                <a:latin typeface="Inter"/>
              </a:rPr>
              <a:t>符号主义、联结主义、行为主义的方法</a:t>
            </a:r>
            <a:r>
              <a:rPr lang="zh-CN" altLang="en-US" b="0" i="0" dirty="0">
                <a:effectLst/>
                <a:latin typeface="Inter"/>
              </a:rPr>
              <a:t>中。</a:t>
            </a:r>
            <a:endParaRPr lang="zh-CN" altLang="en-US" dirty="0"/>
          </a:p>
        </p:txBody>
      </p:sp>
    </p:spTree>
    <p:extLst>
      <p:ext uri="{BB962C8B-B14F-4D97-AF65-F5344CB8AC3E}">
        <p14:creationId xmlns:p14="http://schemas.microsoft.com/office/powerpoint/2010/main" val="73576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241404" y="3750585"/>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327129" y="1331721"/>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582141" y="1518829"/>
            <a:ext cx="7136366" cy="1490921"/>
          </a:xfrm>
          <a:prstGeom prst="rect">
            <a:avLst/>
          </a:prstGeom>
        </p:spPr>
        <p:txBody>
          <a:bodyPr wrap="square">
            <a:spAutoFit/>
          </a:bodyPr>
          <a:lstStyle/>
          <a:p>
            <a:pPr indent="575945" algn="just">
              <a:lnSpc>
                <a:spcPct val="130000"/>
              </a:lnSpc>
              <a:spcBef>
                <a:spcPts val="600"/>
              </a:spcBef>
            </a:pPr>
            <a:r>
              <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故记诵者，学问之舟车也</a:t>
            </a:r>
            <a:r>
              <a:rPr lang="en-US"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endPar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575945" algn="r">
              <a:lnSpc>
                <a:spcPct val="130000"/>
              </a:lnSpc>
              <a:spcBef>
                <a:spcPts val="600"/>
              </a:spcBef>
            </a:pPr>
            <a:endPar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indent="575945" algn="r">
              <a:lnSpc>
                <a:spcPct val="130000"/>
              </a:lnSpc>
              <a:spcBef>
                <a:spcPts val="600"/>
              </a:spcBef>
            </a:pPr>
            <a:r>
              <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t>
            </a:r>
            <a:r>
              <a:rPr lang="zh-CN"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清·章学诚《文史通义》</a:t>
            </a:r>
            <a:r>
              <a:rPr lang="en-US"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endParaRPr lang="zh-CN" altLang="en-US"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6" name="矩形 5"/>
          <p:cNvSpPr/>
          <p:nvPr/>
        </p:nvSpPr>
        <p:spPr>
          <a:xfrm>
            <a:off x="1504507" y="3940814"/>
            <a:ext cx="9202479" cy="2346283"/>
          </a:xfrm>
          <a:prstGeom prst="rect">
            <a:avLst/>
          </a:prstGeom>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“学问之始，未能记诵；博涉既深，将趋记诵；故记诵者，学问之舟车也”。背诵是学问的基本功，犹如搜索算法从庞大</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解空间中搜索</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得到</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与问题相对应、满足一定约束条件的最佳答案，寻找一条从初始状态（问题所处状态）到目标状态（答案所处状态）的最佳路径</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pic>
        <p:nvPicPr>
          <p:cNvPr id="8194" name="Picture 2" descr="章学诚">
            <a:extLst>
              <a:ext uri="{FF2B5EF4-FFF2-40B4-BE49-F238E27FC236}">
                <a16:creationId xmlns:a16="http://schemas.microsoft.com/office/drawing/2014/main" id="{8850DF4F-61E5-400D-A41B-ED918EE600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8356" y="1311566"/>
            <a:ext cx="1528630" cy="2032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06680" y="1638547"/>
            <a:ext cx="6533560" cy="3172343"/>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一、搜索基本概念</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二、贪婪最佳优先搜索与</a:t>
            </a: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A*</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搜索</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a:t>
            </a: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Minimax</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搜索与</a:t>
            </a: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rPr>
              <a:t>alpha-beta</a:t>
            </a:r>
            <a:r>
              <a:rPr lang="zh-CN" altLang="zh-CN" sz="2600" b="1" dirty="0">
                <a:solidFill>
                  <a:schemeClr val="tx1">
                    <a:lumMod val="85000"/>
                    <a:lumOff val="15000"/>
                  </a:schemeClr>
                </a:solidFill>
                <a:latin typeface="华文中宋" panose="02010600040101010101" pitchFamily="2" charset="-122"/>
                <a:ea typeface="华文中宋" panose="02010600040101010101" pitchFamily="2" charset="-122"/>
              </a:rPr>
              <a:t>剪枝算法</a:t>
            </a:r>
            <a:endPar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四、蒙特卡洛树搜索</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418986" y="2209186"/>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449904" y="2355698"/>
            <a:ext cx="6111364" cy="3464410"/>
          </a:xfrm>
          <a:prstGeom prst="rect">
            <a:avLst/>
          </a:prstGeom>
        </p:spPr>
        <p:txBody>
          <a:bodyPr wrap="square">
            <a:spAutoFit/>
          </a:bodyPr>
          <a:lstStyle/>
          <a:p>
            <a:pPr algn="ctr">
              <a:lnSpc>
                <a:spcPct val="150000"/>
              </a:lnSpc>
              <a:buClr>
                <a:schemeClr val="bg1"/>
              </a:buClr>
              <a:buSzPct val="80000"/>
            </a:pP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state</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广义来说状态是对搜索算法和搜索环境当前所处情形的描述信息。为了简化求解过程，常常会剔除一些与问题求解无关细节描述（例如每个城市的人口情况等），只保留一些对求解模型产生作用的信息。在</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左</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图中，搜索算法要从城市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出发找到一条到城市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最短路线，影响其下一步行动的信息只有算法当前所位于的城市，因此每个城市即为</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一个状态</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。搜索算法刚开始所在状态（即城市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）被称为</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初始状态</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，完成任务时所在状态（即城市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）被称为</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终止状态</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1D641442-5FF6-4D13-A7AD-B6E51C96CD1E}"/>
              </a:ext>
            </a:extLst>
          </p:cNvPr>
          <p:cNvSpPr/>
          <p:nvPr/>
        </p:nvSpPr>
        <p:spPr>
          <a:xfrm>
            <a:off x="3464510" y="1411658"/>
            <a:ext cx="5262979" cy="369332"/>
          </a:xfrm>
          <a:prstGeom prst="rect">
            <a:avLst/>
          </a:prstGeom>
        </p:spPr>
        <p:txBody>
          <a:bodyPr wrap="none">
            <a:spAutoFit/>
          </a:bodyPr>
          <a:lstStyle/>
          <a:p>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rgbClr val="C00000"/>
              </a:solidFill>
            </a:endParaRPr>
          </a:p>
        </p:txBody>
      </p:sp>
      <p:grpSp>
        <p:nvGrpSpPr>
          <p:cNvPr id="9" name="组合 8">
            <a:extLst>
              <a:ext uri="{FF2B5EF4-FFF2-40B4-BE49-F238E27FC236}">
                <a16:creationId xmlns:a16="http://schemas.microsoft.com/office/drawing/2014/main" id="{C53D965C-C537-4AF5-B5C4-BC977F223021}"/>
              </a:ext>
            </a:extLst>
          </p:cNvPr>
          <p:cNvGrpSpPr/>
          <p:nvPr/>
        </p:nvGrpSpPr>
        <p:grpSpPr>
          <a:xfrm>
            <a:off x="6866464" y="2265539"/>
            <a:ext cx="4574773" cy="3574757"/>
            <a:chOff x="6866464" y="2265539"/>
            <a:chExt cx="4574773" cy="3574757"/>
          </a:xfrm>
        </p:grpSpPr>
        <p:sp>
          <p:nvSpPr>
            <p:cNvPr id="7" name="矩形 6">
              <a:extLst>
                <a:ext uri="{FF2B5EF4-FFF2-40B4-BE49-F238E27FC236}">
                  <a16:creationId xmlns:a16="http://schemas.microsoft.com/office/drawing/2014/main" id="{1B81D337-A3DD-4A7A-A371-577FE0FC8718}"/>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8" name="图片 7">
              <a:extLst>
                <a:ext uri="{FF2B5EF4-FFF2-40B4-BE49-F238E27FC236}">
                  <a16:creationId xmlns:a16="http://schemas.microsoft.com/office/drawing/2014/main" id="{48FE870A-09E7-43FD-AF26-DD7DC6373860}"/>
                </a:ext>
              </a:extLst>
            </p:cNvPr>
            <p:cNvPicPr>
              <a:picLocks noChangeAspect="1"/>
            </p:cNvPicPr>
            <p:nvPr/>
          </p:nvPicPr>
          <p:blipFill>
            <a:blip r:embed="rId3"/>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2068928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378624" y="2209186"/>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449904" y="2355698"/>
            <a:ext cx="6111364" cy="3095078"/>
          </a:xfrm>
          <a:prstGeom prst="rect">
            <a:avLst/>
          </a:prstGeom>
        </p:spPr>
        <p:txBody>
          <a:bodyPr wrap="square">
            <a:spAutoFit/>
          </a:bodyPr>
          <a:lstStyle/>
          <a:p>
            <a:pPr algn="ctr">
              <a:lnSpc>
                <a:spcPct val="150000"/>
              </a:lnSpc>
              <a:buClr>
                <a:schemeClr val="bg1"/>
              </a:buClr>
              <a:buSzPct val="80000"/>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action</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广义来说状态是对搜索算法和搜索环境当前所处情形的描述信息。为了完成最短路径的探索，算法需要不断从一个状态转移到下一个状态。算法从一个状态转移到另外一个状态所采取的行为被称为</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。在这个问题中，动作即为乘坐一趟列车从当前城市到下一城市。显然在这个问题中，任何状态下可选择的动作都是离散的、而非连续，这个性质也适用于本</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课程</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讨论的所有问题。</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1D641442-5FF6-4D13-A7AD-B6E51C96CD1E}"/>
              </a:ext>
            </a:extLst>
          </p:cNvPr>
          <p:cNvSpPr/>
          <p:nvPr/>
        </p:nvSpPr>
        <p:spPr>
          <a:xfrm>
            <a:off x="3464510" y="1411658"/>
            <a:ext cx="5262979" cy="369332"/>
          </a:xfrm>
          <a:prstGeom prst="rect">
            <a:avLst/>
          </a:prstGeom>
        </p:spPr>
        <p:txBody>
          <a:bodyPr wrap="none">
            <a:spAutoFit/>
          </a:bodyPr>
          <a:lstStyle/>
          <a:p>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rgbClr val="C00000"/>
              </a:solidFill>
            </a:endParaRPr>
          </a:p>
        </p:txBody>
      </p:sp>
      <p:grpSp>
        <p:nvGrpSpPr>
          <p:cNvPr id="12" name="组合 11">
            <a:extLst>
              <a:ext uri="{FF2B5EF4-FFF2-40B4-BE49-F238E27FC236}">
                <a16:creationId xmlns:a16="http://schemas.microsoft.com/office/drawing/2014/main" id="{CA21BEB4-C827-4BB4-86D7-747E99DAD911}"/>
              </a:ext>
            </a:extLst>
          </p:cNvPr>
          <p:cNvGrpSpPr/>
          <p:nvPr/>
        </p:nvGrpSpPr>
        <p:grpSpPr>
          <a:xfrm>
            <a:off x="6866464" y="2265539"/>
            <a:ext cx="4574773" cy="3574757"/>
            <a:chOff x="6866464" y="2265539"/>
            <a:chExt cx="4574773" cy="3574757"/>
          </a:xfrm>
        </p:grpSpPr>
        <p:sp>
          <p:nvSpPr>
            <p:cNvPr id="13" name="矩形 12">
              <a:extLst>
                <a:ext uri="{FF2B5EF4-FFF2-40B4-BE49-F238E27FC236}">
                  <a16:creationId xmlns:a16="http://schemas.microsoft.com/office/drawing/2014/main" id="{7CEA5ABA-570F-4CC1-B437-3626D466CDE6}"/>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4AAF4433-6162-4688-8014-8A1E61D05237}"/>
                </a:ext>
              </a:extLst>
            </p:cNvPr>
            <p:cNvPicPr>
              <a:picLocks noChangeAspect="1"/>
            </p:cNvPicPr>
            <p:nvPr/>
          </p:nvPicPr>
          <p:blipFill>
            <a:blip r:embed="rId3"/>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2519873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418986" y="2124126"/>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490266" y="2778468"/>
            <a:ext cx="6111364" cy="2356414"/>
          </a:xfrm>
          <a:prstGeom prst="rect">
            <a:avLst/>
          </a:prstGeom>
        </p:spPr>
        <p:txBody>
          <a:bodyPr wrap="square">
            <a:spAutoFit/>
          </a:bodyPr>
          <a:lstStyle/>
          <a:p>
            <a:pPr algn="ctr">
              <a:lnSpc>
                <a:spcPct val="150000"/>
              </a:lnSpc>
              <a:buClr>
                <a:schemeClr val="bg1"/>
              </a:buClr>
              <a:buSzPct val="80000"/>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状态转移</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state transition</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算法选择了一个动作之后，其所处状态也会发生相应变化，这个过程被称为</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状态转移</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。如算法在当前城市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选择乘上开往邻接城市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的列车，那么将发生从状态</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到状态</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的状态转移。</a:t>
            </a:r>
          </a:p>
          <a:p>
            <a:pPr algn="ct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1D641442-5FF6-4D13-A7AD-B6E51C96CD1E}"/>
              </a:ext>
            </a:extLst>
          </p:cNvPr>
          <p:cNvSpPr/>
          <p:nvPr/>
        </p:nvSpPr>
        <p:spPr>
          <a:xfrm>
            <a:off x="3464510" y="1411658"/>
            <a:ext cx="5262979" cy="369332"/>
          </a:xfrm>
          <a:prstGeom prst="rect">
            <a:avLst/>
          </a:prstGeom>
        </p:spPr>
        <p:txBody>
          <a:bodyPr wrap="none">
            <a:spAutoFit/>
          </a:bodyPr>
          <a:lstStyle/>
          <a:p>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rgbClr val="C00000"/>
              </a:solidFill>
            </a:endParaRPr>
          </a:p>
        </p:txBody>
      </p:sp>
      <p:grpSp>
        <p:nvGrpSpPr>
          <p:cNvPr id="12" name="组合 11">
            <a:extLst>
              <a:ext uri="{FF2B5EF4-FFF2-40B4-BE49-F238E27FC236}">
                <a16:creationId xmlns:a16="http://schemas.microsoft.com/office/drawing/2014/main" id="{69768FA5-6451-4977-B7D1-55900C569446}"/>
              </a:ext>
            </a:extLst>
          </p:cNvPr>
          <p:cNvGrpSpPr/>
          <p:nvPr/>
        </p:nvGrpSpPr>
        <p:grpSpPr>
          <a:xfrm>
            <a:off x="6866464" y="2265539"/>
            <a:ext cx="4574773" cy="3574757"/>
            <a:chOff x="6866464" y="2265539"/>
            <a:chExt cx="4574773" cy="3574757"/>
          </a:xfrm>
        </p:grpSpPr>
        <p:sp>
          <p:nvSpPr>
            <p:cNvPr id="13" name="矩形 12">
              <a:extLst>
                <a:ext uri="{FF2B5EF4-FFF2-40B4-BE49-F238E27FC236}">
                  <a16:creationId xmlns:a16="http://schemas.microsoft.com/office/drawing/2014/main" id="{05927B0B-9D57-4E21-853E-649463B77DE1}"/>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ED3A20D0-2907-4CB3-B84D-5AA9B1E8FE5D}"/>
                </a:ext>
              </a:extLst>
            </p:cNvPr>
            <p:cNvPicPr>
              <a:picLocks noChangeAspect="1"/>
            </p:cNvPicPr>
            <p:nvPr/>
          </p:nvPicPr>
          <p:blipFill>
            <a:blip r:embed="rId3"/>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75333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480123" y="2470228"/>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EABA8736-7A3C-423C-AE5A-BDA9E8807C56}"/>
                  </a:ext>
                </a:extLst>
              </p:cNvPr>
              <p:cNvSpPr/>
              <p:nvPr/>
            </p:nvSpPr>
            <p:spPr>
              <a:xfrm>
                <a:off x="480123" y="2533919"/>
                <a:ext cx="6138644" cy="3465051"/>
              </a:xfrm>
              <a:prstGeom prst="rect">
                <a:avLst/>
              </a:prstGeom>
            </p:spPr>
            <p:txBody>
              <a:bodyPr wrap="square">
                <a:spAutoFit/>
              </a:bodyPr>
              <a:lstStyle/>
              <a:p>
                <a:pPr algn="ctr">
                  <a:lnSpc>
                    <a:spcPct val="150000"/>
                  </a:lnSpc>
                  <a:buClr>
                    <a:schemeClr val="bg1"/>
                  </a:buClr>
                  <a:buSzPct val="80000"/>
                </a:pP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path</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）和代价（</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cost</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以任何一个状态为起点，搜索算法通过执行一系列动作后，将会在不同状态之间不断转移。将这个过程中经历的状态记录下来，可以得到一个状态序列，这个状态序列被称为一条</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。如从状态</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出发，经过状态</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，最终到达状态</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，就形成了</a:t>
                </a:r>
                <a14:m>
                  <m:oMath xmlns:m="http://schemas.openxmlformats.org/officeDocument/2006/math">
                    <m:r>
                      <m:rPr>
                        <m:sty m:val="p"/>
                      </m:rP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G</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K</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这一路径。每条路径对应一个</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代价</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，图中路径的代价就是通过该路径的时间开销。如果一条路径对应的状态序列长度为</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，那么这条路径的代价也被称为</a:t>
                </a: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单步代价</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，图中每条边上的数值即为单步代价取值。一般假定单步代价取值为非负。</a:t>
                </a:r>
              </a:p>
            </p:txBody>
          </p:sp>
        </mc:Choice>
        <mc:Fallback xmlns="">
          <p:sp>
            <p:nvSpPr>
              <p:cNvPr id="25" name="矩形 24">
                <a:extLst>
                  <a:ext uri="{FF2B5EF4-FFF2-40B4-BE49-F238E27FC236}">
                    <a16:creationId xmlns:a16="http://schemas.microsoft.com/office/drawing/2014/main" id="{EABA8736-7A3C-423C-AE5A-BDA9E8807C56}"/>
                  </a:ext>
                </a:extLst>
              </p:cNvPr>
              <p:cNvSpPr>
                <a:spLocks noRot="1" noChangeAspect="1" noMove="1" noResize="1" noEditPoints="1" noAdjustHandles="1" noChangeArrowheads="1" noChangeShapeType="1" noTextEdit="1"/>
              </p:cNvSpPr>
              <p:nvPr/>
            </p:nvSpPr>
            <p:spPr>
              <a:xfrm>
                <a:off x="480123" y="2533919"/>
                <a:ext cx="6138644" cy="3465051"/>
              </a:xfrm>
              <a:prstGeom prst="rect">
                <a:avLst/>
              </a:prstGeom>
              <a:blipFill>
                <a:blip r:embed="rId3"/>
                <a:stretch>
                  <a:fillRect l="-596" r="-894" b="-2113"/>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1D641442-5FF6-4D13-A7AD-B6E51C96CD1E}"/>
              </a:ext>
            </a:extLst>
          </p:cNvPr>
          <p:cNvSpPr/>
          <p:nvPr/>
        </p:nvSpPr>
        <p:spPr>
          <a:xfrm>
            <a:off x="3464510" y="1411658"/>
            <a:ext cx="5262979" cy="369332"/>
          </a:xfrm>
          <a:prstGeom prst="rect">
            <a:avLst/>
          </a:prstGeom>
        </p:spPr>
        <p:txBody>
          <a:bodyPr wrap="none">
            <a:spAutoFit/>
          </a:bodyPr>
          <a:lstStyle/>
          <a:p>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rgbClr val="C00000"/>
              </a:solidFill>
            </a:endParaRPr>
          </a:p>
        </p:txBody>
      </p:sp>
      <p:grpSp>
        <p:nvGrpSpPr>
          <p:cNvPr id="12" name="组合 11">
            <a:extLst>
              <a:ext uri="{FF2B5EF4-FFF2-40B4-BE49-F238E27FC236}">
                <a16:creationId xmlns:a16="http://schemas.microsoft.com/office/drawing/2014/main" id="{2DF60A06-6099-4F03-AF36-844499FA97A7}"/>
              </a:ext>
            </a:extLst>
          </p:cNvPr>
          <p:cNvGrpSpPr/>
          <p:nvPr/>
        </p:nvGrpSpPr>
        <p:grpSpPr>
          <a:xfrm>
            <a:off x="6866464" y="2265539"/>
            <a:ext cx="4574773" cy="3574757"/>
            <a:chOff x="6866464" y="2265539"/>
            <a:chExt cx="4574773" cy="3574757"/>
          </a:xfrm>
        </p:grpSpPr>
        <p:sp>
          <p:nvSpPr>
            <p:cNvPr id="13" name="矩形 12">
              <a:extLst>
                <a:ext uri="{FF2B5EF4-FFF2-40B4-BE49-F238E27FC236}">
                  <a16:creationId xmlns:a16="http://schemas.microsoft.com/office/drawing/2014/main" id="{BF66BFE4-C569-4166-A752-8D61D67D06D9}"/>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2D3E1052-DE60-473A-AF94-4D8731D16A89}"/>
                </a:ext>
              </a:extLst>
            </p:cNvPr>
            <p:cNvPicPr>
              <a:picLocks noChangeAspect="1"/>
            </p:cNvPicPr>
            <p:nvPr/>
          </p:nvPicPr>
          <p:blipFill>
            <a:blip r:embed="rId4"/>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2815559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480123" y="2470228"/>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EABA8736-7A3C-423C-AE5A-BDA9E8807C56}"/>
                  </a:ext>
                </a:extLst>
              </p:cNvPr>
              <p:cNvSpPr/>
              <p:nvPr/>
            </p:nvSpPr>
            <p:spPr>
              <a:xfrm>
                <a:off x="480123" y="2533919"/>
                <a:ext cx="6138644" cy="3464410"/>
              </a:xfrm>
              <a:prstGeom prst="rect">
                <a:avLst/>
              </a:prstGeom>
            </p:spPr>
            <p:txBody>
              <a:bodyPr wrap="square">
                <a:spAutoFit/>
              </a:bodyPr>
              <a:lstStyle/>
              <a:p>
                <a:pPr algn="ctr">
                  <a:lnSpc>
                    <a:spcPct val="150000"/>
                  </a:lnSpc>
                  <a:buClr>
                    <a:schemeClr val="bg1"/>
                  </a:buClr>
                  <a:buSzPct val="80000"/>
                </a:pP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目标测试（</a:t>
                </a:r>
                <a:r>
                  <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goal test</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600"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目标测试函数</a:t>
                </a:r>
                <a14:m>
                  <m:oMath xmlns:m="http://schemas.openxmlformats.org/officeDocument/2006/math">
                    <m:r>
                      <m:rPr>
                        <m:sty m:val="p"/>
                      </m:rPr>
                      <a:rPr lang="en-US" altLang="zh-CN" sz="160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goal</m:t>
                    </m:r>
                    <m:r>
                      <a:rPr lang="en-US" altLang="zh-CN" sz="160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_</m:t>
                    </m:r>
                    <m:r>
                      <m:rPr>
                        <m:sty m:val="p"/>
                      </m:rPr>
                      <a:rPr lang="en-US" altLang="zh-CN" sz="160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test</m:t>
                    </m:r>
                    <m:r>
                      <a:rPr lang="en-US" altLang="zh-CN" sz="160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160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用于判断状态</a:t>
                </a:r>
                <a14:m>
                  <m:oMath xmlns:m="http://schemas.openxmlformats.org/officeDocument/2006/math">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𝑠</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是否为目标状态。在图中，如果当前状态为</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那么目标测试通过，否则不通过。目标测试通过意味着搜索算法完成，但是搜索算法完成并不意味着算法已经找到了最短路径。在最短路径搜索中，搜索算法会不断从当前结点的邻接节点中选择下一个结点，如此循环，直到找到一条从初始状态到终止状态的路径为止。当然，寻找所得的路径（从初始状态到终止状态）是否满足</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路径最短</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这一约束条件，还需要另行判断。</a:t>
                </a:r>
              </a:p>
              <a:p>
                <a:pPr algn="ctr">
                  <a:lnSpc>
                    <a:spcPct val="150000"/>
                  </a:lnSpc>
                  <a:buClr>
                    <a:schemeClr val="bg1"/>
                  </a:buClr>
                  <a:buSzPct val="80000"/>
                </a:pPr>
                <a:endPar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5" name="矩形 24">
                <a:extLst>
                  <a:ext uri="{FF2B5EF4-FFF2-40B4-BE49-F238E27FC236}">
                    <a16:creationId xmlns:a16="http://schemas.microsoft.com/office/drawing/2014/main" id="{EABA8736-7A3C-423C-AE5A-BDA9E8807C56}"/>
                  </a:ext>
                </a:extLst>
              </p:cNvPr>
              <p:cNvSpPr>
                <a:spLocks noRot="1" noChangeAspect="1" noMove="1" noResize="1" noEditPoints="1" noAdjustHandles="1" noChangeArrowheads="1" noChangeShapeType="1" noTextEdit="1"/>
              </p:cNvSpPr>
              <p:nvPr/>
            </p:nvSpPr>
            <p:spPr>
              <a:xfrm>
                <a:off x="480123" y="2533919"/>
                <a:ext cx="6138644" cy="3464410"/>
              </a:xfrm>
              <a:prstGeom prst="rect">
                <a:avLst/>
              </a:prstGeom>
              <a:blipFill>
                <a:blip r:embed="rId3"/>
                <a:stretch>
                  <a:fillRect l="-596" r="-4270"/>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1D641442-5FF6-4D13-A7AD-B6E51C96CD1E}"/>
              </a:ext>
            </a:extLst>
          </p:cNvPr>
          <p:cNvSpPr/>
          <p:nvPr/>
        </p:nvSpPr>
        <p:spPr>
          <a:xfrm>
            <a:off x="3464510" y="1411658"/>
            <a:ext cx="5262979" cy="369332"/>
          </a:xfrm>
          <a:prstGeom prst="rect">
            <a:avLst/>
          </a:prstGeom>
        </p:spPr>
        <p:txBody>
          <a:bodyPr wrap="none">
            <a:spAutoFit/>
          </a:bodyPr>
          <a:lstStyle/>
          <a:p>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rgbClr val="C00000"/>
              </a:solidFill>
            </a:endParaRPr>
          </a:p>
        </p:txBody>
      </p:sp>
      <p:grpSp>
        <p:nvGrpSpPr>
          <p:cNvPr id="12" name="组合 11">
            <a:extLst>
              <a:ext uri="{FF2B5EF4-FFF2-40B4-BE49-F238E27FC236}">
                <a16:creationId xmlns:a16="http://schemas.microsoft.com/office/drawing/2014/main" id="{BEA6555C-530D-44FB-B696-3B91E2BA9412}"/>
              </a:ext>
            </a:extLst>
          </p:cNvPr>
          <p:cNvGrpSpPr/>
          <p:nvPr/>
        </p:nvGrpSpPr>
        <p:grpSpPr>
          <a:xfrm>
            <a:off x="6866464" y="2265539"/>
            <a:ext cx="4574773" cy="3574757"/>
            <a:chOff x="6866464" y="2265539"/>
            <a:chExt cx="4574773" cy="3574757"/>
          </a:xfrm>
        </p:grpSpPr>
        <p:sp>
          <p:nvSpPr>
            <p:cNvPr id="13" name="矩形 12">
              <a:extLst>
                <a:ext uri="{FF2B5EF4-FFF2-40B4-BE49-F238E27FC236}">
                  <a16:creationId xmlns:a16="http://schemas.microsoft.com/office/drawing/2014/main" id="{17C17ABF-5223-430C-B871-ADB2C4E7853A}"/>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2B1F8BFC-B6F7-4896-9638-FCCCED4488A4}"/>
                </a:ext>
              </a:extLst>
            </p:cNvPr>
            <p:cNvPicPr>
              <a:picLocks noChangeAspect="1"/>
            </p:cNvPicPr>
            <p:nvPr/>
          </p:nvPicPr>
          <p:blipFill>
            <a:blip r:embed="rId4"/>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411317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32772"/>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搜索过程可视为搜索树的构建</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34834"/>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B7554322-352F-40A4-801F-C8715A1A6EE8}"/>
                  </a:ext>
                </a:extLst>
              </p:cNvPr>
              <p:cNvSpPr/>
              <p:nvPr/>
            </p:nvSpPr>
            <p:spPr>
              <a:xfrm>
                <a:off x="252375" y="1909869"/>
                <a:ext cx="6096000" cy="4302460"/>
              </a:xfrm>
              <a:prstGeom prst="rect">
                <a:avLst/>
              </a:prstGeom>
            </p:spPr>
            <p:txBody>
              <a:bodyPr>
                <a:spAutoFit/>
              </a:bodyPr>
              <a:lstStyle/>
              <a:p>
                <a:pPr marL="285750" indent="-285750" algn="just">
                  <a:lnSpc>
                    <a:spcPts val="2200"/>
                  </a:lnSpc>
                  <a:spcAft>
                    <a:spcPts val="0"/>
                  </a:spcAft>
                  <a:buFont typeface="Arial" panose="020B0604020202020204" pitchFamily="34" charset="0"/>
                  <a:buChar char="•"/>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可以用一棵树来记录算法所探索的路径，如</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左</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图给出了图</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3.1</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中部分搜索结果。这样一棵树被称为</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，树中每个结点用一个状态（城市）标记（即每个状态对应一个城市）。</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3.2</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所示搜索树第三层中有三个标号均为</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的结点，它们在图中分别被圆圈、正方形和三角形框住。虽然这三个标号</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对应同一个城市，但是这三个结点在搜索树中却表示不同结点，因为它们分别代表了从初始状态出发到达城市</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的如下三条不同路径：</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B</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D</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。因此需要注意的是，在搜索树中，同一个标号一定表示相同的状态（即城市），其含义为搜索算法所在当前城市，但是同一个标号可能在搜索树中出现多次，不同的结点对应了从初始状态出发的不同路径。</a:t>
                </a:r>
              </a:p>
              <a:p>
                <a:pPr marL="285750" indent="-285750" algn="just">
                  <a:lnSpc>
                    <a:spcPts val="2200"/>
                  </a:lnSpc>
                  <a:spcAft>
                    <a:spcPts val="0"/>
                  </a:spcAft>
                  <a:buFont typeface="Arial" panose="020B0604020202020204" pitchFamily="34" charset="0"/>
                  <a:buChar char="•"/>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可见，搜索树记录了从根结点出发目前所有探索过的路径。搜索算法可以被看成是一个构建搜索树的过程，</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从根结点（初始状态）开始，不断展开每个结点的后继结点，直到某个结点通过了目标测试</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p:txBody>
          </p:sp>
        </mc:Choice>
        <mc:Fallback xmlns="">
          <p:sp>
            <p:nvSpPr>
              <p:cNvPr id="9" name="矩形 8">
                <a:extLst>
                  <a:ext uri="{FF2B5EF4-FFF2-40B4-BE49-F238E27FC236}">
                    <a16:creationId xmlns:a16="http://schemas.microsoft.com/office/drawing/2014/main" id="{B7554322-352F-40A4-801F-C8715A1A6EE8}"/>
                  </a:ext>
                </a:extLst>
              </p:cNvPr>
              <p:cNvSpPr>
                <a:spLocks noRot="1" noChangeAspect="1" noMove="1" noResize="1" noEditPoints="1" noAdjustHandles="1" noChangeArrowheads="1" noChangeShapeType="1" noTextEdit="1"/>
              </p:cNvSpPr>
              <p:nvPr/>
            </p:nvSpPr>
            <p:spPr>
              <a:xfrm>
                <a:off x="252375" y="1909869"/>
                <a:ext cx="6096000" cy="4302460"/>
              </a:xfrm>
              <a:prstGeom prst="rect">
                <a:avLst/>
              </a:prstGeom>
              <a:blipFill>
                <a:blip r:embed="rId3"/>
                <a:stretch>
                  <a:fillRect l="-400" t="-142" r="-3900" b="-85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A2720EA0-3C7A-47B1-A994-3070BC872D13}"/>
              </a:ext>
            </a:extLst>
          </p:cNvPr>
          <p:cNvPicPr>
            <a:picLocks noChangeAspect="1"/>
          </p:cNvPicPr>
          <p:nvPr/>
        </p:nvPicPr>
        <p:blipFill>
          <a:blip r:embed="rId4"/>
          <a:stretch>
            <a:fillRect/>
          </a:stretch>
        </p:blipFill>
        <p:spPr>
          <a:xfrm>
            <a:off x="7223838" y="2305473"/>
            <a:ext cx="3626688" cy="3331989"/>
          </a:xfrm>
          <a:prstGeom prst="rect">
            <a:avLst/>
          </a:prstGeom>
        </p:spPr>
      </p:pic>
    </p:spTree>
    <p:extLst>
      <p:ext uri="{BB962C8B-B14F-4D97-AF65-F5344CB8AC3E}">
        <p14:creationId xmlns:p14="http://schemas.microsoft.com/office/powerpoint/2010/main" val="3172106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43CACA-5223-554A-6179-661FC1257E00}"/>
              </a:ext>
            </a:extLst>
          </p:cNvPr>
          <p:cNvSpPr txBox="1"/>
          <p:nvPr/>
        </p:nvSpPr>
        <p:spPr>
          <a:xfrm>
            <a:off x="146506" y="799118"/>
            <a:ext cx="3183041" cy="6001643"/>
          </a:xfrm>
          <a:prstGeom prst="rect">
            <a:avLst/>
          </a:prstGeom>
          <a:noFill/>
        </p:spPr>
        <p:txBody>
          <a:bodyPr wrap="square">
            <a:spAutoFit/>
          </a:bodyPr>
          <a:lstStyle/>
          <a:p>
            <a:r>
              <a:rPr lang="zh-CN" altLang="en-US" sz="800" dirty="0"/>
              <a:t>#include &lt;stdio.h&gt;</a:t>
            </a:r>
          </a:p>
          <a:p>
            <a:r>
              <a:rPr lang="zh-CN" altLang="en-US" sz="800" dirty="0"/>
              <a:t>#include &lt;stdlib.h&gt;</a:t>
            </a:r>
          </a:p>
          <a:p>
            <a:r>
              <a:rPr lang="zh-CN" altLang="en-US" sz="800" dirty="0"/>
              <a:t>#include &lt;stdbool.h&gt;</a:t>
            </a:r>
          </a:p>
          <a:p>
            <a:endParaRPr lang="zh-CN" altLang="en-US" sz="800" dirty="0"/>
          </a:p>
          <a:p>
            <a:r>
              <a:rPr lang="zh-CN" altLang="en-US" sz="800" dirty="0">
                <a:solidFill>
                  <a:schemeClr val="accent2"/>
                </a:solidFill>
              </a:rPr>
              <a:t>// 一般树节点结构</a:t>
            </a:r>
          </a:p>
          <a:p>
            <a:r>
              <a:rPr lang="zh-CN" altLang="en-US" sz="800" dirty="0"/>
              <a:t>typedef struct TreeVertex {</a:t>
            </a:r>
          </a:p>
          <a:p>
            <a:r>
              <a:rPr lang="zh-CN" altLang="en-US" sz="800" dirty="0"/>
              <a:t>    int data;</a:t>
            </a:r>
          </a:p>
          <a:p>
            <a:r>
              <a:rPr lang="zh-CN" altLang="en-US" sz="800" dirty="0"/>
              <a:t>    struct ChildNode* firstChild;</a:t>
            </a:r>
          </a:p>
          <a:p>
            <a:r>
              <a:rPr lang="zh-CN" altLang="en-US" sz="800" dirty="0"/>
              <a:t>} TreeVertex;</a:t>
            </a:r>
          </a:p>
          <a:p>
            <a:endParaRPr lang="zh-CN" altLang="en-US" sz="800" dirty="0"/>
          </a:p>
          <a:p>
            <a:r>
              <a:rPr lang="zh-CN" altLang="en-US" sz="800" dirty="0">
                <a:solidFill>
                  <a:schemeClr val="accent2"/>
                </a:solidFill>
              </a:rPr>
              <a:t>// 子节点链表结构</a:t>
            </a:r>
          </a:p>
          <a:p>
            <a:r>
              <a:rPr lang="zh-CN" altLang="en-US" sz="800" dirty="0"/>
              <a:t>typedef struct ChildNode {</a:t>
            </a:r>
          </a:p>
          <a:p>
            <a:r>
              <a:rPr lang="zh-CN" altLang="en-US" sz="800" dirty="0"/>
              <a:t>    struct TreeVertex* vertex;</a:t>
            </a:r>
          </a:p>
          <a:p>
            <a:r>
              <a:rPr lang="zh-CN" altLang="en-US" sz="800" dirty="0"/>
              <a:t>    struct ChildNode* nextSibling;</a:t>
            </a:r>
          </a:p>
          <a:p>
            <a:r>
              <a:rPr lang="zh-CN" altLang="en-US" sz="800" dirty="0"/>
              <a:t>} ChildNode;</a:t>
            </a:r>
          </a:p>
          <a:p>
            <a:endParaRPr lang="zh-CN" altLang="en-US" sz="800" dirty="0"/>
          </a:p>
          <a:p>
            <a:r>
              <a:rPr lang="zh-CN" altLang="en-US" sz="800" dirty="0">
                <a:solidFill>
                  <a:schemeClr val="accent2"/>
                </a:solidFill>
              </a:rPr>
              <a:t>// 创建新的树节点</a:t>
            </a:r>
          </a:p>
          <a:p>
            <a:r>
              <a:rPr lang="zh-CN" altLang="en-US" sz="800" dirty="0"/>
              <a:t>TreeVertex* createVertex(int data) {</a:t>
            </a:r>
          </a:p>
          <a:p>
            <a:r>
              <a:rPr lang="zh-CN" altLang="en-US" sz="800" dirty="0"/>
              <a:t>    TreeVertex* newVertex = (TreeVertex*)malloc(sizeof(TreeVertex));</a:t>
            </a:r>
          </a:p>
          <a:p>
            <a:r>
              <a:rPr lang="zh-CN" altLang="en-US" sz="800" dirty="0"/>
              <a:t>    if (newVertex == NULL) {</a:t>
            </a:r>
          </a:p>
          <a:p>
            <a:r>
              <a:rPr lang="zh-CN" altLang="en-US" sz="800" dirty="0"/>
              <a:t>        printf("内存分配失败\n");</a:t>
            </a:r>
          </a:p>
          <a:p>
            <a:r>
              <a:rPr lang="zh-CN" altLang="en-US" sz="800" dirty="0"/>
              <a:t>        exit(1);</a:t>
            </a:r>
          </a:p>
          <a:p>
            <a:r>
              <a:rPr lang="zh-CN" altLang="en-US" sz="800" dirty="0"/>
              <a:t>    }</a:t>
            </a:r>
          </a:p>
          <a:p>
            <a:r>
              <a:rPr lang="zh-CN" altLang="en-US" sz="800" dirty="0"/>
              <a:t>    newVertex-&gt;data = data;</a:t>
            </a:r>
          </a:p>
          <a:p>
            <a:r>
              <a:rPr lang="zh-CN" altLang="en-US" sz="800" dirty="0"/>
              <a:t>    newVertex-&gt;firstChild = NULL;</a:t>
            </a:r>
          </a:p>
          <a:p>
            <a:r>
              <a:rPr lang="zh-CN" altLang="en-US" sz="800" dirty="0"/>
              <a:t>    return newVertex;</a:t>
            </a:r>
          </a:p>
          <a:p>
            <a:r>
              <a:rPr lang="zh-CN" altLang="en-US" sz="800" dirty="0"/>
              <a:t>}</a:t>
            </a:r>
          </a:p>
          <a:p>
            <a:endParaRPr lang="zh-CN" altLang="en-US" sz="800" dirty="0"/>
          </a:p>
          <a:p>
            <a:r>
              <a:rPr lang="zh-CN" altLang="en-US" sz="800" dirty="0">
                <a:solidFill>
                  <a:schemeClr val="accent2"/>
                </a:solidFill>
              </a:rPr>
              <a:t>// 为父节点添加子节点</a:t>
            </a:r>
          </a:p>
          <a:p>
            <a:r>
              <a:rPr lang="zh-CN" altLang="en-US" sz="800" dirty="0"/>
              <a:t>void addChild(TreeVertex* parent, TreeVertex* child) {</a:t>
            </a:r>
          </a:p>
          <a:p>
            <a:r>
              <a:rPr lang="zh-CN" altLang="en-US" sz="800" dirty="0"/>
              <a:t>    ChildNode* newChildNode = (ChildNode*)malloc(sizeof(ChildNode));</a:t>
            </a:r>
          </a:p>
          <a:p>
            <a:r>
              <a:rPr lang="zh-CN" altLang="en-US" sz="800" dirty="0"/>
              <a:t>    if (newChildNode == NULL) {</a:t>
            </a:r>
          </a:p>
          <a:p>
            <a:r>
              <a:rPr lang="zh-CN" altLang="en-US" sz="800" dirty="0"/>
              <a:t>        printf("内存分配失败\n");</a:t>
            </a:r>
          </a:p>
          <a:p>
            <a:r>
              <a:rPr lang="zh-CN" altLang="en-US" sz="800" dirty="0"/>
              <a:t>        exit(1);</a:t>
            </a:r>
          </a:p>
          <a:p>
            <a:r>
              <a:rPr lang="zh-CN" altLang="en-US" sz="800" dirty="0"/>
              <a:t>    }</a:t>
            </a:r>
          </a:p>
          <a:p>
            <a:r>
              <a:rPr lang="zh-CN" altLang="en-US" sz="800" dirty="0"/>
              <a:t>    newChildNode-&gt;vertex = child;</a:t>
            </a:r>
          </a:p>
          <a:p>
            <a:r>
              <a:rPr lang="zh-CN" altLang="en-US" sz="800" dirty="0"/>
              <a:t>    newChildNode-&gt;nextSibling = NULL;</a:t>
            </a:r>
          </a:p>
          <a:p>
            <a:r>
              <a:rPr lang="zh-CN" altLang="en-US" sz="800" dirty="0"/>
              <a:t>    </a:t>
            </a:r>
          </a:p>
          <a:p>
            <a:r>
              <a:rPr lang="zh-CN" altLang="en-US" sz="800" dirty="0"/>
              <a:t>    if (parent-&gt;firstChild == NULL) {</a:t>
            </a:r>
          </a:p>
          <a:p>
            <a:r>
              <a:rPr lang="zh-CN" altLang="en-US" sz="800" dirty="0"/>
              <a:t>        parent-&gt;firstChild = newChildNode;</a:t>
            </a:r>
          </a:p>
          <a:p>
            <a:r>
              <a:rPr lang="zh-CN" altLang="en-US" sz="800" dirty="0"/>
              <a:t>    } else {</a:t>
            </a:r>
          </a:p>
          <a:p>
            <a:r>
              <a:rPr lang="zh-CN" altLang="en-US" sz="800" dirty="0"/>
              <a:t>        ChildNode* current = parent-&gt;firstChild;</a:t>
            </a:r>
          </a:p>
          <a:p>
            <a:r>
              <a:rPr lang="zh-CN" altLang="en-US" sz="800" dirty="0"/>
              <a:t>        while (current-&gt;nextSibling != NULL) {</a:t>
            </a:r>
          </a:p>
          <a:p>
            <a:r>
              <a:rPr lang="zh-CN" altLang="en-US" sz="800" dirty="0"/>
              <a:t>            current = current-&gt;nextSibling;</a:t>
            </a:r>
          </a:p>
          <a:p>
            <a:r>
              <a:rPr lang="zh-CN" altLang="en-US" sz="800" dirty="0"/>
              <a:t>        }</a:t>
            </a:r>
          </a:p>
          <a:p>
            <a:r>
              <a:rPr lang="zh-CN" altLang="en-US" sz="800" dirty="0"/>
              <a:t>        current-&gt;nextSibling = newChildNode;</a:t>
            </a:r>
          </a:p>
          <a:p>
            <a:r>
              <a:rPr lang="zh-CN" altLang="en-US" sz="800" dirty="0"/>
              <a:t>    }</a:t>
            </a:r>
          </a:p>
          <a:p>
            <a:r>
              <a:rPr lang="zh-CN" altLang="en-US" sz="800" dirty="0"/>
              <a:t>}</a:t>
            </a:r>
          </a:p>
        </p:txBody>
      </p:sp>
      <p:sp>
        <p:nvSpPr>
          <p:cNvPr id="5" name="文本框 4">
            <a:extLst>
              <a:ext uri="{FF2B5EF4-FFF2-40B4-BE49-F238E27FC236}">
                <a16:creationId xmlns:a16="http://schemas.microsoft.com/office/drawing/2014/main" id="{FA19E190-E99A-1F69-7397-185DEBF3BFFA}"/>
              </a:ext>
            </a:extLst>
          </p:cNvPr>
          <p:cNvSpPr txBox="1"/>
          <p:nvPr/>
        </p:nvSpPr>
        <p:spPr>
          <a:xfrm>
            <a:off x="3482874" y="1526502"/>
            <a:ext cx="2355736" cy="2923877"/>
          </a:xfrm>
          <a:prstGeom prst="rect">
            <a:avLst/>
          </a:prstGeom>
          <a:noFill/>
        </p:spPr>
        <p:txBody>
          <a:bodyPr wrap="square">
            <a:spAutoFit/>
          </a:bodyPr>
          <a:lstStyle/>
          <a:p>
            <a:r>
              <a:rPr lang="zh-CN" altLang="en-US" sz="800" dirty="0">
                <a:solidFill>
                  <a:schemeClr val="accent2"/>
                </a:solidFill>
              </a:rPr>
              <a:t>// 深度优先搜索（DFS）</a:t>
            </a:r>
          </a:p>
          <a:p>
            <a:r>
              <a:rPr lang="zh-CN" altLang="en-US" sz="800" dirty="0"/>
              <a:t>bool dfsSearch(TreeVertex* root, int target) {</a:t>
            </a:r>
          </a:p>
          <a:p>
            <a:r>
              <a:rPr lang="zh-CN" altLang="en-US" sz="800" dirty="0"/>
              <a:t>    if (root == NULL) {</a:t>
            </a:r>
          </a:p>
          <a:p>
            <a:r>
              <a:rPr lang="zh-CN" altLang="en-US" sz="800" dirty="0"/>
              <a:t>        return false;</a:t>
            </a:r>
          </a:p>
          <a:p>
            <a:r>
              <a:rPr lang="zh-CN" altLang="en-US" sz="800" dirty="0"/>
              <a:t>    }</a:t>
            </a:r>
          </a:p>
          <a:p>
            <a:r>
              <a:rPr lang="zh-CN" altLang="en-US" sz="800" dirty="0"/>
              <a:t>    </a:t>
            </a:r>
          </a:p>
          <a:p>
            <a:r>
              <a:rPr lang="zh-CN" altLang="en-US" sz="800" dirty="0"/>
              <a:t>    // 检查当前节点</a:t>
            </a:r>
          </a:p>
          <a:p>
            <a:r>
              <a:rPr lang="zh-CN" altLang="en-US" sz="800" dirty="0"/>
              <a:t>    if (root-&gt;data == target) {</a:t>
            </a:r>
          </a:p>
          <a:p>
            <a:r>
              <a:rPr lang="zh-CN" altLang="en-US" sz="800" dirty="0"/>
              <a:t>        return true;</a:t>
            </a:r>
          </a:p>
          <a:p>
            <a:r>
              <a:rPr lang="zh-CN" altLang="en-US" sz="800" dirty="0"/>
              <a:t>    }</a:t>
            </a:r>
          </a:p>
          <a:p>
            <a:r>
              <a:rPr lang="zh-CN" altLang="en-US" sz="800" dirty="0"/>
              <a:t>    </a:t>
            </a:r>
          </a:p>
          <a:p>
            <a:r>
              <a:rPr lang="zh-CN" altLang="en-US" sz="800" dirty="0"/>
              <a:t>    // 递归搜索所有子节点</a:t>
            </a:r>
          </a:p>
          <a:p>
            <a:r>
              <a:rPr lang="zh-CN" altLang="en-US" sz="800" dirty="0"/>
              <a:t>    ChildNode* currentChild = root-&gt;firstChild;</a:t>
            </a:r>
          </a:p>
          <a:p>
            <a:r>
              <a:rPr lang="zh-CN" altLang="en-US" sz="800" dirty="0"/>
              <a:t>    while (currentChild != NULL) {</a:t>
            </a:r>
          </a:p>
          <a:p>
            <a:r>
              <a:rPr lang="zh-CN" altLang="en-US" sz="800" dirty="0"/>
              <a:t>        if (dfsSearch(currentChild-&gt;vertex, target)) {</a:t>
            </a:r>
          </a:p>
          <a:p>
            <a:r>
              <a:rPr lang="zh-CN" altLang="en-US" sz="800" dirty="0"/>
              <a:t>            return true;</a:t>
            </a:r>
          </a:p>
          <a:p>
            <a:r>
              <a:rPr lang="zh-CN" altLang="en-US" sz="800" dirty="0"/>
              <a:t>        }</a:t>
            </a:r>
          </a:p>
          <a:p>
            <a:r>
              <a:rPr lang="zh-CN" altLang="en-US" sz="800" dirty="0"/>
              <a:t>        currentChild = currentChild-&gt;nextSibling;</a:t>
            </a:r>
          </a:p>
          <a:p>
            <a:r>
              <a:rPr lang="zh-CN" altLang="en-US" sz="800" dirty="0"/>
              <a:t>    }</a:t>
            </a:r>
          </a:p>
          <a:p>
            <a:r>
              <a:rPr lang="zh-CN" altLang="en-US" sz="800" dirty="0"/>
              <a:t>    </a:t>
            </a:r>
          </a:p>
          <a:p>
            <a:r>
              <a:rPr lang="zh-CN" altLang="en-US" sz="800" dirty="0"/>
              <a:t>    return false;</a:t>
            </a:r>
          </a:p>
          <a:p>
            <a:r>
              <a:rPr lang="zh-CN" altLang="en-US" sz="800" dirty="0"/>
              <a:t>}</a:t>
            </a:r>
          </a:p>
          <a:p>
            <a:endParaRPr lang="zh-CN" altLang="en-US" sz="800" dirty="0"/>
          </a:p>
        </p:txBody>
      </p:sp>
      <p:sp>
        <p:nvSpPr>
          <p:cNvPr id="7" name="文本框 6">
            <a:extLst>
              <a:ext uri="{FF2B5EF4-FFF2-40B4-BE49-F238E27FC236}">
                <a16:creationId xmlns:a16="http://schemas.microsoft.com/office/drawing/2014/main" id="{DFE3BA4A-5820-351E-17D7-8E4C8213767B}"/>
              </a:ext>
            </a:extLst>
          </p:cNvPr>
          <p:cNvSpPr txBox="1"/>
          <p:nvPr/>
        </p:nvSpPr>
        <p:spPr>
          <a:xfrm>
            <a:off x="9239401" y="1526502"/>
            <a:ext cx="2718174" cy="3785652"/>
          </a:xfrm>
          <a:prstGeom prst="rect">
            <a:avLst/>
          </a:prstGeom>
          <a:noFill/>
        </p:spPr>
        <p:txBody>
          <a:bodyPr wrap="square">
            <a:spAutoFit/>
          </a:bodyPr>
          <a:lstStyle/>
          <a:p>
            <a:r>
              <a:rPr lang="zh-CN" altLang="en-US" sz="800" dirty="0">
                <a:solidFill>
                  <a:schemeClr val="accent2"/>
                </a:solidFill>
              </a:rPr>
              <a:t>// 示例用法</a:t>
            </a:r>
          </a:p>
          <a:p>
            <a:r>
              <a:rPr lang="zh-CN" altLang="en-US" sz="800" dirty="0"/>
              <a:t>int main() {</a:t>
            </a:r>
          </a:p>
          <a:p>
            <a:r>
              <a:rPr lang="zh-CN" altLang="en-US" sz="800" dirty="0">
                <a:solidFill>
                  <a:schemeClr val="accent2"/>
                </a:solidFill>
              </a:rPr>
              <a:t>    // 构建一个一般树</a:t>
            </a:r>
          </a:p>
          <a:p>
            <a:r>
              <a:rPr lang="zh-CN" altLang="en-US" sz="800" dirty="0"/>
              <a:t>    TreeVertex* root = createVertex(1);</a:t>
            </a:r>
          </a:p>
          <a:p>
            <a:r>
              <a:rPr lang="zh-CN" altLang="en-US" sz="800" dirty="0"/>
              <a:t>    TreeVertex* child1 = createVertex(2);</a:t>
            </a:r>
          </a:p>
          <a:p>
            <a:r>
              <a:rPr lang="zh-CN" altLang="en-US" sz="800" dirty="0"/>
              <a:t>    TreeVertex* child2 = createVertex(3);</a:t>
            </a:r>
          </a:p>
          <a:p>
            <a:r>
              <a:rPr lang="zh-CN" altLang="en-US" sz="800" dirty="0"/>
              <a:t>    TreeVertex* child3 = createVertex(4);</a:t>
            </a:r>
          </a:p>
          <a:p>
            <a:r>
              <a:rPr lang="zh-CN" altLang="en-US" sz="800" dirty="0"/>
              <a:t>    TreeVertex* grandchild1 = createVertex(5);</a:t>
            </a:r>
          </a:p>
          <a:p>
            <a:r>
              <a:rPr lang="zh-CN" altLang="en-US" sz="800" dirty="0"/>
              <a:t>    TreeVertex* grandchild2 = createVertex(6);</a:t>
            </a:r>
          </a:p>
          <a:p>
            <a:r>
              <a:rPr lang="zh-CN" altLang="en-US" sz="800" dirty="0"/>
              <a:t>    </a:t>
            </a:r>
          </a:p>
          <a:p>
            <a:r>
              <a:rPr lang="zh-CN" altLang="en-US" sz="800" dirty="0"/>
              <a:t>    addChild(root, child1);</a:t>
            </a:r>
          </a:p>
          <a:p>
            <a:r>
              <a:rPr lang="zh-CN" altLang="en-US" sz="800" dirty="0"/>
              <a:t>    addChild(root, child2);</a:t>
            </a:r>
          </a:p>
          <a:p>
            <a:r>
              <a:rPr lang="zh-CN" altLang="en-US" sz="800" dirty="0"/>
              <a:t>    addChild(root, child3);</a:t>
            </a:r>
          </a:p>
          <a:p>
            <a:r>
              <a:rPr lang="zh-CN" altLang="en-US" sz="800" dirty="0"/>
              <a:t>    addChild(child1, grandchild1);</a:t>
            </a:r>
          </a:p>
          <a:p>
            <a:r>
              <a:rPr lang="zh-CN" altLang="en-US" sz="800" dirty="0"/>
              <a:t>    addChild(child2, grandchild2);</a:t>
            </a:r>
          </a:p>
          <a:p>
            <a:r>
              <a:rPr lang="zh-CN" altLang="en-US" sz="800" dirty="0"/>
              <a:t>    </a:t>
            </a:r>
          </a:p>
          <a:p>
            <a:r>
              <a:rPr lang="zh-CN" altLang="en-US" sz="800" dirty="0"/>
              <a:t>    int target = 5;</a:t>
            </a:r>
          </a:p>
          <a:p>
            <a:r>
              <a:rPr lang="zh-CN" altLang="en-US" sz="800" dirty="0"/>
              <a:t>    </a:t>
            </a:r>
          </a:p>
          <a:p>
            <a:r>
              <a:rPr lang="zh-CN" altLang="en-US" sz="800" dirty="0"/>
              <a:t>    if (dfsSearch(root, target)) {</a:t>
            </a:r>
          </a:p>
          <a:p>
            <a:r>
              <a:rPr lang="zh-CN" altLang="en-US" sz="800" dirty="0"/>
              <a:t>        printf("</a:t>
            </a:r>
            <a:r>
              <a:rPr lang="zh-CN" altLang="en-US" sz="800" dirty="0">
                <a:solidFill>
                  <a:schemeClr val="accent2"/>
                </a:solidFill>
              </a:rPr>
              <a:t>深度优先搜索</a:t>
            </a:r>
            <a:r>
              <a:rPr lang="zh-CN" altLang="en-US" sz="800" dirty="0"/>
              <a:t>找到目标值: %d\n", target);</a:t>
            </a:r>
          </a:p>
          <a:p>
            <a:r>
              <a:rPr lang="zh-CN" altLang="en-US" sz="800" dirty="0"/>
              <a:t>    }</a:t>
            </a:r>
          </a:p>
          <a:p>
            <a:r>
              <a:rPr lang="zh-CN" altLang="en-US" sz="800" dirty="0"/>
              <a:t>    </a:t>
            </a:r>
          </a:p>
          <a:p>
            <a:r>
              <a:rPr lang="zh-CN" altLang="en-US" sz="800" dirty="0"/>
              <a:t>    if (bfsSearch(root, target)) {</a:t>
            </a:r>
          </a:p>
          <a:p>
            <a:r>
              <a:rPr lang="zh-CN" altLang="en-US" sz="800" dirty="0"/>
              <a:t>        printf("</a:t>
            </a:r>
            <a:r>
              <a:rPr lang="zh-CN" altLang="en-US" sz="800" dirty="0">
                <a:solidFill>
                  <a:schemeClr val="accent2"/>
                </a:solidFill>
              </a:rPr>
              <a:t>广度优先搜索</a:t>
            </a:r>
            <a:r>
              <a:rPr lang="zh-CN" altLang="en-US" sz="800" dirty="0"/>
              <a:t>找到目标值: %d\n", target);</a:t>
            </a:r>
          </a:p>
          <a:p>
            <a:r>
              <a:rPr lang="zh-CN" altLang="en-US" sz="800" dirty="0"/>
              <a:t>    }</a:t>
            </a:r>
          </a:p>
          <a:p>
            <a:r>
              <a:rPr lang="zh-CN" altLang="en-US" sz="800" dirty="0"/>
              <a:t>    </a:t>
            </a:r>
          </a:p>
          <a:p>
            <a:r>
              <a:rPr lang="zh-CN" altLang="en-US" sz="800" dirty="0"/>
              <a:t>    freeTree(root);</a:t>
            </a:r>
          </a:p>
          <a:p>
            <a:r>
              <a:rPr lang="zh-CN" altLang="en-US" sz="800" dirty="0"/>
              <a:t>    return 0;</a:t>
            </a:r>
          </a:p>
          <a:p>
            <a:r>
              <a:rPr lang="zh-CN" altLang="en-US" sz="800" dirty="0"/>
              <a:t>}</a:t>
            </a:r>
          </a:p>
        </p:txBody>
      </p:sp>
      <p:sp>
        <p:nvSpPr>
          <p:cNvPr id="9" name="文本框 8">
            <a:extLst>
              <a:ext uri="{FF2B5EF4-FFF2-40B4-BE49-F238E27FC236}">
                <a16:creationId xmlns:a16="http://schemas.microsoft.com/office/drawing/2014/main" id="{25BC6BE4-5778-B794-5F18-9DAAFD508605}"/>
              </a:ext>
            </a:extLst>
          </p:cNvPr>
          <p:cNvSpPr txBox="1"/>
          <p:nvPr/>
        </p:nvSpPr>
        <p:spPr>
          <a:xfrm>
            <a:off x="6096000" y="1527141"/>
            <a:ext cx="3248449" cy="4278094"/>
          </a:xfrm>
          <a:prstGeom prst="rect">
            <a:avLst/>
          </a:prstGeom>
          <a:noFill/>
        </p:spPr>
        <p:txBody>
          <a:bodyPr wrap="square">
            <a:spAutoFit/>
          </a:bodyPr>
          <a:lstStyle/>
          <a:p>
            <a:r>
              <a:rPr lang="zh-CN" altLang="en-US" sz="800" dirty="0">
                <a:solidFill>
                  <a:schemeClr val="accent2"/>
                </a:solidFill>
              </a:rPr>
              <a:t>// 广度优先搜索（BFS）</a:t>
            </a:r>
          </a:p>
          <a:p>
            <a:r>
              <a:rPr lang="zh-CN" altLang="en-US" sz="800" dirty="0"/>
              <a:t>bool bfsSearch(TreeVertex* root, int target) {</a:t>
            </a:r>
          </a:p>
          <a:p>
            <a:r>
              <a:rPr lang="zh-CN" altLang="en-US" sz="800" dirty="0"/>
              <a:t>    if (root == NULL) {</a:t>
            </a:r>
          </a:p>
          <a:p>
            <a:r>
              <a:rPr lang="zh-CN" altLang="en-US" sz="800" dirty="0"/>
              <a:t>        return false;</a:t>
            </a:r>
          </a:p>
          <a:p>
            <a:r>
              <a:rPr lang="zh-CN" altLang="en-US" sz="800" dirty="0"/>
              <a:t>    }</a:t>
            </a:r>
          </a:p>
          <a:p>
            <a:r>
              <a:rPr lang="zh-CN" altLang="en-US" sz="800" dirty="0"/>
              <a:t>    </a:t>
            </a:r>
          </a:p>
          <a:p>
            <a:r>
              <a:rPr lang="zh-CN" altLang="en-US" sz="800" dirty="0"/>
              <a:t>    // 创建队列用于BFS</a:t>
            </a:r>
          </a:p>
          <a:p>
            <a:r>
              <a:rPr lang="zh-CN" altLang="en-US" sz="800" dirty="0"/>
              <a:t>    TreeVertex** queue = (TreeVertex**)malloc(100 * sizeof(TreeVertex*));</a:t>
            </a:r>
          </a:p>
          <a:p>
            <a:r>
              <a:rPr lang="zh-CN" altLang="en-US" sz="800" dirty="0"/>
              <a:t>    int front = 0, rear = 0;</a:t>
            </a:r>
          </a:p>
          <a:p>
            <a:r>
              <a:rPr lang="zh-CN" altLang="en-US" sz="800" dirty="0"/>
              <a:t>    </a:t>
            </a:r>
          </a:p>
          <a:p>
            <a:r>
              <a:rPr lang="zh-CN" altLang="en-US" sz="800" dirty="0"/>
              <a:t>    // 根节点入队</a:t>
            </a:r>
          </a:p>
          <a:p>
            <a:r>
              <a:rPr lang="zh-CN" altLang="en-US" sz="800" dirty="0"/>
              <a:t>    queue[rear++] = root;</a:t>
            </a:r>
          </a:p>
          <a:p>
            <a:r>
              <a:rPr lang="zh-CN" altLang="en-US" sz="800" dirty="0"/>
              <a:t>    </a:t>
            </a:r>
          </a:p>
          <a:p>
            <a:r>
              <a:rPr lang="zh-CN" altLang="en-US" sz="800" dirty="0"/>
              <a:t>    while (front &lt; rear) {</a:t>
            </a:r>
          </a:p>
          <a:p>
            <a:r>
              <a:rPr lang="zh-CN" altLang="en-US" sz="800" dirty="0"/>
              <a:t>        // 出队</a:t>
            </a:r>
          </a:p>
          <a:p>
            <a:r>
              <a:rPr lang="zh-CN" altLang="en-US" sz="800" dirty="0"/>
              <a:t>        TreeVertex* current = queue[front++];</a:t>
            </a:r>
          </a:p>
          <a:p>
            <a:r>
              <a:rPr lang="zh-CN" altLang="en-US" sz="800" dirty="0"/>
              <a:t>        </a:t>
            </a:r>
          </a:p>
          <a:p>
            <a:r>
              <a:rPr lang="zh-CN" altLang="en-US" sz="800" dirty="0"/>
              <a:t>        // 检查当前节点</a:t>
            </a:r>
          </a:p>
          <a:p>
            <a:r>
              <a:rPr lang="zh-CN" altLang="en-US" sz="800" dirty="0"/>
              <a:t>        if (current-&gt;data == target) {</a:t>
            </a:r>
          </a:p>
          <a:p>
            <a:r>
              <a:rPr lang="zh-CN" altLang="en-US" sz="800" dirty="0"/>
              <a:t>            free(queue);</a:t>
            </a:r>
          </a:p>
          <a:p>
            <a:r>
              <a:rPr lang="zh-CN" altLang="en-US" sz="800" dirty="0"/>
              <a:t>            return true;</a:t>
            </a:r>
          </a:p>
          <a:p>
            <a:r>
              <a:rPr lang="zh-CN" altLang="en-US" sz="800" dirty="0"/>
              <a:t>        }</a:t>
            </a:r>
          </a:p>
          <a:p>
            <a:r>
              <a:rPr lang="zh-CN" altLang="en-US" sz="800" dirty="0"/>
              <a:t>        </a:t>
            </a:r>
          </a:p>
          <a:p>
            <a:r>
              <a:rPr lang="zh-CN" altLang="en-US" sz="800" dirty="0"/>
              <a:t>        // 所有子节点入队</a:t>
            </a:r>
          </a:p>
          <a:p>
            <a:r>
              <a:rPr lang="zh-CN" altLang="en-US" sz="800" dirty="0"/>
              <a:t>        ChildNode* currentChild = current-&gt;firstChild;</a:t>
            </a:r>
          </a:p>
          <a:p>
            <a:r>
              <a:rPr lang="zh-CN" altLang="en-US" sz="800" dirty="0"/>
              <a:t>        while (currentChild != NULL) {</a:t>
            </a:r>
          </a:p>
          <a:p>
            <a:r>
              <a:rPr lang="zh-CN" altLang="en-US" sz="800" dirty="0"/>
              <a:t>            queue[rear++] = currentChild-&gt;vertex;</a:t>
            </a:r>
          </a:p>
          <a:p>
            <a:r>
              <a:rPr lang="zh-CN" altLang="en-US" sz="800" dirty="0"/>
              <a:t>            currentChild = currentChild-&gt;nextSibling;</a:t>
            </a:r>
          </a:p>
          <a:p>
            <a:r>
              <a:rPr lang="zh-CN" altLang="en-US" sz="800" dirty="0"/>
              <a:t>        }</a:t>
            </a:r>
          </a:p>
          <a:p>
            <a:r>
              <a:rPr lang="zh-CN" altLang="en-US" sz="800" dirty="0"/>
              <a:t>    }</a:t>
            </a:r>
          </a:p>
          <a:p>
            <a:r>
              <a:rPr lang="zh-CN" altLang="en-US" sz="800" dirty="0"/>
              <a:t>    </a:t>
            </a:r>
          </a:p>
          <a:p>
            <a:r>
              <a:rPr lang="zh-CN" altLang="en-US" sz="800" dirty="0"/>
              <a:t>    free(queue);</a:t>
            </a:r>
          </a:p>
          <a:p>
            <a:r>
              <a:rPr lang="zh-CN" altLang="en-US" sz="800" dirty="0"/>
              <a:t>    return false;</a:t>
            </a:r>
          </a:p>
          <a:p>
            <a:r>
              <a:rPr lang="zh-CN" altLang="en-US" sz="800" dirty="0"/>
              <a:t>}</a:t>
            </a:r>
          </a:p>
        </p:txBody>
      </p:sp>
      <p:grpSp>
        <p:nvGrpSpPr>
          <p:cNvPr id="10" name="组合 9">
            <a:extLst>
              <a:ext uri="{FF2B5EF4-FFF2-40B4-BE49-F238E27FC236}">
                <a16:creationId xmlns:a16="http://schemas.microsoft.com/office/drawing/2014/main" id="{5B6DBEDC-2AB8-46AD-99F5-BD87E34C021C}"/>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7E44650D-F72F-112B-9F64-72C9877071D6}"/>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7068A6D5-8519-4742-37C3-0960A06846C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1DE6E311-6F71-022D-A47F-8BAB1940FB65}"/>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搜索树的构建与常见搜索方式（</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语言）</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0BD53DF1-7920-0844-C896-D914C15E33C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15" name="椭圆 14">
            <a:extLst>
              <a:ext uri="{FF2B5EF4-FFF2-40B4-BE49-F238E27FC236}">
                <a16:creationId xmlns:a16="http://schemas.microsoft.com/office/drawing/2014/main" id="{148B8BAD-04A7-554A-38D5-BC6F793FDD88}"/>
              </a:ext>
            </a:extLst>
          </p:cNvPr>
          <p:cNvSpPr/>
          <p:nvPr/>
        </p:nvSpPr>
        <p:spPr>
          <a:xfrm>
            <a:off x="4277043" y="4577824"/>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1</a:t>
            </a:r>
            <a:endParaRPr lang="zh-CN" altLang="en-US" dirty="0"/>
          </a:p>
        </p:txBody>
      </p:sp>
      <p:sp>
        <p:nvSpPr>
          <p:cNvPr id="16" name="椭圆 15">
            <a:extLst>
              <a:ext uri="{FF2B5EF4-FFF2-40B4-BE49-F238E27FC236}">
                <a16:creationId xmlns:a16="http://schemas.microsoft.com/office/drawing/2014/main" id="{2FB9D56E-E726-07FF-0421-3C6245106927}"/>
              </a:ext>
            </a:extLst>
          </p:cNvPr>
          <p:cNvSpPr/>
          <p:nvPr/>
        </p:nvSpPr>
        <p:spPr>
          <a:xfrm>
            <a:off x="3616085" y="5116562"/>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2</a:t>
            </a:r>
            <a:endParaRPr lang="zh-CN" altLang="en-US" dirty="0"/>
          </a:p>
        </p:txBody>
      </p:sp>
      <p:sp>
        <p:nvSpPr>
          <p:cNvPr id="17" name="椭圆 16">
            <a:extLst>
              <a:ext uri="{FF2B5EF4-FFF2-40B4-BE49-F238E27FC236}">
                <a16:creationId xmlns:a16="http://schemas.microsoft.com/office/drawing/2014/main" id="{A1F9DDC8-8CC6-3A24-5E03-8A6EAA03E30D}"/>
              </a:ext>
            </a:extLst>
          </p:cNvPr>
          <p:cNvSpPr/>
          <p:nvPr/>
        </p:nvSpPr>
        <p:spPr>
          <a:xfrm>
            <a:off x="4277043" y="5121416"/>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3</a:t>
            </a:r>
            <a:endParaRPr lang="zh-CN" altLang="en-US" dirty="0"/>
          </a:p>
        </p:txBody>
      </p:sp>
      <p:sp>
        <p:nvSpPr>
          <p:cNvPr id="18" name="椭圆 17">
            <a:extLst>
              <a:ext uri="{FF2B5EF4-FFF2-40B4-BE49-F238E27FC236}">
                <a16:creationId xmlns:a16="http://schemas.microsoft.com/office/drawing/2014/main" id="{02B23CD6-7B89-1866-A072-0D637D8DECA9}"/>
              </a:ext>
            </a:extLst>
          </p:cNvPr>
          <p:cNvSpPr/>
          <p:nvPr/>
        </p:nvSpPr>
        <p:spPr>
          <a:xfrm>
            <a:off x="4986626" y="5116562"/>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4</a:t>
            </a:r>
            <a:endParaRPr lang="zh-CN" altLang="en-US" dirty="0"/>
          </a:p>
        </p:txBody>
      </p:sp>
      <p:sp>
        <p:nvSpPr>
          <p:cNvPr id="19" name="椭圆 18">
            <a:extLst>
              <a:ext uri="{FF2B5EF4-FFF2-40B4-BE49-F238E27FC236}">
                <a16:creationId xmlns:a16="http://schemas.microsoft.com/office/drawing/2014/main" id="{74AC3170-3C99-6B0B-8496-8B0D511D8780}"/>
              </a:ext>
            </a:extLst>
          </p:cNvPr>
          <p:cNvSpPr/>
          <p:nvPr/>
        </p:nvSpPr>
        <p:spPr>
          <a:xfrm>
            <a:off x="3616085" y="5677101"/>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5</a:t>
            </a:r>
            <a:endParaRPr lang="zh-CN" altLang="en-US" dirty="0"/>
          </a:p>
        </p:txBody>
      </p:sp>
      <p:sp>
        <p:nvSpPr>
          <p:cNvPr id="20" name="椭圆 19">
            <a:extLst>
              <a:ext uri="{FF2B5EF4-FFF2-40B4-BE49-F238E27FC236}">
                <a16:creationId xmlns:a16="http://schemas.microsoft.com/office/drawing/2014/main" id="{063FC68A-EEC7-7E73-8821-617725D7336E}"/>
              </a:ext>
            </a:extLst>
          </p:cNvPr>
          <p:cNvSpPr/>
          <p:nvPr/>
        </p:nvSpPr>
        <p:spPr>
          <a:xfrm>
            <a:off x="4277043" y="5677102"/>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6</a:t>
            </a:r>
            <a:endParaRPr lang="zh-CN" altLang="en-US" dirty="0"/>
          </a:p>
        </p:txBody>
      </p:sp>
      <p:cxnSp>
        <p:nvCxnSpPr>
          <p:cNvPr id="22" name="直接箭头连接符 21">
            <a:extLst>
              <a:ext uri="{FF2B5EF4-FFF2-40B4-BE49-F238E27FC236}">
                <a16:creationId xmlns:a16="http://schemas.microsoft.com/office/drawing/2014/main" id="{F24F2B25-1770-0162-7D69-CFCC69F0BB05}"/>
              </a:ext>
            </a:extLst>
          </p:cNvPr>
          <p:cNvCxnSpPr>
            <a:stCxn id="15" idx="4"/>
            <a:endCxn id="16" idx="0"/>
          </p:cNvCxnSpPr>
          <p:nvPr/>
        </p:nvCxnSpPr>
        <p:spPr>
          <a:xfrm flipH="1">
            <a:off x="3738393" y="4834089"/>
            <a:ext cx="660958" cy="282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CEA0209C-B052-34A3-D19D-AF3724F9CCE1}"/>
              </a:ext>
            </a:extLst>
          </p:cNvPr>
          <p:cNvCxnSpPr>
            <a:cxnSpLocks/>
          </p:cNvCxnSpPr>
          <p:nvPr/>
        </p:nvCxnSpPr>
        <p:spPr>
          <a:xfrm>
            <a:off x="4399351" y="4834089"/>
            <a:ext cx="0" cy="287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3CE4F8FD-9E50-4CFF-7AB3-8BE5746CB051}"/>
              </a:ext>
            </a:extLst>
          </p:cNvPr>
          <p:cNvCxnSpPr>
            <a:cxnSpLocks/>
            <a:stCxn id="15" idx="4"/>
            <a:endCxn id="18" idx="1"/>
          </p:cNvCxnSpPr>
          <p:nvPr/>
        </p:nvCxnSpPr>
        <p:spPr>
          <a:xfrm>
            <a:off x="4399351" y="4834089"/>
            <a:ext cx="623098" cy="320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677068D3-75E2-46EE-EA3D-557BF934C1FC}"/>
              </a:ext>
            </a:extLst>
          </p:cNvPr>
          <p:cNvCxnSpPr>
            <a:cxnSpLocks/>
          </p:cNvCxnSpPr>
          <p:nvPr/>
        </p:nvCxnSpPr>
        <p:spPr>
          <a:xfrm>
            <a:off x="3738393" y="5372827"/>
            <a:ext cx="0" cy="304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CC967AE-FF0C-AE21-404C-2C0465E3E18E}"/>
              </a:ext>
            </a:extLst>
          </p:cNvPr>
          <p:cNvCxnSpPr>
            <a:cxnSpLocks/>
          </p:cNvCxnSpPr>
          <p:nvPr/>
        </p:nvCxnSpPr>
        <p:spPr>
          <a:xfrm>
            <a:off x="4399351" y="5377681"/>
            <a:ext cx="0" cy="29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122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F2C51-FB08-1918-936F-5D2AEFA471F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2420C64-6F60-0459-B18E-7D66BFB3801F}"/>
              </a:ext>
            </a:extLst>
          </p:cNvPr>
          <p:cNvSpPr txBox="1"/>
          <p:nvPr/>
        </p:nvSpPr>
        <p:spPr>
          <a:xfrm>
            <a:off x="8423987" y="1823353"/>
            <a:ext cx="2355736" cy="3908762"/>
          </a:xfrm>
          <a:prstGeom prst="rect">
            <a:avLst/>
          </a:prstGeom>
          <a:noFill/>
        </p:spPr>
        <p:txBody>
          <a:bodyPr wrap="square">
            <a:spAutoFit/>
          </a:bodyPr>
          <a:lstStyle/>
          <a:p>
            <a:r>
              <a:rPr lang="en-US" altLang="zh-CN" sz="800" dirty="0"/>
              <a:t># </a:t>
            </a:r>
            <a:r>
              <a:rPr lang="zh-CN" altLang="en-US" sz="800" dirty="0"/>
              <a:t>示例用法</a:t>
            </a:r>
          </a:p>
          <a:p>
            <a:r>
              <a:rPr lang="en-US" altLang="zh-CN" sz="800" dirty="0"/>
              <a:t>if __name__ == "__main__":</a:t>
            </a:r>
          </a:p>
          <a:p>
            <a:r>
              <a:rPr lang="en-US" altLang="zh-CN" sz="800" dirty="0"/>
              <a:t>    # </a:t>
            </a:r>
            <a:r>
              <a:rPr lang="zh-CN" altLang="en-US" sz="800" dirty="0"/>
              <a:t>构建一个示例树</a:t>
            </a:r>
          </a:p>
          <a:p>
            <a:r>
              <a:rPr lang="zh-CN" altLang="en-US" sz="800" dirty="0"/>
              <a:t>    </a:t>
            </a:r>
            <a:r>
              <a:rPr lang="en-US" altLang="zh-CN" sz="800" dirty="0"/>
              <a:t>root = </a:t>
            </a:r>
            <a:r>
              <a:rPr lang="en-US" altLang="zh-CN" sz="800" dirty="0" err="1"/>
              <a:t>TreeNode</a:t>
            </a:r>
            <a:r>
              <a:rPr lang="en-US" altLang="zh-CN" sz="800" dirty="0"/>
              <a:t>(1)</a:t>
            </a:r>
          </a:p>
          <a:p>
            <a:r>
              <a:rPr lang="en-US" altLang="zh-CN" sz="800" dirty="0"/>
              <a:t>    </a:t>
            </a:r>
          </a:p>
          <a:p>
            <a:r>
              <a:rPr lang="en-US" altLang="zh-CN" sz="800" dirty="0"/>
              <a:t>    # </a:t>
            </a:r>
            <a:r>
              <a:rPr lang="zh-CN" altLang="en-US" sz="800" dirty="0"/>
              <a:t>添加第一层子节点</a:t>
            </a:r>
          </a:p>
          <a:p>
            <a:r>
              <a:rPr lang="zh-CN" altLang="en-US" sz="800" dirty="0"/>
              <a:t>    </a:t>
            </a:r>
            <a:r>
              <a:rPr lang="en-US" altLang="zh-CN" sz="800" dirty="0"/>
              <a:t>child1 = </a:t>
            </a:r>
            <a:r>
              <a:rPr lang="en-US" altLang="zh-CN" sz="800" dirty="0" err="1"/>
              <a:t>TreeNode</a:t>
            </a:r>
            <a:r>
              <a:rPr lang="en-US" altLang="zh-CN" sz="800" dirty="0"/>
              <a:t>(2)</a:t>
            </a:r>
          </a:p>
          <a:p>
            <a:r>
              <a:rPr lang="en-US" altLang="zh-CN" sz="800" dirty="0"/>
              <a:t>    child2 = </a:t>
            </a:r>
            <a:r>
              <a:rPr lang="en-US" altLang="zh-CN" sz="800" dirty="0" err="1"/>
              <a:t>TreeNode</a:t>
            </a:r>
            <a:r>
              <a:rPr lang="en-US" altLang="zh-CN" sz="800" dirty="0"/>
              <a:t>(3)</a:t>
            </a:r>
          </a:p>
          <a:p>
            <a:r>
              <a:rPr lang="en-US" altLang="zh-CN" sz="800" dirty="0"/>
              <a:t>    child3 = </a:t>
            </a:r>
            <a:r>
              <a:rPr lang="en-US" altLang="zh-CN" sz="800" dirty="0" err="1"/>
              <a:t>TreeNode</a:t>
            </a:r>
            <a:r>
              <a:rPr lang="en-US" altLang="zh-CN" sz="800" dirty="0"/>
              <a:t>(4)</a:t>
            </a:r>
          </a:p>
          <a:p>
            <a:r>
              <a:rPr lang="en-US" altLang="zh-CN" sz="800" dirty="0"/>
              <a:t>    </a:t>
            </a:r>
            <a:r>
              <a:rPr lang="en-US" altLang="zh-CN" sz="800" dirty="0" err="1"/>
              <a:t>root.add_child</a:t>
            </a:r>
            <a:r>
              <a:rPr lang="en-US" altLang="zh-CN" sz="800" dirty="0"/>
              <a:t>(child1)</a:t>
            </a:r>
          </a:p>
          <a:p>
            <a:r>
              <a:rPr lang="en-US" altLang="zh-CN" sz="800" dirty="0"/>
              <a:t>    </a:t>
            </a:r>
            <a:r>
              <a:rPr lang="en-US" altLang="zh-CN" sz="800" dirty="0" err="1"/>
              <a:t>root.add_child</a:t>
            </a:r>
            <a:r>
              <a:rPr lang="en-US" altLang="zh-CN" sz="800" dirty="0"/>
              <a:t>(child2)</a:t>
            </a:r>
          </a:p>
          <a:p>
            <a:r>
              <a:rPr lang="en-US" altLang="zh-CN" sz="800" dirty="0"/>
              <a:t>    </a:t>
            </a:r>
            <a:r>
              <a:rPr lang="en-US" altLang="zh-CN" sz="800" dirty="0" err="1"/>
              <a:t>root.add_child</a:t>
            </a:r>
            <a:r>
              <a:rPr lang="en-US" altLang="zh-CN" sz="800" dirty="0"/>
              <a:t>(child3)</a:t>
            </a:r>
          </a:p>
          <a:p>
            <a:r>
              <a:rPr lang="en-US" altLang="zh-CN" sz="800" dirty="0"/>
              <a:t>    </a:t>
            </a:r>
          </a:p>
          <a:p>
            <a:r>
              <a:rPr lang="en-US" altLang="zh-CN" sz="800" dirty="0"/>
              <a:t>    # </a:t>
            </a:r>
            <a:r>
              <a:rPr lang="zh-CN" altLang="en-US" sz="800" dirty="0"/>
              <a:t>添加第二层子节点</a:t>
            </a:r>
          </a:p>
          <a:p>
            <a:r>
              <a:rPr lang="zh-CN" altLang="en-US" sz="800" dirty="0"/>
              <a:t>    </a:t>
            </a:r>
            <a:r>
              <a:rPr lang="en-US" altLang="zh-CN" sz="800" dirty="0"/>
              <a:t>grandchild1 = </a:t>
            </a:r>
            <a:r>
              <a:rPr lang="en-US" altLang="zh-CN" sz="800" dirty="0" err="1"/>
              <a:t>TreeNode</a:t>
            </a:r>
            <a:r>
              <a:rPr lang="en-US" altLang="zh-CN" sz="800" dirty="0"/>
              <a:t>(5)</a:t>
            </a:r>
          </a:p>
          <a:p>
            <a:r>
              <a:rPr lang="en-US" altLang="zh-CN" sz="800" dirty="0"/>
              <a:t>    grandchild2 = </a:t>
            </a:r>
            <a:r>
              <a:rPr lang="en-US" altLang="zh-CN" sz="800" dirty="0" err="1"/>
              <a:t>TreeNode</a:t>
            </a:r>
            <a:r>
              <a:rPr lang="en-US" altLang="zh-CN" sz="800" dirty="0"/>
              <a:t>(6) child1.add_child(grandchild1)</a:t>
            </a:r>
          </a:p>
          <a:p>
            <a:r>
              <a:rPr lang="en-US" altLang="zh-CN" sz="800" dirty="0"/>
              <a:t>    child2.add_child(grandchild2) </a:t>
            </a:r>
          </a:p>
          <a:p>
            <a:endParaRPr lang="en-US" altLang="zh-CN" sz="800" dirty="0"/>
          </a:p>
          <a:p>
            <a:r>
              <a:rPr lang="en-US" altLang="zh-CN" sz="800" dirty="0"/>
              <a:t>    # </a:t>
            </a:r>
            <a:r>
              <a:rPr lang="zh-CN" altLang="en-US" sz="800" dirty="0"/>
              <a:t>搜索目标值</a:t>
            </a:r>
          </a:p>
          <a:p>
            <a:r>
              <a:rPr lang="zh-CN" altLang="en-US" sz="800" dirty="0"/>
              <a:t>    </a:t>
            </a:r>
            <a:r>
              <a:rPr lang="en-US" altLang="zh-CN" sz="800" dirty="0"/>
              <a:t>target = 5</a:t>
            </a:r>
          </a:p>
          <a:p>
            <a:r>
              <a:rPr lang="en-US" altLang="zh-CN" sz="800" dirty="0"/>
              <a:t>    if </a:t>
            </a:r>
            <a:r>
              <a:rPr lang="en-US" altLang="zh-CN" sz="800" dirty="0" err="1"/>
              <a:t>dfs_search</a:t>
            </a:r>
            <a:r>
              <a:rPr lang="en-US" altLang="zh-CN" sz="800" dirty="0"/>
              <a:t>(root, target):</a:t>
            </a:r>
          </a:p>
          <a:p>
            <a:r>
              <a:rPr lang="en-US" altLang="zh-CN" sz="800" dirty="0"/>
              <a:t>        print(f"</a:t>
            </a:r>
            <a:r>
              <a:rPr lang="zh-CN" altLang="en-US" sz="800" dirty="0"/>
              <a:t>深度优先搜索找到目标值</a:t>
            </a:r>
            <a:r>
              <a:rPr lang="en-US" altLang="zh-CN" sz="800" dirty="0"/>
              <a:t>: {target}")</a:t>
            </a:r>
          </a:p>
          <a:p>
            <a:r>
              <a:rPr lang="en-US" altLang="zh-CN" sz="800" dirty="0"/>
              <a:t>    else:</a:t>
            </a:r>
          </a:p>
          <a:p>
            <a:r>
              <a:rPr lang="en-US" altLang="zh-CN" sz="800" dirty="0"/>
              <a:t>        print(f"</a:t>
            </a:r>
            <a:r>
              <a:rPr lang="zh-CN" altLang="en-US" sz="800" dirty="0"/>
              <a:t>深度优先搜索未找到目标值</a:t>
            </a:r>
            <a:r>
              <a:rPr lang="en-US" altLang="zh-CN" sz="800" dirty="0"/>
              <a:t>: {target}")</a:t>
            </a:r>
          </a:p>
          <a:p>
            <a:r>
              <a:rPr lang="en-US" altLang="zh-CN" sz="800" dirty="0"/>
              <a:t>    </a:t>
            </a:r>
          </a:p>
          <a:p>
            <a:r>
              <a:rPr lang="en-US" altLang="zh-CN" sz="800" dirty="0"/>
              <a:t>    if </a:t>
            </a:r>
            <a:r>
              <a:rPr lang="en-US" altLang="zh-CN" sz="800" dirty="0" err="1"/>
              <a:t>bfs_search</a:t>
            </a:r>
            <a:r>
              <a:rPr lang="en-US" altLang="zh-CN" sz="800" dirty="0"/>
              <a:t>(root, target):</a:t>
            </a:r>
          </a:p>
          <a:p>
            <a:r>
              <a:rPr lang="en-US" altLang="zh-CN" sz="800" dirty="0"/>
              <a:t>        print(f"</a:t>
            </a:r>
            <a:r>
              <a:rPr lang="zh-CN" altLang="en-US" sz="800" dirty="0"/>
              <a:t>广度优先搜索找到目标值</a:t>
            </a:r>
            <a:r>
              <a:rPr lang="en-US" altLang="zh-CN" sz="800" dirty="0"/>
              <a:t>: {target}")</a:t>
            </a:r>
          </a:p>
          <a:p>
            <a:r>
              <a:rPr lang="en-US" altLang="zh-CN" sz="800" dirty="0"/>
              <a:t>    else:</a:t>
            </a:r>
          </a:p>
          <a:p>
            <a:r>
              <a:rPr lang="en-US" altLang="zh-CN" sz="800" dirty="0"/>
              <a:t>        print(f"</a:t>
            </a:r>
            <a:r>
              <a:rPr lang="zh-CN" altLang="en-US" sz="800" dirty="0"/>
              <a:t>广度优先搜索未找到目标值</a:t>
            </a:r>
            <a:r>
              <a:rPr lang="en-US" altLang="zh-CN" sz="800" dirty="0"/>
              <a:t>: {target}")</a:t>
            </a:r>
          </a:p>
          <a:p>
            <a:endParaRPr lang="zh-CN" altLang="en-US" sz="800" dirty="0"/>
          </a:p>
        </p:txBody>
      </p:sp>
      <p:sp>
        <p:nvSpPr>
          <p:cNvPr id="9" name="文本框 8">
            <a:extLst>
              <a:ext uri="{FF2B5EF4-FFF2-40B4-BE49-F238E27FC236}">
                <a16:creationId xmlns:a16="http://schemas.microsoft.com/office/drawing/2014/main" id="{2908EC3F-0DE7-C10F-7169-E51AB9AF5D2E}"/>
              </a:ext>
            </a:extLst>
          </p:cNvPr>
          <p:cNvSpPr txBox="1"/>
          <p:nvPr/>
        </p:nvSpPr>
        <p:spPr>
          <a:xfrm>
            <a:off x="3577798" y="1831941"/>
            <a:ext cx="3248449" cy="2185214"/>
          </a:xfrm>
          <a:prstGeom prst="rect">
            <a:avLst/>
          </a:prstGeom>
          <a:noFill/>
        </p:spPr>
        <p:txBody>
          <a:bodyPr wrap="square">
            <a:spAutoFit/>
          </a:bodyPr>
          <a:lstStyle/>
          <a:p>
            <a:r>
              <a:rPr lang="en-US" altLang="zh-CN" sz="800" dirty="0"/>
              <a:t>def </a:t>
            </a:r>
            <a:r>
              <a:rPr lang="en-US" altLang="zh-CN" sz="800" dirty="0" err="1"/>
              <a:t>dfs_search</a:t>
            </a:r>
            <a:r>
              <a:rPr lang="en-US" altLang="zh-CN" sz="800" dirty="0"/>
              <a:t>(node, target):</a:t>
            </a:r>
          </a:p>
          <a:p>
            <a:r>
              <a:rPr lang="en-US" altLang="zh-CN" sz="800" dirty="0"/>
              <a:t>    """</a:t>
            </a:r>
          </a:p>
          <a:p>
            <a:r>
              <a:rPr lang="en-US" altLang="zh-CN" sz="800" dirty="0"/>
              <a:t>    </a:t>
            </a:r>
            <a:r>
              <a:rPr lang="zh-CN" altLang="en-US" sz="800" dirty="0"/>
              <a:t>深度优先搜索</a:t>
            </a:r>
          </a:p>
          <a:p>
            <a:r>
              <a:rPr lang="zh-CN" altLang="en-US" sz="800" dirty="0"/>
              <a:t>    </a:t>
            </a:r>
            <a:r>
              <a:rPr lang="en-US" altLang="zh-CN" sz="800" dirty="0"/>
              <a:t>:param node: </a:t>
            </a:r>
            <a:r>
              <a:rPr lang="zh-CN" altLang="en-US" sz="800" dirty="0"/>
              <a:t>起始节点</a:t>
            </a:r>
          </a:p>
          <a:p>
            <a:r>
              <a:rPr lang="zh-CN" altLang="en-US" sz="800" dirty="0"/>
              <a:t>    </a:t>
            </a:r>
            <a:r>
              <a:rPr lang="en-US" altLang="zh-CN" sz="800" dirty="0"/>
              <a:t>:param target: </a:t>
            </a:r>
            <a:r>
              <a:rPr lang="zh-CN" altLang="en-US" sz="800" dirty="0"/>
              <a:t>要查找的目标值</a:t>
            </a:r>
          </a:p>
          <a:p>
            <a:r>
              <a:rPr lang="zh-CN" altLang="en-US" sz="800" dirty="0"/>
              <a:t>    </a:t>
            </a:r>
            <a:r>
              <a:rPr lang="en-US" altLang="zh-CN" sz="800" dirty="0"/>
              <a:t>:return: </a:t>
            </a:r>
            <a:r>
              <a:rPr lang="zh-CN" altLang="en-US" sz="800" dirty="0"/>
              <a:t>找到返回</a:t>
            </a:r>
            <a:r>
              <a:rPr lang="en-US" altLang="zh-CN" sz="800" dirty="0"/>
              <a:t>True</a:t>
            </a:r>
            <a:r>
              <a:rPr lang="zh-CN" altLang="en-US" sz="800" dirty="0"/>
              <a:t>，否则返回</a:t>
            </a:r>
            <a:r>
              <a:rPr lang="en-US" altLang="zh-CN" sz="800" dirty="0"/>
              <a:t>False</a:t>
            </a:r>
          </a:p>
          <a:p>
            <a:r>
              <a:rPr lang="en-US" altLang="zh-CN" sz="800" dirty="0"/>
              <a:t>    """</a:t>
            </a:r>
          </a:p>
          <a:p>
            <a:r>
              <a:rPr lang="en-US" altLang="zh-CN" sz="800" dirty="0"/>
              <a:t>    # </a:t>
            </a:r>
            <a:r>
              <a:rPr lang="zh-CN" altLang="en-US" sz="800" dirty="0"/>
              <a:t>检查当前节点</a:t>
            </a:r>
          </a:p>
          <a:p>
            <a:r>
              <a:rPr lang="zh-CN" altLang="en-US" sz="800" dirty="0"/>
              <a:t>    </a:t>
            </a:r>
            <a:r>
              <a:rPr lang="en-US" altLang="zh-CN" sz="800" dirty="0"/>
              <a:t>if </a:t>
            </a:r>
            <a:r>
              <a:rPr lang="en-US" altLang="zh-CN" sz="800" dirty="0" err="1"/>
              <a:t>node.data</a:t>
            </a:r>
            <a:r>
              <a:rPr lang="en-US" altLang="zh-CN" sz="800" dirty="0"/>
              <a:t> == target:</a:t>
            </a:r>
          </a:p>
          <a:p>
            <a:r>
              <a:rPr lang="en-US" altLang="zh-CN" sz="800" dirty="0"/>
              <a:t>        return True</a:t>
            </a:r>
          </a:p>
          <a:p>
            <a:r>
              <a:rPr lang="en-US" altLang="zh-CN" sz="800" dirty="0"/>
              <a:t>    </a:t>
            </a:r>
          </a:p>
          <a:p>
            <a:r>
              <a:rPr lang="en-US" altLang="zh-CN" sz="800" dirty="0"/>
              <a:t>    # </a:t>
            </a:r>
            <a:r>
              <a:rPr lang="zh-CN" altLang="en-US" sz="800" dirty="0"/>
              <a:t>递归搜索所有子节点</a:t>
            </a:r>
          </a:p>
          <a:p>
            <a:r>
              <a:rPr lang="zh-CN" altLang="en-US" sz="800" dirty="0"/>
              <a:t>    </a:t>
            </a:r>
            <a:r>
              <a:rPr lang="en-US" altLang="zh-CN" sz="800" dirty="0"/>
              <a:t>for child in </a:t>
            </a:r>
            <a:r>
              <a:rPr lang="en-US" altLang="zh-CN" sz="800" dirty="0" err="1"/>
              <a:t>node.children</a:t>
            </a:r>
            <a:r>
              <a:rPr lang="en-US" altLang="zh-CN" sz="800" dirty="0"/>
              <a:t>:</a:t>
            </a:r>
          </a:p>
          <a:p>
            <a:r>
              <a:rPr lang="en-US" altLang="zh-CN" sz="800" dirty="0"/>
              <a:t>        if </a:t>
            </a:r>
            <a:r>
              <a:rPr lang="en-US" altLang="zh-CN" sz="800" dirty="0" err="1"/>
              <a:t>dfs_search</a:t>
            </a:r>
            <a:r>
              <a:rPr lang="en-US" altLang="zh-CN" sz="800" dirty="0"/>
              <a:t>(child, target):</a:t>
            </a:r>
          </a:p>
          <a:p>
            <a:r>
              <a:rPr lang="en-US" altLang="zh-CN" sz="800" dirty="0"/>
              <a:t>            return True</a:t>
            </a:r>
          </a:p>
          <a:p>
            <a:r>
              <a:rPr lang="en-US" altLang="zh-CN" sz="800" dirty="0"/>
              <a:t>    </a:t>
            </a:r>
          </a:p>
          <a:p>
            <a:r>
              <a:rPr lang="en-US" altLang="zh-CN" sz="800" dirty="0"/>
              <a:t>    return False</a:t>
            </a:r>
          </a:p>
        </p:txBody>
      </p:sp>
      <p:grpSp>
        <p:nvGrpSpPr>
          <p:cNvPr id="10" name="组合 9">
            <a:extLst>
              <a:ext uri="{FF2B5EF4-FFF2-40B4-BE49-F238E27FC236}">
                <a16:creationId xmlns:a16="http://schemas.microsoft.com/office/drawing/2014/main" id="{149ED6C6-4F1B-C3DA-A346-22E299AB1908}"/>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2E6C8853-CE9E-29DF-62B0-DA79F5C32DC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309F01AA-744E-5D56-C927-1D5E428BDD9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BD6372C3-E81D-BE2C-F4DD-0B980AE25562}"/>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搜索树的构建与常见搜索方式（</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Python</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语言）</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B80AAE5A-C8FD-169D-CE19-E56A5176302F}"/>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15" name="椭圆 14">
            <a:extLst>
              <a:ext uri="{FF2B5EF4-FFF2-40B4-BE49-F238E27FC236}">
                <a16:creationId xmlns:a16="http://schemas.microsoft.com/office/drawing/2014/main" id="{DCC6733A-5080-FEC7-B52F-ADFBF5CBA9ED}"/>
              </a:ext>
            </a:extLst>
          </p:cNvPr>
          <p:cNvSpPr/>
          <p:nvPr/>
        </p:nvSpPr>
        <p:spPr>
          <a:xfrm>
            <a:off x="2786772" y="4321559"/>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1</a:t>
            </a:r>
            <a:endParaRPr lang="zh-CN" altLang="en-US" dirty="0"/>
          </a:p>
        </p:txBody>
      </p:sp>
      <p:sp>
        <p:nvSpPr>
          <p:cNvPr id="16" name="椭圆 15">
            <a:extLst>
              <a:ext uri="{FF2B5EF4-FFF2-40B4-BE49-F238E27FC236}">
                <a16:creationId xmlns:a16="http://schemas.microsoft.com/office/drawing/2014/main" id="{A3204AAD-7ED0-CBF7-3950-CB26EDE713F9}"/>
              </a:ext>
            </a:extLst>
          </p:cNvPr>
          <p:cNvSpPr/>
          <p:nvPr/>
        </p:nvSpPr>
        <p:spPr>
          <a:xfrm>
            <a:off x="2125814" y="4860297"/>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2</a:t>
            </a:r>
            <a:endParaRPr lang="zh-CN" altLang="en-US" dirty="0"/>
          </a:p>
        </p:txBody>
      </p:sp>
      <p:sp>
        <p:nvSpPr>
          <p:cNvPr id="17" name="椭圆 16">
            <a:extLst>
              <a:ext uri="{FF2B5EF4-FFF2-40B4-BE49-F238E27FC236}">
                <a16:creationId xmlns:a16="http://schemas.microsoft.com/office/drawing/2014/main" id="{6B5519B3-A46B-3581-3AFB-FB5F5F989BB3}"/>
              </a:ext>
            </a:extLst>
          </p:cNvPr>
          <p:cNvSpPr/>
          <p:nvPr/>
        </p:nvSpPr>
        <p:spPr>
          <a:xfrm>
            <a:off x="2786772" y="4865151"/>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3</a:t>
            </a:r>
            <a:endParaRPr lang="zh-CN" altLang="en-US" dirty="0"/>
          </a:p>
        </p:txBody>
      </p:sp>
      <p:sp>
        <p:nvSpPr>
          <p:cNvPr id="18" name="椭圆 17">
            <a:extLst>
              <a:ext uri="{FF2B5EF4-FFF2-40B4-BE49-F238E27FC236}">
                <a16:creationId xmlns:a16="http://schemas.microsoft.com/office/drawing/2014/main" id="{2A53CCB7-9E02-AD14-3DD3-506E7FA15D3A}"/>
              </a:ext>
            </a:extLst>
          </p:cNvPr>
          <p:cNvSpPr/>
          <p:nvPr/>
        </p:nvSpPr>
        <p:spPr>
          <a:xfrm>
            <a:off x="3496355" y="4860297"/>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4</a:t>
            </a:r>
            <a:endParaRPr lang="zh-CN" altLang="en-US" dirty="0"/>
          </a:p>
        </p:txBody>
      </p:sp>
      <p:sp>
        <p:nvSpPr>
          <p:cNvPr id="19" name="椭圆 18">
            <a:extLst>
              <a:ext uri="{FF2B5EF4-FFF2-40B4-BE49-F238E27FC236}">
                <a16:creationId xmlns:a16="http://schemas.microsoft.com/office/drawing/2014/main" id="{5E935AAC-CC52-9694-2592-7CEAA1FB3BB7}"/>
              </a:ext>
            </a:extLst>
          </p:cNvPr>
          <p:cNvSpPr/>
          <p:nvPr/>
        </p:nvSpPr>
        <p:spPr>
          <a:xfrm>
            <a:off x="2125814" y="5420836"/>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5</a:t>
            </a:r>
            <a:endParaRPr lang="zh-CN" altLang="en-US" dirty="0"/>
          </a:p>
        </p:txBody>
      </p:sp>
      <p:sp>
        <p:nvSpPr>
          <p:cNvPr id="20" name="椭圆 19">
            <a:extLst>
              <a:ext uri="{FF2B5EF4-FFF2-40B4-BE49-F238E27FC236}">
                <a16:creationId xmlns:a16="http://schemas.microsoft.com/office/drawing/2014/main" id="{6434976D-A9C3-DF45-484F-372B1DC48D51}"/>
              </a:ext>
            </a:extLst>
          </p:cNvPr>
          <p:cNvSpPr/>
          <p:nvPr/>
        </p:nvSpPr>
        <p:spPr>
          <a:xfrm>
            <a:off x="2786772" y="5420837"/>
            <a:ext cx="244616" cy="25626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6</a:t>
            </a:r>
            <a:endParaRPr lang="zh-CN" altLang="en-US" dirty="0"/>
          </a:p>
        </p:txBody>
      </p:sp>
      <p:cxnSp>
        <p:nvCxnSpPr>
          <p:cNvPr id="22" name="直接箭头连接符 21">
            <a:extLst>
              <a:ext uri="{FF2B5EF4-FFF2-40B4-BE49-F238E27FC236}">
                <a16:creationId xmlns:a16="http://schemas.microsoft.com/office/drawing/2014/main" id="{0BD3FD4F-C083-470E-AFD5-86C3D49B1DE9}"/>
              </a:ext>
            </a:extLst>
          </p:cNvPr>
          <p:cNvCxnSpPr>
            <a:stCxn id="15" idx="4"/>
            <a:endCxn id="16" idx="0"/>
          </p:cNvCxnSpPr>
          <p:nvPr/>
        </p:nvCxnSpPr>
        <p:spPr>
          <a:xfrm flipH="1">
            <a:off x="2248122" y="4577824"/>
            <a:ext cx="660958" cy="282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C883E15F-BA6E-532E-198A-73464FF28276}"/>
              </a:ext>
            </a:extLst>
          </p:cNvPr>
          <p:cNvCxnSpPr>
            <a:cxnSpLocks/>
          </p:cNvCxnSpPr>
          <p:nvPr/>
        </p:nvCxnSpPr>
        <p:spPr>
          <a:xfrm>
            <a:off x="2909080" y="4577824"/>
            <a:ext cx="0" cy="287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2453AB28-91EF-2F53-90FD-E7D085CDF20F}"/>
              </a:ext>
            </a:extLst>
          </p:cNvPr>
          <p:cNvCxnSpPr>
            <a:cxnSpLocks/>
            <a:stCxn id="15" idx="4"/>
            <a:endCxn id="18" idx="1"/>
          </p:cNvCxnSpPr>
          <p:nvPr/>
        </p:nvCxnSpPr>
        <p:spPr>
          <a:xfrm>
            <a:off x="2909080" y="4577824"/>
            <a:ext cx="623098" cy="320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62803D9-FA18-80F7-AA33-28364E632E56}"/>
              </a:ext>
            </a:extLst>
          </p:cNvPr>
          <p:cNvCxnSpPr>
            <a:cxnSpLocks/>
          </p:cNvCxnSpPr>
          <p:nvPr/>
        </p:nvCxnSpPr>
        <p:spPr>
          <a:xfrm>
            <a:off x="2248122" y="5116562"/>
            <a:ext cx="0" cy="304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D46EBF29-511B-01F5-A66A-37ED7E6B5B0E}"/>
              </a:ext>
            </a:extLst>
          </p:cNvPr>
          <p:cNvCxnSpPr>
            <a:cxnSpLocks/>
          </p:cNvCxnSpPr>
          <p:nvPr/>
        </p:nvCxnSpPr>
        <p:spPr>
          <a:xfrm>
            <a:off x="2909080" y="5121416"/>
            <a:ext cx="0" cy="29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DEC7337-C77F-E3D6-0C31-4B4B60460E36}"/>
              </a:ext>
            </a:extLst>
          </p:cNvPr>
          <p:cNvSpPr txBox="1"/>
          <p:nvPr/>
        </p:nvSpPr>
        <p:spPr>
          <a:xfrm>
            <a:off x="5794483" y="1823353"/>
            <a:ext cx="2125531" cy="3293209"/>
          </a:xfrm>
          <a:prstGeom prst="rect">
            <a:avLst/>
          </a:prstGeom>
          <a:noFill/>
        </p:spPr>
        <p:txBody>
          <a:bodyPr wrap="square">
            <a:spAutoFit/>
          </a:bodyPr>
          <a:lstStyle/>
          <a:p>
            <a:r>
              <a:rPr lang="en-US" altLang="zh-CN" sz="800" dirty="0"/>
              <a:t>def </a:t>
            </a:r>
            <a:r>
              <a:rPr lang="en-US" altLang="zh-CN" sz="800" dirty="0" err="1"/>
              <a:t>bfs_search</a:t>
            </a:r>
            <a:r>
              <a:rPr lang="en-US" altLang="zh-CN" sz="800" dirty="0"/>
              <a:t>(root, target):</a:t>
            </a:r>
          </a:p>
          <a:p>
            <a:r>
              <a:rPr lang="en-US" altLang="zh-CN" sz="800" dirty="0"/>
              <a:t>    """</a:t>
            </a:r>
          </a:p>
          <a:p>
            <a:r>
              <a:rPr lang="en-US" altLang="zh-CN" sz="800" dirty="0"/>
              <a:t>    </a:t>
            </a:r>
            <a:r>
              <a:rPr lang="zh-CN" altLang="en-US" sz="800" dirty="0"/>
              <a:t>广度优先搜索</a:t>
            </a:r>
          </a:p>
          <a:p>
            <a:r>
              <a:rPr lang="zh-CN" altLang="en-US" sz="800" dirty="0"/>
              <a:t>    </a:t>
            </a:r>
            <a:r>
              <a:rPr lang="en-US" altLang="zh-CN" sz="800" dirty="0"/>
              <a:t>:param root: </a:t>
            </a:r>
            <a:r>
              <a:rPr lang="zh-CN" altLang="en-US" sz="800" dirty="0"/>
              <a:t>树的根节点</a:t>
            </a:r>
          </a:p>
          <a:p>
            <a:r>
              <a:rPr lang="zh-CN" altLang="en-US" sz="800" dirty="0"/>
              <a:t>    </a:t>
            </a:r>
            <a:r>
              <a:rPr lang="en-US" altLang="zh-CN" sz="800" dirty="0"/>
              <a:t>:param target: </a:t>
            </a:r>
            <a:r>
              <a:rPr lang="zh-CN" altLang="en-US" sz="800" dirty="0"/>
              <a:t>要查找的目标值</a:t>
            </a:r>
          </a:p>
          <a:p>
            <a:r>
              <a:rPr lang="zh-CN" altLang="en-US" sz="800" dirty="0"/>
              <a:t>    </a:t>
            </a:r>
            <a:r>
              <a:rPr lang="en-US" altLang="zh-CN" sz="800" dirty="0"/>
              <a:t>:return: </a:t>
            </a:r>
            <a:r>
              <a:rPr lang="zh-CN" altLang="en-US" sz="800" dirty="0"/>
              <a:t>找到返回</a:t>
            </a:r>
            <a:r>
              <a:rPr lang="en-US" altLang="zh-CN" sz="800" dirty="0"/>
              <a:t>True</a:t>
            </a:r>
            <a:r>
              <a:rPr lang="zh-CN" altLang="en-US" sz="800" dirty="0"/>
              <a:t>，否则返回</a:t>
            </a:r>
            <a:r>
              <a:rPr lang="en-US" altLang="zh-CN" sz="800" dirty="0"/>
              <a:t>False</a:t>
            </a:r>
          </a:p>
          <a:p>
            <a:r>
              <a:rPr lang="en-US" altLang="zh-CN" sz="800" dirty="0"/>
              <a:t>    """</a:t>
            </a:r>
          </a:p>
          <a:p>
            <a:r>
              <a:rPr lang="en-US" altLang="zh-CN" sz="800" dirty="0"/>
              <a:t>    if root is None:</a:t>
            </a:r>
          </a:p>
          <a:p>
            <a:r>
              <a:rPr lang="en-US" altLang="zh-CN" sz="800" dirty="0"/>
              <a:t>        return False</a:t>
            </a:r>
          </a:p>
          <a:p>
            <a:r>
              <a:rPr lang="en-US" altLang="zh-CN" sz="800" dirty="0"/>
              <a:t>    </a:t>
            </a:r>
          </a:p>
          <a:p>
            <a:r>
              <a:rPr lang="en-US" altLang="zh-CN" sz="800" dirty="0"/>
              <a:t>    # </a:t>
            </a:r>
            <a:r>
              <a:rPr lang="zh-CN" altLang="en-US" sz="800" dirty="0"/>
              <a:t>创建队列并将根节点加入</a:t>
            </a:r>
          </a:p>
          <a:p>
            <a:r>
              <a:rPr lang="zh-CN" altLang="en-US" sz="800" dirty="0"/>
              <a:t>    </a:t>
            </a:r>
            <a:r>
              <a:rPr lang="en-US" altLang="zh-CN" sz="800" dirty="0"/>
              <a:t>queue = [root]</a:t>
            </a:r>
          </a:p>
          <a:p>
            <a:r>
              <a:rPr lang="en-US" altLang="zh-CN" sz="800" dirty="0"/>
              <a:t>    </a:t>
            </a:r>
          </a:p>
          <a:p>
            <a:r>
              <a:rPr lang="en-US" altLang="zh-CN" sz="800" dirty="0"/>
              <a:t>    while queue:</a:t>
            </a:r>
          </a:p>
          <a:p>
            <a:r>
              <a:rPr lang="en-US" altLang="zh-CN" sz="800" dirty="0"/>
              <a:t>        # </a:t>
            </a:r>
            <a:r>
              <a:rPr lang="zh-CN" altLang="en-US" sz="800" dirty="0"/>
              <a:t>出队</a:t>
            </a:r>
          </a:p>
          <a:p>
            <a:r>
              <a:rPr lang="zh-CN" altLang="en-US" sz="800" dirty="0"/>
              <a:t>        </a:t>
            </a:r>
            <a:r>
              <a:rPr lang="en-US" altLang="zh-CN" sz="800" dirty="0" err="1"/>
              <a:t>current_node</a:t>
            </a:r>
            <a:r>
              <a:rPr lang="en-US" altLang="zh-CN" sz="800" dirty="0"/>
              <a:t> = </a:t>
            </a:r>
            <a:r>
              <a:rPr lang="en-US" altLang="zh-CN" sz="800" dirty="0" err="1"/>
              <a:t>queue.pop</a:t>
            </a:r>
            <a:r>
              <a:rPr lang="en-US" altLang="zh-CN" sz="800" dirty="0"/>
              <a:t>(0)</a:t>
            </a:r>
          </a:p>
          <a:p>
            <a:r>
              <a:rPr lang="en-US" altLang="zh-CN" sz="800" dirty="0"/>
              <a:t>        </a:t>
            </a:r>
          </a:p>
          <a:p>
            <a:r>
              <a:rPr lang="en-US" altLang="zh-CN" sz="800" dirty="0"/>
              <a:t>        # </a:t>
            </a:r>
            <a:r>
              <a:rPr lang="zh-CN" altLang="en-US" sz="800" dirty="0"/>
              <a:t>检查当前节点</a:t>
            </a:r>
          </a:p>
          <a:p>
            <a:r>
              <a:rPr lang="zh-CN" altLang="en-US" sz="800" dirty="0"/>
              <a:t>        </a:t>
            </a:r>
            <a:r>
              <a:rPr lang="en-US" altLang="zh-CN" sz="800" dirty="0"/>
              <a:t>if </a:t>
            </a:r>
            <a:r>
              <a:rPr lang="en-US" altLang="zh-CN" sz="800" dirty="0" err="1"/>
              <a:t>current_node.data</a:t>
            </a:r>
            <a:r>
              <a:rPr lang="en-US" altLang="zh-CN" sz="800" dirty="0"/>
              <a:t> == target:</a:t>
            </a:r>
          </a:p>
          <a:p>
            <a:r>
              <a:rPr lang="en-US" altLang="zh-CN" sz="800" dirty="0"/>
              <a:t>            return True</a:t>
            </a:r>
          </a:p>
          <a:p>
            <a:r>
              <a:rPr lang="en-US" altLang="zh-CN" sz="800" dirty="0"/>
              <a:t>        </a:t>
            </a:r>
          </a:p>
          <a:p>
            <a:r>
              <a:rPr lang="en-US" altLang="zh-CN" sz="800" dirty="0"/>
              <a:t>        # </a:t>
            </a:r>
            <a:r>
              <a:rPr lang="zh-CN" altLang="en-US" sz="800" dirty="0"/>
              <a:t>将所有子节点加入队列</a:t>
            </a:r>
          </a:p>
          <a:p>
            <a:r>
              <a:rPr lang="zh-CN" altLang="en-US" sz="800" dirty="0"/>
              <a:t>        </a:t>
            </a:r>
            <a:r>
              <a:rPr lang="en-US" altLang="zh-CN" sz="800" dirty="0"/>
              <a:t>for child in </a:t>
            </a:r>
            <a:r>
              <a:rPr lang="en-US" altLang="zh-CN" sz="800" dirty="0" err="1"/>
              <a:t>current_node.children</a:t>
            </a:r>
            <a:r>
              <a:rPr lang="en-US" altLang="zh-CN" sz="800" dirty="0"/>
              <a:t>:</a:t>
            </a:r>
          </a:p>
          <a:p>
            <a:r>
              <a:rPr lang="en-US" altLang="zh-CN" sz="800" dirty="0"/>
              <a:t>            </a:t>
            </a:r>
            <a:r>
              <a:rPr lang="en-US" altLang="zh-CN" sz="800" dirty="0" err="1"/>
              <a:t>queue.append</a:t>
            </a:r>
            <a:r>
              <a:rPr lang="en-US" altLang="zh-CN" sz="800" dirty="0"/>
              <a:t>(child)</a:t>
            </a:r>
          </a:p>
          <a:p>
            <a:r>
              <a:rPr lang="en-US" altLang="zh-CN" sz="800" dirty="0"/>
              <a:t>    </a:t>
            </a:r>
          </a:p>
          <a:p>
            <a:r>
              <a:rPr lang="en-US" altLang="zh-CN" sz="800" dirty="0"/>
              <a:t>    return False</a:t>
            </a:r>
          </a:p>
        </p:txBody>
      </p:sp>
      <p:sp>
        <p:nvSpPr>
          <p:cNvPr id="8" name="文本框 7">
            <a:extLst>
              <a:ext uri="{FF2B5EF4-FFF2-40B4-BE49-F238E27FC236}">
                <a16:creationId xmlns:a16="http://schemas.microsoft.com/office/drawing/2014/main" id="{3253A8BC-782C-C74C-DD4B-1B6C124618C7}"/>
              </a:ext>
            </a:extLst>
          </p:cNvPr>
          <p:cNvSpPr txBox="1"/>
          <p:nvPr/>
        </p:nvSpPr>
        <p:spPr>
          <a:xfrm>
            <a:off x="1385235" y="1802007"/>
            <a:ext cx="2355736" cy="1200329"/>
          </a:xfrm>
          <a:prstGeom prst="rect">
            <a:avLst/>
          </a:prstGeom>
          <a:noFill/>
        </p:spPr>
        <p:txBody>
          <a:bodyPr wrap="square">
            <a:spAutoFit/>
          </a:bodyPr>
          <a:lstStyle/>
          <a:p>
            <a:r>
              <a:rPr lang="en-US" altLang="zh-CN" sz="800" dirty="0"/>
              <a:t>class </a:t>
            </a:r>
            <a:r>
              <a:rPr lang="en-US" altLang="zh-CN" sz="800" dirty="0" err="1"/>
              <a:t>TreeNode</a:t>
            </a:r>
            <a:r>
              <a:rPr lang="en-US" altLang="zh-CN" sz="800" dirty="0"/>
              <a:t>:</a:t>
            </a:r>
          </a:p>
          <a:p>
            <a:r>
              <a:rPr lang="en-US" altLang="zh-CN" sz="800" dirty="0"/>
              <a:t>    """</a:t>
            </a:r>
            <a:r>
              <a:rPr lang="zh-CN" altLang="en-US" sz="800" dirty="0"/>
              <a:t>树节点类</a:t>
            </a:r>
            <a:r>
              <a:rPr lang="en-US" altLang="zh-CN" sz="800" dirty="0"/>
              <a:t>"""</a:t>
            </a:r>
          </a:p>
          <a:p>
            <a:r>
              <a:rPr lang="en-US" altLang="zh-CN" sz="800" dirty="0"/>
              <a:t>    def __</a:t>
            </a:r>
            <a:r>
              <a:rPr lang="en-US" altLang="zh-CN" sz="800" dirty="0" err="1"/>
              <a:t>init</a:t>
            </a:r>
            <a:r>
              <a:rPr lang="en-US" altLang="zh-CN" sz="800" dirty="0"/>
              <a:t>__(self, data):</a:t>
            </a:r>
          </a:p>
          <a:p>
            <a:r>
              <a:rPr lang="en-US" altLang="zh-CN" sz="800" dirty="0"/>
              <a:t>        </a:t>
            </a:r>
            <a:r>
              <a:rPr lang="en-US" altLang="zh-CN" sz="800" dirty="0" err="1"/>
              <a:t>self.data</a:t>
            </a:r>
            <a:r>
              <a:rPr lang="en-US" altLang="zh-CN" sz="800" dirty="0"/>
              <a:t> = data</a:t>
            </a:r>
          </a:p>
          <a:p>
            <a:r>
              <a:rPr lang="en-US" altLang="zh-CN" sz="800" dirty="0"/>
              <a:t>        </a:t>
            </a:r>
            <a:r>
              <a:rPr lang="en-US" altLang="zh-CN" sz="800" dirty="0" err="1"/>
              <a:t>self.children</a:t>
            </a:r>
            <a:r>
              <a:rPr lang="en-US" altLang="zh-CN" sz="800" dirty="0"/>
              <a:t> = []  # </a:t>
            </a:r>
            <a:r>
              <a:rPr lang="zh-CN" altLang="en-US" sz="800" dirty="0"/>
              <a:t>存储子节点的列表</a:t>
            </a:r>
          </a:p>
          <a:p>
            <a:endParaRPr lang="zh-CN" altLang="en-US" sz="800" dirty="0"/>
          </a:p>
          <a:p>
            <a:r>
              <a:rPr lang="zh-CN" altLang="en-US" sz="800" dirty="0"/>
              <a:t>    </a:t>
            </a:r>
            <a:r>
              <a:rPr lang="en-US" altLang="zh-CN" sz="800" dirty="0"/>
              <a:t>def </a:t>
            </a:r>
            <a:r>
              <a:rPr lang="en-US" altLang="zh-CN" sz="800" dirty="0" err="1"/>
              <a:t>add_child</a:t>
            </a:r>
            <a:r>
              <a:rPr lang="en-US" altLang="zh-CN" sz="800" dirty="0"/>
              <a:t>(self, </a:t>
            </a:r>
            <a:r>
              <a:rPr lang="en-US" altLang="zh-CN" sz="800" dirty="0" err="1"/>
              <a:t>child_node</a:t>
            </a:r>
            <a:r>
              <a:rPr lang="en-US" altLang="zh-CN" sz="800" dirty="0"/>
              <a:t>):</a:t>
            </a:r>
          </a:p>
          <a:p>
            <a:r>
              <a:rPr lang="en-US" altLang="zh-CN" sz="800" dirty="0"/>
              <a:t>        """</a:t>
            </a:r>
            <a:r>
              <a:rPr lang="zh-CN" altLang="en-US" sz="800" dirty="0"/>
              <a:t>添加子节点</a:t>
            </a:r>
            <a:r>
              <a:rPr lang="en-US" altLang="zh-CN" sz="800" dirty="0"/>
              <a:t>"""</a:t>
            </a:r>
          </a:p>
          <a:p>
            <a:r>
              <a:rPr lang="en-US" altLang="zh-CN" sz="800" dirty="0"/>
              <a:t>        </a:t>
            </a:r>
            <a:r>
              <a:rPr lang="en-US" altLang="zh-CN" sz="800" dirty="0" err="1"/>
              <a:t>self.children.append</a:t>
            </a:r>
            <a:r>
              <a:rPr lang="en-US" altLang="zh-CN" sz="800" dirty="0"/>
              <a:t>(</a:t>
            </a:r>
            <a:r>
              <a:rPr lang="en-US" altLang="zh-CN" sz="800" dirty="0" err="1"/>
              <a:t>child_node</a:t>
            </a:r>
            <a:r>
              <a:rPr lang="en-US" altLang="zh-CN" sz="800" dirty="0"/>
              <a:t>)</a:t>
            </a:r>
          </a:p>
        </p:txBody>
      </p:sp>
    </p:spTree>
    <p:extLst>
      <p:ext uri="{BB962C8B-B14F-4D97-AF65-F5344CB8AC3E}">
        <p14:creationId xmlns:p14="http://schemas.microsoft.com/office/powerpoint/2010/main" val="344813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F2C51-FB08-1918-936F-5D2AEFA471FE}"/>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149ED6C6-4F1B-C3DA-A346-22E299AB1908}"/>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2E6C8853-CE9E-29DF-62B0-DA79F5C32DC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309F01AA-744E-5D56-C927-1D5E428BDD9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BD6372C3-E81D-BE2C-F4DD-0B980AE25562}"/>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搜索的其他应用</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B80AAE5A-C8FD-169D-CE19-E56A5176302F}"/>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pic>
        <p:nvPicPr>
          <p:cNvPr id="3" name="图片 2">
            <a:extLst>
              <a:ext uri="{FF2B5EF4-FFF2-40B4-BE49-F238E27FC236}">
                <a16:creationId xmlns:a16="http://schemas.microsoft.com/office/drawing/2014/main" id="{35024235-432E-2F54-2FBE-D0DF1B073C50}"/>
              </a:ext>
            </a:extLst>
          </p:cNvPr>
          <p:cNvPicPr>
            <a:picLocks noChangeAspect="1"/>
          </p:cNvPicPr>
          <p:nvPr/>
        </p:nvPicPr>
        <p:blipFill>
          <a:blip r:embed="rId2"/>
          <a:stretch>
            <a:fillRect/>
          </a:stretch>
        </p:blipFill>
        <p:spPr>
          <a:xfrm>
            <a:off x="985790" y="1627043"/>
            <a:ext cx="4484312" cy="4504009"/>
          </a:xfrm>
          <a:prstGeom prst="rect">
            <a:avLst/>
          </a:prstGeom>
        </p:spPr>
      </p:pic>
      <p:sp>
        <p:nvSpPr>
          <p:cNvPr id="21" name="矩形 20">
            <a:extLst>
              <a:ext uri="{FF2B5EF4-FFF2-40B4-BE49-F238E27FC236}">
                <a16:creationId xmlns:a16="http://schemas.microsoft.com/office/drawing/2014/main" id="{A6202DD2-90FE-ABF7-923A-50C719214266}"/>
              </a:ext>
            </a:extLst>
          </p:cNvPr>
          <p:cNvSpPr/>
          <p:nvPr/>
        </p:nvSpPr>
        <p:spPr>
          <a:xfrm>
            <a:off x="6705603" y="2013961"/>
            <a:ext cx="537029" cy="37301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大语言模型</a:t>
            </a:r>
          </a:p>
        </p:txBody>
      </p:sp>
      <p:sp>
        <p:nvSpPr>
          <p:cNvPr id="24" name="文本框 23">
            <a:extLst>
              <a:ext uri="{FF2B5EF4-FFF2-40B4-BE49-F238E27FC236}">
                <a16:creationId xmlns:a16="http://schemas.microsoft.com/office/drawing/2014/main" id="{C0BF485C-D9C0-A155-A0F0-F5F3A49AC60C}"/>
              </a:ext>
            </a:extLst>
          </p:cNvPr>
          <p:cNvSpPr txBox="1"/>
          <p:nvPr/>
        </p:nvSpPr>
        <p:spPr>
          <a:xfrm>
            <a:off x="5837562" y="3602780"/>
            <a:ext cx="42134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一</a:t>
            </a:r>
          </a:p>
        </p:txBody>
      </p:sp>
      <p:sp>
        <p:nvSpPr>
          <p:cNvPr id="25" name="箭头: 右 24">
            <a:extLst>
              <a:ext uri="{FF2B5EF4-FFF2-40B4-BE49-F238E27FC236}">
                <a16:creationId xmlns:a16="http://schemas.microsoft.com/office/drawing/2014/main" id="{07FAF237-E1A2-46F4-35F7-BD42D6BE7C63}"/>
              </a:ext>
            </a:extLst>
          </p:cNvPr>
          <p:cNvSpPr/>
          <p:nvPr/>
        </p:nvSpPr>
        <p:spPr>
          <a:xfrm>
            <a:off x="6440122" y="3346575"/>
            <a:ext cx="145143" cy="8236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F59BE982-2D1A-2716-A4B1-20FB184E4710}"/>
              </a:ext>
            </a:extLst>
          </p:cNvPr>
          <p:cNvSpPr/>
          <p:nvPr/>
        </p:nvSpPr>
        <p:spPr>
          <a:xfrm>
            <a:off x="7393407" y="3346575"/>
            <a:ext cx="145143" cy="8236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0E7A29F0-CA41-8E82-BFC2-B38C32350B25}"/>
              </a:ext>
            </a:extLst>
          </p:cNvPr>
          <p:cNvSpPr txBox="1"/>
          <p:nvPr/>
        </p:nvSpPr>
        <p:spPr>
          <a:xfrm>
            <a:off x="7689325" y="2465756"/>
            <a:ext cx="537029" cy="2585323"/>
          </a:xfrm>
          <a:prstGeom prst="rect">
            <a:avLst/>
          </a:prstGeom>
          <a:noFill/>
          <a:ln>
            <a:solidFill>
              <a:schemeClr val="accent1"/>
            </a:solidFill>
          </a:ln>
        </p:spPr>
        <p:txBody>
          <a:bodyPr wrap="square" rtlCol="0">
            <a:spAutoFit/>
          </a:bodyPr>
          <a:lstStyle/>
          <a:p>
            <a:r>
              <a:rPr lang="zh-CN" altLang="en-US" dirty="0"/>
              <a:t>一</a:t>
            </a:r>
            <a:endParaRPr lang="en-US" altLang="zh-CN" dirty="0"/>
          </a:p>
          <a:p>
            <a:r>
              <a:rPr lang="zh-CN" altLang="en-US" dirty="0"/>
              <a:t>头</a:t>
            </a:r>
            <a:endParaRPr lang="en-US" altLang="zh-CN" dirty="0"/>
          </a:p>
          <a:p>
            <a:r>
              <a:rPr lang="zh-CN" altLang="en-US" dirty="0"/>
              <a:t>来</a:t>
            </a:r>
            <a:endParaRPr lang="en-US" altLang="zh-CN" dirty="0"/>
          </a:p>
          <a:p>
            <a:r>
              <a:rPr lang="en-US" altLang="zh-CN" dirty="0"/>
              <a:t>…</a:t>
            </a:r>
          </a:p>
          <a:p>
            <a:r>
              <a:rPr lang="zh-CN" altLang="en-US" dirty="0"/>
              <a:t>个</a:t>
            </a:r>
            <a:endParaRPr lang="en-US" altLang="zh-CN" dirty="0"/>
          </a:p>
          <a:p>
            <a:r>
              <a:rPr lang="zh-CN" altLang="en-US" dirty="0"/>
              <a:t>审</a:t>
            </a:r>
            <a:endParaRPr lang="en-US" altLang="zh-CN" dirty="0"/>
          </a:p>
          <a:p>
            <a:r>
              <a:rPr lang="zh-CN" altLang="en-US" dirty="0"/>
              <a:t>牛只</a:t>
            </a:r>
            <a:r>
              <a:rPr lang="en-US" altLang="zh-CN" dirty="0"/>
              <a:t>…</a:t>
            </a:r>
            <a:endParaRPr lang="zh-CN" altLang="en-US" dirty="0"/>
          </a:p>
        </p:txBody>
      </p:sp>
      <p:sp>
        <p:nvSpPr>
          <p:cNvPr id="38" name="文本框 37">
            <a:extLst>
              <a:ext uri="{FF2B5EF4-FFF2-40B4-BE49-F238E27FC236}">
                <a16:creationId xmlns:a16="http://schemas.microsoft.com/office/drawing/2014/main" id="{1A5B844D-9D01-A180-C9A9-B06F34676AF1}"/>
              </a:ext>
            </a:extLst>
          </p:cNvPr>
          <p:cNvSpPr txBox="1"/>
          <p:nvPr/>
        </p:nvSpPr>
        <p:spPr>
          <a:xfrm>
            <a:off x="8707765" y="3573751"/>
            <a:ext cx="42134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头</a:t>
            </a:r>
          </a:p>
        </p:txBody>
      </p:sp>
      <p:sp>
        <p:nvSpPr>
          <p:cNvPr id="41" name="箭头: 右 40">
            <a:extLst>
              <a:ext uri="{FF2B5EF4-FFF2-40B4-BE49-F238E27FC236}">
                <a16:creationId xmlns:a16="http://schemas.microsoft.com/office/drawing/2014/main" id="{697BF729-263A-77CE-DA88-B9CAE808B3BE}"/>
              </a:ext>
            </a:extLst>
          </p:cNvPr>
          <p:cNvSpPr/>
          <p:nvPr/>
        </p:nvSpPr>
        <p:spPr>
          <a:xfrm>
            <a:off x="8394488" y="3375603"/>
            <a:ext cx="145143" cy="8236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7A2E1963-E160-79DA-ADED-06AC9255D25F}"/>
              </a:ext>
            </a:extLst>
          </p:cNvPr>
          <p:cNvSpPr txBox="1"/>
          <p:nvPr/>
        </p:nvSpPr>
        <p:spPr>
          <a:xfrm>
            <a:off x="7939879" y="2736725"/>
            <a:ext cx="418058" cy="369332"/>
          </a:xfrm>
          <a:prstGeom prst="rect">
            <a:avLst/>
          </a:prstGeom>
          <a:noFill/>
        </p:spPr>
        <p:txBody>
          <a:bodyPr wrap="square" rtlCol="0">
            <a:spAutoFit/>
          </a:bodyPr>
          <a:lstStyle/>
          <a:p>
            <a:r>
              <a:rPr lang="zh-CN" altLang="en-US" dirty="0"/>
              <a:t>✔</a:t>
            </a:r>
          </a:p>
        </p:txBody>
      </p:sp>
      <p:sp>
        <p:nvSpPr>
          <p:cNvPr id="43" name="矩形 42">
            <a:extLst>
              <a:ext uri="{FF2B5EF4-FFF2-40B4-BE49-F238E27FC236}">
                <a16:creationId xmlns:a16="http://schemas.microsoft.com/office/drawing/2014/main" id="{E87E9EF1-002E-1FB5-6E97-96DF809012B0}"/>
              </a:ext>
            </a:extLst>
          </p:cNvPr>
          <p:cNvSpPr/>
          <p:nvPr/>
        </p:nvSpPr>
        <p:spPr>
          <a:xfrm>
            <a:off x="9540319" y="2013961"/>
            <a:ext cx="537029" cy="37301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大语言模型</a:t>
            </a:r>
          </a:p>
        </p:txBody>
      </p:sp>
      <p:sp>
        <p:nvSpPr>
          <p:cNvPr id="44" name="箭头: 右 43">
            <a:extLst>
              <a:ext uri="{FF2B5EF4-FFF2-40B4-BE49-F238E27FC236}">
                <a16:creationId xmlns:a16="http://schemas.microsoft.com/office/drawing/2014/main" id="{B5CBE4E7-D947-CA75-46C6-329F771A5F0A}"/>
              </a:ext>
            </a:extLst>
          </p:cNvPr>
          <p:cNvSpPr/>
          <p:nvPr/>
        </p:nvSpPr>
        <p:spPr>
          <a:xfrm>
            <a:off x="9274838" y="3346575"/>
            <a:ext cx="145143" cy="8236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849447EE-6775-1D6C-7365-F3E7F410730E}"/>
              </a:ext>
            </a:extLst>
          </p:cNvPr>
          <p:cNvSpPr/>
          <p:nvPr/>
        </p:nvSpPr>
        <p:spPr>
          <a:xfrm>
            <a:off x="10228123" y="3346575"/>
            <a:ext cx="145143" cy="8236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27EFECE9-A733-E824-6739-E994AF838A85}"/>
              </a:ext>
            </a:extLst>
          </p:cNvPr>
          <p:cNvSpPr txBox="1"/>
          <p:nvPr/>
        </p:nvSpPr>
        <p:spPr>
          <a:xfrm>
            <a:off x="10524041" y="2465756"/>
            <a:ext cx="537029" cy="2585323"/>
          </a:xfrm>
          <a:prstGeom prst="rect">
            <a:avLst/>
          </a:prstGeom>
          <a:noFill/>
          <a:ln>
            <a:solidFill>
              <a:schemeClr val="accent1"/>
            </a:solidFill>
          </a:ln>
        </p:spPr>
        <p:txBody>
          <a:bodyPr wrap="square" rtlCol="0">
            <a:spAutoFit/>
          </a:bodyPr>
          <a:lstStyle/>
          <a:p>
            <a:r>
              <a:rPr lang="zh-CN" altLang="en-US" dirty="0"/>
              <a:t>一</a:t>
            </a:r>
            <a:endParaRPr lang="en-US" altLang="zh-CN" dirty="0"/>
          </a:p>
          <a:p>
            <a:r>
              <a:rPr lang="zh-CN" altLang="en-US" dirty="0"/>
              <a:t>狗</a:t>
            </a:r>
            <a:endParaRPr lang="en-US" altLang="zh-CN" dirty="0"/>
          </a:p>
          <a:p>
            <a:r>
              <a:rPr lang="zh-CN" altLang="en-US" dirty="0"/>
              <a:t>来</a:t>
            </a:r>
            <a:endParaRPr lang="en-US" altLang="zh-CN" dirty="0"/>
          </a:p>
          <a:p>
            <a:r>
              <a:rPr lang="en-US" altLang="zh-CN" dirty="0"/>
              <a:t>…</a:t>
            </a:r>
          </a:p>
          <a:p>
            <a:r>
              <a:rPr lang="zh-CN" altLang="en-US" dirty="0"/>
              <a:t>个</a:t>
            </a:r>
            <a:endParaRPr lang="en-US" altLang="zh-CN" dirty="0"/>
          </a:p>
          <a:p>
            <a:r>
              <a:rPr lang="zh-CN" altLang="en-US" dirty="0"/>
              <a:t>审</a:t>
            </a:r>
            <a:endParaRPr lang="en-US" altLang="zh-CN" dirty="0"/>
          </a:p>
          <a:p>
            <a:r>
              <a:rPr lang="zh-CN" altLang="en-US" dirty="0"/>
              <a:t>牛只</a:t>
            </a:r>
            <a:r>
              <a:rPr lang="en-US" altLang="zh-CN" dirty="0"/>
              <a:t>…</a:t>
            </a:r>
            <a:endParaRPr lang="zh-CN" altLang="en-US" dirty="0"/>
          </a:p>
        </p:txBody>
      </p:sp>
      <p:sp>
        <p:nvSpPr>
          <p:cNvPr id="47" name="文本框 46">
            <a:extLst>
              <a:ext uri="{FF2B5EF4-FFF2-40B4-BE49-F238E27FC236}">
                <a16:creationId xmlns:a16="http://schemas.microsoft.com/office/drawing/2014/main" id="{8E0D6575-88DD-6E69-D892-F8FCE75D59E2}"/>
              </a:ext>
            </a:extLst>
          </p:cNvPr>
          <p:cNvSpPr txBox="1"/>
          <p:nvPr/>
        </p:nvSpPr>
        <p:spPr>
          <a:xfrm>
            <a:off x="10767160" y="4163786"/>
            <a:ext cx="418058" cy="369332"/>
          </a:xfrm>
          <a:prstGeom prst="rect">
            <a:avLst/>
          </a:prstGeom>
          <a:noFill/>
        </p:spPr>
        <p:txBody>
          <a:bodyPr wrap="square" rtlCol="0">
            <a:spAutoFit/>
          </a:bodyPr>
          <a:lstStyle/>
          <a:p>
            <a:r>
              <a:rPr lang="zh-CN" altLang="en-US" dirty="0"/>
              <a:t>✔</a:t>
            </a:r>
          </a:p>
        </p:txBody>
      </p:sp>
      <p:sp>
        <p:nvSpPr>
          <p:cNvPr id="48" name="文本框 47">
            <a:extLst>
              <a:ext uri="{FF2B5EF4-FFF2-40B4-BE49-F238E27FC236}">
                <a16:creationId xmlns:a16="http://schemas.microsoft.com/office/drawing/2014/main" id="{897B589F-8C0B-0058-ABFE-7011059C1D4D}"/>
              </a:ext>
            </a:extLst>
          </p:cNvPr>
          <p:cNvSpPr txBox="1"/>
          <p:nvPr/>
        </p:nvSpPr>
        <p:spPr>
          <a:xfrm>
            <a:off x="11476154" y="3587482"/>
            <a:ext cx="42134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牛</a:t>
            </a:r>
          </a:p>
        </p:txBody>
      </p:sp>
      <p:sp>
        <p:nvSpPr>
          <p:cNvPr id="49" name="箭头: 右 48">
            <a:extLst>
              <a:ext uri="{FF2B5EF4-FFF2-40B4-BE49-F238E27FC236}">
                <a16:creationId xmlns:a16="http://schemas.microsoft.com/office/drawing/2014/main" id="{56C48EBA-FB99-3BB6-4950-AEC67DF9DE61}"/>
              </a:ext>
            </a:extLst>
          </p:cNvPr>
          <p:cNvSpPr/>
          <p:nvPr/>
        </p:nvSpPr>
        <p:spPr>
          <a:xfrm>
            <a:off x="11162877" y="3389334"/>
            <a:ext cx="145143" cy="8236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FD083357-29D8-F47C-BB12-41F358EB3F94}"/>
              </a:ext>
            </a:extLst>
          </p:cNvPr>
          <p:cNvSpPr/>
          <p:nvPr/>
        </p:nvSpPr>
        <p:spPr>
          <a:xfrm>
            <a:off x="5660574" y="1627043"/>
            <a:ext cx="6386286" cy="4470064"/>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351E9346-892B-BBAE-B1BC-8FC431B02706}"/>
              </a:ext>
            </a:extLst>
          </p:cNvPr>
          <p:cNvSpPr txBox="1"/>
          <p:nvPr/>
        </p:nvSpPr>
        <p:spPr>
          <a:xfrm>
            <a:off x="1538514" y="6131052"/>
            <a:ext cx="3033486" cy="369332"/>
          </a:xfrm>
          <a:prstGeom prst="rect">
            <a:avLst/>
          </a:prstGeom>
          <a:noFill/>
        </p:spPr>
        <p:txBody>
          <a:bodyPr wrap="square" rtlCol="0">
            <a:spAutoFit/>
          </a:bodyPr>
          <a:lstStyle/>
          <a:p>
            <a:r>
              <a:rPr lang="zh-CN" altLang="en-US" dirty="0"/>
              <a:t>围棋落子的选择（</a:t>
            </a:r>
            <a:r>
              <a:rPr lang="en-US" altLang="zh-CN" dirty="0" err="1"/>
              <a:t>AlphaGO</a:t>
            </a:r>
            <a:r>
              <a:rPr lang="zh-CN" altLang="en-US" dirty="0"/>
              <a:t>）</a:t>
            </a:r>
          </a:p>
        </p:txBody>
      </p:sp>
      <p:sp>
        <p:nvSpPr>
          <p:cNvPr id="52" name="文本框 51">
            <a:extLst>
              <a:ext uri="{FF2B5EF4-FFF2-40B4-BE49-F238E27FC236}">
                <a16:creationId xmlns:a16="http://schemas.microsoft.com/office/drawing/2014/main" id="{6A18925D-3173-BA49-2E71-A74DDEDBFC41}"/>
              </a:ext>
            </a:extLst>
          </p:cNvPr>
          <p:cNvSpPr txBox="1"/>
          <p:nvPr/>
        </p:nvSpPr>
        <p:spPr>
          <a:xfrm>
            <a:off x="6258910" y="6114693"/>
            <a:ext cx="5322888" cy="369332"/>
          </a:xfrm>
          <a:prstGeom prst="rect">
            <a:avLst/>
          </a:prstGeom>
          <a:noFill/>
        </p:spPr>
        <p:txBody>
          <a:bodyPr wrap="square" rtlCol="0">
            <a:spAutoFit/>
          </a:bodyPr>
          <a:lstStyle/>
          <a:p>
            <a:r>
              <a:rPr lang="zh-CN" altLang="en-US" dirty="0"/>
              <a:t>每次都从词汇表中选择一个词来生成（大语言模型）</a:t>
            </a:r>
          </a:p>
        </p:txBody>
      </p:sp>
    </p:spTree>
    <p:extLst>
      <p:ext uri="{BB962C8B-B14F-4D97-AF65-F5344CB8AC3E}">
        <p14:creationId xmlns:p14="http://schemas.microsoft.com/office/powerpoint/2010/main" val="795838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搜索算法的评测标准</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12" name="矩形: 圆角 6">
            <a:extLst>
              <a:ext uri="{FF2B5EF4-FFF2-40B4-BE49-F238E27FC236}">
                <a16:creationId xmlns:a16="http://schemas.microsoft.com/office/drawing/2014/main" id="{B4810C9A-F636-4B9D-B30F-0366536A4F2A}"/>
              </a:ext>
            </a:extLst>
          </p:cNvPr>
          <p:cNvSpPr/>
          <p:nvPr/>
        </p:nvSpPr>
        <p:spPr>
          <a:xfrm>
            <a:off x="688458" y="2113585"/>
            <a:ext cx="4542760" cy="3918097"/>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2C041C4E-F366-4E68-B9EF-FAC1BFDD18C8}"/>
              </a:ext>
            </a:extLst>
          </p:cNvPr>
          <p:cNvSpPr/>
          <p:nvPr/>
        </p:nvSpPr>
        <p:spPr>
          <a:xfrm>
            <a:off x="687807" y="2543936"/>
            <a:ext cx="4468333" cy="3413563"/>
          </a:xfrm>
          <a:prstGeom prst="rect">
            <a:avLst/>
          </a:prstGeom>
        </p:spPr>
        <p:txBody>
          <a:bodyPr wrap="square">
            <a:spAutoFit/>
          </a:bodyPr>
          <a:lstStyle/>
          <a:p>
            <a:pPr marL="342900" indent="-342900">
              <a:lnSpc>
                <a:spcPct val="20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完备性</a:t>
            </a:r>
            <a:r>
              <a:rPr lang="zh-CN" altLang="zh-CN" sz="1600" dirty="0">
                <a:solidFill>
                  <a:schemeClr val="bg1"/>
                </a:solidFill>
                <a:latin typeface="微软雅黑" panose="020B0503020204020204" pitchFamily="34" charset="-122"/>
                <a:ea typeface="微软雅黑" panose="020B0503020204020204" pitchFamily="34" charset="-122"/>
              </a:rPr>
              <a:t>：当问题存在解时，算法是否能保证找到一个解，虽然这个解可能不是最优解。</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lnSpc>
                <a:spcPct val="20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最优性</a:t>
            </a:r>
            <a:r>
              <a:rPr lang="zh-CN" altLang="zh-CN" sz="1600" dirty="0">
                <a:solidFill>
                  <a:schemeClr val="bg1"/>
                </a:solidFill>
                <a:latin typeface="微软雅黑" panose="020B0503020204020204" pitchFamily="34" charset="-122"/>
                <a:ea typeface="微软雅黑" panose="020B0503020204020204" pitchFamily="34" charset="-122"/>
              </a:rPr>
              <a:t>：搜索算法是否能保证找到的第一个解是最优解。</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lnSpc>
                <a:spcPct val="20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时间复杂度</a:t>
            </a:r>
            <a:r>
              <a:rPr lang="zh-CN" altLang="zh-CN" sz="1600" dirty="0">
                <a:solidFill>
                  <a:schemeClr val="bg1"/>
                </a:solidFill>
                <a:latin typeface="微软雅黑" panose="020B0503020204020204" pitchFamily="34" charset="-122"/>
                <a:ea typeface="微软雅黑" panose="020B0503020204020204" pitchFamily="34" charset="-122"/>
              </a:rPr>
              <a:t>：找到一个搜索路径所需时间。</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lnSpc>
                <a:spcPct val="20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空间复杂度</a:t>
            </a:r>
            <a:r>
              <a:rPr lang="zh-CN" altLang="zh-CN" sz="1600" dirty="0">
                <a:solidFill>
                  <a:schemeClr val="bg1"/>
                </a:solidFill>
                <a:latin typeface="微软雅黑" panose="020B0503020204020204" pitchFamily="34" charset="-122"/>
                <a:ea typeface="微软雅黑" panose="020B0503020204020204" pitchFamily="34" charset="-122"/>
              </a:rPr>
              <a:t>：算法运行时所需的内存空间。</a:t>
            </a:r>
          </a:p>
          <a:p>
            <a:pPr marL="342900" indent="-342900">
              <a:lnSpc>
                <a:spcPct val="150000"/>
              </a:lnSpc>
              <a:buClr>
                <a:schemeClr val="bg1"/>
              </a:buClr>
              <a:buSzPct val="80000"/>
              <a:buFont typeface="Wingdings" panose="05000000000000000000" pitchFamily="2" charset="2"/>
              <a:buChar char="u"/>
            </a:pP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5F83BE40-1696-4690-AEAC-15CE0AE9BFCF}"/>
                  </a:ext>
                </a:extLst>
              </p:cNvPr>
              <p:cNvSpPr/>
              <p:nvPr/>
            </p:nvSpPr>
            <p:spPr>
              <a:xfrm>
                <a:off x="5231218" y="3681061"/>
                <a:ext cx="6613451" cy="2416046"/>
              </a:xfrm>
              <a:prstGeom prst="rect">
                <a:avLst/>
              </a:prstGeom>
            </p:spPr>
            <p:txBody>
              <a:bodyPr wrap="square">
                <a:spAutoFit/>
              </a:bodyPr>
              <a:lstStyle/>
              <a:p>
                <a:pPr marL="285750" indent="-285750" algn="just">
                  <a:lnSpc>
                    <a:spcPts val="2200"/>
                  </a:lnSpc>
                  <a:spcAft>
                    <a:spcPts val="0"/>
                  </a:spcAft>
                  <a:buFont typeface="Arial" panose="020B0604020202020204" pitchFamily="34" charset="0"/>
                  <a:buChar char="•"/>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完备性和最优性刻画了算法找到解的能力以及所求的解的质量，时间复杂度和空间复杂度衡量了算法的资源消耗，通常用</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𝒪</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符号（</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big O notation</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）来描述。</a:t>
                </a:r>
              </a:p>
              <a:p>
                <a:pPr marL="285750" indent="-285750">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一般地，时间复杂度将通过扩展的结点数量、空间复杂度将通过算法同时记录的结点数量来衡量。</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具体而言，搜索算法复杂度可能和以下变量有关：分支因子</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𝑏</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，即搜索树中每个结点的最大分支数目；目标节点到根节点的最浅深度</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，即搜索树中最早出现的目标结点所在层数；搜索树中路径的最大可能长度</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；状态空间的大小</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r>
                      <a:rPr lang="zh-CN" altLang="en-US" sz="1600" i="1">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5F83BE40-1696-4690-AEAC-15CE0AE9BFCF}"/>
                  </a:ext>
                </a:extLst>
              </p:cNvPr>
              <p:cNvSpPr>
                <a:spLocks noRot="1" noChangeAspect="1" noMove="1" noResize="1" noEditPoints="1" noAdjustHandles="1" noChangeArrowheads="1" noChangeShapeType="1" noTextEdit="1"/>
              </p:cNvSpPr>
              <p:nvPr/>
            </p:nvSpPr>
            <p:spPr>
              <a:xfrm>
                <a:off x="5231218" y="3681061"/>
                <a:ext cx="6613451" cy="2416046"/>
              </a:xfrm>
              <a:prstGeom prst="rect">
                <a:avLst/>
              </a:prstGeom>
              <a:blipFill>
                <a:blip r:embed="rId3"/>
                <a:stretch>
                  <a:fillRect l="-369" t="-253" r="-553" b="-2525"/>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0ECBC9DD-1390-4DD8-ACC9-B9E688349788}"/>
              </a:ext>
            </a:extLst>
          </p:cNvPr>
          <p:cNvPicPr>
            <a:picLocks noChangeAspect="1"/>
          </p:cNvPicPr>
          <p:nvPr/>
        </p:nvPicPr>
        <p:blipFill>
          <a:blip r:embed="rId4"/>
          <a:stretch>
            <a:fillRect/>
          </a:stretch>
        </p:blipFill>
        <p:spPr>
          <a:xfrm>
            <a:off x="5895043" y="1484266"/>
            <a:ext cx="4623038" cy="2119340"/>
          </a:xfrm>
          <a:prstGeom prst="rect">
            <a:avLst/>
          </a:prstGeom>
        </p:spPr>
      </p:pic>
    </p:spTree>
    <p:extLst>
      <p:ext uri="{BB962C8B-B14F-4D97-AF65-F5344CB8AC3E}">
        <p14:creationId xmlns:p14="http://schemas.microsoft.com/office/powerpoint/2010/main" val="3039899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搜索框架</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0" name="矩形: 圆角 6">
            <a:extLst>
              <a:ext uri="{FF2B5EF4-FFF2-40B4-BE49-F238E27FC236}">
                <a16:creationId xmlns:a16="http://schemas.microsoft.com/office/drawing/2014/main" id="{9AD4C5F3-5354-4A38-80CB-FCFD482969E7}"/>
              </a:ext>
            </a:extLst>
          </p:cNvPr>
          <p:cNvSpPr/>
          <p:nvPr/>
        </p:nvSpPr>
        <p:spPr>
          <a:xfrm>
            <a:off x="1291952" y="5329879"/>
            <a:ext cx="9834169" cy="95497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F8F1DBAB-1A40-4B79-9BD2-F204657EA225}"/>
                  </a:ext>
                </a:extLst>
              </p:cNvPr>
              <p:cNvSpPr/>
              <p:nvPr/>
            </p:nvSpPr>
            <p:spPr>
              <a:xfrm>
                <a:off x="1448717" y="4907063"/>
                <a:ext cx="9851064" cy="1338828"/>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函数</a:t>
                </a:r>
                <a14:m>
                  <m:oMath xmlns:m="http://schemas.openxmlformats.org/officeDocument/2006/math">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pick</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_</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from</m:t>
                    </m:r>
                  </m:oMath>
                </a14:m>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决定了扩展结点的顺序</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BFS</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DFS…</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函数</a:t>
                </a:r>
                <a14:m>
                  <m:oMath xmlns:m="http://schemas.openxmlformats.org/officeDocument/2006/math">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successor</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_</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nodes</m:t>
                    </m:r>
                  </m:oMath>
                </a14:m>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决定了哪些结点可被放入边缘集合供后续被扩展</a:t>
                </a:r>
              </a:p>
            </p:txBody>
          </p:sp>
        </mc:Choice>
        <mc:Fallback xmlns="">
          <p:sp>
            <p:nvSpPr>
              <p:cNvPr id="11" name="矩形 10">
                <a:extLst>
                  <a:ext uri="{FF2B5EF4-FFF2-40B4-BE49-F238E27FC236}">
                    <a16:creationId xmlns:a16="http://schemas.microsoft.com/office/drawing/2014/main" id="{F8F1DBAB-1A40-4B79-9BD2-F204657EA225}"/>
                  </a:ext>
                </a:extLst>
              </p:cNvPr>
              <p:cNvSpPr>
                <a:spLocks noRot="1" noChangeAspect="1" noMove="1" noResize="1" noEditPoints="1" noAdjustHandles="1" noChangeArrowheads="1" noChangeShapeType="1" noTextEdit="1"/>
              </p:cNvSpPr>
              <p:nvPr/>
            </p:nvSpPr>
            <p:spPr>
              <a:xfrm>
                <a:off x="1448717" y="4907063"/>
                <a:ext cx="9851064" cy="1338828"/>
              </a:xfrm>
              <a:prstGeom prst="rect">
                <a:avLst/>
              </a:prstGeom>
              <a:blipFill>
                <a:blip r:embed="rId3"/>
                <a:stretch>
                  <a:fillRect l="-186"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ACEC2EF-4F5A-480B-891F-362683141A41}"/>
                  </a:ext>
                </a:extLst>
              </p:cNvPr>
              <p:cNvSpPr/>
              <p:nvPr/>
            </p:nvSpPr>
            <p:spPr>
              <a:xfrm>
                <a:off x="435935" y="1784545"/>
                <a:ext cx="6671930" cy="2946319"/>
              </a:xfrm>
              <a:prstGeom prst="rect">
                <a:avLst/>
              </a:prstGeom>
            </p:spPr>
            <p:txBody>
              <a:bodyPr wrap="square">
                <a:spAutoFit/>
              </a:bodyPr>
              <a:lstStyle/>
              <a:p>
                <a:pPr marL="285750" indent="-285750">
                  <a:lnSpc>
                    <a:spcPts val="25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行对边缘集合进行初始化，将根结点作为边缘集合第一个元素</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ts val="25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行从当前边缘集合中选出结点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ts val="25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行将结点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从边缘集合中去除</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ts val="25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5-7</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行判断取出的结点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是否通过目标测试，如果通过目标测试，则返回从根结点到该结点的搜索路径。</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ts val="25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行将结点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的后继结点加入边缘集合。</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ts val="25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3-8</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行的一系列操作通常被称为对结点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进行</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扩展（</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expand</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。某个非目标结点被扩展意味着该结点从边缘集合</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ℱ</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中被取出（然后其被从该集合中删除），接着将该结点的后继结点放入边缘集合</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ℱ</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AACEC2EF-4F5A-480B-891F-362683141A41}"/>
                  </a:ext>
                </a:extLst>
              </p:cNvPr>
              <p:cNvSpPr>
                <a:spLocks noRot="1" noChangeAspect="1" noMove="1" noResize="1" noEditPoints="1" noAdjustHandles="1" noChangeArrowheads="1" noChangeShapeType="1" noTextEdit="1"/>
              </p:cNvSpPr>
              <p:nvPr/>
            </p:nvSpPr>
            <p:spPr>
              <a:xfrm>
                <a:off x="435935" y="1784545"/>
                <a:ext cx="6671930" cy="2946319"/>
              </a:xfrm>
              <a:prstGeom prst="rect">
                <a:avLst/>
              </a:prstGeom>
              <a:blipFill>
                <a:blip r:embed="rId4"/>
                <a:stretch>
                  <a:fillRect l="-366" b="-1863"/>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3A647A71-F424-407A-8955-01CE56E2EFF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pic>
        <p:nvPicPr>
          <p:cNvPr id="8" name="图片 7">
            <a:extLst>
              <a:ext uri="{FF2B5EF4-FFF2-40B4-BE49-F238E27FC236}">
                <a16:creationId xmlns:a16="http://schemas.microsoft.com/office/drawing/2014/main" id="{6DC18DE5-8BBB-4CC4-BA17-F6AD84077332}"/>
              </a:ext>
            </a:extLst>
          </p:cNvPr>
          <p:cNvPicPr>
            <a:picLocks noChangeAspect="1"/>
          </p:cNvPicPr>
          <p:nvPr/>
        </p:nvPicPr>
        <p:blipFill>
          <a:blip r:embed="rId5"/>
          <a:stretch>
            <a:fillRect/>
          </a:stretch>
        </p:blipFill>
        <p:spPr>
          <a:xfrm>
            <a:off x="7240983" y="2091594"/>
            <a:ext cx="4515082" cy="2776505"/>
          </a:xfrm>
          <a:prstGeom prst="rect">
            <a:avLst/>
          </a:prstGeom>
        </p:spPr>
      </p:pic>
    </p:spTree>
    <p:extLst>
      <p:ext uri="{BB962C8B-B14F-4D97-AF65-F5344CB8AC3E}">
        <p14:creationId xmlns:p14="http://schemas.microsoft.com/office/powerpoint/2010/main" val="3585843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41721" y="69136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搜索树构建示意</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3" name="矩形 12">
            <a:extLst>
              <a:ext uri="{FF2B5EF4-FFF2-40B4-BE49-F238E27FC236}">
                <a16:creationId xmlns:a16="http://schemas.microsoft.com/office/drawing/2014/main" id="{3A647A71-F424-407A-8955-01CE56E2EFF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一、搜索基本概念</a:t>
            </a:r>
            <a:endParaRPr lang="zh-CN" altLang="en-US" sz="1600" dirty="0"/>
          </a:p>
        </p:txBody>
      </p:sp>
      <p:sp>
        <p:nvSpPr>
          <p:cNvPr id="8" name="矩形 7">
            <a:extLst>
              <a:ext uri="{FF2B5EF4-FFF2-40B4-BE49-F238E27FC236}">
                <a16:creationId xmlns:a16="http://schemas.microsoft.com/office/drawing/2014/main" id="{EC6D73C5-4BF5-4720-82C6-02716296097D}"/>
              </a:ext>
            </a:extLst>
          </p:cNvPr>
          <p:cNvSpPr/>
          <p:nvPr/>
        </p:nvSpPr>
        <p:spPr>
          <a:xfrm>
            <a:off x="6693194" y="5513966"/>
            <a:ext cx="4922875" cy="646331"/>
          </a:xfrm>
          <a:prstGeom prst="rect">
            <a:avLst/>
          </a:prstGeom>
        </p:spPr>
        <p:txBody>
          <a:bodyPr wrap="square">
            <a:spAutoFit/>
          </a:bodyPr>
          <a:lstStyle/>
          <a:p>
            <a:pPr algn="ctr"/>
            <a:r>
              <a:rPr lang="zh-CN" altLang="zh-CN" b="1" dirty="0">
                <a:latin typeface="Times New Roman" panose="02020603050405020304" pitchFamily="18" charset="0"/>
                <a:ea typeface="楷体_GB2312"/>
                <a:cs typeface="Times New Roman" panose="02020603050405020304" pitchFamily="18" charset="0"/>
              </a:rPr>
              <a:t>正在构建中的搜索树。图中实线结点表示已被扩展，虚线结点在边缘集合中。</a:t>
            </a:r>
            <a:r>
              <a:rPr lang="zh-CN" altLang="zh-CN" b="1" dirty="0">
                <a:ea typeface="Times New Roman" panose="02020603050405020304" pitchFamily="18" charset="0"/>
              </a:rPr>
              <a:t> </a:t>
            </a:r>
            <a:endParaRPr lang="zh-CN" altLang="en-US"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B8C46CD-8C36-4EAD-8652-E17512F40173}"/>
                  </a:ext>
                </a:extLst>
              </p:cNvPr>
              <p:cNvSpPr/>
              <p:nvPr/>
            </p:nvSpPr>
            <p:spPr>
              <a:xfrm>
                <a:off x="251638" y="1317619"/>
                <a:ext cx="6096000" cy="5148204"/>
              </a:xfrm>
              <a:prstGeom prst="rect">
                <a:avLst/>
              </a:prstGeom>
            </p:spPr>
            <p:txBody>
              <a:bodyPr>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实际上，给定当前结点，并不是其所有的后继结点都值得被探索。在某些情况下，主动放弃一些后继结点能够提高搜索效率而不会影响最终搜索结果，甚至能解决无限循环（即算法不停机）问题。放弃扩展部分结点的做法被称为</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剪枝（</a:t>
                </a:r>
                <a:r>
                  <a:rPr lang="en-US" altLang="zh-CN" sz="1600" b="1" dirty="0">
                    <a:solidFill>
                      <a:srgbClr val="000000"/>
                    </a:solidFill>
                    <a:latin typeface="Times New Roman" panose="02020603050405020304" pitchFamily="18" charset="0"/>
                    <a:ea typeface="楷体_GB2312"/>
                    <a:cs typeface="Times New Roman" panose="02020603050405020304" pitchFamily="18" charset="0"/>
                  </a:rPr>
                  <a:t>pruning</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，其对应的搜索算法被称为</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剪枝搜索</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中最左侧的路径为</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B</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B</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，这意味着在某些搜索策略下（例如深度优先搜索），算法可能会沿着搜索树的左侧路径在状态</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和状态</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B</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之间陷入无限循环，即出现环路或回路，搜索算法无法终止，</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这样算法将不具有完备性</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ts val="2200"/>
                  </a:lnSpc>
                  <a:spcAft>
                    <a:spcPts val="0"/>
                  </a:spcAft>
                </a:pP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为了解决算法不完备的问题，一个直观办法是对可能产生环路的结点进行剪枝</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。举例来说，假设某时刻从根结点出发所构建得到的搜索树如图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所示。图中实线结点表示已经被扩展过，虚线结点为边缘集合中的结点（等待后续处理）。</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对于图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中路径</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G</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而言，当结点</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G</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被扩展时，此时结点</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G</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被从边缘集合中取出并删除，结点</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G</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的后续结点</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F</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H</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K</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被放入边缘集合。对于所得的新边缘集合，第四层最左端的结点</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不应该被拓展，否则会出现从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出发最后回到</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的环路（</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G</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ts val="2200"/>
                  </a:lnSpc>
                  <a:spcAft>
                    <a:spcPts val="0"/>
                  </a:spcAft>
                </a:pP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9B8C46CD-8C36-4EAD-8652-E17512F40173}"/>
                  </a:ext>
                </a:extLst>
              </p:cNvPr>
              <p:cNvSpPr>
                <a:spLocks noRot="1" noChangeAspect="1" noMove="1" noResize="1" noEditPoints="1" noAdjustHandles="1" noChangeArrowheads="1" noChangeShapeType="1" noTextEdit="1"/>
              </p:cNvSpPr>
              <p:nvPr/>
            </p:nvSpPr>
            <p:spPr>
              <a:xfrm>
                <a:off x="251638" y="1317619"/>
                <a:ext cx="6096000" cy="5148204"/>
              </a:xfrm>
              <a:prstGeom prst="rect">
                <a:avLst/>
              </a:prstGeom>
              <a:blipFill>
                <a:blip r:embed="rId3"/>
                <a:stretch>
                  <a:fillRect l="-500" t="-118" r="-4000"/>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9B92F42-3B4D-47DA-88B3-7F4C0DF083D4}"/>
              </a:ext>
            </a:extLst>
          </p:cNvPr>
          <p:cNvPicPr>
            <a:picLocks noChangeAspect="1"/>
          </p:cNvPicPr>
          <p:nvPr/>
        </p:nvPicPr>
        <p:blipFill>
          <a:blip r:embed="rId4"/>
          <a:stretch>
            <a:fillRect/>
          </a:stretch>
        </p:blipFill>
        <p:spPr>
          <a:xfrm>
            <a:off x="7424707" y="2033123"/>
            <a:ext cx="3308654" cy="3421084"/>
          </a:xfrm>
          <a:prstGeom prst="rect">
            <a:avLst/>
          </a:prstGeom>
        </p:spPr>
      </p:pic>
    </p:spTree>
    <p:extLst>
      <p:ext uri="{BB962C8B-B14F-4D97-AF65-F5344CB8AC3E}">
        <p14:creationId xmlns:p14="http://schemas.microsoft.com/office/powerpoint/2010/main" val="288161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5912" y="677397"/>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有信息（</a:t>
              </a:r>
              <a:r>
                <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informed</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）搜索或启发式（</a:t>
              </a:r>
              <a:r>
                <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heuristic</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2356367989"/>
                  </p:ext>
                </p:extLst>
              </p:nvPr>
            </p:nvGraphicFramePr>
            <p:xfrm>
              <a:off x="1701998" y="1950228"/>
              <a:ext cx="8692309" cy="1767840"/>
            </p:xfrm>
            <a:graphic>
              <a:graphicData uri="http://schemas.openxmlformats.org/drawingml/2006/table">
                <a:tbl>
                  <a:tblPr firstRow="1" bandRow="1">
                    <a:tableStyleId>{5C22544A-7EE6-4342-B048-85BDC9FD1C3A}</a:tableStyleId>
                  </a:tblPr>
                  <a:tblGrid>
                    <a:gridCol w="3065694">
                      <a:extLst>
                        <a:ext uri="{9D8B030D-6E8A-4147-A177-3AD203B41FA5}">
                          <a16:colId xmlns:a16="http://schemas.microsoft.com/office/drawing/2014/main" val="20000"/>
                        </a:ext>
                      </a:extLst>
                    </a:gridCol>
                    <a:gridCol w="3348680">
                      <a:extLst>
                        <a:ext uri="{9D8B030D-6E8A-4147-A177-3AD203B41FA5}">
                          <a16:colId xmlns:a16="http://schemas.microsoft.com/office/drawing/2014/main" val="20001"/>
                        </a:ext>
                      </a:extLst>
                    </a:gridCol>
                    <a:gridCol w="2277935">
                      <a:extLst>
                        <a:ext uri="{9D8B030D-6E8A-4147-A177-3AD203B41FA5}">
                          <a16:colId xmlns:a16="http://schemas.microsoft.com/office/drawing/2014/main" val="20002"/>
                        </a:ext>
                      </a:extLst>
                    </a:gridCol>
                  </a:tblGrid>
                  <a:tr h="507884">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辅助信息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所求解问题之外、与所求解</a:t>
                          </a:r>
                          <a:endParaRPr lang="en-US" altLang="zh-CN"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问题相关的特定信息或知识。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92257">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evaluation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endParaRPr lang="zh-CN" altLang="en-US"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从当前节点</a:t>
                          </a:r>
                          <a14:m>
                            <m:oMath xmlns:m="http://schemas.openxmlformats.org/officeDocument/2006/math">
                              <m:r>
                                <a:rPr lang="en-US" altLang="zh-CN" sz="1400" b="1" i="1" smtClean="0">
                                  <a:latin typeface="Cambria Math"/>
                                  <a:ea typeface="黑体" panose="02010609060101010101" pitchFamily="49" charset="-122"/>
                                </a:rPr>
                                <m:t>𝒏</m:t>
                              </m:r>
                            </m:oMath>
                          </a14:m>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出发，根据评价函数来选择后续结点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下一个结点是谁？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03224">
                    <a:tc>
                      <a:txBody>
                        <a:bodyPr/>
                        <a:lstStyle/>
                        <a:p>
                          <a:pPr marL="0" algn="ctr" defTabSz="685800" rtl="0" eaLnBrk="1" latinLnBrk="0" hangingPunct="1"/>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heuristic</a:t>
                          </a:r>
                          <a:r>
                            <a:rPr lang="en-US" altLang="zh-CN" sz="1400" b="1" baseline="0" dirty="0">
                              <a:latin typeface="华文楷体" panose="02010600040101010101" pitchFamily="2" charset="-122"/>
                              <a:ea typeface="华文楷体" panose="02010600040101010101" pitchFamily="2" charset="-122"/>
                              <a:cs typeface="Times New Roman" panose="02020603050405020304" pitchFamily="18" charset="0"/>
                            </a:rPr>
                            <a:t>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计算从结点</a:t>
                          </a:r>
                          <a14:m>
                            <m:oMath xmlns:m="http://schemas.openxmlformats.org/officeDocument/2006/math">
                              <m:r>
                                <a:rPr lang="en-US" altLang="zh-CN" sz="1400" b="1" i="1" smtClean="0">
                                  <a:latin typeface="Cambria Math"/>
                                  <a:ea typeface="黑体" panose="02010609060101010101" pitchFamily="49" charset="-122"/>
                                </a:rPr>
                                <m:t>𝒏</m:t>
                              </m:r>
                            </m:oMath>
                          </a14:m>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到目标结点之间所形成路径的最小代价值，这里将两点之间的直线距离作为启发函数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完成任务还需要多少代价？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10" name="表格 9">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2356367989"/>
                  </p:ext>
                </p:extLst>
              </p:nvPr>
            </p:nvGraphicFramePr>
            <p:xfrm>
              <a:off x="1701998" y="1950228"/>
              <a:ext cx="8692309" cy="1767840"/>
            </p:xfrm>
            <a:graphic>
              <a:graphicData uri="http://schemas.openxmlformats.org/drawingml/2006/table">
                <a:tbl>
                  <a:tblPr firstRow="1" bandRow="1">
                    <a:tableStyleId>{5C22544A-7EE6-4342-B048-85BDC9FD1C3A}</a:tableStyleId>
                  </a:tblPr>
                  <a:tblGrid>
                    <a:gridCol w="3065694">
                      <a:extLst>
                        <a:ext uri="{9D8B030D-6E8A-4147-A177-3AD203B41FA5}">
                          <a16:colId xmlns:a16="http://schemas.microsoft.com/office/drawing/2014/main" val="20000"/>
                        </a:ext>
                      </a:extLst>
                    </a:gridCol>
                    <a:gridCol w="3348680">
                      <a:extLst>
                        <a:ext uri="{9D8B030D-6E8A-4147-A177-3AD203B41FA5}">
                          <a16:colId xmlns:a16="http://schemas.microsoft.com/office/drawing/2014/main" val="20001"/>
                        </a:ext>
                      </a:extLst>
                    </a:gridCol>
                    <a:gridCol w="2277935">
                      <a:extLst>
                        <a:ext uri="{9D8B030D-6E8A-4147-A177-3AD203B41FA5}">
                          <a16:colId xmlns:a16="http://schemas.microsoft.com/office/drawing/2014/main" val="20002"/>
                        </a:ext>
                      </a:extLst>
                    </a:gridCol>
                  </a:tblGrid>
                  <a:tr h="518160">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辅助信息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所求解问题之外、与所求解</a:t>
                          </a:r>
                          <a:endParaRPr lang="en-US" altLang="zh-CN"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问题相关的特定信息或知识。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8160">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evaluation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endParaRPr lang="zh-CN" altLang="en-US"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636" t="-100000" r="-68364" b="-151163"/>
                          </a:stretch>
                        </a:blip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下一个结点是谁？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31520">
                    <a:tc>
                      <a:txBody>
                        <a:bodyPr/>
                        <a:lstStyle/>
                        <a:p>
                          <a:pPr marL="0" algn="ctr" defTabSz="685800" rtl="0" eaLnBrk="1" latinLnBrk="0" hangingPunct="1"/>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heuristic</a:t>
                          </a:r>
                          <a:r>
                            <a:rPr lang="en-US" altLang="zh-CN" sz="1400" b="1" baseline="0" dirty="0">
                              <a:latin typeface="华文楷体" panose="02010600040101010101" pitchFamily="2" charset="-122"/>
                              <a:ea typeface="华文楷体" panose="02010600040101010101" pitchFamily="2" charset="-122"/>
                              <a:cs typeface="Times New Roman" panose="02020603050405020304" pitchFamily="18" charset="0"/>
                            </a:rPr>
                            <a:t>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636" t="-143333" r="-68364" b="-8333"/>
                          </a:stretch>
                        </a:blip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完成任务还需要多少代价？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Fallback>
      </mc:AlternateContent>
      <p:sp>
        <p:nvSpPr>
          <p:cNvPr id="19" name="矩形 18">
            <a:extLst>
              <a:ext uri="{FF2B5EF4-FFF2-40B4-BE49-F238E27FC236}">
                <a16:creationId xmlns:a16="http://schemas.microsoft.com/office/drawing/2014/main" id="{67BF62E0-E747-42F1-952E-79C2378C67BC}"/>
              </a:ext>
            </a:extLst>
          </p:cNvPr>
          <p:cNvSpPr/>
          <p:nvPr/>
        </p:nvSpPr>
        <p:spPr>
          <a:xfrm>
            <a:off x="1926469" y="3770861"/>
            <a:ext cx="7938543" cy="338554"/>
          </a:xfrm>
          <a:prstGeom prst="rect">
            <a:avLst/>
          </a:prstGeom>
        </p:spPr>
        <p:txBody>
          <a:bodyPr wrap="square">
            <a:spAutoFit/>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贪婪最佳优先搜索</a:t>
            </a:r>
            <a:r>
              <a:rPr lang="en-US" altLang="zh-CN" sz="1600" b="1" dirty="0">
                <a:latin typeface="华文楷体" panose="02010600040101010101" pitchFamily="2" charset="-122"/>
                <a:ea typeface="华文楷体" panose="02010600040101010101" pitchFamily="2" charset="-122"/>
                <a:cs typeface="Times New Roman" panose="02020603050405020304" pitchFamily="18" charset="0"/>
              </a:rPr>
              <a:t>(Greedy best-first search)</a:t>
            </a: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r>
              <a:rPr lang="en-US" altLang="zh-CN" sz="1600" b="1"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0" name="矩形 19">
            <a:extLst>
              <a:ext uri="{FF2B5EF4-FFF2-40B4-BE49-F238E27FC236}">
                <a16:creationId xmlns:a16="http://schemas.microsoft.com/office/drawing/2014/main" id="{6D31E2B0-E6EC-46D4-BC44-1BA90476C0DE}"/>
              </a:ext>
            </a:extLst>
          </p:cNvPr>
          <p:cNvSpPr/>
          <p:nvPr/>
        </p:nvSpPr>
        <p:spPr>
          <a:xfrm>
            <a:off x="4980700" y="5768491"/>
            <a:ext cx="6154249" cy="418063"/>
          </a:xfrm>
          <a:prstGeom prst="rect">
            <a:avLst/>
          </a:prstGeom>
        </p:spPr>
        <p:txBody>
          <a:bodyPr wrap="none">
            <a:spAutoFit/>
          </a:bodyPr>
          <a:lstStyle/>
          <a:p>
            <a:pPr indent="266700" algn="ctr">
              <a:lnSpc>
                <a:spcPct val="150000"/>
              </a:lnSpc>
              <a:spcBef>
                <a:spcPts val="600"/>
              </a:spcBef>
              <a:spcAft>
                <a:spcPts val="0"/>
              </a:spcAft>
            </a:pP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每个城市到目标城市（即城市</a:t>
            </a:r>
            <a:r>
              <a:rPr lang="en-US"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）的直线距离（启发函数取值）</a:t>
            </a:r>
          </a:p>
        </p:txBody>
      </p:sp>
      <p:sp>
        <p:nvSpPr>
          <p:cNvPr id="22" name="矩形: 圆角 6">
            <a:extLst>
              <a:ext uri="{FF2B5EF4-FFF2-40B4-BE49-F238E27FC236}">
                <a16:creationId xmlns:a16="http://schemas.microsoft.com/office/drawing/2014/main" id="{7CD9D1DD-A65A-4A75-9673-4D31693AC207}"/>
              </a:ext>
            </a:extLst>
          </p:cNvPr>
          <p:cNvSpPr/>
          <p:nvPr/>
        </p:nvSpPr>
        <p:spPr>
          <a:xfrm>
            <a:off x="4709361" y="1305776"/>
            <a:ext cx="3423683" cy="48382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530084CD-18F6-48BC-9F6E-FC5025989A1F}"/>
              </a:ext>
            </a:extLst>
          </p:cNvPr>
          <p:cNvSpPr/>
          <p:nvPr/>
        </p:nvSpPr>
        <p:spPr>
          <a:xfrm>
            <a:off x="3311387" y="1100759"/>
            <a:ext cx="6109702" cy="602857"/>
          </a:xfrm>
          <a:prstGeom prst="rect">
            <a:avLst/>
          </a:prstGeom>
        </p:spPr>
        <p:txBody>
          <a:bodyPr wrap="square">
            <a:spAutoFit/>
          </a:bodyPr>
          <a:lstStyle/>
          <a:p>
            <a:pPr algn="ctr">
              <a:lnSpc>
                <a:spcPct val="250000"/>
              </a:lnSpc>
              <a:buClr>
                <a:schemeClr val="bg1"/>
              </a:buClr>
              <a:buSzPct val="80000"/>
            </a:pP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两个重要函数：评价函数与启发函数</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4" name="图片 23">
            <a:extLst>
              <a:ext uri="{FF2B5EF4-FFF2-40B4-BE49-F238E27FC236}">
                <a16:creationId xmlns:a16="http://schemas.microsoft.com/office/drawing/2014/main" id="{BCA2DE2F-15FC-4DA9-A37B-5BA5B1271EE8}"/>
              </a:ext>
            </a:extLst>
          </p:cNvPr>
          <p:cNvPicPr>
            <a:picLocks noChangeAspect="1"/>
          </p:cNvPicPr>
          <p:nvPr/>
        </p:nvPicPr>
        <p:blipFill>
          <a:blip r:embed="rId4"/>
          <a:stretch>
            <a:fillRect/>
          </a:stretch>
        </p:blipFill>
        <p:spPr>
          <a:xfrm>
            <a:off x="1403497" y="4138615"/>
            <a:ext cx="2280684" cy="1802871"/>
          </a:xfrm>
          <a:prstGeom prst="rect">
            <a:avLst/>
          </a:prstGeom>
        </p:spPr>
      </p:pic>
      <p:sp>
        <p:nvSpPr>
          <p:cNvPr id="6" name="矩形 5">
            <a:extLst>
              <a:ext uri="{FF2B5EF4-FFF2-40B4-BE49-F238E27FC236}">
                <a16:creationId xmlns:a16="http://schemas.microsoft.com/office/drawing/2014/main" id="{B1E6DAB2-AE1D-4DA1-9D5F-D117DE38DD10}"/>
              </a:ext>
            </a:extLst>
          </p:cNvPr>
          <p:cNvSpPr/>
          <p:nvPr/>
        </p:nvSpPr>
        <p:spPr>
          <a:xfrm>
            <a:off x="393405" y="5941486"/>
            <a:ext cx="4315956" cy="523220"/>
          </a:xfrm>
          <a:prstGeom prst="rect">
            <a:avLst/>
          </a:prstGeom>
        </p:spPr>
        <p:txBody>
          <a:bodyPr wrap="square">
            <a:spAutoFit/>
          </a:bodyPr>
          <a:lstStyle/>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endParaRPr lang="zh-CN" altLang="en-US" sz="1400" dirty="0"/>
          </a:p>
        </p:txBody>
      </p:sp>
      <p:pic>
        <p:nvPicPr>
          <p:cNvPr id="7" name="图片 6">
            <a:extLst>
              <a:ext uri="{FF2B5EF4-FFF2-40B4-BE49-F238E27FC236}">
                <a16:creationId xmlns:a16="http://schemas.microsoft.com/office/drawing/2014/main" id="{52E6070E-411E-4309-8845-0E1787C04368}"/>
              </a:ext>
            </a:extLst>
          </p:cNvPr>
          <p:cNvPicPr>
            <a:picLocks noChangeAspect="1"/>
          </p:cNvPicPr>
          <p:nvPr/>
        </p:nvPicPr>
        <p:blipFill>
          <a:blip r:embed="rId5"/>
          <a:stretch>
            <a:fillRect/>
          </a:stretch>
        </p:blipFill>
        <p:spPr>
          <a:xfrm>
            <a:off x="5339538" y="4522899"/>
            <a:ext cx="5587012" cy="1328361"/>
          </a:xfrm>
          <a:prstGeom prst="rect">
            <a:avLst/>
          </a:prstGeom>
        </p:spPr>
      </p:pic>
      <p:sp>
        <p:nvSpPr>
          <p:cNvPr id="8" name="椭圆 7">
            <a:extLst>
              <a:ext uri="{FF2B5EF4-FFF2-40B4-BE49-F238E27FC236}">
                <a16:creationId xmlns:a16="http://schemas.microsoft.com/office/drawing/2014/main" id="{848A68D4-88DB-1413-DC7D-02617226A7AC}"/>
              </a:ext>
            </a:extLst>
          </p:cNvPr>
          <p:cNvSpPr/>
          <p:nvPr/>
        </p:nvSpPr>
        <p:spPr>
          <a:xfrm>
            <a:off x="8661400" y="4804139"/>
            <a:ext cx="1610360" cy="1101735"/>
          </a:xfrm>
          <a:prstGeom prst="ellipse">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55450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5912" y="677397"/>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将启发函数作为评价函数的搜索过程</a:t>
              </a:r>
            </a:p>
          </p:txBody>
        </p:sp>
      </p:grpSp>
      <p:sp>
        <p:nvSpPr>
          <p:cNvPr id="6" name="矩形 5">
            <a:extLst>
              <a:ext uri="{FF2B5EF4-FFF2-40B4-BE49-F238E27FC236}">
                <a16:creationId xmlns:a16="http://schemas.microsoft.com/office/drawing/2014/main" id="{8D9CFA6D-17D5-4DA9-A27A-A0C7A9D3BDC7}"/>
              </a:ext>
            </a:extLst>
          </p:cNvPr>
          <p:cNvSpPr/>
          <p:nvPr/>
        </p:nvSpPr>
        <p:spPr>
          <a:xfrm>
            <a:off x="0" y="4646207"/>
            <a:ext cx="6305107" cy="584775"/>
          </a:xfrm>
          <a:prstGeom prst="rect">
            <a:avLst/>
          </a:prstGeom>
        </p:spPr>
        <p:txBody>
          <a:bodyPr wrap="square">
            <a:spAutoFit/>
          </a:bodyPr>
          <a:lstStyle/>
          <a:p>
            <a:pPr algn="ctr"/>
            <a:r>
              <a:rPr lang="zh-CN" altLang="zh-CN" sz="1600" b="1" dirty="0">
                <a:latin typeface="Times New Roman" panose="02020603050405020304" pitchFamily="18" charset="0"/>
                <a:ea typeface="楷体_GB2312"/>
                <a:cs typeface="Times New Roman" panose="02020603050405020304" pitchFamily="18" charset="0"/>
              </a:rPr>
              <a:t>贪婪最佳优先搜索的过程。</a:t>
            </a:r>
            <a:endParaRPr lang="en-US" altLang="zh-CN" sz="1600" b="1" dirty="0">
              <a:latin typeface="Times New Roman" panose="02020603050405020304" pitchFamily="18" charset="0"/>
              <a:ea typeface="楷体_GB2312"/>
              <a:cs typeface="Times New Roman" panose="02020603050405020304" pitchFamily="18" charset="0"/>
            </a:endParaRPr>
          </a:p>
          <a:p>
            <a:pPr algn="ctr"/>
            <a:r>
              <a:rPr lang="zh-CN" altLang="zh-CN" sz="1600" b="1" dirty="0">
                <a:latin typeface="Times New Roman" panose="02020603050405020304" pitchFamily="18" charset="0"/>
                <a:ea typeface="楷体_GB2312"/>
                <a:cs typeface="Times New Roman" panose="02020603050405020304" pitchFamily="18" charset="0"/>
              </a:rPr>
              <a:t>图中边缘结点下数字表示其评价函数取值</a:t>
            </a:r>
            <a:endParaRPr lang="zh-CN" altLang="en-US" sz="1600" dirty="0"/>
          </a:p>
        </p:txBody>
      </p:sp>
      <p:sp>
        <p:nvSpPr>
          <p:cNvPr id="7" name="矩形 6">
            <a:extLst>
              <a:ext uri="{FF2B5EF4-FFF2-40B4-BE49-F238E27FC236}">
                <a16:creationId xmlns:a16="http://schemas.microsoft.com/office/drawing/2014/main" id="{C7F5933D-601F-4F45-9742-F4A8C3854E5C}"/>
              </a:ext>
            </a:extLst>
          </p:cNvPr>
          <p:cNvSpPr/>
          <p:nvPr/>
        </p:nvSpPr>
        <p:spPr>
          <a:xfrm>
            <a:off x="42530" y="5403057"/>
            <a:ext cx="6053470" cy="1107996"/>
          </a:xfrm>
          <a:prstGeom prst="rect">
            <a:avLst/>
          </a:prstGeom>
        </p:spPr>
        <p:txBody>
          <a:bodyPr wrap="square">
            <a:spAutoFit/>
          </a:bodyPr>
          <a:lstStyle/>
          <a:p>
            <a:pPr marL="285750" indent="-285750" algn="just">
              <a:spcBef>
                <a:spcPts val="600"/>
              </a:spcBef>
              <a:spcAft>
                <a:spcPts val="60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图中仍然用实线结点表示已经被扩展过的结点，虚线结点表示边缘结点。</a:t>
            </a:r>
            <a:endParaRPr lang="en-US" altLang="zh-CN" sz="14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spcBef>
                <a:spcPts val="600"/>
              </a:spcBef>
              <a:spcAft>
                <a:spcPts val="60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边缘结点下的数字表示该结点到目标结点的直线距离，这一距离取值被用来评价当前结点的后续结点选择。需要提醒的是，这一距离取值既是启发函数取值，也是评价函数取值。</a:t>
            </a:r>
          </a:p>
        </p:txBody>
      </p:sp>
      <p:sp>
        <p:nvSpPr>
          <p:cNvPr id="33" name="矩形 32">
            <a:extLst>
              <a:ext uri="{FF2B5EF4-FFF2-40B4-BE49-F238E27FC236}">
                <a16:creationId xmlns:a16="http://schemas.microsoft.com/office/drawing/2014/main" id="{5455B577-02C6-43EB-83A6-51830DAAEB9B}"/>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p:pic>
        <p:nvPicPr>
          <p:cNvPr id="8" name="图片 7">
            <a:extLst>
              <a:ext uri="{FF2B5EF4-FFF2-40B4-BE49-F238E27FC236}">
                <a16:creationId xmlns:a16="http://schemas.microsoft.com/office/drawing/2014/main" id="{DC2BD41E-9242-43E6-B960-5958F680919F}"/>
              </a:ext>
            </a:extLst>
          </p:cNvPr>
          <p:cNvPicPr>
            <a:picLocks noChangeAspect="1"/>
          </p:cNvPicPr>
          <p:nvPr/>
        </p:nvPicPr>
        <p:blipFill>
          <a:blip r:embed="rId3"/>
          <a:stretch>
            <a:fillRect/>
          </a:stretch>
        </p:blipFill>
        <p:spPr>
          <a:xfrm>
            <a:off x="1049918" y="1508077"/>
            <a:ext cx="4680191" cy="2946551"/>
          </a:xfrm>
          <a:prstGeom prst="rect">
            <a:avLst/>
          </a:prstGeom>
        </p:spPr>
      </p:pic>
      <p:pic>
        <p:nvPicPr>
          <p:cNvPr id="19" name="图片 18">
            <a:extLst>
              <a:ext uri="{FF2B5EF4-FFF2-40B4-BE49-F238E27FC236}">
                <a16:creationId xmlns:a16="http://schemas.microsoft.com/office/drawing/2014/main" id="{5069F323-F9D4-4DB2-B3BB-3098C5119814}"/>
              </a:ext>
            </a:extLst>
          </p:cNvPr>
          <p:cNvPicPr>
            <a:picLocks noChangeAspect="1"/>
          </p:cNvPicPr>
          <p:nvPr/>
        </p:nvPicPr>
        <p:blipFill>
          <a:blip r:embed="rId4"/>
          <a:stretch>
            <a:fillRect/>
          </a:stretch>
        </p:blipFill>
        <p:spPr>
          <a:xfrm>
            <a:off x="6751674" y="1436217"/>
            <a:ext cx="3689498" cy="2196541"/>
          </a:xfrm>
          <a:prstGeom prst="rect">
            <a:avLst/>
          </a:prstGeom>
        </p:spPr>
      </p:pic>
      <p:sp>
        <p:nvSpPr>
          <p:cNvPr id="20" name="矩形 19">
            <a:extLst>
              <a:ext uri="{FF2B5EF4-FFF2-40B4-BE49-F238E27FC236}">
                <a16:creationId xmlns:a16="http://schemas.microsoft.com/office/drawing/2014/main" id="{081A4D83-9AD2-4E2A-8998-5C251D38D668}"/>
              </a:ext>
            </a:extLst>
          </p:cNvPr>
          <p:cNvSpPr/>
          <p:nvPr/>
        </p:nvSpPr>
        <p:spPr>
          <a:xfrm>
            <a:off x="6645350" y="3635082"/>
            <a:ext cx="4315956" cy="523220"/>
          </a:xfrm>
          <a:prstGeom prst="rect">
            <a:avLst/>
          </a:prstGeom>
        </p:spPr>
        <p:txBody>
          <a:bodyPr wrap="square">
            <a:spAutoFit/>
          </a:bodyPr>
          <a:lstStyle/>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endParaRPr lang="zh-CN" altLang="en-US" sz="1400" dirty="0"/>
          </a:p>
        </p:txBody>
      </p:sp>
      <p:sp>
        <p:nvSpPr>
          <p:cNvPr id="21" name="矩形 20">
            <a:extLst>
              <a:ext uri="{FF2B5EF4-FFF2-40B4-BE49-F238E27FC236}">
                <a16:creationId xmlns:a16="http://schemas.microsoft.com/office/drawing/2014/main" id="{715E8EE0-3BF2-494C-8DCD-AB3072215D12}"/>
              </a:ext>
            </a:extLst>
          </p:cNvPr>
          <p:cNvSpPr/>
          <p:nvPr/>
        </p:nvSpPr>
        <p:spPr>
          <a:xfrm>
            <a:off x="6037751" y="5433828"/>
            <a:ext cx="6154249" cy="418063"/>
          </a:xfrm>
          <a:prstGeom prst="rect">
            <a:avLst/>
          </a:prstGeom>
        </p:spPr>
        <p:txBody>
          <a:bodyPr wrap="none">
            <a:spAutoFit/>
          </a:bodyPr>
          <a:lstStyle/>
          <a:p>
            <a:pPr indent="266700" algn="ctr">
              <a:lnSpc>
                <a:spcPct val="150000"/>
              </a:lnSpc>
              <a:spcBef>
                <a:spcPts val="600"/>
              </a:spcBef>
              <a:spcAft>
                <a:spcPts val="0"/>
              </a:spcAft>
            </a:pP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每个城市到目标城市（即城市</a:t>
            </a:r>
            <a:r>
              <a:rPr lang="en-US"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）的直线距离（启发函数取值）</a:t>
            </a:r>
          </a:p>
        </p:txBody>
      </p:sp>
      <p:pic>
        <p:nvPicPr>
          <p:cNvPr id="22" name="图片 21">
            <a:extLst>
              <a:ext uri="{FF2B5EF4-FFF2-40B4-BE49-F238E27FC236}">
                <a16:creationId xmlns:a16="http://schemas.microsoft.com/office/drawing/2014/main" id="{A0DAC852-2ACB-44BB-A70B-6A1FB20AFB60}"/>
              </a:ext>
            </a:extLst>
          </p:cNvPr>
          <p:cNvPicPr>
            <a:picLocks noChangeAspect="1"/>
          </p:cNvPicPr>
          <p:nvPr/>
        </p:nvPicPr>
        <p:blipFill>
          <a:blip r:embed="rId5"/>
          <a:stretch>
            <a:fillRect/>
          </a:stretch>
        </p:blipFill>
        <p:spPr>
          <a:xfrm>
            <a:off x="6396589" y="4188236"/>
            <a:ext cx="5587012" cy="1328361"/>
          </a:xfrm>
          <a:prstGeom prst="rect">
            <a:avLst/>
          </a:prstGeom>
        </p:spPr>
      </p:pic>
    </p:spTree>
    <p:extLst>
      <p:ext uri="{BB962C8B-B14F-4D97-AF65-F5344CB8AC3E}">
        <p14:creationId xmlns:p14="http://schemas.microsoft.com/office/powerpoint/2010/main" val="1980682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5912" y="677397"/>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将启发函数作为评价函数的搜索过程</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 name="矩形 5">
            <a:extLst>
              <a:ext uri="{FF2B5EF4-FFF2-40B4-BE49-F238E27FC236}">
                <a16:creationId xmlns:a16="http://schemas.microsoft.com/office/drawing/2014/main" id="{8D9CFA6D-17D5-4DA9-A27A-A0C7A9D3BDC7}"/>
              </a:ext>
            </a:extLst>
          </p:cNvPr>
          <p:cNvSpPr/>
          <p:nvPr/>
        </p:nvSpPr>
        <p:spPr>
          <a:xfrm>
            <a:off x="-209107" y="5560918"/>
            <a:ext cx="6305107" cy="338554"/>
          </a:xfrm>
          <a:prstGeom prst="rect">
            <a:avLst/>
          </a:prstGeom>
        </p:spPr>
        <p:txBody>
          <a:bodyPr wrap="square">
            <a:spAutoFit/>
          </a:bodyPr>
          <a:lstStyle/>
          <a:p>
            <a:pPr algn="ctr"/>
            <a:r>
              <a:rPr lang="zh-CN" altLang="zh-CN" sz="1600" b="1" dirty="0">
                <a:latin typeface="Times New Roman" panose="02020603050405020304" pitchFamily="18" charset="0"/>
                <a:ea typeface="楷体_GB2312"/>
                <a:cs typeface="Times New Roman" panose="02020603050405020304" pitchFamily="18" charset="0"/>
              </a:rPr>
              <a:t>贪婪最佳优先搜索的过程</a:t>
            </a:r>
            <a:endParaRPr lang="en-US" altLang="zh-CN" sz="1600" b="1" dirty="0">
              <a:latin typeface="Times New Roman" panose="02020603050405020304" pitchFamily="18" charset="0"/>
              <a:ea typeface="楷体_GB231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矩形: 圆角 6">
                <a:extLst>
                  <a:ext uri="{FF2B5EF4-FFF2-40B4-BE49-F238E27FC236}">
                    <a16:creationId xmlns:a16="http://schemas.microsoft.com/office/drawing/2014/main" id="{22F676B9-B172-47FC-ACE6-8EE0B94D8684}"/>
                  </a:ext>
                </a:extLst>
              </p:cNvPr>
              <p:cNvSpPr/>
              <p:nvPr/>
            </p:nvSpPr>
            <p:spPr>
              <a:xfrm>
                <a:off x="2591579" y="1457749"/>
                <a:ext cx="6608349" cy="1051438"/>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算法找到了一条从起始结点到目标结点的路径</a:t>
                </a:r>
                <a14:m>
                  <m:oMath xmlns:m="http://schemas.openxmlformats.org/officeDocument/2006/math">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H</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J</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K</m:t>
                    </m:r>
                  </m:oMath>
                </a14:m>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但这条路径并不是最短路径，实际上最短路径为</a:t>
                </a:r>
                <a14:m>
                  <m:oMath xmlns:m="http://schemas.openxmlformats.org/officeDocument/2006/math">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G</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K</m:t>
                    </m:r>
                  </m:oMath>
                </a14:m>
                <a:endPar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20" name="矩形: 圆角 6">
                <a:extLst>
                  <a:ext uri="{FF2B5EF4-FFF2-40B4-BE49-F238E27FC236}">
                    <a16:creationId xmlns:a16="http://schemas.microsoft.com/office/drawing/2014/main" id="{22F676B9-B172-47FC-ACE6-8EE0B94D8684}"/>
                  </a:ext>
                </a:extLst>
              </p:cNvPr>
              <p:cNvSpPr>
                <a:spLocks noRot="1" noChangeAspect="1" noMove="1" noResize="1" noEditPoints="1" noAdjustHandles="1" noChangeArrowheads="1" noChangeShapeType="1" noTextEdit="1"/>
              </p:cNvSpPr>
              <p:nvPr/>
            </p:nvSpPr>
            <p:spPr>
              <a:xfrm>
                <a:off x="2591579" y="1457749"/>
                <a:ext cx="6608349" cy="1051438"/>
              </a:xfrm>
              <a:prstGeom prst="roundRect">
                <a:avLst>
                  <a:gd name="adj" fmla="val 0"/>
                </a:avLst>
              </a:prstGeom>
              <a:blipFill>
                <a:blip r:embed="rId5"/>
                <a:stretch>
                  <a:fillRect l="-554"/>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2A2001BD-E3C9-410D-8DDE-21AA52354BF4}"/>
                  </a:ext>
                </a:extLst>
              </p:cNvPr>
              <p:cNvSpPr/>
              <p:nvPr/>
            </p:nvSpPr>
            <p:spPr>
              <a:xfrm>
                <a:off x="5494813" y="3113031"/>
                <a:ext cx="2842445" cy="369332"/>
              </a:xfrm>
              <a:prstGeom prst="rect">
                <a:avLst/>
              </a:prstGeom>
            </p:spPr>
            <p:txBody>
              <a:bodyPr wrap="none">
                <a:spAutoFit/>
              </a:bodyPr>
              <a:lstStyle/>
              <a:p>
                <a14:m>
                  <m:oMath xmlns:m="http://schemas.openxmlformats.org/officeDocument/2006/math">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H</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J</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K</m:t>
                    </m:r>
                  </m:oMath>
                </a14:m>
                <a:r>
                  <a:rPr lang="zh-CN" altLang="en-US" dirty="0">
                    <a:solidFill>
                      <a:schemeClr val="tx1"/>
                    </a:solidFill>
                    <a:effectLst/>
                  </a:rPr>
                  <a:t>  （</a:t>
                </a:r>
                <a:r>
                  <a:rPr lang="en-US" altLang="zh-CN" dirty="0">
                    <a:sym typeface="Wingdings 2" panose="05020102010507070707" pitchFamily="18" charset="2"/>
                  </a:rPr>
                  <a:t></a:t>
                </a:r>
                <a:r>
                  <a:rPr lang="zh-CN" altLang="en-US" dirty="0">
                    <a:solidFill>
                      <a:schemeClr val="tx1"/>
                    </a:solidFill>
                    <a:effectLst/>
                  </a:rPr>
                  <a:t>）</a:t>
                </a:r>
              </a:p>
            </p:txBody>
          </p:sp>
        </mc:Choice>
        <mc:Fallback xmlns="">
          <p:sp>
            <p:nvSpPr>
              <p:cNvPr id="9" name="矩形 8">
                <a:extLst>
                  <a:ext uri="{FF2B5EF4-FFF2-40B4-BE49-F238E27FC236}">
                    <a16:creationId xmlns:a16="http://schemas.microsoft.com/office/drawing/2014/main" id="{2A2001BD-E3C9-410D-8DDE-21AA52354BF4}"/>
                  </a:ext>
                </a:extLst>
              </p:cNvPr>
              <p:cNvSpPr>
                <a:spLocks noRot="1" noChangeAspect="1" noMove="1" noResize="1" noEditPoints="1" noAdjustHandles="1" noChangeArrowheads="1" noChangeShapeType="1" noTextEdit="1"/>
              </p:cNvSpPr>
              <p:nvPr/>
            </p:nvSpPr>
            <p:spPr>
              <a:xfrm>
                <a:off x="5494813" y="3113031"/>
                <a:ext cx="2842445" cy="369332"/>
              </a:xfrm>
              <a:prstGeom prst="rect">
                <a:avLst/>
              </a:prstGeom>
              <a:blipFill>
                <a:blip r:embed="rId6"/>
                <a:stretch>
                  <a:fillRect t="-15000" r="-1071"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A77729A-CEDB-4C4F-AAD4-832BF2F7FCBF}"/>
                  </a:ext>
                </a:extLst>
              </p:cNvPr>
              <p:cNvSpPr/>
              <p:nvPr/>
            </p:nvSpPr>
            <p:spPr>
              <a:xfrm>
                <a:off x="8905528" y="4188307"/>
                <a:ext cx="2226892" cy="369332"/>
              </a:xfrm>
              <a:prstGeom prst="rect">
                <a:avLst/>
              </a:prstGeom>
            </p:spPr>
            <p:txBody>
              <a:bodyPr wrap="none">
                <a:spAutoFit/>
              </a:bodyPr>
              <a:lstStyle/>
              <a:p>
                <a14:m>
                  <m:oMath xmlns:m="http://schemas.openxmlformats.org/officeDocument/2006/math">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G</m:t>
                    </m:r>
                    <m: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K</m:t>
                    </m:r>
                  </m:oMath>
                </a14:m>
                <a:r>
                  <a:rPr lang="zh-CN" altLang="en-US" dirty="0">
                    <a:solidFill>
                      <a:schemeClr val="tx1"/>
                    </a:solidFill>
                    <a:effectLst/>
                  </a:rPr>
                  <a:t> </a:t>
                </a:r>
                <a:r>
                  <a:rPr lang="en-US" altLang="zh-CN" dirty="0">
                    <a:solidFill>
                      <a:schemeClr val="tx1"/>
                    </a:solidFill>
                    <a:effectLst/>
                  </a:rPr>
                  <a:t>(</a:t>
                </a:r>
                <a:r>
                  <a:rPr lang="zh-CN" altLang="en-US" dirty="0">
                    <a:solidFill>
                      <a:schemeClr val="tx1"/>
                    </a:solidFill>
                    <a:effectLst/>
                  </a:rPr>
                  <a:t>✔</a:t>
                </a:r>
                <a:r>
                  <a:rPr lang="en-US" altLang="zh-CN" dirty="0">
                    <a:solidFill>
                      <a:schemeClr val="tx1"/>
                    </a:solidFill>
                    <a:effectLst/>
                  </a:rPr>
                  <a:t>)</a:t>
                </a:r>
                <a:endParaRPr lang="zh-CN" altLang="en-US" dirty="0">
                  <a:solidFill>
                    <a:schemeClr val="tx1"/>
                  </a:solidFill>
                  <a:effectLst/>
                </a:endParaRPr>
              </a:p>
            </p:txBody>
          </p:sp>
        </mc:Choice>
        <mc:Fallback xmlns="">
          <p:sp>
            <p:nvSpPr>
              <p:cNvPr id="10" name="矩形 9">
                <a:extLst>
                  <a:ext uri="{FF2B5EF4-FFF2-40B4-BE49-F238E27FC236}">
                    <a16:creationId xmlns:a16="http://schemas.microsoft.com/office/drawing/2014/main" id="{AA77729A-CEDB-4C4F-AAD4-832BF2F7FCBF}"/>
                  </a:ext>
                </a:extLst>
              </p:cNvPr>
              <p:cNvSpPr>
                <a:spLocks noRot="1" noChangeAspect="1" noMove="1" noResize="1" noEditPoints="1" noAdjustHandles="1" noChangeArrowheads="1" noChangeShapeType="1" noTextEdit="1"/>
              </p:cNvSpPr>
              <p:nvPr/>
            </p:nvSpPr>
            <p:spPr>
              <a:xfrm>
                <a:off x="8905528" y="4188307"/>
                <a:ext cx="2226892" cy="369332"/>
              </a:xfrm>
              <a:prstGeom prst="rect">
                <a:avLst/>
              </a:prstGeom>
              <a:blipFill>
                <a:blip r:embed="rId7"/>
                <a:stretch>
                  <a:fillRect t="-9836" r="-1918" b="-24590"/>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20054F60-85E7-484D-83D5-1FEA20DAC282}"/>
              </a:ext>
            </a:extLst>
          </p:cNvPr>
          <p:cNvSpPr/>
          <p:nvPr/>
        </p:nvSpPr>
        <p:spPr>
          <a:xfrm>
            <a:off x="7268201" y="4637080"/>
            <a:ext cx="5198473" cy="338554"/>
          </a:xfrm>
          <a:prstGeom prst="rect">
            <a:avLst/>
          </a:prstGeom>
        </p:spPr>
        <p:txBody>
          <a:bodyPr wrap="square">
            <a:spAutoFit/>
          </a:bodyPr>
          <a:lstStyle/>
          <a:p>
            <a:pPr algn="ctr"/>
            <a:r>
              <a:rPr lang="zh-CN" altLang="en-US" sz="1600" b="1" kern="100" dirty="0">
                <a:latin typeface="微软雅黑" panose="020B0503020204020204" pitchFamily="34" charset="-122"/>
                <a:ea typeface="微软雅黑" panose="020B0503020204020204" pitchFamily="34" charset="-122"/>
                <a:cs typeface="Times New Roman" panose="02020603050405020304" pitchFamily="18" charset="0"/>
              </a:rPr>
              <a:t>真正的最短路线</a:t>
            </a:r>
            <a:endParaRPr lang="zh-CN" altLang="en-US" sz="1600" dirty="0"/>
          </a:p>
        </p:txBody>
      </p:sp>
      <p:sp>
        <p:nvSpPr>
          <p:cNvPr id="33" name="矩形 32">
            <a:extLst>
              <a:ext uri="{FF2B5EF4-FFF2-40B4-BE49-F238E27FC236}">
                <a16:creationId xmlns:a16="http://schemas.microsoft.com/office/drawing/2014/main" id="{6F59C62C-559E-4E5F-8FC1-926B0450572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p:pic>
        <p:nvPicPr>
          <p:cNvPr id="17" name="图片 16">
            <a:extLst>
              <a:ext uri="{FF2B5EF4-FFF2-40B4-BE49-F238E27FC236}">
                <a16:creationId xmlns:a16="http://schemas.microsoft.com/office/drawing/2014/main" id="{4FD248F4-1CD4-4AFE-A0EC-AC99554A00A1}"/>
              </a:ext>
            </a:extLst>
          </p:cNvPr>
          <p:cNvPicPr>
            <a:picLocks noChangeAspect="1"/>
          </p:cNvPicPr>
          <p:nvPr/>
        </p:nvPicPr>
        <p:blipFill>
          <a:blip r:embed="rId8"/>
          <a:stretch>
            <a:fillRect/>
          </a:stretch>
        </p:blipFill>
        <p:spPr>
          <a:xfrm>
            <a:off x="1196453" y="3017546"/>
            <a:ext cx="3618420" cy="2278082"/>
          </a:xfrm>
          <a:prstGeom prst="rect">
            <a:avLst/>
          </a:prstGeom>
        </p:spPr>
      </p:pic>
      <p:pic>
        <p:nvPicPr>
          <p:cNvPr id="18" name="图片 17">
            <a:extLst>
              <a:ext uri="{FF2B5EF4-FFF2-40B4-BE49-F238E27FC236}">
                <a16:creationId xmlns:a16="http://schemas.microsoft.com/office/drawing/2014/main" id="{88D02753-31D4-4291-A3E6-FF01278203FF}"/>
              </a:ext>
            </a:extLst>
          </p:cNvPr>
          <p:cNvPicPr>
            <a:picLocks noChangeAspect="1"/>
          </p:cNvPicPr>
          <p:nvPr/>
        </p:nvPicPr>
        <p:blipFill>
          <a:blip r:embed="rId9"/>
          <a:stretch>
            <a:fillRect/>
          </a:stretch>
        </p:blipFill>
        <p:spPr>
          <a:xfrm>
            <a:off x="5178055" y="3549475"/>
            <a:ext cx="3086827" cy="1837741"/>
          </a:xfrm>
          <a:prstGeom prst="rect">
            <a:avLst/>
          </a:prstGeom>
        </p:spPr>
      </p:pic>
      <p:sp>
        <p:nvSpPr>
          <p:cNvPr id="19" name="矩形 18">
            <a:extLst>
              <a:ext uri="{FF2B5EF4-FFF2-40B4-BE49-F238E27FC236}">
                <a16:creationId xmlns:a16="http://schemas.microsoft.com/office/drawing/2014/main" id="{E09A664E-7DAB-4A8B-B470-37593CA7F83D}"/>
              </a:ext>
            </a:extLst>
          </p:cNvPr>
          <p:cNvSpPr/>
          <p:nvPr/>
        </p:nvSpPr>
        <p:spPr>
          <a:xfrm>
            <a:off x="4696479" y="5405470"/>
            <a:ext cx="4315956" cy="523220"/>
          </a:xfrm>
          <a:prstGeom prst="rect">
            <a:avLst/>
          </a:prstGeom>
        </p:spPr>
        <p:txBody>
          <a:bodyPr wrap="square">
            <a:spAutoFit/>
          </a:bodyPr>
          <a:lstStyle/>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endParaRPr lang="zh-CN" altLang="en-US" sz="1400" dirty="0"/>
          </a:p>
        </p:txBody>
      </p:sp>
    </p:spTree>
    <p:extLst>
      <p:ext uri="{BB962C8B-B14F-4D97-AF65-F5344CB8AC3E}">
        <p14:creationId xmlns:p14="http://schemas.microsoft.com/office/powerpoint/2010/main" val="114742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26746" y="884732"/>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为什么会失败</a:t>
              </a:r>
            </a:p>
          </p:txBody>
        </p:sp>
      </p:grpSp>
      <p:grpSp>
        <p:nvGrpSpPr>
          <p:cNvPr id="17" name="组合 16">
            <a:extLst>
              <a:ext uri="{FF2B5EF4-FFF2-40B4-BE49-F238E27FC236}">
                <a16:creationId xmlns:a16="http://schemas.microsoft.com/office/drawing/2014/main" id="{7034ED62-C418-4586-9B5A-28C934339FE9}"/>
              </a:ext>
            </a:extLst>
          </p:cNvPr>
          <p:cNvGrpSpPr/>
          <p:nvPr/>
        </p:nvGrpSpPr>
        <p:grpSpPr>
          <a:xfrm>
            <a:off x="1809492" y="781723"/>
            <a:ext cx="818922" cy="818922"/>
            <a:chOff x="4082479" y="2760704"/>
            <a:chExt cx="1485324" cy="1485324"/>
          </a:xfrm>
        </p:grpSpPr>
        <p:sp>
          <p:nvSpPr>
            <p:cNvPr id="18" name="立方体 17">
              <a:extLst>
                <a:ext uri="{FF2B5EF4-FFF2-40B4-BE49-F238E27FC236}">
                  <a16:creationId xmlns:a16="http://schemas.microsoft.com/office/drawing/2014/main" id="{EFBAE2D9-A561-48E7-BF6C-DE8BCA261ABA}"/>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E9170F1F-D7C0-4D8E-AECE-765479728150}"/>
                </a:ext>
              </a:extLst>
            </p:cNvPr>
            <p:cNvGrpSpPr/>
            <p:nvPr/>
          </p:nvGrpSpPr>
          <p:grpSpPr>
            <a:xfrm>
              <a:off x="4494284" y="2979307"/>
              <a:ext cx="607190" cy="1121821"/>
              <a:chOff x="9632752" y="7542709"/>
              <a:chExt cx="890113" cy="1644542"/>
            </a:xfrm>
          </p:grpSpPr>
          <p:sp>
            <p:nvSpPr>
              <p:cNvPr id="22" name="任意多边形 30">
                <a:extLst>
                  <a:ext uri="{FF2B5EF4-FFF2-40B4-BE49-F238E27FC236}">
                    <a16:creationId xmlns:a16="http://schemas.microsoft.com/office/drawing/2014/main" id="{20416DE1-D910-4080-BBDE-9ADCA6A98992}"/>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3" name="任意多边形 28">
                <a:extLst>
                  <a:ext uri="{FF2B5EF4-FFF2-40B4-BE49-F238E27FC236}">
                    <a16:creationId xmlns:a16="http://schemas.microsoft.com/office/drawing/2014/main" id="{3C441208-D5C6-4372-B0A6-C42A43857112}"/>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9DD6681-64A9-4EB7-B39E-DECC6FBF8A6D}"/>
                  </a:ext>
                </a:extLst>
              </p:cNvPr>
              <p:cNvSpPr/>
              <p:nvPr/>
            </p:nvSpPr>
            <p:spPr>
              <a:xfrm>
                <a:off x="852473" y="1914804"/>
                <a:ext cx="6096000" cy="4026359"/>
              </a:xfrm>
              <a:prstGeom prst="rect">
                <a:avLst/>
              </a:prstGeom>
            </p:spPr>
            <p:txBody>
              <a:bodyPr>
                <a:spAutoFit/>
              </a:bodyPr>
              <a:lstStyle/>
              <a:p>
                <a:pPr marL="285750" indent="-285750" algn="just">
                  <a:lnSpc>
                    <a:spcPts val="22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贪婪最佳优先搜索算法采用了排除环路的剪枝方法，因此它是完备的，即总是可以找到一个解。但是该算法并不是最优的。</a:t>
                </a:r>
              </a:p>
              <a:p>
                <a:pPr marL="285750" indent="-285750" algn="just">
                  <a:lnSpc>
                    <a:spcPts val="22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在最坏的情况下，贪婪最佳优先搜索算法</a:t>
                </a:r>
                <a:r>
                  <a:rPr lang="zh-CN" altLang="zh-CN" dirty="0">
                    <a:solidFill>
                      <a:schemeClr val="accent2"/>
                    </a:solidFill>
                    <a:latin typeface="Times New Roman" panose="02020603050405020304" pitchFamily="18" charset="0"/>
                    <a:ea typeface="楷体_GB2312"/>
                    <a:cs typeface="Times New Roman" panose="02020603050405020304" pitchFamily="18" charset="0"/>
                  </a:rPr>
                  <a:t>时间和空间复杂度均为</a:t>
                </a:r>
                <a14:m>
                  <m:oMath xmlns:m="http://schemas.openxmlformats.org/officeDocument/2006/math">
                    <m:r>
                      <m:rPr>
                        <m:sty m:val="p"/>
                      </m:rPr>
                      <a:rPr lang="en-US" altLang="zh-CN">
                        <a:solidFill>
                          <a:schemeClr val="accent2"/>
                        </a:solidFill>
                        <a:latin typeface="Cambria Math" panose="02040503050406030204" pitchFamily="18" charset="0"/>
                        <a:ea typeface="楷体_GB2312"/>
                        <a:cs typeface="Times New Roman" panose="02020603050405020304" pitchFamily="18" charset="0"/>
                      </a:rPr>
                      <m:t>O</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𝑏</m:t>
                        </m:r>
                      </m:e>
                      <m:sup>
                        <m:r>
                          <a:rPr lang="en-US" altLang="zh-CN" i="1">
                            <a:solidFill>
                              <a:schemeClr val="accent2"/>
                            </a:solidFill>
                            <a:latin typeface="Cambria Math" panose="02040503050406030204" pitchFamily="18" charset="0"/>
                            <a:ea typeface="楷体_GB2312"/>
                            <a:cs typeface="Times New Roman" panose="02020603050405020304" pitchFamily="18" charset="0"/>
                          </a:rPr>
                          <m:t>𝑚</m:t>
                        </m:r>
                      </m:sup>
                    </m:sSup>
                    <m:r>
                      <a:rPr lang="en-US" altLang="zh-CN" i="1">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𝑏</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𝑚</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分别表示搜索树的分支因子和最大深度。</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spcAft>
                    <a:spcPts val="0"/>
                  </a:spcAft>
                  <a:buFont typeface="Wingdings" panose="05000000000000000000" pitchFamily="2" charset="2"/>
                  <a:buChar char="l"/>
                </a:pPr>
                <a:r>
                  <a:rPr lang="zh-CN" altLang="zh-CN" dirty="0">
                    <a:solidFill>
                      <a:schemeClr val="accent2"/>
                    </a:solidFill>
                    <a:latin typeface="Times New Roman" panose="02020603050405020304" pitchFamily="18" charset="0"/>
                    <a:ea typeface="楷体_GB2312"/>
                    <a:cs typeface="Times New Roman" panose="02020603050405020304" pitchFamily="18" charset="0"/>
                  </a:rPr>
                  <a:t>贪婪最佳优先搜索算法的问题在于其总是贪婪地扩展与目标结点之间代价最小（直线距离最近）的结点，而不考虑从初始结点到达该结点所需的代价。</a:t>
                </a:r>
              </a:p>
              <a:p>
                <a:pPr marL="285750" indent="-285750" algn="just">
                  <a:lnSpc>
                    <a:spcPts val="22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在</a:t>
                </a:r>
                <a:r>
                  <a:rPr lang="zh-CN" altLang="en-US" dirty="0">
                    <a:solidFill>
                      <a:srgbClr val="000000"/>
                    </a:solidFill>
                    <a:latin typeface="Times New Roman" panose="02020603050405020304" pitchFamily="18" charset="0"/>
                    <a:ea typeface="楷体_GB2312"/>
                    <a:cs typeface="Times New Roman" panose="02020603050405020304" pitchFamily="18" charset="0"/>
                  </a:rPr>
                  <a:t>上述搜索步骤</a:t>
                </a:r>
                <a:r>
                  <a:rPr lang="zh-CN" altLang="zh-CN" dirty="0">
                    <a:solidFill>
                      <a:srgbClr val="000000"/>
                    </a:solidFill>
                    <a:latin typeface="Times New Roman" panose="02020603050405020304" pitchFamily="18" charset="0"/>
                    <a:ea typeface="楷体_GB2312"/>
                    <a:cs typeface="Times New Roman" panose="02020603050405020304" pitchFamily="18" charset="0"/>
                  </a:rPr>
                  <a:t>中，虽然第四步扩展的</a:t>
                </a:r>
                <a:r>
                  <a:rPr lang="en-US" altLang="zh-CN" dirty="0">
                    <a:solidFill>
                      <a:srgbClr val="000000"/>
                    </a:solidFill>
                    <a:latin typeface="Times New Roman" panose="02020603050405020304" pitchFamily="18" charset="0"/>
                    <a:ea typeface="楷体_GB2312"/>
                    <a:cs typeface="Times New Roman" panose="02020603050405020304" pitchFamily="18" charset="0"/>
                  </a:rPr>
                  <a:t>J</a:t>
                </a:r>
                <a:r>
                  <a:rPr lang="zh-CN" altLang="zh-CN" dirty="0">
                    <a:solidFill>
                      <a:srgbClr val="000000"/>
                    </a:solidFill>
                    <a:latin typeface="Times New Roman" panose="02020603050405020304" pitchFamily="18" charset="0"/>
                    <a:ea typeface="楷体_GB2312"/>
                    <a:cs typeface="Times New Roman" panose="02020603050405020304" pitchFamily="18" charset="0"/>
                  </a:rPr>
                  <a:t>结点距离目标结点的估计代价很小（取值为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3</a:t>
                </a:r>
                <a:r>
                  <a:rPr lang="zh-CN" altLang="zh-CN" dirty="0">
                    <a:solidFill>
                      <a:srgbClr val="000000"/>
                    </a:solidFill>
                    <a:latin typeface="Times New Roman" panose="02020603050405020304" pitchFamily="18" charset="0"/>
                    <a:ea typeface="楷体_GB2312"/>
                    <a:cs typeface="Times New Roman" panose="02020603050405020304" pitchFamily="18" charset="0"/>
                  </a:rPr>
                  <a:t>），但从起始结点到达该结点的路径</a:t>
                </a:r>
                <a14:m>
                  <m:oMath xmlns:m="http://schemas.openxmlformats.org/officeDocument/2006/math">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A</m:t>
                    </m:r>
                    <m:r>
                      <a:rPr lang="en-US" altLang="zh-CN">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E</m:t>
                    </m:r>
                    <m:r>
                      <a:rPr lang="en-US" altLang="zh-CN">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H</m:t>
                    </m:r>
                    <m:r>
                      <a:rPr lang="en-US" altLang="zh-CN">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J</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代价为</a:t>
                </a:r>
                <a:r>
                  <a:rPr lang="en-US" altLang="zh-CN" dirty="0">
                    <a:solidFill>
                      <a:srgbClr val="000000"/>
                    </a:solidFill>
                    <a:latin typeface="Times New Roman" panose="02020603050405020304" pitchFamily="18" charset="0"/>
                    <a:ea typeface="楷体_GB2312"/>
                    <a:cs typeface="Times New Roman" panose="02020603050405020304" pitchFamily="18" charset="0"/>
                  </a:rPr>
                  <a:t>17</a:t>
                </a:r>
                <a:r>
                  <a:rPr lang="zh-CN" altLang="zh-CN" dirty="0">
                    <a:solidFill>
                      <a:srgbClr val="000000"/>
                    </a:solidFill>
                    <a:latin typeface="Times New Roman" panose="02020603050405020304" pitchFamily="18" charset="0"/>
                    <a:ea typeface="楷体_GB2312"/>
                    <a:cs typeface="Times New Roman" panose="02020603050405020304" pitchFamily="18" charset="0"/>
                  </a:rPr>
                  <a:t>，已经超过了实际上最短路径的代价（值为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14</a:t>
                </a:r>
                <a:r>
                  <a:rPr lang="zh-CN" altLang="zh-CN" dirty="0">
                    <a:solidFill>
                      <a:srgbClr val="000000"/>
                    </a:solidFill>
                    <a:latin typeface="Times New Roman" panose="02020603050405020304" pitchFamily="18" charset="0"/>
                    <a:ea typeface="楷体_GB2312"/>
                    <a:cs typeface="Times New Roman" panose="02020603050405020304" pitchFamily="18" charset="0"/>
                  </a:rPr>
                  <a:t>），因此路径</a:t>
                </a:r>
                <a14:m>
                  <m:oMath xmlns:m="http://schemas.openxmlformats.org/officeDocument/2006/math">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A</m:t>
                    </m:r>
                    <m:r>
                      <a:rPr lang="en-US" altLang="zh-CN">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E</m:t>
                    </m:r>
                    <m:r>
                      <a:rPr lang="en-US" altLang="zh-CN">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H</m:t>
                    </m:r>
                    <m:r>
                      <a:rPr lang="en-US" altLang="zh-CN">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J</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并不是一个好的探索方向。</a:t>
                </a:r>
              </a:p>
            </p:txBody>
          </p:sp>
        </mc:Choice>
        <mc:Fallback xmlns="">
          <p:sp>
            <p:nvSpPr>
              <p:cNvPr id="7" name="矩形 6">
                <a:extLst>
                  <a:ext uri="{FF2B5EF4-FFF2-40B4-BE49-F238E27FC236}">
                    <a16:creationId xmlns:a16="http://schemas.microsoft.com/office/drawing/2014/main" id="{D9DD6681-64A9-4EB7-B39E-DECC6FBF8A6D}"/>
                  </a:ext>
                </a:extLst>
              </p:cNvPr>
              <p:cNvSpPr>
                <a:spLocks noRot="1" noChangeAspect="1" noMove="1" noResize="1" noEditPoints="1" noAdjustHandles="1" noChangeArrowheads="1" noChangeShapeType="1" noTextEdit="1"/>
              </p:cNvSpPr>
              <p:nvPr/>
            </p:nvSpPr>
            <p:spPr>
              <a:xfrm>
                <a:off x="852473" y="1914804"/>
                <a:ext cx="6096000" cy="4026359"/>
              </a:xfrm>
              <a:prstGeom prst="rect">
                <a:avLst/>
              </a:prstGeom>
              <a:blipFill>
                <a:blip r:embed="rId3"/>
                <a:stretch>
                  <a:fillRect l="-700" t="-1059" r="-800" b="-136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6C68705D-CB9A-40CD-98CA-68F9D9439406}"/>
              </a:ext>
            </a:extLst>
          </p:cNvPr>
          <p:cNvPicPr>
            <a:picLocks noChangeAspect="1"/>
          </p:cNvPicPr>
          <p:nvPr/>
        </p:nvPicPr>
        <p:blipFill>
          <a:blip r:embed="rId4"/>
          <a:stretch>
            <a:fillRect/>
          </a:stretch>
        </p:blipFill>
        <p:spPr>
          <a:xfrm rot="18793260">
            <a:off x="7746695" y="953025"/>
            <a:ext cx="2113750" cy="541881"/>
          </a:xfrm>
          <a:prstGeom prst="rect">
            <a:avLst/>
          </a:prstGeom>
        </p:spPr>
      </p:pic>
      <p:sp>
        <p:nvSpPr>
          <p:cNvPr id="37" name="矩形 36">
            <a:extLst>
              <a:ext uri="{FF2B5EF4-FFF2-40B4-BE49-F238E27FC236}">
                <a16:creationId xmlns:a16="http://schemas.microsoft.com/office/drawing/2014/main" id="{7D517504-809F-4750-BA67-2B0E3782414C}"/>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p:pic>
        <p:nvPicPr>
          <p:cNvPr id="24" name="图片 23">
            <a:extLst>
              <a:ext uri="{FF2B5EF4-FFF2-40B4-BE49-F238E27FC236}">
                <a16:creationId xmlns:a16="http://schemas.microsoft.com/office/drawing/2014/main" id="{B5C177BB-B0F3-4D20-A42D-2074E7EF7C59}"/>
              </a:ext>
            </a:extLst>
          </p:cNvPr>
          <p:cNvPicPr>
            <a:picLocks noChangeAspect="1"/>
          </p:cNvPicPr>
          <p:nvPr/>
        </p:nvPicPr>
        <p:blipFill>
          <a:blip r:embed="rId5"/>
          <a:stretch>
            <a:fillRect/>
          </a:stretch>
        </p:blipFill>
        <p:spPr>
          <a:xfrm>
            <a:off x="7618228" y="2349925"/>
            <a:ext cx="2815696" cy="1676323"/>
          </a:xfrm>
          <a:prstGeom prst="rect">
            <a:avLst/>
          </a:prstGeom>
        </p:spPr>
      </p:pic>
      <p:sp>
        <p:nvSpPr>
          <p:cNvPr id="27" name="矩形 26">
            <a:extLst>
              <a:ext uri="{FF2B5EF4-FFF2-40B4-BE49-F238E27FC236}">
                <a16:creationId xmlns:a16="http://schemas.microsoft.com/office/drawing/2014/main" id="{F8C5C390-D954-42E0-A30E-A7376A90C634}"/>
              </a:ext>
            </a:extLst>
          </p:cNvPr>
          <p:cNvSpPr/>
          <p:nvPr/>
        </p:nvSpPr>
        <p:spPr>
          <a:xfrm>
            <a:off x="6902734" y="4173306"/>
            <a:ext cx="4315956" cy="523220"/>
          </a:xfrm>
          <a:prstGeom prst="rect">
            <a:avLst/>
          </a:prstGeom>
        </p:spPr>
        <p:txBody>
          <a:bodyPr wrap="square">
            <a:spAutoFit/>
          </a:bodyPr>
          <a:lstStyle/>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endParaRPr lang="zh-CN" altLang="en-US" sz="1400" dirty="0"/>
          </a:p>
        </p:txBody>
      </p:sp>
      <p:sp>
        <p:nvSpPr>
          <p:cNvPr id="28" name="矩形 27">
            <a:extLst>
              <a:ext uri="{FF2B5EF4-FFF2-40B4-BE49-F238E27FC236}">
                <a16:creationId xmlns:a16="http://schemas.microsoft.com/office/drawing/2014/main" id="{28FF6F88-49F0-4BD0-BED1-D1008CE239FC}"/>
              </a:ext>
            </a:extLst>
          </p:cNvPr>
          <p:cNvSpPr/>
          <p:nvPr/>
        </p:nvSpPr>
        <p:spPr>
          <a:xfrm>
            <a:off x="6835670" y="5856554"/>
            <a:ext cx="5440912" cy="377283"/>
          </a:xfrm>
          <a:prstGeom prst="rect">
            <a:avLst/>
          </a:prstGeom>
        </p:spPr>
        <p:txBody>
          <a:bodyPr wrap="none">
            <a:spAutoFit/>
          </a:bodyPr>
          <a:lstStyle/>
          <a:p>
            <a:pPr indent="266700" algn="ctr">
              <a:lnSpc>
                <a:spcPct val="150000"/>
              </a:lnSpc>
              <a:spcBef>
                <a:spcPts val="600"/>
              </a:spcBef>
              <a:spcAft>
                <a:spcPts val="0"/>
              </a:spcAft>
            </a:pPr>
            <a:r>
              <a:rPr lang="zh-CN" altLang="zh-CN" sz="1400" b="1" kern="100" dirty="0">
                <a:latin typeface="Times New Roman" panose="02020603050405020304" pitchFamily="18" charset="0"/>
                <a:ea typeface="微软雅黑" panose="020B0503020204020204" pitchFamily="34" charset="-122"/>
                <a:cs typeface="Times New Roman" panose="02020603050405020304" pitchFamily="18" charset="0"/>
              </a:rPr>
              <a:t>每个城市到目标城市（即城市</a:t>
            </a:r>
            <a:r>
              <a:rPr lang="en-US" altLang="zh-CN" sz="1400" b="1" kern="100"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400" b="1" kern="100" dirty="0">
                <a:latin typeface="Times New Roman" panose="02020603050405020304" pitchFamily="18" charset="0"/>
                <a:ea typeface="微软雅黑" panose="020B0503020204020204" pitchFamily="34" charset="-122"/>
                <a:cs typeface="Times New Roman" panose="02020603050405020304" pitchFamily="18" charset="0"/>
              </a:rPr>
              <a:t>）的直线距离（启发函数取值）</a:t>
            </a:r>
          </a:p>
        </p:txBody>
      </p:sp>
      <p:pic>
        <p:nvPicPr>
          <p:cNvPr id="29" name="图片 28">
            <a:extLst>
              <a:ext uri="{FF2B5EF4-FFF2-40B4-BE49-F238E27FC236}">
                <a16:creationId xmlns:a16="http://schemas.microsoft.com/office/drawing/2014/main" id="{2A29EC22-638F-4D17-A90A-2E02303C61CC}"/>
              </a:ext>
            </a:extLst>
          </p:cNvPr>
          <p:cNvPicPr>
            <a:picLocks noChangeAspect="1"/>
          </p:cNvPicPr>
          <p:nvPr/>
        </p:nvPicPr>
        <p:blipFill>
          <a:blip r:embed="rId6"/>
          <a:stretch>
            <a:fillRect/>
          </a:stretch>
        </p:blipFill>
        <p:spPr>
          <a:xfrm>
            <a:off x="7390637" y="4943720"/>
            <a:ext cx="3948890" cy="938883"/>
          </a:xfrm>
          <a:prstGeom prst="rect">
            <a:avLst/>
          </a:prstGeom>
        </p:spPr>
      </p:pic>
    </p:spTree>
    <p:extLst>
      <p:ext uri="{BB962C8B-B14F-4D97-AF65-F5344CB8AC3E}">
        <p14:creationId xmlns:p14="http://schemas.microsoft.com/office/powerpoint/2010/main" val="2077704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5912" y="677397"/>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en-US" altLang="zh-CN" sz="1600" b="1" dirty="0">
                  <a:solidFill>
                    <a:srgbClr val="000000"/>
                  </a:solidFill>
                  <a:latin typeface="Times New Roman" panose="02020603050405020304" pitchFamily="18" charset="0"/>
                  <a:ea typeface="楷体_GB2312"/>
                </a:rPr>
                <a:t>A*</a:t>
              </a:r>
              <a:r>
                <a:rPr lang="zh-CN" altLang="en-US" sz="1600" b="1" dirty="0">
                  <a:solidFill>
                    <a:srgbClr val="000000"/>
                  </a:solidFill>
                  <a:latin typeface="Times New Roman" panose="02020603050405020304" pitchFamily="18" charset="0"/>
                  <a:ea typeface="楷体_GB2312"/>
                </a:rPr>
                <a:t>搜索算法</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：评价函数和启发函数各司其职</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4061771123"/>
                  </p:ext>
                </p:extLst>
              </p:nvPr>
            </p:nvGraphicFramePr>
            <p:xfrm>
              <a:off x="1834558" y="3231224"/>
              <a:ext cx="8692309" cy="1767840"/>
            </p:xfrm>
            <a:graphic>
              <a:graphicData uri="http://schemas.openxmlformats.org/drawingml/2006/table">
                <a:tbl>
                  <a:tblPr firstRow="1" bandRow="1">
                    <a:tableStyleId>{5C22544A-7EE6-4342-B048-85BDC9FD1C3A}</a:tableStyleId>
                  </a:tblPr>
                  <a:tblGrid>
                    <a:gridCol w="3065694">
                      <a:extLst>
                        <a:ext uri="{9D8B030D-6E8A-4147-A177-3AD203B41FA5}">
                          <a16:colId xmlns:a16="http://schemas.microsoft.com/office/drawing/2014/main" val="20000"/>
                        </a:ext>
                      </a:extLst>
                    </a:gridCol>
                    <a:gridCol w="3348680">
                      <a:extLst>
                        <a:ext uri="{9D8B030D-6E8A-4147-A177-3AD203B41FA5}">
                          <a16:colId xmlns:a16="http://schemas.microsoft.com/office/drawing/2014/main" val="20001"/>
                        </a:ext>
                      </a:extLst>
                    </a:gridCol>
                    <a:gridCol w="2277935">
                      <a:extLst>
                        <a:ext uri="{9D8B030D-6E8A-4147-A177-3AD203B41FA5}">
                          <a16:colId xmlns:a16="http://schemas.microsoft.com/office/drawing/2014/main" val="20002"/>
                        </a:ext>
                      </a:extLst>
                    </a:gridCol>
                  </a:tblGrid>
                  <a:tr h="496154">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辅助信息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所求解问题之外、与所求解</a:t>
                          </a:r>
                          <a:endParaRPr lang="en-US" altLang="zh-CN"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问题相关的特定信息或知识。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92257">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evaluation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endParaRPr lang="zh-CN" altLang="en-US"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从当前节点</a:t>
                          </a:r>
                          <a14:m>
                            <m:oMath xmlns:m="http://schemas.openxmlformats.org/officeDocument/2006/math">
                              <m:r>
                                <a:rPr lang="en-US" altLang="zh-CN" sz="1400" b="1" i="1" smtClean="0">
                                  <a:latin typeface="Cambria Math"/>
                                  <a:ea typeface="黑体" panose="02010609060101010101" pitchFamily="49" charset="-122"/>
                                </a:rPr>
                                <m:t>𝒏</m:t>
                              </m:r>
                            </m:oMath>
                          </a14:m>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出发，根据评价函数来选择后续结点。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下一个结点是谁？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03224">
                    <a:tc>
                      <a:txBody>
                        <a:bodyPr/>
                        <a:lstStyle/>
                        <a:p>
                          <a:pPr marL="0" algn="ctr" defTabSz="685800" rtl="0" eaLnBrk="1" latinLnBrk="0" hangingPunct="1"/>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heuristic</a:t>
                          </a:r>
                          <a:r>
                            <a:rPr lang="en-US" altLang="zh-CN" sz="1400" b="1" baseline="0" dirty="0">
                              <a:latin typeface="华文楷体" panose="02010600040101010101" pitchFamily="2" charset="-122"/>
                              <a:ea typeface="华文楷体" panose="02010600040101010101" pitchFamily="2" charset="-122"/>
                              <a:cs typeface="Times New Roman" panose="02020603050405020304" pitchFamily="18" charset="0"/>
                            </a:rPr>
                            <a:t>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计算从结点</a:t>
                          </a:r>
                          <a14:m>
                            <m:oMath xmlns:m="http://schemas.openxmlformats.org/officeDocument/2006/math">
                              <m:r>
                                <a:rPr lang="en-US" altLang="zh-CN" sz="1400" b="1" i="1" smtClean="0">
                                  <a:latin typeface="Cambria Math"/>
                                  <a:ea typeface="黑体" panose="02010609060101010101" pitchFamily="49" charset="-122"/>
                                </a:rPr>
                                <m:t>𝒏</m:t>
                              </m:r>
                            </m:oMath>
                          </a14:m>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到目标结点之间所形成路径的最小代价值，这里将两点之间的直线距离作为启发函数。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完成任务还需要多少代价？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10" name="表格 9">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4061771123"/>
                  </p:ext>
                </p:extLst>
              </p:nvPr>
            </p:nvGraphicFramePr>
            <p:xfrm>
              <a:off x="1834558" y="3231224"/>
              <a:ext cx="8692309" cy="1767840"/>
            </p:xfrm>
            <a:graphic>
              <a:graphicData uri="http://schemas.openxmlformats.org/drawingml/2006/table">
                <a:tbl>
                  <a:tblPr firstRow="1" bandRow="1">
                    <a:tableStyleId>{5C22544A-7EE6-4342-B048-85BDC9FD1C3A}</a:tableStyleId>
                  </a:tblPr>
                  <a:tblGrid>
                    <a:gridCol w="3065694">
                      <a:extLst>
                        <a:ext uri="{9D8B030D-6E8A-4147-A177-3AD203B41FA5}">
                          <a16:colId xmlns:a16="http://schemas.microsoft.com/office/drawing/2014/main" val="20000"/>
                        </a:ext>
                      </a:extLst>
                    </a:gridCol>
                    <a:gridCol w="3348680">
                      <a:extLst>
                        <a:ext uri="{9D8B030D-6E8A-4147-A177-3AD203B41FA5}">
                          <a16:colId xmlns:a16="http://schemas.microsoft.com/office/drawing/2014/main" val="20001"/>
                        </a:ext>
                      </a:extLst>
                    </a:gridCol>
                    <a:gridCol w="2277935">
                      <a:extLst>
                        <a:ext uri="{9D8B030D-6E8A-4147-A177-3AD203B41FA5}">
                          <a16:colId xmlns:a16="http://schemas.microsoft.com/office/drawing/2014/main" val="20002"/>
                        </a:ext>
                      </a:extLst>
                    </a:gridCol>
                  </a:tblGrid>
                  <a:tr h="518160">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辅助信息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所求解问题之外、与所求解</a:t>
                          </a:r>
                          <a:endParaRPr lang="en-US" altLang="zh-CN"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问题相关的特定信息或知识。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8160">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evaluation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endParaRPr lang="zh-CN" altLang="en-US" sz="14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636" t="-101163" r="-68364" b="-151163"/>
                          </a:stretch>
                        </a:blip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下一个结点是谁？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31520">
                    <a:tc>
                      <a:txBody>
                        <a:bodyPr/>
                        <a:lstStyle/>
                        <a:p>
                          <a:pPr marL="0" algn="ctr" defTabSz="685800" rtl="0" eaLnBrk="1" latinLnBrk="0" hangingPunct="1"/>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400" b="1" dirty="0">
                              <a:latin typeface="华文楷体" panose="02010600040101010101" pitchFamily="2" charset="-122"/>
                              <a:ea typeface="华文楷体" panose="02010600040101010101" pitchFamily="2" charset="-122"/>
                              <a:cs typeface="Times New Roman" panose="02020603050405020304" pitchFamily="18" charset="0"/>
                            </a:rPr>
                            <a:t>heuristic</a:t>
                          </a:r>
                          <a:r>
                            <a:rPr lang="en-US" altLang="zh-CN" sz="1400" b="1" baseline="0" dirty="0">
                              <a:latin typeface="华文楷体" panose="02010600040101010101" pitchFamily="2" charset="-122"/>
                              <a:ea typeface="华文楷体" panose="02010600040101010101" pitchFamily="2" charset="-122"/>
                              <a:cs typeface="Times New Roman" panose="02020603050405020304" pitchFamily="18" charset="0"/>
                            </a:rPr>
                            <a:t> function</a:t>
                          </a: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4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636" t="-144167" r="-68364" b="-8333"/>
                          </a:stretch>
                        </a:blipFill>
                      </a:tcPr>
                    </a:tc>
                    <a:tc>
                      <a:txBody>
                        <a:bodyPr/>
                        <a:lstStyle/>
                        <a:p>
                          <a:pPr algn="ctr"/>
                          <a:r>
                            <a:rPr lang="zh-CN" altLang="en-US" sz="1400" b="1" dirty="0">
                              <a:latin typeface="华文楷体" panose="02010600040101010101" pitchFamily="2" charset="-122"/>
                              <a:ea typeface="华文楷体" panose="02010600040101010101" pitchFamily="2" charset="-122"/>
                              <a:cs typeface="Times New Roman" panose="02020603050405020304" pitchFamily="18" charset="0"/>
                            </a:rPr>
                            <a:t>完成任务还需要多少代价？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Fallback>
      </mc:AlternateContent>
      <p:sp>
        <p:nvSpPr>
          <p:cNvPr id="22" name="矩形: 圆角 6">
            <a:extLst>
              <a:ext uri="{FF2B5EF4-FFF2-40B4-BE49-F238E27FC236}">
                <a16:creationId xmlns:a16="http://schemas.microsoft.com/office/drawing/2014/main" id="{7CD9D1DD-A65A-4A75-9673-4D31693AC207}"/>
              </a:ext>
            </a:extLst>
          </p:cNvPr>
          <p:cNvSpPr/>
          <p:nvPr/>
        </p:nvSpPr>
        <p:spPr>
          <a:xfrm>
            <a:off x="1466155" y="1305776"/>
            <a:ext cx="9187668" cy="48382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530084CD-18F6-48BC-9F6E-FC5025989A1F}"/>
              </a:ext>
            </a:extLst>
          </p:cNvPr>
          <p:cNvSpPr/>
          <p:nvPr/>
        </p:nvSpPr>
        <p:spPr>
          <a:xfrm>
            <a:off x="1685260" y="1100759"/>
            <a:ext cx="8990907" cy="602857"/>
          </a:xfrm>
          <a:prstGeom prst="rect">
            <a:avLst/>
          </a:prstGeom>
        </p:spPr>
        <p:txBody>
          <a:bodyPr wrap="square">
            <a:spAutoFit/>
          </a:bodyPr>
          <a:lstStyle/>
          <a:p>
            <a:pPr algn="ctr">
              <a:lnSpc>
                <a:spcPct val="250000"/>
              </a:lnSpc>
              <a:buClr>
                <a:schemeClr val="bg1"/>
              </a:buClr>
              <a:buSzPct val="80000"/>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在评价函数中考虑从起始结点到当前结点的路径代价</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4C5D89EB-40EE-49E1-A914-0FE85A8787FB}"/>
                  </a:ext>
                </a:extLst>
              </p:cNvPr>
              <p:cNvSpPr/>
              <p:nvPr/>
            </p:nvSpPr>
            <p:spPr>
              <a:xfrm>
                <a:off x="1992371" y="2011219"/>
                <a:ext cx="8376684" cy="1015984"/>
              </a:xfrm>
              <a:prstGeom prst="rect">
                <a:avLst/>
              </a:prstGeom>
              <a:solidFill>
                <a:srgbClr val="01717E"/>
              </a:solidFill>
            </p:spPr>
            <p:txBody>
              <a:bodyPr wrap="square">
                <a:spAutoFit/>
              </a:bodyPr>
              <a:lstStyle/>
              <a:p>
                <a:pPr/>
                <a14:m>
                  <m:oMathPara xmlns:m="http://schemas.openxmlformats.org/officeDocument/2006/math">
                    <m:oMathParaPr>
                      <m:jc m:val="center"/>
                    </m:oMathParaPr>
                    <m:oMath xmlns:m="http://schemas.openxmlformats.org/officeDocument/2006/math">
                      <m:limLow>
                        <m:limLowPr>
                          <m:ctrlPr>
                            <a:rPr lang="zh-CN" altLang="en-US" i="1" smtClean="0">
                              <a:solidFill>
                                <a:schemeClr val="bg1"/>
                              </a:solidFill>
                              <a:latin typeface="Cambria Math" panose="02040503050406030204" pitchFamily="18" charset="0"/>
                            </a:rPr>
                          </m:ctrlPr>
                        </m:limLowPr>
                        <m:e>
                          <m:groupChr>
                            <m:groupChrPr>
                              <m:chr m:val="⏟"/>
                              <m:ctrlPr>
                                <a:rPr lang="zh-CN" altLang="en-US" i="1">
                                  <a:solidFill>
                                    <a:schemeClr val="bg1"/>
                                  </a:solidFill>
                                  <a:latin typeface="Cambria Math" panose="02040503050406030204" pitchFamily="18" charset="0"/>
                                </a:rPr>
                              </m:ctrlPr>
                            </m:groupChrPr>
                            <m:e>
                              <m:r>
                                <a:rPr lang="zh-CN" altLang="en-US" i="1">
                                  <a:solidFill>
                                    <a:schemeClr val="bg1"/>
                                  </a:solidFill>
                                  <a:latin typeface="Cambria Math" panose="02040503050406030204" pitchFamily="18" charset="0"/>
                                </a:rPr>
                                <m:t>𝑓</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e>
                          </m:groupChr>
                        </m:e>
                        <m:lim>
                          <m:eqArr>
                            <m:eqArrPr>
                              <m:ctrlPr>
                                <a:rPr lang="zh-CN" altLang="en-US" i="1">
                                  <a:solidFill>
                                    <a:schemeClr val="bg1"/>
                                  </a:solidFill>
                                  <a:latin typeface="Cambria Math" panose="02040503050406030204" pitchFamily="18" charset="0"/>
                                </a:rPr>
                              </m:ctrlPr>
                            </m:eqArrPr>
                            <m:e>
                              <m:r>
                                <a:rPr lang="zh-CN" altLang="en-US" i="0">
                                  <a:solidFill>
                                    <a:schemeClr val="bg1"/>
                                  </a:solidFill>
                                  <a:latin typeface="Cambria Math" panose="02040503050406030204" pitchFamily="18" charset="0"/>
                                </a:rPr>
                                <m:t>&amp;</m:t>
                              </m:r>
                              <m:r>
                                <a:rPr lang="zh-CN" altLang="en-US" i="0">
                                  <a:solidFill>
                                    <a:schemeClr val="bg1"/>
                                  </a:solidFill>
                                  <a:latin typeface="Cambria Math" panose="02040503050406030204" pitchFamily="18" charset="0"/>
                                </a:rPr>
                                <m:t>评价函数</m:t>
                              </m:r>
                            </m:e>
                            <m:e>
                              <m:r>
                                <a:rPr lang="zh-CN" altLang="en-US" i="0">
                                  <a:solidFill>
                                    <a:schemeClr val="bg1"/>
                                  </a:solidFill>
                                  <a:latin typeface="Cambria Math" panose="02040503050406030204" pitchFamily="18" charset="0"/>
                                </a:rPr>
                                <m:t>&amp;</m:t>
                              </m:r>
                              <m:d>
                                <m:dPr>
                                  <m:begChr m:val=""/>
                                  <m:ctrlPr>
                                    <a:rPr lang="zh-CN" altLang="en-US" i="1">
                                      <a:solidFill>
                                        <a:schemeClr val="bg1"/>
                                      </a:solidFill>
                                      <a:latin typeface="Cambria Math" panose="02040503050406030204" pitchFamily="18" charset="0"/>
                                    </a:rPr>
                                  </m:ctrlPr>
                                </m:dPr>
                                <m:e>
                                  <m:r>
                                    <a:rPr lang="zh-CN" altLang="en-US" i="0">
                                      <a:solidFill>
                                        <a:schemeClr val="bg1"/>
                                      </a:solidFill>
                                      <a:latin typeface="Cambria Math" panose="02040503050406030204" pitchFamily="18" charset="0"/>
                                    </a:rPr>
                                    <m:t>(</m:t>
                                  </m:r>
                                  <m:r>
                                    <a:rPr lang="zh-CN" altLang="en-US" i="0">
                                      <a:solidFill>
                                        <a:schemeClr val="bg1"/>
                                      </a:solidFill>
                                      <a:latin typeface="Cambria Math" panose="02040503050406030204" pitchFamily="18" charset="0"/>
                                    </a:rPr>
                                    <m:t>选择后续结点</m:t>
                                  </m:r>
                                </m:e>
                              </m:d>
                            </m:e>
                          </m:eqArr>
                        </m:lim>
                      </m:limLow>
                      <m:r>
                        <a:rPr lang="zh-CN" altLang="en-US" i="0">
                          <a:solidFill>
                            <a:schemeClr val="bg1"/>
                          </a:solidFill>
                          <a:latin typeface="Cambria Math" panose="02040503050406030204" pitchFamily="18" charset="0"/>
                        </a:rPr>
                        <m:t>=</m:t>
                      </m:r>
                      <m:limLow>
                        <m:limLowPr>
                          <m:ctrlPr>
                            <a:rPr lang="zh-CN" altLang="en-US" i="1">
                              <a:solidFill>
                                <a:schemeClr val="bg1"/>
                              </a:solidFill>
                              <a:latin typeface="Cambria Math" panose="02040503050406030204" pitchFamily="18" charset="0"/>
                            </a:rPr>
                          </m:ctrlPr>
                        </m:limLowPr>
                        <m:e>
                          <m:groupChr>
                            <m:groupChrPr>
                              <m:chr m:val="⏟"/>
                              <m:ctrlPr>
                                <a:rPr lang="zh-CN" altLang="en-US" i="1">
                                  <a:solidFill>
                                    <a:schemeClr val="bg1"/>
                                  </a:solidFill>
                                  <a:latin typeface="Cambria Math" panose="02040503050406030204" pitchFamily="18" charset="0"/>
                                </a:rPr>
                              </m:ctrlPr>
                            </m:groupChrPr>
                            <m:e>
                              <m:r>
                                <a:rPr lang="zh-CN" altLang="en-US" i="1">
                                  <a:solidFill>
                                    <a:schemeClr val="bg1"/>
                                  </a:solidFill>
                                  <a:latin typeface="Cambria Math" panose="02040503050406030204" pitchFamily="18" charset="0"/>
                                </a:rPr>
                                <m:t>𝑔</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e>
                          </m:groupChr>
                        </m:e>
                        <m:lim>
                          <m:eqArr>
                            <m:eqArrPr>
                              <m:ctrlPr>
                                <a:rPr lang="zh-CN" altLang="en-US" i="1">
                                  <a:solidFill>
                                    <a:schemeClr val="bg1"/>
                                  </a:solidFill>
                                  <a:latin typeface="Cambria Math" panose="02040503050406030204" pitchFamily="18" charset="0"/>
                                </a:rPr>
                              </m:ctrlPr>
                            </m:eqArrPr>
                            <m:e>
                              <m:r>
                                <a:rPr lang="zh-CN" altLang="en-US" i="0">
                                  <a:solidFill>
                                    <a:schemeClr val="bg1"/>
                                  </a:solidFill>
                                  <a:latin typeface="Cambria Math" panose="02040503050406030204" pitchFamily="18" charset="0"/>
                                </a:rPr>
                                <m:t>&amp;</m:t>
                              </m:r>
                              <m:r>
                                <a:rPr lang="zh-CN" altLang="en-US" i="0">
                                  <a:solidFill>
                                    <a:schemeClr val="bg1"/>
                                  </a:solidFill>
                                  <a:latin typeface="Cambria Math" panose="02040503050406030204" pitchFamily="18" charset="0"/>
                                </a:rPr>
                                <m:t>起始结点到结点</m:t>
                              </m:r>
                              <m:r>
                                <a:rPr lang="zh-CN" altLang="en-US" i="1">
                                  <a:solidFill>
                                    <a:schemeClr val="bg1"/>
                                  </a:solidFill>
                                  <a:latin typeface="Cambria Math" panose="02040503050406030204" pitchFamily="18" charset="0"/>
                                </a:rPr>
                                <m:t>𝑛</m:t>
                              </m:r>
                              <m:r>
                                <a:rPr lang="zh-CN" altLang="en-US" i="0">
                                  <a:solidFill>
                                    <a:schemeClr val="bg1"/>
                                  </a:solidFill>
                                  <a:latin typeface="Cambria Math" panose="02040503050406030204" pitchFamily="18" charset="0"/>
                                </a:rPr>
                                <m:t>代价</m:t>
                              </m:r>
                            </m:e>
                            <m:e>
                              <m:r>
                                <a:rPr lang="zh-CN" altLang="en-US" i="0">
                                  <a:solidFill>
                                    <a:schemeClr val="bg1"/>
                                  </a:solidFill>
                                  <a:latin typeface="Cambria Math" panose="02040503050406030204" pitchFamily="18" charset="0"/>
                                </a:rPr>
                                <m:t>&amp;</m:t>
                              </m:r>
                              <m:d>
                                <m:dPr>
                                  <m:begChr m:val=""/>
                                  <m:ctrlPr>
                                    <a:rPr lang="zh-CN" altLang="en-US" i="1">
                                      <a:solidFill>
                                        <a:schemeClr val="bg1"/>
                                      </a:solidFill>
                                      <a:latin typeface="Cambria Math" panose="02040503050406030204" pitchFamily="18" charset="0"/>
                                    </a:rPr>
                                  </m:ctrlPr>
                                </m:dPr>
                                <m:e>
                                  <m:r>
                                    <a:rPr lang="en-US" altLang="zh-CN" b="0" i="0" smtClean="0">
                                      <a:solidFill>
                                        <a:schemeClr val="bg1"/>
                                      </a:solidFill>
                                      <a:latin typeface="Cambria Math" panose="02040503050406030204" pitchFamily="18" charset="0"/>
                                    </a:rPr>
                                    <m:t>       </m:t>
                                  </m:r>
                                  <m:r>
                                    <a:rPr lang="zh-CN" altLang="en-US" i="0">
                                      <a:solidFill>
                                        <a:schemeClr val="bg1"/>
                                      </a:solidFill>
                                      <a:latin typeface="Cambria Math" panose="02040503050406030204" pitchFamily="18" charset="0"/>
                                    </a:rPr>
                                    <m:t>(</m:t>
                                  </m:r>
                                  <m:r>
                                    <a:rPr lang="zh-CN" altLang="en-US" i="0">
                                      <a:solidFill>
                                        <a:schemeClr val="bg1"/>
                                      </a:solidFill>
                                      <a:latin typeface="Cambria Math" panose="02040503050406030204" pitchFamily="18" charset="0"/>
                                    </a:rPr>
                                    <m:t>当前最小代价</m:t>
                                  </m:r>
                                </m:e>
                              </m:d>
                            </m:e>
                          </m:eqArr>
                        </m:lim>
                      </m:limLow>
                      <m:r>
                        <a:rPr lang="zh-CN" altLang="en-US" i="0">
                          <a:solidFill>
                            <a:schemeClr val="bg1"/>
                          </a:solidFill>
                          <a:latin typeface="Cambria Math" panose="02040503050406030204" pitchFamily="18" charset="0"/>
                        </a:rPr>
                        <m:t>+    </m:t>
                      </m:r>
                      <m:limLow>
                        <m:limLowPr>
                          <m:ctrlPr>
                            <a:rPr lang="zh-CN" altLang="en-US" i="1">
                              <a:solidFill>
                                <a:schemeClr val="bg1"/>
                              </a:solidFill>
                              <a:latin typeface="Cambria Math" panose="02040503050406030204" pitchFamily="18" charset="0"/>
                            </a:rPr>
                          </m:ctrlPr>
                        </m:limLowPr>
                        <m:e>
                          <m:groupChr>
                            <m:groupChrPr>
                              <m:chr m:val="⏟"/>
                              <m:ctrlPr>
                                <a:rPr lang="zh-CN" altLang="en-US" i="1">
                                  <a:solidFill>
                                    <a:schemeClr val="bg1"/>
                                  </a:solidFill>
                                  <a:latin typeface="Cambria Math" panose="02040503050406030204" pitchFamily="18" charset="0"/>
                                </a:rPr>
                              </m:ctrlPr>
                            </m:groupChrPr>
                            <m:e>
                              <m:d>
                                <m:dPr>
                                  <m:begChr m:val=""/>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h</m:t>
                                  </m:r>
                                  <m:r>
                                    <a:rPr lang="zh-CN" altLang="en-US" i="0">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𝑛</m:t>
                                  </m:r>
                                </m:e>
                              </m:d>
                            </m:e>
                          </m:groupChr>
                        </m:e>
                        <m:lim>
                          <m:eqArr>
                            <m:eqArrPr>
                              <m:ctrlPr>
                                <a:rPr lang="zh-CN" altLang="en-US" i="1">
                                  <a:solidFill>
                                    <a:schemeClr val="bg1"/>
                                  </a:solidFill>
                                  <a:latin typeface="Cambria Math" panose="02040503050406030204" pitchFamily="18" charset="0"/>
                                </a:rPr>
                              </m:ctrlPr>
                            </m:eqArrPr>
                            <m:e>
                              <m:r>
                                <a:rPr lang="zh-CN" altLang="en-US" i="0">
                                  <a:solidFill>
                                    <a:schemeClr val="bg1"/>
                                  </a:solidFill>
                                  <a:latin typeface="Cambria Math" panose="02040503050406030204" pitchFamily="18" charset="0"/>
                                </a:rPr>
                                <m:t>&amp;</m:t>
                              </m:r>
                              <m:r>
                                <a:rPr lang="zh-CN" altLang="en-US" i="0">
                                  <a:solidFill>
                                    <a:schemeClr val="bg1"/>
                                  </a:solidFill>
                                  <a:latin typeface="Cambria Math" panose="02040503050406030204" pitchFamily="18" charset="0"/>
                                </a:rPr>
                                <m:t>结点</m:t>
                              </m:r>
                              <m:r>
                                <a:rPr lang="zh-CN" altLang="en-US" i="1">
                                  <a:solidFill>
                                    <a:schemeClr val="bg1"/>
                                  </a:solidFill>
                                  <a:latin typeface="Cambria Math" panose="02040503050406030204" pitchFamily="18" charset="0"/>
                                </a:rPr>
                                <m:t>𝑛</m:t>
                              </m:r>
                              <m:r>
                                <a:rPr lang="zh-CN" altLang="en-US" i="0">
                                  <a:solidFill>
                                    <a:schemeClr val="bg1"/>
                                  </a:solidFill>
                                  <a:latin typeface="Cambria Math" panose="02040503050406030204" pitchFamily="18" charset="0"/>
                                </a:rPr>
                                <m:t>到目标结点代价</m:t>
                              </m:r>
                            </m:e>
                            <m:e>
                              <m:r>
                                <a:rPr lang="zh-CN" altLang="en-US" i="0">
                                  <a:solidFill>
                                    <a:schemeClr val="bg1"/>
                                  </a:solidFill>
                                  <a:latin typeface="Cambria Math" panose="02040503050406030204" pitchFamily="18" charset="0"/>
                                </a:rPr>
                                <m:t>&amp;</m:t>
                              </m:r>
                              <m:d>
                                <m:dPr>
                                  <m:begChr m:val=""/>
                                  <m:ctrlPr>
                                    <a:rPr lang="zh-CN" altLang="en-US" i="1">
                                      <a:solidFill>
                                        <a:schemeClr val="bg1"/>
                                      </a:solidFill>
                                      <a:latin typeface="Cambria Math" panose="02040503050406030204" pitchFamily="18" charset="0"/>
                                    </a:rPr>
                                  </m:ctrlPr>
                                </m:dPr>
                                <m:e>
                                  <m:r>
                                    <a:rPr lang="zh-CN" altLang="en-US" i="0">
                                      <a:solidFill>
                                        <a:schemeClr val="bg1"/>
                                      </a:solidFill>
                                      <a:latin typeface="Cambria Math" panose="02040503050406030204" pitchFamily="18" charset="0"/>
                                    </a:rPr>
                                    <m:t>(</m:t>
                                  </m:r>
                                  <m:r>
                                    <a:rPr lang="zh-CN" altLang="en-US" i="0">
                                      <a:solidFill>
                                        <a:schemeClr val="bg1"/>
                                      </a:solidFill>
                                      <a:latin typeface="Cambria Math" panose="02040503050406030204" pitchFamily="18" charset="0"/>
                                    </a:rPr>
                                    <m:t>后续估计最小代价</m:t>
                                  </m:r>
                                </m:e>
                              </m:d>
                            </m:e>
                          </m:eqArr>
                        </m:lim>
                      </m:limLow>
                    </m:oMath>
                  </m:oMathPara>
                </a14:m>
                <a:endParaRPr lang="zh-CN" altLang="en-US" dirty="0">
                  <a:solidFill>
                    <a:schemeClr val="bg1"/>
                  </a:solidFill>
                </a:endParaRPr>
              </a:p>
            </p:txBody>
          </p:sp>
        </mc:Choice>
        <mc:Fallback xmlns="">
          <p:sp>
            <p:nvSpPr>
              <p:cNvPr id="6" name="矩形 5">
                <a:extLst>
                  <a:ext uri="{FF2B5EF4-FFF2-40B4-BE49-F238E27FC236}">
                    <a16:creationId xmlns:a16="http://schemas.microsoft.com/office/drawing/2014/main" id="{4C5D89EB-40EE-49E1-A914-0FE85A8787FB}"/>
                  </a:ext>
                </a:extLst>
              </p:cNvPr>
              <p:cNvSpPr>
                <a:spLocks noRot="1" noChangeAspect="1" noMove="1" noResize="1" noEditPoints="1" noAdjustHandles="1" noChangeArrowheads="1" noChangeShapeType="1" noTextEdit="1"/>
              </p:cNvSpPr>
              <p:nvPr/>
            </p:nvSpPr>
            <p:spPr>
              <a:xfrm>
                <a:off x="1992371" y="2011219"/>
                <a:ext cx="8376684" cy="1015984"/>
              </a:xfrm>
              <a:prstGeom prst="rect">
                <a:avLst/>
              </a:prstGeom>
              <a:blipFill>
                <a:blip r:embed="rId4"/>
                <a:stretch>
                  <a:fillRect t="-43114" b="-946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B359B2DE-4B83-4F65-9ACD-2E88A459C0FE}"/>
                  </a:ext>
                </a:extLst>
              </p:cNvPr>
              <p:cNvSpPr/>
              <p:nvPr/>
            </p:nvSpPr>
            <p:spPr>
              <a:xfrm>
                <a:off x="765543" y="5147957"/>
                <a:ext cx="11270512" cy="1156727"/>
              </a:xfrm>
              <a:prstGeom prst="rect">
                <a:avLst/>
              </a:prstGeom>
            </p:spPr>
            <p:txBody>
              <a:bodyPr wrap="square">
                <a:spAutoFit/>
              </a:bodyPr>
              <a:lstStyle/>
              <a:p>
                <a:pPr algn="ct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定义从起始结点到结点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的路径代价函数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𝑔</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，在此基础上评价函数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d>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被修改为：</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d>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𝑔</m:t>
                    </m:r>
                    <m:d>
                      <m:d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d>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h</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，即评价函数等于从起始结点到达结点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的的实际代价取值与结点</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到目标结点估计代价取值之和。根据每个结点的评价函数之值不断选择后续结点的搜索算法被称为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算法</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B359B2DE-4B83-4F65-9ACD-2E88A459C0FE}"/>
                  </a:ext>
                </a:extLst>
              </p:cNvPr>
              <p:cNvSpPr>
                <a:spLocks noRot="1" noChangeAspect="1" noMove="1" noResize="1" noEditPoints="1" noAdjustHandles="1" noChangeArrowheads="1" noChangeShapeType="1" noTextEdit="1"/>
              </p:cNvSpPr>
              <p:nvPr/>
            </p:nvSpPr>
            <p:spPr>
              <a:xfrm>
                <a:off x="765543" y="5147957"/>
                <a:ext cx="11270512" cy="1156727"/>
              </a:xfrm>
              <a:prstGeom prst="rect">
                <a:avLst/>
              </a:prstGeom>
              <a:blipFill>
                <a:blip r:embed="rId5"/>
                <a:stretch>
                  <a:fillRect b="-57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9261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5912" y="677397"/>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en-US" altLang="zh-CN" sz="1600" b="1" dirty="0">
                  <a:solidFill>
                    <a:srgbClr val="000000"/>
                  </a:solidFill>
                  <a:latin typeface="Times New Roman" panose="02020603050405020304" pitchFamily="18" charset="0"/>
                  <a:ea typeface="楷体_GB2312"/>
                </a:rPr>
                <a:t>A*</a:t>
              </a:r>
              <a:r>
                <a:rPr lang="zh-CN" altLang="en-US" sz="1600" b="1" dirty="0">
                  <a:solidFill>
                    <a:srgbClr val="000000"/>
                  </a:solidFill>
                  <a:latin typeface="Times New Roman" panose="02020603050405020304" pitchFamily="18" charset="0"/>
                  <a:ea typeface="楷体_GB2312"/>
                </a:rPr>
                <a:t>搜索算法</a:t>
              </a:r>
              <a:r>
                <a:rPr lang="zh-CN" altLang="en-US" sz="1600" b="1" dirty="0">
                  <a:solidFill>
                    <a:srgbClr val="000000"/>
                  </a:solidFill>
                  <a:latin typeface="微软雅黑" panose="020B0503020204020204" pitchFamily="34" charset="-122"/>
                  <a:ea typeface="微软雅黑" panose="020B0503020204020204" pitchFamily="34" charset="-122"/>
                </a:rPr>
                <a:t>搜索过程</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3069515-8183-4BBE-9BA0-45DD838BF12E}"/>
                  </a:ext>
                </a:extLst>
              </p:cNvPr>
              <p:cNvSpPr/>
              <p:nvPr/>
            </p:nvSpPr>
            <p:spPr>
              <a:xfrm>
                <a:off x="192876" y="1355230"/>
                <a:ext cx="6298982" cy="5102038"/>
              </a:xfrm>
              <a:prstGeom prst="rect">
                <a:avLst/>
              </a:prstGeom>
            </p:spPr>
            <p:txBody>
              <a:bodyPr wrap="square">
                <a:spAutoFit/>
              </a:bodyPr>
              <a:lstStyle/>
              <a:p>
                <a:pPr marL="285750" indent="-285750" algn="just">
                  <a:lnSpc>
                    <a:spcPts val="22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3.5</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中用实线结点表示已经被扩展过的结点，虚线结点表示边缘结点。每个边缘结点下方等式即为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𝑔</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h</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的取值。</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首先扩展根结点（起始结点）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，得到三个边缘结点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。其中路径</a:t>
                </a:r>
                <a14:m>
                  <m:oMath xmlns:m="http://schemas.openxmlformats.org/officeDocument/2006/math">
                    <m:r>
                      <m:rPr>
                        <m:sty m:val="p"/>
                      </m:rPr>
                      <a:rPr lang="en-US" altLang="zh-CN" sz="1600">
                        <a:latin typeface="Cambria Math" panose="02040503050406030204" pitchFamily="18" charset="0"/>
                      </a:rPr>
                      <m:t>A</m:t>
                    </m:r>
                    <m:r>
                      <a:rPr lang="en-US" altLang="zh-CN" sz="1600">
                        <a:latin typeface="Cambria Math" panose="02040503050406030204" pitchFamily="18" charset="0"/>
                      </a:rPr>
                      <m:t>→</m:t>
                    </m:r>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的实际代价为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的启发函数取值为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，因此结点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的评价函数取值为</a:t>
                </a:r>
                <a14:m>
                  <m:oMath xmlns:m="http://schemas.openxmlformats.org/officeDocument/2006/math">
                    <m:r>
                      <a:rPr lang="en-US" altLang="zh-CN" sz="1600" i="1">
                        <a:latin typeface="Cambria Math" panose="02040503050406030204" pitchFamily="18" charset="0"/>
                      </a:rPr>
                      <m:t>5+10=15</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。同理可算出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的评价函数值分别为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15</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13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。算法选择评价函数值最小的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结点进行扩展，得到评价函数取值分别为</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13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14</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19</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的三个新的边缘结点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。算法从当前边缘集合中选择评价函数值最小的结点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进行扩展，得到评价函数值为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18</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的两个结点。到目前为止，算法的流程和贪婪最佳优先搜索保持一致，两者区别体现在下一步操作上。</a:t>
                </a:r>
              </a:p>
              <a:p>
                <a:pPr marL="285750" indent="-285750">
                  <a:buFont typeface="Wingdings" panose="05000000000000000000" pitchFamily="2" charset="2"/>
                  <a:buChar char="l"/>
                </a:pP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不同于贪婪最佳优先搜索选择扩展结点</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J</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算法选择扩展评价函数值最小的第三层中结点</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m:rPr>
                        <m:sty m:val="p"/>
                      </m:rPr>
                      <a:rPr lang="en-US" altLang="zh-CN" sz="1600">
                        <a:solidFill>
                          <a:schemeClr val="accent2"/>
                        </a:solidFill>
                        <a:latin typeface="Cambria Math" panose="02040503050406030204" pitchFamily="18" charset="0"/>
                      </a:rPr>
                      <m:t>A</m:t>
                    </m:r>
                    <m:r>
                      <a:rPr lang="en-US" altLang="zh-CN" sz="1600">
                        <a:solidFill>
                          <a:schemeClr val="accent2"/>
                        </a:solidFill>
                        <a:latin typeface="Cambria Math" panose="02040503050406030204" pitchFamily="18" charset="0"/>
                      </a:rPr>
                      <m:t>→</m:t>
                    </m:r>
                    <m:r>
                      <m:rPr>
                        <m:sty m:val="p"/>
                      </m:rPr>
                      <a:rPr lang="en-US" altLang="zh-CN" sz="1600">
                        <a:solidFill>
                          <a:schemeClr val="accent2"/>
                        </a:solidFill>
                        <a:latin typeface="Cambria Math" panose="02040503050406030204" pitchFamily="18" charset="0"/>
                      </a:rPr>
                      <m:t>E</m:t>
                    </m:r>
                    <m:r>
                      <a:rPr lang="en-US" altLang="zh-CN" sz="1600">
                        <a:solidFill>
                          <a:schemeClr val="accent2"/>
                        </a:solidFill>
                        <a:latin typeface="Cambria Math" panose="02040503050406030204" pitchFamily="18" charset="0"/>
                      </a:rPr>
                      <m:t>→</m:t>
                    </m:r>
                    <m:r>
                      <m:rPr>
                        <m:sty m:val="p"/>
                      </m:rPr>
                      <a:rPr lang="en-US" altLang="zh-CN" sz="1600">
                        <a:solidFill>
                          <a:schemeClr val="accent2"/>
                        </a:solidFill>
                        <a:latin typeface="Cambria Math" panose="02040503050406030204" pitchFamily="18" charset="0"/>
                      </a:rPr>
                      <m:t>G</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），接着又扩展了评价函数值最小的结点</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，顺利到达终止状态。</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此处扩展次序的差异使得</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算法能够顺利找到</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最短路径</a:t>
                </a:r>
                <a14:m>
                  <m:oMath xmlns:m="http://schemas.openxmlformats.org/officeDocument/2006/math">
                    <m:r>
                      <m:rPr>
                        <m:sty m:val="p"/>
                      </m:rPr>
                      <a:rPr lang="en-US" altLang="zh-CN" sz="1600">
                        <a:solidFill>
                          <a:schemeClr val="accent2"/>
                        </a:solidFill>
                        <a:latin typeface="Cambria Math" panose="02040503050406030204" pitchFamily="18" charset="0"/>
                      </a:rPr>
                      <m:t>A</m:t>
                    </m:r>
                    <m:r>
                      <a:rPr lang="en-US" altLang="zh-CN" sz="1600">
                        <a:solidFill>
                          <a:schemeClr val="accent2"/>
                        </a:solidFill>
                        <a:latin typeface="Cambria Math" panose="02040503050406030204" pitchFamily="18" charset="0"/>
                      </a:rPr>
                      <m:t>→</m:t>
                    </m:r>
                    <m:r>
                      <m:rPr>
                        <m:sty m:val="p"/>
                      </m:rPr>
                      <a:rPr lang="en-US" altLang="zh-CN" sz="1600">
                        <a:solidFill>
                          <a:schemeClr val="accent2"/>
                        </a:solidFill>
                        <a:latin typeface="Cambria Math" panose="02040503050406030204" pitchFamily="18" charset="0"/>
                      </a:rPr>
                      <m:t>E</m:t>
                    </m:r>
                    <m:r>
                      <a:rPr lang="en-US" altLang="zh-CN" sz="1600">
                        <a:solidFill>
                          <a:schemeClr val="accent2"/>
                        </a:solidFill>
                        <a:latin typeface="Cambria Math" panose="02040503050406030204" pitchFamily="18" charset="0"/>
                      </a:rPr>
                      <m:t>→</m:t>
                    </m:r>
                    <m:r>
                      <m:rPr>
                        <m:sty m:val="p"/>
                      </m:rPr>
                      <a:rPr lang="en-US" altLang="zh-CN" sz="1600">
                        <a:solidFill>
                          <a:schemeClr val="accent2"/>
                        </a:solidFill>
                        <a:latin typeface="Cambria Math" panose="02040503050406030204" pitchFamily="18" charset="0"/>
                      </a:rPr>
                      <m:t>G</m:t>
                    </m:r>
                    <m:r>
                      <a:rPr lang="en-US" altLang="zh-CN" sz="1600">
                        <a:solidFill>
                          <a:schemeClr val="accent2"/>
                        </a:solidFill>
                        <a:latin typeface="Cambria Math" panose="02040503050406030204" pitchFamily="18" charset="0"/>
                      </a:rPr>
                      <m:t>→</m:t>
                    </m:r>
                    <m:r>
                      <m:rPr>
                        <m:sty m:val="p"/>
                      </m:rPr>
                      <a:rPr lang="en-US" altLang="zh-CN" sz="1600">
                        <a:solidFill>
                          <a:schemeClr val="accent2"/>
                        </a:solidFill>
                        <a:latin typeface="Cambria Math" panose="02040503050406030204" pitchFamily="18" charset="0"/>
                      </a:rPr>
                      <m:t>K</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，而贪婪最佳优先搜索则不能。</a:t>
                </a:r>
              </a:p>
              <a:p>
                <a:pPr marL="285750" indent="-285750">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值得注意的是，每次从边缘结点集合中所扩展的结点并非总是当前结点的相邻后继结点，如在图中，所扩展的第三层结点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rPr>
                      <m:t>A</m:t>
                    </m:r>
                    <m:r>
                      <a:rPr lang="en-US" altLang="zh-CN" sz="1600">
                        <a:latin typeface="Cambria Math" panose="02040503050406030204" pitchFamily="18" charset="0"/>
                      </a:rPr>
                      <m:t>→</m:t>
                    </m:r>
                    <m:r>
                      <m:rPr>
                        <m:sty m:val="p"/>
                      </m:rPr>
                      <a:rPr lang="en-US" altLang="zh-CN" sz="1600">
                        <a:latin typeface="Cambria Math" panose="02040503050406030204" pitchFamily="18" charset="0"/>
                      </a:rPr>
                      <m:t>E</m:t>
                    </m:r>
                    <m:r>
                      <a:rPr lang="en-US" altLang="zh-CN" sz="1600">
                        <a:latin typeface="Cambria Math" panose="02040503050406030204" pitchFamily="18" charset="0"/>
                      </a:rPr>
                      <m:t>→</m:t>
                    </m:r>
                    <m:r>
                      <m:rPr>
                        <m:sty m:val="p"/>
                      </m:rPr>
                      <a:rPr lang="en-US" altLang="zh-CN" sz="1600">
                        <a:latin typeface="Cambria Math" panose="02040503050406030204" pitchFamily="18" charset="0"/>
                      </a:rPr>
                      <m:t>G</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）并不是先前扩展结点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H(</a:t>
                </a:r>
                <a14:m>
                  <m:oMath xmlns:m="http://schemas.openxmlformats.org/officeDocument/2006/math">
                    <m:r>
                      <m:rPr>
                        <m:sty m:val="p"/>
                      </m:rPr>
                      <a:rPr lang="en-US" altLang="zh-CN" sz="1600">
                        <a:latin typeface="Cambria Math" panose="02040503050406030204" pitchFamily="18" charset="0"/>
                      </a:rPr>
                      <m:t>A</m:t>
                    </m:r>
                    <m:r>
                      <a:rPr lang="en-US" altLang="zh-CN" sz="1600">
                        <a:latin typeface="Cambria Math" panose="02040503050406030204" pitchFamily="18" charset="0"/>
                      </a:rPr>
                      <m:t>→</m:t>
                    </m:r>
                    <m:r>
                      <m:rPr>
                        <m:sty m:val="p"/>
                      </m:rPr>
                      <a:rPr lang="en-US" altLang="zh-CN" sz="1600">
                        <a:latin typeface="Cambria Math" panose="02040503050406030204" pitchFamily="18" charset="0"/>
                      </a:rPr>
                      <m:t>E</m:t>
                    </m:r>
                    <m:r>
                      <a:rPr lang="en-US" altLang="zh-CN" sz="1600">
                        <a:latin typeface="Cambria Math" panose="02040503050406030204" pitchFamily="18" charset="0"/>
                      </a:rPr>
                      <m:t>→</m:t>
                    </m:r>
                    <m:r>
                      <m:rPr>
                        <m:sty m:val="p"/>
                      </m:rPr>
                      <a:rPr lang="en-US" altLang="zh-CN" sz="1600">
                        <a:latin typeface="Cambria Math" panose="02040503050406030204" pitchFamily="18" charset="0"/>
                      </a:rPr>
                      <m:t>H</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）在搜索树上的相邻后继结点。</a:t>
                </a:r>
              </a:p>
              <a:p>
                <a:pPr marL="285750" indent="-285750" algn="just">
                  <a:lnSpc>
                    <a:spcPts val="2200"/>
                  </a:lnSpc>
                  <a:spcAft>
                    <a:spcPts val="0"/>
                  </a:spcAft>
                  <a:buFont typeface="Wingdings" panose="05000000000000000000" pitchFamily="2" charset="2"/>
                  <a:buChar char="l"/>
                </a:pPr>
                <a:endPar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73069515-8183-4BBE-9BA0-45DD838BF12E}"/>
                  </a:ext>
                </a:extLst>
              </p:cNvPr>
              <p:cNvSpPr>
                <a:spLocks noRot="1" noChangeAspect="1" noMove="1" noResize="1" noEditPoints="1" noAdjustHandles="1" noChangeArrowheads="1" noChangeShapeType="1" noTextEdit="1"/>
              </p:cNvSpPr>
              <p:nvPr/>
            </p:nvSpPr>
            <p:spPr>
              <a:xfrm>
                <a:off x="192876" y="1355230"/>
                <a:ext cx="6298982" cy="5102038"/>
              </a:xfrm>
              <a:prstGeom prst="rect">
                <a:avLst/>
              </a:prstGeom>
              <a:blipFill>
                <a:blip r:embed="rId3"/>
                <a:stretch>
                  <a:fillRect l="-387" t="-119" r="-3485"/>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1B32CE6F-891E-4F25-8EDF-6681A69CFCB4}"/>
              </a:ext>
            </a:extLst>
          </p:cNvPr>
          <p:cNvPicPr>
            <a:picLocks noChangeAspect="1"/>
          </p:cNvPicPr>
          <p:nvPr/>
        </p:nvPicPr>
        <p:blipFill>
          <a:blip r:embed="rId4"/>
          <a:stretch>
            <a:fillRect/>
          </a:stretch>
        </p:blipFill>
        <p:spPr>
          <a:xfrm>
            <a:off x="6753282" y="2360430"/>
            <a:ext cx="5160499" cy="3189765"/>
          </a:xfrm>
          <a:prstGeom prst="rect">
            <a:avLst/>
          </a:prstGeom>
        </p:spPr>
      </p:pic>
    </p:spTree>
    <p:extLst>
      <p:ext uri="{BB962C8B-B14F-4D97-AF65-F5344CB8AC3E}">
        <p14:creationId xmlns:p14="http://schemas.microsoft.com/office/powerpoint/2010/main" val="3757033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p:sp>
        <p:nvSpPr>
          <p:cNvPr id="8" name="矩形 7">
            <a:extLst>
              <a:ext uri="{FF2B5EF4-FFF2-40B4-BE49-F238E27FC236}">
                <a16:creationId xmlns:a16="http://schemas.microsoft.com/office/drawing/2014/main" id="{7CBC54F7-FD21-4858-A7A6-696C0DB29C58}"/>
              </a:ext>
            </a:extLst>
          </p:cNvPr>
          <p:cNvSpPr/>
          <p:nvPr/>
        </p:nvSpPr>
        <p:spPr>
          <a:xfrm>
            <a:off x="2691808" y="2016048"/>
            <a:ext cx="6904075"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算法的完备性和最优性取决于搜索问题和启发函数的性质。</a:t>
            </a:r>
            <a:endParaRPr lang="zh-CN" altLang="en-US" dirty="0">
              <a:latin typeface="微软雅黑" panose="020B0503020204020204" pitchFamily="34" charset="-122"/>
              <a:ea typeface="微软雅黑" panose="020B0503020204020204" pitchFamily="34" charset="-122"/>
            </a:endParaRPr>
          </a:p>
        </p:txBody>
      </p:sp>
      <p:sp>
        <p:nvSpPr>
          <p:cNvPr id="14" name="矩形: 圆角 6">
            <a:extLst>
              <a:ext uri="{FF2B5EF4-FFF2-40B4-BE49-F238E27FC236}">
                <a16:creationId xmlns:a16="http://schemas.microsoft.com/office/drawing/2014/main" id="{5B895BDB-E632-4E18-AF1A-D8FA05DB7BA0}"/>
              </a:ext>
            </a:extLst>
          </p:cNvPr>
          <p:cNvSpPr/>
          <p:nvPr/>
        </p:nvSpPr>
        <p:spPr>
          <a:xfrm>
            <a:off x="388090" y="3648550"/>
            <a:ext cx="5135523" cy="164814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C1FB9C9C-6AE7-4BC0-BF19-46DA4974B4DF}"/>
              </a:ext>
            </a:extLst>
          </p:cNvPr>
          <p:cNvSpPr/>
          <p:nvPr/>
        </p:nvSpPr>
        <p:spPr>
          <a:xfrm>
            <a:off x="592796" y="3618616"/>
            <a:ext cx="4740354" cy="1360629"/>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可容性（</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admissible</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一致性（</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consistency</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0E75E2CB-B736-435A-81C6-EF4DDADCEE21}"/>
              </a:ext>
            </a:extLst>
          </p:cNvPr>
          <p:cNvPicPr>
            <a:picLocks noChangeAspect="1"/>
          </p:cNvPicPr>
          <p:nvPr/>
        </p:nvPicPr>
        <p:blipFill>
          <a:blip r:embed="rId3"/>
          <a:stretch>
            <a:fillRect/>
          </a:stretch>
        </p:blipFill>
        <p:spPr>
          <a:xfrm>
            <a:off x="5994105" y="3051613"/>
            <a:ext cx="5548210" cy="2621733"/>
          </a:xfrm>
          <a:prstGeom prst="rect">
            <a:avLst/>
          </a:prstGeom>
        </p:spPr>
      </p:pic>
      <p:sp>
        <p:nvSpPr>
          <p:cNvPr id="9" name="文本框 8">
            <a:extLst>
              <a:ext uri="{FF2B5EF4-FFF2-40B4-BE49-F238E27FC236}">
                <a16:creationId xmlns:a16="http://schemas.microsoft.com/office/drawing/2014/main" id="{64EE222C-CE63-2EBF-2A8B-DC557D761902}"/>
              </a:ext>
            </a:extLst>
          </p:cNvPr>
          <p:cNvSpPr txBox="1"/>
          <p:nvPr/>
        </p:nvSpPr>
        <p:spPr>
          <a:xfrm>
            <a:off x="388090" y="3279218"/>
            <a:ext cx="609600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一个良好的</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启发函数</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应该具备如下两种性质：</a:t>
            </a:r>
            <a:endParaRPr lang="zh-CN" altLang="en-US" dirty="0"/>
          </a:p>
        </p:txBody>
      </p:sp>
    </p:spTree>
    <p:extLst>
      <p:ext uri="{BB962C8B-B14F-4D97-AF65-F5344CB8AC3E}">
        <p14:creationId xmlns:p14="http://schemas.microsoft.com/office/powerpoint/2010/main" val="129926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搜索性能分析：可容性</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741285D-6E12-4374-98B7-E12DE99C9975}"/>
                  </a:ext>
                </a:extLst>
              </p:cNvPr>
              <p:cNvSpPr/>
              <p:nvPr/>
            </p:nvSpPr>
            <p:spPr>
              <a:xfrm>
                <a:off x="473149" y="1980078"/>
                <a:ext cx="11440632" cy="3436454"/>
              </a:xfrm>
              <a:prstGeom prst="rect">
                <a:avLst/>
              </a:prstGeom>
            </p:spPr>
            <p:txBody>
              <a:bodyPr wrap="square">
                <a:spAutoFit/>
              </a:bodyPr>
              <a:lstStyle/>
              <a:p>
                <a:pPr indent="266700" algn="just">
                  <a:lnSpc>
                    <a:spcPct val="250000"/>
                  </a:lnSpc>
                  <a:spcAft>
                    <a:spcPts val="0"/>
                  </a:spcAft>
                </a:pPr>
                <a:r>
                  <a:rPr lang="zh-CN" altLang="zh-CN" dirty="0">
                    <a:solidFill>
                      <a:schemeClr val="accent2"/>
                    </a:solidFill>
                    <a:latin typeface="Times New Roman" panose="02020603050405020304" pitchFamily="18" charset="0"/>
                    <a:ea typeface="楷体_GB2312"/>
                    <a:cs typeface="Times New Roman" panose="02020603050405020304" pitchFamily="18" charset="0"/>
                  </a:rPr>
                  <a:t>对于任意结点</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，有</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h</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r>
                      <a:rPr lang="en-US" altLang="zh-CN" i="1">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h</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，如果</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是目标结点，则有</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h</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r>
                      <a:rPr lang="en-US" altLang="zh-CN" i="1">
                        <a:solidFill>
                          <a:schemeClr val="accent2"/>
                        </a:solidFill>
                        <a:latin typeface="Cambria Math" panose="02040503050406030204" pitchFamily="18" charset="0"/>
                        <a:ea typeface="楷体_GB2312"/>
                        <a:cs typeface="Times New Roman" panose="02020603050405020304" pitchFamily="18" charset="0"/>
                      </a:rPr>
                      <m:t>=0</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h</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是从结点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出发到达终止结点所付出的最小代价。可以这样理解满足可容性的启发函数，启发函数不会过高估计（</a:t>
                </a:r>
                <a:r>
                  <a:rPr lang="en-US" altLang="zh-CN" dirty="0">
                    <a:solidFill>
                      <a:srgbClr val="000000"/>
                    </a:solidFill>
                    <a:latin typeface="Times New Roman" panose="02020603050405020304" pitchFamily="18" charset="0"/>
                    <a:ea typeface="楷体_GB2312"/>
                    <a:cs typeface="Times New Roman" panose="02020603050405020304" pitchFamily="18" charset="0"/>
                  </a:rPr>
                  <a:t>over-estimate</a:t>
                </a:r>
                <a:r>
                  <a:rPr lang="zh-CN" altLang="zh-CN" dirty="0">
                    <a:solidFill>
                      <a:srgbClr val="000000"/>
                    </a:solidFill>
                    <a:latin typeface="Times New Roman" panose="02020603050405020304" pitchFamily="18" charset="0"/>
                    <a:ea typeface="楷体_GB2312"/>
                    <a:cs typeface="Times New Roman" panose="02020603050405020304" pitchFamily="18" charset="0"/>
                  </a:rPr>
                  <a:t>）从结点</a:t>
                </a:r>
                <a:r>
                  <a:rPr lang="en-US" altLang="zh-CN" dirty="0">
                    <a:solidFill>
                      <a:srgbClr val="000000"/>
                    </a:solidFill>
                    <a:latin typeface="Cambria Math" panose="02040503050406030204" pitchFamily="18" charset="0"/>
                    <a:ea typeface="楷体_GB2312"/>
                    <a:cs typeface="Cambria Math" panose="02040503050406030204" pitchFamily="18" charset="0"/>
                  </a:rPr>
                  <a:t>𝑛</a:t>
                </a:r>
                <a:r>
                  <a:rPr lang="zh-CN" altLang="zh-CN" dirty="0">
                    <a:solidFill>
                      <a:srgbClr val="000000"/>
                    </a:solidFill>
                    <a:latin typeface="Times New Roman" panose="02020603050405020304" pitchFamily="18" charset="0"/>
                    <a:ea typeface="楷体_GB2312"/>
                    <a:cs typeface="Times New Roman" panose="02020603050405020304" pitchFamily="18" charset="0"/>
                  </a:rPr>
                  <a:t>到终止结点所应该付出的代价（即</a:t>
                </a:r>
                <a:r>
                  <a:rPr lang="zh-CN" altLang="zh-CN" dirty="0">
                    <a:solidFill>
                      <a:schemeClr val="accent2"/>
                    </a:solidFill>
                    <a:latin typeface="Times New Roman" panose="02020603050405020304" pitchFamily="18" charset="0"/>
                    <a:ea typeface="楷体_GB2312"/>
                    <a:cs typeface="Times New Roman" panose="02020603050405020304" pitchFamily="18" charset="0"/>
                  </a:rPr>
                  <a:t>估计代价</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h</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小于等于实际代价</a:t>
                </a:r>
                <a14:m>
                  <m:oMath xmlns:m="http://schemas.openxmlformats.org/officeDocument/2006/math">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h</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r>
                      <a:rPr lang="en-US" altLang="zh-CN" i="1">
                        <a:solidFill>
                          <a:schemeClr val="accent2"/>
                        </a:solidFill>
                        <a:latin typeface="Cambria Math" panose="02040503050406030204" pitchFamily="18" charset="0"/>
                        <a:ea typeface="楷体_GB2312"/>
                        <a:cs typeface="Times New Roman" panose="02020603050405020304" pitchFamily="18" charset="0"/>
                      </a:rPr>
                      <m:t> </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）。在</a:t>
                </a:r>
                <a:r>
                  <a:rPr lang="zh-CN" altLang="en-US" dirty="0">
                    <a:solidFill>
                      <a:srgbClr val="000000"/>
                    </a:solidFill>
                    <a:latin typeface="Times New Roman" panose="02020603050405020304" pitchFamily="18" charset="0"/>
                    <a:ea typeface="楷体_GB2312"/>
                    <a:cs typeface="Times New Roman" panose="02020603050405020304" pitchFamily="18" charset="0"/>
                  </a:rPr>
                  <a:t>上述</a:t>
                </a:r>
                <a:r>
                  <a:rPr lang="zh-CN" altLang="zh-CN" dirty="0">
                    <a:solidFill>
                      <a:srgbClr val="000000"/>
                    </a:solidFill>
                    <a:latin typeface="Times New Roman" panose="02020603050405020304" pitchFamily="18" charset="0"/>
                    <a:ea typeface="楷体_GB2312"/>
                    <a:cs typeface="Times New Roman" panose="02020603050405020304" pitchFamily="18" charset="0"/>
                  </a:rPr>
                  <a:t>问题中，对每个结点而言，</a:t>
                </a:r>
                <a:r>
                  <a:rPr lang="zh-CN" altLang="zh-CN" dirty="0">
                    <a:solidFill>
                      <a:schemeClr val="accent2"/>
                    </a:solidFill>
                    <a:latin typeface="Times New Roman" panose="02020603050405020304" pitchFamily="18" charset="0"/>
                    <a:ea typeface="楷体_GB2312"/>
                    <a:cs typeface="Times New Roman" panose="02020603050405020304" pitchFamily="18" charset="0"/>
                  </a:rPr>
                  <a:t>其状态（城市）到目标状态（城市）</a:t>
                </a:r>
                <a14:m>
                  <m:oMath xmlns:m="http://schemas.openxmlformats.org/officeDocument/2006/math">
                    <m:r>
                      <m:rPr>
                        <m:sty m:val="p"/>
                      </m:rPr>
                      <a:rPr lang="en-US" altLang="zh-CN">
                        <a:solidFill>
                          <a:schemeClr val="accent2"/>
                        </a:solidFill>
                        <a:latin typeface="Cambria Math" panose="02040503050406030204" pitchFamily="18" charset="0"/>
                        <a:ea typeface="楷体_GB2312"/>
                        <a:cs typeface="Times New Roman" panose="02020603050405020304" pitchFamily="18" charset="0"/>
                      </a:rPr>
                      <m:t>K</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之间的行驶距离不会小于两城之间的</a:t>
                </a:r>
                <a:r>
                  <a:rPr lang="zh-CN" altLang="en-US" dirty="0">
                    <a:solidFill>
                      <a:schemeClr val="accent2"/>
                    </a:solidFill>
                    <a:latin typeface="Times New Roman" panose="02020603050405020304" pitchFamily="18" charset="0"/>
                    <a:ea typeface="楷体_GB2312"/>
                    <a:cs typeface="Times New Roman" panose="02020603050405020304" pitchFamily="18" charset="0"/>
                  </a:rPr>
                  <a:t>直接</a:t>
                </a:r>
                <a:r>
                  <a:rPr lang="zh-CN" altLang="zh-CN" dirty="0">
                    <a:solidFill>
                      <a:schemeClr val="accent2"/>
                    </a:solidFill>
                    <a:latin typeface="Times New Roman" panose="02020603050405020304" pitchFamily="18" charset="0"/>
                    <a:ea typeface="楷体_GB2312"/>
                    <a:cs typeface="Times New Roman" panose="02020603050405020304" pitchFamily="18" charset="0"/>
                  </a:rPr>
                  <a:t>距离</a:t>
                </a:r>
                <a:r>
                  <a:rPr lang="zh-CN" altLang="zh-CN" dirty="0">
                    <a:solidFill>
                      <a:srgbClr val="000000"/>
                    </a:solidFill>
                    <a:latin typeface="Times New Roman" panose="02020603050405020304" pitchFamily="18" charset="0"/>
                    <a:ea typeface="楷体_GB2312"/>
                    <a:cs typeface="Times New Roman" panose="02020603050405020304" pitchFamily="18" charset="0"/>
                  </a:rPr>
                  <a:t>，因此列车以最大行驶速度通过直线距离花费的时间必然不会超过实际代价，将该时间作为启发函数值，是满足可容性条件的。</a:t>
                </a:r>
              </a:p>
            </p:txBody>
          </p:sp>
        </mc:Choice>
        <mc:Fallback xmlns="">
          <p:sp>
            <p:nvSpPr>
              <p:cNvPr id="6" name="矩形 5">
                <a:extLst>
                  <a:ext uri="{FF2B5EF4-FFF2-40B4-BE49-F238E27FC236}">
                    <a16:creationId xmlns:a16="http://schemas.microsoft.com/office/drawing/2014/main" id="{2741285D-6E12-4374-98B7-E12DE99C9975}"/>
                  </a:ext>
                </a:extLst>
              </p:cNvPr>
              <p:cNvSpPr>
                <a:spLocks noRot="1" noChangeAspect="1" noMove="1" noResize="1" noEditPoints="1" noAdjustHandles="1" noChangeArrowheads="1" noChangeShapeType="1" noTextEdit="1"/>
              </p:cNvSpPr>
              <p:nvPr/>
            </p:nvSpPr>
            <p:spPr>
              <a:xfrm>
                <a:off x="473149" y="1980078"/>
                <a:ext cx="11440632" cy="3436454"/>
              </a:xfrm>
              <a:prstGeom prst="rect">
                <a:avLst/>
              </a:prstGeom>
              <a:blipFill>
                <a:blip r:embed="rId3"/>
                <a:stretch>
                  <a:fillRect l="-480" r="-480" b="-17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75707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搜索性能分析：一致性</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7597042-E3B3-45B9-B3D0-A28388659BC2}"/>
                  </a:ext>
                </a:extLst>
              </p:cNvPr>
              <p:cNvSpPr/>
              <p:nvPr/>
            </p:nvSpPr>
            <p:spPr>
              <a:xfrm>
                <a:off x="659218" y="2312528"/>
                <a:ext cx="11084441" cy="3332579"/>
              </a:xfrm>
              <a:prstGeom prst="rect">
                <a:avLst/>
              </a:prstGeom>
            </p:spPr>
            <p:txBody>
              <a:bodyPr wrap="square">
                <a:spAutoFit/>
              </a:bodyPr>
              <a:lstStyle/>
              <a:p>
                <a:pPr indent="266700" algn="just">
                  <a:lnSpc>
                    <a:spcPct val="200000"/>
                  </a:lnSpc>
                  <a:spcAft>
                    <a:spcPts val="0"/>
                  </a:spcAft>
                </a:pPr>
                <a:r>
                  <a:rPr lang="zh-CN" altLang="zh-CN" dirty="0">
                    <a:solidFill>
                      <a:schemeClr val="accent2"/>
                    </a:solidFill>
                    <a:latin typeface="Times New Roman" panose="02020603050405020304" pitchFamily="18" charset="0"/>
                    <a:ea typeface="楷体_GB2312"/>
                    <a:cs typeface="Times New Roman" panose="02020603050405020304" pitchFamily="18" charset="0"/>
                  </a:rPr>
                  <a:t>启发函数的一致性指满足条件</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 </m:t>
                    </m:r>
                    <m:r>
                      <a:rPr lang="en-US" altLang="zh-CN" i="1">
                        <a:solidFill>
                          <a:schemeClr val="accent2"/>
                        </a:solidFill>
                        <a:latin typeface="Cambria Math" panose="02040503050406030204" pitchFamily="18" charset="0"/>
                        <a:ea typeface="楷体_GB2312"/>
                        <a:cs typeface="Times New Roman" panose="02020603050405020304" pitchFamily="18" charset="0"/>
                      </a:rPr>
                      <m:t>h</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𝑐</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𝑎</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e>
                    </m:d>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h</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r>
                      <a:rPr lang="en-US" altLang="zh-CN">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，这里</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𝑐</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𝑎</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e>
                    </m:d>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表示结点</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通过动作</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𝑎</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到达其相应的后继结点</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i="1">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的代价。</a:t>
                </a:r>
                <a:r>
                  <a:rPr lang="zh-CN" altLang="zh-CN" dirty="0">
                    <a:solidFill>
                      <a:srgbClr val="000000"/>
                    </a:solidFill>
                    <a:latin typeface="Times New Roman" panose="02020603050405020304" pitchFamily="18" charset="0"/>
                    <a:ea typeface="楷体_GB2312"/>
                    <a:cs typeface="Times New Roman" panose="02020603050405020304" pitchFamily="18" charset="0"/>
                  </a:rPr>
                  <a:t>在图</a:t>
                </a:r>
                <a:r>
                  <a:rPr lang="en-US" altLang="zh-CN" dirty="0">
                    <a:solidFill>
                      <a:srgbClr val="000000"/>
                    </a:solidFill>
                    <a:latin typeface="Times New Roman" panose="02020603050405020304" pitchFamily="18" charset="0"/>
                    <a:ea typeface="楷体_GB2312"/>
                    <a:cs typeface="Times New Roman" panose="02020603050405020304" pitchFamily="18" charset="0"/>
                  </a:rPr>
                  <a:t>3.1.1</a:t>
                </a:r>
                <a:r>
                  <a:rPr lang="zh-CN" altLang="zh-CN" dirty="0">
                    <a:solidFill>
                      <a:srgbClr val="000000"/>
                    </a:solidFill>
                    <a:latin typeface="Times New Roman" panose="02020603050405020304" pitchFamily="18" charset="0"/>
                    <a:ea typeface="楷体_GB2312"/>
                    <a:cs typeface="Times New Roman" panose="02020603050405020304" pitchFamily="18" charset="0"/>
                  </a:rPr>
                  <a:t>中，假设结点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对应的状态（城市）为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，如果将单步代价</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𝑐</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重新定义为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在二维平面上的欧氏距离，则</a:t>
                </a:r>
                <a:r>
                  <a:rPr lang="zh-CN" altLang="zh-CN" dirty="0">
                    <a:solidFill>
                      <a:schemeClr val="accent2"/>
                    </a:solidFill>
                    <a:latin typeface="Times New Roman" panose="02020603050405020304" pitchFamily="18" charset="0"/>
                    <a:ea typeface="楷体_GB2312"/>
                    <a:cs typeface="Times New Roman" panose="02020603050405020304" pitchFamily="18" charset="0"/>
                  </a:rPr>
                  <a:t>根据欧氏距离三角不等式原则，城市</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𝑠</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到目标城市</a:t>
                </a:r>
                <a:r>
                  <a:rPr lang="en-US" altLang="zh-CN" dirty="0">
                    <a:solidFill>
                      <a:schemeClr val="accent2"/>
                    </a:solidFill>
                    <a:latin typeface="Times New Roman" panose="02020603050405020304" pitchFamily="18" charset="0"/>
                    <a:ea typeface="楷体_GB2312"/>
                    <a:cs typeface="Times New Roman" panose="02020603050405020304" pitchFamily="18" charset="0"/>
                  </a:rPr>
                  <a:t>K</a:t>
                </a:r>
                <a:r>
                  <a:rPr lang="zh-CN" altLang="zh-CN" dirty="0">
                    <a:solidFill>
                      <a:schemeClr val="accent2"/>
                    </a:solidFill>
                    <a:latin typeface="Times New Roman" panose="02020603050405020304" pitchFamily="18" charset="0"/>
                    <a:ea typeface="楷体_GB2312"/>
                    <a:cs typeface="Times New Roman" panose="02020603050405020304" pitchFamily="18" charset="0"/>
                  </a:rPr>
                  <a:t>之间直线距离</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h</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一定小于等于从城市</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𝑠</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到其相邻城市</a:t>
                </a:r>
                <a14:m>
                  <m:oMath xmlns:m="http://schemas.openxmlformats.org/officeDocument/2006/math">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a:solidFill>
                              <a:schemeClr val="accent2"/>
                            </a:solidFill>
                            <a:latin typeface="Cambria Math" panose="02040503050406030204" pitchFamily="18" charset="0"/>
                            <a:ea typeface="楷体_GB2312"/>
                            <a:cs typeface="Times New Roman" panose="02020603050405020304" pitchFamily="18" charset="0"/>
                          </a:rPr>
                          <m:t>s</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的直线距离</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𝑐</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𝑎</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e>
                    </m:d>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与城市</a:t>
                </a:r>
                <a14:m>
                  <m:oMath xmlns:m="http://schemas.openxmlformats.org/officeDocument/2006/math">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𝑠</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到目标城市</a:t>
                </a:r>
                <a:r>
                  <a:rPr lang="en-US" altLang="zh-CN" dirty="0">
                    <a:solidFill>
                      <a:schemeClr val="accent2"/>
                    </a:solidFill>
                    <a:latin typeface="Times New Roman" panose="02020603050405020304" pitchFamily="18" charset="0"/>
                    <a:ea typeface="楷体_GB2312"/>
                    <a:cs typeface="Times New Roman" panose="02020603050405020304" pitchFamily="18" charset="0"/>
                  </a:rPr>
                  <a:t>K</a:t>
                </a:r>
                <a:r>
                  <a:rPr lang="zh-CN" altLang="zh-CN" dirty="0">
                    <a:solidFill>
                      <a:schemeClr val="accent2"/>
                    </a:solidFill>
                    <a:latin typeface="Times New Roman" panose="02020603050405020304" pitchFamily="18" charset="0"/>
                    <a:ea typeface="楷体_GB2312"/>
                    <a:cs typeface="Times New Roman" panose="02020603050405020304" pitchFamily="18" charset="0"/>
                  </a:rPr>
                  <a:t>之间直线距离</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h</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r>
                      <a:rPr lang="en-US" altLang="zh-CN">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之和</a:t>
                </a:r>
                <a:r>
                  <a:rPr lang="zh-CN" altLang="zh-CN" dirty="0">
                    <a:solidFill>
                      <a:srgbClr val="000000"/>
                    </a:solidFill>
                    <a:latin typeface="Times New Roman" panose="02020603050405020304" pitchFamily="18" charset="0"/>
                    <a:ea typeface="楷体_GB2312"/>
                    <a:cs typeface="Times New Roman" panose="02020603050405020304" pitchFamily="18" charset="0"/>
                  </a:rPr>
                  <a:t>，此时，将当前状态（城市）与目标状态（城市）</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之间直线距离作为启发函数值，则</a:t>
                </a:r>
                <a:r>
                  <a:rPr lang="zh-CN" altLang="zh-CN" dirty="0">
                    <a:solidFill>
                      <a:schemeClr val="accent2"/>
                    </a:solidFill>
                    <a:latin typeface="Times New Roman" panose="02020603050405020304" pitchFamily="18" charset="0"/>
                    <a:ea typeface="楷体_GB2312"/>
                    <a:cs typeface="Times New Roman" panose="02020603050405020304" pitchFamily="18" charset="0"/>
                  </a:rPr>
                  <a:t>启发函数满足一致性条件</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7" name="矩形 6">
                <a:extLst>
                  <a:ext uri="{FF2B5EF4-FFF2-40B4-BE49-F238E27FC236}">
                    <a16:creationId xmlns:a16="http://schemas.microsoft.com/office/drawing/2014/main" id="{57597042-E3B3-45B9-B3D0-A28388659BC2}"/>
                  </a:ext>
                </a:extLst>
              </p:cNvPr>
              <p:cNvSpPr>
                <a:spLocks noRot="1" noChangeAspect="1" noMove="1" noResize="1" noEditPoints="1" noAdjustHandles="1" noChangeArrowheads="1" noChangeShapeType="1" noTextEdit="1"/>
              </p:cNvSpPr>
              <p:nvPr/>
            </p:nvSpPr>
            <p:spPr>
              <a:xfrm>
                <a:off x="659218" y="2312528"/>
                <a:ext cx="11084441" cy="3332579"/>
              </a:xfrm>
              <a:prstGeom prst="rect">
                <a:avLst/>
              </a:prstGeom>
              <a:blipFill>
                <a:blip r:embed="rId3"/>
                <a:stretch>
                  <a:fillRect l="-440" r="-2530" b="-2011"/>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E4E47D81-24B1-DFC5-772A-ED5FAB0A3D6A}"/>
              </a:ext>
            </a:extLst>
          </p:cNvPr>
          <p:cNvCxnSpPr/>
          <p:nvPr/>
        </p:nvCxnSpPr>
        <p:spPr>
          <a:xfrm flipV="1">
            <a:off x="3497179" y="5438274"/>
            <a:ext cx="673768" cy="62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4CB2CFF5-BC99-18FE-BC06-14B121651920}"/>
              </a:ext>
            </a:extLst>
          </p:cNvPr>
          <p:cNvCxnSpPr>
            <a:cxnSpLocks/>
          </p:cNvCxnSpPr>
          <p:nvPr/>
        </p:nvCxnSpPr>
        <p:spPr>
          <a:xfrm>
            <a:off x="3497179" y="6063916"/>
            <a:ext cx="16844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301036B7-6C69-2338-2D48-DE4DA6360BA4}"/>
              </a:ext>
            </a:extLst>
          </p:cNvPr>
          <p:cNvCxnSpPr>
            <a:cxnSpLocks/>
          </p:cNvCxnSpPr>
          <p:nvPr/>
        </p:nvCxnSpPr>
        <p:spPr>
          <a:xfrm>
            <a:off x="4170947" y="5438274"/>
            <a:ext cx="1010653" cy="625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24CD63D-F9AE-1AB6-C24C-11584A07E74B}"/>
                  </a:ext>
                </a:extLst>
              </p:cNvPr>
              <p:cNvSpPr txBox="1"/>
              <p:nvPr/>
            </p:nvSpPr>
            <p:spPr>
              <a:xfrm>
                <a:off x="3954379" y="6063916"/>
                <a:ext cx="6737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h</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d>
                    </m:oMath>
                  </m:oMathPara>
                </a14:m>
                <a:endParaRPr lang="zh-CN" altLang="en-US" dirty="0"/>
              </a:p>
            </p:txBody>
          </p:sp>
        </mc:Choice>
        <mc:Fallback xmlns="">
          <p:sp>
            <p:nvSpPr>
              <p:cNvPr id="18" name="文本框 17">
                <a:extLst>
                  <a:ext uri="{FF2B5EF4-FFF2-40B4-BE49-F238E27FC236}">
                    <a16:creationId xmlns:a16="http://schemas.microsoft.com/office/drawing/2014/main" id="{124CD63D-F9AE-1AB6-C24C-11584A07E74B}"/>
                  </a:ext>
                </a:extLst>
              </p:cNvPr>
              <p:cNvSpPr txBox="1">
                <a:spLocks noRot="1" noChangeAspect="1" noMove="1" noResize="1" noEditPoints="1" noAdjustHandles="1" noChangeArrowheads="1" noChangeShapeType="1" noTextEdit="1"/>
              </p:cNvSpPr>
              <p:nvPr/>
            </p:nvSpPr>
            <p:spPr>
              <a:xfrm>
                <a:off x="3954379" y="6063916"/>
                <a:ext cx="673768"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CBDEC64-8C77-0365-1CB1-1C0634E20138}"/>
                  </a:ext>
                </a:extLst>
              </p:cNvPr>
              <p:cNvSpPr txBox="1"/>
              <p:nvPr/>
            </p:nvSpPr>
            <p:spPr>
              <a:xfrm>
                <a:off x="2735179" y="5512979"/>
                <a:ext cx="11229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𝑐</m:t>
                      </m:r>
                      <m:d>
                        <m:d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𝑎</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e>
                      </m:d>
                    </m:oMath>
                  </m:oMathPara>
                </a14:m>
                <a:endParaRPr lang="zh-CN" altLang="en-US" dirty="0"/>
              </a:p>
            </p:txBody>
          </p:sp>
        </mc:Choice>
        <mc:Fallback xmlns="">
          <p:sp>
            <p:nvSpPr>
              <p:cNvPr id="20" name="文本框 19">
                <a:extLst>
                  <a:ext uri="{FF2B5EF4-FFF2-40B4-BE49-F238E27FC236}">
                    <a16:creationId xmlns:a16="http://schemas.microsoft.com/office/drawing/2014/main" id="{1CBDEC64-8C77-0365-1CB1-1C0634E20138}"/>
                  </a:ext>
                </a:extLst>
              </p:cNvPr>
              <p:cNvSpPr txBox="1">
                <a:spLocks noRot="1" noChangeAspect="1" noMove="1" noResize="1" noEditPoints="1" noAdjustHandles="1" noChangeArrowheads="1" noChangeShapeType="1" noTextEdit="1"/>
              </p:cNvSpPr>
              <p:nvPr/>
            </p:nvSpPr>
            <p:spPr>
              <a:xfrm>
                <a:off x="2735179" y="5512979"/>
                <a:ext cx="1122947"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4C29804-9D31-392F-5FF5-817A106CF7EA}"/>
                  </a:ext>
                </a:extLst>
              </p:cNvPr>
              <p:cNvSpPr txBox="1"/>
              <p:nvPr/>
            </p:nvSpPr>
            <p:spPr>
              <a:xfrm>
                <a:off x="4588042" y="5422176"/>
                <a:ext cx="6737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h</m:t>
                      </m:r>
                      <m:r>
                        <a:rPr lang="en-US" altLang="zh-CN">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chemeClr val="accent2"/>
                              </a:solidFill>
                              <a:latin typeface="Cambria Math" panose="02040503050406030204" pitchFamily="18" charset="0"/>
                              <a:ea typeface="楷体_GB2312"/>
                              <a:cs typeface="Times New Roman" panose="02020603050405020304" pitchFamily="18" charset="0"/>
                            </a:rPr>
                            <m:t>𝑛</m:t>
                          </m:r>
                        </m:e>
                        <m:sup>
                          <m:r>
                            <a:rPr lang="en-US" altLang="zh-CN" i="1">
                              <a:solidFill>
                                <a:schemeClr val="accent2"/>
                              </a:solidFill>
                              <a:latin typeface="Cambria Math" panose="02040503050406030204" pitchFamily="18" charset="0"/>
                              <a:ea typeface="楷体_GB2312"/>
                              <a:cs typeface="Times New Roman" panose="02020603050405020304" pitchFamily="18" charset="0"/>
                            </a:rPr>
                            <m:t>′</m:t>
                          </m:r>
                        </m:sup>
                      </m:sSup>
                      <m:r>
                        <a:rPr lang="en-US" altLang="zh-CN">
                          <a:solidFill>
                            <a:schemeClr val="accent2"/>
                          </a:solidFill>
                          <a:latin typeface="Cambria Math" panose="02040503050406030204" pitchFamily="18" charset="0"/>
                          <a:ea typeface="楷体_GB2312"/>
                          <a:cs typeface="Times New Roman" panose="02020603050405020304" pitchFamily="18" charset="0"/>
                        </a:rPr>
                        <m:t>)</m:t>
                      </m:r>
                    </m:oMath>
                  </m:oMathPara>
                </a14:m>
                <a:endParaRPr lang="zh-CN" altLang="en-US" dirty="0"/>
              </a:p>
            </p:txBody>
          </p:sp>
        </mc:Choice>
        <mc:Fallback xmlns="">
          <p:sp>
            <p:nvSpPr>
              <p:cNvPr id="22" name="文本框 21">
                <a:extLst>
                  <a:ext uri="{FF2B5EF4-FFF2-40B4-BE49-F238E27FC236}">
                    <a16:creationId xmlns:a16="http://schemas.microsoft.com/office/drawing/2014/main" id="{54C29804-9D31-392F-5FF5-817A106CF7EA}"/>
                  </a:ext>
                </a:extLst>
              </p:cNvPr>
              <p:cNvSpPr txBox="1">
                <a:spLocks noRot="1" noChangeAspect="1" noMove="1" noResize="1" noEditPoints="1" noAdjustHandles="1" noChangeArrowheads="1" noChangeShapeType="1" noTextEdit="1"/>
              </p:cNvSpPr>
              <p:nvPr/>
            </p:nvSpPr>
            <p:spPr>
              <a:xfrm>
                <a:off x="4588042" y="5422176"/>
                <a:ext cx="673768" cy="369332"/>
              </a:xfrm>
              <a:prstGeom prst="rect">
                <a:avLst/>
              </a:prstGeom>
              <a:blipFill>
                <a:blip r:embed="rId6"/>
                <a:stretch>
                  <a:fillRect r="-9091"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8DBE5D78-82E1-D025-D690-5DDBEBE7777F}"/>
                  </a:ext>
                </a:extLst>
              </p:cNvPr>
              <p:cNvSpPr txBox="1"/>
              <p:nvPr/>
            </p:nvSpPr>
            <p:spPr>
              <a:xfrm>
                <a:off x="3072062" y="5912345"/>
                <a:ext cx="4491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𝑛</m:t>
                      </m:r>
                    </m:oMath>
                  </m:oMathPara>
                </a14:m>
                <a:endParaRPr lang="zh-CN" altLang="en-US" dirty="0"/>
              </a:p>
            </p:txBody>
          </p:sp>
        </mc:Choice>
        <mc:Fallback xmlns="">
          <p:sp>
            <p:nvSpPr>
              <p:cNvPr id="24" name="文本框 23">
                <a:extLst>
                  <a:ext uri="{FF2B5EF4-FFF2-40B4-BE49-F238E27FC236}">
                    <a16:creationId xmlns:a16="http://schemas.microsoft.com/office/drawing/2014/main" id="{8DBE5D78-82E1-D025-D690-5DDBEBE7777F}"/>
                  </a:ext>
                </a:extLst>
              </p:cNvPr>
              <p:cNvSpPr txBox="1">
                <a:spLocks noRot="1" noChangeAspect="1" noMove="1" noResize="1" noEditPoints="1" noAdjustHandles="1" noChangeArrowheads="1" noChangeShapeType="1" noTextEdit="1"/>
              </p:cNvSpPr>
              <p:nvPr/>
            </p:nvSpPr>
            <p:spPr>
              <a:xfrm>
                <a:off x="3072062" y="5912345"/>
                <a:ext cx="449179"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36D4774-49E4-0352-75B9-3B3828A64D2B}"/>
                  </a:ext>
                </a:extLst>
              </p:cNvPr>
              <p:cNvSpPr txBox="1"/>
              <p:nvPr/>
            </p:nvSpPr>
            <p:spPr>
              <a:xfrm>
                <a:off x="3946357" y="5117404"/>
                <a:ext cx="4491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𝑛</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oMath>
                  </m:oMathPara>
                </a14:m>
                <a:endParaRPr lang="zh-CN" altLang="en-US" dirty="0"/>
              </a:p>
            </p:txBody>
          </p:sp>
        </mc:Choice>
        <mc:Fallback xmlns="">
          <p:sp>
            <p:nvSpPr>
              <p:cNvPr id="26" name="文本框 25">
                <a:extLst>
                  <a:ext uri="{FF2B5EF4-FFF2-40B4-BE49-F238E27FC236}">
                    <a16:creationId xmlns:a16="http://schemas.microsoft.com/office/drawing/2014/main" id="{C36D4774-49E4-0352-75B9-3B3828A64D2B}"/>
                  </a:ext>
                </a:extLst>
              </p:cNvPr>
              <p:cNvSpPr txBox="1">
                <a:spLocks noRot="1" noChangeAspect="1" noMove="1" noResize="1" noEditPoints="1" noAdjustHandles="1" noChangeArrowheads="1" noChangeShapeType="1" noTextEdit="1"/>
              </p:cNvSpPr>
              <p:nvPr/>
            </p:nvSpPr>
            <p:spPr>
              <a:xfrm>
                <a:off x="3946357" y="5117404"/>
                <a:ext cx="449179" cy="369332"/>
              </a:xfrm>
              <a:prstGeom prst="rect">
                <a:avLst/>
              </a:prstGeom>
              <a:blipFill>
                <a:blip r:embed="rId8"/>
                <a:stretch>
                  <a:fillRect/>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ADC89EDA-E2C2-F28F-E216-4B50E42EADB0}"/>
              </a:ext>
            </a:extLst>
          </p:cNvPr>
          <p:cNvSpPr txBox="1"/>
          <p:nvPr/>
        </p:nvSpPr>
        <p:spPr>
          <a:xfrm>
            <a:off x="5181600" y="5895348"/>
            <a:ext cx="344905" cy="369332"/>
          </a:xfrm>
          <a:prstGeom prst="rect">
            <a:avLst/>
          </a:prstGeom>
          <a:noFill/>
        </p:spPr>
        <p:txBody>
          <a:bodyPr wrap="square">
            <a:spAutoFit/>
          </a:bodyPr>
          <a:lstStyle/>
          <a:p>
            <a:r>
              <a:rPr lang="en-US" altLang="zh-CN" dirty="0">
                <a:solidFill>
                  <a:schemeClr val="accent2"/>
                </a:solidFill>
                <a:latin typeface="Times New Roman" panose="02020603050405020304" pitchFamily="18" charset="0"/>
                <a:ea typeface="楷体_GB2312"/>
                <a:cs typeface="Times New Roman" panose="02020603050405020304" pitchFamily="18" charset="0"/>
              </a:rPr>
              <a:t>K</a:t>
            </a:r>
            <a:endParaRPr lang="zh-CN" altLang="en-US" dirty="0"/>
          </a:p>
        </p:txBody>
      </p:sp>
    </p:spTree>
    <p:extLst>
      <p:ext uri="{BB962C8B-B14F-4D97-AF65-F5344CB8AC3E}">
        <p14:creationId xmlns:p14="http://schemas.microsoft.com/office/powerpoint/2010/main" val="1322065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搜索性能分析：一致性必然导致可容性</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p:sp>
        <p:nvSpPr>
          <p:cNvPr id="7" name="矩形 6">
            <a:extLst>
              <a:ext uri="{FF2B5EF4-FFF2-40B4-BE49-F238E27FC236}">
                <a16:creationId xmlns:a16="http://schemas.microsoft.com/office/drawing/2014/main" id="{31462E6B-1189-403E-82E1-93B9DFF5FDEE}"/>
              </a:ext>
            </a:extLst>
          </p:cNvPr>
          <p:cNvSpPr/>
          <p:nvPr/>
        </p:nvSpPr>
        <p:spPr>
          <a:xfrm>
            <a:off x="0" y="3157142"/>
            <a:ext cx="4134294" cy="1156727"/>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一致性是一个比可容性更严格的性质，即一个启发函数如果满足一致性条件，那么该启发函数必然满足可容性条件。</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351EF6D-8D5F-4849-A20B-CCE4B7A27DB6}"/>
                  </a:ext>
                </a:extLst>
              </p:cNvPr>
              <p:cNvSpPr/>
              <p:nvPr/>
            </p:nvSpPr>
            <p:spPr>
              <a:xfrm>
                <a:off x="7411013" y="2080803"/>
                <a:ext cx="4515954" cy="3877985"/>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如图中以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为根结点的子树，假设从该结点到达终止结点代价最小的路径为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K</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h</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K</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且启发函数满足一致性条件，因此存在：</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e>
                      </m:d>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K</m:t>
                          </m:r>
                        </m:e>
                      </m:d>
                    </m:oMath>
                    <m:oMath xmlns:m="http://schemas.openxmlformats.org/officeDocument/2006/math">
                      <m:r>
                        <m:rPr>
                          <m:aln/>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en-US"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spcAft>
                    <a:spcPts val="0"/>
                  </a:spcAft>
                </a:pPr>
                <a:endParaRPr lang="en-US" altLang="zh-CN" sz="1600"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266700" algn="ctr">
                  <a:spcAft>
                    <a:spcPts val="0"/>
                  </a:spcAft>
                </a:pPr>
                <a:r>
                  <a:rPr lang="zh-CN" altLang="zh-CN" sz="1400" b="1" dirty="0">
                    <a:solidFill>
                      <a:srgbClr val="C00000"/>
                    </a:solidFill>
                    <a:latin typeface="Times New Roman" panose="02020603050405020304" pitchFamily="18" charset="0"/>
                    <a:ea typeface="楷体_GB2312"/>
                    <a:cs typeface="Times New Roman" panose="02020603050405020304" pitchFamily="18" charset="0"/>
                  </a:rPr>
                  <a:t>即满足一致性条件的启发函数一定满足可容性条件。</a:t>
                </a:r>
              </a:p>
            </p:txBody>
          </p:sp>
        </mc:Choice>
        <mc:Fallback xmlns="">
          <p:sp>
            <p:nvSpPr>
              <p:cNvPr id="8" name="矩形 7">
                <a:extLst>
                  <a:ext uri="{FF2B5EF4-FFF2-40B4-BE49-F238E27FC236}">
                    <a16:creationId xmlns:a16="http://schemas.microsoft.com/office/drawing/2014/main" id="{B351EF6D-8D5F-4849-A20B-CCE4B7A27DB6}"/>
                  </a:ext>
                </a:extLst>
              </p:cNvPr>
              <p:cNvSpPr>
                <a:spLocks noRot="1" noChangeAspect="1" noMove="1" noResize="1" noEditPoints="1" noAdjustHandles="1" noChangeArrowheads="1" noChangeShapeType="1" noTextEdit="1"/>
              </p:cNvSpPr>
              <p:nvPr/>
            </p:nvSpPr>
            <p:spPr>
              <a:xfrm>
                <a:off x="7411013" y="2080803"/>
                <a:ext cx="4515954" cy="3877985"/>
              </a:xfrm>
              <a:prstGeom prst="rect">
                <a:avLst/>
              </a:prstGeom>
              <a:blipFill>
                <a:blip r:embed="rId4"/>
                <a:stretch>
                  <a:fillRect l="-810" r="-945" b="-78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786DC5C-FE1A-4E9E-AF67-C0139B147BCD}"/>
              </a:ext>
            </a:extLst>
          </p:cNvPr>
          <p:cNvPicPr>
            <a:picLocks noChangeAspect="1"/>
          </p:cNvPicPr>
          <p:nvPr/>
        </p:nvPicPr>
        <p:blipFill>
          <a:blip r:embed="rId5"/>
          <a:stretch>
            <a:fillRect/>
          </a:stretch>
        </p:blipFill>
        <p:spPr>
          <a:xfrm>
            <a:off x="4260296" y="2061608"/>
            <a:ext cx="3150717" cy="4041610"/>
          </a:xfrm>
          <a:prstGeom prst="rect">
            <a:avLst/>
          </a:prstGeom>
        </p:spPr>
      </p:pic>
      <p:cxnSp>
        <p:nvCxnSpPr>
          <p:cNvPr id="10" name="直接连接符 9">
            <a:extLst>
              <a:ext uri="{FF2B5EF4-FFF2-40B4-BE49-F238E27FC236}">
                <a16:creationId xmlns:a16="http://schemas.microsoft.com/office/drawing/2014/main" id="{F3AB5F1B-2920-B88F-795C-2A0B45EEEC4F}"/>
              </a:ext>
            </a:extLst>
          </p:cNvPr>
          <p:cNvCxnSpPr/>
          <p:nvPr/>
        </p:nvCxnSpPr>
        <p:spPr>
          <a:xfrm>
            <a:off x="8373979" y="3898232"/>
            <a:ext cx="5133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1D8F4AF2-8618-4C85-F504-463709832758}"/>
              </a:ext>
            </a:extLst>
          </p:cNvPr>
          <p:cNvCxnSpPr>
            <a:cxnSpLocks/>
          </p:cNvCxnSpPr>
          <p:nvPr/>
        </p:nvCxnSpPr>
        <p:spPr>
          <a:xfrm>
            <a:off x="8373979" y="4305848"/>
            <a:ext cx="1812758"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箭头: 下 13">
            <a:extLst>
              <a:ext uri="{FF2B5EF4-FFF2-40B4-BE49-F238E27FC236}">
                <a16:creationId xmlns:a16="http://schemas.microsoft.com/office/drawing/2014/main" id="{EBFB0B79-2D9E-0D3A-19D6-037F4B75A90D}"/>
              </a:ext>
            </a:extLst>
          </p:cNvPr>
          <p:cNvSpPr/>
          <p:nvPr/>
        </p:nvSpPr>
        <p:spPr>
          <a:xfrm>
            <a:off x="8470232" y="3930316"/>
            <a:ext cx="256674" cy="121555"/>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79552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算法是完备的么？</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p:sp>
        <p:nvSpPr>
          <p:cNvPr id="6" name="矩形 5">
            <a:extLst>
              <a:ext uri="{FF2B5EF4-FFF2-40B4-BE49-F238E27FC236}">
                <a16:creationId xmlns:a16="http://schemas.microsoft.com/office/drawing/2014/main" id="{6ED1FD43-A27F-4D2D-AA25-DFF6FDAAA352}"/>
              </a:ext>
            </a:extLst>
          </p:cNvPr>
          <p:cNvSpPr/>
          <p:nvPr/>
        </p:nvSpPr>
        <p:spPr>
          <a:xfrm>
            <a:off x="1504507" y="1735537"/>
            <a:ext cx="10074349" cy="562590"/>
          </a:xfrm>
          <a:prstGeom prst="rect">
            <a:avLst/>
          </a:prstGeom>
        </p:spPr>
        <p:txBody>
          <a:bodyPr wrap="square">
            <a:spAutoFit/>
          </a:bodyPr>
          <a:lstStyle/>
          <a:p>
            <a:pPr indent="266700" algn="just">
              <a:lnSpc>
                <a:spcPct val="20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如果所求解问题和启发函数满足以下条件，则</a:t>
            </a:r>
            <a:r>
              <a:rPr lang="en-US" altLang="zh-CN" dirty="0">
                <a:solidFill>
                  <a:schemeClr val="accent2"/>
                </a:solidFill>
                <a:latin typeface="Times New Roman" panose="02020603050405020304" pitchFamily="18" charset="0"/>
                <a:ea typeface="楷体_GB2312"/>
                <a:cs typeface="Times New Roman" panose="02020603050405020304" pitchFamily="18" charset="0"/>
              </a:rPr>
              <a:t>A*</a:t>
            </a:r>
            <a:r>
              <a:rPr lang="zh-CN" altLang="zh-CN" dirty="0">
                <a:solidFill>
                  <a:schemeClr val="accent2"/>
                </a:solidFill>
                <a:latin typeface="Times New Roman" panose="02020603050405020304" pitchFamily="18" charset="0"/>
                <a:ea typeface="楷体_GB2312"/>
                <a:cs typeface="Times New Roman" panose="02020603050405020304" pitchFamily="18" charset="0"/>
              </a:rPr>
              <a:t>算法是完备的</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p:sp>
        <p:nvSpPr>
          <p:cNvPr id="13" name="矩形: 圆角 6">
            <a:extLst>
              <a:ext uri="{FF2B5EF4-FFF2-40B4-BE49-F238E27FC236}">
                <a16:creationId xmlns:a16="http://schemas.microsoft.com/office/drawing/2014/main" id="{EE0079DB-5DC7-4765-8C90-8B3B42AC8D4B}"/>
              </a:ext>
            </a:extLst>
          </p:cNvPr>
          <p:cNvSpPr/>
          <p:nvPr/>
        </p:nvSpPr>
        <p:spPr>
          <a:xfrm>
            <a:off x="3683301" y="2620870"/>
            <a:ext cx="5135523" cy="277038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3D28EF23-9DF5-44CA-A275-2B793EE66407}"/>
              </a:ext>
            </a:extLst>
          </p:cNvPr>
          <p:cNvSpPr/>
          <p:nvPr/>
        </p:nvSpPr>
        <p:spPr>
          <a:xfrm>
            <a:off x="3823288" y="2557466"/>
            <a:ext cx="4740354" cy="2744149"/>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搜索树中分支数量是有限的，即每个结点的后继结点数量是有限的</a:t>
            </a: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单步代价的下界是一个正数</a:t>
            </a: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启发函数有下界</a:t>
            </a:r>
          </a:p>
        </p:txBody>
      </p:sp>
    </p:spTree>
    <p:extLst>
      <p:ext uri="{BB962C8B-B14F-4D97-AF65-F5344CB8AC3E}">
        <p14:creationId xmlns:p14="http://schemas.microsoft.com/office/powerpoint/2010/main" val="4074435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算法是最优的么？</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51250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二、贪婪最佳优先搜索与</a:t>
            </a:r>
            <a:r>
              <a:rPr lang="en-US" altLang="zh-CN" sz="1600" dirty="0">
                <a:solidFill>
                  <a:srgbClr val="000000"/>
                </a:solidFill>
                <a:latin typeface="Times New Roman" panose="02020603050405020304" pitchFamily="18" charset="0"/>
                <a:ea typeface="楷体_GB2312"/>
              </a:rPr>
              <a:t>A*</a:t>
            </a:r>
            <a:r>
              <a:rPr lang="zh-CN" altLang="en-US" sz="1600" dirty="0">
                <a:solidFill>
                  <a:srgbClr val="000000"/>
                </a:solidFill>
                <a:latin typeface="Times New Roman" panose="02020603050405020304" pitchFamily="18" charset="0"/>
                <a:ea typeface="楷体_GB2312"/>
              </a:rPr>
              <a:t>搜索算法</a:t>
            </a:r>
            <a:endParaRPr lang="zh-CN" altLang="en-US" sz="1600"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7DD4569-7CF7-4B42-86FE-42F7464FC51F}"/>
                  </a:ext>
                </a:extLst>
              </p:cNvPr>
              <p:cNvSpPr/>
              <p:nvPr/>
            </p:nvSpPr>
            <p:spPr>
              <a:xfrm>
                <a:off x="1311349" y="2303911"/>
                <a:ext cx="9569301" cy="3782702"/>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假设</a:t>
                </a:r>
                <a:r>
                  <a:rPr lang="en-US" altLang="zh-CN" dirty="0">
                    <a:solidFill>
                      <a:srgbClr val="000000"/>
                    </a:solidFill>
                    <a:latin typeface="Times New Roman" panose="02020603050405020304" pitchFamily="18" charset="0"/>
                    <a:ea typeface="楷体_GB2312"/>
                    <a:cs typeface="Times New Roman" panose="02020603050405020304" pitchFamily="18" charset="0"/>
                  </a:rPr>
                  <a:t>A*</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算法找到的第一个终止结点为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zh-CN" altLang="en-US"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对于此时边缘集合中任意结点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，根据算法每次扩展时的策略，即选择评价函数取值最小的边缘结点进行扩展，有</a:t>
                </a:r>
                <a14:m>
                  <m:oMath xmlns:m="http://schemas.openxmlformats.org/officeDocument/2006/math">
                    <m:r>
                      <a:rPr lang="en-US" altLang="zh-CN" i="1" smtClean="0">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d>
                  </m:oMath>
                </a14:m>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zh-CN" altLang="en-US" dirty="0">
                    <a:solidFill>
                      <a:schemeClr val="accent2"/>
                    </a:solidFill>
                    <a:latin typeface="Times New Roman" panose="02020603050405020304" pitchFamily="18" charset="0"/>
                    <a:ea typeface="楷体_GB2312"/>
                    <a:cs typeface="Times New Roman" panose="02020603050405020304" pitchFamily="18" charset="0"/>
                  </a:rPr>
                  <a:t>由于节点</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en-US" dirty="0">
                    <a:solidFill>
                      <a:schemeClr val="accent2"/>
                    </a:solidFill>
                    <a:latin typeface="Times New Roman" panose="02020603050405020304" pitchFamily="18" charset="0"/>
                    <a:ea typeface="楷体_GB2312"/>
                    <a:cs typeface="Times New Roman" panose="02020603050405020304" pitchFamily="18" charset="0"/>
                  </a:rPr>
                  <a:t>的评价函数取值最小、肯定比</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r>
                      <a:rPr lang="en-US" altLang="zh-CN" i="1">
                        <a:solidFill>
                          <a:schemeClr val="accent2"/>
                        </a:solidFill>
                        <a:latin typeface="Cambria Math" panose="02040503050406030204" pitchFamily="18" charset="0"/>
                        <a:ea typeface="楷体_GB2312"/>
                        <a:cs typeface="Times New Roman" panose="02020603050405020304" pitchFamily="18" charset="0"/>
                      </a:rPr>
                      <m:t>′</m:t>
                    </m:r>
                  </m:oMath>
                </a14:m>
                <a:r>
                  <a:rPr lang="zh-CN" altLang="en-US" dirty="0">
                    <a:solidFill>
                      <a:schemeClr val="accent2"/>
                    </a:solidFill>
                    <a:latin typeface="Times New Roman" panose="02020603050405020304" pitchFamily="18" charset="0"/>
                    <a:ea typeface="楷体_GB2312"/>
                    <a:cs typeface="Times New Roman" panose="02020603050405020304" pitchFamily="18" charset="0"/>
                  </a:rPr>
                  <a:t>小，所以被扩展，所以该式子成立</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。由于</a:t>
                </a:r>
                <a:r>
                  <a:rPr lang="en-US" altLang="zh-CN" dirty="0">
                    <a:solidFill>
                      <a:srgbClr val="000000"/>
                    </a:solidFill>
                    <a:latin typeface="Times New Roman" panose="02020603050405020304" pitchFamily="18" charset="0"/>
                    <a:ea typeface="楷体_GB2312"/>
                    <a:cs typeface="Times New Roman" panose="02020603050405020304" pitchFamily="18" charset="0"/>
                  </a:rPr>
                  <a:t>A*</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算法对评价函数定义为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𝑔</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h</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，且</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h</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，有</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𝑔</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h</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𝑔</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𝑔</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h</m:t>
                    </m:r>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，综合可得</a:t>
                </a: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𝑔</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d>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𝑔</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𝑔</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e>
                        <m: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𝑔</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为从起始结点到结点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所对应路径的代价，</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𝑔</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d>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h</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表示从初始结点出发经过结点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到达终止结点的最小代价。也就是说</a:t>
                </a:r>
                <a:r>
                  <a:rPr lang="zh-CN" altLang="zh-CN" dirty="0">
                    <a:solidFill>
                      <a:schemeClr val="accent2"/>
                    </a:solidFill>
                    <a:latin typeface="Times New Roman" panose="02020603050405020304" pitchFamily="18" charset="0"/>
                    <a:ea typeface="楷体_GB2312"/>
                    <a:cs typeface="Times New Roman" panose="02020603050405020304" pitchFamily="18" charset="0"/>
                  </a:rPr>
                  <a:t>此时扩展其他任何一个边缘结点都不可能找到比结点</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所对应路径代价更小的路径，因此结点</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对应的是一条最短路径，即算法满足最优性</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7" name="矩形 6">
                <a:extLst>
                  <a:ext uri="{FF2B5EF4-FFF2-40B4-BE49-F238E27FC236}">
                    <a16:creationId xmlns:a16="http://schemas.microsoft.com/office/drawing/2014/main" id="{47DD4569-7CF7-4B42-86FE-42F7464FC51F}"/>
                  </a:ext>
                </a:extLst>
              </p:cNvPr>
              <p:cNvSpPr>
                <a:spLocks noRot="1" noChangeAspect="1" noMove="1" noResize="1" noEditPoints="1" noAdjustHandles="1" noChangeArrowheads="1" noChangeShapeType="1" noTextEdit="1"/>
              </p:cNvSpPr>
              <p:nvPr/>
            </p:nvSpPr>
            <p:spPr>
              <a:xfrm>
                <a:off x="1311349" y="2303911"/>
                <a:ext cx="9569301" cy="3782702"/>
              </a:xfrm>
              <a:prstGeom prst="rect">
                <a:avLst/>
              </a:prstGeom>
              <a:blipFill>
                <a:blip r:embed="rId3"/>
                <a:stretch>
                  <a:fillRect l="-510" r="-2994" b="-1774"/>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DB814835-A6BD-469C-BAA9-E0746971E0FF}"/>
              </a:ext>
            </a:extLst>
          </p:cNvPr>
          <p:cNvSpPr/>
          <p:nvPr/>
        </p:nvSpPr>
        <p:spPr>
          <a:xfrm>
            <a:off x="3385929" y="1794782"/>
            <a:ext cx="5083443" cy="369332"/>
          </a:xfrm>
          <a:prstGeom prst="rect">
            <a:avLst/>
          </a:prstGeom>
        </p:spPr>
        <p:txBody>
          <a:bodyPr wrap="none">
            <a:spAutoFit/>
          </a:bodyPr>
          <a:lstStyle/>
          <a:p>
            <a:r>
              <a:rPr lang="zh-CN" altLang="zh-CN" b="1" dirty="0">
                <a:solidFill>
                  <a:srgbClr val="C00000"/>
                </a:solidFill>
                <a:latin typeface="Times New Roman" panose="02020603050405020304" pitchFamily="18" charset="0"/>
                <a:ea typeface="楷体_GB2312"/>
                <a:cs typeface="Times New Roman" panose="02020603050405020304" pitchFamily="18" charset="0"/>
              </a:rPr>
              <a:t>如果启发函数是可容的，那么</a:t>
            </a:r>
            <a:r>
              <a:rPr lang="en-US" altLang="zh-CN" b="1" dirty="0">
                <a:solidFill>
                  <a:srgbClr val="C00000"/>
                </a:solidFill>
                <a:latin typeface="Times New Roman" panose="02020603050405020304" pitchFamily="18" charset="0"/>
                <a:ea typeface="楷体_GB2312"/>
                <a:cs typeface="Times New Roman" panose="02020603050405020304" pitchFamily="18" charset="0"/>
              </a:rPr>
              <a:t>A*</a:t>
            </a:r>
            <a:r>
              <a:rPr lang="zh-CN" altLang="zh-CN" b="1" dirty="0">
                <a:solidFill>
                  <a:srgbClr val="C00000"/>
                </a:solidFill>
                <a:latin typeface="Times New Roman" panose="02020603050405020304" pitchFamily="18" charset="0"/>
                <a:ea typeface="楷体_GB2312"/>
                <a:cs typeface="Times New Roman" panose="02020603050405020304" pitchFamily="18" charset="0"/>
              </a:rPr>
              <a:t>算法满足最优性</a:t>
            </a:r>
            <a:endParaRPr lang="zh-CN" altLang="en-US" dirty="0"/>
          </a:p>
        </p:txBody>
      </p:sp>
      <p:cxnSp>
        <p:nvCxnSpPr>
          <p:cNvPr id="6" name="直接连接符 5">
            <a:extLst>
              <a:ext uri="{FF2B5EF4-FFF2-40B4-BE49-F238E27FC236}">
                <a16:creationId xmlns:a16="http://schemas.microsoft.com/office/drawing/2014/main" id="{EDF1DFDE-BAE4-77B1-B03B-AC91974D0B39}"/>
              </a:ext>
            </a:extLst>
          </p:cNvPr>
          <p:cNvCxnSpPr/>
          <p:nvPr/>
        </p:nvCxnSpPr>
        <p:spPr>
          <a:xfrm>
            <a:off x="5743074" y="4787424"/>
            <a:ext cx="5133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18F8987-116C-51A8-AD72-EB1CC4D76460}"/>
              </a:ext>
            </a:extLst>
          </p:cNvPr>
          <p:cNvCxnSpPr/>
          <p:nvPr/>
        </p:nvCxnSpPr>
        <p:spPr>
          <a:xfrm>
            <a:off x="7419474" y="4787424"/>
            <a:ext cx="513347"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箭头: 上弧形 9">
            <a:extLst>
              <a:ext uri="{FF2B5EF4-FFF2-40B4-BE49-F238E27FC236}">
                <a16:creationId xmlns:a16="http://schemas.microsoft.com/office/drawing/2014/main" id="{1CCD1E43-CC43-8A7C-6EBE-ED6E96ABC8FB}"/>
              </a:ext>
            </a:extLst>
          </p:cNvPr>
          <p:cNvSpPr/>
          <p:nvPr/>
        </p:nvSpPr>
        <p:spPr>
          <a:xfrm>
            <a:off x="5935579" y="4254953"/>
            <a:ext cx="1780674" cy="243711"/>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文本框 12">
            <a:extLst>
              <a:ext uri="{FF2B5EF4-FFF2-40B4-BE49-F238E27FC236}">
                <a16:creationId xmlns:a16="http://schemas.microsoft.com/office/drawing/2014/main" id="{F51A4BA2-2312-C30F-FDD7-6E2B0AE1411C}"/>
              </a:ext>
            </a:extLst>
          </p:cNvPr>
          <p:cNvSpPr txBox="1"/>
          <p:nvPr/>
        </p:nvSpPr>
        <p:spPr>
          <a:xfrm>
            <a:off x="6384758" y="3914649"/>
            <a:ext cx="882316" cy="369332"/>
          </a:xfrm>
          <a:prstGeom prst="rect">
            <a:avLst/>
          </a:prstGeom>
          <a:noFill/>
        </p:spPr>
        <p:txBody>
          <a:bodyPr wrap="square">
            <a:spAutoFit/>
          </a:bodyPr>
          <a:lstStyle/>
          <a:p>
            <a:r>
              <a:rPr lang="zh-CN" altLang="zh-CN" dirty="0">
                <a:solidFill>
                  <a:srgbClr val="C00000"/>
                </a:solidFill>
                <a:latin typeface="Times New Roman" panose="02020603050405020304" pitchFamily="18" charset="0"/>
                <a:ea typeface="楷体_GB2312"/>
                <a:cs typeface="Times New Roman" panose="02020603050405020304" pitchFamily="18" charset="0"/>
              </a:rPr>
              <a:t>可容</a:t>
            </a:r>
            <a:r>
              <a:rPr lang="zh-CN" altLang="en-US" dirty="0">
                <a:solidFill>
                  <a:srgbClr val="C00000"/>
                </a:solidFill>
                <a:latin typeface="Times New Roman" panose="02020603050405020304" pitchFamily="18" charset="0"/>
                <a:ea typeface="楷体_GB2312"/>
                <a:cs typeface="Times New Roman" panose="02020603050405020304" pitchFamily="18" charset="0"/>
              </a:rPr>
              <a:t>性</a:t>
            </a:r>
            <a:endParaRPr lang="zh-CN" altLang="en-US" dirty="0"/>
          </a:p>
        </p:txBody>
      </p:sp>
    </p:spTree>
    <p:extLst>
      <p:ext uri="{BB962C8B-B14F-4D97-AF65-F5344CB8AC3E}">
        <p14:creationId xmlns:p14="http://schemas.microsoft.com/office/powerpoint/2010/main" val="386098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对抗搜索（</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adversarial search</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或</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博弈搜索（</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game search</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sp>
        <p:nvSpPr>
          <p:cNvPr id="6" name="矩形 5">
            <a:extLst>
              <a:ext uri="{FF2B5EF4-FFF2-40B4-BE49-F238E27FC236}">
                <a16:creationId xmlns:a16="http://schemas.microsoft.com/office/drawing/2014/main" id="{19A62175-8556-4699-9C55-1BFDCD35314E}"/>
              </a:ext>
            </a:extLst>
          </p:cNvPr>
          <p:cNvSpPr/>
          <p:nvPr/>
        </p:nvSpPr>
        <p:spPr>
          <a:xfrm>
            <a:off x="1043764" y="1715800"/>
            <a:ext cx="10380920" cy="634917"/>
          </a:xfrm>
          <a:prstGeom prst="rect">
            <a:avLst/>
          </a:prstGeom>
        </p:spPr>
        <p:txBody>
          <a:bodyPr wrap="square">
            <a:spAutoFit/>
          </a:bodyPr>
          <a:lstStyle/>
          <a:p>
            <a:pPr indent="266700" algn="ctr">
              <a:lnSpc>
                <a:spcPts val="22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两个智能体同处于一个竞争的环境，智能体之间通过竞争来实现各自相反目标，即一方想</a:t>
            </a:r>
            <a:r>
              <a:rPr lang="zh-CN"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最大化自身的利益</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，而另一方则想</a:t>
            </a:r>
            <a:r>
              <a:rPr lang="zh-CN"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最小化对手的利益</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。通俗地说，对抗搜索的过程就是两个智能体各自选择对自己有利的策略。</a:t>
            </a:r>
          </a:p>
        </p:txBody>
      </p:sp>
      <p:sp>
        <p:nvSpPr>
          <p:cNvPr id="10" name="矩形 9">
            <a:extLst>
              <a:ext uri="{FF2B5EF4-FFF2-40B4-BE49-F238E27FC236}">
                <a16:creationId xmlns:a16="http://schemas.microsoft.com/office/drawing/2014/main" id="{C58D92EA-1146-4141-B349-D2B2ADE9989C}"/>
              </a:ext>
            </a:extLst>
          </p:cNvPr>
          <p:cNvSpPr/>
          <p:nvPr/>
        </p:nvSpPr>
        <p:spPr>
          <a:xfrm>
            <a:off x="2757947" y="3377879"/>
            <a:ext cx="2827866" cy="1938992"/>
          </a:xfrm>
          <a:prstGeom prst="rect">
            <a:avLst/>
          </a:prstGeom>
        </p:spPr>
        <p:txBody>
          <a:bodyPr wrap="square">
            <a:spAutoFit/>
          </a:bodyPr>
          <a:lstStyle/>
          <a:p>
            <a:pPr>
              <a:lnSpc>
                <a:spcPct val="150000"/>
              </a:lnSpc>
            </a:pPr>
            <a:r>
              <a:rPr lang="zh-CN" altLang="en-US" sz="2000" b="1" dirty="0">
                <a:ea typeface="华文楷体" panose="02010600040101010101" pitchFamily="2" charset="-122"/>
              </a:rPr>
              <a:t>狭路相逢勇者胜</a:t>
            </a:r>
            <a:endParaRPr lang="en-US" altLang="zh-CN" sz="2000" b="1" dirty="0">
              <a:ea typeface="华文楷体" panose="02010600040101010101" pitchFamily="2" charset="-122"/>
            </a:endParaRPr>
          </a:p>
          <a:p>
            <a:pPr>
              <a:lnSpc>
                <a:spcPct val="150000"/>
              </a:lnSpc>
            </a:pPr>
            <a:r>
              <a:rPr lang="zh-CN" altLang="en-US" sz="2000" b="1" dirty="0">
                <a:ea typeface="华文楷体" panose="02010600040101010101" pitchFamily="2" charset="-122"/>
              </a:rPr>
              <a:t>勇者相逢智者胜</a:t>
            </a:r>
            <a:endParaRPr lang="en-US" altLang="zh-CN" sz="2000" b="1" dirty="0">
              <a:ea typeface="华文楷体" panose="02010600040101010101" pitchFamily="2" charset="-122"/>
            </a:endParaRPr>
          </a:p>
          <a:p>
            <a:pPr>
              <a:lnSpc>
                <a:spcPct val="150000"/>
              </a:lnSpc>
            </a:pPr>
            <a:r>
              <a:rPr lang="zh-CN" altLang="en-US" sz="2000" b="1" dirty="0">
                <a:ea typeface="华文楷体" panose="02010600040101010101" pitchFamily="2" charset="-122"/>
              </a:rPr>
              <a:t>智者相逢德者胜</a:t>
            </a:r>
            <a:endParaRPr lang="en-US" altLang="zh-CN" sz="2000" b="1" dirty="0">
              <a:ea typeface="华文楷体" panose="02010600040101010101" pitchFamily="2" charset="-122"/>
            </a:endParaRPr>
          </a:p>
          <a:p>
            <a:pPr>
              <a:lnSpc>
                <a:spcPct val="150000"/>
              </a:lnSpc>
            </a:pPr>
            <a:r>
              <a:rPr lang="zh-CN" altLang="en-US" sz="2000" b="1" dirty="0">
                <a:ea typeface="华文楷体" panose="02010600040101010101" pitchFamily="2" charset="-122"/>
              </a:rPr>
              <a:t>德者相逢</a:t>
            </a:r>
            <a:r>
              <a:rPr lang="zh-CN" altLang="en-US" sz="2000" b="1" dirty="0">
                <a:solidFill>
                  <a:srgbClr val="C00000"/>
                </a:solidFill>
                <a:ea typeface="华文楷体" panose="02010600040101010101" pitchFamily="2" charset="-122"/>
              </a:rPr>
              <a:t>道者胜</a:t>
            </a:r>
          </a:p>
        </p:txBody>
      </p:sp>
      <p:sp>
        <p:nvSpPr>
          <p:cNvPr id="11" name="圆角矩形 19">
            <a:extLst>
              <a:ext uri="{FF2B5EF4-FFF2-40B4-BE49-F238E27FC236}">
                <a16:creationId xmlns:a16="http://schemas.microsoft.com/office/drawing/2014/main" id="{D799A4CC-90C5-47D1-8C70-5E5B7C0C7B1B}"/>
              </a:ext>
            </a:extLst>
          </p:cNvPr>
          <p:cNvSpPr/>
          <p:nvPr/>
        </p:nvSpPr>
        <p:spPr bwMode="auto">
          <a:xfrm>
            <a:off x="6784279" y="5513193"/>
            <a:ext cx="1065066" cy="374999"/>
          </a:xfrm>
          <a:prstGeom prst="roundRect">
            <a:avLst/>
          </a:prstGeom>
          <a:ln>
            <a:headEnd type="none" w="med" len="med"/>
            <a:tailEnd type="none" w="med" len="med"/>
          </a:ln>
          <a:scene3d>
            <a:camera prst="orthographicFront"/>
            <a:lightRig rig="threePt" dir="t"/>
          </a:scene3d>
          <a:sp3d>
            <a:bevelT w="190500" h="63500"/>
          </a:sp3d>
        </p:spPr>
        <p:style>
          <a:lnRef idx="1">
            <a:schemeClr val="accent1"/>
          </a:lnRef>
          <a:fillRef idx="2">
            <a:schemeClr val="accent1"/>
          </a:fillRef>
          <a:effectRef idx="1">
            <a:schemeClr val="accent1"/>
          </a:effectRef>
          <a:fontRef idx="minor">
            <a:schemeClr val="dk1"/>
          </a:fontRef>
        </p:style>
        <p:txBody>
          <a:bodyPr wrap="none" tIns="0" bIns="0" anchor="ctr"/>
          <a:lstStyle/>
          <a:p>
            <a:pPr algn="ctr">
              <a:buFont typeface="Arial" panose="020B0604020202020204" pitchFamily="34" charset="0"/>
              <a:buNone/>
              <a:defRPr/>
            </a:pPr>
            <a:r>
              <a:rPr lang="zh-CN" altLang="en-US" sz="1400" b="1" dirty="0">
                <a:gradFill flip="none" rotWithShape="1">
                  <a:gsLst>
                    <a:gs pos="0">
                      <a:schemeClr val="tx1">
                        <a:shade val="30000"/>
                        <a:satMod val="115000"/>
                      </a:schemeClr>
                    </a:gs>
                    <a:gs pos="50000">
                      <a:schemeClr val="tx1">
                        <a:shade val="67500"/>
                        <a:satMod val="115000"/>
                      </a:schemeClr>
                    </a:gs>
                    <a:gs pos="100000">
                      <a:schemeClr val="tx1">
                        <a:shade val="100000"/>
                        <a:satMod val="115000"/>
                      </a:schemeClr>
                    </a:gs>
                  </a:gsLst>
                  <a:lin ang="16200000" scaled="1"/>
                  <a:tileRect/>
                </a:gradFill>
                <a:ea typeface="华文楷体" panose="02010600040101010101" pitchFamily="2" charset="-122"/>
              </a:rPr>
              <a:t>智能体</a:t>
            </a:r>
          </a:p>
        </p:txBody>
      </p:sp>
      <p:sp>
        <p:nvSpPr>
          <p:cNvPr id="13" name="圆角矩形 95">
            <a:extLst>
              <a:ext uri="{FF2B5EF4-FFF2-40B4-BE49-F238E27FC236}">
                <a16:creationId xmlns:a16="http://schemas.microsoft.com/office/drawing/2014/main" id="{B09F06FD-BE5A-4CDE-86D6-E7D61647E3F1}"/>
              </a:ext>
            </a:extLst>
          </p:cNvPr>
          <p:cNvSpPr>
            <a:spLocks/>
          </p:cNvSpPr>
          <p:nvPr/>
        </p:nvSpPr>
        <p:spPr bwMode="auto">
          <a:xfrm>
            <a:off x="6322101" y="4150950"/>
            <a:ext cx="1989422" cy="892175"/>
          </a:xfrm>
          <a:prstGeom prst="roundRect">
            <a:avLst>
              <a:gd name="adj" fmla="val 16667"/>
            </a:avLst>
          </a:prstGeom>
          <a:solidFill>
            <a:srgbClr val="FF0000"/>
          </a:solidFill>
          <a:ln w="9525">
            <a:solidFill>
              <a:schemeClr val="accent2"/>
            </a:solidFill>
            <a:round/>
            <a:headEnd/>
            <a:tailEnd/>
          </a:ln>
          <a:effectLst/>
        </p:spPr>
        <p:txBody>
          <a:bodyPr wrap="none" tIns="0" bIns="0" anchor="ct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a:buFont typeface="Arial" panose="020B0604020202020204" pitchFamily="34" charset="0"/>
              <a:buNone/>
              <a:defRPr/>
            </a:pPr>
            <a:r>
              <a:rPr lang="zh-CN" altLang="en-US" sz="2000" b="1" dirty="0">
                <a:solidFill>
                  <a:schemeClr val="bg1"/>
                </a:solidFill>
                <a:latin typeface="+mn-lt"/>
                <a:ea typeface="华文楷体" panose="02010600040101010101" pitchFamily="2" charset="-122"/>
                <a:sym typeface="Times New Roman" pitchFamily="18" charset="0"/>
              </a:rPr>
              <a:t>目标</a:t>
            </a:r>
            <a:endParaRPr lang="en-US" altLang="zh-CN" sz="2000" b="1" dirty="0">
              <a:solidFill>
                <a:schemeClr val="bg1"/>
              </a:solidFill>
              <a:latin typeface="+mn-lt"/>
              <a:ea typeface="华文楷体" panose="02010600040101010101" pitchFamily="2" charset="-122"/>
              <a:sym typeface="Times New Roman" pitchFamily="18" charset="0"/>
            </a:endParaRPr>
          </a:p>
        </p:txBody>
      </p:sp>
      <p:sp>
        <p:nvSpPr>
          <p:cNvPr id="14" name="圆角矩形 27">
            <a:extLst>
              <a:ext uri="{FF2B5EF4-FFF2-40B4-BE49-F238E27FC236}">
                <a16:creationId xmlns:a16="http://schemas.microsoft.com/office/drawing/2014/main" id="{90762590-5871-45F8-B8FD-17E7E2FFCB3B}"/>
              </a:ext>
            </a:extLst>
          </p:cNvPr>
          <p:cNvSpPr/>
          <p:nvPr/>
        </p:nvSpPr>
        <p:spPr bwMode="auto">
          <a:xfrm>
            <a:off x="6777043" y="3268306"/>
            <a:ext cx="1065066" cy="374999"/>
          </a:xfrm>
          <a:prstGeom prst="roundRect">
            <a:avLst/>
          </a:prstGeom>
          <a:ln>
            <a:headEnd type="none" w="med" len="med"/>
            <a:tailEnd type="none" w="med" len="med"/>
          </a:ln>
          <a:scene3d>
            <a:camera prst="orthographicFront"/>
            <a:lightRig rig="threePt" dir="t"/>
          </a:scene3d>
          <a:sp3d>
            <a:bevelT w="190500" h="63500"/>
          </a:sp3d>
        </p:spPr>
        <p:style>
          <a:lnRef idx="1">
            <a:schemeClr val="accent1"/>
          </a:lnRef>
          <a:fillRef idx="2">
            <a:schemeClr val="accent1"/>
          </a:fillRef>
          <a:effectRef idx="1">
            <a:schemeClr val="accent1"/>
          </a:effectRef>
          <a:fontRef idx="minor">
            <a:schemeClr val="dk1"/>
          </a:fontRef>
        </p:style>
        <p:txBody>
          <a:bodyPr wrap="none" tIns="0" bIns="0" anchor="ctr"/>
          <a:lstStyle/>
          <a:p>
            <a:pPr algn="ctr">
              <a:buFont typeface="Arial" panose="020B0604020202020204" pitchFamily="34" charset="0"/>
              <a:buNone/>
              <a:defRPr/>
            </a:pPr>
            <a:r>
              <a:rPr lang="zh-CN" altLang="en-US" sz="1400" b="1" dirty="0">
                <a:gradFill flip="none" rotWithShape="1">
                  <a:gsLst>
                    <a:gs pos="0">
                      <a:schemeClr val="tx1">
                        <a:shade val="30000"/>
                        <a:satMod val="115000"/>
                      </a:schemeClr>
                    </a:gs>
                    <a:gs pos="50000">
                      <a:schemeClr val="tx1">
                        <a:shade val="67500"/>
                        <a:satMod val="115000"/>
                      </a:schemeClr>
                    </a:gs>
                    <a:gs pos="100000">
                      <a:schemeClr val="tx1">
                        <a:shade val="100000"/>
                        <a:satMod val="115000"/>
                      </a:schemeClr>
                    </a:gs>
                  </a:gsLst>
                  <a:lin ang="16200000" scaled="1"/>
                  <a:tileRect/>
                </a:gradFill>
                <a:ea typeface="华文楷体" panose="02010600040101010101" pitchFamily="2" charset="-122"/>
              </a:rPr>
              <a:t>对手</a:t>
            </a:r>
          </a:p>
        </p:txBody>
      </p:sp>
      <p:sp>
        <p:nvSpPr>
          <p:cNvPr id="15" name="上箭头 8">
            <a:extLst>
              <a:ext uri="{FF2B5EF4-FFF2-40B4-BE49-F238E27FC236}">
                <a16:creationId xmlns:a16="http://schemas.microsoft.com/office/drawing/2014/main" id="{20170C30-B8B1-4D23-A8D3-13E9F246491D}"/>
              </a:ext>
            </a:extLst>
          </p:cNvPr>
          <p:cNvSpPr/>
          <p:nvPr/>
        </p:nvSpPr>
        <p:spPr>
          <a:xfrm>
            <a:off x="7215213" y="5120548"/>
            <a:ext cx="257547" cy="392647"/>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ea typeface="华文楷体" panose="02010600040101010101" pitchFamily="2" charset="-122"/>
            </a:endParaRPr>
          </a:p>
        </p:txBody>
      </p:sp>
      <p:sp>
        <p:nvSpPr>
          <p:cNvPr id="16" name="下箭头 9">
            <a:extLst>
              <a:ext uri="{FF2B5EF4-FFF2-40B4-BE49-F238E27FC236}">
                <a16:creationId xmlns:a16="http://schemas.microsoft.com/office/drawing/2014/main" id="{FB11E945-40EF-414E-88A2-822B204AA33E}"/>
              </a:ext>
            </a:extLst>
          </p:cNvPr>
          <p:cNvSpPr/>
          <p:nvPr/>
        </p:nvSpPr>
        <p:spPr>
          <a:xfrm>
            <a:off x="7215213" y="3742324"/>
            <a:ext cx="257547" cy="408627"/>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ea typeface="华文楷体" panose="02010600040101010101" pitchFamily="2" charset="-122"/>
            </a:endParaRPr>
          </a:p>
        </p:txBody>
      </p:sp>
      <p:sp>
        <p:nvSpPr>
          <p:cNvPr id="17" name="矩形 16">
            <a:extLst>
              <a:ext uri="{FF2B5EF4-FFF2-40B4-BE49-F238E27FC236}">
                <a16:creationId xmlns:a16="http://schemas.microsoft.com/office/drawing/2014/main" id="{93B8484F-8AD0-40A4-A8BB-DCB62BDCD206}"/>
              </a:ext>
            </a:extLst>
          </p:cNvPr>
          <p:cNvSpPr/>
          <p:nvPr/>
        </p:nvSpPr>
        <p:spPr>
          <a:xfrm>
            <a:off x="7596953" y="5075759"/>
            <a:ext cx="1338828" cy="369332"/>
          </a:xfrm>
          <a:prstGeom prst="rect">
            <a:avLst/>
          </a:prstGeom>
        </p:spPr>
        <p:txBody>
          <a:bodyPr wrap="none">
            <a:spAutoFit/>
          </a:bodyPr>
          <a:lstStyle/>
          <a:p>
            <a:r>
              <a:rPr lang="zh-CN" altLang="en-US" b="1" dirty="0">
                <a:ea typeface="华文楷体" panose="02010600040101010101" pitchFamily="2" charset="-122"/>
              </a:rPr>
              <a:t>最大化利益</a:t>
            </a:r>
          </a:p>
        </p:txBody>
      </p:sp>
      <p:sp>
        <p:nvSpPr>
          <p:cNvPr id="18" name="矩形 17">
            <a:extLst>
              <a:ext uri="{FF2B5EF4-FFF2-40B4-BE49-F238E27FC236}">
                <a16:creationId xmlns:a16="http://schemas.microsoft.com/office/drawing/2014/main" id="{C65C2FC4-2780-41D2-841D-A2D06151AF69}"/>
              </a:ext>
            </a:extLst>
          </p:cNvPr>
          <p:cNvSpPr/>
          <p:nvPr/>
        </p:nvSpPr>
        <p:spPr>
          <a:xfrm>
            <a:off x="7574375" y="3719746"/>
            <a:ext cx="1338828" cy="369332"/>
          </a:xfrm>
          <a:prstGeom prst="rect">
            <a:avLst/>
          </a:prstGeom>
        </p:spPr>
        <p:txBody>
          <a:bodyPr wrap="none">
            <a:spAutoFit/>
          </a:bodyPr>
          <a:lstStyle/>
          <a:p>
            <a:r>
              <a:rPr lang="zh-CN" altLang="en-US" b="1" dirty="0">
                <a:ea typeface="华文楷体" panose="02010600040101010101" pitchFamily="2" charset="-122"/>
              </a:rPr>
              <a:t>最小化利益</a:t>
            </a:r>
          </a:p>
        </p:txBody>
      </p:sp>
    </p:spTree>
    <p:extLst>
      <p:ext uri="{BB962C8B-B14F-4D97-AF65-F5344CB8AC3E}">
        <p14:creationId xmlns:p14="http://schemas.microsoft.com/office/powerpoint/2010/main" val="2217767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搜索：若干定义</a:t>
              </a:r>
            </a:p>
          </p:txBody>
        </p:sp>
      </p:grpSp>
      <p:sp>
        <p:nvSpPr>
          <p:cNvPr id="19" name="矩形: 圆角 6">
            <a:extLst>
              <a:ext uri="{FF2B5EF4-FFF2-40B4-BE49-F238E27FC236}">
                <a16:creationId xmlns:a16="http://schemas.microsoft.com/office/drawing/2014/main" id="{A6766E4A-56C0-4DA0-9233-A74FA23C4395}"/>
              </a:ext>
            </a:extLst>
          </p:cNvPr>
          <p:cNvSpPr/>
          <p:nvPr/>
        </p:nvSpPr>
        <p:spPr>
          <a:xfrm>
            <a:off x="1273279" y="1681857"/>
            <a:ext cx="9574618" cy="4012331"/>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32203DBA-EDBC-4C2C-8FF5-B511B124CFA9}"/>
                  </a:ext>
                </a:extLst>
              </p:cNvPr>
              <p:cNvSpPr/>
              <p:nvPr/>
            </p:nvSpPr>
            <p:spPr>
              <a:xfrm>
                <a:off x="1273279" y="1804124"/>
                <a:ext cx="9449656" cy="4359976"/>
              </a:xfrm>
              <a:prstGeom prst="rect">
                <a:avLst/>
              </a:prstGeom>
            </p:spPr>
            <p:txBody>
              <a:bodyPr wrap="square">
                <a:spAutoFit/>
              </a:bodyPr>
              <a:lstStyle/>
              <a:p>
                <a:pPr marL="342900" indent="-342900" algn="just">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：状态</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包括当前的游戏局面和当前行动的智能体。初始状态</a:t>
                </a:r>
                <a14:m>
                  <m:oMath xmlns:m="http://schemas.openxmlformats.org/officeDocument/2006/math">
                    <m:sSub>
                      <m:sSubPr>
                        <m:ctrlPr>
                          <a:rPr lang="zh-CN" altLang="zh-CN" sz="1600" i="1">
                            <a:solidFill>
                              <a:schemeClr val="bg1"/>
                            </a:solidFill>
                            <a:latin typeface="Cambria Math" panose="02040503050406030204" pitchFamily="18" charset="0"/>
                          </a:rPr>
                        </m:ctrlPr>
                      </m:sSubPr>
                      <m:e>
                        <m:r>
                          <a:rPr lang="en-US" altLang="zh-CN" sz="1600" i="1">
                            <a:solidFill>
                              <a:schemeClr val="bg1"/>
                            </a:solidFill>
                            <a:latin typeface="Cambria Math" panose="02040503050406030204" pitchFamily="18" charset="0"/>
                          </a:rPr>
                          <m:t>𝑠</m:t>
                        </m:r>
                      </m:e>
                      <m:sub>
                        <m:r>
                          <a:rPr lang="en-US" altLang="zh-CN" sz="1600" i="1">
                            <a:solidFill>
                              <a:schemeClr val="bg1"/>
                            </a:solidFill>
                            <a:latin typeface="Cambria Math" panose="02040503050406030204" pitchFamily="18" charset="0"/>
                          </a:rPr>
                          <m:t>0</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包括初始游戏局面和初始行动的玩家。由于本节讨论的问题假设两个竞争对手轮流行动，因此第</a:t>
                </a:r>
                <a14:m>
                  <m:oMath xmlns:m="http://schemas.openxmlformats.org/officeDocument/2006/math">
                    <m:r>
                      <a:rPr lang="en-US" altLang="zh-CN" sz="1600" i="1">
                        <a:solidFill>
                          <a:schemeClr val="bg1"/>
                        </a:solidFill>
                        <a:latin typeface="Cambria Math" panose="02040503050406030204" pitchFamily="18" charset="0"/>
                      </a:rPr>
                      <m:t>𝑖</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步行动的玩家是确定的，函数</a:t>
                </a:r>
                <a14:m>
                  <m:oMath xmlns:m="http://schemas.openxmlformats.org/officeDocument/2006/math">
                    <m:r>
                      <m:rPr>
                        <m:sty m:val="p"/>
                      </m:rPr>
                      <a:rPr lang="en-US" altLang="zh-CN" sz="1600">
                        <a:solidFill>
                          <a:schemeClr val="bg1"/>
                        </a:solidFill>
                        <a:latin typeface="Cambria Math" panose="02040503050406030204" pitchFamily="18" charset="0"/>
                      </a:rPr>
                      <m:t>player</m:t>
                    </m:r>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𝑠</m:t>
                    </m:r>
                    <m:r>
                      <a:rPr lang="en-US" altLang="zh-CN" sz="1600" i="1">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给出状态</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下行动的智能体。</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zh-CN"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给定状态</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，动作指的是</a:t>
                </a:r>
                <a14:m>
                  <m:oMath xmlns:m="http://schemas.openxmlformats.org/officeDocument/2006/math">
                    <m:r>
                      <m:rPr>
                        <m:sty m:val="p"/>
                      </m:rPr>
                      <a:rPr lang="en-US" altLang="zh-CN" sz="1600">
                        <a:solidFill>
                          <a:schemeClr val="bg1"/>
                        </a:solidFill>
                        <a:latin typeface="Cambria Math" panose="02040503050406030204" pitchFamily="18" charset="0"/>
                      </a:rPr>
                      <m:t>player</m:t>
                    </m:r>
                    <m:r>
                      <a:rPr lang="en-US" altLang="zh-CN" sz="1600">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𝑠</m:t>
                    </m:r>
                    <m:r>
                      <a:rPr lang="en-US" altLang="zh-CN" sz="1600" i="1">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在当前局面下可以采取的操作</a:t>
                </a:r>
                <a14:m>
                  <m:oMath xmlns:m="http://schemas.openxmlformats.org/officeDocument/2006/math">
                    <m:r>
                      <a:rPr lang="en-US" altLang="zh-CN" sz="1600" i="1">
                        <a:solidFill>
                          <a:schemeClr val="bg1"/>
                        </a:solidFill>
                        <a:latin typeface="Cambria Math" panose="02040503050406030204" pitchFamily="18" charset="0"/>
                      </a:rPr>
                      <m:t>𝑎</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，记动作集合为</a:t>
                </a:r>
                <a14:m>
                  <m:oMath xmlns:m="http://schemas.openxmlformats.org/officeDocument/2006/math">
                    <m:r>
                      <m:rPr>
                        <m:sty m:val="p"/>
                      </m:rPr>
                      <a:rPr lang="en-US" altLang="zh-CN" sz="1600">
                        <a:solidFill>
                          <a:schemeClr val="bg1"/>
                        </a:solidFill>
                        <a:latin typeface="Cambria Math" panose="02040503050406030204" pitchFamily="18" charset="0"/>
                      </a:rPr>
                      <m:t>actions</m:t>
                    </m:r>
                    <m:d>
                      <m:dPr>
                        <m:ctrlPr>
                          <a:rPr lang="zh-CN" altLang="zh-CN" sz="1600" i="1">
                            <a:solidFill>
                              <a:schemeClr val="bg1"/>
                            </a:solidFill>
                            <a:latin typeface="Cambria Math" panose="02040503050406030204" pitchFamily="18" charset="0"/>
                          </a:rPr>
                        </m:ctrlPr>
                      </m:dPr>
                      <m:e>
                        <m:r>
                          <a:rPr lang="en-US" altLang="zh-CN" sz="1600" i="1">
                            <a:solidFill>
                              <a:schemeClr val="bg1"/>
                            </a:solidFill>
                            <a:latin typeface="Cambria Math" panose="02040503050406030204" pitchFamily="18" charset="0"/>
                          </a:rPr>
                          <m:t>𝑠</m:t>
                        </m:r>
                      </m:e>
                    </m:d>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状态转移</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：给定状态</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和动作</a:t>
                </a:r>
                <a14:m>
                  <m:oMath xmlns:m="http://schemas.openxmlformats.org/officeDocument/2006/math">
                    <m:r>
                      <a:rPr lang="en-US" altLang="zh-CN" sz="1600" i="1">
                        <a:solidFill>
                          <a:schemeClr val="bg1"/>
                        </a:solidFill>
                        <a:latin typeface="Cambria Math" panose="02040503050406030204" pitchFamily="18" charset="0"/>
                      </a:rPr>
                      <m:t>𝑎</m:t>
                    </m:r>
                    <m:r>
                      <a:rPr lang="en-US" altLang="zh-CN" sz="1600" i="1">
                        <a:solidFill>
                          <a:schemeClr val="bg1"/>
                        </a:solidFill>
                        <a:latin typeface="Cambria Math" panose="02040503050406030204" pitchFamily="18" charset="0"/>
                      </a:rPr>
                      <m:t>∈</m:t>
                    </m:r>
                    <m:r>
                      <m:rPr>
                        <m:sty m:val="p"/>
                      </m:rPr>
                      <a:rPr lang="en-US" altLang="zh-CN" sz="1600">
                        <a:solidFill>
                          <a:schemeClr val="bg1"/>
                        </a:solidFill>
                        <a:latin typeface="Cambria Math" panose="02040503050406030204" pitchFamily="18" charset="0"/>
                      </a:rPr>
                      <m:t>actions</m:t>
                    </m:r>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𝑠</m:t>
                    </m:r>
                    <m:r>
                      <a:rPr lang="en-US" altLang="zh-CN" sz="1600" i="1">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，状态转移函数</a:t>
                </a:r>
                <a14:m>
                  <m:oMath xmlns:m="http://schemas.openxmlformats.org/officeDocument/2006/math">
                    <m:r>
                      <m:rPr>
                        <m:sty m:val="p"/>
                      </m:rPr>
                      <a:rPr lang="en-US" altLang="zh-CN" sz="1600">
                        <a:solidFill>
                          <a:schemeClr val="bg1"/>
                        </a:solidFill>
                        <a:latin typeface="Cambria Math" panose="02040503050406030204" pitchFamily="18" charset="0"/>
                      </a:rPr>
                      <m:t>result</m:t>
                    </m:r>
                    <m:r>
                      <a:rPr lang="en-US" altLang="zh-CN" sz="1600">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𝑠</m:t>
                    </m:r>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𝑎</m:t>
                    </m:r>
                    <m:r>
                      <a:rPr lang="en-US" altLang="zh-CN" sz="1600" i="1">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决定了在</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状态采取</a:t>
                </a:r>
                <a14:m>
                  <m:oMath xmlns:m="http://schemas.openxmlformats.org/officeDocument/2006/math">
                    <m:r>
                      <a:rPr lang="en-US" altLang="zh-CN" sz="1600" i="1">
                        <a:solidFill>
                          <a:schemeClr val="bg1"/>
                        </a:solidFill>
                        <a:latin typeface="Cambria Math" panose="02040503050406030204" pitchFamily="18" charset="0"/>
                      </a:rPr>
                      <m:t>𝑎</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动作后所得后继状态。</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终局状态检测</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：终止状态检测函数</a:t>
                </a:r>
                <a14:m>
                  <m:oMath xmlns:m="http://schemas.openxmlformats.org/officeDocument/2006/math">
                    <m:r>
                      <m:rPr>
                        <m:sty m:val="p"/>
                      </m:rPr>
                      <a:rPr lang="en-US" altLang="zh-CN" sz="1600">
                        <a:solidFill>
                          <a:schemeClr val="bg1"/>
                        </a:solidFill>
                        <a:latin typeface="Cambria Math" panose="02040503050406030204" pitchFamily="18" charset="0"/>
                      </a:rPr>
                      <m:t>terminal</m:t>
                    </m:r>
                    <m:r>
                      <a:rPr lang="en-US" altLang="zh-CN" sz="1600">
                        <a:solidFill>
                          <a:schemeClr val="bg1"/>
                        </a:solidFill>
                        <a:latin typeface="Cambria Math" panose="02040503050406030204" pitchFamily="18" charset="0"/>
                      </a:rPr>
                      <m:t>_</m:t>
                    </m:r>
                    <m:r>
                      <m:rPr>
                        <m:sty m:val="p"/>
                      </m:rPr>
                      <a:rPr lang="en-US" altLang="zh-CN" sz="1600">
                        <a:solidFill>
                          <a:schemeClr val="bg1"/>
                        </a:solidFill>
                        <a:latin typeface="Cambria Math" panose="02040503050406030204" pitchFamily="18" charset="0"/>
                      </a:rPr>
                      <m:t>test</m:t>
                    </m:r>
                    <m:r>
                      <a:rPr lang="en-US" altLang="zh-CN" sz="1600">
                        <a:solidFill>
                          <a:schemeClr val="bg1"/>
                        </a:solidFill>
                        <a:latin typeface="Cambria Math" panose="02040503050406030204" pitchFamily="18" charset="0"/>
                      </a:rPr>
                      <m:t>(</m:t>
                    </m:r>
                    <m:r>
                      <m:rPr>
                        <m:sty m:val="p"/>
                      </m:rPr>
                      <a:rPr lang="en-US" altLang="zh-CN" sz="1600">
                        <a:solidFill>
                          <a:schemeClr val="bg1"/>
                        </a:solidFill>
                        <a:latin typeface="Cambria Math" panose="02040503050406030204" pitchFamily="18" charset="0"/>
                      </a:rPr>
                      <m:t>s</m:t>
                    </m:r>
                    <m:r>
                      <a:rPr lang="en-US" altLang="zh-CN" sz="1600">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用于测试游戏是否在状态</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结束。</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终局得分</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：终局得分</a:t>
                </a:r>
                <a14:m>
                  <m:oMath xmlns:m="http://schemas.openxmlformats.org/officeDocument/2006/math">
                    <m:r>
                      <m:rPr>
                        <m:sty m:val="p"/>
                      </m:rPr>
                      <a:rPr lang="en-US" altLang="zh-CN" sz="1600">
                        <a:solidFill>
                          <a:schemeClr val="bg1"/>
                        </a:solidFill>
                        <a:latin typeface="Cambria Math" panose="02040503050406030204" pitchFamily="18" charset="0"/>
                      </a:rPr>
                      <m:t>utility</m:t>
                    </m:r>
                    <m:r>
                      <a:rPr lang="en-US" altLang="zh-CN" sz="1600">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𝑠</m:t>
                    </m:r>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𝑝</m:t>
                    </m:r>
                    <m:r>
                      <a:rPr lang="en-US" altLang="zh-CN" sz="1600" i="1">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表示在终局状态</a:t>
                </a:r>
                <a14:m>
                  <m:oMath xmlns:m="http://schemas.openxmlformats.org/officeDocument/2006/math">
                    <m:r>
                      <a:rPr lang="en-US" altLang="zh-CN" sz="1600" i="1">
                        <a:solidFill>
                          <a:schemeClr val="bg1"/>
                        </a:solidFill>
                        <a:latin typeface="Cambria Math" panose="020405030504060302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时玩家</a:t>
                </a:r>
                <a14:m>
                  <m:oMath xmlns:m="http://schemas.openxmlformats.org/officeDocument/2006/math">
                    <m:r>
                      <a:rPr lang="en-US" altLang="zh-CN" sz="1600" i="1">
                        <a:solidFill>
                          <a:schemeClr val="bg1"/>
                        </a:solidFill>
                        <a:latin typeface="Cambria Math" panose="02040503050406030204" pitchFamily="18" charset="0"/>
                      </a:rPr>
                      <m:t>𝑝</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的得分。在二人零和博弈中，两名玩家的终局得分之和应该是固定的，因此算法只需记录其中一人的终局得分为</a:t>
                </a:r>
                <a14:m>
                  <m:oMath xmlns:m="http://schemas.openxmlformats.org/officeDocument/2006/math">
                    <m:r>
                      <m:rPr>
                        <m:sty m:val="p"/>
                      </m:rPr>
                      <a:rPr lang="en-US" altLang="zh-CN" sz="1600">
                        <a:solidFill>
                          <a:schemeClr val="bg1"/>
                        </a:solidFill>
                        <a:latin typeface="Cambria Math" panose="02040503050406030204" pitchFamily="18" charset="0"/>
                      </a:rPr>
                      <m:t>utility</m:t>
                    </m:r>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𝑠</m:t>
                    </m:r>
                    <m:r>
                      <a:rPr lang="en-US" altLang="zh-CN" sz="1600" i="1">
                        <a:solidFill>
                          <a:schemeClr val="bg1"/>
                        </a:solidFill>
                        <a:latin typeface="Cambria Math" panose="020405030504060302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，则另一人的得分可按照零和原则相应算出。</a:t>
                </a:r>
              </a:p>
              <a:p>
                <a:pPr marL="342900" indent="-342900">
                  <a:lnSpc>
                    <a:spcPct val="250000"/>
                  </a:lnSpc>
                  <a:buClr>
                    <a:schemeClr val="bg1"/>
                  </a:buClr>
                  <a:buSzPct val="80000"/>
                  <a:buFont typeface="Wingdings" panose="05000000000000000000" pitchFamily="2" charset="2"/>
                  <a:buChar char="u"/>
                </a:pPr>
                <a:endPar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20" name="矩形 19">
                <a:extLst>
                  <a:ext uri="{FF2B5EF4-FFF2-40B4-BE49-F238E27FC236}">
                    <a16:creationId xmlns:a16="http://schemas.microsoft.com/office/drawing/2014/main" id="{32203DBA-EDBC-4C2C-8FF5-B511B124CFA9}"/>
                  </a:ext>
                </a:extLst>
              </p:cNvPr>
              <p:cNvSpPr>
                <a:spLocks noRot="1" noChangeAspect="1" noMove="1" noResize="1" noEditPoints="1" noAdjustHandles="1" noChangeArrowheads="1" noChangeShapeType="1" noTextEdit="1"/>
              </p:cNvSpPr>
              <p:nvPr/>
            </p:nvSpPr>
            <p:spPr>
              <a:xfrm>
                <a:off x="1273279" y="1804124"/>
                <a:ext cx="9449656" cy="4359976"/>
              </a:xfrm>
              <a:prstGeom prst="rect">
                <a:avLst/>
              </a:prstGeom>
              <a:blipFill>
                <a:blip r:embed="rId3"/>
                <a:stretch>
                  <a:fillRect l="-65" r="-323"/>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516C3D9D-EAB0-456E-98CD-C6FC12AB3094}"/>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852378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搜索：搜索策略</a:t>
              </a:r>
            </a:p>
          </p:txBody>
        </p:sp>
      </p:gr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7EC7EE04-B52A-46C9-9AB1-7B9CFD609979}"/>
                  </a:ext>
                </a:extLst>
              </p:cNvPr>
              <p:cNvSpPr/>
              <p:nvPr/>
            </p:nvSpPr>
            <p:spPr>
              <a:xfrm>
                <a:off x="2293104" y="4823024"/>
                <a:ext cx="6886783" cy="138865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fr-FR" altLang="zh-CN">
                          <a:latin typeface="Cambria Math"/>
                        </a:rPr>
                        <m:t>minimax</m:t>
                      </m:r>
                      <m:d>
                        <m:dPr>
                          <m:ctrlPr>
                            <a:rPr lang="zh-CN" altLang="zh-CN" i="1">
                              <a:latin typeface="Cambria Math" panose="02040503050406030204" pitchFamily="18" charset="0"/>
                            </a:rPr>
                          </m:ctrlPr>
                        </m:dPr>
                        <m:e>
                          <m:r>
                            <m:rPr>
                              <m:sty m:val="p"/>
                            </m:rPr>
                            <a:rPr lang="fr-FR" altLang="zh-CN">
                              <a:latin typeface="Cambria Math"/>
                            </a:rPr>
                            <m:t>s</m:t>
                          </m:r>
                        </m:e>
                      </m:d>
                      <m:r>
                        <a:rPr lang="fr-FR" altLang="zh-CN">
                          <a:latin typeface="Cambria Math"/>
                        </a:rPr>
                        <m:t>=</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m:rPr>
                                  <m:sty m:val="p"/>
                                </m:rPr>
                                <a:rPr lang="en-US" altLang="zh-CN">
                                  <a:latin typeface="Cambria Math"/>
                                </a:rPr>
                                <m:t>utility</m:t>
                              </m:r>
                              <m:d>
                                <m:dPr>
                                  <m:begChr m:val="（"/>
                                  <m:endChr m:val="）"/>
                                  <m:ctrlPr>
                                    <a:rPr lang="zh-CN" altLang="zh-CN" i="1">
                                      <a:latin typeface="Cambria Math" panose="02040503050406030204" pitchFamily="18" charset="0"/>
                                    </a:rPr>
                                  </m:ctrlPr>
                                </m:dPr>
                                <m:e>
                                  <m:r>
                                    <a:rPr lang="en-US" altLang="zh-CN" i="1">
                                      <a:latin typeface="Cambria Math"/>
                                    </a:rPr>
                                    <m:t>𝑠</m:t>
                                  </m:r>
                                </m:e>
                              </m:d>
                              <m:r>
                                <a:rPr lang="en-US" altLang="zh-CN" i="1">
                                  <a:latin typeface="Cambria Math"/>
                                </a:rPr>
                                <m:t>,                                     </m:t>
                              </m:r>
                              <m:r>
                                <a:rPr lang="fr-FR" altLang="zh-CN" i="1">
                                  <a:latin typeface="Cambria Math"/>
                                </a:rPr>
                                <m:t>                </m:t>
                              </m:r>
                              <m:r>
                                <m:rPr>
                                  <m:sty m:val="p"/>
                                </m:rPr>
                                <a:rPr lang="fr-FR" altLang="zh-CN">
                                  <a:latin typeface="Cambria Math"/>
                                </a:rPr>
                                <m:t>if</m:t>
                              </m:r>
                              <m:r>
                                <a:rPr lang="fr-FR" altLang="zh-CN">
                                  <a:latin typeface="Cambria Math"/>
                                </a:rPr>
                                <m:t> </m:t>
                              </m:r>
                              <m:r>
                                <m:rPr>
                                  <m:sty m:val="p"/>
                                </m:rPr>
                                <a:rPr lang="fr-FR" altLang="zh-CN">
                                  <a:latin typeface="Cambria Math"/>
                                </a:rPr>
                                <m:t>terminal</m:t>
                              </m:r>
                              <m:r>
                                <a:rPr lang="en-US" altLang="zh-CN">
                                  <a:latin typeface="Cambria Math"/>
                                </a:rPr>
                                <m:t>_</m:t>
                              </m:r>
                              <m:r>
                                <m:rPr>
                                  <m:sty m:val="p"/>
                                </m:rPr>
                                <a:rPr lang="en-US" altLang="zh-CN">
                                  <a:latin typeface="Cambria Math"/>
                                </a:rPr>
                                <m:t>test</m:t>
                              </m:r>
                              <m:r>
                                <a:rPr lang="en-US" altLang="zh-CN">
                                  <a:latin typeface="Cambria Math"/>
                                </a:rPr>
                                <m:t>(</m:t>
                              </m:r>
                              <m:r>
                                <m:rPr>
                                  <m:sty m:val="p"/>
                                </m:rPr>
                                <a:rPr lang="en-US" altLang="zh-CN">
                                  <a:latin typeface="Cambria Math"/>
                                </a:rPr>
                                <m:t>s</m:t>
                              </m:r>
                              <m:r>
                                <a:rPr lang="en-US" altLang="zh-CN">
                                  <a:latin typeface="Cambria Math"/>
                                </a:rPr>
                                <m:t>)</m:t>
                              </m:r>
                            </m:e>
                            <m:e>
                              <m:sSub>
                                <m:sSubPr>
                                  <m:ctrlPr>
                                    <a:rPr lang="zh-CN" altLang="zh-CN" i="1">
                                      <a:latin typeface="Cambria Math" panose="02040503050406030204" pitchFamily="18" charset="0"/>
                                    </a:rPr>
                                  </m:ctrlPr>
                                </m:sSubPr>
                                <m:e>
                                  <m:r>
                                    <m:rPr>
                                      <m:sty m:val="p"/>
                                    </m:rPr>
                                    <a:rPr lang="en-US" altLang="zh-CN">
                                      <a:latin typeface="Cambria Math"/>
                                    </a:rPr>
                                    <m:t>max</m:t>
                                  </m:r>
                                </m:e>
                                <m:sub>
                                  <m:r>
                                    <a:rPr lang="en-US" altLang="zh-CN" i="1">
                                      <a:latin typeface="Cambria Math"/>
                                    </a:rPr>
                                    <m:t>𝑎</m:t>
                                  </m:r>
                                  <m:r>
                                    <a:rPr lang="fr-FR" altLang="zh-CN" i="1">
                                      <a:latin typeface="Cambria Math"/>
                                    </a:rPr>
                                    <m:t>∈</m:t>
                                  </m:r>
                                  <m:r>
                                    <m:rPr>
                                      <m:sty m:val="p"/>
                                    </m:rPr>
                                    <a:rPr lang="en-US" altLang="zh-CN">
                                      <a:latin typeface="Cambria Math"/>
                                    </a:rPr>
                                    <m:t>actions</m:t>
                                  </m:r>
                                  <m:d>
                                    <m:dPr>
                                      <m:ctrlPr>
                                        <a:rPr lang="zh-CN" altLang="zh-CN" i="1">
                                          <a:latin typeface="Cambria Math" panose="02040503050406030204" pitchFamily="18" charset="0"/>
                                        </a:rPr>
                                      </m:ctrlPr>
                                    </m:dPr>
                                    <m:e>
                                      <m:r>
                                        <a:rPr lang="en-US" altLang="zh-CN" i="1">
                                          <a:latin typeface="Cambria Math"/>
                                        </a:rPr>
                                        <m:t>𝑠</m:t>
                                      </m:r>
                                    </m:e>
                                  </m:d>
                                </m:sub>
                              </m:sSub>
                              <m:r>
                                <m:rPr>
                                  <m:sty m:val="p"/>
                                </m:rPr>
                                <a:rPr lang="en-US" altLang="zh-CN">
                                  <a:latin typeface="Cambria Math"/>
                                </a:rPr>
                                <m:t>minimax</m:t>
                              </m:r>
                              <m:d>
                                <m:dPr>
                                  <m:ctrlPr>
                                    <a:rPr lang="zh-CN" altLang="zh-CN" i="1">
                                      <a:latin typeface="Cambria Math" panose="02040503050406030204" pitchFamily="18" charset="0"/>
                                    </a:rPr>
                                  </m:ctrlPr>
                                </m:dPr>
                                <m:e>
                                  <m:r>
                                    <m:rPr>
                                      <m:sty m:val="p"/>
                                    </m:rPr>
                                    <a:rPr lang="en-US" altLang="zh-CN">
                                      <a:latin typeface="Cambria Math"/>
                                    </a:rPr>
                                    <m:t>result</m:t>
                                  </m:r>
                                  <m:d>
                                    <m:dPr>
                                      <m:ctrlPr>
                                        <a:rPr lang="zh-CN" altLang="zh-CN" i="1">
                                          <a:latin typeface="Cambria Math" panose="02040503050406030204" pitchFamily="18" charset="0"/>
                                        </a:rPr>
                                      </m:ctrlPr>
                                    </m:dPr>
                                    <m:e>
                                      <m:r>
                                        <a:rPr lang="en-US" altLang="zh-CN" i="1">
                                          <a:latin typeface="Cambria Math"/>
                                        </a:rPr>
                                        <m:t>𝑠</m:t>
                                      </m:r>
                                      <m:r>
                                        <a:rPr lang="fr-FR" altLang="zh-CN" i="1">
                                          <a:latin typeface="Cambria Math"/>
                                        </a:rPr>
                                        <m:t>,</m:t>
                                      </m:r>
                                      <m:r>
                                        <a:rPr lang="en-US" altLang="zh-CN" i="1">
                                          <a:latin typeface="Cambria Math"/>
                                        </a:rPr>
                                        <m:t>𝑎</m:t>
                                      </m:r>
                                    </m:e>
                                  </m:d>
                                </m:e>
                              </m:d>
                              <m:r>
                                <a:rPr lang="en-US" altLang="zh-CN" i="1">
                                  <a:latin typeface="Cambria Math"/>
                                </a:rPr>
                                <m:t>,</m:t>
                              </m:r>
                              <m:r>
                                <a:rPr lang="fr-FR" altLang="zh-CN" i="1">
                                  <a:latin typeface="Cambria Math"/>
                                </a:rPr>
                                <m:t>   </m:t>
                              </m:r>
                              <m:r>
                                <m:rPr>
                                  <m:sty m:val="p"/>
                                </m:rPr>
                                <a:rPr lang="fr-FR" altLang="zh-CN">
                                  <a:latin typeface="Cambria Math"/>
                                </a:rPr>
                                <m:t>if</m:t>
                              </m:r>
                              <m:r>
                                <a:rPr lang="fr-FR" altLang="zh-CN" i="1">
                                  <a:latin typeface="Cambria Math"/>
                                </a:rPr>
                                <m:t> </m:t>
                              </m:r>
                              <m:r>
                                <m:rPr>
                                  <m:sty m:val="p"/>
                                </m:rPr>
                                <a:rPr lang="en-US" altLang="zh-CN">
                                  <a:latin typeface="Cambria Math"/>
                                </a:rPr>
                                <m:t>player</m:t>
                              </m:r>
                              <m:d>
                                <m:dPr>
                                  <m:ctrlPr>
                                    <a:rPr lang="zh-CN" altLang="zh-CN" i="1">
                                      <a:latin typeface="Cambria Math" panose="02040503050406030204" pitchFamily="18" charset="0"/>
                                    </a:rPr>
                                  </m:ctrlPr>
                                </m:dPr>
                                <m:e>
                                  <m:r>
                                    <a:rPr lang="en-US" altLang="zh-CN" i="1">
                                      <a:latin typeface="Cambria Math"/>
                                    </a:rPr>
                                    <m:t>𝑠</m:t>
                                  </m:r>
                                </m:e>
                              </m:d>
                              <m:r>
                                <a:rPr lang="fr-FR" altLang="zh-CN" i="1">
                                  <a:latin typeface="Cambria Math"/>
                                </a:rPr>
                                <m:t>=</m:t>
                              </m:r>
                              <m:r>
                                <a:rPr lang="en-US" altLang="zh-CN" i="1">
                                  <a:latin typeface="Cambria Math"/>
                                </a:rPr>
                                <m:t>𝑀𝐴𝑋</m:t>
                              </m:r>
                            </m:e>
                            <m:e>
                              <m:r>
                                <m:rPr>
                                  <m:sty m:val="p"/>
                                </m:rPr>
                                <a:rPr lang="en-US" altLang="zh-CN">
                                  <a:latin typeface="Cambria Math"/>
                                </a:rPr>
                                <m:t>m</m:t>
                              </m:r>
                              <m:sSub>
                                <m:sSubPr>
                                  <m:ctrlPr>
                                    <a:rPr lang="zh-CN" altLang="zh-CN" i="1">
                                      <a:latin typeface="Cambria Math" panose="02040503050406030204" pitchFamily="18" charset="0"/>
                                    </a:rPr>
                                  </m:ctrlPr>
                                </m:sSubPr>
                                <m:e>
                                  <m:r>
                                    <m:rPr>
                                      <m:sty m:val="p"/>
                                    </m:rPr>
                                    <a:rPr lang="en-US" altLang="zh-CN">
                                      <a:latin typeface="Cambria Math"/>
                                    </a:rPr>
                                    <m:t>in</m:t>
                                  </m:r>
                                </m:e>
                                <m:sub>
                                  <m:r>
                                    <a:rPr lang="en-US" altLang="zh-CN" i="1">
                                      <a:latin typeface="Cambria Math"/>
                                    </a:rPr>
                                    <m:t>𝑎</m:t>
                                  </m:r>
                                  <m:r>
                                    <a:rPr lang="fr-FR" altLang="zh-CN">
                                      <a:latin typeface="Cambria Math"/>
                                    </a:rPr>
                                    <m:t>∈</m:t>
                                  </m:r>
                                  <m:r>
                                    <m:rPr>
                                      <m:sty m:val="p"/>
                                    </m:rPr>
                                    <a:rPr lang="en-US" altLang="zh-CN">
                                      <a:latin typeface="Cambria Math"/>
                                    </a:rPr>
                                    <m:t>actions</m:t>
                                  </m:r>
                                  <m:d>
                                    <m:dPr>
                                      <m:ctrlPr>
                                        <a:rPr lang="zh-CN" altLang="zh-CN" i="1">
                                          <a:latin typeface="Cambria Math" panose="02040503050406030204" pitchFamily="18" charset="0"/>
                                        </a:rPr>
                                      </m:ctrlPr>
                                    </m:dPr>
                                    <m:e>
                                      <m:r>
                                        <m:rPr>
                                          <m:sty m:val="p"/>
                                        </m:rPr>
                                        <a:rPr lang="en-US" altLang="zh-CN">
                                          <a:latin typeface="Cambria Math"/>
                                        </a:rPr>
                                        <m:t>s</m:t>
                                      </m:r>
                                    </m:e>
                                  </m:d>
                                </m:sub>
                              </m:sSub>
                              <m:r>
                                <m:rPr>
                                  <m:sty m:val="p"/>
                                </m:rPr>
                                <a:rPr lang="en-US" altLang="zh-CN">
                                  <a:latin typeface="Cambria Math"/>
                                </a:rPr>
                                <m:t>minimax</m:t>
                              </m:r>
                              <m:d>
                                <m:dPr>
                                  <m:ctrlPr>
                                    <a:rPr lang="zh-CN" altLang="zh-CN" i="1">
                                      <a:latin typeface="Cambria Math" panose="02040503050406030204" pitchFamily="18" charset="0"/>
                                    </a:rPr>
                                  </m:ctrlPr>
                                </m:dPr>
                                <m:e>
                                  <m:r>
                                    <m:rPr>
                                      <m:sty m:val="p"/>
                                    </m:rPr>
                                    <a:rPr lang="en-US" altLang="zh-CN">
                                      <a:latin typeface="Cambria Math"/>
                                    </a:rPr>
                                    <m:t>result</m:t>
                                  </m:r>
                                  <m:d>
                                    <m:dPr>
                                      <m:ctrlPr>
                                        <a:rPr lang="zh-CN" altLang="zh-CN" i="1">
                                          <a:latin typeface="Cambria Math" panose="02040503050406030204" pitchFamily="18" charset="0"/>
                                        </a:rPr>
                                      </m:ctrlPr>
                                    </m:dPr>
                                    <m:e>
                                      <m:r>
                                        <a:rPr lang="en-US" altLang="zh-CN" i="1">
                                          <a:latin typeface="Cambria Math"/>
                                        </a:rPr>
                                        <m:t>𝑠</m:t>
                                      </m:r>
                                      <m:r>
                                        <a:rPr lang="fr-FR" altLang="zh-CN" i="1">
                                          <a:latin typeface="Cambria Math"/>
                                        </a:rPr>
                                        <m:t>,</m:t>
                                      </m:r>
                                      <m:r>
                                        <a:rPr lang="en-US" altLang="zh-CN" i="1">
                                          <a:latin typeface="Cambria Math"/>
                                        </a:rPr>
                                        <m:t>𝑎</m:t>
                                      </m:r>
                                    </m:e>
                                  </m:d>
                                </m:e>
                              </m:d>
                              <m:r>
                                <a:rPr lang="fr-FR" altLang="zh-CN" i="1">
                                  <a:latin typeface="Cambria Math"/>
                                </a:rPr>
                                <m:t>,   </m:t>
                              </m:r>
                              <m:r>
                                <m:rPr>
                                  <m:sty m:val="p"/>
                                </m:rPr>
                                <a:rPr lang="fr-FR" altLang="zh-CN">
                                  <a:latin typeface="Cambria Math"/>
                                </a:rPr>
                                <m:t>if</m:t>
                              </m:r>
                              <m:r>
                                <a:rPr lang="fr-FR" altLang="zh-CN" i="1">
                                  <a:latin typeface="Cambria Math"/>
                                </a:rPr>
                                <m:t> </m:t>
                              </m:r>
                              <m:r>
                                <m:rPr>
                                  <m:sty m:val="p"/>
                                </m:rPr>
                                <a:rPr lang="en-US" altLang="zh-CN">
                                  <a:latin typeface="Cambria Math"/>
                                </a:rPr>
                                <m:t>player</m:t>
                              </m:r>
                              <m:d>
                                <m:dPr>
                                  <m:ctrlPr>
                                    <a:rPr lang="zh-CN" altLang="zh-CN" i="1">
                                      <a:latin typeface="Cambria Math" panose="02040503050406030204" pitchFamily="18" charset="0"/>
                                    </a:rPr>
                                  </m:ctrlPr>
                                </m:dPr>
                                <m:e>
                                  <m:r>
                                    <a:rPr lang="en-US" altLang="zh-CN" i="1">
                                      <a:latin typeface="Cambria Math"/>
                                    </a:rPr>
                                    <m:t>𝑠</m:t>
                                  </m:r>
                                </m:e>
                              </m:d>
                              <m:r>
                                <a:rPr lang="fr-FR" altLang="zh-CN" i="1">
                                  <a:latin typeface="Cambria Math"/>
                                </a:rPr>
                                <m:t>=</m:t>
                              </m:r>
                              <m:r>
                                <a:rPr lang="en-US" altLang="zh-CN" i="1">
                                  <a:latin typeface="Cambria Math"/>
                                </a:rPr>
                                <m:t>𝑀𝐼𝑁</m:t>
                              </m:r>
                            </m:e>
                          </m:eqArr>
                        </m:e>
                      </m:d>
                    </m:oMath>
                  </m:oMathPara>
                </a14:m>
                <a:endParaRPr lang="zh-CN" altLang="zh-CN" dirty="0"/>
              </a:p>
            </p:txBody>
          </p:sp>
        </mc:Choice>
        <mc:Fallback xmlns="">
          <p:sp>
            <p:nvSpPr>
              <p:cNvPr id="11" name="矩形 10">
                <a:extLst>
                  <a:ext uri="{FF2B5EF4-FFF2-40B4-BE49-F238E27FC236}">
                    <a16:creationId xmlns:a16="http://schemas.microsoft.com/office/drawing/2014/main" id="{7EC7EE04-B52A-46C9-9AB1-7B9CFD609979}"/>
                  </a:ext>
                </a:extLst>
              </p:cNvPr>
              <p:cNvSpPr>
                <a:spLocks noRot="1" noChangeAspect="1" noMove="1" noResize="1" noEditPoints="1" noAdjustHandles="1" noChangeArrowheads="1" noChangeShapeType="1" noTextEdit="1"/>
              </p:cNvSpPr>
              <p:nvPr/>
            </p:nvSpPr>
            <p:spPr>
              <a:xfrm>
                <a:off x="2293104" y="4823024"/>
                <a:ext cx="6886783" cy="1388650"/>
              </a:xfrm>
              <a:prstGeom prst="rect">
                <a:avLst/>
              </a:prstGeom>
              <a:blipFill>
                <a:blip r:embed="rId4"/>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18F4B6BC-676A-4994-9C0E-C7EBBB21F03D}"/>
              </a:ext>
            </a:extLst>
          </p:cNvPr>
          <p:cNvSpPr/>
          <p:nvPr/>
        </p:nvSpPr>
        <p:spPr>
          <a:xfrm>
            <a:off x="1504509" y="1382493"/>
            <a:ext cx="8984510" cy="700576"/>
          </a:xfrm>
          <a:prstGeom prst="rect">
            <a:avLst/>
          </a:prstGeom>
        </p:spPr>
        <p:txBody>
          <a:bodyPr wrap="square">
            <a:spAutoFit/>
          </a:bodyPr>
          <a:lstStyle/>
          <a:p>
            <a:pPr algn="ctr">
              <a:lnSpc>
                <a:spcPct val="150000"/>
              </a:lnSpc>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由于每个玩家都想要最大化自己的得分，所以轮到玩家</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行动时，他会总是选择能够</a:t>
            </a:r>
            <a:r>
              <a:rPr lang="zh-CN" altLang="zh-CN" sz="14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最大化终局得分的搜索树分支</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，而玩家</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总是选择能够</a:t>
            </a:r>
            <a:r>
              <a:rPr lang="zh-CN" altLang="zh-CN" sz="14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最小化终局得分的搜索树分支</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，最</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小</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最</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大</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算法的名字即由此而来</a:t>
            </a:r>
            <a:endParaRPr lang="zh-CN" altLang="en-US" sz="1400"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690AFD33-008B-45E1-AFA1-288D29077097}"/>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pic>
        <p:nvPicPr>
          <p:cNvPr id="6" name="图片 5">
            <a:extLst>
              <a:ext uri="{FF2B5EF4-FFF2-40B4-BE49-F238E27FC236}">
                <a16:creationId xmlns:a16="http://schemas.microsoft.com/office/drawing/2014/main" id="{AD6518A8-FFAF-4552-ABCD-D4B8529C7821}"/>
              </a:ext>
            </a:extLst>
          </p:cNvPr>
          <p:cNvPicPr>
            <a:picLocks noChangeAspect="1"/>
          </p:cNvPicPr>
          <p:nvPr/>
        </p:nvPicPr>
        <p:blipFill>
          <a:blip r:embed="rId5"/>
          <a:stretch>
            <a:fillRect/>
          </a:stretch>
        </p:blipFill>
        <p:spPr>
          <a:xfrm>
            <a:off x="1580029" y="2255965"/>
            <a:ext cx="3208785" cy="2452206"/>
          </a:xfrm>
          <a:prstGeom prst="rect">
            <a:avLst/>
          </a:prstGeom>
        </p:spPr>
      </p:pic>
      <p:pic>
        <p:nvPicPr>
          <p:cNvPr id="8" name="图片 7">
            <a:extLst>
              <a:ext uri="{FF2B5EF4-FFF2-40B4-BE49-F238E27FC236}">
                <a16:creationId xmlns:a16="http://schemas.microsoft.com/office/drawing/2014/main" id="{467D08D7-8C2B-4B02-8CC9-B2079DCB7312}"/>
              </a:ext>
            </a:extLst>
          </p:cNvPr>
          <p:cNvPicPr>
            <a:picLocks noChangeAspect="1"/>
          </p:cNvPicPr>
          <p:nvPr/>
        </p:nvPicPr>
        <p:blipFill>
          <a:blip r:embed="rId6"/>
          <a:stretch>
            <a:fillRect/>
          </a:stretch>
        </p:blipFill>
        <p:spPr>
          <a:xfrm>
            <a:off x="5404190" y="2397458"/>
            <a:ext cx="4582786" cy="2359973"/>
          </a:xfrm>
          <a:prstGeom prst="rect">
            <a:avLst/>
          </a:prstGeom>
        </p:spPr>
      </p:pic>
      <p:sp>
        <p:nvSpPr>
          <p:cNvPr id="9" name="椭圆 8">
            <a:extLst>
              <a:ext uri="{FF2B5EF4-FFF2-40B4-BE49-F238E27FC236}">
                <a16:creationId xmlns:a16="http://schemas.microsoft.com/office/drawing/2014/main" id="{9309ADFF-DBBA-9FA3-6CD2-8111A9C74FEA}"/>
              </a:ext>
            </a:extLst>
          </p:cNvPr>
          <p:cNvSpPr/>
          <p:nvPr/>
        </p:nvSpPr>
        <p:spPr>
          <a:xfrm>
            <a:off x="1896698" y="4407409"/>
            <a:ext cx="1129966" cy="173736"/>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00862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搜索：搜索算法流程</a:t>
              </a: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1B6A2CE-2702-45F5-B86F-97CC90251826}"/>
                  </a:ext>
                </a:extLst>
              </p:cNvPr>
              <p:cNvSpPr/>
              <p:nvPr/>
            </p:nvSpPr>
            <p:spPr>
              <a:xfrm>
                <a:off x="416441" y="1574006"/>
                <a:ext cx="5909931" cy="4255267"/>
              </a:xfrm>
              <a:prstGeom prst="rect">
                <a:avLst/>
              </a:prstGeom>
            </p:spPr>
            <p:txBody>
              <a:bodyPr wrap="square">
                <a:spAutoFit/>
              </a:bodyPr>
              <a:lstStyle/>
              <a:p>
                <a:pPr indent="266700" algn="just">
                  <a:lnSpc>
                    <a:spcPct val="150000"/>
                  </a:lnSpc>
                  <a:spcAft>
                    <a:spcPts val="0"/>
                  </a:spcAft>
                </a:pP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搜索就是在计算搜索树中每个结点分数之后，每一步由玩家根据自己的角色来选择使得分数最大或分数最小的行动。</a:t>
                </a:r>
              </a:p>
              <a:p>
                <a:pPr indent="266700" algn="just">
                  <a:lnSpc>
                    <a:spcPct val="150000"/>
                  </a:lnSpc>
                  <a:spcAft>
                    <a:spcPts val="0"/>
                  </a:spcAft>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a:t>
                </a: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3.2</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给出了</a:t>
                </a: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算法的流程，该算法假设玩家</a:t>
                </a: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为初始行动玩家。这个假设并不会使问题失去一般性，如果实际上初始行动的是玩家</a:t>
                </a: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，则可以通过将终局得分取相反数的方法来交换玩家</a:t>
                </a: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和玩家</a:t>
                </a:r>
                <a:r>
                  <a:rPr lang="fr-FR"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函数</a:t>
                </a:r>
                <a:r>
                  <a:rPr lang="fr-FR"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MinValue</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a:t>
                </a:r>
                <a:r>
                  <a:rPr lang="fr-FR"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MaxValue</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递归求解了每个搜索树结点的分数，函数</a:t>
                </a:r>
                <a:r>
                  <a:rPr lang="fr-FR"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MinimaxDecision</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根据每个结点的分数求解玩家</a:t>
                </a:r>
                <a:r>
                  <a:rPr lang="fr-FR"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在当前盘面下所采取的最优动作。</a:t>
                </a:r>
              </a:p>
              <a:p>
                <a:pPr indent="266700" algn="just">
                  <a:lnSpc>
                    <a:spcPct val="150000"/>
                  </a:lnSpc>
                  <a:spcAft>
                    <a:spcPts val="0"/>
                  </a:spcAft>
                </a:pP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算法对游戏搜索树执行了一个完整的深度优先搜索。因此，如果搜索树是有限的，那么</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算法必然能在有限时间内终止；如果对手总是理性地按照最优策略来交替采取行动，那么</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算法得到的解是最优的。如果</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𝑚</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是游戏树的最大深度，在每个结点最多存在</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𝑏</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种有效走法，那么</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算法的时间复杂度为</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𝑂</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𝑏</m:t>
                            </m:r>
                          </m:e>
                          <m:sup>
                            <m:r>
                              <a:rPr lang="en-US" altLang="zh-CN" sz="1400" i="1">
                                <a:solidFill>
                                  <a:srgbClr val="000000"/>
                                </a:solidFill>
                                <a:latin typeface="Cambria Math" panose="02040503050406030204" pitchFamily="18" charset="0"/>
                                <a:ea typeface="楷体_GB2312"/>
                                <a:cs typeface="Times New Roman" panose="02020603050405020304" pitchFamily="18" charset="0"/>
                              </a:rPr>
                              <m:t>𝑚</m:t>
                            </m:r>
                          </m:sup>
                        </m:sSup>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，空间复杂度为</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𝑂</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𝑏𝑚</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71B6A2CE-2702-45F5-B86F-97CC90251826}"/>
                  </a:ext>
                </a:extLst>
              </p:cNvPr>
              <p:cNvSpPr>
                <a:spLocks noRot="1" noChangeAspect="1" noMove="1" noResize="1" noEditPoints="1" noAdjustHandles="1" noChangeArrowheads="1" noChangeShapeType="1" noTextEdit="1"/>
              </p:cNvSpPr>
              <p:nvPr/>
            </p:nvSpPr>
            <p:spPr>
              <a:xfrm>
                <a:off x="416441" y="1574006"/>
                <a:ext cx="5909931" cy="4255267"/>
              </a:xfrm>
              <a:prstGeom prst="rect">
                <a:avLst/>
              </a:prstGeom>
              <a:blipFill>
                <a:blip r:embed="rId3"/>
                <a:stretch>
                  <a:fillRect l="-309" r="-206" b="-573"/>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4E64DA31-A66B-4586-B75B-E0C7CA62F84E}"/>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pic>
        <p:nvPicPr>
          <p:cNvPr id="7" name="图片 6">
            <a:extLst>
              <a:ext uri="{FF2B5EF4-FFF2-40B4-BE49-F238E27FC236}">
                <a16:creationId xmlns:a16="http://schemas.microsoft.com/office/drawing/2014/main" id="{F58D2326-6447-466B-B869-DD84A8B4D1A0}"/>
              </a:ext>
            </a:extLst>
          </p:cNvPr>
          <p:cNvPicPr>
            <a:picLocks noChangeAspect="1"/>
          </p:cNvPicPr>
          <p:nvPr/>
        </p:nvPicPr>
        <p:blipFill>
          <a:blip r:embed="rId4"/>
          <a:stretch>
            <a:fillRect/>
          </a:stretch>
        </p:blipFill>
        <p:spPr>
          <a:xfrm>
            <a:off x="6602444" y="1679060"/>
            <a:ext cx="4537308" cy="4045158"/>
          </a:xfrm>
          <a:prstGeom prst="rect">
            <a:avLst/>
          </a:prstGeom>
        </p:spPr>
      </p:pic>
      <p:pic>
        <p:nvPicPr>
          <p:cNvPr id="6" name="图片 5">
            <a:extLst>
              <a:ext uri="{FF2B5EF4-FFF2-40B4-BE49-F238E27FC236}">
                <a16:creationId xmlns:a16="http://schemas.microsoft.com/office/drawing/2014/main" id="{70135355-075B-4F1A-07F5-91EC706C4C3B}"/>
              </a:ext>
            </a:extLst>
          </p:cNvPr>
          <p:cNvPicPr>
            <a:picLocks noChangeAspect="1"/>
          </p:cNvPicPr>
          <p:nvPr/>
        </p:nvPicPr>
        <p:blipFill>
          <a:blip r:embed="rId5"/>
          <a:stretch>
            <a:fillRect/>
          </a:stretch>
        </p:blipFill>
        <p:spPr>
          <a:xfrm>
            <a:off x="8663401" y="76409"/>
            <a:ext cx="3112158" cy="1602651"/>
          </a:xfrm>
          <a:prstGeom prst="rect">
            <a:avLst/>
          </a:prstGeom>
        </p:spPr>
      </p:pic>
      <p:cxnSp>
        <p:nvCxnSpPr>
          <p:cNvPr id="10" name="直接连接符 9">
            <a:extLst>
              <a:ext uri="{FF2B5EF4-FFF2-40B4-BE49-F238E27FC236}">
                <a16:creationId xmlns:a16="http://schemas.microsoft.com/office/drawing/2014/main" id="{C76A2259-A067-2EC1-9E3C-B6B87983DE45}"/>
              </a:ext>
            </a:extLst>
          </p:cNvPr>
          <p:cNvCxnSpPr/>
          <p:nvPr/>
        </p:nvCxnSpPr>
        <p:spPr>
          <a:xfrm>
            <a:off x="7754112" y="3959352"/>
            <a:ext cx="457200" cy="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 name="直接连接符 10">
            <a:extLst>
              <a:ext uri="{FF2B5EF4-FFF2-40B4-BE49-F238E27FC236}">
                <a16:creationId xmlns:a16="http://schemas.microsoft.com/office/drawing/2014/main" id="{951C9953-9546-5AAD-3C94-058816348CFC}"/>
              </a:ext>
            </a:extLst>
          </p:cNvPr>
          <p:cNvCxnSpPr/>
          <p:nvPr/>
        </p:nvCxnSpPr>
        <p:spPr>
          <a:xfrm>
            <a:off x="7668768" y="5483352"/>
            <a:ext cx="457200" cy="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2" name="直接连接符 11">
            <a:extLst>
              <a:ext uri="{FF2B5EF4-FFF2-40B4-BE49-F238E27FC236}">
                <a16:creationId xmlns:a16="http://schemas.microsoft.com/office/drawing/2014/main" id="{C56AA702-EEAD-0458-C99D-A2F043798E0F}"/>
              </a:ext>
            </a:extLst>
          </p:cNvPr>
          <p:cNvCxnSpPr/>
          <p:nvPr/>
        </p:nvCxnSpPr>
        <p:spPr>
          <a:xfrm>
            <a:off x="7211568" y="2636520"/>
            <a:ext cx="457200" cy="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4" name="直接连接符 13">
            <a:extLst>
              <a:ext uri="{FF2B5EF4-FFF2-40B4-BE49-F238E27FC236}">
                <a16:creationId xmlns:a16="http://schemas.microsoft.com/office/drawing/2014/main" id="{947BEF30-112F-9E1F-3024-B1F890571EA2}"/>
              </a:ext>
            </a:extLst>
          </p:cNvPr>
          <p:cNvCxnSpPr/>
          <p:nvPr/>
        </p:nvCxnSpPr>
        <p:spPr>
          <a:xfrm>
            <a:off x="7982712" y="2636520"/>
            <a:ext cx="457200" cy="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26371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剪枝算法</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sp>
        <p:nvSpPr>
          <p:cNvPr id="10" name="矩形 9">
            <a:extLst>
              <a:ext uri="{FF2B5EF4-FFF2-40B4-BE49-F238E27FC236}">
                <a16:creationId xmlns:a16="http://schemas.microsoft.com/office/drawing/2014/main" id="{6044D509-9932-4D87-B42E-13C141F6A24A}"/>
              </a:ext>
            </a:extLst>
          </p:cNvPr>
          <p:cNvSpPr/>
          <p:nvPr/>
        </p:nvSpPr>
        <p:spPr>
          <a:xfrm>
            <a:off x="1456134" y="1526274"/>
            <a:ext cx="8878711" cy="584775"/>
          </a:xfrm>
          <a:prstGeom prst="rect">
            <a:avLst/>
          </a:prstGeom>
        </p:spPr>
        <p:txBody>
          <a:bodyPr wrap="square">
            <a:spAutoFit/>
          </a:bodyPr>
          <a:lstStyle/>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Alpha-Beta </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剪枝搜索算法在</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Minimax</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算法中可减少被搜索的</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结点</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数，即</a:t>
            </a:r>
            <a:r>
              <a:rPr lang="zh-CN" altLang="zh-CN" sz="16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在保证得到与原</a:t>
            </a:r>
            <a:r>
              <a:rPr lang="en-US" altLang="zh-CN" sz="16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Minimax</a:t>
            </a:r>
            <a:r>
              <a:rPr lang="zh-CN" altLang="zh-CN" sz="16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算法同样的搜索结果时，剪去了不影响最终结果的搜索分枝</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8C3F9A2B-0E04-4314-8F7D-98D94FF8D5DA}"/>
                  </a:ext>
                </a:extLst>
              </p:cNvPr>
              <p:cNvSpPr/>
              <p:nvPr/>
            </p:nvSpPr>
            <p:spPr>
              <a:xfrm>
                <a:off x="852473" y="2978071"/>
                <a:ext cx="10967903" cy="923330"/>
              </a:xfrm>
              <a:prstGeom prst="rect">
                <a:avLst/>
              </a:prstGeom>
            </p:spPr>
            <p:txBody>
              <a:bodyPr wrap="square">
                <a:spAutoFit/>
              </a:bodyPr>
              <a:lstStyle/>
              <a:p>
                <a:pPr algn="just"/>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由于</a:t>
                </a:r>
                <a14:m>
                  <m:oMath xmlns:m="http://schemas.openxmlformats.org/officeDocument/2006/math">
                    <m:func>
                      <m:funcPr>
                        <m:ctrlPr>
                          <a:rPr lang="zh-CN" altLang="zh-CN" i="1">
                            <a:solidFill>
                              <a:schemeClr val="accent2"/>
                            </a:solidFill>
                            <a:latin typeface="Cambria Math" panose="02040503050406030204" pitchFamily="18" charset="0"/>
                          </a:rPr>
                        </m:ctrlPr>
                      </m:funcPr>
                      <m:fName>
                        <m:r>
                          <a:rPr lang="en-US" altLang="zh-CN" b="0" i="1">
                            <a:solidFill>
                              <a:schemeClr val="accent2"/>
                            </a:solidFill>
                            <a:latin typeface="Cambria Math"/>
                          </a:rPr>
                          <m:t>𝑚𝑖𝑛</m:t>
                        </m:r>
                      </m:fName>
                      <m:e>
                        <m:d>
                          <m:dPr>
                            <m:ctrlPr>
                              <a:rPr lang="zh-CN" altLang="zh-CN" i="1">
                                <a:solidFill>
                                  <a:schemeClr val="accent2"/>
                                </a:solidFill>
                                <a:latin typeface="Cambria Math" panose="02040503050406030204" pitchFamily="18" charset="0"/>
                              </a:rPr>
                            </m:ctrlPr>
                          </m:dPr>
                          <m:e>
                            <m:r>
                              <a:rPr lang="en-US" altLang="zh-CN" b="0" i="1">
                                <a:solidFill>
                                  <a:schemeClr val="accent2"/>
                                </a:solidFill>
                                <a:latin typeface="Cambria Math"/>
                              </a:rPr>
                              <m:t>2</m:t>
                            </m:r>
                            <m:r>
                              <a:rPr lang="en-US" altLang="zh-CN" b="0">
                                <a:solidFill>
                                  <a:schemeClr val="accent2"/>
                                </a:solidFill>
                                <a:latin typeface="Cambria Math"/>
                              </a:rPr>
                              <m:t>,</m:t>
                            </m:r>
                            <m:r>
                              <a:rPr lang="en-US" altLang="zh-CN" b="0" i="1">
                                <a:solidFill>
                                  <a:schemeClr val="accent2"/>
                                </a:solidFill>
                                <a:latin typeface="Cambria Math"/>
                              </a:rPr>
                              <m:t>𝑥</m:t>
                            </m:r>
                            <m:r>
                              <a:rPr lang="en-US" altLang="zh-CN" b="0">
                                <a:solidFill>
                                  <a:schemeClr val="accent2"/>
                                </a:solidFill>
                                <a:latin typeface="Cambria Math"/>
                              </a:rPr>
                              <m:t>,</m:t>
                            </m:r>
                            <m:r>
                              <a:rPr lang="en-US" altLang="zh-CN" b="0" i="1">
                                <a:solidFill>
                                  <a:schemeClr val="accent2"/>
                                </a:solidFill>
                                <a:latin typeface="Cambria Math"/>
                              </a:rPr>
                              <m:t>𝑦</m:t>
                            </m:r>
                          </m:e>
                        </m:d>
                      </m:e>
                    </m:func>
                  </m:oMath>
                </a14:m>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的值小于等于</a:t>
                </a:r>
                <a:r>
                  <a:rPr lang="en-US"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2</a:t>
                </a:r>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，所以即使不知道</a:t>
                </a:r>
                <a14:m>
                  <m:oMath xmlns:m="http://schemas.openxmlformats.org/officeDocument/2006/math">
                    <m:r>
                      <a:rPr lang="en-US" altLang="zh-CN" b="0" i="1">
                        <a:solidFill>
                          <a:schemeClr val="accent2"/>
                        </a:solidFill>
                        <a:latin typeface="Cambria Math"/>
                      </a:rPr>
                      <m:t>𝑥</m:t>
                    </m:r>
                  </m:oMath>
                </a14:m>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和</a:t>
                </a:r>
                <a14:m>
                  <m:oMath xmlns:m="http://schemas.openxmlformats.org/officeDocument/2006/math">
                    <m:r>
                      <a:rPr lang="en-US" altLang="zh-CN" b="0" i="1">
                        <a:solidFill>
                          <a:schemeClr val="accent2"/>
                        </a:solidFill>
                        <a:latin typeface="Cambria Math"/>
                      </a:rPr>
                      <m:t>𝑦</m:t>
                    </m:r>
                  </m:oMath>
                </a14:m>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的值，根</a:t>
                </a:r>
                <a:r>
                  <a:rPr lang="zh-CN" altLang="en-US"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结点</a:t>
                </a:r>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的分数也可以算出来等于</a:t>
                </a:r>
                <a:r>
                  <a:rPr lang="en-US"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3</a:t>
                </a:r>
                <a:r>
                  <a:rPr lang="zh-CN" altLang="zh-CN" dirty="0">
                    <a:solidFill>
                      <a:schemeClr val="accent2"/>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也就是说，算法没有必要计算动作</a:t>
                </a:r>
                <a14:m>
                  <m:oMath xmlns:m="http://schemas.openxmlformats.org/officeDocument/2006/math">
                    <m:sSub>
                      <m:sSubPr>
                        <m:ctrlPr>
                          <a:rPr lang="zh-CN" altLang="zh-CN" i="1">
                            <a:latin typeface="Cambria Math" panose="02040503050406030204" pitchFamily="18" charset="0"/>
                          </a:rPr>
                        </m:ctrlPr>
                      </m:sSubPr>
                      <m:e>
                        <m:r>
                          <a:rPr lang="en-US" altLang="zh-CN" b="0" i="1">
                            <a:latin typeface="Cambria Math"/>
                          </a:rPr>
                          <m:t>𝑐</m:t>
                        </m:r>
                      </m:e>
                      <m:sub>
                        <m:r>
                          <a:rPr lang="en-US" altLang="zh-CN" b="0" i="1">
                            <a:latin typeface="Cambria Math"/>
                          </a:rPr>
                          <m:t>2</m:t>
                        </m:r>
                      </m:sub>
                    </m:sSub>
                  </m:oMath>
                </a14:m>
                <a:r>
                  <a:rPr lang="zh-CN" altLang="zh-CN" dirty="0">
                    <a:latin typeface="华文楷体" panose="02010600040101010101" pitchFamily="2" charset="-122"/>
                    <a:ea typeface="华文楷体" panose="02010600040101010101" pitchFamily="2" charset="-122"/>
                    <a:cs typeface="Times New Roman" panose="02020603050405020304" pitchFamily="18" charset="0"/>
                  </a:rPr>
                  <a:t>和</a:t>
                </a:r>
                <a14:m>
                  <m:oMath xmlns:m="http://schemas.openxmlformats.org/officeDocument/2006/math">
                    <m:sSub>
                      <m:sSubPr>
                        <m:ctrlPr>
                          <a:rPr lang="zh-CN" altLang="zh-CN" i="1">
                            <a:latin typeface="Cambria Math" panose="02040503050406030204" pitchFamily="18" charset="0"/>
                          </a:rPr>
                        </m:ctrlPr>
                      </m:sSubPr>
                      <m:e>
                        <m:r>
                          <a:rPr lang="en-US" altLang="zh-CN" b="0" i="1">
                            <a:latin typeface="Cambria Math"/>
                          </a:rPr>
                          <m:t>𝑐</m:t>
                        </m:r>
                      </m:e>
                      <m:sub>
                        <m:r>
                          <a:rPr lang="en-US" altLang="zh-CN" b="0" i="1">
                            <a:latin typeface="Cambria Math"/>
                          </a:rPr>
                          <m:t>3</m:t>
                        </m:r>
                      </m:sub>
                    </m:sSub>
                  </m:oMath>
                </a14:m>
                <a:r>
                  <a:rPr lang="zh-CN" altLang="zh-CN" dirty="0">
                    <a:latin typeface="华文楷体" panose="02010600040101010101" pitchFamily="2" charset="-122"/>
                    <a:ea typeface="华文楷体" panose="02010600040101010101" pitchFamily="2" charset="-122"/>
                    <a:cs typeface="Times New Roman" panose="02020603050405020304" pitchFamily="18" charset="0"/>
                  </a:rPr>
                  <a:t>对应的两个子树在游戏结束时所得分数，就能决定在根</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结点</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采取动作</a:t>
                </a:r>
                <a14:m>
                  <m:oMath xmlns:m="http://schemas.openxmlformats.org/officeDocument/2006/math">
                    <m:sSub>
                      <m:sSubPr>
                        <m:ctrlPr>
                          <a:rPr lang="zh-CN" altLang="zh-CN" i="1">
                            <a:latin typeface="Cambria Math" panose="02040503050406030204" pitchFamily="18" charset="0"/>
                          </a:rPr>
                        </m:ctrlPr>
                      </m:sSubPr>
                      <m:e>
                        <m:r>
                          <a:rPr lang="en-US" altLang="zh-CN" b="0" i="1">
                            <a:latin typeface="Cambria Math"/>
                          </a:rPr>
                          <m:t>𝑎</m:t>
                        </m:r>
                      </m:e>
                      <m:sub>
                        <m:r>
                          <a:rPr lang="en-US" altLang="zh-CN" b="0" i="1">
                            <a:latin typeface="Cambria Math"/>
                          </a:rPr>
                          <m:t>1</m:t>
                        </m:r>
                      </m:sub>
                    </m:sSub>
                  </m:oMath>
                </a14:m>
                <a:r>
                  <a:rPr lang="zh-CN" altLang="zh-CN" dirty="0">
                    <a:latin typeface="华文楷体" panose="02010600040101010101" pitchFamily="2" charset="-122"/>
                    <a:ea typeface="华文楷体" panose="02010600040101010101" pitchFamily="2" charset="-122"/>
                    <a:cs typeface="Times New Roman" panose="02020603050405020304" pitchFamily="18" charset="0"/>
                  </a:rPr>
                  <a:t>从而在游戏结束时可获得收益</a:t>
                </a:r>
                <a:r>
                  <a:rPr lang="en-US" altLang="zh-CN" dirty="0">
                    <a:latin typeface="华文楷体" panose="02010600040101010101" pitchFamily="2" charset="-122"/>
                    <a:ea typeface="华文楷体" panose="02010600040101010101" pitchFamily="2" charset="-122"/>
                    <a:cs typeface="Times New Roman" panose="02020603050405020304" pitchFamily="18" charset="0"/>
                  </a:rPr>
                  <a:t>3</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，因此动作</a:t>
                </a:r>
                <a14:m>
                  <m:oMath xmlns:m="http://schemas.openxmlformats.org/officeDocument/2006/math">
                    <m:sSub>
                      <m:sSubPr>
                        <m:ctrlPr>
                          <a:rPr lang="zh-CN" altLang="zh-CN" i="1">
                            <a:latin typeface="Cambria Math" panose="02040503050406030204" pitchFamily="18" charset="0"/>
                          </a:rPr>
                        </m:ctrlPr>
                      </m:sSubPr>
                      <m:e>
                        <m:r>
                          <a:rPr lang="en-US" altLang="zh-CN" b="0" i="1">
                            <a:latin typeface="Cambria Math"/>
                          </a:rPr>
                          <m:t>𝑐</m:t>
                        </m:r>
                      </m:e>
                      <m:sub>
                        <m:r>
                          <a:rPr lang="en-US" altLang="zh-CN" b="0" i="1">
                            <a:latin typeface="Cambria Math"/>
                          </a:rPr>
                          <m:t>2</m:t>
                        </m:r>
                      </m:sub>
                    </m:sSub>
                  </m:oMath>
                </a14:m>
                <a:r>
                  <a:rPr lang="zh-CN" altLang="zh-CN" dirty="0">
                    <a:latin typeface="华文楷体" panose="02010600040101010101" pitchFamily="2" charset="-122"/>
                    <a:ea typeface="华文楷体" panose="02010600040101010101" pitchFamily="2" charset="-122"/>
                    <a:cs typeface="Times New Roman" panose="02020603050405020304" pitchFamily="18" charset="0"/>
                  </a:rPr>
                  <a:t>和</a:t>
                </a:r>
                <a14:m>
                  <m:oMath xmlns:m="http://schemas.openxmlformats.org/officeDocument/2006/math">
                    <m:sSub>
                      <m:sSubPr>
                        <m:ctrlPr>
                          <a:rPr lang="zh-CN" altLang="zh-CN" i="1">
                            <a:latin typeface="Cambria Math" panose="02040503050406030204" pitchFamily="18" charset="0"/>
                          </a:rPr>
                        </m:ctrlPr>
                      </m:sSubPr>
                      <m:e>
                        <m:r>
                          <a:rPr lang="en-US" altLang="zh-CN" b="0" i="1">
                            <a:latin typeface="Cambria Math"/>
                          </a:rPr>
                          <m:t>𝑐</m:t>
                        </m:r>
                      </m:e>
                      <m:sub>
                        <m:r>
                          <a:rPr lang="en-US" altLang="zh-CN" b="0" i="1">
                            <a:latin typeface="Cambria Math"/>
                          </a:rPr>
                          <m:t>3</m:t>
                        </m:r>
                      </m:sub>
                    </m:sSub>
                  </m:oMath>
                </a14:m>
                <a:r>
                  <a:rPr lang="zh-CN" altLang="zh-CN" dirty="0">
                    <a:latin typeface="华文楷体" panose="02010600040101010101" pitchFamily="2" charset="-122"/>
                    <a:ea typeface="华文楷体" panose="02010600040101010101" pitchFamily="2" charset="-122"/>
                    <a:cs typeface="Times New Roman" panose="02020603050405020304" pitchFamily="18" charset="0"/>
                  </a:rPr>
                  <a:t>所对应子树可以被剪枝。</a:t>
                </a:r>
              </a:p>
            </p:txBody>
          </p:sp>
        </mc:Choice>
        <mc:Fallback xmlns="">
          <p:sp>
            <p:nvSpPr>
              <p:cNvPr id="11" name="矩形 10">
                <a:extLst>
                  <a:ext uri="{FF2B5EF4-FFF2-40B4-BE49-F238E27FC236}">
                    <a16:creationId xmlns:a16="http://schemas.microsoft.com/office/drawing/2014/main" id="{8C3F9A2B-0E04-4314-8F7D-98D94FF8D5DA}"/>
                  </a:ext>
                </a:extLst>
              </p:cNvPr>
              <p:cNvSpPr>
                <a:spLocks noRot="1" noChangeAspect="1" noMove="1" noResize="1" noEditPoints="1" noAdjustHandles="1" noChangeArrowheads="1" noChangeShapeType="1" noTextEdit="1"/>
              </p:cNvSpPr>
              <p:nvPr/>
            </p:nvSpPr>
            <p:spPr>
              <a:xfrm>
                <a:off x="852473" y="2978071"/>
                <a:ext cx="10967903" cy="923330"/>
              </a:xfrm>
              <a:prstGeom prst="rect">
                <a:avLst/>
              </a:prstGeom>
              <a:blipFill>
                <a:blip r:embed="rId3"/>
                <a:stretch>
                  <a:fillRect l="-500" t="-3311" r="-445" b="-105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50EBE420-CEFE-4610-87E1-387CDFCB5349}"/>
                  </a:ext>
                </a:extLst>
              </p:cNvPr>
              <p:cNvSpPr/>
              <p:nvPr/>
            </p:nvSpPr>
            <p:spPr>
              <a:xfrm>
                <a:off x="3169743" y="2226622"/>
                <a:ext cx="6096000" cy="63998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m:rPr>
                              <m:sty m:val="p"/>
                            </m:rPr>
                            <a:rPr lang="zh-CN" altLang="en-US">
                              <a:latin typeface="Cambria Math" panose="02040503050406030204" pitchFamily="18" charset="0"/>
                            </a:rPr>
                            <m:t>m</m:t>
                          </m:r>
                          <m:r>
                            <m:rPr>
                              <m:sty m:val="p"/>
                            </m:rPr>
                            <a:rPr lang="zh-CN" altLang="en-US" i="0">
                              <a:latin typeface="Cambria Math" panose="02040503050406030204" pitchFamily="18" charset="0"/>
                            </a:rPr>
                            <m:t>inimax</m:t>
                          </m:r>
                          <m:d>
                            <m:dPr>
                              <m:ctrlPr>
                                <a:rPr lang="zh-CN" altLang="en-US" i="1">
                                  <a:latin typeface="Cambria Math" panose="02040503050406030204" pitchFamily="18" charset="0"/>
                                </a:rPr>
                              </m:ctrlPr>
                            </m:dPr>
                            <m:e>
                              <m:r>
                                <a:rPr lang="zh-CN" altLang="en-US" i="1">
                                  <a:latin typeface="Cambria Math" panose="02040503050406030204" pitchFamily="18" charset="0"/>
                                </a:rPr>
                                <m:t>𝐴</m:t>
                              </m:r>
                            </m:e>
                          </m:d>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max</m:t>
                              </m:r>
                            </m:fName>
                            <m:e>
                              <m:d>
                                <m:dPr>
                                  <m:ctrlPr>
                                    <a:rPr lang="zh-CN" altLang="en-US" i="1">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min</m:t>
                                      </m:r>
                                    </m:fName>
                                    <m:e>
                                      <m:d>
                                        <m:dPr>
                                          <m:ctrlPr>
                                            <a:rPr lang="zh-CN" altLang="en-US" i="1">
                                              <a:latin typeface="Cambria Math" panose="02040503050406030204" pitchFamily="18" charset="0"/>
                                            </a:rPr>
                                          </m:ctrlPr>
                                        </m:dPr>
                                        <m:e>
                                          <m:r>
                                            <a:rPr lang="zh-CN" altLang="en-US" i="0">
                                              <a:latin typeface="Cambria Math" panose="02040503050406030204" pitchFamily="18" charset="0"/>
                                            </a:rPr>
                                            <m:t>3,9,10</m:t>
                                          </m:r>
                                        </m:e>
                                      </m:d>
                                    </m:e>
                                  </m:func>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min</m:t>
                                      </m:r>
                                    </m:fName>
                                    <m:e>
                                      <m:d>
                                        <m:dPr>
                                          <m:ctrlPr>
                                            <a:rPr lang="zh-CN" altLang="en-US" i="1">
                                              <a:latin typeface="Cambria Math" panose="02040503050406030204" pitchFamily="18" charset="0"/>
                                            </a:rPr>
                                          </m:ctrlPr>
                                        </m:dPr>
                                        <m:e>
                                          <m:r>
                                            <a:rPr lang="zh-CN" altLang="en-US" i="0">
                                              <a:latin typeface="Cambria Math" panose="02040503050406030204" pitchFamily="18" charset="0"/>
                                            </a:rPr>
                                            <m:t>2,</m:t>
                                          </m:r>
                                          <m:r>
                                            <m:rPr>
                                              <m:sty m:val="p"/>
                                            </m:rPr>
                                            <a:rPr lang="zh-CN" altLang="en-US" i="0">
                                              <a:latin typeface="Cambria Math" panose="02040503050406030204" pitchFamily="18" charset="0"/>
                                            </a:rPr>
                                            <m:t>x</m:t>
                                          </m:r>
                                          <m:r>
                                            <a:rPr lang="zh-CN" altLang="en-US" i="0">
                                              <a:latin typeface="Cambria Math" panose="02040503050406030204" pitchFamily="18" charset="0"/>
                                            </a:rPr>
                                            <m:t>,</m:t>
                                          </m:r>
                                          <m:r>
                                            <m:rPr>
                                              <m:sty m:val="p"/>
                                            </m:rPr>
                                            <a:rPr lang="zh-CN" altLang="en-US" i="0">
                                              <a:latin typeface="Cambria Math" panose="02040503050406030204" pitchFamily="18" charset="0"/>
                                            </a:rPr>
                                            <m:t>y</m:t>
                                          </m:r>
                                        </m:e>
                                      </m:d>
                                    </m:e>
                                  </m:func>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min</m:t>
                                      </m:r>
                                    </m:fName>
                                    <m:e>
                                      <m:d>
                                        <m:dPr>
                                          <m:ctrlPr>
                                            <a:rPr lang="zh-CN" altLang="en-US" i="1">
                                              <a:latin typeface="Cambria Math" panose="02040503050406030204" pitchFamily="18" charset="0"/>
                                            </a:rPr>
                                          </m:ctrlPr>
                                        </m:dPr>
                                        <m:e>
                                          <m:r>
                                            <a:rPr lang="zh-CN" altLang="en-US" i="0">
                                              <a:latin typeface="Cambria Math" panose="02040503050406030204" pitchFamily="18" charset="0"/>
                                            </a:rPr>
                                            <m:t>10,5,1</m:t>
                                          </m:r>
                                        </m:e>
                                      </m:d>
                                    </m:e>
                                  </m:func>
                                </m:e>
                              </m:d>
                            </m:e>
                          </m:func>
                          <m:r>
                            <a:rPr lang="zh-CN" altLang="en-US" i="0">
                              <a:latin typeface="Cambria Math" panose="02040503050406030204" pitchFamily="18" charset="0"/>
                            </a:rPr>
                            <m:t>=</m:t>
                          </m:r>
                          <m:r>
                            <m:rPr>
                              <m:sty m:val="p"/>
                            </m:rPr>
                            <a:rPr lang="zh-CN" altLang="en-US" i="0">
                              <a:latin typeface="Cambria Math" panose="02040503050406030204" pitchFamily="18" charset="0"/>
                            </a:rPr>
                            <m:t>ma</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x</m:t>
                              </m:r>
                            </m:fName>
                            <m:e>
                              <m:r>
                                <a:rPr lang="zh-CN" altLang="en-US" i="0">
                                  <a:latin typeface="Cambria Math" panose="02040503050406030204" pitchFamily="18" charset="0"/>
                                </a:rPr>
                                <m:t>(</m:t>
                              </m:r>
                            </m:e>
                          </m:func>
                          <m:r>
                            <a:rPr lang="zh-CN" altLang="en-US" i="0">
                              <a:latin typeface="Cambria Math" panose="02040503050406030204" pitchFamily="18" charset="0"/>
                            </a:rPr>
                            <m:t>3,</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min</m:t>
                              </m:r>
                            </m:fName>
                            <m:e>
                              <m:d>
                                <m:dPr>
                                  <m:ctrlPr>
                                    <a:rPr lang="zh-CN" altLang="en-US" i="1">
                                      <a:latin typeface="Cambria Math" panose="02040503050406030204" pitchFamily="18" charset="0"/>
                                    </a:rPr>
                                  </m:ctrlPr>
                                </m:dPr>
                                <m:e>
                                  <m:r>
                                    <a:rPr lang="zh-CN" altLang="en-US" i="0">
                                      <a:latin typeface="Cambria Math" panose="02040503050406030204" pitchFamily="18" charset="0"/>
                                    </a:rPr>
                                    <m:t>2,</m:t>
                                  </m:r>
                                  <m:r>
                                    <m:rPr>
                                      <m:sty m:val="p"/>
                                    </m:rPr>
                                    <a:rPr lang="zh-CN" altLang="en-US" i="0">
                                      <a:latin typeface="Cambria Math" panose="02040503050406030204" pitchFamily="18" charset="0"/>
                                    </a:rPr>
                                    <m:t>x</m:t>
                                  </m:r>
                                  <m:r>
                                    <a:rPr lang="zh-CN" altLang="en-US" i="0">
                                      <a:latin typeface="Cambria Math" panose="02040503050406030204" pitchFamily="18" charset="0"/>
                                    </a:rPr>
                                    <m:t>,</m:t>
                                  </m:r>
                                  <m:r>
                                    <m:rPr>
                                      <m:sty m:val="p"/>
                                    </m:rPr>
                                    <a:rPr lang="zh-CN" altLang="en-US" i="0">
                                      <a:latin typeface="Cambria Math" panose="02040503050406030204" pitchFamily="18" charset="0"/>
                                    </a:rPr>
                                    <m:t>y</m:t>
                                  </m:r>
                                </m:e>
                              </m:d>
                            </m:e>
                          </m:func>
                          <m:r>
                            <a:rPr lang="zh-CN" altLang="en-US" i="0">
                              <a:latin typeface="Cambria Math" panose="02040503050406030204" pitchFamily="18" charset="0"/>
                            </a:rPr>
                            <m:t>,1</m:t>
                          </m:r>
                        </m:e>
                      </m:d>
                    </m:oMath>
                  </m:oMathPara>
                </a14:m>
                <a:endParaRPr lang="zh-CN" altLang="en-US" dirty="0"/>
              </a:p>
            </p:txBody>
          </p:sp>
        </mc:Choice>
        <mc:Fallback xmlns="">
          <p:sp>
            <p:nvSpPr>
              <p:cNvPr id="18" name="矩形 17">
                <a:extLst>
                  <a:ext uri="{FF2B5EF4-FFF2-40B4-BE49-F238E27FC236}">
                    <a16:creationId xmlns:a16="http://schemas.microsoft.com/office/drawing/2014/main" id="{50EBE420-CEFE-4610-87E1-387CDFCB5349}"/>
                  </a:ext>
                </a:extLst>
              </p:cNvPr>
              <p:cNvSpPr>
                <a:spLocks noRot="1" noChangeAspect="1" noMove="1" noResize="1" noEditPoints="1" noAdjustHandles="1" noChangeArrowheads="1" noChangeShapeType="1" noTextEdit="1"/>
              </p:cNvSpPr>
              <p:nvPr/>
            </p:nvSpPr>
            <p:spPr>
              <a:xfrm>
                <a:off x="3169743" y="2226622"/>
                <a:ext cx="6096000" cy="639983"/>
              </a:xfrm>
              <a:prstGeom prst="rect">
                <a:avLst/>
              </a:prstGeom>
              <a:blipFill>
                <a:blip r:embed="rId5"/>
                <a:stretch>
                  <a:fillRect t="-27619" b="-10666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12B0F6E9-AE8D-49EB-A0E6-141354207C41}"/>
              </a:ext>
            </a:extLst>
          </p:cNvPr>
          <p:cNvPicPr>
            <a:picLocks noChangeAspect="1"/>
          </p:cNvPicPr>
          <p:nvPr/>
        </p:nvPicPr>
        <p:blipFill>
          <a:blip r:embed="rId6"/>
          <a:stretch>
            <a:fillRect/>
          </a:stretch>
        </p:blipFill>
        <p:spPr>
          <a:xfrm>
            <a:off x="1642731" y="4012867"/>
            <a:ext cx="3518081" cy="1911448"/>
          </a:xfrm>
          <a:prstGeom prst="rect">
            <a:avLst/>
          </a:prstGeom>
        </p:spPr>
      </p:pic>
      <p:pic>
        <p:nvPicPr>
          <p:cNvPr id="8" name="图片 7">
            <a:extLst>
              <a:ext uri="{FF2B5EF4-FFF2-40B4-BE49-F238E27FC236}">
                <a16:creationId xmlns:a16="http://schemas.microsoft.com/office/drawing/2014/main" id="{F30B0305-7A5F-4CAF-AAB1-0985105B64F6}"/>
              </a:ext>
            </a:extLst>
          </p:cNvPr>
          <p:cNvPicPr>
            <a:picLocks noChangeAspect="1"/>
          </p:cNvPicPr>
          <p:nvPr/>
        </p:nvPicPr>
        <p:blipFill>
          <a:blip r:embed="rId7"/>
          <a:stretch>
            <a:fillRect/>
          </a:stretch>
        </p:blipFill>
        <p:spPr>
          <a:xfrm>
            <a:off x="6049542" y="4034219"/>
            <a:ext cx="4195024" cy="2146291"/>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1E038C2-8F8E-3BEE-42EF-43F247A41278}"/>
                  </a:ext>
                </a:extLst>
              </p:cNvPr>
              <p:cNvSpPr txBox="1"/>
              <p:nvPr/>
            </p:nvSpPr>
            <p:spPr>
              <a:xfrm>
                <a:off x="2331233" y="4694160"/>
                <a:ext cx="1448419"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CN" altLang="en-US" sz="1000" i="1" smtClean="0">
                              <a:latin typeface="Cambria Math" panose="02040503050406030204" pitchFamily="18" charset="0"/>
                            </a:rPr>
                          </m:ctrlPr>
                        </m:funcPr>
                        <m:fName>
                          <m:r>
                            <m:rPr>
                              <m:sty m:val="p"/>
                            </m:rPr>
                            <a:rPr lang="zh-CN" altLang="en-US" sz="1000" i="0">
                              <a:latin typeface="Cambria Math" panose="02040503050406030204" pitchFamily="18" charset="0"/>
                            </a:rPr>
                            <m:t>min</m:t>
                          </m:r>
                        </m:fName>
                        <m:e>
                          <m:d>
                            <m:dPr>
                              <m:ctrlPr>
                                <a:rPr lang="zh-CN" altLang="en-US" sz="1000" i="1">
                                  <a:latin typeface="Cambria Math" panose="02040503050406030204" pitchFamily="18" charset="0"/>
                                </a:rPr>
                              </m:ctrlPr>
                            </m:dPr>
                            <m:e>
                              <m:r>
                                <a:rPr lang="zh-CN" altLang="en-US" sz="1000" i="0">
                                  <a:latin typeface="Cambria Math" panose="02040503050406030204" pitchFamily="18" charset="0"/>
                                </a:rPr>
                                <m:t>3,9,10</m:t>
                              </m:r>
                            </m:e>
                          </m:d>
                        </m:e>
                      </m:func>
                    </m:oMath>
                  </m:oMathPara>
                </a14:m>
                <a:endParaRPr lang="zh-CN" altLang="en-US" sz="1000" dirty="0"/>
              </a:p>
            </p:txBody>
          </p:sp>
        </mc:Choice>
        <mc:Fallback xmlns="">
          <p:sp>
            <p:nvSpPr>
              <p:cNvPr id="13" name="文本框 12">
                <a:extLst>
                  <a:ext uri="{FF2B5EF4-FFF2-40B4-BE49-F238E27FC236}">
                    <a16:creationId xmlns:a16="http://schemas.microsoft.com/office/drawing/2014/main" id="{91E038C2-8F8E-3BEE-42EF-43F247A41278}"/>
                  </a:ext>
                </a:extLst>
              </p:cNvPr>
              <p:cNvSpPr txBox="1">
                <a:spLocks noRot="1" noChangeAspect="1" noMove="1" noResize="1" noEditPoints="1" noAdjustHandles="1" noChangeArrowheads="1" noChangeShapeType="1" noTextEdit="1"/>
              </p:cNvSpPr>
              <p:nvPr/>
            </p:nvSpPr>
            <p:spPr>
              <a:xfrm>
                <a:off x="2331233" y="4694160"/>
                <a:ext cx="1448419" cy="24622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55EED34-C75A-50DC-32BD-F1D073ABE25E}"/>
                  </a:ext>
                </a:extLst>
              </p:cNvPr>
              <p:cNvSpPr txBox="1"/>
              <p:nvPr/>
            </p:nvSpPr>
            <p:spPr>
              <a:xfrm>
                <a:off x="3696319" y="4694160"/>
                <a:ext cx="838200"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CN" altLang="en-US" sz="1000" i="1" smtClean="0">
                              <a:latin typeface="Cambria Math" panose="02040503050406030204" pitchFamily="18" charset="0"/>
                            </a:rPr>
                          </m:ctrlPr>
                        </m:funcPr>
                        <m:fName>
                          <m:r>
                            <m:rPr>
                              <m:sty m:val="p"/>
                            </m:rPr>
                            <a:rPr lang="zh-CN" altLang="en-US" sz="1000" i="0">
                              <a:latin typeface="Cambria Math" panose="02040503050406030204" pitchFamily="18" charset="0"/>
                            </a:rPr>
                            <m:t>min</m:t>
                          </m:r>
                        </m:fName>
                        <m:e>
                          <m:d>
                            <m:dPr>
                              <m:ctrlPr>
                                <a:rPr lang="zh-CN" altLang="en-US" sz="1000" i="1">
                                  <a:latin typeface="Cambria Math" panose="02040503050406030204" pitchFamily="18" charset="0"/>
                                </a:rPr>
                              </m:ctrlPr>
                            </m:dPr>
                            <m:e>
                              <m:r>
                                <a:rPr lang="zh-CN" altLang="en-US" sz="1000" i="0">
                                  <a:latin typeface="Cambria Math" panose="02040503050406030204" pitchFamily="18" charset="0"/>
                                </a:rPr>
                                <m:t>2,</m:t>
                              </m:r>
                              <m:r>
                                <m:rPr>
                                  <m:sty m:val="p"/>
                                </m:rPr>
                                <a:rPr lang="zh-CN" altLang="en-US" sz="1000" i="0">
                                  <a:latin typeface="Cambria Math" panose="02040503050406030204" pitchFamily="18" charset="0"/>
                                </a:rPr>
                                <m:t>x</m:t>
                              </m:r>
                              <m:r>
                                <a:rPr lang="zh-CN" altLang="en-US" sz="1000" i="0">
                                  <a:latin typeface="Cambria Math" panose="02040503050406030204" pitchFamily="18" charset="0"/>
                                </a:rPr>
                                <m:t>,</m:t>
                              </m:r>
                              <m:r>
                                <m:rPr>
                                  <m:sty m:val="p"/>
                                </m:rPr>
                                <a:rPr lang="zh-CN" altLang="en-US" sz="1000" i="0">
                                  <a:latin typeface="Cambria Math" panose="02040503050406030204" pitchFamily="18" charset="0"/>
                                </a:rPr>
                                <m:t>y</m:t>
                              </m:r>
                            </m:e>
                          </m:d>
                        </m:e>
                      </m:func>
                    </m:oMath>
                  </m:oMathPara>
                </a14:m>
                <a:endParaRPr lang="zh-CN" altLang="en-US" sz="1000" dirty="0"/>
              </a:p>
            </p:txBody>
          </p:sp>
        </mc:Choice>
        <mc:Fallback xmlns="">
          <p:sp>
            <p:nvSpPr>
              <p:cNvPr id="15" name="文本框 14">
                <a:extLst>
                  <a:ext uri="{FF2B5EF4-FFF2-40B4-BE49-F238E27FC236}">
                    <a16:creationId xmlns:a16="http://schemas.microsoft.com/office/drawing/2014/main" id="{755EED34-C75A-50DC-32BD-F1D073ABE25E}"/>
                  </a:ext>
                </a:extLst>
              </p:cNvPr>
              <p:cNvSpPr txBox="1">
                <a:spLocks noRot="1" noChangeAspect="1" noMove="1" noResize="1" noEditPoints="1" noAdjustHandles="1" noChangeArrowheads="1" noChangeShapeType="1" noTextEdit="1"/>
              </p:cNvSpPr>
              <p:nvPr/>
            </p:nvSpPr>
            <p:spPr>
              <a:xfrm>
                <a:off x="3696319" y="4694160"/>
                <a:ext cx="838200" cy="246221"/>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7E629F7-18DC-1C23-D40A-28AF21878733}"/>
                  </a:ext>
                </a:extLst>
              </p:cNvPr>
              <p:cNvSpPr txBox="1"/>
              <p:nvPr/>
            </p:nvSpPr>
            <p:spPr>
              <a:xfrm>
                <a:off x="4776596" y="4694160"/>
                <a:ext cx="648319"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CN" altLang="en-US" sz="1000" i="1" smtClean="0">
                              <a:latin typeface="Cambria Math" panose="02040503050406030204" pitchFamily="18" charset="0"/>
                            </a:rPr>
                          </m:ctrlPr>
                        </m:funcPr>
                        <m:fName>
                          <m:r>
                            <m:rPr>
                              <m:sty m:val="p"/>
                            </m:rPr>
                            <a:rPr lang="zh-CN" altLang="en-US" sz="1000" i="0">
                              <a:latin typeface="Cambria Math" panose="02040503050406030204" pitchFamily="18" charset="0"/>
                            </a:rPr>
                            <m:t>min</m:t>
                          </m:r>
                        </m:fName>
                        <m:e>
                          <m:d>
                            <m:dPr>
                              <m:ctrlPr>
                                <a:rPr lang="zh-CN" altLang="en-US" sz="1000" i="1">
                                  <a:latin typeface="Cambria Math" panose="02040503050406030204" pitchFamily="18" charset="0"/>
                                </a:rPr>
                              </m:ctrlPr>
                            </m:dPr>
                            <m:e>
                              <m:r>
                                <a:rPr lang="zh-CN" altLang="en-US" sz="1000" i="0">
                                  <a:latin typeface="Cambria Math" panose="02040503050406030204" pitchFamily="18" charset="0"/>
                                </a:rPr>
                                <m:t>10,5,1</m:t>
                              </m:r>
                            </m:e>
                          </m:d>
                        </m:e>
                      </m:func>
                    </m:oMath>
                  </m:oMathPara>
                </a14:m>
                <a:endParaRPr lang="zh-CN" altLang="en-US" dirty="0"/>
              </a:p>
            </p:txBody>
          </p:sp>
        </mc:Choice>
        <mc:Fallback xmlns="">
          <p:sp>
            <p:nvSpPr>
              <p:cNvPr id="17" name="文本框 16">
                <a:extLst>
                  <a:ext uri="{FF2B5EF4-FFF2-40B4-BE49-F238E27FC236}">
                    <a16:creationId xmlns:a16="http://schemas.microsoft.com/office/drawing/2014/main" id="{27E629F7-18DC-1C23-D40A-28AF21878733}"/>
                  </a:ext>
                </a:extLst>
              </p:cNvPr>
              <p:cNvSpPr txBox="1">
                <a:spLocks noRot="1" noChangeAspect="1" noMove="1" noResize="1" noEditPoints="1" noAdjustHandles="1" noChangeArrowheads="1" noChangeShapeType="1" noTextEdit="1"/>
              </p:cNvSpPr>
              <p:nvPr/>
            </p:nvSpPr>
            <p:spPr>
              <a:xfrm>
                <a:off x="4776596" y="4694160"/>
                <a:ext cx="648319" cy="246221"/>
              </a:xfrm>
              <a:prstGeom prst="rect">
                <a:avLst/>
              </a:prstGeom>
              <a:blipFill>
                <a:blip r:embed="rId10"/>
                <a:stretch>
                  <a:fillRect r="-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572056C-6FD0-9A2D-718E-4B6502E5C6A0}"/>
                  </a:ext>
                </a:extLst>
              </p:cNvPr>
              <p:cNvSpPr txBox="1"/>
              <p:nvPr/>
            </p:nvSpPr>
            <p:spPr>
              <a:xfrm>
                <a:off x="3696319" y="4147146"/>
                <a:ext cx="1486519"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000" i="1" smtClean="0">
                              <a:latin typeface="Cambria Math" panose="02040503050406030204" pitchFamily="18" charset="0"/>
                            </a:rPr>
                          </m:ctrlPr>
                        </m:dPr>
                        <m:e>
                          <m:r>
                            <m:rPr>
                              <m:sty m:val="p"/>
                            </m:rPr>
                            <a:rPr lang="zh-CN" altLang="en-US" sz="1000" i="0">
                              <a:latin typeface="Cambria Math" panose="02040503050406030204" pitchFamily="18" charset="0"/>
                            </a:rPr>
                            <m:t>ma</m:t>
                          </m:r>
                          <m:func>
                            <m:funcPr>
                              <m:ctrlPr>
                                <a:rPr lang="zh-CN" altLang="en-US" sz="1000" i="1">
                                  <a:latin typeface="Cambria Math" panose="02040503050406030204" pitchFamily="18" charset="0"/>
                                </a:rPr>
                              </m:ctrlPr>
                            </m:funcPr>
                            <m:fName>
                              <m:r>
                                <m:rPr>
                                  <m:sty m:val="p"/>
                                </m:rPr>
                                <a:rPr lang="zh-CN" altLang="en-US" sz="1000" i="0">
                                  <a:latin typeface="Cambria Math" panose="02040503050406030204" pitchFamily="18" charset="0"/>
                                </a:rPr>
                                <m:t>x</m:t>
                              </m:r>
                            </m:fName>
                            <m:e>
                              <m:r>
                                <a:rPr lang="zh-CN" altLang="en-US" sz="1000" i="0">
                                  <a:latin typeface="Cambria Math" panose="02040503050406030204" pitchFamily="18" charset="0"/>
                                </a:rPr>
                                <m:t>(</m:t>
                              </m:r>
                            </m:e>
                          </m:func>
                          <m:r>
                            <a:rPr lang="zh-CN" altLang="en-US" sz="1000" i="0">
                              <a:latin typeface="Cambria Math" panose="02040503050406030204" pitchFamily="18" charset="0"/>
                            </a:rPr>
                            <m:t>3,</m:t>
                          </m:r>
                          <m:func>
                            <m:funcPr>
                              <m:ctrlPr>
                                <a:rPr lang="zh-CN" altLang="en-US" sz="1000" i="1">
                                  <a:latin typeface="Cambria Math" panose="02040503050406030204" pitchFamily="18" charset="0"/>
                                </a:rPr>
                              </m:ctrlPr>
                            </m:funcPr>
                            <m:fName>
                              <m:r>
                                <m:rPr>
                                  <m:sty m:val="p"/>
                                </m:rPr>
                                <a:rPr lang="zh-CN" altLang="en-US" sz="1000" i="0">
                                  <a:latin typeface="Cambria Math" panose="02040503050406030204" pitchFamily="18" charset="0"/>
                                </a:rPr>
                                <m:t>min</m:t>
                              </m:r>
                            </m:fName>
                            <m:e>
                              <m:d>
                                <m:dPr>
                                  <m:ctrlPr>
                                    <a:rPr lang="zh-CN" altLang="en-US" sz="1000" i="1">
                                      <a:latin typeface="Cambria Math" panose="02040503050406030204" pitchFamily="18" charset="0"/>
                                    </a:rPr>
                                  </m:ctrlPr>
                                </m:dPr>
                                <m:e>
                                  <m:r>
                                    <a:rPr lang="zh-CN" altLang="en-US" sz="1000" i="0">
                                      <a:latin typeface="Cambria Math" panose="02040503050406030204" pitchFamily="18" charset="0"/>
                                    </a:rPr>
                                    <m:t>2,</m:t>
                                  </m:r>
                                  <m:r>
                                    <m:rPr>
                                      <m:sty m:val="p"/>
                                    </m:rPr>
                                    <a:rPr lang="zh-CN" altLang="en-US" sz="1000" i="0">
                                      <a:latin typeface="Cambria Math" panose="02040503050406030204" pitchFamily="18" charset="0"/>
                                    </a:rPr>
                                    <m:t>x</m:t>
                                  </m:r>
                                  <m:r>
                                    <a:rPr lang="zh-CN" altLang="en-US" sz="1000" i="0">
                                      <a:latin typeface="Cambria Math" panose="02040503050406030204" pitchFamily="18" charset="0"/>
                                    </a:rPr>
                                    <m:t>,</m:t>
                                  </m:r>
                                  <m:r>
                                    <m:rPr>
                                      <m:sty m:val="p"/>
                                    </m:rPr>
                                    <a:rPr lang="zh-CN" altLang="en-US" sz="1000" i="0">
                                      <a:latin typeface="Cambria Math" panose="02040503050406030204" pitchFamily="18" charset="0"/>
                                    </a:rPr>
                                    <m:t>y</m:t>
                                  </m:r>
                                </m:e>
                              </m:d>
                            </m:e>
                          </m:func>
                          <m:r>
                            <a:rPr lang="zh-CN" altLang="en-US" sz="1000" i="0">
                              <a:latin typeface="Cambria Math" panose="02040503050406030204" pitchFamily="18" charset="0"/>
                            </a:rPr>
                            <m:t>,1</m:t>
                          </m:r>
                        </m:e>
                      </m:d>
                    </m:oMath>
                  </m:oMathPara>
                </a14:m>
                <a:endParaRPr lang="zh-CN" altLang="en-US" dirty="0"/>
              </a:p>
            </p:txBody>
          </p:sp>
        </mc:Choice>
        <mc:Fallback xmlns="">
          <p:sp>
            <p:nvSpPr>
              <p:cNvPr id="20" name="文本框 19">
                <a:extLst>
                  <a:ext uri="{FF2B5EF4-FFF2-40B4-BE49-F238E27FC236}">
                    <a16:creationId xmlns:a16="http://schemas.microsoft.com/office/drawing/2014/main" id="{4572056C-6FD0-9A2D-718E-4B6502E5C6A0}"/>
                  </a:ext>
                </a:extLst>
              </p:cNvPr>
              <p:cNvSpPr txBox="1">
                <a:spLocks noRot="1" noChangeAspect="1" noMove="1" noResize="1" noEditPoints="1" noAdjustHandles="1" noChangeArrowheads="1" noChangeShapeType="1" noTextEdit="1"/>
              </p:cNvSpPr>
              <p:nvPr/>
            </p:nvSpPr>
            <p:spPr>
              <a:xfrm>
                <a:off x="3696319" y="4147146"/>
                <a:ext cx="1486519" cy="246221"/>
              </a:xfrm>
              <a:prstGeom prst="rect">
                <a:avLst/>
              </a:prstGeom>
              <a:blipFill>
                <a:blip r:embed="rId11"/>
                <a:stretch>
                  <a:fillRect t="-95122" r="-16393" b="-1487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0845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剪枝算法</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：对</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节点后代剪枝示意图</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EC1CA56-8028-4FFB-846E-C0CF8E0160A5}"/>
                  </a:ext>
                </a:extLst>
              </p:cNvPr>
              <p:cNvSpPr/>
              <p:nvPr/>
            </p:nvSpPr>
            <p:spPr>
              <a:xfrm>
                <a:off x="396961" y="1929693"/>
                <a:ext cx="6075020" cy="4180375"/>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可把上述剪枝思路推广到一般情况。假设有一个位于</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层的结点</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𝑚</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，已知该结点能够向其上</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结点反馈的收益为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𝛼</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alpha</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是与结点</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𝑚</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位于同一层的某个兄弟（</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sibling</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）结点的后代结点。</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如果在结点</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的后代结点被访问一部分后，知道结点</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能够向其上一层</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结点反馈收益小于</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𝛼</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，则结点</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𝑛</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的未被访问孩子结点将被剪枝。</a:t>
                </a:r>
                <a:endPar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3.12</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所示，</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玩家</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在结点</a:t>
                </a:r>
                <a14:m>
                  <m:oMath xmlns:m="http://schemas.openxmlformats.org/officeDocument/2006/math">
                    <m:r>
                      <a:rPr lang="en-US" altLang="zh-CN" sz="1600" i="1">
                        <a:solidFill>
                          <a:schemeClr val="accent2"/>
                        </a:solidFill>
                        <a:latin typeface="Cambria Math" panose="02040503050406030204" pitchFamily="18" charset="0"/>
                      </a:rPr>
                      <m:t>𝑚</m:t>
                    </m:r>
                    <m:r>
                      <a:rPr lang="en-US" altLang="zh-CN" sz="1600" i="1">
                        <a:solidFill>
                          <a:schemeClr val="accent2"/>
                        </a:solidFill>
                        <a:latin typeface="Cambria Math" panose="02040503050406030204" pitchFamily="18" charset="0"/>
                      </a:rPr>
                      <m:t>′</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能够从位于其下</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层的结点</a:t>
                </a:r>
                <a14:m>
                  <m:oMath xmlns:m="http://schemas.openxmlformats.org/officeDocument/2006/math">
                    <m:r>
                      <a:rPr lang="en-US" altLang="zh-CN" sz="1600" i="1">
                        <a:solidFill>
                          <a:schemeClr val="accent2"/>
                        </a:solidFill>
                        <a:latin typeface="Cambria Math" panose="02040503050406030204" pitchFamily="18" charset="0"/>
                      </a:rPr>
                      <m:t>𝑚</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得到取值至少为</a:t>
                </a:r>
                <a14:m>
                  <m:oMath xmlns:m="http://schemas.openxmlformats.org/officeDocument/2006/math">
                    <m:r>
                      <a:rPr lang="en-US" altLang="zh-CN" sz="1600" i="1">
                        <a:solidFill>
                          <a:schemeClr val="accent2"/>
                        </a:solidFill>
                        <a:latin typeface="Cambria Math" panose="02040503050406030204" pitchFamily="18" charset="0"/>
                      </a:rPr>
                      <m:t>𝛼</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的收益，因此结点</a:t>
                </a:r>
                <a14:m>
                  <m:oMath xmlns:m="http://schemas.openxmlformats.org/officeDocument/2006/math">
                    <m:r>
                      <a:rPr lang="en-US" altLang="zh-CN" sz="1600" i="1">
                        <a:solidFill>
                          <a:schemeClr val="accent2"/>
                        </a:solidFill>
                        <a:latin typeface="Cambria Math" panose="02040503050406030204" pitchFamily="18" charset="0"/>
                      </a:rPr>
                      <m:t>𝑛</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那些未被访问的后继分支结点对结点</a:t>
                </a:r>
                <a14:m>
                  <m:oMath xmlns:m="http://schemas.openxmlformats.org/officeDocument/2006/math">
                    <m:sSup>
                      <m:sSupPr>
                        <m:ctrlPr>
                          <a:rPr lang="zh-CN" altLang="zh-CN" sz="1600" i="1">
                            <a:solidFill>
                              <a:schemeClr val="accent2"/>
                            </a:solidFill>
                            <a:latin typeface="Cambria Math" panose="02040503050406030204" pitchFamily="18" charset="0"/>
                          </a:rPr>
                        </m:ctrlPr>
                      </m:sSupPr>
                      <m:e>
                        <m:r>
                          <a:rPr lang="en-US" altLang="zh-CN" sz="1600" i="1">
                            <a:solidFill>
                              <a:schemeClr val="accent2"/>
                            </a:solidFill>
                            <a:latin typeface="Cambria Math" panose="02040503050406030204" pitchFamily="18" charset="0"/>
                          </a:rPr>
                          <m:t>𝑚</m:t>
                        </m:r>
                      </m:e>
                      <m:sup>
                        <m:r>
                          <a:rPr lang="en-US" altLang="zh-CN" sz="1600" i="1">
                            <a:solidFill>
                              <a:schemeClr val="accent2"/>
                            </a:solidFill>
                            <a:latin typeface="Cambria Math" panose="02040503050406030204" pitchFamily="18" charset="0"/>
                          </a:rPr>
                          <m:t>′</m:t>
                        </m:r>
                      </m:sup>
                    </m:sSup>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取值没有任何影响了。</a:t>
                </a:r>
              </a:p>
              <a:p>
                <a:pPr indent="266700" algn="just">
                  <a:lnSpc>
                    <a:spcPct val="150000"/>
                  </a:lnSpc>
                  <a:spcAft>
                    <a:spcPts val="0"/>
                  </a:spcAft>
                </a:pP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EC1CA56-8028-4FFB-846E-C0CF8E0160A5}"/>
                  </a:ext>
                </a:extLst>
              </p:cNvPr>
              <p:cNvSpPr>
                <a:spLocks noRot="1" noChangeAspect="1" noMove="1" noResize="1" noEditPoints="1" noAdjustHandles="1" noChangeArrowheads="1" noChangeShapeType="1" noTextEdit="1"/>
              </p:cNvSpPr>
              <p:nvPr/>
            </p:nvSpPr>
            <p:spPr>
              <a:xfrm>
                <a:off x="396961" y="1929693"/>
                <a:ext cx="6075020" cy="4180375"/>
              </a:xfrm>
              <a:prstGeom prst="rect">
                <a:avLst/>
              </a:prstGeom>
              <a:blipFill>
                <a:blip r:embed="rId3"/>
                <a:stretch>
                  <a:fillRect l="-401" r="-502"/>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92F430DA-9258-4D07-AC47-8B23066384B5}"/>
              </a:ext>
            </a:extLst>
          </p:cNvPr>
          <p:cNvPicPr>
            <a:picLocks noChangeAspect="1"/>
          </p:cNvPicPr>
          <p:nvPr/>
        </p:nvPicPr>
        <p:blipFill>
          <a:blip r:embed="rId4"/>
          <a:stretch>
            <a:fillRect/>
          </a:stretch>
        </p:blipFill>
        <p:spPr>
          <a:xfrm>
            <a:off x="6783349" y="1851528"/>
            <a:ext cx="4375951" cy="3864841"/>
          </a:xfrm>
          <a:prstGeom prst="rect">
            <a:avLst/>
          </a:prstGeom>
        </p:spPr>
      </p:pic>
      <p:sp>
        <p:nvSpPr>
          <p:cNvPr id="6" name="椭圆 5">
            <a:extLst>
              <a:ext uri="{FF2B5EF4-FFF2-40B4-BE49-F238E27FC236}">
                <a16:creationId xmlns:a16="http://schemas.microsoft.com/office/drawing/2014/main" id="{409BCCC5-BF5D-8687-4294-50633505BFF2}"/>
              </a:ext>
            </a:extLst>
          </p:cNvPr>
          <p:cNvSpPr/>
          <p:nvPr/>
        </p:nvSpPr>
        <p:spPr>
          <a:xfrm>
            <a:off x="7258050" y="2464308"/>
            <a:ext cx="923925" cy="412241"/>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29ECDEBE-9E6A-7E3E-2C11-7B34E9EDE6CF}"/>
              </a:ext>
            </a:extLst>
          </p:cNvPr>
          <p:cNvSpPr/>
          <p:nvPr/>
        </p:nvSpPr>
        <p:spPr>
          <a:xfrm>
            <a:off x="9490112" y="3607639"/>
            <a:ext cx="923925" cy="412241"/>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7BF13F4B-6E69-5BC0-3B6C-E5A6962EEBAB}"/>
              </a:ext>
            </a:extLst>
          </p:cNvPr>
          <p:cNvSpPr/>
          <p:nvPr/>
        </p:nvSpPr>
        <p:spPr>
          <a:xfrm>
            <a:off x="9622858" y="2464308"/>
            <a:ext cx="2569142" cy="1167817"/>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F28F79DA-6708-52E4-3369-0C7FF5126088}"/>
              </a:ext>
            </a:extLst>
          </p:cNvPr>
          <p:cNvSpPr txBox="1"/>
          <p:nvPr/>
        </p:nvSpPr>
        <p:spPr>
          <a:xfrm>
            <a:off x="9924749" y="2554969"/>
            <a:ext cx="2089064" cy="1015663"/>
          </a:xfrm>
          <a:prstGeom prst="rect">
            <a:avLst/>
          </a:prstGeom>
          <a:noFill/>
        </p:spPr>
        <p:txBody>
          <a:bodyPr wrap="square" rtlCol="0">
            <a:spAutoFit/>
          </a:bodyPr>
          <a:lstStyle/>
          <a:p>
            <a:r>
              <a:rPr lang="en-US" altLang="zh-CN" sz="1000" dirty="0"/>
              <a:t>n’</a:t>
            </a:r>
            <a:r>
              <a:rPr lang="zh-CN" altLang="en-US" sz="1000" dirty="0"/>
              <a:t>最终的收益，如果大于等于</a:t>
            </a:r>
            <a:r>
              <a:rPr lang="en-US" altLang="zh-CN" sz="1000" dirty="0"/>
              <a:t>α</a:t>
            </a:r>
            <a:r>
              <a:rPr lang="zh-CN" altLang="en-US" sz="1000" dirty="0"/>
              <a:t>，那么是其他节点的功劳，因此可以剪枝；如果小于</a:t>
            </a:r>
            <a:r>
              <a:rPr lang="en-US" altLang="zh-CN" sz="1000" dirty="0"/>
              <a:t>α</a:t>
            </a:r>
            <a:r>
              <a:rPr lang="zh-CN" altLang="en-US" sz="1000" dirty="0"/>
              <a:t>，那么有可能是节点</a:t>
            </a:r>
            <a:r>
              <a:rPr lang="en-US" altLang="zh-CN" sz="1000" dirty="0"/>
              <a:t>n</a:t>
            </a:r>
            <a:r>
              <a:rPr lang="zh-CN" altLang="en-US" sz="1000" dirty="0"/>
              <a:t>的功劳，但此时反馈给上一个节点时，由于小于</a:t>
            </a:r>
            <a:r>
              <a:rPr lang="en-US" altLang="zh-CN" sz="1000" dirty="0"/>
              <a:t>α</a:t>
            </a:r>
            <a:r>
              <a:rPr lang="zh-CN" altLang="en-US" sz="1000" dirty="0"/>
              <a:t>，所以未能为</a:t>
            </a:r>
            <a:r>
              <a:rPr lang="en-US" altLang="zh-CN" sz="1000" dirty="0"/>
              <a:t>m’</a:t>
            </a:r>
            <a:r>
              <a:rPr lang="zh-CN" altLang="en-US" sz="1000" dirty="0"/>
              <a:t>增加收益，因此也可以剪枝。</a:t>
            </a:r>
          </a:p>
        </p:txBody>
      </p:sp>
      <p:sp>
        <p:nvSpPr>
          <p:cNvPr id="14" name="箭头: 下 13">
            <a:extLst>
              <a:ext uri="{FF2B5EF4-FFF2-40B4-BE49-F238E27FC236}">
                <a16:creationId xmlns:a16="http://schemas.microsoft.com/office/drawing/2014/main" id="{4A32CEBD-2330-29EE-8751-A0D77382B3E5}"/>
              </a:ext>
            </a:extLst>
          </p:cNvPr>
          <p:cNvSpPr/>
          <p:nvPr/>
        </p:nvSpPr>
        <p:spPr>
          <a:xfrm rot="3072601">
            <a:off x="9490562" y="3323144"/>
            <a:ext cx="128935" cy="2836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19F44A9A-914D-7394-306A-5B756607F37C}"/>
              </a:ext>
            </a:extLst>
          </p:cNvPr>
          <p:cNvSpPr/>
          <p:nvPr/>
        </p:nvSpPr>
        <p:spPr>
          <a:xfrm>
            <a:off x="10899318" y="3607639"/>
            <a:ext cx="1142699" cy="412241"/>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E14A28-EAD7-B1A7-4E94-C127DA32B3A0}"/>
              </a:ext>
            </a:extLst>
          </p:cNvPr>
          <p:cNvSpPr txBox="1"/>
          <p:nvPr/>
        </p:nvSpPr>
        <p:spPr>
          <a:xfrm>
            <a:off x="10937418" y="3632125"/>
            <a:ext cx="1142699" cy="400110"/>
          </a:xfrm>
          <a:prstGeom prst="rect">
            <a:avLst/>
          </a:prstGeom>
          <a:noFill/>
        </p:spPr>
        <p:txBody>
          <a:bodyPr wrap="square" rtlCol="0">
            <a:spAutoFit/>
          </a:bodyPr>
          <a:lstStyle/>
          <a:p>
            <a:r>
              <a:rPr lang="zh-CN" altLang="en-US" sz="1000" dirty="0"/>
              <a:t>节点</a:t>
            </a:r>
            <a:r>
              <a:rPr lang="en-US" altLang="zh-CN" sz="1000" dirty="0"/>
              <a:t>n</a:t>
            </a:r>
            <a:r>
              <a:rPr lang="zh-CN" altLang="en-US" sz="1000" dirty="0"/>
              <a:t>能够收到的收益一定小于</a:t>
            </a:r>
            <a:r>
              <a:rPr lang="en-US" altLang="zh-CN" sz="1000" dirty="0"/>
              <a:t>α</a:t>
            </a:r>
            <a:endParaRPr lang="zh-CN" altLang="en-US" sz="1000" dirty="0"/>
          </a:p>
        </p:txBody>
      </p:sp>
      <p:sp>
        <p:nvSpPr>
          <p:cNvPr id="17" name="箭头: 下 16">
            <a:extLst>
              <a:ext uri="{FF2B5EF4-FFF2-40B4-BE49-F238E27FC236}">
                <a16:creationId xmlns:a16="http://schemas.microsoft.com/office/drawing/2014/main" id="{8E0C7B0F-191A-B0E4-11E6-D786B28C8CC5}"/>
              </a:ext>
            </a:extLst>
          </p:cNvPr>
          <p:cNvSpPr/>
          <p:nvPr/>
        </p:nvSpPr>
        <p:spPr>
          <a:xfrm rot="16200000">
            <a:off x="10597348" y="3671917"/>
            <a:ext cx="128935" cy="2836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272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p:bldP spid="14" grpId="0" animBg="1"/>
      <p:bldP spid="15" grpId="0" animBg="1"/>
      <p:bldP spid="16" grpId="0"/>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剪枝算法</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：对</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节点后代剪枝示意图</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EC1CA56-8028-4FFB-846E-C0CF8E0160A5}"/>
                  </a:ext>
                </a:extLst>
              </p:cNvPr>
              <p:cNvSpPr/>
              <p:nvPr/>
            </p:nvSpPr>
            <p:spPr>
              <a:xfrm>
                <a:off x="396960" y="1929693"/>
                <a:ext cx="5888855" cy="3868495"/>
              </a:xfrm>
              <a:prstGeom prst="rect">
                <a:avLst/>
              </a:prstGeom>
            </p:spPr>
            <p:txBody>
              <a:bodyPr wrap="square">
                <a:spAutoFit/>
              </a:bodyPr>
              <a:lstStyle/>
              <a:p>
                <a:pPr marL="285750" indent="-285750" algn="just">
                  <a:lnSpc>
                    <a:spcPct val="20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3.13</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所示，考虑位于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层的结点</a:t>
                </a:r>
                <a14:m>
                  <m:oMath xmlns:m="http://schemas.openxmlformats.org/officeDocument/2006/math">
                    <m:r>
                      <a:rPr lang="en-US" altLang="zh-CN" i="1">
                        <a:latin typeface="Cambria Math" panose="02040503050406030204" pitchFamily="18" charset="0"/>
                      </a:rPr>
                      <m:t>𝑚</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，已知结点</a:t>
                </a:r>
                <a14:m>
                  <m:oMath xmlns:m="http://schemas.openxmlformats.org/officeDocument/2006/math">
                    <m:r>
                      <a:rPr lang="en-US" altLang="zh-CN" i="1">
                        <a:latin typeface="Cambria Math" panose="02040503050406030204" pitchFamily="18" charset="0"/>
                      </a:rPr>
                      <m:t>𝑚</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能够从其下</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层结点收到的收益为</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beta</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20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结点</a:t>
                </a:r>
                <a14:m>
                  <m:oMath xmlns:m="http://schemas.openxmlformats.org/officeDocument/2006/math">
                    <m:r>
                      <a:rPr lang="en-US" altLang="zh-CN" i="1">
                        <a:latin typeface="Cambria Math" panose="02040503050406030204" pitchFamily="18" charset="0"/>
                      </a:rPr>
                      <m:t>𝑛</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是结点</a:t>
                </a:r>
                <a14:m>
                  <m:oMath xmlns:m="http://schemas.openxmlformats.org/officeDocument/2006/math">
                    <m:r>
                      <a:rPr lang="en-US" altLang="zh-CN" i="1">
                        <a:latin typeface="Cambria Math" panose="02040503050406030204" pitchFamily="18" charset="0"/>
                      </a:rPr>
                      <m:t>𝑚</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上层结点</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𝑚</m:t>
                        </m:r>
                      </m:e>
                      <m:sup>
                        <m:r>
                          <a:rPr lang="en-US" altLang="zh-CN" i="1">
                            <a:latin typeface="Cambria Math" panose="02040503050406030204" pitchFamily="18" charset="0"/>
                          </a:rPr>
                          <m:t>′</m:t>
                        </m:r>
                      </m:sup>
                    </m:sSup>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的位于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层的后代结点，如果目前已知结点</a:t>
                </a:r>
                <a14:m>
                  <m:oMath xmlns:m="http://schemas.openxmlformats.org/officeDocument/2006/math">
                    <m:r>
                      <a:rPr lang="en-US" altLang="zh-CN" i="1">
                        <a:latin typeface="Cambria Math" panose="02040503050406030204" pitchFamily="18" charset="0"/>
                      </a:rPr>
                      <m:t>𝑛</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能够收到的收益大于</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，则不再扩展结点</a:t>
                </a:r>
                <a14:m>
                  <m:oMath xmlns:m="http://schemas.openxmlformats.org/officeDocument/2006/math">
                    <m:r>
                      <a:rPr lang="en-US" altLang="zh-CN" i="1">
                        <a:latin typeface="Cambria Math" panose="02040503050406030204" pitchFamily="18" charset="0"/>
                      </a:rPr>
                      <m:t>𝑛</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的未被访问后继结点，因为</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位于</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层的结点</a:t>
                </a:r>
                <a14:m>
                  <m:oMath xmlns:m="http://schemas.openxmlformats.org/officeDocument/2006/math">
                    <m:sSup>
                      <m:sSupPr>
                        <m:ctrlPr>
                          <a:rPr lang="zh-CN" altLang="zh-CN" i="1">
                            <a:solidFill>
                              <a:schemeClr val="accent2"/>
                            </a:solidFill>
                            <a:latin typeface="Cambria Math" panose="02040503050406030204" pitchFamily="18" charset="0"/>
                          </a:rPr>
                        </m:ctrlPr>
                      </m:sSupPr>
                      <m:e>
                        <m:r>
                          <a:rPr lang="en-US" altLang="zh-CN" i="1">
                            <a:solidFill>
                              <a:schemeClr val="accent2"/>
                            </a:solidFill>
                            <a:latin typeface="Cambria Math" panose="02040503050406030204" pitchFamily="18" charset="0"/>
                          </a:rPr>
                          <m:t>𝑚</m:t>
                        </m:r>
                      </m:e>
                      <m:sup>
                        <m:r>
                          <a:rPr lang="en-US" altLang="zh-CN" i="1">
                            <a:solidFill>
                              <a:schemeClr val="accent2"/>
                            </a:solidFill>
                            <a:latin typeface="Cambria Math" panose="02040503050406030204" pitchFamily="18" charset="0"/>
                          </a:rPr>
                          <m:t>′</m:t>
                        </m:r>
                      </m:sup>
                    </m:sSup>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只会选择收益小于或等于</a:t>
                </a:r>
                <a14:m>
                  <m:oMath xmlns:m="http://schemas.openxmlformats.org/officeDocument/2006/math">
                    <m:r>
                      <a:rPr lang="en-US" altLang="zh-CN" i="1">
                        <a:solidFill>
                          <a:schemeClr val="accent2"/>
                        </a:solidFill>
                        <a:latin typeface="Cambria Math" panose="02040503050406030204" pitchFamily="18" charset="0"/>
                      </a:rPr>
                      <m:t>𝛽</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的结点来采取行动</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266700" algn="just">
                  <a:lnSpc>
                    <a:spcPct val="150000"/>
                  </a:lnSpc>
                  <a:spcAft>
                    <a:spcPts val="0"/>
                  </a:spcAft>
                </a:pP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EC1CA56-8028-4FFB-846E-C0CF8E0160A5}"/>
                  </a:ext>
                </a:extLst>
              </p:cNvPr>
              <p:cNvSpPr>
                <a:spLocks noRot="1" noChangeAspect="1" noMove="1" noResize="1" noEditPoints="1" noAdjustHandles="1" noChangeArrowheads="1" noChangeShapeType="1" noTextEdit="1"/>
              </p:cNvSpPr>
              <p:nvPr/>
            </p:nvSpPr>
            <p:spPr>
              <a:xfrm>
                <a:off x="396960" y="1929693"/>
                <a:ext cx="5888855" cy="3868495"/>
              </a:xfrm>
              <a:prstGeom prst="rect">
                <a:avLst/>
              </a:prstGeom>
              <a:blipFill>
                <a:blip r:embed="rId3"/>
                <a:stretch>
                  <a:fillRect l="-621" r="-4762"/>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257FCDDE-7F27-4ED6-B18B-D6CE2F93D37B}"/>
              </a:ext>
            </a:extLst>
          </p:cNvPr>
          <p:cNvPicPr>
            <a:picLocks noChangeAspect="1"/>
          </p:cNvPicPr>
          <p:nvPr/>
        </p:nvPicPr>
        <p:blipFill>
          <a:blip r:embed="rId4"/>
          <a:stretch>
            <a:fillRect/>
          </a:stretch>
        </p:blipFill>
        <p:spPr>
          <a:xfrm>
            <a:off x="6641206" y="1989922"/>
            <a:ext cx="4823073" cy="3432351"/>
          </a:xfrm>
          <a:prstGeom prst="rect">
            <a:avLst/>
          </a:prstGeom>
        </p:spPr>
      </p:pic>
      <p:sp>
        <p:nvSpPr>
          <p:cNvPr id="14" name="矩形 13">
            <a:extLst>
              <a:ext uri="{FF2B5EF4-FFF2-40B4-BE49-F238E27FC236}">
                <a16:creationId xmlns:a16="http://schemas.microsoft.com/office/drawing/2014/main" id="{C26A6A24-C42D-4064-BDB7-345EB44D5CA9}"/>
              </a:ext>
            </a:extLst>
          </p:cNvPr>
          <p:cNvSpPr/>
          <p:nvPr/>
        </p:nvSpPr>
        <p:spPr>
          <a:xfrm>
            <a:off x="6403053" y="5686972"/>
            <a:ext cx="4951997" cy="338554"/>
          </a:xfrm>
          <a:prstGeom prst="rect">
            <a:avLst/>
          </a:prstGeom>
        </p:spPr>
        <p:txBody>
          <a:bodyPr wrap="none">
            <a:spAutoFit/>
          </a:bodyPr>
          <a:lstStyle/>
          <a:p>
            <a:pPr indent="266700" algn="ctr">
              <a:spcAft>
                <a:spcPts val="0"/>
              </a:spcAft>
            </a:pPr>
            <a:r>
              <a:rPr lang="zh-CN" altLang="en-US" sz="1600" kern="100" dirty="0">
                <a:solidFill>
                  <a:srgbClr val="000000"/>
                </a:solidFill>
                <a:latin typeface="Times New Roman" panose="02020603050405020304" pitchFamily="18" charset="0"/>
                <a:ea typeface="楷体_GB2312"/>
                <a:cs typeface="Times New Roman" panose="02020603050405020304" pitchFamily="18" charset="0"/>
              </a:rPr>
              <a:t>图 </a:t>
            </a:r>
            <a:r>
              <a:rPr lang="en-US" altLang="zh-CN" sz="1600" kern="100" dirty="0">
                <a:solidFill>
                  <a:srgbClr val="000000"/>
                </a:solidFill>
                <a:latin typeface="Times New Roman" panose="02020603050405020304" pitchFamily="18" charset="0"/>
                <a:ea typeface="楷体_GB2312"/>
                <a:cs typeface="Times New Roman" panose="02020603050405020304" pitchFamily="18" charset="0"/>
              </a:rPr>
              <a:t>3.13 </a:t>
            </a:r>
            <a:r>
              <a:rPr lang="zh-CN" altLang="zh-CN" sz="1600" kern="100" dirty="0">
                <a:solidFill>
                  <a:srgbClr val="000000"/>
                </a:solidFill>
                <a:latin typeface="Times New Roman" panose="02020603050405020304" pitchFamily="18" charset="0"/>
                <a:ea typeface="楷体_GB2312"/>
                <a:cs typeface="Times New Roman" panose="02020603050405020304" pitchFamily="18" charset="0"/>
              </a:rPr>
              <a:t>基于</a:t>
            </a:r>
            <a:r>
              <a:rPr lang="en-US" altLang="zh-CN" sz="1600" kern="100" dirty="0">
                <a:solidFill>
                  <a:srgbClr val="000000"/>
                </a:solidFill>
                <a:latin typeface="Times New Roman" panose="02020603050405020304" pitchFamily="18" charset="0"/>
                <a:ea typeface="楷体_GB2312"/>
                <a:cs typeface="Times New Roman" panose="02020603050405020304" pitchFamily="18" charset="0"/>
              </a:rPr>
              <a:t>MAX</a:t>
            </a:r>
            <a:r>
              <a:rPr lang="zh-CN" altLang="zh-CN" sz="1600" kern="100" dirty="0">
                <a:solidFill>
                  <a:srgbClr val="000000"/>
                </a:solidFill>
                <a:latin typeface="Times New Roman" panose="02020603050405020304" pitchFamily="18" charset="0"/>
                <a:ea typeface="楷体_GB2312"/>
                <a:cs typeface="Times New Roman" panose="02020603050405020304" pitchFamily="18" charset="0"/>
              </a:rPr>
              <a:t>结点反馈收益进行剪枝</a:t>
            </a:r>
            <a:r>
              <a:rPr lang="en-US" altLang="zh-CN" sz="1600" kern="100" dirty="0">
                <a:solidFill>
                  <a:srgbClr val="000000"/>
                </a:solidFill>
                <a:latin typeface="Times New Roman" panose="02020603050405020304" pitchFamily="18" charset="0"/>
                <a:ea typeface="楷体_GB2312"/>
                <a:cs typeface="Times New Roman" panose="02020603050405020304" pitchFamily="18" charset="0"/>
              </a:rPr>
              <a:t>(beta</a:t>
            </a:r>
            <a:r>
              <a:rPr lang="zh-CN" altLang="zh-CN" sz="1600" kern="100" dirty="0">
                <a:solidFill>
                  <a:srgbClr val="000000"/>
                </a:solidFill>
                <a:latin typeface="Times New Roman" panose="02020603050405020304" pitchFamily="18" charset="0"/>
                <a:ea typeface="楷体_GB2312"/>
                <a:cs typeface="Times New Roman" panose="02020603050405020304" pitchFamily="18" charset="0"/>
              </a:rPr>
              <a:t>剪枝</a:t>
            </a:r>
            <a:r>
              <a:rPr lang="en-US" altLang="zh-CN" sz="1600" kern="100"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29768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剪枝算法</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：为什么叫</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alpha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beta</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剪枝</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EC1CA56-8028-4FFB-846E-C0CF8E0160A5}"/>
                  </a:ext>
                </a:extLst>
              </p:cNvPr>
              <p:cNvSpPr/>
              <p:nvPr/>
            </p:nvSpPr>
            <p:spPr>
              <a:xfrm>
                <a:off x="522218" y="1527434"/>
                <a:ext cx="11147564" cy="5061001"/>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综合以上两种情况的剪枝方法被称为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剪枝。实际上，在图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3.12</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中，结点</a:t>
                </a:r>
                <a14:m>
                  <m:oMath xmlns:m="http://schemas.openxmlformats.org/officeDocument/2006/math">
                    <m:r>
                      <a:rPr lang="en-US" altLang="zh-CN" i="1">
                        <a:latin typeface="Cambria Math" panose="02040503050406030204" pitchFamily="18" charset="0"/>
                      </a:rPr>
                      <m:t>𝑚</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不仅为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层结点</a:t>
                </a:r>
                <a14:m>
                  <m:oMath xmlns:m="http://schemas.openxmlformats.org/officeDocument/2006/math">
                    <m:r>
                      <a:rPr lang="en-US" altLang="zh-CN" i="1">
                        <a:latin typeface="Cambria Math" panose="02040503050406030204" pitchFamily="18" charset="0"/>
                      </a:rPr>
                      <m:t>𝑛</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提供了一个下界，对于例如</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m:t>
                        </m:r>
                      </m:sup>
                    </m:sSup>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层结点，这个下界仍然是有意义的</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3.13</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中情况同理。因此，无论一个结点位于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层还是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层，都可以根据图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3.12</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3.13</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中的情况找到</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一个下界和一个上界</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，即可以为每个结点设置</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一个</a:t>
                </a:r>
                <a14:m>
                  <m:oMath xmlns:m="http://schemas.openxmlformats.org/officeDocument/2006/math">
                    <m:r>
                      <a:rPr lang="en-US" altLang="zh-CN" i="1">
                        <a:solidFill>
                          <a:schemeClr val="accent2"/>
                        </a:solidFill>
                        <a:latin typeface="Cambria Math" panose="02040503050406030204" pitchFamily="18" charset="0"/>
                      </a:rPr>
                      <m:t>𝛼</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值和一个</a:t>
                </a:r>
                <a14:m>
                  <m:oMath xmlns:m="http://schemas.openxmlformats.org/officeDocument/2006/math">
                    <m:r>
                      <a:rPr lang="en-US" altLang="zh-CN" i="1">
                        <a:solidFill>
                          <a:schemeClr val="accent2"/>
                        </a:solidFill>
                        <a:latin typeface="Cambria Math" panose="02040503050406030204" pitchFamily="18" charset="0"/>
                      </a:rPr>
                      <m:t>𝛽</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，来判断该结点及其后继结点是否可被剪枝。在设计算法时，为了计算一个结点的上下界，没有必要去枚举所有会影响当前结点</a:t>
                </a:r>
                <a14:m>
                  <m:oMath xmlns:m="http://schemas.openxmlformats.org/officeDocument/2006/math">
                    <m:r>
                      <a:rPr lang="en-US" altLang="zh-CN" i="1">
                        <a:latin typeface="Cambria Math" panose="02040503050406030204" pitchFamily="18" charset="0"/>
                      </a:rPr>
                      <m:t>𝛼</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值和</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值的结点，只需要继承父结点的</a:t>
                </a:r>
                <a14:m>
                  <m:oMath xmlns:m="http://schemas.openxmlformats.org/officeDocument/2006/math">
                    <m:r>
                      <a:rPr lang="en-US" altLang="zh-CN" i="1">
                        <a:latin typeface="Cambria Math" panose="02040503050406030204" pitchFamily="18" charset="0"/>
                      </a:rPr>
                      <m:t>𝛼</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值和</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值，再按照一定的规则加以更新即可。</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对于</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结点，如果其孩子结点（</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结点）的收益大于当前的</a:t>
                </a:r>
                <a14:m>
                  <m:oMath xmlns:m="http://schemas.openxmlformats.org/officeDocument/2006/math">
                    <m:r>
                      <a:rPr lang="en-US" altLang="zh-CN" i="1">
                        <a:solidFill>
                          <a:schemeClr val="accent2"/>
                        </a:solidFill>
                        <a:latin typeface="Cambria Math" panose="02040503050406030204" pitchFamily="18" charset="0"/>
                      </a:rPr>
                      <m:t>𝛼</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值，则将</a:t>
                </a:r>
                <a14:m>
                  <m:oMath xmlns:m="http://schemas.openxmlformats.org/officeDocument/2006/math">
                    <m:r>
                      <a:rPr lang="en-US" altLang="zh-CN" i="1">
                        <a:solidFill>
                          <a:schemeClr val="accent2"/>
                        </a:solidFill>
                        <a:latin typeface="Cambria Math" panose="02040503050406030204" pitchFamily="18" charset="0"/>
                      </a:rPr>
                      <m:t>𝛼</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值更新为该收益；对于</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结点，如果其孩子结点（</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结点）的收益小于当前的</a:t>
                </a:r>
                <a14:m>
                  <m:oMath xmlns:m="http://schemas.openxmlformats.org/officeDocument/2006/math">
                    <m:r>
                      <a:rPr lang="en-US" altLang="zh-CN" i="1">
                        <a:solidFill>
                          <a:schemeClr val="accent2"/>
                        </a:solidFill>
                        <a:latin typeface="Cambria Math" panose="02040503050406030204" pitchFamily="18" charset="0"/>
                      </a:rPr>
                      <m:t>𝛽</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值，则将</a:t>
                </a:r>
                <a14:m>
                  <m:oMath xmlns:m="http://schemas.openxmlformats.org/officeDocument/2006/math">
                    <m:r>
                      <a:rPr lang="en-US" altLang="zh-CN" i="1">
                        <a:solidFill>
                          <a:schemeClr val="accent2"/>
                        </a:solidFill>
                        <a:latin typeface="Cambria Math" panose="02040503050406030204" pitchFamily="18" charset="0"/>
                      </a:rPr>
                      <m:t>𝛽</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值更新为该收益。根结点（</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结点）的</a:t>
                </a:r>
                <a14:m>
                  <m:oMath xmlns:m="http://schemas.openxmlformats.org/officeDocument/2006/math">
                    <m:r>
                      <a:rPr lang="en-US" altLang="zh-CN" i="1">
                        <a:solidFill>
                          <a:schemeClr val="accent2"/>
                        </a:solidFill>
                        <a:latin typeface="Cambria Math" panose="02040503050406030204" pitchFamily="18" charset="0"/>
                      </a:rPr>
                      <m:t>𝛼</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值和</a:t>
                </a:r>
                <a14:m>
                  <m:oMath xmlns:m="http://schemas.openxmlformats.org/officeDocument/2006/math">
                    <m:r>
                      <a:rPr lang="en-US" altLang="zh-CN" i="1">
                        <a:solidFill>
                          <a:schemeClr val="accent2"/>
                        </a:solidFill>
                        <a:latin typeface="Cambria Math" panose="02040503050406030204" pitchFamily="18" charset="0"/>
                      </a:rPr>
                      <m:t>𝛽</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值分别被初始化为</a:t>
                </a:r>
                <a14:m>
                  <m:oMath xmlns:m="http://schemas.openxmlformats.org/officeDocument/2006/math">
                    <m:r>
                      <a:rPr lang="en-US" altLang="zh-CN" i="1">
                        <a:solidFill>
                          <a:schemeClr val="accent2"/>
                        </a:solidFill>
                        <a:latin typeface="Cambria Math" panose="02040503050406030204" pitchFamily="18" charset="0"/>
                      </a:rPr>
                      <m:t>−</m:t>
                    </m:r>
                    <m:r>
                      <a:rPr lang="en-US" altLang="zh-CN">
                        <a:solidFill>
                          <a:schemeClr val="accent2"/>
                        </a:solidFill>
                        <a:latin typeface="Cambria Math" panose="02040503050406030204" pitchFamily="18" charset="0"/>
                      </a:rPr>
                      <m:t>∞</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a:solidFill>
                          <a:schemeClr val="accent2"/>
                        </a:solidFill>
                        <a:latin typeface="Cambria Math" panose="02040503050406030204" pitchFamily="18" charset="0"/>
                      </a:rPr>
                      <m:t>+∞</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nSpc>
                    <a:spcPct val="15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随着搜索算法不断被执行，每个结点的</a:t>
                </a:r>
                <a14:m>
                  <m:oMath xmlns:m="http://schemas.openxmlformats.org/officeDocument/2006/math">
                    <m:r>
                      <a:rPr lang="en-US" altLang="zh-CN" i="1">
                        <a:latin typeface="Cambria Math" panose="02040503050406030204" pitchFamily="18" charset="0"/>
                      </a:rPr>
                      <m:t>𝛼</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值和</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值不断被更新。</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大体来说，每个结点的</a:t>
                </a:r>
                <a14:m>
                  <m:oMath xmlns:m="http://schemas.openxmlformats.org/officeDocument/2006/math">
                    <m:r>
                      <a:rPr lang="en-US" altLang="zh-CN" i="1">
                        <a:solidFill>
                          <a:schemeClr val="accent2"/>
                        </a:solidFill>
                        <a:latin typeface="Cambria Math" panose="02040503050406030204" pitchFamily="18" charset="0"/>
                      </a:rPr>
                      <m:t>[</m:t>
                    </m:r>
                    <m:r>
                      <a:rPr lang="en-US" altLang="zh-CN" i="1">
                        <a:solidFill>
                          <a:schemeClr val="accent2"/>
                        </a:solidFill>
                        <a:latin typeface="Cambria Math" panose="02040503050406030204" pitchFamily="18" charset="0"/>
                      </a:rPr>
                      <m:t>𝛼</m:t>
                    </m:r>
                    <m:r>
                      <a:rPr lang="en-US" altLang="zh-CN" i="1">
                        <a:solidFill>
                          <a:schemeClr val="accent2"/>
                        </a:solidFill>
                        <a:latin typeface="Cambria Math" panose="02040503050406030204" pitchFamily="18" charset="0"/>
                      </a:rPr>
                      <m:t>,</m:t>
                    </m:r>
                    <m:r>
                      <a:rPr lang="en-US" altLang="zh-CN" i="1">
                        <a:solidFill>
                          <a:schemeClr val="accent2"/>
                        </a:solidFill>
                        <a:latin typeface="Cambria Math" panose="02040503050406030204" pitchFamily="18" charset="0"/>
                      </a:rPr>
                      <m:t>𝛽</m:t>
                    </m:r>
                    <m:r>
                      <a:rPr lang="en-US" altLang="zh-CN" i="1">
                        <a:solidFill>
                          <a:schemeClr val="accent2"/>
                        </a:solidFill>
                        <a:latin typeface="Cambria Math" panose="02040503050406030204" pitchFamily="18" charset="0"/>
                      </a:rPr>
                      <m:t>]</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从其父结点提供的初始值开始，取值按照如下形式变化：</a:t>
                </a:r>
                <a14:m>
                  <m:oMath xmlns:m="http://schemas.openxmlformats.org/officeDocument/2006/math">
                    <m:r>
                      <a:rPr lang="en-US" altLang="zh-CN" i="1" smtClean="0">
                        <a:solidFill>
                          <a:schemeClr val="accent2"/>
                        </a:solidFill>
                        <a:latin typeface="Cambria Math" panose="02040503050406030204" pitchFamily="18" charset="0"/>
                      </a:rPr>
                      <m:t>𝛼</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逐渐增加、</a:t>
                </a:r>
                <a14:m>
                  <m:oMath xmlns:m="http://schemas.openxmlformats.org/officeDocument/2006/math">
                    <m:r>
                      <a:rPr lang="en-US" altLang="zh-CN" i="1">
                        <a:solidFill>
                          <a:schemeClr val="accent2"/>
                        </a:solidFill>
                        <a:latin typeface="Cambria Math" panose="02040503050406030204" pitchFamily="18" charset="0"/>
                      </a:rPr>
                      <m:t>𝛽</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逐渐减少</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。不难验证，如果一个结点的</a:t>
                </a:r>
                <a14:m>
                  <m:oMath xmlns:m="http://schemas.openxmlformats.org/officeDocument/2006/math">
                    <m:r>
                      <a:rPr lang="en-US" altLang="zh-CN" i="1">
                        <a:latin typeface="Cambria Math" panose="02040503050406030204" pitchFamily="18" charset="0"/>
                      </a:rPr>
                      <m:t>𝛼</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值和</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值满足</a:t>
                </a:r>
                <a14:m>
                  <m:oMath xmlns:m="http://schemas.openxmlformats.org/officeDocument/2006/math">
                    <m:r>
                      <a:rPr lang="en-US" altLang="zh-CN" i="1">
                        <a:latin typeface="Cambria Math" panose="02040503050406030204" pitchFamily="18" charset="0"/>
                      </a:rPr>
                      <m:t>𝛼</m:t>
                    </m:r>
                    <m:r>
                      <a:rPr lang="en-US" altLang="zh-CN" i="1">
                        <a:latin typeface="Cambria Math" panose="02040503050406030204" pitchFamily="18" charset="0"/>
                      </a:rPr>
                      <m:t>&gt;</m:t>
                    </m:r>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的条件，则该结点尚未被访问的后续结点就会被剪枝，因而不会被智能体访问。</a:t>
                </a:r>
              </a:p>
              <a:p>
                <a:pPr indent="266700" algn="just">
                  <a:lnSpc>
                    <a:spcPct val="150000"/>
                  </a:lnSpc>
                  <a:spcAft>
                    <a:spcPts val="0"/>
                  </a:spcAft>
                </a:pP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EC1CA56-8028-4FFB-846E-C0CF8E0160A5}"/>
                  </a:ext>
                </a:extLst>
              </p:cNvPr>
              <p:cNvSpPr>
                <a:spLocks noRot="1" noChangeAspect="1" noMove="1" noResize="1" noEditPoints="1" noAdjustHandles="1" noChangeArrowheads="1" noChangeShapeType="1" noTextEdit="1"/>
              </p:cNvSpPr>
              <p:nvPr/>
            </p:nvSpPr>
            <p:spPr>
              <a:xfrm>
                <a:off x="522218" y="1527434"/>
                <a:ext cx="11147564" cy="5061001"/>
              </a:xfrm>
              <a:prstGeom prst="rect">
                <a:avLst/>
              </a:prstGeom>
              <a:blipFill>
                <a:blip r:embed="rId3"/>
                <a:stretch>
                  <a:fillRect l="-383" r="-4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4642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剪枝算法</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示意图</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364394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en-US" altLang="zh-CN" sz="1600" dirty="0">
                <a:solidFill>
                  <a:srgbClr val="000000"/>
                </a:solidFill>
                <a:latin typeface="Times New Roman" panose="02020603050405020304" pitchFamily="18" charset="0"/>
              </a:rPr>
              <a:t>Minimax</a:t>
            </a:r>
            <a:r>
              <a:rPr lang="zh-CN" altLang="en-US" sz="1600" dirty="0">
                <a:solidFill>
                  <a:srgbClr val="000000"/>
                </a:solidFill>
                <a:latin typeface="Times New Roman" panose="02020603050405020304" pitchFamily="18" charset="0"/>
              </a:rPr>
              <a:t>搜索与</a:t>
            </a:r>
            <a:r>
              <a:rPr lang="en-US" altLang="zh-CN" sz="1600" dirty="0">
                <a:solidFill>
                  <a:srgbClr val="000000"/>
                </a:solidFill>
                <a:latin typeface="Times New Roman" panose="02020603050405020304" pitchFamily="18" charset="0"/>
              </a:rPr>
              <a:t>alpha-beta</a:t>
            </a:r>
            <a:r>
              <a:rPr lang="zh-CN" altLang="zh-CN" sz="1600" dirty="0">
                <a:solidFill>
                  <a:srgbClr val="000000"/>
                </a:solidFill>
                <a:latin typeface="Times New Roman" panose="02020603050405020304" pitchFamily="18" charset="0"/>
              </a:rPr>
              <a:t>剪枝算法</a:t>
            </a:r>
            <a:endParaRPr lang="zh-CN" altLang="en-US" sz="1600" dirty="0">
              <a:solidFill>
                <a:srgbClr val="000000"/>
              </a:solidFill>
              <a:latin typeface="Times New Roman" panose="02020603050405020304" pitchFamily="18" charset="0"/>
            </a:endParaRPr>
          </a:p>
        </p:txBody>
      </p:sp>
      <p:pic>
        <p:nvPicPr>
          <p:cNvPr id="8" name="图片 7">
            <a:extLst>
              <a:ext uri="{FF2B5EF4-FFF2-40B4-BE49-F238E27FC236}">
                <a16:creationId xmlns:a16="http://schemas.microsoft.com/office/drawing/2014/main" id="{B0C6AB22-88A9-4C93-B37B-7FE899E965B6}"/>
              </a:ext>
            </a:extLst>
          </p:cNvPr>
          <p:cNvPicPr>
            <a:picLocks noChangeAspect="1"/>
          </p:cNvPicPr>
          <p:nvPr/>
        </p:nvPicPr>
        <p:blipFill>
          <a:blip r:embed="rId3"/>
          <a:stretch>
            <a:fillRect/>
          </a:stretch>
        </p:blipFill>
        <p:spPr>
          <a:xfrm>
            <a:off x="446830" y="2114482"/>
            <a:ext cx="3654613" cy="2629035"/>
          </a:xfrm>
          <a:prstGeom prst="rect">
            <a:avLst/>
          </a:prstGeom>
        </p:spPr>
      </p:pic>
      <p:pic>
        <p:nvPicPr>
          <p:cNvPr id="13" name="图片 12">
            <a:extLst>
              <a:ext uri="{FF2B5EF4-FFF2-40B4-BE49-F238E27FC236}">
                <a16:creationId xmlns:a16="http://schemas.microsoft.com/office/drawing/2014/main" id="{467C46B1-C07A-41E8-8148-56BC4F71871F}"/>
              </a:ext>
            </a:extLst>
          </p:cNvPr>
          <p:cNvPicPr>
            <a:picLocks noChangeAspect="1"/>
          </p:cNvPicPr>
          <p:nvPr/>
        </p:nvPicPr>
        <p:blipFill>
          <a:blip r:embed="rId4"/>
          <a:stretch>
            <a:fillRect/>
          </a:stretch>
        </p:blipFill>
        <p:spPr>
          <a:xfrm>
            <a:off x="5656358" y="1386437"/>
            <a:ext cx="4708561" cy="4962835"/>
          </a:xfrm>
          <a:prstGeom prst="rect">
            <a:avLst/>
          </a:prstGeom>
        </p:spPr>
      </p:pic>
      <p:sp>
        <p:nvSpPr>
          <p:cNvPr id="6" name="椭圆 5">
            <a:extLst>
              <a:ext uri="{FF2B5EF4-FFF2-40B4-BE49-F238E27FC236}">
                <a16:creationId xmlns:a16="http://schemas.microsoft.com/office/drawing/2014/main" id="{61D04CEA-303E-BA05-192B-7BDD77CE39B8}"/>
              </a:ext>
            </a:extLst>
          </p:cNvPr>
          <p:cNvSpPr/>
          <p:nvPr/>
        </p:nvSpPr>
        <p:spPr>
          <a:xfrm>
            <a:off x="9258300" y="2264284"/>
            <a:ext cx="693775" cy="355092"/>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5173625-F21E-FACD-9AF2-6E2AAFDB7284}"/>
                  </a:ext>
                </a:extLst>
              </p:cNvPr>
              <p:cNvSpPr txBox="1"/>
              <p:nvPr/>
            </p:nvSpPr>
            <p:spPr>
              <a:xfrm>
                <a:off x="305419" y="4879644"/>
                <a:ext cx="4191000" cy="1705210"/>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如果一个结点的</a:t>
                </a:r>
                <a14:m>
                  <m:oMath xmlns:m="http://schemas.openxmlformats.org/officeDocument/2006/math">
                    <m:r>
                      <a:rPr lang="en-US" altLang="zh-CN" i="1">
                        <a:latin typeface="Cambria Math" panose="02040503050406030204" pitchFamily="18" charset="0"/>
                      </a:rPr>
                      <m:t>𝛼</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值和</a:t>
                </a:r>
                <a14:m>
                  <m:oMath xmlns:m="http://schemas.openxmlformats.org/officeDocument/2006/math">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值满足</a:t>
                </a:r>
                <a14:m>
                  <m:oMath xmlns:m="http://schemas.openxmlformats.org/officeDocument/2006/math">
                    <m:r>
                      <a:rPr lang="en-US" altLang="zh-CN" i="1">
                        <a:latin typeface="Cambria Math" panose="02040503050406030204" pitchFamily="18" charset="0"/>
                      </a:rPr>
                      <m:t>𝛼</m:t>
                    </m:r>
                    <m:r>
                      <a:rPr lang="en-US" altLang="zh-CN" i="1">
                        <a:latin typeface="Cambria Math" panose="02040503050406030204" pitchFamily="18" charset="0"/>
                      </a:rPr>
                      <m:t>&gt;</m:t>
                    </m:r>
                    <m:r>
                      <a:rPr lang="en-US" altLang="zh-CN" i="1">
                        <a:latin typeface="Cambria Math" panose="02040503050406030204" pitchFamily="18" charset="0"/>
                      </a:rPr>
                      <m:t>𝛽</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的条件，则该结点尚未被访问的后续结点就会被剪枝，因而不会被智能体访问。</a:t>
                </a:r>
              </a:p>
            </p:txBody>
          </p:sp>
        </mc:Choice>
        <mc:Fallback xmlns="">
          <p:sp>
            <p:nvSpPr>
              <p:cNvPr id="11" name="文本框 10">
                <a:extLst>
                  <a:ext uri="{FF2B5EF4-FFF2-40B4-BE49-F238E27FC236}">
                    <a16:creationId xmlns:a16="http://schemas.microsoft.com/office/drawing/2014/main" id="{D5173625-F21E-FACD-9AF2-6E2AAFDB7284}"/>
                  </a:ext>
                </a:extLst>
              </p:cNvPr>
              <p:cNvSpPr txBox="1">
                <a:spLocks noRot="1" noChangeAspect="1" noMove="1" noResize="1" noEditPoints="1" noAdjustHandles="1" noChangeArrowheads="1" noChangeShapeType="1" noTextEdit="1"/>
              </p:cNvSpPr>
              <p:nvPr/>
            </p:nvSpPr>
            <p:spPr>
              <a:xfrm>
                <a:off x="305419" y="4879644"/>
                <a:ext cx="4191000" cy="1705210"/>
              </a:xfrm>
              <a:prstGeom prst="rect">
                <a:avLst/>
              </a:prstGeom>
              <a:blipFill>
                <a:blip r:embed="rId5"/>
                <a:stretch>
                  <a:fillRect l="-872" r="-145" b="-46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A149DE5-FA12-CA61-1CFA-B15F0613AE94}"/>
                  </a:ext>
                </a:extLst>
              </p:cNvPr>
              <p:cNvSpPr txBox="1"/>
              <p:nvPr/>
            </p:nvSpPr>
            <p:spPr>
              <a:xfrm>
                <a:off x="5686538" y="1209597"/>
                <a:ext cx="2790712" cy="307777"/>
              </a:xfrm>
              <a:prstGeom prst="rect">
                <a:avLst/>
              </a:prstGeom>
              <a:noFill/>
            </p:spPr>
            <p:txBody>
              <a:bodyPr wrap="square">
                <a:spAutoFit/>
              </a:bodyPr>
              <a:lstStyle/>
              <a:p>
                <a:r>
                  <a:rPr lang="zh-CN" altLang="en-US" sz="1400" b="0" dirty="0">
                    <a:solidFill>
                      <a:schemeClr val="accent2"/>
                    </a:solidFill>
                  </a:rPr>
                  <a:t>初始化</a:t>
                </a:r>
                <a:r>
                  <a:rPr lang="zh-CN" altLang="en-US" sz="1400" dirty="0">
                    <a:solidFill>
                      <a:schemeClr val="accent2"/>
                    </a:solidFill>
                  </a:rPr>
                  <a:t>节点</a:t>
                </a:r>
                <a14:m>
                  <m:oMath xmlns:m="http://schemas.openxmlformats.org/officeDocument/2006/math">
                    <m:r>
                      <a:rPr lang="zh-CN" altLang="en-US" sz="1400" b="0" i="1" dirty="0" smtClean="0">
                        <a:solidFill>
                          <a:schemeClr val="accent2"/>
                        </a:solidFill>
                        <a:latin typeface="Cambria Math" panose="02040503050406030204" pitchFamily="18" charset="0"/>
                      </a:rPr>
                      <m:t>的</m:t>
                    </m:r>
                    <m:d>
                      <m:dPr>
                        <m:ctrlPr>
                          <a:rPr lang="en-US" altLang="zh-CN" sz="1400" b="0" i="1" smtClean="0">
                            <a:solidFill>
                              <a:schemeClr val="accent2"/>
                            </a:solidFill>
                            <a:latin typeface="Cambria Math" panose="02040503050406030204" pitchFamily="18" charset="0"/>
                          </a:rPr>
                        </m:ctrlPr>
                      </m:dPr>
                      <m:e>
                        <m:r>
                          <a:rPr lang="en-US" altLang="zh-CN" sz="1400" i="1" smtClean="0">
                            <a:solidFill>
                              <a:schemeClr val="accent2"/>
                            </a:solidFill>
                            <a:latin typeface="Cambria Math" panose="02040503050406030204" pitchFamily="18" charset="0"/>
                          </a:rPr>
                          <m:t>𝛼</m:t>
                        </m:r>
                        <m:r>
                          <a:rPr lang="en-US" altLang="zh-CN" sz="1400" b="0" i="1" smtClean="0">
                            <a:solidFill>
                              <a:schemeClr val="accent2"/>
                            </a:solidFill>
                            <a:latin typeface="Cambria Math" panose="02040503050406030204" pitchFamily="18" charset="0"/>
                          </a:rPr>
                          <m:t>,</m:t>
                        </m:r>
                        <m:r>
                          <a:rPr lang="en-US" altLang="zh-CN" sz="1400" i="1" smtClean="0">
                            <a:solidFill>
                              <a:schemeClr val="accent2"/>
                            </a:solidFill>
                            <a:latin typeface="Cambria Math" panose="02040503050406030204" pitchFamily="18" charset="0"/>
                          </a:rPr>
                          <m:t>𝛽</m:t>
                        </m:r>
                      </m:e>
                    </m:d>
                    <m:r>
                      <a:rPr lang="zh-CN" altLang="en-US" sz="1400" i="1">
                        <a:solidFill>
                          <a:schemeClr val="accent2"/>
                        </a:solidFill>
                        <a:latin typeface="Cambria Math" panose="02040503050406030204" pitchFamily="18" charset="0"/>
                      </a:rPr>
                      <m:t>为</m:t>
                    </m:r>
                    <m:r>
                      <a:rPr lang="en-US" altLang="zh-CN" sz="1400" b="0" i="1" smtClean="0">
                        <a:solidFill>
                          <a:schemeClr val="accent2"/>
                        </a:solidFill>
                        <a:latin typeface="Cambria Math" panose="02040503050406030204" pitchFamily="18" charset="0"/>
                      </a:rPr>
                      <m:t>(</m:t>
                    </m:r>
                    <m:r>
                      <a:rPr lang="en-US" altLang="zh-CN" sz="1400" i="1" smtClean="0">
                        <a:solidFill>
                          <a:schemeClr val="accent2"/>
                        </a:solidFill>
                        <a:latin typeface="Cambria Math" panose="02040503050406030204" pitchFamily="18" charset="0"/>
                      </a:rPr>
                      <m:t>−</m:t>
                    </m:r>
                    <m:r>
                      <a:rPr lang="en-US" altLang="zh-CN" sz="1400" smtClean="0">
                        <a:solidFill>
                          <a:schemeClr val="accent2"/>
                        </a:solidFill>
                        <a:latin typeface="Cambria Math" panose="02040503050406030204" pitchFamily="18" charset="0"/>
                      </a:rPr>
                      <m:t>∞</m:t>
                    </m:r>
                    <m:r>
                      <a:rPr lang="en-US" altLang="zh-CN" sz="1400" b="0" i="0" smtClean="0">
                        <a:solidFill>
                          <a:schemeClr val="accent2"/>
                        </a:solidFill>
                        <a:latin typeface="Cambria Math" panose="02040503050406030204" pitchFamily="18" charset="0"/>
                      </a:rPr>
                      <m:t>,</m:t>
                    </m:r>
                    <m:r>
                      <a:rPr lang="en-US" altLang="zh-CN" sz="1400">
                        <a:solidFill>
                          <a:schemeClr val="accent2"/>
                        </a:solidFill>
                        <a:latin typeface="Cambria Math" panose="02040503050406030204" pitchFamily="18" charset="0"/>
                      </a:rPr>
                      <m:t>+∞</m:t>
                    </m:r>
                    <m:r>
                      <a:rPr lang="en-US" altLang="zh-CN" sz="1400" b="0" i="0" smtClean="0">
                        <a:solidFill>
                          <a:schemeClr val="accent2"/>
                        </a:solidFill>
                        <a:latin typeface="Cambria Math" panose="02040503050406030204" pitchFamily="18" charset="0"/>
                      </a:rPr>
                      <m:t>)</m:t>
                    </m:r>
                  </m:oMath>
                </a14:m>
                <a:endParaRPr lang="zh-CN" altLang="en-US" sz="1400" dirty="0">
                  <a:solidFill>
                    <a:schemeClr val="accent2"/>
                  </a:solidFill>
                </a:endParaRPr>
              </a:p>
            </p:txBody>
          </p:sp>
        </mc:Choice>
        <mc:Fallback xmlns="">
          <p:sp>
            <p:nvSpPr>
              <p:cNvPr id="14" name="文本框 13">
                <a:extLst>
                  <a:ext uri="{FF2B5EF4-FFF2-40B4-BE49-F238E27FC236}">
                    <a16:creationId xmlns:a16="http://schemas.microsoft.com/office/drawing/2014/main" id="{7A149DE5-FA12-CA61-1CFA-B15F0613AE94}"/>
                  </a:ext>
                </a:extLst>
              </p:cNvPr>
              <p:cNvSpPr txBox="1">
                <a:spLocks noRot="1" noChangeAspect="1" noMove="1" noResize="1" noEditPoints="1" noAdjustHandles="1" noChangeArrowheads="1" noChangeShapeType="1" noTextEdit="1"/>
              </p:cNvSpPr>
              <p:nvPr/>
            </p:nvSpPr>
            <p:spPr>
              <a:xfrm>
                <a:off x="5686538" y="1209597"/>
                <a:ext cx="2790712" cy="307777"/>
              </a:xfrm>
              <a:prstGeom prst="rect">
                <a:avLst/>
              </a:prstGeom>
              <a:blipFill>
                <a:blip r:embed="rId6"/>
                <a:stretch>
                  <a:fillRect l="-655" t="-5882" b="-156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941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2E99E248-FD08-43D0-B7FF-56C64D49638B}"/>
                  </a:ext>
                </a:extLst>
              </p:cNvPr>
              <p:cNvSpPr/>
              <p:nvPr/>
            </p:nvSpPr>
            <p:spPr>
              <a:xfrm>
                <a:off x="1368862" y="1452852"/>
                <a:ext cx="9532757" cy="4613699"/>
              </a:xfrm>
              <a:prstGeom prst="rect">
                <a:avLst/>
              </a:prstGeom>
            </p:spPr>
            <p:txBody>
              <a:bodyPr wrap="square">
                <a:spAutoFit/>
              </a:bodyPr>
              <a:lstStyle/>
              <a:p>
                <a:pPr>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以经典的多臂赌博机（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Multi-armed Bandit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）问题为例。先考虑一个简化问题：假设智能体面前有</a:t>
                </a:r>
                <a14:m>
                  <m:oMath xmlns:m="http://schemas.openxmlformats.org/officeDocument/2006/math">
                    <m:r>
                      <a:rPr lang="en-US" altLang="zh-CN" i="1">
                        <a:latin typeface="Cambria Math" panose="02040503050406030204" pitchFamily="18" charset="0"/>
                      </a:rPr>
                      <m:t>𝐾</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个赌博机，每个赌博机有一个臂膀。每次转动一个赌博机臂膀，</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赌博机则会随机吐出一些硬币或不吐出硬币</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，将每次吐出的硬币的币值表示为收益分数。现在假设给智能体</a:t>
                </a:r>
                <a14:m>
                  <m:oMath xmlns:m="http://schemas.openxmlformats.org/officeDocument/2006/math">
                    <m:r>
                      <a:rPr lang="en-US" altLang="zh-CN" i="1">
                        <a:latin typeface="Cambria Math" panose="02040503050406030204" pitchFamily="18" charset="0"/>
                      </a:rPr>
                      <m:t>𝜏</m:t>
                    </m:r>
                    <m:r>
                      <a:rPr lang="en-US" altLang="zh-CN">
                        <a:latin typeface="Cambria Math" panose="02040503050406030204" pitchFamily="18" charset="0"/>
                      </a:rPr>
                      <m:t>(</m:t>
                    </m:r>
                    <m:r>
                      <m:rPr>
                        <m:sty m:val="p"/>
                      </m:rPr>
                      <a:rPr lang="en-US" altLang="zh-CN">
                        <a:latin typeface="Cambria Math" panose="02040503050406030204" pitchFamily="18" charset="0"/>
                      </a:rPr>
                      <m:t>τ</m:t>
                    </m:r>
                    <m:r>
                      <a:rPr lang="en-US" altLang="zh-CN">
                        <a:latin typeface="Cambria Math" panose="02040503050406030204" pitchFamily="18" charset="0"/>
                      </a:rPr>
                      <m:t>&gt;</m:t>
                    </m:r>
                    <m:r>
                      <m:rPr>
                        <m:sty m:val="p"/>
                      </m:rPr>
                      <a:rPr lang="en-US" altLang="zh-CN">
                        <a:latin typeface="Cambria Math" panose="02040503050406030204" pitchFamily="18" charset="0"/>
                      </a:rPr>
                      <m:t>K</m:t>
                    </m:r>
                    <m:r>
                      <a:rPr lang="en-US" altLang="zh-CN">
                        <a:latin typeface="Cambria Math" panose="02040503050406030204" pitchFamily="18" charset="0"/>
                      </a:rPr>
                      <m:t>)</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次转动臂膀的机会，那么智能体如何选择赌博机、转动</a:t>
                </a:r>
                <a14:m>
                  <m:oMath xmlns:m="http://schemas.openxmlformats.org/officeDocument/2006/math">
                    <m:r>
                      <a:rPr lang="en-US" altLang="zh-CN" i="1">
                        <a:latin typeface="Cambria Math" panose="02040503050406030204" pitchFamily="18" charset="0"/>
                      </a:rPr>
                      <m:t>𝜏</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次赌博机臂膀，以获得更多的收益分数呢？</a:t>
                </a:r>
              </a:p>
              <a:p>
                <a:pPr>
                  <a:lnSpc>
                    <a:spcPct val="150000"/>
                  </a:lnSpc>
                </a:pP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或许可以让智能体先把</a:t>
                </a:r>
                <a14:m>
                  <m:oMath xmlns:m="http://schemas.openxmlformats.org/officeDocument/2006/math">
                    <m:r>
                      <a:rPr lang="en-US" altLang="zh-CN" i="1">
                        <a:latin typeface="Cambria Math" panose="02040503050406030204" pitchFamily="18" charset="0"/>
                      </a:rPr>
                      <m:t>𝐾</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个赌博机的臂膀依次转动一遍，观察在摇动每个赌博机臂膀时的收益分数，然后去转动那些收益分数高的赌博机臂膀。但是，由于从每个赌博机获得的收益分数是随机的，一个刚刚给用户带来可观收益分数的赌博机在下一次摇动其臂膀时可能不会继续获得可观收益分数，因此这一方法不可取。那么是否有方法能够指导智能体高效地获取收益分数呢？</a:t>
                </a:r>
                <a:endParaRPr lang="zh-CN" altLang="zh-CN" b="1"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2E99E248-FD08-43D0-B7FF-56C64D49638B}"/>
                  </a:ext>
                </a:extLst>
              </p:cNvPr>
              <p:cNvSpPr>
                <a:spLocks noRot="1" noChangeAspect="1" noMove="1" noResize="1" noEditPoints="1" noAdjustHandles="1" noChangeArrowheads="1" noChangeShapeType="1" noTextEdit="1"/>
              </p:cNvSpPr>
              <p:nvPr/>
            </p:nvSpPr>
            <p:spPr>
              <a:xfrm>
                <a:off x="1368862" y="1452852"/>
                <a:ext cx="9532757" cy="4613699"/>
              </a:xfrm>
              <a:prstGeom prst="rect">
                <a:avLst/>
              </a:prstGeom>
              <a:blipFill>
                <a:blip r:embed="rId3"/>
                <a:stretch>
                  <a:fillRect l="-576" r="-320" b="-11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8044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：要素</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圆角 6">
            <a:extLst>
              <a:ext uri="{FF2B5EF4-FFF2-40B4-BE49-F238E27FC236}">
                <a16:creationId xmlns:a16="http://schemas.microsoft.com/office/drawing/2014/main" id="{B920A3EA-D7CF-4716-97EB-9339FB1A2927}"/>
              </a:ext>
            </a:extLst>
          </p:cNvPr>
          <p:cNvSpPr/>
          <p:nvPr/>
        </p:nvSpPr>
        <p:spPr>
          <a:xfrm>
            <a:off x="1136392" y="1633472"/>
            <a:ext cx="10750807" cy="466966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7BA0C37D-8993-4C87-B9A6-7B271968B5C9}"/>
                  </a:ext>
                </a:extLst>
              </p:cNvPr>
              <p:cNvSpPr/>
              <p:nvPr/>
            </p:nvSpPr>
            <p:spPr>
              <a:xfrm>
                <a:off x="1330534" y="1663406"/>
                <a:ext cx="10600470" cy="5131854"/>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每个被摇动的臂膀即为一个状态，记</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𝐾</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个状态分别为</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𝐾</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，没有摇动任何臂膀的初始状态记为</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动作对应着摇动一个赌博机的臂膀，在多臂赌博机问题中，任意状态下的动作集合都为</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𝐾</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，分别对应摇动某个赌博机的臂膀。</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状态转移</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选择动作</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𝐾</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后，将状态相应地转换为</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。然而这个问题和前两节讨论的搜索问题的不同之处在于，由于存在随机性，智能体摇动赌博机臂膀若干个</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𝜏</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次，任意两个</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𝜏</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次的结果可能都不一样，为此引入如下</a:t>
                </a:r>
                <a:r>
                  <a:rPr lang="zh-CN" altLang="en-US"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奖励</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要素</a:t>
                </a:r>
                <a:r>
                  <a:rPr lang="zh-CN" altLang="en-US"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奖励（</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reward</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假设从第</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个赌博机获得收益分数的分布为</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𝐷</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，其均值为</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。如果智能体在第</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次行动中选择转动了第</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𝑙</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个赌博机臂膀，那么智能体在第</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次行动中所得收益分数</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𝑟</m:t>
                            </m:r>
                          </m:e>
                        </m:acc>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服从分布</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𝐷</m:t>
                        </m:r>
                      </m:e>
                      <m:sub>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𝑙</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sub>
                    </m:sSub>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1600" i="1"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zh-CN" altLang="zh-CN" sz="16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6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𝑟</m:t>
                            </m:r>
                          </m:e>
                        </m:acc>
                      </m:e>
                      <m:sub>
                        <m:r>
                          <a:rPr lang="en-US" altLang="zh-CN" sz="16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被称为第</a:t>
                </a:r>
                <a14:m>
                  <m:oMath xmlns:m="http://schemas.openxmlformats.org/officeDocument/2006/math">
                    <m:r>
                      <a:rPr lang="en-US" altLang="zh-CN" sz="16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次行动的奖励</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。为了方便对多臂赌博机问题的理论研究，一般假定奖励是有界的，进一步可假设奖励的取值范围为</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[0,1]</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250000"/>
                  </a:lnSpc>
                  <a:buClr>
                    <a:schemeClr val="bg1"/>
                  </a:buClr>
                  <a:buSzPct val="80000"/>
                  <a:buFont typeface="Wingdings" panose="05000000000000000000" pitchFamily="2" charset="2"/>
                  <a:buChar char="u"/>
                </a:pPr>
                <a:endPar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7BA0C37D-8993-4C87-B9A6-7B271968B5C9}"/>
                  </a:ext>
                </a:extLst>
              </p:cNvPr>
              <p:cNvSpPr>
                <a:spLocks noRot="1" noChangeAspect="1" noMove="1" noResize="1" noEditPoints="1" noAdjustHandles="1" noChangeArrowheads="1" noChangeShapeType="1" noTextEdit="1"/>
              </p:cNvSpPr>
              <p:nvPr/>
            </p:nvSpPr>
            <p:spPr>
              <a:xfrm>
                <a:off x="1330534" y="1663406"/>
                <a:ext cx="10600470" cy="5131854"/>
              </a:xfrm>
              <a:prstGeom prst="rect">
                <a:avLst/>
              </a:prstGeom>
              <a:blipFill>
                <a:blip r:embed="rId3"/>
                <a:stretch>
                  <a:fillRect l="-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1183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：要素</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圆角 6">
            <a:extLst>
              <a:ext uri="{FF2B5EF4-FFF2-40B4-BE49-F238E27FC236}">
                <a16:creationId xmlns:a16="http://schemas.microsoft.com/office/drawing/2014/main" id="{B920A3EA-D7CF-4716-97EB-9339FB1A2927}"/>
              </a:ext>
            </a:extLst>
          </p:cNvPr>
          <p:cNvSpPr/>
          <p:nvPr/>
        </p:nvSpPr>
        <p:spPr>
          <a:xfrm>
            <a:off x="1273279" y="1663406"/>
            <a:ext cx="10307296" cy="41906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7BA0C37D-8993-4C87-B9A6-7B271968B5C9}"/>
                  </a:ext>
                </a:extLst>
              </p:cNvPr>
              <p:cNvSpPr/>
              <p:nvPr/>
            </p:nvSpPr>
            <p:spPr>
              <a:xfrm>
                <a:off x="1226738" y="1663406"/>
                <a:ext cx="10400378" cy="4190699"/>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悔值（</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regret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）函数</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a:lnSpc>
                    <a:spcPct val="150000"/>
                  </a:lnSpc>
                  <a:buClr>
                    <a:schemeClr val="bg1"/>
                  </a:buClr>
                  <a:buSzPct val="80000"/>
                </a:pPr>
                <a:r>
                  <a:rPr lang="en-US"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buClr>
                    <a:schemeClr val="bg1"/>
                  </a:buClr>
                  <a:buSzPct val="80000"/>
                </a:pPr>
                <a:r>
                  <a:rPr lang="en-US"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根据智能体前</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次动作，可以如下定义悔值函数：</a:t>
                </a:r>
              </a:p>
              <a:p>
                <a:pPr>
                  <a:lnSpc>
                    <a:spcPct val="150000"/>
                  </a:lnSpc>
                </a:pPr>
                <a14:m>
                  <m:oMathPara xmlns:m="http://schemas.openxmlformats.org/officeDocument/2006/math">
                    <m:oMathParaPr>
                      <m:jc m:val="centerGroup"/>
                    </m:oMathParaPr>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𝜌</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𝑇</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𝑇</m:t>
                      </m:r>
                      <m:sSup>
                        <m:sSup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𝜇</m:t>
                          </m:r>
                        </m:e>
                        <m:sup>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up>
                      </m:sSup>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nary>
                        <m:naryPr>
                          <m:chr m:val="∑"/>
                          <m:limLoc m:val="undOv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𝑇</m:t>
                          </m:r>
                        </m:sup>
                        <m:e>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𝑟</m:t>
                                  </m:r>
                                </m:e>
                              </m:acc>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e>
                      </m:nary>
                    </m:oMath>
                  </m:oMathPara>
                </a14:m>
                <a:endParaRPr lang="zh-CN"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func>
                      <m:func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funcPr>
                      <m:fName>
                        <m:sSup>
                          <m:sSup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𝜇</m:t>
                            </m:r>
                          </m:e>
                          <m:sup>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up>
                        </m:sSup>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limLow>
                          <m:limLow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limLowPr>
                          <m:e>
                            <m:r>
                              <m:rPr>
                                <m:sty m:val="p"/>
                              </m:rP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max</m:t>
                            </m:r>
                          </m:e>
                          <m:lim>
                            <m:r>
                              <m:rPr>
                                <m:sty m:val="p"/>
                              </m:rP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i</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r>
                              <m:rPr>
                                <m:sty m:val="p"/>
                              </m:rP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K</m:t>
                            </m:r>
                          </m:lim>
                        </m:limLow>
                      </m:fName>
                      <m:e>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𝑖</m:t>
                            </m:r>
                          </m:sub>
                        </m:sSub>
                      </m:e>
                    </m:func>
                  </m:oMath>
                </a14:m>
                <a:r>
                  <a:rPr lang="zh-CN"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。显然为了尽量减少悔恨，在每次操作时，智能体应该总是转动能够提供最大期望奖励的赌博机臂膀，但是这是不现实的，因为智能体并不知道哪个臂膀的奖励期望最大。这一公式告诉我们，</a:t>
                </a:r>
                <a:r>
                  <a:rPr lang="zh-CN" altLang="zh-CN"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将</a:t>
                </a:r>
                <a14:m>
                  <m:oMath xmlns:m="http://schemas.openxmlformats.org/officeDocument/2006/math">
                    <m:r>
                      <a:rPr lang="en-US" altLang="zh-CN" sz="16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𝑇</m:t>
                    </m:r>
                  </m:oMath>
                </a14:m>
                <a:r>
                  <a:rPr lang="zh-CN" altLang="zh-CN"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次操作中最优策略的期望得分减去智能体的实际得分，就是悔值函数的结果</a:t>
                </a:r>
                <a:r>
                  <a:rPr lang="zh-CN" altLang="zh-CN"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。显然，问题求解的目标为最小化悔值函数的期望，该悔值函数的取值取决于智能体所采取的策略。</a:t>
                </a:r>
              </a:p>
              <a:p>
                <a:pPr>
                  <a:lnSpc>
                    <a:spcPct val="150000"/>
                  </a:lnSpc>
                  <a:buClr>
                    <a:schemeClr val="bg1"/>
                  </a:buClr>
                  <a:buSzPct val="80000"/>
                </a:pP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7BA0C37D-8993-4C87-B9A6-7B271968B5C9}"/>
                  </a:ext>
                </a:extLst>
              </p:cNvPr>
              <p:cNvSpPr>
                <a:spLocks noRot="1" noChangeAspect="1" noMove="1" noResize="1" noEditPoints="1" noAdjustHandles="1" noChangeArrowheads="1" noChangeShapeType="1" noTextEdit="1"/>
              </p:cNvSpPr>
              <p:nvPr/>
            </p:nvSpPr>
            <p:spPr>
              <a:xfrm>
                <a:off x="1226738" y="1663406"/>
                <a:ext cx="10400378" cy="4190699"/>
              </a:xfrm>
              <a:prstGeom prst="rect">
                <a:avLst/>
              </a:prstGeom>
              <a:blipFill>
                <a:blip r:embed="rId3"/>
                <a:stretch>
                  <a:fillRect l="-2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17148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：策略计算</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a:extLst>
              <a:ext uri="{FF2B5EF4-FFF2-40B4-BE49-F238E27FC236}">
                <a16:creationId xmlns:a16="http://schemas.microsoft.com/office/drawing/2014/main" id="{61A3F1B0-9FD0-426A-933F-A66347B9951B}"/>
              </a:ext>
            </a:extLst>
          </p:cNvPr>
          <p:cNvSpPr/>
          <p:nvPr/>
        </p:nvSpPr>
        <p:spPr>
          <a:xfrm>
            <a:off x="978409" y="1298282"/>
            <a:ext cx="10972799" cy="338554"/>
          </a:xfrm>
          <a:prstGeom prst="rect">
            <a:avLst/>
          </a:prstGeom>
        </p:spPr>
        <p:txBody>
          <a:bodyPr wrap="square">
            <a:spAutoFit/>
          </a:bodyPr>
          <a:lstStyle/>
          <a:p>
            <a:r>
              <a:rPr lang="zh-CN"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智能体不能预先计算好最优策略，然后实行，而是需要一边探索一边调整自己的策略，争取获得更好的收益。</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3E565BD4-C0E0-4220-8753-67B5EE70CE0A}"/>
                  </a:ext>
                </a:extLst>
              </p:cNvPr>
              <p:cNvSpPr/>
              <p:nvPr/>
            </p:nvSpPr>
            <p:spPr>
              <a:xfrm>
                <a:off x="520730" y="1659324"/>
                <a:ext cx="6553550" cy="4860690"/>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一种直观的做法是，智能体记录下每次摇动的赌博机臂膀和获得的相应收益分数。给定第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𝐾</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个赌博机，记在过去</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次摇动赌博机臂膀的行动中，一共摇动第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个赌博机臂膀的次数为第</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。于是，可以计算得到第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个赌博机在过去</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次被摇动过程中的收益分数平均值</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acc>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。这样，</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智能体在第</a:t>
                </a:r>
                <a14:m>
                  <m:oMath xmlns:m="http://schemas.openxmlformats.org/officeDocument/2006/math">
                    <m:r>
                      <a:rPr lang="en-US" altLang="zh-CN" sz="1400" i="1">
                        <a:solidFill>
                          <a:schemeClr val="accent2"/>
                        </a:solidFill>
                        <a:latin typeface="Cambria Math" panose="02040503050406030204" pitchFamily="18" charset="0"/>
                        <a:ea typeface="楷体_GB2312"/>
                        <a:cs typeface="Times New Roman" panose="02020603050405020304" pitchFamily="18" charset="0"/>
                      </a:rPr>
                      <m:t>𝑡</m:t>
                    </m:r>
                  </m:oMath>
                </a14:m>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步，只要选择</a:t>
                </a:r>
                <a14:m>
                  <m:oMath xmlns:m="http://schemas.openxmlformats.org/officeDocument/2006/math">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𝑥</m:t>
                            </m:r>
                          </m:e>
                        </m:acc>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𝑖</m:t>
                        </m:r>
                        <m:r>
                          <a:rPr lang="en-US" altLang="zh-CN" sz="1400" i="1">
                            <a:solidFill>
                              <a:schemeClr val="accent2"/>
                            </a:solidFill>
                            <a:latin typeface="Cambria Math" panose="02040503050406030204" pitchFamily="18" charset="0"/>
                            <a:ea typeface="楷体_GB2312"/>
                            <a:cs typeface="Times New Roman" panose="02020603050405020304" pitchFamily="18" charset="0"/>
                          </a:rPr>
                          <m:t>,</m:t>
                        </m:r>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𝑇</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𝑖</m:t>
                            </m:r>
                            <m:r>
                              <a:rPr lang="en-US" altLang="zh-CN" sz="1400" i="1">
                                <a:solidFill>
                                  <a:schemeClr val="accent2"/>
                                </a:solidFill>
                                <a:latin typeface="Cambria Math" panose="02040503050406030204" pitchFamily="18" charset="0"/>
                                <a:ea typeface="楷体_GB2312"/>
                                <a:cs typeface="Times New Roman" panose="02020603050405020304" pitchFamily="18" charset="0"/>
                              </a:rPr>
                              <m:t>,</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𝑡</m:t>
                            </m:r>
                            <m:r>
                              <a:rPr lang="en-US" altLang="zh-CN" sz="1400" i="1">
                                <a:solidFill>
                                  <a:schemeClr val="accent2"/>
                                </a:solidFill>
                                <a:latin typeface="Cambria Math" panose="02040503050406030204" pitchFamily="18" charset="0"/>
                                <a:ea typeface="楷体_GB2312"/>
                                <a:cs typeface="Times New Roman" panose="02020603050405020304" pitchFamily="18" charset="0"/>
                              </a:rPr>
                              <m:t>−1)</m:t>
                            </m:r>
                          </m:sub>
                        </m:sSub>
                      </m:sub>
                    </m:sSub>
                  </m:oMath>
                </a14:m>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值最大的赌博机臂膀进行摇动，这是贪心算法的思路。</a:t>
                </a:r>
              </a:p>
              <a:p>
                <a:pPr indent="266700" algn="just">
                  <a:lnSpc>
                    <a:spcPts val="2200"/>
                  </a:lnSpc>
                  <a:spcAft>
                    <a:spcPts val="0"/>
                  </a:spcAft>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假设一共有五台赌博机（即</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𝐾</m:t>
                    </m:r>
                    <m:r>
                      <a:rPr lang="en-US" altLang="zh-CN" sz="1400" i="1">
                        <a:solidFill>
                          <a:srgbClr val="000000"/>
                        </a:solidFill>
                        <a:latin typeface="Cambria Math" panose="02040503050406030204" pitchFamily="18" charset="0"/>
                        <a:ea typeface="楷体_GB2312"/>
                        <a:cs typeface="Times New Roman" panose="02020603050405020304" pitchFamily="18" charset="0"/>
                      </a:rPr>
                      <m:t>=5</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个赌博机的得分满足均值为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𝜇</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、方差为</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1/75</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（即支撑区间长度为</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0.4</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）的均匀分布，其中均值</a:t>
                </a:r>
                <a14:m>
                  <m:oMath xmlns:m="http://schemas.openxmlformats.org/officeDocument/2006/math">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𝜇</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𝜇</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5</m:t>
                            </m:r>
                          </m:sub>
                        </m:sSub>
                      </m:e>
                    </m:d>
                    <m:r>
                      <a:rPr lang="en-US" altLang="zh-CN" sz="1400" i="1">
                        <a:solidFill>
                          <a:srgbClr val="000000"/>
                        </a:solidFill>
                        <a:latin typeface="Cambria Math" panose="02040503050406030204" pitchFamily="18" charset="0"/>
                        <a:ea typeface="楷体_GB2312"/>
                        <a:cs typeface="Times New Roman" panose="02020603050405020304" pitchFamily="18" charset="0"/>
                      </a:rPr>
                      <m:t>=(0.3,0.4,0.5,0.6,0.7)</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。假设某个赌博机的臂膀没有被摇动时，因为无法计算其平均收益分数，不妨将这个赌博机得分均值设定正无穷大。在计算机上模拟执行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𝑇</m:t>
                    </m:r>
                    <m:r>
                      <a:rPr lang="en-US" altLang="zh-CN" sz="1400" i="1">
                        <a:solidFill>
                          <a:srgbClr val="000000"/>
                        </a:solidFill>
                        <a:latin typeface="Cambria Math" panose="02040503050406030204" pitchFamily="18" charset="0"/>
                        <a:ea typeface="楷体_GB2312"/>
                        <a:cs typeface="Times New Roman" panose="02020603050405020304" pitchFamily="18" charset="0"/>
                      </a:rPr>
                      <m:t>=10000</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次贪心算法，来摇动五台赌博机</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可见在</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10000</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次模拟中，智能体趋向于摇动</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号赌博机，其他编号赌博机被摇动次数很少。由于其他编号赌博机被摇动次数较少，可见对这些赌博机平均收益分数的估计结果与实际均值结果相差很大。</a:t>
                </a:r>
                <a:endPar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ts val="2200"/>
                  </a:lnSpc>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需要说明的是，如果重新进行一个</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10000</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次贪心算法的模拟，由于随机性的存在，其结果会存在不同。比如在另外一个</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10000</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次模拟中，贪心算法首先选择编号为</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的赌博机臂膀摇动多次，则会导致后续行动中会对编号为</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的赌博机摇动次数最多，忽略了其他编号的赌博机。</a:t>
                </a:r>
              </a:p>
              <a:p>
                <a:pPr indent="266700" algn="just">
                  <a:lnSpc>
                    <a:spcPts val="2200"/>
                  </a:lnSpc>
                  <a:spcAft>
                    <a:spcPts val="0"/>
                  </a:spcAft>
                </a:pPr>
                <a:endPar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3E565BD4-C0E0-4220-8753-67B5EE70CE0A}"/>
                  </a:ext>
                </a:extLst>
              </p:cNvPr>
              <p:cNvSpPr>
                <a:spLocks noRot="1" noChangeAspect="1" noMove="1" noResize="1" noEditPoints="1" noAdjustHandles="1" noChangeArrowheads="1" noChangeShapeType="1" noTextEdit="1"/>
              </p:cNvSpPr>
              <p:nvPr/>
            </p:nvSpPr>
            <p:spPr>
              <a:xfrm>
                <a:off x="520730" y="1659324"/>
                <a:ext cx="6553550" cy="4860690"/>
              </a:xfrm>
              <a:prstGeom prst="rect">
                <a:avLst/>
              </a:prstGeom>
              <a:blipFill>
                <a:blip r:embed="rId3"/>
                <a:stretch>
                  <a:fillRect l="-279" r="-279"/>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26D47C8F-C136-48CE-B2DF-1D7F2CDFCD03}"/>
              </a:ext>
            </a:extLst>
          </p:cNvPr>
          <p:cNvPicPr>
            <a:picLocks noChangeAspect="1"/>
          </p:cNvPicPr>
          <p:nvPr/>
        </p:nvPicPr>
        <p:blipFill>
          <a:blip r:embed="rId4"/>
          <a:stretch>
            <a:fillRect/>
          </a:stretch>
        </p:blipFill>
        <p:spPr>
          <a:xfrm>
            <a:off x="8225927" y="1917204"/>
            <a:ext cx="2902736" cy="2315318"/>
          </a:xfrm>
          <a:prstGeom prst="rect">
            <a:avLst/>
          </a:prstGeom>
        </p:spPr>
      </p:pic>
      <p:pic>
        <p:nvPicPr>
          <p:cNvPr id="12" name="图片 11">
            <a:extLst>
              <a:ext uri="{FF2B5EF4-FFF2-40B4-BE49-F238E27FC236}">
                <a16:creationId xmlns:a16="http://schemas.microsoft.com/office/drawing/2014/main" id="{718A80AD-8BF1-4A40-8F94-7D9C16AAEA61}"/>
              </a:ext>
            </a:extLst>
          </p:cNvPr>
          <p:cNvPicPr>
            <a:picLocks noChangeAspect="1"/>
          </p:cNvPicPr>
          <p:nvPr/>
        </p:nvPicPr>
        <p:blipFill>
          <a:blip r:embed="rId5"/>
          <a:stretch>
            <a:fillRect/>
          </a:stretch>
        </p:blipFill>
        <p:spPr>
          <a:xfrm>
            <a:off x="7420426" y="4453250"/>
            <a:ext cx="4513738" cy="1882872"/>
          </a:xfrm>
          <a:prstGeom prst="rect">
            <a:avLst/>
          </a:prstGeom>
        </p:spPr>
      </p:pic>
    </p:spTree>
    <p:extLst>
      <p:ext uri="{BB962C8B-B14F-4D97-AF65-F5344CB8AC3E}">
        <p14:creationId xmlns:p14="http://schemas.microsoft.com/office/powerpoint/2010/main" val="3785757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：盲从过去历史而导致不足</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10">
            <a:extLst>
              <a:ext uri="{FF2B5EF4-FFF2-40B4-BE49-F238E27FC236}">
                <a16:creationId xmlns:a16="http://schemas.microsoft.com/office/drawing/2014/main" id="{5629097A-A0E3-4507-A0BC-A91B138D206E}"/>
              </a:ext>
            </a:extLst>
          </p:cNvPr>
          <p:cNvSpPr/>
          <p:nvPr/>
        </p:nvSpPr>
        <p:spPr>
          <a:xfrm>
            <a:off x="925351" y="1370569"/>
            <a:ext cx="10584043" cy="5078313"/>
          </a:xfrm>
          <a:prstGeom prst="rect">
            <a:avLst/>
          </a:prstGeom>
        </p:spPr>
        <p:txBody>
          <a:bodyPr wrap="square">
            <a:spAutoFit/>
          </a:bodyPr>
          <a:lstStyle/>
          <a:p>
            <a:pPr indent="266700" algn="just">
              <a:lnSpc>
                <a:spcPct val="20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在上面的实验中，可以发现：</a:t>
            </a:r>
            <a:r>
              <a:rPr lang="zh-CN" altLang="zh-CN" dirty="0">
                <a:solidFill>
                  <a:schemeClr val="accent2"/>
                </a:solidFill>
                <a:latin typeface="Times New Roman" panose="02020603050405020304" pitchFamily="18" charset="0"/>
                <a:ea typeface="楷体_GB2312"/>
                <a:cs typeface="Times New Roman" panose="02020603050405020304" pitchFamily="18" charset="0"/>
              </a:rPr>
              <a:t>贪心算法对编号</a:t>
            </a:r>
            <a:r>
              <a:rPr lang="en-US" altLang="zh-CN" dirty="0">
                <a:solidFill>
                  <a:schemeClr val="accent2"/>
                </a:solidFill>
                <a:latin typeface="Times New Roman" panose="02020603050405020304" pitchFamily="18" charset="0"/>
                <a:ea typeface="楷体_GB2312"/>
                <a:cs typeface="Times New Roman" panose="02020603050405020304" pitchFamily="18" charset="0"/>
              </a:rPr>
              <a:t>4</a:t>
            </a:r>
            <a:r>
              <a:rPr lang="zh-CN" altLang="zh-CN" dirty="0">
                <a:solidFill>
                  <a:schemeClr val="accent2"/>
                </a:solidFill>
                <a:latin typeface="Times New Roman" panose="02020603050405020304" pitchFamily="18" charset="0"/>
                <a:ea typeface="楷体_GB2312"/>
                <a:cs typeface="Times New Roman" panose="02020603050405020304" pitchFamily="18" charset="0"/>
              </a:rPr>
              <a:t>的赌博机</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情有独钟</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，很少去摇动其他编号的赌博机。因此，虽然对编号</a:t>
            </a:r>
            <a:r>
              <a:rPr lang="en-US" altLang="zh-CN" dirty="0">
                <a:solidFill>
                  <a:schemeClr val="accent2"/>
                </a:solidFill>
                <a:latin typeface="Times New Roman" panose="02020603050405020304" pitchFamily="18" charset="0"/>
                <a:ea typeface="楷体_GB2312"/>
                <a:cs typeface="Times New Roman" panose="02020603050405020304" pitchFamily="18" charset="0"/>
              </a:rPr>
              <a:t>4</a:t>
            </a:r>
            <a:r>
              <a:rPr lang="zh-CN" altLang="zh-CN" dirty="0">
                <a:solidFill>
                  <a:schemeClr val="accent2"/>
                </a:solidFill>
                <a:latin typeface="Times New Roman" panose="02020603050405020304" pitchFamily="18" charset="0"/>
                <a:ea typeface="楷体_GB2312"/>
                <a:cs typeface="Times New Roman" panose="02020603050405020304" pitchFamily="18" charset="0"/>
              </a:rPr>
              <a:t>赌博机的平均收益分数估计越来越准确，但是却难以尝试去摇动其他编号赌博机的臂膀，从而无法对其他赌博机的平均收益分数</a:t>
            </a:r>
            <a:r>
              <a:rPr lang="zh-CN" altLang="en-US" dirty="0">
                <a:solidFill>
                  <a:schemeClr val="accent2"/>
                </a:solidFill>
                <a:latin typeface="Times New Roman" panose="02020603050405020304" pitchFamily="18" charset="0"/>
                <a:ea typeface="楷体_GB2312"/>
                <a:cs typeface="Times New Roman" panose="02020603050405020304" pitchFamily="18" charset="0"/>
              </a:rPr>
              <a:t>进行</a:t>
            </a:r>
            <a:r>
              <a:rPr lang="zh-CN" altLang="zh-CN" dirty="0">
                <a:solidFill>
                  <a:schemeClr val="accent2"/>
                </a:solidFill>
                <a:latin typeface="Times New Roman" panose="02020603050405020304" pitchFamily="18" charset="0"/>
                <a:ea typeface="楷体_GB2312"/>
                <a:cs typeface="Times New Roman" panose="02020603050405020304" pitchFamily="18" charset="0"/>
              </a:rPr>
              <a:t>准确估计。而这些不准确的分数估计又反过来让智能体错误地认为</a:t>
            </a:r>
            <a:r>
              <a:rPr lang="en-US" altLang="zh-CN" dirty="0">
                <a:solidFill>
                  <a:schemeClr val="accent2"/>
                </a:solidFill>
                <a:latin typeface="Times New Roman" panose="02020603050405020304" pitchFamily="18" charset="0"/>
                <a:ea typeface="楷体_GB2312"/>
                <a:cs typeface="Times New Roman" panose="02020603050405020304" pitchFamily="18" charset="0"/>
              </a:rPr>
              <a:t>5</a:t>
            </a:r>
            <a:r>
              <a:rPr lang="zh-CN" altLang="zh-CN" dirty="0">
                <a:solidFill>
                  <a:schemeClr val="accent2"/>
                </a:solidFill>
                <a:latin typeface="Times New Roman" panose="02020603050405020304" pitchFamily="18" charset="0"/>
                <a:ea typeface="楷体_GB2312"/>
                <a:cs typeface="Times New Roman" panose="02020603050405020304" pitchFamily="18" charset="0"/>
              </a:rPr>
              <a:t>号赌博机不如</a:t>
            </a:r>
            <a:r>
              <a:rPr lang="en-US" altLang="zh-CN" dirty="0">
                <a:solidFill>
                  <a:schemeClr val="accent2"/>
                </a:solidFill>
                <a:latin typeface="Times New Roman" panose="02020603050405020304" pitchFamily="18" charset="0"/>
                <a:ea typeface="楷体_GB2312"/>
                <a:cs typeface="Times New Roman" panose="02020603050405020304" pitchFamily="18" charset="0"/>
              </a:rPr>
              <a:t>4</a:t>
            </a:r>
            <a:r>
              <a:rPr lang="zh-CN" altLang="zh-CN" dirty="0">
                <a:solidFill>
                  <a:schemeClr val="accent2"/>
                </a:solidFill>
                <a:latin typeface="Times New Roman" panose="02020603050405020304" pitchFamily="18" charset="0"/>
                <a:ea typeface="楷体_GB2312"/>
                <a:cs typeface="Times New Roman" panose="02020603050405020304" pitchFamily="18" charset="0"/>
              </a:rPr>
              <a:t>号赌博机，因而无法做出更好的选择。</a:t>
            </a:r>
          </a:p>
          <a:p>
            <a:pPr indent="266700" algn="just">
              <a:lnSpc>
                <a:spcPct val="200000"/>
              </a:lnSpc>
              <a:spcAft>
                <a:spcPts val="0"/>
              </a:spcAft>
            </a:pPr>
            <a:r>
              <a:rPr lang="zh-CN" altLang="zh-CN" b="1" dirty="0">
                <a:solidFill>
                  <a:srgbClr val="C00000"/>
                </a:solidFill>
                <a:latin typeface="Times New Roman" panose="02020603050405020304" pitchFamily="18" charset="0"/>
                <a:ea typeface="楷体_GB2312"/>
                <a:cs typeface="Times New Roman" panose="02020603050405020304" pitchFamily="18" charset="0"/>
              </a:rPr>
              <a:t>上述困境体现了探索（</a:t>
            </a:r>
            <a:r>
              <a:rPr lang="en-US" altLang="zh-CN" b="1" dirty="0">
                <a:solidFill>
                  <a:srgbClr val="C00000"/>
                </a:solidFill>
                <a:latin typeface="Times New Roman" panose="02020603050405020304" pitchFamily="18" charset="0"/>
                <a:ea typeface="楷体_GB2312"/>
                <a:cs typeface="Times New Roman" panose="02020603050405020304" pitchFamily="18" charset="0"/>
              </a:rPr>
              <a:t>exploration</a:t>
            </a:r>
            <a:r>
              <a:rPr lang="zh-CN" altLang="zh-CN" b="1" dirty="0">
                <a:solidFill>
                  <a:srgbClr val="C00000"/>
                </a:solidFill>
                <a:latin typeface="Times New Roman" panose="02020603050405020304" pitchFamily="18" charset="0"/>
                <a:ea typeface="楷体_GB2312"/>
                <a:cs typeface="Times New Roman" panose="02020603050405020304" pitchFamily="18" charset="0"/>
              </a:rPr>
              <a:t>）和利用（</a:t>
            </a:r>
            <a:r>
              <a:rPr lang="en-US" altLang="zh-CN" b="1" dirty="0">
                <a:solidFill>
                  <a:srgbClr val="C00000"/>
                </a:solidFill>
                <a:latin typeface="Times New Roman" panose="02020603050405020304" pitchFamily="18" charset="0"/>
                <a:ea typeface="楷体_GB2312"/>
                <a:cs typeface="Times New Roman" panose="02020603050405020304" pitchFamily="18" charset="0"/>
              </a:rPr>
              <a:t>exploitation</a:t>
            </a:r>
            <a:r>
              <a:rPr lang="zh-CN" altLang="zh-CN" b="1" dirty="0">
                <a:solidFill>
                  <a:srgbClr val="C00000"/>
                </a:solidFill>
                <a:latin typeface="Times New Roman" panose="02020603050405020304" pitchFamily="18" charset="0"/>
                <a:ea typeface="楷体_GB2312"/>
                <a:cs typeface="Times New Roman" panose="02020603050405020304" pitchFamily="18" charset="0"/>
              </a:rPr>
              <a:t>）之间存在对立关系</a:t>
            </a:r>
            <a:r>
              <a:rPr lang="zh-CN" altLang="zh-CN" dirty="0">
                <a:solidFill>
                  <a:srgbClr val="000000"/>
                </a:solidFill>
                <a:latin typeface="Times New Roman" panose="02020603050405020304" pitchFamily="18" charset="0"/>
                <a:ea typeface="楷体_GB2312"/>
                <a:cs typeface="Times New Roman" panose="02020603050405020304" pitchFamily="18" charset="0"/>
              </a:rPr>
              <a:t>。贪心算法基本上是利用从已有尝试结果中所得估计来指导后续动作（如倾向于选择</a:t>
            </a:r>
            <a:r>
              <a:rPr lang="en-US" altLang="zh-CN" dirty="0">
                <a:solidFill>
                  <a:srgbClr val="000000"/>
                </a:solidFill>
                <a:latin typeface="Times New Roman" panose="02020603050405020304" pitchFamily="18" charset="0"/>
                <a:ea typeface="楷体_GB2312"/>
                <a:cs typeface="Times New Roman" panose="02020603050405020304" pitchFamily="18" charset="0"/>
              </a:rPr>
              <a:t>4</a:t>
            </a:r>
            <a:r>
              <a:rPr lang="zh-CN" altLang="zh-CN" dirty="0">
                <a:solidFill>
                  <a:srgbClr val="000000"/>
                </a:solidFill>
                <a:latin typeface="Times New Roman" panose="02020603050405020304" pitchFamily="18" charset="0"/>
                <a:ea typeface="楷体_GB2312"/>
                <a:cs typeface="Times New Roman" panose="02020603050405020304" pitchFamily="18" charset="0"/>
              </a:rPr>
              <a:t>号赌博机），但</a:t>
            </a:r>
            <a:r>
              <a:rPr lang="zh-CN" altLang="zh-CN" dirty="0">
                <a:solidFill>
                  <a:schemeClr val="accent2"/>
                </a:solidFill>
                <a:latin typeface="Times New Roman" panose="02020603050405020304" pitchFamily="18" charset="0"/>
                <a:ea typeface="楷体_GB2312"/>
                <a:cs typeface="Times New Roman" panose="02020603050405020304" pitchFamily="18" charset="0"/>
              </a:rPr>
              <a:t>问题是所得估计往往不能准确反映未被（大量）探索过的动作</a:t>
            </a:r>
            <a:r>
              <a:rPr lang="zh-CN" altLang="zh-CN" dirty="0">
                <a:solidFill>
                  <a:srgbClr val="000000"/>
                </a:solidFill>
                <a:latin typeface="Times New Roman" panose="02020603050405020304" pitchFamily="18" charset="0"/>
                <a:ea typeface="楷体_GB2312"/>
                <a:cs typeface="Times New Roman" panose="02020603050405020304" pitchFamily="18" charset="0"/>
              </a:rPr>
              <a:t>，如由于很少摇动其他编号的赌博机而无法准确估计其他编号赌博机可能带来的收益分数。因此，需要在贪心算法中增加一个能够改变其</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惯性</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的内在动力，以使得贪心算法能够访问那些尚未被（充分）访问过的空间。</a:t>
            </a:r>
          </a:p>
        </p:txBody>
      </p:sp>
    </p:spTree>
    <p:extLst>
      <p:ext uri="{BB962C8B-B14F-4D97-AF65-F5344CB8AC3E}">
        <p14:creationId xmlns:p14="http://schemas.microsoft.com/office/powerpoint/2010/main" val="3495328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rPr>
                        <m:t>𝜖</m:t>
                      </m:r>
                    </m:oMath>
                  </a14:m>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贪心算法</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2591332" y="2826188"/>
                  <a:ext cx="4133539" cy="369332"/>
                </a:xfrm>
                <a:prstGeom prst="rect">
                  <a:avLst/>
                </a:prstGeom>
                <a:blipFill>
                  <a:blip r:embed="rId3"/>
                  <a:stretch>
                    <a:fillRect t="-10000" b="-26667"/>
                  </a:stretch>
                </a:blipFill>
              </p:spPr>
              <p:txBody>
                <a:bodyPr/>
                <a:lstStyle/>
                <a:p>
                  <a:r>
                    <a:rPr lang="zh-CN" altLang="en-US">
                      <a:noFill/>
                    </a:rPr>
                    <a:t> </a:t>
                  </a:r>
                </a:p>
              </p:txBody>
            </p:sp>
          </mc:Fallback>
        </mc:AlternateContent>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1BA3F07-1FFA-4663-A404-C8A0D5E3C14C}"/>
                  </a:ext>
                </a:extLst>
              </p:cNvPr>
              <p:cNvSpPr/>
              <p:nvPr/>
            </p:nvSpPr>
            <p:spPr>
              <a:xfrm>
                <a:off x="448813" y="2978772"/>
                <a:ext cx="5683516" cy="1088760"/>
              </a:xfrm>
              <a:prstGeom prst="rect">
                <a:avLst/>
              </a:prstGeom>
              <a:solidFill>
                <a:srgbClr val="017C84">
                  <a:alpha val="44000"/>
                </a:srgbClr>
              </a:solidFill>
            </p:spPr>
            <p:txBody>
              <a:bodyPr wrap="square">
                <a:spAutoFit/>
              </a:bodyPr>
              <a:lstStyle/>
              <a:p>
                <a:pPr algn="just">
                  <a:spcAft>
                    <a:spcPts val="0"/>
                  </a:spcAft>
                </a:pPr>
                <a:br>
                  <a:rPr lang="zh-CN" altLang="zh-CN" kern="100" dirty="0">
                    <a:latin typeface="Cambria Math" panose="02040503050406030204" pitchFamily="18" charset="0"/>
                    <a:ea typeface="等线" panose="02010600030101010101" pitchFamily="2" charset="-122"/>
                    <a:cs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𝑙</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r>
                                <a:rPr lang="zh-CN"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以</m:t>
                              </m:r>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𝜖</m:t>
                              </m:r>
                              <m:r>
                                <a:rPr lang="zh-CN"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的概率</m:t>
                              </m:r>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e>
                            <m:e>
                              <m:r>
                                <a:rPr lang="zh-CN"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随机的</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1,2,⋯,</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𝐾</m:t>
                                  </m:r>
                                </m:e>
                              </m:d>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r>
                                <a:rPr lang="zh-CN"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以</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𝜖</m:t>
                              </m:r>
                              <m:r>
                                <a:rPr lang="zh-CN"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的概率</m:t>
                              </m:r>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e>
                          </m:eqAr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E1BA3F07-1FFA-4663-A404-C8A0D5E3C14C}"/>
                  </a:ext>
                </a:extLst>
              </p:cNvPr>
              <p:cNvSpPr>
                <a:spLocks noRot="1" noChangeAspect="1" noMove="1" noResize="1" noEditPoints="1" noAdjustHandles="1" noChangeArrowheads="1" noChangeShapeType="1" noTextEdit="1"/>
              </p:cNvSpPr>
              <p:nvPr/>
            </p:nvSpPr>
            <p:spPr>
              <a:xfrm>
                <a:off x="448813" y="2978772"/>
                <a:ext cx="5683516" cy="108876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D353F3E-14B8-4125-9A06-D155F9D23E96}"/>
                  </a:ext>
                </a:extLst>
              </p:cNvPr>
              <p:cNvSpPr/>
              <p:nvPr/>
            </p:nvSpPr>
            <p:spPr>
              <a:xfrm>
                <a:off x="233619" y="1791757"/>
                <a:ext cx="6096000" cy="634789"/>
              </a:xfrm>
              <a:prstGeom prst="rect">
                <a:avLst/>
              </a:prstGeom>
            </p:spPr>
            <p:txBody>
              <a:bodyPr>
                <a:spAutoFit/>
              </a:bodyPr>
              <a:lstStyle/>
              <a:p>
                <a:pPr indent="266700" algn="just">
                  <a:lnSpc>
                    <a:spcPts val="2200"/>
                  </a:lnSpc>
                  <a:spcAft>
                    <a:spcPts val="0"/>
                  </a:spcAft>
                </a:pPr>
                <a14:m>
                  <m:oMath xmlns:m="http://schemas.openxmlformats.org/officeDocument/2006/math">
                    <m:r>
                      <a:rPr lang="en-US" altLang="zh-CN" sz="1600" i="1" smtClean="0">
                        <a:solidFill>
                          <a:schemeClr val="accent2"/>
                        </a:solidFill>
                        <a:latin typeface="Cambria Math" panose="02040503050406030204" pitchFamily="18" charset="0"/>
                        <a:ea typeface="楷体_GB2312"/>
                        <a:cs typeface="Times New Roman" panose="02020603050405020304" pitchFamily="18" charset="0"/>
                      </a:rPr>
                      <m:t>𝜖</m:t>
                    </m:r>
                  </m:oMath>
                </a14:m>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贪心算法就是这样一种在探索与利用之间进行平衡的搜索算法。</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𝜖</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贪心算法按照如下机制来选择摇动赌博机：</a:t>
                </a:r>
              </a:p>
            </p:txBody>
          </p:sp>
        </mc:Choice>
        <mc:Fallback xmlns="">
          <p:sp>
            <p:nvSpPr>
              <p:cNvPr id="8" name="矩形 7">
                <a:extLst>
                  <a:ext uri="{FF2B5EF4-FFF2-40B4-BE49-F238E27FC236}">
                    <a16:creationId xmlns:a16="http://schemas.microsoft.com/office/drawing/2014/main" id="{1D353F3E-14B8-4125-9A06-D155F9D23E96}"/>
                  </a:ext>
                </a:extLst>
              </p:cNvPr>
              <p:cNvSpPr>
                <a:spLocks noRot="1" noChangeAspect="1" noMove="1" noResize="1" noEditPoints="1" noAdjustHandles="1" noChangeArrowheads="1" noChangeShapeType="1" noTextEdit="1"/>
              </p:cNvSpPr>
              <p:nvPr/>
            </p:nvSpPr>
            <p:spPr>
              <a:xfrm>
                <a:off x="233619" y="1791757"/>
                <a:ext cx="6096000" cy="634789"/>
              </a:xfrm>
              <a:prstGeom prst="rect">
                <a:avLst/>
              </a:prstGeom>
              <a:blipFill>
                <a:blip r:embed="rId5"/>
                <a:stretch>
                  <a:fillRect l="-500" t="-962" r="-600" b="-1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F1EF9D4B-5119-4E84-B400-30651B0769B2}"/>
                  </a:ext>
                </a:extLst>
              </p:cNvPr>
              <p:cNvSpPr/>
              <p:nvPr/>
            </p:nvSpPr>
            <p:spPr>
              <a:xfrm>
                <a:off x="146012" y="4688744"/>
                <a:ext cx="6096000" cy="922945"/>
              </a:xfrm>
              <a:prstGeom prst="rect">
                <a:avLst/>
              </a:prstGeom>
            </p:spPr>
            <p:txBody>
              <a:bodyPr>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即以</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1</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的概率选择在过去</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次摇动赌博机臂膀行动中所得平均收益分数最高的赌博机进行摇动；以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的概率随机选择一个赌博机进行摇动。</a:t>
                </a:r>
              </a:p>
            </p:txBody>
          </p:sp>
        </mc:Choice>
        <mc:Fallback xmlns="">
          <p:sp>
            <p:nvSpPr>
              <p:cNvPr id="10" name="矩形 9">
                <a:extLst>
                  <a:ext uri="{FF2B5EF4-FFF2-40B4-BE49-F238E27FC236}">
                    <a16:creationId xmlns:a16="http://schemas.microsoft.com/office/drawing/2014/main" id="{F1EF9D4B-5119-4E84-B400-30651B0769B2}"/>
                  </a:ext>
                </a:extLst>
              </p:cNvPr>
              <p:cNvSpPr>
                <a:spLocks noRot="1" noChangeAspect="1" noMove="1" noResize="1" noEditPoints="1" noAdjustHandles="1" noChangeArrowheads="1" noChangeShapeType="1" noTextEdit="1"/>
              </p:cNvSpPr>
              <p:nvPr/>
            </p:nvSpPr>
            <p:spPr>
              <a:xfrm>
                <a:off x="146012" y="4688744"/>
                <a:ext cx="6096000" cy="922945"/>
              </a:xfrm>
              <a:prstGeom prst="rect">
                <a:avLst/>
              </a:prstGeom>
              <a:blipFill>
                <a:blip r:embed="rId6"/>
                <a:stretch>
                  <a:fillRect l="-600" t="-658" r="-500" b="-6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39EC9484-F87D-44EF-8ED4-17B2F9805EF7}"/>
                  </a:ext>
                </a:extLst>
              </p:cNvPr>
              <p:cNvSpPr/>
              <p:nvPr/>
            </p:nvSpPr>
            <p:spPr>
              <a:xfrm>
                <a:off x="6647195" y="4106171"/>
                <a:ext cx="5398793" cy="1757148"/>
              </a:xfrm>
              <a:prstGeom prst="rect">
                <a:avLst/>
              </a:prstGeom>
            </p:spPr>
            <p:txBody>
              <a:bodyPr wrap="square">
                <a:spAutoFit/>
              </a:bodyPr>
              <a:lstStyle/>
              <a:p>
                <a:pPr indent="266700" algn="just">
                  <a:lnSpc>
                    <a:spcPts val="2200"/>
                  </a:lnSpc>
                  <a:spcAft>
                    <a:spcPts val="0"/>
                  </a:spcAft>
                </a:pPr>
                <a14:m>
                  <m:oMath xmlns:m="http://schemas.openxmlformats.org/officeDocument/2006/math">
                    <m:r>
                      <a:rPr lang="en-US" altLang="zh-CN" sz="1400" i="1" smtClean="0">
                        <a:solidFill>
                          <a:schemeClr val="accent2"/>
                        </a:solidFill>
                        <a:latin typeface="Cambria Math" panose="02040503050406030204" pitchFamily="18" charset="0"/>
                        <a:ea typeface="楷体_GB2312"/>
                        <a:cs typeface="Times New Roman" panose="02020603050405020304" pitchFamily="18" charset="0"/>
                      </a:rPr>
                      <m:t>𝜖</m:t>
                    </m:r>
                  </m:oMath>
                </a14:m>
                <a:r>
                  <a:rPr lang="en-US" altLang="zh-CN" sz="14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贪心算法对估计摇动五个赌博机臂膀所带来期望分数更加准确了。并且因为编号为</a:t>
                </a:r>
                <a:r>
                  <a:rPr lang="en-US" altLang="zh-CN" sz="1400" dirty="0">
                    <a:solidFill>
                      <a:schemeClr val="accent2"/>
                    </a:solidFill>
                    <a:latin typeface="Times New Roman" panose="02020603050405020304" pitchFamily="18" charset="0"/>
                    <a:ea typeface="楷体_GB2312"/>
                    <a:cs typeface="Times New Roman" panose="02020603050405020304" pitchFamily="18" charset="0"/>
                  </a:rPr>
                  <a:t>5</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的赌博机的平均收益分数最高，算法倾向于选择动作</a:t>
                </a:r>
                <a14:m>
                  <m:oMath xmlns:m="http://schemas.openxmlformats.org/officeDocument/2006/math">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𝑎</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5</m:t>
                        </m:r>
                      </m:sub>
                    </m:sSub>
                  </m:oMath>
                </a14:m>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，与预期相符。这说明在</a:t>
                </a:r>
                <a14:m>
                  <m:oMath xmlns:m="http://schemas.openxmlformats.org/officeDocument/2006/math">
                    <m:r>
                      <a:rPr lang="en-US" altLang="zh-CN" sz="1400" i="1">
                        <a:solidFill>
                          <a:schemeClr val="accent2"/>
                        </a:solidFill>
                        <a:latin typeface="Cambria Math" panose="02040503050406030204" pitchFamily="18" charset="0"/>
                        <a:ea typeface="楷体_GB2312"/>
                        <a:cs typeface="Times New Roman" panose="02020603050405020304" pitchFamily="18" charset="0"/>
                      </a:rPr>
                      <m:t>𝜖</m:t>
                    </m:r>
                  </m:oMath>
                </a14:m>
                <a:r>
                  <a:rPr lang="en-US" altLang="zh-CN" sz="14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贪心算法中加入探索机制发挥了作用。</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但是，如果继续使用贪心算法而不引入探索机制，那么算法极有可能继续选择</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10000</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个</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4</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动作、而继续忽略其他编号的赌博机。</a:t>
                </a:r>
              </a:p>
            </p:txBody>
          </p:sp>
        </mc:Choice>
        <mc:Fallback xmlns="">
          <p:sp>
            <p:nvSpPr>
              <p:cNvPr id="16" name="矩形 15">
                <a:extLst>
                  <a:ext uri="{FF2B5EF4-FFF2-40B4-BE49-F238E27FC236}">
                    <a16:creationId xmlns:a16="http://schemas.microsoft.com/office/drawing/2014/main" id="{39EC9484-F87D-44EF-8ED4-17B2F9805EF7}"/>
                  </a:ext>
                </a:extLst>
              </p:cNvPr>
              <p:cNvSpPr>
                <a:spLocks noRot="1" noChangeAspect="1" noMove="1" noResize="1" noEditPoints="1" noAdjustHandles="1" noChangeArrowheads="1" noChangeShapeType="1" noTextEdit="1"/>
              </p:cNvSpPr>
              <p:nvPr/>
            </p:nvSpPr>
            <p:spPr>
              <a:xfrm>
                <a:off x="6647195" y="4106171"/>
                <a:ext cx="5398793" cy="1757148"/>
              </a:xfrm>
              <a:prstGeom prst="rect">
                <a:avLst/>
              </a:prstGeom>
              <a:blipFill>
                <a:blip r:embed="rId7"/>
                <a:stretch>
                  <a:fillRect l="-339" r="-226" b="-2778"/>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1AFBF308-2A08-42B6-8FD2-63134F7AC4CA}"/>
              </a:ext>
            </a:extLst>
          </p:cNvPr>
          <p:cNvPicPr>
            <a:picLocks noChangeAspect="1"/>
          </p:cNvPicPr>
          <p:nvPr/>
        </p:nvPicPr>
        <p:blipFill>
          <a:blip r:embed="rId8"/>
          <a:stretch>
            <a:fillRect/>
          </a:stretch>
        </p:blipFill>
        <p:spPr>
          <a:xfrm>
            <a:off x="7039835" y="1952097"/>
            <a:ext cx="4613512" cy="2076098"/>
          </a:xfrm>
          <a:prstGeom prst="rect">
            <a:avLst/>
          </a:prstGeom>
        </p:spPr>
      </p:pic>
    </p:spTree>
    <p:extLst>
      <p:ext uri="{BB962C8B-B14F-4D97-AF65-F5344CB8AC3E}">
        <p14:creationId xmlns:p14="http://schemas.microsoft.com/office/powerpoint/2010/main" val="2944236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rPr>
                <a:t>上限置信区间算法</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FA7DBE61-D76C-427A-A16C-5C75A22A4CCA}"/>
                  </a:ext>
                </a:extLst>
              </p:cNvPr>
              <p:cNvSpPr/>
              <p:nvPr/>
            </p:nvSpPr>
            <p:spPr>
              <a:xfrm>
                <a:off x="1346960" y="1715387"/>
                <a:ext cx="10124106" cy="3372718"/>
              </a:xfrm>
              <a:prstGeom prst="rect">
                <a:avLst/>
              </a:prstGeom>
            </p:spPr>
            <p:txBody>
              <a:bodyPr wrap="square">
                <a:spAutoFit/>
              </a:bodyPr>
              <a:lstStyle/>
              <a:p>
                <a:pPr indent="266700" algn="just">
                  <a:lnSpc>
                    <a:spcPct val="150000"/>
                  </a:lnSpc>
                  <a:spcAft>
                    <a:spcPts val="0"/>
                  </a:spcAft>
                </a:pP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𝜖</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贪心算法虽然能有效地促使算法进行探索，但</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通过这种随机机制来选择动作进行探索的做法很可能不是最优的</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直观来看，执行一个动作后所得奖励的样本少，那么算法对这个动作的奖励期望估计会不准确。比如，可能存在一个给出更好奖励期望的动作，但因为智能体对其探索次数少而认为其期望奖励小。因此，需要对那些探索次数少或几乎没有被探索过的动作赋予更高的优先级。</a:t>
                </a:r>
              </a:p>
              <a:p>
                <a:pPr indent="266700" algn="just">
                  <a:lnSpc>
                    <a:spcPct val="150000"/>
                  </a:lnSpc>
                  <a:spcAft>
                    <a:spcPts val="0"/>
                  </a:spcAft>
                </a:pP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但是</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𝜖</m:t>
                    </m:r>
                  </m:oMath>
                </a14:m>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贪心算法没有将每个动作被探索的次数纳入考虑，这似乎是不合理的。另一方面，简单地优先去尝试探索次数少的动作也未必合理，因为只需要少量的探索次数，就能够较好估计方差较小的动作的奖励期望。</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总结以上想法，在探索过程中，应该</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优先探索估计值不确定度高</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的</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动作</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。另外还应注意到，如果从已有探索样本中知道一个动作的奖励估计值极端偏小，那么即使该动作的估计值不确定度很大，算法也没有必要将其作为优先探索对象。</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上限置信区间（</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Upper Confidence Bounds, UCB1</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）算法正是采用这一思路来进行探索。</a:t>
                </a:r>
              </a:p>
            </p:txBody>
          </p:sp>
        </mc:Choice>
        <mc:Fallback xmlns="">
          <p:sp>
            <p:nvSpPr>
              <p:cNvPr id="11" name="矩形 10">
                <a:extLst>
                  <a:ext uri="{FF2B5EF4-FFF2-40B4-BE49-F238E27FC236}">
                    <a16:creationId xmlns:a16="http://schemas.microsoft.com/office/drawing/2014/main" id="{FA7DBE61-D76C-427A-A16C-5C75A22A4CCA}"/>
                  </a:ext>
                </a:extLst>
              </p:cNvPr>
              <p:cNvSpPr>
                <a:spLocks noRot="1" noChangeAspect="1" noMove="1" noResize="1" noEditPoints="1" noAdjustHandles="1" noChangeArrowheads="1" noChangeShapeType="1" noTextEdit="1"/>
              </p:cNvSpPr>
              <p:nvPr/>
            </p:nvSpPr>
            <p:spPr>
              <a:xfrm>
                <a:off x="1346960" y="1715387"/>
                <a:ext cx="10124106" cy="3372718"/>
              </a:xfrm>
              <a:prstGeom prst="rect">
                <a:avLst/>
              </a:prstGeom>
              <a:blipFill>
                <a:blip r:embed="rId3"/>
                <a:stretch>
                  <a:fillRect l="-361" r="-301" b="-12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24349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rPr>
                <a:t>上限置信区间算法</a:t>
              </a:r>
              <a:r>
                <a:rPr lang="zh-CN" altLang="en-US" dirty="0">
                  <a:latin typeface="微软雅黑" panose="020B0503020204020204" pitchFamily="34" charset="-122"/>
                  <a:ea typeface="微软雅黑" panose="020B0503020204020204" pitchFamily="34" charset="-122"/>
                </a:rPr>
                <a:t>策略</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a:extLst>
              <a:ext uri="{FF2B5EF4-FFF2-40B4-BE49-F238E27FC236}">
                <a16:creationId xmlns:a16="http://schemas.microsoft.com/office/drawing/2014/main" id="{17266E50-D92E-406A-8759-6F04F5B627A9}"/>
              </a:ext>
            </a:extLst>
          </p:cNvPr>
          <p:cNvSpPr/>
          <p:nvPr/>
        </p:nvSpPr>
        <p:spPr>
          <a:xfrm>
            <a:off x="521935" y="2173301"/>
            <a:ext cx="6096000" cy="2951705"/>
          </a:xfrm>
          <a:prstGeom prst="rect">
            <a:avLst/>
          </a:prstGeom>
        </p:spPr>
        <p:txBody>
          <a:bodyPr>
            <a:spAutoFit/>
          </a:bodyPr>
          <a:lstStyle/>
          <a:p>
            <a:pPr indent="266700" algn="just">
              <a:lnSpc>
                <a:spcPct val="150000"/>
              </a:lnSpc>
              <a:spcAft>
                <a:spcPts val="0"/>
              </a:spcAft>
            </a:pPr>
            <a:r>
              <a:rPr lang="en-US" altLang="zh-CN" dirty="0">
                <a:solidFill>
                  <a:srgbClr val="000000"/>
                </a:solidFill>
                <a:latin typeface="Times New Roman" panose="02020603050405020304" pitchFamily="18" charset="0"/>
                <a:ea typeface="楷体_GB2312"/>
                <a:cs typeface="Times New Roman" panose="02020603050405020304" pitchFamily="18" charset="0"/>
              </a:rPr>
              <a:t>UCB1</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算法的策略是：</a:t>
            </a:r>
            <a:r>
              <a:rPr lang="zh-CN" altLang="zh-CN" dirty="0">
                <a:solidFill>
                  <a:schemeClr val="accent2"/>
                </a:solidFill>
                <a:latin typeface="Times New Roman" panose="02020603050405020304" pitchFamily="18" charset="0"/>
                <a:ea typeface="楷体_GB2312"/>
                <a:cs typeface="Times New Roman" panose="02020603050405020304" pitchFamily="18" charset="0"/>
              </a:rPr>
              <a:t>为每个动作的奖励期望计算一个估计范围，优先采用估计范围上限较高的动作</a:t>
            </a:r>
            <a:r>
              <a:rPr lang="zh-CN" altLang="zh-CN" dirty="0">
                <a:solidFill>
                  <a:srgbClr val="000000"/>
                </a:solidFill>
                <a:latin typeface="Times New Roman" panose="02020603050405020304" pitchFamily="18" charset="0"/>
                <a:ea typeface="楷体_GB2312"/>
                <a:cs typeface="Times New Roman" panose="02020603050405020304" pitchFamily="18" charset="0"/>
              </a:rPr>
              <a:t>。如图</a:t>
            </a:r>
            <a:r>
              <a:rPr lang="en-US" altLang="zh-CN" dirty="0">
                <a:solidFill>
                  <a:srgbClr val="000000"/>
                </a:solidFill>
                <a:latin typeface="Times New Roman" panose="02020603050405020304" pitchFamily="18" charset="0"/>
                <a:ea typeface="楷体_GB2312"/>
                <a:cs typeface="Times New Roman" panose="02020603050405020304" pitchFamily="18" charset="0"/>
              </a:rPr>
              <a:t>3.19</a:t>
            </a:r>
            <a:r>
              <a:rPr lang="zh-CN" altLang="zh-CN" dirty="0">
                <a:solidFill>
                  <a:srgbClr val="000000"/>
                </a:solidFill>
                <a:latin typeface="Times New Roman" panose="02020603050405020304" pitchFamily="18" charset="0"/>
                <a:ea typeface="楷体_GB2312"/>
                <a:cs typeface="Times New Roman" panose="02020603050405020304" pitchFamily="18" charset="0"/>
              </a:rPr>
              <a:t>所示，动作</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的奖励期望取值的不确定度（估计范围）虽然最大，但是因为其均值太小，因此</a:t>
            </a:r>
            <a:r>
              <a:rPr lang="en-US" altLang="zh-CN" dirty="0">
                <a:solidFill>
                  <a:srgbClr val="000000"/>
                </a:solidFill>
                <a:latin typeface="Times New Roman" panose="02020603050405020304" pitchFamily="18" charset="0"/>
                <a:ea typeface="楷体_GB2312"/>
                <a:cs typeface="Times New Roman" panose="02020603050405020304" pitchFamily="18" charset="0"/>
              </a:rPr>
              <a:t>UCB1</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算法不优先考虑探索动作</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。动作</a:t>
            </a:r>
            <a:r>
              <a:rPr lang="en-US" altLang="zh-CN" dirty="0">
                <a:solidFill>
                  <a:srgbClr val="000000"/>
                </a:solidFill>
                <a:latin typeface="Times New Roman" panose="02020603050405020304" pitchFamily="18" charset="0"/>
                <a:ea typeface="楷体_GB2312"/>
                <a:cs typeface="Times New Roman" panose="02020603050405020304" pitchFamily="18" charset="0"/>
              </a:rPr>
              <a:t>2</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3</a:t>
            </a:r>
            <a:r>
              <a:rPr lang="zh-CN" altLang="zh-CN" dirty="0">
                <a:solidFill>
                  <a:srgbClr val="000000"/>
                </a:solidFill>
                <a:latin typeface="Times New Roman" panose="02020603050405020304" pitchFamily="18" charset="0"/>
                <a:ea typeface="楷体_GB2312"/>
                <a:cs typeface="Times New Roman" panose="02020603050405020304" pitchFamily="18" charset="0"/>
              </a:rPr>
              <a:t>的奖励期望的均值相同，但是动作</a:t>
            </a:r>
            <a:r>
              <a:rPr lang="en-US" altLang="zh-CN" dirty="0">
                <a:solidFill>
                  <a:srgbClr val="000000"/>
                </a:solidFill>
                <a:latin typeface="Times New Roman" panose="02020603050405020304" pitchFamily="18" charset="0"/>
                <a:ea typeface="楷体_GB2312"/>
                <a:cs typeface="Times New Roman" panose="02020603050405020304" pitchFamily="18" charset="0"/>
              </a:rPr>
              <a:t>2</a:t>
            </a:r>
            <a:r>
              <a:rPr lang="zh-CN" altLang="zh-CN" dirty="0">
                <a:solidFill>
                  <a:srgbClr val="000000"/>
                </a:solidFill>
                <a:latin typeface="Times New Roman" panose="02020603050405020304" pitchFamily="18" charset="0"/>
                <a:ea typeface="楷体_GB2312"/>
                <a:cs typeface="Times New Roman" panose="02020603050405020304" pitchFamily="18" charset="0"/>
              </a:rPr>
              <a:t>的奖励期望取值的不确定度（估计范围）更大，于是因为置信上限更大，动作</a:t>
            </a:r>
            <a:r>
              <a:rPr lang="en-US" altLang="zh-CN" dirty="0">
                <a:solidFill>
                  <a:srgbClr val="000000"/>
                </a:solidFill>
                <a:latin typeface="Times New Roman" panose="02020603050405020304" pitchFamily="18" charset="0"/>
                <a:ea typeface="楷体_GB2312"/>
                <a:cs typeface="Times New Roman" panose="02020603050405020304" pitchFamily="18" charset="0"/>
              </a:rPr>
              <a:t>2</a:t>
            </a:r>
            <a:r>
              <a:rPr lang="zh-CN" altLang="zh-CN" dirty="0">
                <a:solidFill>
                  <a:srgbClr val="000000"/>
                </a:solidFill>
                <a:latin typeface="Times New Roman" panose="02020603050405020304" pitchFamily="18" charset="0"/>
                <a:ea typeface="楷体_GB2312"/>
                <a:cs typeface="Times New Roman" panose="02020603050405020304" pitchFamily="18" charset="0"/>
              </a:rPr>
              <a:t>会被</a:t>
            </a:r>
            <a:r>
              <a:rPr lang="en-US" altLang="zh-CN" dirty="0">
                <a:solidFill>
                  <a:srgbClr val="000000"/>
                </a:solidFill>
                <a:latin typeface="Times New Roman" panose="02020603050405020304" pitchFamily="18" charset="0"/>
                <a:ea typeface="楷体_GB2312"/>
                <a:cs typeface="Times New Roman" panose="02020603050405020304" pitchFamily="18" charset="0"/>
              </a:rPr>
              <a:t>UCB1</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算法优先考虑。</a:t>
            </a:r>
          </a:p>
        </p:txBody>
      </p:sp>
      <p:pic>
        <p:nvPicPr>
          <p:cNvPr id="11" name="图片 10">
            <a:extLst>
              <a:ext uri="{FF2B5EF4-FFF2-40B4-BE49-F238E27FC236}">
                <a16:creationId xmlns:a16="http://schemas.microsoft.com/office/drawing/2014/main" id="{AAC899BB-8AE8-4CF9-9DF1-30CBB1FF1754}"/>
              </a:ext>
            </a:extLst>
          </p:cNvPr>
          <p:cNvPicPr>
            <a:picLocks noChangeAspect="1"/>
          </p:cNvPicPr>
          <p:nvPr/>
        </p:nvPicPr>
        <p:blipFill>
          <a:blip r:embed="rId3"/>
          <a:stretch>
            <a:fillRect/>
          </a:stretch>
        </p:blipFill>
        <p:spPr>
          <a:xfrm>
            <a:off x="7146359" y="2324879"/>
            <a:ext cx="3465245" cy="2951704"/>
          </a:xfrm>
          <a:prstGeom prst="rect">
            <a:avLst/>
          </a:prstGeom>
        </p:spPr>
      </p:pic>
    </p:spTree>
    <p:extLst>
      <p:ext uri="{BB962C8B-B14F-4D97-AF65-F5344CB8AC3E}">
        <p14:creationId xmlns:p14="http://schemas.microsoft.com/office/powerpoint/2010/main" val="311688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rPr>
                <a:t>上限置信区间算法</a:t>
              </a:r>
              <a:r>
                <a:rPr lang="zh-CN" altLang="en-US" dirty="0">
                  <a:latin typeface="微软雅黑" panose="020B0503020204020204" pitchFamily="34" charset="-122"/>
                  <a:ea typeface="微软雅黑" panose="020B0503020204020204" pitchFamily="34" charset="-122"/>
                </a:rPr>
                <a:t>策略</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AD08DCC-1B27-4EBB-A959-FE0ED0C19283}"/>
                  </a:ext>
                </a:extLst>
              </p:cNvPr>
              <p:cNvSpPr/>
              <p:nvPr/>
            </p:nvSpPr>
            <p:spPr>
              <a:xfrm>
                <a:off x="1016737" y="1656863"/>
                <a:ext cx="10627847" cy="4177426"/>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接下来的问题在于</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算法应该如何计算奖励期望的估计范围</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，尤其是奖励期望的置信上界呢？假设算法在过去第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次已经对动作</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探索了</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次，在当前问题中对应摇动了第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个赌博机的臂膀</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次，执行动作</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所收到收益分数的均值为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acc>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次动作可以看作</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个取值范围在</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[0,1]</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的独立同分布随机变量的样本，根据霍夫丁不等式（</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Hoeffding’s</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inequality</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），有如下公式存在：</a:t>
                </a:r>
              </a:p>
              <a:p>
                <a:pPr indent="266700" algn="ctr">
                  <a:spcAft>
                    <a:spcPts val="0"/>
                  </a:spcAft>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𝑃</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&gt;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𝛿</m:t>
                          </m:r>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𝑇</m:t>
                              </m:r>
                            </m:e>
                            <m: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e>
                              </m:d>
                            </m:sub>
                          </m:sSub>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𝛿</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p>
                          </m:sSup>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spcAft>
                    <a:spcPts val="0"/>
                  </a:spcAft>
                </a:pPr>
                <a:r>
                  <a:rPr lang="en-US"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spcAft>
                    <a:spcPts val="0"/>
                  </a:spcAft>
                </a:pP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这个不等式的含义是第</a:t>
                </a:r>
                <a14:m>
                  <m:oMath xmlns:m="http://schemas.openxmlformats.org/officeDocument/2006/math">
                    <m:r>
                      <a:rPr lang="en-US" altLang="zh-CN" sz="1600" i="1" kern="0">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个动作的奖励期望</a:t>
                </a:r>
                <a14:m>
                  <m:oMath xmlns:m="http://schemas.openxmlformats.org/officeDocument/2006/math">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大于</a:t>
                </a:r>
                <a14:m>
                  <m:oMath xmlns:m="http://schemas.openxmlformats.org/officeDocument/2006/math">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𝛿</m:t>
                    </m:r>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之和的概率不超过</a:t>
                </a:r>
                <a14:m>
                  <m:oMath xmlns:m="http://schemas.openxmlformats.org/officeDocument/2006/math">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𝛿</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sup>
                        </m:sSup>
                      </m:sup>
                    </m:sSup>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𝛿</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&gt;0</m:t>
                    </m:r>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chemeClr val="accent2"/>
                    </a:solidFill>
                    <a:latin typeface="Times New Roman" panose="02020603050405020304" pitchFamily="18" charset="0"/>
                    <a:ea typeface="楷体_GB2312"/>
                    <a:cs typeface="Times New Roman" panose="02020603050405020304" pitchFamily="18" charset="0"/>
                  </a:rPr>
                  <a:t>因此只需找到一个</a:t>
                </a:r>
                <a14:m>
                  <m:oMath xmlns:m="http://schemas.openxmlformats.org/officeDocument/2006/math">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𝛿</m:t>
                    </m:r>
                  </m:oMath>
                </a14:m>
                <a:r>
                  <a:rPr lang="zh-CN" altLang="zh-CN" sz="1600" kern="100" dirty="0">
                    <a:solidFill>
                      <a:schemeClr val="accent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chemeClr val="accent2"/>
                    </a:solidFill>
                    <a:latin typeface="Times New Roman" panose="02020603050405020304" pitchFamily="18" charset="0"/>
                    <a:ea typeface="楷体_GB2312"/>
                    <a:cs typeface="Times New Roman" panose="02020603050405020304" pitchFamily="18" charset="0"/>
                  </a:rPr>
                  <a:t>使得上述不等式右侧足够小，即可认为</a:t>
                </a:r>
                <a14:m>
                  <m:oMath xmlns:m="http://schemas.openxmlformats.org/officeDocument/2006/math">
                    <m:sSub>
                      <m:sSubPr>
                        <m:ctrlPr>
                          <a:rPr lang="zh-CN" altLang="zh-CN" sz="1600" i="1" kern="100">
                            <a:solidFill>
                              <a:schemeClr val="accent2"/>
                            </a:solidFill>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600" i="1" kern="100">
                                <a:solidFill>
                                  <a:schemeClr val="accent2"/>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chemeClr val="accent2"/>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chemeClr val="accent2"/>
                        </a:solidFill>
                        <a:effectLst/>
                        <a:latin typeface="Cambria Math" panose="02040503050406030204" pitchFamily="18" charset="0"/>
                        <a:ea typeface="华文楷体" panose="02010600040101010101" pitchFamily="2" charset="-122"/>
                        <a:cs typeface="Times New Roman" panose="02020603050405020304" pitchFamily="18" charset="0"/>
                      </a:rPr>
                      <m:t>𝛿</m:t>
                    </m:r>
                  </m:oMath>
                </a14:m>
                <a:r>
                  <a:rPr lang="zh-CN" altLang="zh-CN" sz="1600" kern="0" dirty="0">
                    <a:solidFill>
                      <a:schemeClr val="accent2"/>
                    </a:solidFill>
                    <a:latin typeface="Times New Roman" panose="02020603050405020304" pitchFamily="18" charset="0"/>
                    <a:ea typeface="楷体_GB2312"/>
                    <a:cs typeface="Times New Roman" panose="02020603050405020304" pitchFamily="18" charset="0"/>
                  </a:rPr>
                  <a:t>是</a:t>
                </a:r>
                <a14:m>
                  <m:oMath xmlns:m="http://schemas.openxmlformats.org/officeDocument/2006/math">
                    <m:sSub>
                      <m:sSubPr>
                        <m:ctrlPr>
                          <a:rPr lang="zh-CN" altLang="zh-CN" sz="1600" i="1" ker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0">
                            <a:solidFill>
                              <a:schemeClr val="accent2"/>
                            </a:solidFill>
                            <a:latin typeface="Cambria Math" panose="02040503050406030204" pitchFamily="18" charset="0"/>
                            <a:ea typeface="楷体_GB2312"/>
                            <a:cs typeface="Times New Roman" panose="02020603050405020304" pitchFamily="18" charset="0"/>
                          </a:rPr>
                          <m:t>𝜇</m:t>
                        </m:r>
                      </m:e>
                      <m:sub>
                        <m:r>
                          <a:rPr lang="en-US" altLang="zh-CN" sz="1600" i="1" kern="0">
                            <a:solidFill>
                              <a:schemeClr val="accent2"/>
                            </a:solidFill>
                            <a:latin typeface="Cambria Math" panose="02040503050406030204" pitchFamily="18" charset="0"/>
                            <a:ea typeface="楷体_GB2312"/>
                            <a:cs typeface="Times New Roman" panose="02020603050405020304" pitchFamily="18" charset="0"/>
                          </a:rPr>
                          <m:t>𝑖</m:t>
                        </m:r>
                      </m:sub>
                    </m:sSub>
                  </m:oMath>
                </a14:m>
                <a:r>
                  <a:rPr lang="zh-CN" altLang="zh-CN" sz="1600" kern="0" dirty="0">
                    <a:solidFill>
                      <a:schemeClr val="accent2"/>
                    </a:solidFill>
                    <a:latin typeface="Times New Roman" panose="02020603050405020304" pitchFamily="18" charset="0"/>
                    <a:ea typeface="楷体_GB2312"/>
                    <a:cs typeface="Times New Roman" panose="02020603050405020304" pitchFamily="18" charset="0"/>
                  </a:rPr>
                  <a:t>的一个上界</a:t>
                </a:r>
                <a:r>
                  <a:rPr lang="zh-CN" altLang="zh-CN" sz="1600" kern="100" dirty="0">
                    <a:solidFill>
                      <a:schemeClr val="accent2"/>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600" kern="100" dirty="0">
                  <a:solidFill>
                    <a:schemeClr val="accent2"/>
                  </a:solidFill>
                  <a:latin typeface="等线" panose="02010600030101010101" pitchFamily="2" charset="-122"/>
                  <a:ea typeface="等线" panose="02010600030101010101" pitchFamily="2" charset="-122"/>
                  <a:cs typeface="Times New Roman" panose="02020603050405020304" pitchFamily="18" charset="0"/>
                </a:endParaRPr>
              </a:p>
              <a:p>
                <a:pPr indent="266700" algn="just">
                  <a:spcAft>
                    <a:spcPts val="0"/>
                  </a:spcAft>
                </a:pP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这里可找到一个随时间增长快速趋近于</a:t>
                </a:r>
                <a:r>
                  <a:rPr lang="en-US" altLang="zh-CN" sz="1600" kern="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的函数</a:t>
                </a:r>
                <a14:m>
                  <m:oMath xmlns:m="http://schemas.openxmlformats.org/officeDocument/2006/math">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−4</m:t>
                        </m:r>
                      </m:sup>
                    </m:sSup>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令</a:t>
                </a:r>
                <a14:m>
                  <m:oMath xmlns:m="http://schemas.openxmlformats.org/officeDocument/2006/math">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𝛿</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sup>
                        </m:sSup>
                      </m:sup>
                    </m:s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−4</m:t>
                        </m:r>
                      </m:sup>
                    </m:sSup>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则</a:t>
                </a:r>
                <a14:m>
                  <m:oMath xmlns:m="http://schemas.openxmlformats.org/officeDocument/2006/math">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𝛿</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func>
                              <m:func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ln</m:t>
                                </m:r>
                              </m:fName>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e>
                            </m:func>
                          </m:num>
                          <m:den>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den>
                        </m:f>
                      </m:e>
                    </m:rad>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因此</a:t>
                </a:r>
                <a14:m>
                  <m:oMath xmlns:m="http://schemas.openxmlformats.org/officeDocument/2006/math">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sub>
                    </m:sSub>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的上界为</a:t>
                </a:r>
                <a14:m>
                  <m:oMath xmlns:m="http://schemas.openxmlformats.org/officeDocument/2006/math">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func>
                              <m:func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ln</m:t>
                                </m:r>
                              </m:fName>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e>
                            </m:func>
                          </m:num>
                          <m:den>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den>
                        </m:f>
                      </m:e>
                    </m:rad>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当然，要选择一个随着</a:t>
                </a:r>
                <a14:m>
                  <m:oMath xmlns:m="http://schemas.openxmlformats.org/officeDocument/2006/math">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取值增大而收敛到</a:t>
                </a:r>
                <a:r>
                  <a:rPr lang="en-US" altLang="zh-CN" sz="1600" kern="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的函数，未必一定</a:t>
                </a:r>
                <a14:m>
                  <m:oMath xmlns:m="http://schemas.openxmlformats.org/officeDocument/2006/math">
                    <m:r>
                      <a:rPr lang="zh-CN" altLang="zh-CN" sz="1600" kern="0">
                        <a:solidFill>
                          <a:srgbClr val="000000"/>
                        </a:solidFill>
                        <a:latin typeface="Cambria Math" panose="02040503050406030204" pitchFamily="18" charset="0"/>
                        <a:ea typeface="楷体_GB2312"/>
                        <a:cs typeface="Times New Roman" panose="02020603050405020304" pitchFamily="18" charset="0"/>
                      </a:rPr>
                      <m:t>要选</m:t>
                    </m:r>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e>
                      <m:sup>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−4</m:t>
                        </m:r>
                      </m:sup>
                    </m:sSup>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如果换成关于</a:t>
                </a:r>
                <a14:m>
                  <m:oMath xmlns:m="http://schemas.openxmlformats.org/officeDocument/2006/math">
                    <m:r>
                      <a:rPr lang="en-US" altLang="zh-CN" sz="1600" i="1" kern="0">
                        <a:solidFill>
                          <a:srgbClr val="000000"/>
                        </a:solidFill>
                        <a:latin typeface="Cambria Math" panose="02040503050406030204" pitchFamily="18" charset="0"/>
                        <a:ea typeface="楷体_GB2312"/>
                        <a:cs typeface="Times New Roman" panose="02020603050405020304" pitchFamily="18" charset="0"/>
                      </a:rPr>
                      <m:t>𝑡</m:t>
                    </m:r>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的其它幂函数，结果将会和当前</a:t>
                </a:r>
                <a14:m>
                  <m:oMath xmlns:m="http://schemas.openxmlformats.org/officeDocument/2006/math">
                    <m:r>
                      <a:rPr lang="en-US" altLang="zh-CN" sz="1600" i="1" kern="0">
                        <a:solidFill>
                          <a:srgbClr val="000000"/>
                        </a:solidFill>
                        <a:latin typeface="Cambria Math" panose="02040503050406030204" pitchFamily="18" charset="0"/>
                        <a:ea typeface="楷体_GB2312"/>
                        <a:cs typeface="Times New Roman" panose="02020603050405020304" pitchFamily="18" charset="0"/>
                      </a:rPr>
                      <m:t>𝛿</m:t>
                    </m:r>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取值相差一个常数系数，因此奖励期望的上界也可以写成</a:t>
                </a:r>
                <a14:m>
                  <m:oMath xmlns:m="http://schemas.openxmlformats.org/officeDocument/2006/math">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𝐶</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func>
                              <m:func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ln</m:t>
                                </m:r>
                              </m:fName>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e>
                            </m:func>
                          </m:num>
                          <m:den>
                            <m:sSub>
                              <m:sSub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Sub>
                          </m:den>
                        </m:f>
                      </m:e>
                    </m:rad>
                  </m:oMath>
                </a14:m>
                <a:r>
                  <a:rPr lang="zh-CN" altLang="zh-CN" sz="16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i="1" kern="1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𝐶</m:t>
                    </m:r>
                  </m:oMath>
                </a14:m>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是一个预先指定的超参数，可以理解为用来调节探索和利用两者权重的因子。</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5AD08DCC-1B27-4EBB-A959-FE0ED0C19283}"/>
                  </a:ext>
                </a:extLst>
              </p:cNvPr>
              <p:cNvSpPr>
                <a:spLocks noRot="1" noChangeAspect="1" noMove="1" noResize="1" noEditPoints="1" noAdjustHandles="1" noChangeArrowheads="1" noChangeShapeType="1" noTextEdit="1"/>
              </p:cNvSpPr>
              <p:nvPr/>
            </p:nvSpPr>
            <p:spPr>
              <a:xfrm>
                <a:off x="1016737" y="1656863"/>
                <a:ext cx="10627847" cy="4177426"/>
              </a:xfrm>
              <a:prstGeom prst="rect">
                <a:avLst/>
              </a:prstGeom>
              <a:blipFill>
                <a:blip r:embed="rId3"/>
                <a:stretch>
                  <a:fillRect l="-344" t="-146" r="-287" b="-8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9699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霍夫丁不等式</a:t>
              </a: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93FD792C-4E02-4CE7-92A7-ADA8912E1A57}"/>
              </a:ext>
            </a:extLst>
          </p:cNvPr>
          <p:cNvSpPr>
            <a:spLocks noChangeArrowheads="1"/>
          </p:cNvSpPr>
          <p:nvPr/>
        </p:nvSpPr>
        <p:spPr bwMode="auto">
          <a:xfrm>
            <a:off x="6096000" y="25329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10">
            <a:extLst>
              <a:ext uri="{FF2B5EF4-FFF2-40B4-BE49-F238E27FC236}">
                <a16:creationId xmlns:a16="http://schemas.microsoft.com/office/drawing/2014/main" id="{5AD08DCC-1B27-4EBB-A959-FE0ED0C19283}"/>
              </a:ext>
            </a:extLst>
          </p:cNvPr>
          <p:cNvSpPr/>
          <p:nvPr/>
        </p:nvSpPr>
        <p:spPr>
          <a:xfrm>
            <a:off x="1016737" y="1266338"/>
            <a:ext cx="10627847" cy="1199046"/>
          </a:xfrm>
          <a:prstGeom prst="rect">
            <a:avLst/>
          </a:prstGeom>
        </p:spPr>
        <p:txBody>
          <a:bodyPr wrap="square">
            <a:spAutoFit/>
          </a:bodyPr>
          <a:lstStyle/>
          <a:p>
            <a:pPr indent="266700" algn="just">
              <a:lnSpc>
                <a:spcPts val="2200"/>
              </a:lnSpc>
              <a:spcAft>
                <a:spcPts val="0"/>
              </a:spcAft>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霍夫丁不等式（</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Hoeffding's</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Inequality</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）是概率统计中衡量 “随机变量均值与期望偏差” 的重要不等式，由统计学家瓦西里・霍夫丁（</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Wassily </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Hoeffding</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）于 </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1963 </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年提出。它的核心作用是：</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在不依赖随机变量具体分布的情况下，用 “样本量” 和 “随机变量取值范围” 来量化 “样本均值偏离总体期望的概率上限”</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，是机器学习、统计学中 “泛化误差分析”“置信区间估计” 的基础工具。</a:t>
            </a: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p:pic>
        <p:nvPicPr>
          <p:cNvPr id="8" name="图片 7">
            <a:extLst>
              <a:ext uri="{FF2B5EF4-FFF2-40B4-BE49-F238E27FC236}">
                <a16:creationId xmlns:a16="http://schemas.microsoft.com/office/drawing/2014/main" id="{511CD6D6-F4F1-A941-F59A-123F7AB6DD10}"/>
              </a:ext>
            </a:extLst>
          </p:cNvPr>
          <p:cNvPicPr>
            <a:picLocks noChangeAspect="1"/>
          </p:cNvPicPr>
          <p:nvPr/>
        </p:nvPicPr>
        <p:blipFill>
          <a:blip r:embed="rId3"/>
          <a:stretch>
            <a:fillRect/>
          </a:stretch>
        </p:blipFill>
        <p:spPr>
          <a:xfrm>
            <a:off x="1068413" y="2463759"/>
            <a:ext cx="4475137" cy="3963298"/>
          </a:xfrm>
          <a:prstGeom prst="rect">
            <a:avLst/>
          </a:prstGeom>
        </p:spPr>
      </p:pic>
      <p:pic>
        <p:nvPicPr>
          <p:cNvPr id="12" name="图片 11">
            <a:extLst>
              <a:ext uri="{FF2B5EF4-FFF2-40B4-BE49-F238E27FC236}">
                <a16:creationId xmlns:a16="http://schemas.microsoft.com/office/drawing/2014/main" id="{DFFA4337-1004-0872-7CE9-CB65AC2426E6}"/>
              </a:ext>
            </a:extLst>
          </p:cNvPr>
          <p:cNvPicPr>
            <a:picLocks noChangeAspect="1"/>
          </p:cNvPicPr>
          <p:nvPr/>
        </p:nvPicPr>
        <p:blipFill>
          <a:blip r:embed="rId4"/>
          <a:stretch>
            <a:fillRect/>
          </a:stretch>
        </p:blipFill>
        <p:spPr>
          <a:xfrm>
            <a:off x="5543550" y="2605235"/>
            <a:ext cx="6200000" cy="2371429"/>
          </a:xfrm>
          <a:prstGeom prst="rect">
            <a:avLst/>
          </a:prstGeom>
        </p:spPr>
      </p:pic>
    </p:spTree>
    <p:extLst>
      <p:ext uri="{BB962C8B-B14F-4D97-AF65-F5344CB8AC3E}">
        <p14:creationId xmlns:p14="http://schemas.microsoft.com/office/powerpoint/2010/main" val="1270538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rPr>
                <a:t>上限置信区间算法</a:t>
              </a:r>
              <a:r>
                <a:rPr lang="zh-CN" altLang="en-US" dirty="0">
                  <a:latin typeface="微软雅黑" panose="020B0503020204020204" pitchFamily="34" charset="-122"/>
                  <a:ea typeface="微软雅黑" panose="020B0503020204020204" pitchFamily="34" charset="-122"/>
                </a:rPr>
                <a:t>策略</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C195B38-0B8B-4C60-9B81-27FD7B26CF12}"/>
                  </a:ext>
                </a:extLst>
              </p:cNvPr>
              <p:cNvSpPr/>
              <p:nvPr/>
            </p:nvSpPr>
            <p:spPr>
              <a:xfrm>
                <a:off x="1627564" y="2723147"/>
                <a:ext cx="8846288" cy="1187697"/>
              </a:xfrm>
              <a:prstGeom prst="rect">
                <a:avLst/>
              </a:prstGeom>
              <a:solidFill>
                <a:srgbClr val="01717E">
                  <a:alpha val="25000"/>
                </a:srgbClr>
              </a:solidFill>
            </p:spPr>
            <p:txBody>
              <a:bodyPr wrap="square">
                <a:spAutoFit/>
              </a:bodyPr>
              <a:lstStyle/>
              <a:p>
                <a:pPr indent="266700" algn="just">
                  <a:spcAft>
                    <a:spcPts val="0"/>
                  </a:spcAft>
                </a:pP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𝑙</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𝑥</m:t>
                              </m:r>
                            </m:e>
                          </m:acc>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sub>
                      </m:s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𝐶</m:t>
                      </m:r>
                      <m:rad>
                        <m:radPr>
                          <m:degHide m:val="on"/>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func>
                                <m:func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ln</m:t>
                                  </m:r>
                                </m:fName>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e>
                              </m:func>
                            </m:num>
                            <m:den>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𝑇</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den>
                          </m:f>
                        </m:e>
                      </m:ra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C195B38-0B8B-4C60-9B81-27FD7B26CF12}"/>
                  </a:ext>
                </a:extLst>
              </p:cNvPr>
              <p:cNvSpPr>
                <a:spLocks noRot="1" noChangeAspect="1" noMove="1" noResize="1" noEditPoints="1" noAdjustHandles="1" noChangeArrowheads="1" noChangeShapeType="1" noTextEdit="1"/>
              </p:cNvSpPr>
              <p:nvPr/>
            </p:nvSpPr>
            <p:spPr>
              <a:xfrm>
                <a:off x="1627564" y="2723147"/>
                <a:ext cx="8846288" cy="11876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08B19C1-3007-4076-A537-B67B3B1C3119}"/>
                  </a:ext>
                </a:extLst>
              </p:cNvPr>
              <p:cNvSpPr/>
              <p:nvPr/>
            </p:nvSpPr>
            <p:spPr>
              <a:xfrm>
                <a:off x="1390764" y="4041299"/>
                <a:ext cx="9932465" cy="2062616"/>
              </a:xfrm>
              <a:prstGeom prst="rect">
                <a:avLst/>
              </a:prstGeom>
            </p:spPr>
            <p:txBody>
              <a:bodyPr wrap="square">
                <a:spAutoFit/>
              </a:bodyPr>
              <a:lstStyle/>
              <a:p>
                <a:pPr algn="ctr">
                  <a:lnSpc>
                    <a:spcPct val="150000"/>
                  </a:lnSpc>
                </a:pPr>
                <a:r>
                  <a:rPr lang="zh-CN" altLang="zh-CN" kern="0" dirty="0">
                    <a:solidFill>
                      <a:srgbClr val="000000"/>
                    </a:solidFill>
                    <a:latin typeface="Times New Roman" panose="02020603050405020304" pitchFamily="18" charset="0"/>
                    <a:ea typeface="楷体_GB2312"/>
                    <a:cs typeface="Times New Roman" panose="02020603050405020304" pitchFamily="18" charset="0"/>
                  </a:rPr>
                  <a:t>文献证明了：</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UCB1</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算法在经过</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𝑇</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次测试后，悔值函数的期望上界为</a:t>
                </a:r>
                <a14:m>
                  <m:oMath xmlns:m="http://schemas.openxmlformats.org/officeDocument/2006/math">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𝑂</m:t>
                    </m:r>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𝐾</m:t>
                        </m:r>
                        <m:func>
                          <m:func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ln</m:t>
                            </m:r>
                          </m:fName>
                          <m:e>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𝑇</m:t>
                            </m:r>
                          </m:e>
                        </m:func>
                      </m:num>
                      <m:den>
                        <m:r>
                          <m:rPr>
                            <m:sty m:val="p"/>
                          </m:rPr>
                          <a:rPr lang="en-US" altLang="zh-CN" sz="2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Δ</m:t>
                        </m:r>
                      </m:den>
                    </m:f>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pPr>
                <a:r>
                  <a:rPr lang="zh-CN" altLang="zh-CN"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m:rPr>
                        <m:sty m:val="p"/>
                      </m:rPr>
                      <a:rPr lang="en-US" altLang="zh-CN" sz="2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Δ</m:t>
                    </m:r>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min</m:t>
                            </m:r>
                          </m:e>
                          <m:lim>
                            <m:eqArr>
                              <m:eqArr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𝐾</m:t>
                                </m:r>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e>
                                <m:sSub>
                                  <m:sSub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b>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&lt;</m:t>
                                </m:r>
                                <m:sSup>
                                  <m:sSup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p>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eqArr>
                          </m:lim>
                        </m:limLow>
                      </m:fName>
                      <m:e>
                        <m:sSup>
                          <m:sSup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p>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b>
                            <m:r>
                              <a:rPr lang="en-US" altLang="zh-CN" sz="2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m:t>
                            </m:r>
                          </m:sub>
                        </m:sSub>
                      </m:e>
                    </m:func>
                  </m:oMath>
                </a14:m>
                <a:endParaRPr lang="zh-CN" altLang="en-US" dirty="0"/>
              </a:p>
            </p:txBody>
          </p:sp>
        </mc:Choice>
        <mc:Fallback xmlns="">
          <p:sp>
            <p:nvSpPr>
              <p:cNvPr id="8" name="矩形 7">
                <a:extLst>
                  <a:ext uri="{FF2B5EF4-FFF2-40B4-BE49-F238E27FC236}">
                    <a16:creationId xmlns:a16="http://schemas.microsoft.com/office/drawing/2014/main" id="{808B19C1-3007-4076-A537-B67B3B1C3119}"/>
                  </a:ext>
                </a:extLst>
              </p:cNvPr>
              <p:cNvSpPr>
                <a:spLocks noRot="1" noChangeAspect="1" noMove="1" noResize="1" noEditPoints="1" noAdjustHandles="1" noChangeArrowheads="1" noChangeShapeType="1" noTextEdit="1"/>
              </p:cNvSpPr>
              <p:nvPr/>
            </p:nvSpPr>
            <p:spPr>
              <a:xfrm>
                <a:off x="1390764" y="4041299"/>
                <a:ext cx="9932465" cy="2062616"/>
              </a:xfrm>
              <a:prstGeom prst="rect">
                <a:avLst/>
              </a:prstGeom>
              <a:blipFill>
                <a:blip r:embed="rId4"/>
                <a:stretch>
                  <a:fillRect b="-2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B35A028-BD5E-46E7-B29A-F323B3EC6151}"/>
                  </a:ext>
                </a:extLst>
              </p:cNvPr>
              <p:cNvSpPr/>
              <p:nvPr/>
            </p:nvSpPr>
            <p:spPr>
              <a:xfrm>
                <a:off x="1292206" y="1530253"/>
                <a:ext cx="9001638" cy="912045"/>
              </a:xfrm>
              <a:prstGeom prst="rect">
                <a:avLst/>
              </a:prstGeom>
            </p:spPr>
            <p:txBody>
              <a:bodyPr wrap="square">
                <a:spAutoFit/>
              </a:bodyPr>
              <a:lstStyle/>
              <a:p>
                <a:pPr indent="266700" algn="ctr">
                  <a:lnSpc>
                    <a:spcPct val="150000"/>
                  </a:lnSpc>
                  <a:spcAft>
                    <a:spcPts val="0"/>
                  </a:spcAft>
                </a:pPr>
                <a:r>
                  <a:rPr lang="en-US" altLang="zh-CN" dirty="0">
                    <a:solidFill>
                      <a:srgbClr val="000000"/>
                    </a:solidFill>
                    <a:latin typeface="Times New Roman" panose="02020603050405020304" pitchFamily="18" charset="0"/>
                    <a:ea typeface="楷体_GB2312"/>
                    <a:cs typeface="Times New Roman" panose="02020603050405020304" pitchFamily="18" charset="0"/>
                  </a:rPr>
                  <a:t>UCB1</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算法的策略可以描述为，在第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𝑡</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次时选择使得上述不等式右侧足够小的动作</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𝑙</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𝑙</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由如下式子计算得到：</a:t>
                </a:r>
              </a:p>
            </p:txBody>
          </p:sp>
        </mc:Choice>
        <mc:Fallback xmlns="">
          <p:sp>
            <p:nvSpPr>
              <p:cNvPr id="10" name="矩形 9">
                <a:extLst>
                  <a:ext uri="{FF2B5EF4-FFF2-40B4-BE49-F238E27FC236}">
                    <a16:creationId xmlns:a16="http://schemas.microsoft.com/office/drawing/2014/main" id="{8B35A028-BD5E-46E7-B29A-F323B3EC6151}"/>
                  </a:ext>
                </a:extLst>
              </p:cNvPr>
              <p:cNvSpPr>
                <a:spLocks noRot="1" noChangeAspect="1" noMove="1" noResize="1" noEditPoints="1" noAdjustHandles="1" noChangeArrowheads="1" noChangeShapeType="1" noTextEdit="1"/>
              </p:cNvSpPr>
              <p:nvPr/>
            </p:nvSpPr>
            <p:spPr>
              <a:xfrm>
                <a:off x="1292206" y="1530253"/>
                <a:ext cx="9001638" cy="912045"/>
              </a:xfrm>
              <a:prstGeom prst="rect">
                <a:avLst/>
              </a:prstGeom>
              <a:blipFill>
                <a:blip r:embed="rId5"/>
                <a:stretch>
                  <a:fillRect r="-271" b="-9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68243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C28B3977-12FE-4268-8C18-32D5BAA374EA}"/>
              </a:ext>
            </a:extLst>
          </p:cNvPr>
          <p:cNvSpPr/>
          <p:nvPr/>
        </p:nvSpPr>
        <p:spPr>
          <a:xfrm>
            <a:off x="852473" y="1321506"/>
            <a:ext cx="10306397" cy="4850174"/>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无论是一般搜索问题，还是对抗搜索问题，在问题特别复杂时，搜索树可能会变得十分巨大，以至于搜索算法很难在短时间内完全探索整棵搜索树。</a:t>
            </a:r>
          </a:p>
          <a:p>
            <a:pPr indent="266700" algn="just">
              <a:lnSpc>
                <a:spcPct val="1500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为了解决这个问题，前面章节分别探讨了如何利用辅助信息来找到高效的结点扩展顺序以及介绍了可减少不必要扩展的结点数量的</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alpha-beta</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剪枝算法。</a:t>
            </a:r>
          </a:p>
          <a:p>
            <a:pPr indent="266700" algn="just">
              <a:lnSpc>
                <a:spcPct val="1500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不难发现，对搜索算法进行优化以提高搜索效率基本上是在解决如下两个问题：</a:t>
            </a:r>
            <a:r>
              <a:rPr lang="zh-CN" altLang="zh-CN"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优先扩展哪些结点</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以及</a:t>
            </a:r>
            <a:r>
              <a:rPr lang="zh-CN" altLang="zh-CN"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放弃扩展哪些结点</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，综合来看也可以概括为如何高效地扩展搜索树。</a:t>
            </a:r>
          </a:p>
          <a:p>
            <a:pPr indent="266700" algn="just">
              <a:lnSpc>
                <a:spcPct val="1500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如果将目标稍微降低，改为求解一个近似最优解，则上述问题可以看成是如下探索性问题：算法从根结点开始 ，每一步动作为选择（在非叶子结点）或扩展（在叶子结点）一个孩子结点。可以用执行该动作后所收获奖励来判断该动作优劣。奖励可以根据从当前结点出发到达目标路径的代价或游戏终局分数来定义。算法会倾向于扩展获得奖励较高的结点。</a:t>
            </a:r>
          </a:p>
          <a:p>
            <a:pPr indent="266700" algn="just">
              <a:lnSpc>
                <a:spcPct val="1500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算法事先不知道每个结点将会得到怎样的代价（或终局分数）分布，只能通过采样式探索来得到计算奖励的样本。由于这个算法利用蒙特卡洛法通过采样来估计每个结点的价值，因此它被称为</a:t>
            </a:r>
            <a:r>
              <a:rPr lang="zh-CN" altLang="zh-CN" sz="1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蒙特卡洛树搜索</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Monte-Carlo Tree Search</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a:t>
            </a:r>
          </a:p>
        </p:txBody>
      </p:sp>
    </p:spTree>
    <p:extLst>
      <p:ext uri="{BB962C8B-B14F-4D97-AF65-F5344CB8AC3E}">
        <p14:creationId xmlns:p14="http://schemas.microsoft.com/office/powerpoint/2010/main" val="29542819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11" name="矩形: 圆角 6">
            <a:extLst>
              <a:ext uri="{FF2B5EF4-FFF2-40B4-BE49-F238E27FC236}">
                <a16:creationId xmlns:a16="http://schemas.microsoft.com/office/drawing/2014/main" id="{0C2E825F-0477-41D3-B2FC-0E3023A522D5}"/>
              </a:ext>
            </a:extLst>
          </p:cNvPr>
          <p:cNvSpPr/>
          <p:nvPr/>
        </p:nvSpPr>
        <p:spPr>
          <a:xfrm>
            <a:off x="258863" y="1532873"/>
            <a:ext cx="5381709" cy="484067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89ADDEF9-6C57-4E2B-AFE7-3E00145B303D}"/>
              </a:ext>
            </a:extLst>
          </p:cNvPr>
          <p:cNvSpPr/>
          <p:nvPr/>
        </p:nvSpPr>
        <p:spPr>
          <a:xfrm>
            <a:off x="258863" y="1716412"/>
            <a:ext cx="5237940" cy="4559325"/>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a:t>
            </a:r>
            <a:r>
              <a:rPr lang="en-US"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selection</a:t>
            </a: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：选择指算法从搜索树的根结点开始，向下递归选择子结点，直至到达叶子结点或者到达尚未被完全扩展的的结点</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所示。</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这个向下递归选择过程可由</a:t>
            </a:r>
            <a:r>
              <a:rPr lang="en-US"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UCB1</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算法来实现</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，在递归选择过程中记录下每个结点被选择次数和每个结点得到的奖励均值。</a:t>
            </a:r>
            <a:endPar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扩展（</a:t>
            </a:r>
            <a:r>
              <a:rPr lang="en-US"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expansion</a:t>
            </a: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：如果结点</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L </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不是一个终止结点（或对抗搜索的终局结点），则</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随机扩展它的一个未被扩展过的后继结点</a:t>
            </a:r>
            <a:r>
              <a:rPr lang="en-US"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(b)</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所示。</a:t>
            </a:r>
            <a:endPar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模拟（</a:t>
            </a:r>
            <a:r>
              <a:rPr lang="en-US"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simulation</a:t>
            </a: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从结点</a:t>
            </a:r>
            <a:r>
              <a:rPr lang="en-US"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出发，模拟扩展搜索树，直到找到一个终止结点</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(c)</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所示。模拟过程使用的策略和采用</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UCB1</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算法实现的选择过程并不相同，前者通常会使用比较简单的策略，例如使用随机策略。</a:t>
            </a:r>
            <a:endPar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反向传播（</a:t>
            </a:r>
            <a:r>
              <a:rPr lang="en-US"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Back Propagation</a:t>
            </a:r>
            <a:r>
              <a:rPr lang="zh-CN" altLang="zh-CN" sz="13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：用模拟所得结果（终止结点的代价或游戏终局分数）</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回溯更新模拟路径中</a:t>
            </a:r>
            <a:r>
              <a:rPr lang="en-US"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以上（含</a:t>
            </a:r>
            <a:r>
              <a:rPr lang="en-US"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t>
            </a:r>
            <a:r>
              <a:rPr lang="zh-CN" altLang="zh-CN" sz="13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）结点的奖励均值和被访问次数</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(d)</a:t>
            </a:r>
            <a:r>
              <a:rPr lang="zh-CN" altLang="zh-CN" sz="1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所示</a:t>
            </a:r>
            <a:r>
              <a:rPr lang="zh-CN" altLang="zh-CN" sz="1300" dirty="0"/>
              <a:t>。</a:t>
            </a:r>
          </a:p>
        </p:txBody>
      </p:sp>
      <p:pic>
        <p:nvPicPr>
          <p:cNvPr id="6" name="图片 5">
            <a:extLst>
              <a:ext uri="{FF2B5EF4-FFF2-40B4-BE49-F238E27FC236}">
                <a16:creationId xmlns:a16="http://schemas.microsoft.com/office/drawing/2014/main" id="{CD924A3A-3CD0-43BF-B865-8203A6312C54}"/>
              </a:ext>
            </a:extLst>
          </p:cNvPr>
          <p:cNvPicPr>
            <a:picLocks noChangeAspect="1"/>
          </p:cNvPicPr>
          <p:nvPr/>
        </p:nvPicPr>
        <p:blipFill>
          <a:blip r:embed="rId3"/>
          <a:stretch>
            <a:fillRect/>
          </a:stretch>
        </p:blipFill>
        <p:spPr>
          <a:xfrm>
            <a:off x="6592030" y="1797977"/>
            <a:ext cx="4632563" cy="4165814"/>
          </a:xfrm>
          <a:prstGeom prst="rect">
            <a:avLst/>
          </a:prstGeom>
        </p:spPr>
      </p:pic>
    </p:spTree>
    <p:extLst>
      <p:ext uri="{BB962C8B-B14F-4D97-AF65-F5344CB8AC3E}">
        <p14:creationId xmlns:p14="http://schemas.microsoft.com/office/powerpoint/2010/main" val="37234147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6" name="矩形 5">
            <a:extLst>
              <a:ext uri="{FF2B5EF4-FFF2-40B4-BE49-F238E27FC236}">
                <a16:creationId xmlns:a16="http://schemas.microsoft.com/office/drawing/2014/main" id="{D6180782-C3BD-40AB-ACD5-2C2C039B8AB7}"/>
              </a:ext>
            </a:extLst>
          </p:cNvPr>
          <p:cNvSpPr/>
          <p:nvPr/>
        </p:nvSpPr>
        <p:spPr>
          <a:xfrm>
            <a:off x="6087141" y="5061703"/>
            <a:ext cx="6096000" cy="307777"/>
          </a:xfrm>
          <a:prstGeom prst="rect">
            <a:avLst/>
          </a:prstGeom>
        </p:spPr>
        <p:txBody>
          <a:bodyPr>
            <a:spAutoFit/>
          </a:bodyPr>
          <a:lstStyle/>
          <a:p>
            <a:pPr algn="ctr"/>
            <a:r>
              <a:rPr lang="zh-CN" altLang="zh-CN" sz="1400" b="1" dirty="0">
                <a:latin typeface="Times New Roman" panose="02020603050405020304" pitchFamily="18" charset="0"/>
                <a:ea typeface="楷体_GB2312"/>
                <a:cs typeface="Times New Roman" panose="02020603050405020304" pitchFamily="18" charset="0"/>
              </a:rPr>
              <a:t>蒙特卡洛树搜索算法。结点中数字代表总收益分数</a:t>
            </a:r>
            <a:r>
              <a:rPr lang="en-US" altLang="zh-CN" sz="1400" b="1" dirty="0">
                <a:latin typeface="Times New Roman" panose="02020603050405020304" pitchFamily="18" charset="0"/>
                <a:ea typeface="楷体_GB2312"/>
              </a:rPr>
              <a:t>/</a:t>
            </a:r>
            <a:r>
              <a:rPr lang="zh-CN" altLang="zh-CN" sz="1400" b="1" dirty="0">
                <a:latin typeface="Times New Roman" panose="02020603050405020304" pitchFamily="18" charset="0"/>
                <a:ea typeface="楷体_GB2312"/>
                <a:cs typeface="Times New Roman" panose="02020603050405020304" pitchFamily="18" charset="0"/>
              </a:rPr>
              <a:t>被访问次数</a:t>
            </a:r>
            <a:endParaRPr lang="zh-CN" altLang="en-US" sz="1400"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F6554188-11EB-453E-BB5B-A530FD2D36E2}"/>
                  </a:ext>
                </a:extLst>
              </p:cNvPr>
              <p:cNvSpPr/>
              <p:nvPr/>
            </p:nvSpPr>
            <p:spPr>
              <a:xfrm>
                <a:off x="707237" y="1688432"/>
                <a:ext cx="5060926" cy="4569777"/>
              </a:xfrm>
              <a:prstGeom prst="rect">
                <a:avLst/>
              </a:prstGeom>
            </p:spPr>
            <p:txBody>
              <a:bodyPr wrap="square">
                <a:spAutoFit/>
              </a:bodyPr>
              <a:lstStyle/>
              <a:p>
                <a:pPr indent="266700" algn="just">
                  <a:lnSpc>
                    <a:spcPct val="150000"/>
                  </a:lnSpc>
                  <a:spcAft>
                    <a:spcPts val="0"/>
                  </a:spcAft>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Minimax</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算法为基础的蒙特卡洛树搜索算法也被称为上限置信区间树搜索（</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Upper Confidence Bounds for Trees, UCT</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）算法。图</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3.21</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展示了蒙特卡洛树搜索的一次迭代中四个完整步骤，其中结点中数字记录了</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经过该结点所得收益分数之和（左侧数字）</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访问该结点的次数（右侧数字）</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50000"/>
                  </a:lnSpc>
                  <a:spcAft>
                    <a:spcPts val="0"/>
                  </a:spcAft>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在图</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中，搜索树中已经有三个结点，注意此时根结点的分数之和为负数，这是用蒙特卡洛树搜索求解对抗搜索问题时的特殊措施，原因我们将在讨论反向传播步骤时提到。此时分别计算第二层结点的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UCB</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值：左侧结点为</a:t>
                </a:r>
                <a14:m>
                  <m:oMath xmlns:m="http://schemas.openxmlformats.org/officeDocument/2006/math">
                    <m:f>
                      <m:fPr>
                        <m:ctrlPr>
                          <a:rPr lang="zh-CN" altLang="zh-CN" sz="1400" i="1">
                            <a:latin typeface="Cambria Math" panose="02040503050406030204" pitchFamily="18" charset="0"/>
                          </a:rPr>
                        </m:ctrlPr>
                      </m:fPr>
                      <m:num>
                        <m:r>
                          <a:rPr lang="en-US" altLang="zh-CN" sz="1400" i="1">
                            <a:latin typeface="Cambria Math" panose="02040503050406030204" pitchFamily="18" charset="0"/>
                          </a:rPr>
                          <m:t>10</m:t>
                        </m:r>
                      </m:num>
                      <m:den>
                        <m:r>
                          <a:rPr lang="en-US" altLang="zh-CN" sz="1400" i="1">
                            <a:latin typeface="Cambria Math" panose="02040503050406030204" pitchFamily="18" charset="0"/>
                          </a:rPr>
                          <m:t>1</m:t>
                        </m:r>
                      </m:den>
                    </m:f>
                    <m:r>
                      <a:rPr lang="en-US" altLang="zh-CN" sz="1400" i="1">
                        <a:latin typeface="Cambria Math" panose="02040503050406030204" pitchFamily="18" charset="0"/>
                      </a:rPr>
                      <m:t>+</m:t>
                    </m:r>
                    <m:rad>
                      <m:radPr>
                        <m:degHide m:val="on"/>
                        <m:ctrlPr>
                          <a:rPr lang="zh-CN" altLang="zh-CN" sz="1400" i="1">
                            <a:latin typeface="Cambria Math" panose="02040503050406030204" pitchFamily="18" charset="0"/>
                          </a:rPr>
                        </m:ctrlPr>
                      </m:radPr>
                      <m:deg/>
                      <m:e>
                        <m:f>
                          <m:fPr>
                            <m:ctrlPr>
                              <a:rPr lang="zh-CN" altLang="zh-CN" sz="1400" i="1">
                                <a:latin typeface="Cambria Math" panose="02040503050406030204" pitchFamily="18" charset="0"/>
                              </a:rPr>
                            </m:ctrlPr>
                          </m:fPr>
                          <m:num>
                            <m:r>
                              <a:rPr lang="en-US" altLang="zh-CN" sz="1400" i="1">
                                <a:latin typeface="Cambria Math" panose="02040503050406030204" pitchFamily="18" charset="0"/>
                              </a:rPr>
                              <m:t>2</m:t>
                            </m:r>
                            <m:func>
                              <m:funcPr>
                                <m:ctrlPr>
                                  <a:rPr lang="zh-CN" altLang="zh-CN" sz="1400" i="1">
                                    <a:latin typeface="Cambria Math" panose="02040503050406030204" pitchFamily="18" charset="0"/>
                                  </a:rPr>
                                </m:ctrlPr>
                              </m:funcPr>
                              <m:fName>
                                <m:r>
                                  <m:rPr>
                                    <m:sty m:val="p"/>
                                  </m:rPr>
                                  <a:rPr lang="en-US" altLang="zh-CN" sz="1400">
                                    <a:latin typeface="Cambria Math" panose="02040503050406030204" pitchFamily="18" charset="0"/>
                                  </a:rPr>
                                  <m:t>ln</m:t>
                                </m:r>
                              </m:fName>
                              <m:e>
                                <m:r>
                                  <a:rPr lang="en-US" altLang="zh-CN" sz="1400" i="1">
                                    <a:latin typeface="Cambria Math" panose="02040503050406030204" pitchFamily="18" charset="0"/>
                                  </a:rPr>
                                  <m:t>2</m:t>
                                </m:r>
                              </m:e>
                            </m:func>
                          </m:num>
                          <m:den>
                            <m:r>
                              <a:rPr lang="en-US" altLang="zh-CN" sz="1400" i="1">
                                <a:latin typeface="Cambria Math" panose="02040503050406030204" pitchFamily="18" charset="0"/>
                              </a:rPr>
                              <m:t>1</m:t>
                            </m:r>
                          </m:den>
                        </m:f>
                      </m:e>
                    </m:rad>
                    <m:r>
                      <a:rPr lang="en-US" altLang="zh-CN" sz="1400" i="1">
                        <a:latin typeface="Cambria Math" panose="02040503050406030204" pitchFamily="18" charset="0"/>
                      </a:rPr>
                      <m:t>=11.18</m:t>
                    </m:r>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，右侧结点为</a:t>
                </a:r>
                <a14:m>
                  <m:oMath xmlns:m="http://schemas.openxmlformats.org/officeDocument/2006/math">
                    <m:f>
                      <m:fPr>
                        <m:ctrlPr>
                          <a:rPr lang="zh-CN" altLang="zh-CN" sz="1400" i="1">
                            <a:latin typeface="Cambria Math" panose="02040503050406030204" pitchFamily="18" charset="0"/>
                          </a:rPr>
                        </m:ctrlPr>
                      </m:fPr>
                      <m:num>
                        <m:r>
                          <a:rPr lang="en-US" altLang="zh-CN" sz="1400" i="1">
                            <a:latin typeface="Cambria Math" panose="02040503050406030204" pitchFamily="18" charset="0"/>
                          </a:rPr>
                          <m:t>5</m:t>
                        </m:r>
                      </m:num>
                      <m:den>
                        <m:r>
                          <a:rPr lang="en-US" altLang="zh-CN" sz="1400" i="1">
                            <a:latin typeface="Cambria Math" panose="02040503050406030204" pitchFamily="18" charset="0"/>
                          </a:rPr>
                          <m:t>1</m:t>
                        </m:r>
                      </m:den>
                    </m:f>
                    <m:r>
                      <a:rPr lang="en-US" altLang="zh-CN" sz="1400" i="1">
                        <a:latin typeface="Cambria Math" panose="02040503050406030204" pitchFamily="18" charset="0"/>
                      </a:rPr>
                      <m:t>+</m:t>
                    </m:r>
                    <m:rad>
                      <m:radPr>
                        <m:degHide m:val="on"/>
                        <m:ctrlPr>
                          <a:rPr lang="zh-CN" altLang="zh-CN" sz="1400" i="1">
                            <a:latin typeface="Cambria Math" panose="02040503050406030204" pitchFamily="18" charset="0"/>
                          </a:rPr>
                        </m:ctrlPr>
                      </m:radPr>
                      <m:deg/>
                      <m:e>
                        <m:f>
                          <m:fPr>
                            <m:ctrlPr>
                              <a:rPr lang="zh-CN" altLang="zh-CN" sz="1400" i="1">
                                <a:latin typeface="Cambria Math" panose="02040503050406030204" pitchFamily="18" charset="0"/>
                              </a:rPr>
                            </m:ctrlPr>
                          </m:fPr>
                          <m:num>
                            <m:r>
                              <a:rPr lang="en-US" altLang="zh-CN" sz="1400" i="1">
                                <a:latin typeface="Cambria Math" panose="02040503050406030204" pitchFamily="18" charset="0"/>
                              </a:rPr>
                              <m:t>2</m:t>
                            </m:r>
                            <m:func>
                              <m:funcPr>
                                <m:ctrlPr>
                                  <a:rPr lang="zh-CN" altLang="zh-CN" sz="1400" i="1">
                                    <a:latin typeface="Cambria Math" panose="02040503050406030204" pitchFamily="18" charset="0"/>
                                  </a:rPr>
                                </m:ctrlPr>
                              </m:funcPr>
                              <m:fName>
                                <m:r>
                                  <m:rPr>
                                    <m:sty m:val="p"/>
                                  </m:rPr>
                                  <a:rPr lang="en-US" altLang="zh-CN" sz="1400">
                                    <a:latin typeface="Cambria Math" panose="02040503050406030204" pitchFamily="18" charset="0"/>
                                  </a:rPr>
                                  <m:t>ln</m:t>
                                </m:r>
                              </m:fName>
                              <m:e>
                                <m:r>
                                  <a:rPr lang="en-US" altLang="zh-CN" sz="1400" i="1">
                                    <a:latin typeface="Cambria Math" panose="02040503050406030204" pitchFamily="18" charset="0"/>
                                  </a:rPr>
                                  <m:t>2</m:t>
                                </m:r>
                              </m:e>
                            </m:func>
                          </m:num>
                          <m:den>
                            <m:r>
                              <a:rPr lang="en-US" altLang="zh-CN" sz="1400" i="1">
                                <a:latin typeface="Cambria Math" panose="02040503050406030204" pitchFamily="18" charset="0"/>
                              </a:rPr>
                              <m:t>1</m:t>
                            </m:r>
                          </m:den>
                        </m:f>
                      </m:e>
                    </m:rad>
                    <m:r>
                      <a:rPr lang="en-US" altLang="zh-CN" sz="1400" i="1">
                        <a:latin typeface="Cambria Math" panose="02040503050406030204" pitchFamily="18" charset="0"/>
                      </a:rPr>
                      <m:t>=6.18</m:t>
                    </m:r>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，因此算法</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选择第二层左侧的结点</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，由于该结点有尚未扩展的子结点，因此选择阶段结束。</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ts val="2200"/>
                  </a:lnSpc>
                  <a:spcAft>
                    <a:spcPts val="0"/>
                  </a:spcAft>
                </a:pP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F6554188-11EB-453E-BB5B-A530FD2D36E2}"/>
                  </a:ext>
                </a:extLst>
              </p:cNvPr>
              <p:cNvSpPr>
                <a:spLocks noRot="1" noChangeAspect="1" noMove="1" noResize="1" noEditPoints="1" noAdjustHandles="1" noChangeArrowheads="1" noChangeShapeType="1" noTextEdit="1"/>
              </p:cNvSpPr>
              <p:nvPr/>
            </p:nvSpPr>
            <p:spPr>
              <a:xfrm>
                <a:off x="707237" y="1688432"/>
                <a:ext cx="5060926" cy="4569777"/>
              </a:xfrm>
              <a:prstGeom prst="rect">
                <a:avLst/>
              </a:prstGeom>
              <a:blipFill>
                <a:blip r:embed="rId3"/>
                <a:stretch>
                  <a:fillRect l="-361" r="-385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25C7413E-0ABD-49BB-AEBF-FFD9E60DFA36}"/>
              </a:ext>
            </a:extLst>
          </p:cNvPr>
          <p:cNvPicPr>
            <a:picLocks noChangeAspect="1"/>
          </p:cNvPicPr>
          <p:nvPr/>
        </p:nvPicPr>
        <p:blipFill>
          <a:blip r:embed="rId4"/>
          <a:stretch>
            <a:fillRect/>
          </a:stretch>
        </p:blipFill>
        <p:spPr>
          <a:xfrm>
            <a:off x="6671216" y="2328491"/>
            <a:ext cx="4813547" cy="2632210"/>
          </a:xfrm>
          <a:prstGeom prst="rect">
            <a:avLst/>
          </a:prstGeom>
        </p:spPr>
      </p:pic>
    </p:spTree>
    <p:extLst>
      <p:ext uri="{BB962C8B-B14F-4D97-AF65-F5344CB8AC3E}">
        <p14:creationId xmlns:p14="http://schemas.microsoft.com/office/powerpoint/2010/main" val="2694750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6" name="矩形 5">
            <a:extLst>
              <a:ext uri="{FF2B5EF4-FFF2-40B4-BE49-F238E27FC236}">
                <a16:creationId xmlns:a16="http://schemas.microsoft.com/office/drawing/2014/main" id="{D6180782-C3BD-40AB-ACD5-2C2C039B8AB7}"/>
              </a:ext>
            </a:extLst>
          </p:cNvPr>
          <p:cNvSpPr/>
          <p:nvPr/>
        </p:nvSpPr>
        <p:spPr>
          <a:xfrm>
            <a:off x="6087141" y="5061703"/>
            <a:ext cx="6096000" cy="307777"/>
          </a:xfrm>
          <a:prstGeom prst="rect">
            <a:avLst/>
          </a:prstGeom>
        </p:spPr>
        <p:txBody>
          <a:bodyPr>
            <a:spAutoFit/>
          </a:bodyPr>
          <a:lstStyle/>
          <a:p>
            <a:pPr algn="ctr"/>
            <a:r>
              <a:rPr lang="zh-CN" altLang="zh-CN" sz="1400" b="1" dirty="0">
                <a:latin typeface="Times New Roman" panose="02020603050405020304" pitchFamily="18" charset="0"/>
                <a:ea typeface="楷体_GB2312"/>
                <a:cs typeface="Times New Roman" panose="02020603050405020304" pitchFamily="18" charset="0"/>
              </a:rPr>
              <a:t>蒙特卡洛树搜索算法。结点中数字代表总收益分数</a:t>
            </a:r>
            <a:r>
              <a:rPr lang="en-US" altLang="zh-CN" sz="1400" b="1" dirty="0">
                <a:latin typeface="Times New Roman" panose="02020603050405020304" pitchFamily="18" charset="0"/>
                <a:ea typeface="楷体_GB2312"/>
              </a:rPr>
              <a:t>/</a:t>
            </a:r>
            <a:r>
              <a:rPr lang="zh-CN" altLang="zh-CN" sz="1400" b="1" dirty="0">
                <a:latin typeface="Times New Roman" panose="02020603050405020304" pitchFamily="18" charset="0"/>
                <a:ea typeface="楷体_GB2312"/>
                <a:cs typeface="Times New Roman" panose="02020603050405020304" pitchFamily="18" charset="0"/>
              </a:rPr>
              <a:t>被访问次数</a:t>
            </a:r>
            <a:endParaRPr lang="zh-CN" altLang="en-US" sz="1400" dirty="0"/>
          </a:p>
        </p:txBody>
      </p:sp>
      <p:sp>
        <p:nvSpPr>
          <p:cNvPr id="7" name="矩形 6">
            <a:extLst>
              <a:ext uri="{FF2B5EF4-FFF2-40B4-BE49-F238E27FC236}">
                <a16:creationId xmlns:a16="http://schemas.microsoft.com/office/drawing/2014/main" id="{F6554188-11EB-453E-BB5B-A530FD2D36E2}"/>
              </a:ext>
            </a:extLst>
          </p:cNvPr>
          <p:cNvSpPr/>
          <p:nvPr/>
        </p:nvSpPr>
        <p:spPr>
          <a:xfrm>
            <a:off x="606055" y="1452852"/>
            <a:ext cx="5013251" cy="4901598"/>
          </a:xfrm>
          <a:prstGeom prst="rect">
            <a:avLst/>
          </a:prstGeom>
        </p:spPr>
        <p:txBody>
          <a:bodyPr wrap="square">
            <a:spAutoFit/>
          </a:bodyPr>
          <a:lstStyle/>
          <a:p>
            <a:pPr indent="266700" algn="just">
              <a:lnSpc>
                <a:spcPct val="150000"/>
              </a:lnSpc>
              <a:spcAft>
                <a:spcPts val="0"/>
              </a:spcAft>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在图</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(b)</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中，算法随机扩展了</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的子结点</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，将其总分数和被访问次数均初始化为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。注意，为了清晰地展示算法选择扩展的结点，图</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画出了</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的其他未被扩展的子结点，并标记其</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UCB</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值为正无穷大，以表示算法下次访问到</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时必然扩展这些未被扩展的结点。图</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中采用</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随机策略模拟游戏直至完成游戏。当游戏完成时，终局得分为</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50000"/>
              </a:lnSpc>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在图</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(d)</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结点的总分被更新为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，被访问次数被更新为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结点的总分被更新为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13</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，被访问次数被更新为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；根结点的总分被更新为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-18</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，被访问次数被更新为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在更新时，会将</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层结点现有总分加上终局得分分数，</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层结点现有总分减去终局得分分数。</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这是因为在对抗搜索中，玩家</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总是期望最小化终局得分，因此在</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层选择其子结点时，其目标并非选取奖励最大化的子结点，而是选择奖励最小化的结点，为了统一使用</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UCB1</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算法求解，算法将</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层的子结点（即</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层结点）的总分记为其相反数。</a:t>
            </a:r>
          </a:p>
        </p:txBody>
      </p:sp>
      <p:pic>
        <p:nvPicPr>
          <p:cNvPr id="10" name="图片 9">
            <a:extLst>
              <a:ext uri="{FF2B5EF4-FFF2-40B4-BE49-F238E27FC236}">
                <a16:creationId xmlns:a16="http://schemas.microsoft.com/office/drawing/2014/main" id="{9781AD71-A057-4078-ABF3-45F0264E8772}"/>
              </a:ext>
            </a:extLst>
          </p:cNvPr>
          <p:cNvPicPr>
            <a:picLocks noChangeAspect="1"/>
          </p:cNvPicPr>
          <p:nvPr/>
        </p:nvPicPr>
        <p:blipFill>
          <a:blip r:embed="rId3"/>
          <a:stretch>
            <a:fillRect/>
          </a:stretch>
        </p:blipFill>
        <p:spPr>
          <a:xfrm>
            <a:off x="6671216" y="2328491"/>
            <a:ext cx="4813547" cy="2632210"/>
          </a:xfrm>
          <a:prstGeom prst="rect">
            <a:avLst/>
          </a:prstGeom>
        </p:spPr>
      </p:pic>
    </p:spTree>
    <p:extLst>
      <p:ext uri="{BB962C8B-B14F-4D97-AF65-F5344CB8AC3E}">
        <p14:creationId xmlns:p14="http://schemas.microsoft.com/office/powerpoint/2010/main" val="19780218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pic>
        <p:nvPicPr>
          <p:cNvPr id="10" name="图片 9">
            <a:extLst>
              <a:ext uri="{FF2B5EF4-FFF2-40B4-BE49-F238E27FC236}">
                <a16:creationId xmlns:a16="http://schemas.microsoft.com/office/drawing/2014/main" id="{87B325A4-DB56-428B-A291-4A63B8CEFF39}"/>
              </a:ext>
            </a:extLst>
          </p:cNvPr>
          <p:cNvPicPr>
            <a:picLocks noChangeAspect="1"/>
          </p:cNvPicPr>
          <p:nvPr/>
        </p:nvPicPr>
        <p:blipFill>
          <a:blip r:embed="rId3"/>
          <a:stretch>
            <a:fillRect/>
          </a:stretch>
        </p:blipFill>
        <p:spPr>
          <a:xfrm>
            <a:off x="2898530" y="1366816"/>
            <a:ext cx="5507255" cy="4269233"/>
          </a:xfrm>
          <a:prstGeom prst="rect">
            <a:avLst/>
          </a:prstGeom>
        </p:spPr>
      </p:pic>
      <p:sp>
        <p:nvSpPr>
          <p:cNvPr id="8" name="矩形 7">
            <a:extLst>
              <a:ext uri="{FF2B5EF4-FFF2-40B4-BE49-F238E27FC236}">
                <a16:creationId xmlns:a16="http://schemas.microsoft.com/office/drawing/2014/main" id="{AC90A08E-F9A2-4859-8B7D-C3B0741E13F0}"/>
              </a:ext>
            </a:extLst>
          </p:cNvPr>
          <p:cNvSpPr/>
          <p:nvPr/>
        </p:nvSpPr>
        <p:spPr>
          <a:xfrm>
            <a:off x="3689907" y="5793268"/>
            <a:ext cx="4640703" cy="584775"/>
          </a:xfrm>
          <a:prstGeom prst="rect">
            <a:avLst/>
          </a:prstGeom>
        </p:spPr>
        <p:txBody>
          <a:bodyPr wrap="square">
            <a:spAutoFit/>
          </a:bodyPr>
          <a:lstStyle/>
          <a:p>
            <a:pPr algn="ctr">
              <a:spcAft>
                <a:spcPts val="0"/>
              </a:spcAft>
            </a:pPr>
            <a:r>
              <a:rPr lang="zh-CN" altLang="en-US" sz="1600" b="1" kern="100" dirty="0">
                <a:latin typeface="Times New Roman" panose="02020603050405020304" pitchFamily="18" charset="0"/>
                <a:ea typeface="楷体_GB2312"/>
                <a:cs typeface="Times New Roman" panose="02020603050405020304" pitchFamily="18" charset="0"/>
              </a:rPr>
              <a:t>图</a:t>
            </a:r>
            <a:r>
              <a:rPr lang="en-US" altLang="zh-CN" sz="1600" b="1" kern="100" dirty="0">
                <a:latin typeface="Times New Roman" panose="02020603050405020304" pitchFamily="18" charset="0"/>
                <a:ea typeface="楷体_GB2312"/>
                <a:cs typeface="Times New Roman" panose="02020603050405020304" pitchFamily="18" charset="0"/>
              </a:rPr>
              <a:t>3.22  </a:t>
            </a:r>
            <a:r>
              <a:rPr lang="zh-CN" altLang="zh-CN" sz="1600" b="1" kern="100" dirty="0">
                <a:latin typeface="Times New Roman" panose="02020603050405020304" pitchFamily="18" charset="0"/>
                <a:ea typeface="楷体_GB2312"/>
                <a:cs typeface="Times New Roman" panose="02020603050405020304" pitchFamily="18" charset="0"/>
              </a:rPr>
              <a:t>一个更复杂的蒙特卡洛树搜索的例子</a:t>
            </a:r>
            <a:r>
              <a:rPr lang="zh-CN" altLang="en-US" sz="1600" b="1" kern="100" dirty="0">
                <a:latin typeface="Times New Roman" panose="02020603050405020304" pitchFamily="18" charset="0"/>
                <a:ea typeface="楷体_GB2312"/>
                <a:cs typeface="Times New Roman" panose="02020603050405020304" pitchFamily="18" charset="0"/>
              </a:rPr>
              <a:t>（</a:t>
            </a:r>
            <a:r>
              <a:rPr lang="en-US" altLang="zh-CN" sz="1600" b="1" kern="100" dirty="0">
                <a:latin typeface="Times New Roman" panose="02020603050405020304" pitchFamily="18" charset="0"/>
                <a:ea typeface="楷体_GB2312"/>
                <a:cs typeface="Times New Roman" panose="02020603050405020304" pitchFamily="18" charset="0"/>
              </a:rPr>
              <a:t>UCB</a:t>
            </a:r>
            <a:r>
              <a:rPr lang="zh-CN" altLang="zh-CN" sz="1600" b="1" kern="100" dirty="0">
                <a:latin typeface="Times New Roman" panose="02020603050405020304" pitchFamily="18" charset="0"/>
                <a:ea typeface="楷体_GB2312"/>
                <a:cs typeface="Times New Roman" panose="02020603050405020304" pitchFamily="18" charset="0"/>
              </a:rPr>
              <a:t>值在对应结点边用红色字体标出</a:t>
            </a:r>
            <a:r>
              <a:rPr lang="zh-CN" altLang="en-US" sz="1600" b="1" kern="100" dirty="0">
                <a:latin typeface="Times New Roman" panose="02020603050405020304" pitchFamily="18" charset="0"/>
                <a:ea typeface="楷体_GB2312"/>
                <a:cs typeface="Times New Roman" panose="02020603050405020304" pitchFamily="18" charset="0"/>
              </a:rPr>
              <a:t>）</a:t>
            </a:r>
            <a:endParaRPr lang="zh-CN" alt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661589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蒙特卡洛树搜索</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pic>
        <p:nvPicPr>
          <p:cNvPr id="6" name="图片 5">
            <a:extLst>
              <a:ext uri="{FF2B5EF4-FFF2-40B4-BE49-F238E27FC236}">
                <a16:creationId xmlns:a16="http://schemas.microsoft.com/office/drawing/2014/main" id="{F8129C3C-B381-4370-8D02-2D6BAA8C93F6}"/>
              </a:ext>
            </a:extLst>
          </p:cNvPr>
          <p:cNvPicPr>
            <a:picLocks noChangeAspect="1"/>
          </p:cNvPicPr>
          <p:nvPr/>
        </p:nvPicPr>
        <p:blipFill>
          <a:blip r:embed="rId3"/>
          <a:stretch>
            <a:fillRect/>
          </a:stretch>
        </p:blipFill>
        <p:spPr>
          <a:xfrm>
            <a:off x="1064207" y="2007026"/>
            <a:ext cx="4651614" cy="3524431"/>
          </a:xfrm>
          <a:prstGeom prst="rect">
            <a:avLst/>
          </a:prstGeom>
        </p:spPr>
      </p:pic>
      <p:pic>
        <p:nvPicPr>
          <p:cNvPr id="12" name="图片 11">
            <a:extLst>
              <a:ext uri="{FF2B5EF4-FFF2-40B4-BE49-F238E27FC236}">
                <a16:creationId xmlns:a16="http://schemas.microsoft.com/office/drawing/2014/main" id="{346351E0-B673-4CCE-A93D-F47B6112A1D7}"/>
              </a:ext>
            </a:extLst>
          </p:cNvPr>
          <p:cNvPicPr>
            <a:picLocks noChangeAspect="1"/>
          </p:cNvPicPr>
          <p:nvPr/>
        </p:nvPicPr>
        <p:blipFill>
          <a:blip r:embed="rId4"/>
          <a:stretch>
            <a:fillRect/>
          </a:stretch>
        </p:blipFill>
        <p:spPr>
          <a:xfrm>
            <a:off x="5897030" y="1366284"/>
            <a:ext cx="3912287" cy="4017291"/>
          </a:xfrm>
          <a:prstGeom prst="rect">
            <a:avLst/>
          </a:prstGeom>
        </p:spPr>
      </p:pic>
      <p:pic>
        <p:nvPicPr>
          <p:cNvPr id="13" name="图片 12">
            <a:extLst>
              <a:ext uri="{FF2B5EF4-FFF2-40B4-BE49-F238E27FC236}">
                <a16:creationId xmlns:a16="http://schemas.microsoft.com/office/drawing/2014/main" id="{5910E53E-D08E-4B20-9FCE-E01109B7D752}"/>
              </a:ext>
            </a:extLst>
          </p:cNvPr>
          <p:cNvPicPr>
            <a:picLocks noChangeAspect="1"/>
          </p:cNvPicPr>
          <p:nvPr/>
        </p:nvPicPr>
        <p:blipFill>
          <a:blip r:embed="rId5"/>
          <a:stretch>
            <a:fillRect/>
          </a:stretch>
        </p:blipFill>
        <p:spPr>
          <a:xfrm>
            <a:off x="5952461" y="5313490"/>
            <a:ext cx="3912288" cy="1133533"/>
          </a:xfrm>
          <a:prstGeom prst="rect">
            <a:avLst/>
          </a:prstGeom>
        </p:spPr>
      </p:pic>
    </p:spTree>
    <p:extLst>
      <p:ext uri="{BB962C8B-B14F-4D97-AF65-F5344CB8AC3E}">
        <p14:creationId xmlns:p14="http://schemas.microsoft.com/office/powerpoint/2010/main" val="39957431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实验：</a:t>
              </a:r>
              <a:r>
                <a:rPr lang="zh-CN" altLang="zh-CN" sz="1800" b="1" dirty="0">
                  <a:effectLst/>
                  <a:latin typeface="Times New Roman" panose="02020603050405020304" pitchFamily="18" charset="0"/>
                  <a:ea typeface="楷体" panose="02010609060101010101" pitchFamily="49" charset="-122"/>
                  <a:cs typeface="Times New Roman" panose="02020603050405020304" pitchFamily="18" charset="0"/>
                </a:rPr>
                <a:t>黑白棋（</a:t>
              </a:r>
              <a:r>
                <a:rPr lang="en-US" altLang="zh-CN" sz="1800" b="1" dirty="0">
                  <a:effectLst/>
                  <a:latin typeface="Times New Roman" panose="02020603050405020304" pitchFamily="18" charset="0"/>
                  <a:ea typeface="楷体" panose="02010609060101010101" pitchFamily="49" charset="-122"/>
                </a:rPr>
                <a:t>Mini AlphaGo</a:t>
              </a:r>
              <a:r>
                <a:rPr lang="zh-CN" altLang="zh-CN" sz="1800" b="1"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2210862"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a:t>
            </a:r>
            <a:r>
              <a:rPr lang="zh-CN" altLang="zh-CN" dirty="0"/>
              <a:t>蒙特卡洛树搜索</a:t>
            </a:r>
            <a:endParaRPr lang="zh-CN" altLang="en-US" sz="1600" dirty="0">
              <a:solidFill>
                <a:srgbClr val="000000"/>
              </a:solidFill>
              <a:latin typeface="Times New Roman" panose="02020603050405020304" pitchFamily="18" charset="0"/>
            </a:endParaRPr>
          </a:p>
        </p:txBody>
      </p:sp>
      <p:sp>
        <p:nvSpPr>
          <p:cNvPr id="7" name="Rectangle 2">
            <a:extLst>
              <a:ext uri="{FF2B5EF4-FFF2-40B4-BE49-F238E27FC236}">
                <a16:creationId xmlns:a16="http://schemas.microsoft.com/office/drawing/2014/main" id="{26541C0D-DF6C-96B7-1E51-70AFB61B09E8}"/>
              </a:ext>
            </a:extLst>
          </p:cNvPr>
          <p:cNvSpPr>
            <a:spLocks noChangeArrowheads="1"/>
          </p:cNvSpPr>
          <p:nvPr/>
        </p:nvSpPr>
        <p:spPr bwMode="auto">
          <a:xfrm>
            <a:off x="409243" y="3607287"/>
            <a:ext cx="104778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1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图片 32">
            <a:extLst>
              <a:ext uri="{FF2B5EF4-FFF2-40B4-BE49-F238E27FC236}">
                <a16:creationId xmlns:a16="http://schemas.microsoft.com/office/drawing/2014/main" id="{24C8422D-B7AA-8AE4-91A3-1CE68DDDD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9067" y="3429000"/>
            <a:ext cx="1914525" cy="1743075"/>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7186208F-BAE6-1E27-AEE5-ADD012E3C7D1}"/>
              </a:ext>
            </a:extLst>
          </p:cNvPr>
          <p:cNvSpPr txBox="1"/>
          <p:nvPr/>
        </p:nvSpPr>
        <p:spPr>
          <a:xfrm>
            <a:off x="852473" y="1148037"/>
            <a:ext cx="6096000" cy="5678478"/>
          </a:xfrm>
          <a:prstGeom prst="rect">
            <a:avLst/>
          </a:prstGeom>
          <a:noFill/>
        </p:spPr>
        <p:txBody>
          <a:bodyPr wrap="square">
            <a:spAutoFit/>
          </a:bodyPr>
          <a:lstStyle/>
          <a:p>
            <a:r>
              <a:rPr lang="zh-CN" altLang="en-US" sz="1100" b="1" dirty="0"/>
              <a:t>实验内容：</a:t>
            </a:r>
          </a:p>
          <a:p>
            <a:r>
              <a:rPr lang="zh-CN" altLang="en-US" sz="1100" dirty="0"/>
              <a:t>黑白棋</a:t>
            </a:r>
            <a:r>
              <a:rPr lang="en-US" altLang="zh-CN" sz="1100" dirty="0"/>
              <a:t>(</a:t>
            </a:r>
            <a:r>
              <a:rPr lang="en-US" altLang="zh-CN" sz="1100" dirty="0" err="1"/>
              <a:t>Reversi</a:t>
            </a:r>
            <a:r>
              <a:rPr lang="en-US" altLang="zh-CN" sz="1100" dirty="0"/>
              <a:t>)</a:t>
            </a:r>
            <a:r>
              <a:rPr lang="zh-CN" altLang="en-US" sz="1100" dirty="0"/>
              <a:t>，也叫苹果棋，翻转棋，是一个经典的策略性游戏。一般棋子双面为黑白两色，故称“黑白棋”。因为行棋之时将对方棋子翻转，变为己方棋子，故又称“翻转棋”</a:t>
            </a:r>
            <a:r>
              <a:rPr lang="en-US" altLang="zh-CN" sz="1100" dirty="0"/>
              <a:t>(</a:t>
            </a:r>
            <a:r>
              <a:rPr lang="en-US" altLang="zh-CN" sz="1100" dirty="0" err="1"/>
              <a:t>Reversi</a:t>
            </a:r>
            <a:r>
              <a:rPr lang="en-US" altLang="zh-CN" sz="1100" dirty="0"/>
              <a:t>)</a:t>
            </a:r>
            <a:r>
              <a:rPr lang="zh-CN" altLang="en-US" sz="1100" dirty="0"/>
              <a:t>。棋子双面为红、绿色的称为“苹果棋”。它使用</a:t>
            </a:r>
            <a:r>
              <a:rPr lang="en-US" altLang="zh-CN" sz="1100" dirty="0"/>
              <a:t>8x8</a:t>
            </a:r>
            <a:r>
              <a:rPr lang="zh-CN" altLang="en-US" sz="1100" dirty="0"/>
              <a:t>的棋盘</a:t>
            </a:r>
            <a:r>
              <a:rPr lang="en-US" altLang="zh-CN" sz="1100" dirty="0"/>
              <a:t>,</a:t>
            </a:r>
            <a:r>
              <a:rPr lang="zh-CN" altLang="en-US" sz="1100" dirty="0"/>
              <a:t>由两人执黑子和白子轮流下棋，最后子多方为胜方。随着网络的普及，黑白棋作为一种最适合在网上玩的棋类游戏正在逐渐流行起来。中国主要的黑白棋游戏站点有</a:t>
            </a:r>
            <a:r>
              <a:rPr lang="en-US" altLang="zh-CN" sz="1100" dirty="0"/>
              <a:t>Yahoo</a:t>
            </a:r>
            <a:r>
              <a:rPr lang="zh-CN" altLang="en-US" sz="1100" dirty="0"/>
              <a:t>游戏、中国游戏网、联众游戏等。</a:t>
            </a:r>
            <a:endParaRPr lang="en-US" altLang="zh-CN" sz="1100" dirty="0"/>
          </a:p>
          <a:p>
            <a:r>
              <a:rPr lang="zh-CN" altLang="en-US" sz="1100" b="1" dirty="0"/>
              <a:t>游戏规则</a:t>
            </a:r>
            <a:r>
              <a:rPr lang="zh-CN" altLang="en-US" sz="1100" dirty="0"/>
              <a:t>：</a:t>
            </a:r>
            <a:endParaRPr lang="en-US" altLang="zh-CN" sz="1100" dirty="0"/>
          </a:p>
          <a:p>
            <a:r>
              <a:rPr lang="zh-CN" altLang="en-US" sz="1100" dirty="0"/>
              <a:t>棋局开始时黑棋位于</a:t>
            </a:r>
            <a:r>
              <a:rPr lang="en-US" altLang="zh-CN" sz="1100" dirty="0"/>
              <a:t>e4</a:t>
            </a:r>
            <a:r>
              <a:rPr lang="zh-CN" altLang="en-US" sz="1100" dirty="0"/>
              <a:t>和</a:t>
            </a:r>
            <a:r>
              <a:rPr lang="en-US" altLang="zh-CN" sz="1100" dirty="0"/>
              <a:t>d5</a:t>
            </a:r>
            <a:r>
              <a:rPr lang="zh-CN" altLang="en-US" sz="1100" dirty="0"/>
              <a:t>，白棋位于</a:t>
            </a:r>
            <a:r>
              <a:rPr lang="en-US" altLang="zh-CN" sz="1100" dirty="0"/>
              <a:t>d4</a:t>
            </a:r>
            <a:r>
              <a:rPr lang="zh-CN" altLang="en-US" sz="1100" dirty="0"/>
              <a:t>和</a:t>
            </a:r>
            <a:r>
              <a:rPr lang="en-US" altLang="zh-CN" sz="1100" dirty="0"/>
              <a:t>e5</a:t>
            </a:r>
            <a:r>
              <a:rPr lang="zh-CN" altLang="en-US" sz="1100" dirty="0"/>
              <a:t>，如图所示。</a:t>
            </a:r>
          </a:p>
          <a:p>
            <a:pPr marL="228600" indent="-228600">
              <a:buFont typeface="+mj-lt"/>
              <a:buAutoNum type="arabicPeriod"/>
            </a:pPr>
            <a:r>
              <a:rPr lang="zh-CN" altLang="en-US" sz="1100" dirty="0"/>
              <a:t>黑方先行，双方交替下棋。</a:t>
            </a:r>
            <a:endParaRPr lang="en-US" altLang="zh-CN" sz="1100" dirty="0"/>
          </a:p>
          <a:p>
            <a:pPr marL="228600" indent="-228600">
              <a:buFont typeface="+mj-lt"/>
              <a:buAutoNum type="arabicPeriod"/>
            </a:pPr>
            <a:r>
              <a:rPr lang="zh-CN" altLang="en-US" sz="1100" dirty="0"/>
              <a:t>一步合法的棋步包括：在一个空格新落下一个棋子，并且翻转对手一个或多个棋子。</a:t>
            </a:r>
            <a:endParaRPr lang="en-US" altLang="zh-CN" sz="1100" dirty="0"/>
          </a:p>
          <a:p>
            <a:pPr marL="228600" indent="-228600">
              <a:buFont typeface="+mj-lt"/>
              <a:buAutoNum type="arabicPeriod"/>
            </a:pPr>
            <a:r>
              <a:rPr lang="zh-CN" altLang="en-US" sz="1100" dirty="0"/>
              <a:t>新落下的棋子与棋盘上已有的同色棋子间，对方被夹住的所有棋子都要翻转过来。可以是横着夹，竖着夹，或是斜着夹。夹住的位置上必须全部是对手的棋子，不能有空格。</a:t>
            </a:r>
            <a:endParaRPr lang="en-US" altLang="zh-CN" sz="1100" dirty="0"/>
          </a:p>
          <a:p>
            <a:pPr marL="228600" indent="-228600">
              <a:buFont typeface="+mj-lt"/>
              <a:buAutoNum type="arabicPeriod"/>
            </a:pPr>
            <a:r>
              <a:rPr lang="zh-CN" altLang="en-US" sz="1100" dirty="0"/>
              <a:t>一步棋可以在数个（横向，纵向，对角线）方向上翻棋，任何被夹住的棋子都必须被翻转过来，棋手无权选择不去翻某个棋子。</a:t>
            </a:r>
            <a:endParaRPr lang="en-US" altLang="zh-CN" sz="1100" dirty="0"/>
          </a:p>
          <a:p>
            <a:pPr marL="228600" indent="-228600">
              <a:buFont typeface="+mj-lt"/>
              <a:buAutoNum type="arabicPeriod"/>
            </a:pPr>
            <a:r>
              <a:rPr lang="zh-CN" altLang="en-US" sz="1100" dirty="0"/>
              <a:t>除非至少翻转了对手的一个棋子，否则就不能落子。如果一方没有合法棋步，也就是说不管他下到哪里，都不能至少翻转对手的一个棋子，那他这一轮只能弃权，而由他的对手继续落子直到他有合法棋步可下。</a:t>
            </a:r>
            <a:endParaRPr lang="en-US" altLang="zh-CN" sz="1100" dirty="0"/>
          </a:p>
          <a:p>
            <a:pPr marL="228600" indent="-228600">
              <a:buFont typeface="+mj-lt"/>
              <a:buAutoNum type="arabicPeriod"/>
            </a:pPr>
            <a:r>
              <a:rPr lang="zh-CN" altLang="en-US" sz="1100" dirty="0"/>
              <a:t>如果一方至少有一步合法棋步可下，他就必须落子，不得弃权。</a:t>
            </a:r>
            <a:endParaRPr lang="en-US" altLang="zh-CN" sz="1100" dirty="0"/>
          </a:p>
          <a:p>
            <a:pPr marL="228600" indent="-228600">
              <a:buFont typeface="+mj-lt"/>
              <a:buAutoNum type="arabicPeriod"/>
            </a:pPr>
            <a:r>
              <a:rPr lang="zh-CN" altLang="en-US" sz="1100" dirty="0"/>
              <a:t>棋局持续下去，直到棋盘填满或者双方都无合法棋步可下。</a:t>
            </a:r>
            <a:endParaRPr lang="en-US" altLang="zh-CN" sz="1100" dirty="0"/>
          </a:p>
          <a:p>
            <a:pPr marL="228600" indent="-228600">
              <a:buFont typeface="+mj-lt"/>
              <a:buAutoNum type="arabicPeriod"/>
            </a:pPr>
            <a:r>
              <a:rPr lang="zh-CN" altLang="en-US" sz="1100" dirty="0"/>
              <a:t>如果某一方落子时间超过</a:t>
            </a:r>
            <a:r>
              <a:rPr lang="en-US" altLang="zh-CN" sz="1100" dirty="0"/>
              <a:t>1</a:t>
            </a:r>
            <a:r>
              <a:rPr lang="zh-CN" altLang="en-US" sz="1100" dirty="0"/>
              <a:t>分钟，则判该方失败。</a:t>
            </a:r>
          </a:p>
          <a:p>
            <a:r>
              <a:rPr lang="zh-CN" altLang="en-US" sz="1100" b="1" dirty="0"/>
              <a:t>实验要求：</a:t>
            </a:r>
          </a:p>
          <a:p>
            <a:pPr marL="228600" indent="-228600">
              <a:buFont typeface="+mj-lt"/>
              <a:buAutoNum type="arabicPeriod"/>
            </a:pPr>
            <a:r>
              <a:rPr lang="zh-CN" altLang="en-US" sz="1100" dirty="0"/>
              <a:t>使用</a:t>
            </a:r>
            <a:r>
              <a:rPr lang="en-US" altLang="zh-CN" sz="1100" dirty="0"/>
              <a:t>MCTS</a:t>
            </a:r>
            <a:r>
              <a:rPr lang="zh-CN" altLang="en-US" sz="1100" dirty="0"/>
              <a:t>算法实现</a:t>
            </a:r>
            <a:r>
              <a:rPr lang="en-US" altLang="zh-CN" sz="1100" dirty="0"/>
              <a:t>Mini AlphaGo for </a:t>
            </a:r>
            <a:r>
              <a:rPr lang="en-US" altLang="zh-CN" sz="1100" dirty="0" err="1"/>
              <a:t>Reversi</a:t>
            </a:r>
            <a:endParaRPr lang="en-US" altLang="zh-CN" sz="1100" dirty="0"/>
          </a:p>
          <a:p>
            <a:pPr marL="228600" indent="-228600">
              <a:buFont typeface="+mj-lt"/>
              <a:buAutoNum type="arabicPeriod"/>
            </a:pPr>
            <a:r>
              <a:rPr lang="en-US" altLang="zh-CN" sz="1100" dirty="0"/>
              <a:t>MCTS</a:t>
            </a:r>
            <a:r>
              <a:rPr lang="zh-CN" altLang="en-US" sz="1100" dirty="0"/>
              <a:t>算法部分需要自己实现，尽量不使用现成的包，工具或者接口</a:t>
            </a:r>
            <a:endParaRPr lang="en-US" altLang="zh-CN" sz="1100" dirty="0"/>
          </a:p>
          <a:p>
            <a:pPr marL="228600" indent="-228600">
              <a:buFont typeface="+mj-lt"/>
              <a:buAutoNum type="arabicPeriod"/>
            </a:pPr>
            <a:r>
              <a:rPr lang="zh-CN" altLang="en-US" sz="1100" dirty="0"/>
              <a:t>在博弈过程中，</a:t>
            </a:r>
            <a:r>
              <a:rPr lang="en-US" altLang="zh-CN" sz="1100" dirty="0"/>
              <a:t>Mini AlphaGo</a:t>
            </a:r>
            <a:r>
              <a:rPr lang="zh-CN" altLang="en-US" sz="1100" dirty="0"/>
              <a:t>每一步所花费的时间以及总时间需要显示出来</a:t>
            </a:r>
            <a:endParaRPr lang="en-US" altLang="zh-CN" sz="1100" dirty="0"/>
          </a:p>
          <a:p>
            <a:pPr marL="228600" indent="-228600">
              <a:buFont typeface="+mj-lt"/>
              <a:buAutoNum type="arabicPeriod"/>
            </a:pPr>
            <a:r>
              <a:rPr lang="zh-CN" altLang="en-US" sz="1100" dirty="0"/>
              <a:t>需要有简单的图形界面用于人机博弈交互</a:t>
            </a:r>
            <a:endParaRPr lang="en-US" altLang="zh-CN" sz="1100" dirty="0"/>
          </a:p>
          <a:p>
            <a:pPr marL="228600" indent="-228600">
              <a:buFont typeface="+mj-lt"/>
              <a:buAutoNum type="arabicPeriod"/>
            </a:pPr>
            <a:r>
              <a:rPr lang="zh-CN" altLang="en-US" sz="1100" dirty="0"/>
              <a:t>使用</a:t>
            </a:r>
            <a:r>
              <a:rPr lang="en-US" altLang="zh-CN" sz="1100" dirty="0"/>
              <a:t>Python</a:t>
            </a:r>
            <a:r>
              <a:rPr lang="zh-CN" altLang="en-US" sz="1100" dirty="0"/>
              <a:t>语言</a:t>
            </a:r>
          </a:p>
          <a:p>
            <a:r>
              <a:rPr lang="zh-CN" altLang="en-US" sz="1100" b="1" dirty="0"/>
              <a:t>参考资料：</a:t>
            </a:r>
          </a:p>
          <a:p>
            <a:pPr marL="228600" indent="-228600">
              <a:buAutoNum type="arabicPeriod"/>
            </a:pPr>
            <a:r>
              <a:rPr lang="en-US" altLang="zh-CN" sz="1100" dirty="0"/>
              <a:t>Python:  </a:t>
            </a:r>
            <a:r>
              <a:rPr lang="en-US" altLang="zh-CN" sz="1100" dirty="0">
                <a:hlinkClick r:id="rId4"/>
              </a:rPr>
              <a:t>https://www.runoob.com/python3/python3-tutorial.html</a:t>
            </a:r>
            <a:endParaRPr lang="en-US" altLang="zh-CN" sz="1100" dirty="0"/>
          </a:p>
          <a:p>
            <a:r>
              <a:rPr lang="zh-CN" altLang="en-US" sz="1100" b="1" dirty="0"/>
              <a:t>提交事项：</a:t>
            </a:r>
            <a:endParaRPr lang="en-US" altLang="zh-CN" sz="1100" b="1" dirty="0"/>
          </a:p>
          <a:p>
            <a:pPr marL="228600" indent="-228600">
              <a:buFontTx/>
              <a:buAutoNum type="arabicPeriod"/>
            </a:pPr>
            <a:r>
              <a:rPr lang="zh-CN" altLang="en-US" sz="1100" dirty="0"/>
              <a:t>提交时间：</a:t>
            </a:r>
            <a:r>
              <a:rPr lang="en-US" altLang="zh-CN" sz="1100" dirty="0"/>
              <a:t>2025</a:t>
            </a:r>
            <a:r>
              <a:rPr lang="zh-CN" altLang="en-US" sz="1100" dirty="0"/>
              <a:t> 年</a:t>
            </a:r>
            <a:r>
              <a:rPr lang="en-US" altLang="zh-CN" sz="1100" dirty="0"/>
              <a:t>10</a:t>
            </a:r>
            <a:r>
              <a:rPr lang="zh-CN" altLang="en-US" sz="1100" dirty="0"/>
              <a:t>月</a:t>
            </a:r>
            <a:r>
              <a:rPr lang="en-US" altLang="zh-CN" sz="1100" dirty="0"/>
              <a:t>18</a:t>
            </a:r>
            <a:r>
              <a:rPr lang="zh-CN" altLang="en-US" sz="1100" dirty="0"/>
              <a:t> 日</a:t>
            </a:r>
            <a:r>
              <a:rPr lang="en-US" altLang="zh-CN" sz="1100" dirty="0"/>
              <a:t>24</a:t>
            </a:r>
            <a:r>
              <a:rPr lang="zh-CN" altLang="en-US" sz="1100" dirty="0"/>
              <a:t>：</a:t>
            </a:r>
            <a:r>
              <a:rPr lang="en-US" altLang="zh-CN" sz="1100" dirty="0"/>
              <a:t>00</a:t>
            </a:r>
          </a:p>
          <a:p>
            <a:pPr marL="228600" indent="-228600">
              <a:buAutoNum type="arabicPeriod"/>
            </a:pPr>
            <a:r>
              <a:rPr lang="zh-CN" altLang="en-US" sz="1100" dirty="0"/>
              <a:t>提交内容：源代码和报告（</a:t>
            </a:r>
            <a:r>
              <a:rPr lang="zh-CN" altLang="en-US" sz="1100" dirty="0">
                <a:solidFill>
                  <a:srgbClr val="FF0000"/>
                </a:solidFill>
              </a:rPr>
              <a:t>禁止抄袭！</a:t>
            </a:r>
            <a:r>
              <a:rPr lang="zh-CN" altLang="en-US" sz="1100" dirty="0"/>
              <a:t>）</a:t>
            </a:r>
            <a:endParaRPr lang="en-US" altLang="zh-CN" sz="1100" dirty="0"/>
          </a:p>
          <a:p>
            <a:pPr marL="228600" indent="-228600">
              <a:buFontTx/>
              <a:buAutoNum type="arabicPeriod"/>
            </a:pPr>
            <a:r>
              <a:rPr lang="zh-CN" altLang="en-US" sz="1100" dirty="0"/>
              <a:t>提交邮箱：</a:t>
            </a:r>
            <a:r>
              <a:rPr lang="en-US" altLang="zh-CN" sz="1100" dirty="0">
                <a:hlinkClick r:id="rId5"/>
              </a:rPr>
              <a:t>23020251154393@stu.xmu.edu.cn</a:t>
            </a:r>
            <a:r>
              <a:rPr lang="zh-CN" altLang="en-US" sz="1100" dirty="0"/>
              <a:t>（助教邮箱）</a:t>
            </a:r>
          </a:p>
        </p:txBody>
      </p:sp>
    </p:spTree>
    <p:extLst>
      <p:ext uri="{BB962C8B-B14F-4D97-AF65-F5344CB8AC3E}">
        <p14:creationId xmlns:p14="http://schemas.microsoft.com/office/powerpoint/2010/main" val="13902407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4478" y="721520"/>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690318" y="1525165"/>
            <a:ext cx="11106170" cy="3970318"/>
          </a:xfrm>
          <a:prstGeom prst="rect">
            <a:avLst/>
          </a:prstGeom>
        </p:spPr>
        <p:txBody>
          <a:bodyPr wrap="square">
            <a:spAutoFit/>
          </a:bodyPr>
          <a:lstStyle/>
          <a:p>
            <a:r>
              <a:rPr lang="zh-CN" altLang="en-US"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香农之数</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：在象棋比赛中，深蓝需要判断某一时刻棋局落子对整个棋局胜负会带来怎样的影响。由于可选棋局众多，尽管深蓝平均每秒能够对</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亿个棋局进行判断评估，还是无法在规定时间内计算得到当前棋局对胜负的潜在影响。</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1950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年，香农（</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Claud Shannon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）发表了一篇有关国际象棋编程的论文。在这篇论文中，香农估算国际象棋比赛中落子选择从第一次移动时的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种会增加到第二次移动时的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种，在第六次移动时可能的落子选择达到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1.19</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亿种。香农甚至估算认为国际象棋的落子总数为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120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次方种，远远超出了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82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次方这一宇宙原子总数，这就是</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国际象棋中“组合爆炸”难题</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剪枝</a:t>
            </a:r>
            <a:r>
              <a:rPr lang="en-US"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眼不见心不烦</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：为了从海量可能落子中选择一种合适落子，以克服组合爆炸挑战，深蓝采用了由</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1971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年</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图灵奖获得者约翰</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麦卡锡 </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 John McCarthy )</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发明的“阿尔法</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贝塔（</a:t>
            </a: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）”剪枝搜索算法</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上帝之落子</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2016</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AlphaGo</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在首尔以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比分战胜了李世石。李世石在第四局</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78</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步给出了惊人落子，扭转了乾坤。</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AlphaGo</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无法应对李世石这一步神来落子是搜索算法固有存在地平线问题（</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horizon problem</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）所致，即搜索算法无法看到远方地平线以下的景象。这可理解为“计算机暴力搜索计算”与“人类直觉顿悟”之间的差异，突破地平线之困依靠搜索之能还相距甚远。</a:t>
            </a:r>
            <a:endParaRPr lang="zh-CN"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5724644"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突破组合爆炸之难与陷入地平线问题之困</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5562" t="4128"/>
          <a:stretch>
            <a:fillRect/>
          </a:stretch>
        </p:blipFill>
        <p:spPr>
          <a:xfrm>
            <a:off x="-90435" y="1106467"/>
            <a:ext cx="9918849" cy="5280387"/>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lt1"/>
              </a:solidFill>
            </a:endParaRPr>
          </a:p>
        </p:txBody>
      </p:sp>
      <p:sp>
        <p:nvSpPr>
          <p:cNvPr id="7" name="矩形 6"/>
          <p:cNvSpPr/>
          <p:nvPr/>
        </p:nvSpPr>
        <p:spPr>
          <a:xfrm>
            <a:off x="1406304" y="1991829"/>
            <a:ext cx="9818367" cy="3507948"/>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微软雅黑" panose="020B0503020204020204" pitchFamily="34" charset="-122"/>
                <a:ea typeface="微软雅黑" panose="020B0503020204020204" pitchFamily="34" charset="-122"/>
              </a:rPr>
              <a:t>根据所设定问题，直接从搜索空间中寻找符合条件的答案。如果搜索空间较大，则需要采取剪枝和采样等手段，前者与搜索树结点出现的位置次序有关、后者则需要对可能结点进行大量仿真模拟。</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zh-CN"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搜索是人工智能智能能力体现的一种手段，匹配式搜索与数据采样式学习相互结合，使得搜索超越了传统匹配计算模式。</a:t>
            </a:r>
          </a:p>
          <a:p>
            <a:pPr>
              <a:lnSpc>
                <a:spcPct val="200000"/>
              </a:lnSpc>
              <a:buClr>
                <a:schemeClr val="bg1"/>
              </a:buClr>
              <a:buSzPct val="80000"/>
            </a:pPr>
            <a:endParaRPr lang="zh-CN" altLang="zh-CN" sz="2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12233</TotalTime>
  <Words>11711</Words>
  <Application>Microsoft Office PowerPoint</Application>
  <PresentationFormat>宽屏</PresentationFormat>
  <Paragraphs>765</Paragraphs>
  <Slides>59</Slides>
  <Notes>56</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59</vt:i4>
      </vt:variant>
    </vt:vector>
  </HeadingPairs>
  <TitlesOfParts>
    <vt:vector size="79" baseType="lpstr">
      <vt:lpstr>Inter</vt:lpstr>
      <vt:lpstr>等线</vt:lpstr>
      <vt:lpstr>等线 Light</vt:lpstr>
      <vt:lpstr>方正美黑简体</vt:lpstr>
      <vt:lpstr>方正颜宋简体_大</vt:lpstr>
      <vt:lpstr>方正颜宋简体_中</vt:lpstr>
      <vt:lpstr>黑体</vt:lpstr>
      <vt:lpstr>华文楷体</vt:lpstr>
      <vt:lpstr>华文中宋</vt:lpstr>
      <vt:lpstr>楷体</vt:lpstr>
      <vt:lpstr>微软雅黑</vt:lpstr>
      <vt:lpstr>Arial</vt:lpstr>
      <vt:lpstr>Bauhaus 93</vt:lpstr>
      <vt:lpstr>Calibri</vt:lpstr>
      <vt:lpstr>Cambria</vt:lpstr>
      <vt:lpstr>Cambria Math</vt:lpstr>
      <vt:lpstr>Times New Roman</vt:lpstr>
      <vt:lpstr>Wingdings</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632</cp:revision>
  <dcterms:created xsi:type="dcterms:W3CDTF">2023-07-27T09:00:19Z</dcterms:created>
  <dcterms:modified xsi:type="dcterms:W3CDTF">2026-07-15T10:39:45Z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