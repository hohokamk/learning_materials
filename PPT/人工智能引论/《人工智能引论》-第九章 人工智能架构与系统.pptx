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63" r:id="rId4"/>
    <p:sldId id="258" r:id="rId5"/>
    <p:sldId id="273" r:id="rId6"/>
    <p:sldId id="2076139278" r:id="rId7"/>
    <p:sldId id="2076139279" r:id="rId8"/>
    <p:sldId id="2076139280" r:id="rId9"/>
    <p:sldId id="2076139288" r:id="rId10"/>
    <p:sldId id="2076139265" r:id="rId11"/>
    <p:sldId id="2076139266" r:id="rId12"/>
    <p:sldId id="2076139282" r:id="rId13"/>
    <p:sldId id="2076139283" r:id="rId14"/>
    <p:sldId id="2076139281" r:id="rId15"/>
    <p:sldId id="2076139267" r:id="rId16"/>
    <p:sldId id="2076139284" r:id="rId17"/>
    <p:sldId id="2076139268" r:id="rId18"/>
    <p:sldId id="2076139292" r:id="rId19"/>
    <p:sldId id="2076139286" r:id="rId20"/>
    <p:sldId id="2076139287" r:id="rId21"/>
    <p:sldId id="2076139269" r:id="rId22"/>
    <p:sldId id="2076139285" r:id="rId23"/>
    <p:sldId id="2076139270" r:id="rId24"/>
    <p:sldId id="2076139289" r:id="rId25"/>
    <p:sldId id="2076139271" r:id="rId26"/>
    <p:sldId id="2076139272" r:id="rId27"/>
    <p:sldId id="2076139293" r:id="rId28"/>
    <p:sldId id="2076139290" r:id="rId29"/>
    <p:sldId id="2076139291" r:id="rId30"/>
    <p:sldId id="2076139273" r:id="rId31"/>
    <p:sldId id="2076139274" r:id="rId32"/>
    <p:sldId id="2076139276" r:id="rId33"/>
    <p:sldId id="2076139294" r:id="rId34"/>
    <p:sldId id="264" r:id="rId35"/>
    <p:sldId id="2076139277" r:id="rId36"/>
    <p:sldId id="269" r:id="rId37"/>
    <p:sldId id="27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1675" autoAdjust="0"/>
  </p:normalViewPr>
  <p:slideViewPr>
    <p:cSldViewPr snapToGrid="0">
      <p:cViewPr varScale="1">
        <p:scale>
          <a:sx n="90" d="100"/>
          <a:sy n="90" d="100"/>
        </p:scale>
        <p:origin x="1080" y="90"/>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823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1512138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2554202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3184304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2755087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2487934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1575127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4099974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3657603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41249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565965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参数服务器</a:t>
            </a:r>
            <a:r>
              <a:rPr lang="zh-CN" altLang="en-US" sz="1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节点可以向参数存储节点发送梯度更新，参数存储节点根据接收到的梯度更新对参数进行更新，并将更新后的参数广播给其他计算节点。参数服务器的优点是计算节点之间的同步和通信开销较低，缺点是参数存储节点的网络通信压力较大。</a:t>
            </a:r>
            <a:endParaRPr lang="en-US"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在进行全局归约操作时，数据通过环形路径在节点之间传递，每个节点对接收到的数据进行局部归约操作，然后将结果传递给下一个节点，直到最终结果回到起始节点。通过使用环形路径进行通信，</a:t>
            </a:r>
            <a:r>
              <a:rPr lang="en-US"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Ring </a:t>
            </a:r>
            <a:r>
              <a:rPr lang="en-US" altLang="zh-CN" sz="12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AllReduce</a:t>
            </a:r>
            <a:r>
              <a:rPr lang="zh-CN"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可以实现高效的数据交换和归约操作，保证计算节点之间的网络负载均衡，集群内网络利用率高。</a:t>
            </a:r>
            <a:endParaRPr lang="en-US" altLang="zh-CN" sz="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1539623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507628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2523685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22222"/>
                </a:solidFill>
                <a:effectLst/>
                <a:latin typeface="arial" panose="020B0604020202020204" pitchFamily="34" charset="0"/>
              </a:rPr>
              <a:t>截至</a:t>
            </a:r>
            <a:r>
              <a:rPr lang="en-US" altLang="zh-CN" b="0" i="0" dirty="0">
                <a:solidFill>
                  <a:srgbClr val="222222"/>
                </a:solidFill>
                <a:effectLst/>
                <a:latin typeface="arial" panose="020B0604020202020204" pitchFamily="34" charset="0"/>
              </a:rPr>
              <a:t>2024</a:t>
            </a:r>
            <a:r>
              <a:rPr lang="zh-CN" altLang="en-US" b="0" i="0" dirty="0">
                <a:solidFill>
                  <a:srgbClr val="222222"/>
                </a:solidFill>
                <a:effectLst/>
                <a:latin typeface="arial" panose="020B0604020202020204" pitchFamily="34" charset="0"/>
              </a:rPr>
              <a:t>年底，我国算力总规模达</a:t>
            </a:r>
            <a:r>
              <a:rPr lang="en-US" altLang="zh-CN" b="0" i="0" dirty="0">
                <a:solidFill>
                  <a:srgbClr val="222222"/>
                </a:solidFill>
                <a:effectLst/>
                <a:latin typeface="arial" panose="020B0604020202020204" pitchFamily="34" charset="0"/>
              </a:rPr>
              <a:t>280EFLOPS</a:t>
            </a:r>
            <a:r>
              <a:rPr lang="zh-CN" altLang="en-US" b="0" i="0" dirty="0">
                <a:solidFill>
                  <a:srgbClr val="222222"/>
                </a:solidFill>
                <a:effectLst/>
                <a:latin typeface="arial" panose="020B0604020202020204" pitchFamily="34" charset="0"/>
              </a:rPr>
              <a:t>（每秒百亿亿次浮点运算），呈现出指数增长的趋势，但也带来了一定的供需矛盾。</a:t>
            </a:r>
            <a:endParaRPr lang="en-US" altLang="zh-CN" b="0" i="0" dirty="0">
              <a:solidFill>
                <a:srgbClr val="222222"/>
              </a:solidFill>
              <a:effectLst/>
              <a:latin typeface="arial" panose="020B0604020202020204" pitchFamily="34" charset="0"/>
            </a:endParaRPr>
          </a:p>
          <a:p>
            <a:r>
              <a:rPr lang="zh-CN" altLang="en-US" b="0" i="0" dirty="0">
                <a:solidFill>
                  <a:srgbClr val="222222"/>
                </a:solidFill>
                <a:effectLst/>
                <a:latin typeface="arial" panose="020B0604020202020204" pitchFamily="34" charset="0"/>
              </a:rPr>
              <a:t>东部沿海地区算力需求旺盛，电力成本高昂；反观西部地区，自身算力需求不高的同时却具备丰沛的绿电资源，电力成本较低，发展大规模算力产业具有天然优势。</a:t>
            </a:r>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3274343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3455321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4388219E-362B-013D-25F0-7B585BCC2DD9}"/>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80E8F349-314A-4214-1778-D361CEAFABBF}"/>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489179" y="3439840"/>
            <a:ext cx="5262979"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人工智能架构与系统</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2" y="2445722"/>
            <a:ext cx="1569660"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第九章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8689" y="2444173"/>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149642" y="1099999"/>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402755" y="1528425"/>
            <a:ext cx="5926235" cy="641714"/>
          </a:xfrm>
          <a:prstGeom prst="rect">
            <a:avLst/>
          </a:prstGeom>
        </p:spPr>
        <p:txBody>
          <a:bodyPr wrap="square">
            <a:spAutoFit/>
          </a:bodyPr>
          <a:lstStyle/>
          <a:p>
            <a:pPr indent="575945" algn="just">
              <a:lnSpc>
                <a:spcPct val="130000"/>
              </a:lnSpc>
              <a:spcBef>
                <a:spcPts val="600"/>
              </a:spcBef>
            </a:pPr>
            <a:r>
              <a:rPr lang="zh-CN" altLang="zh-CN" sz="3200" b="1" dirty="0">
                <a:solidFill>
                  <a:schemeClr val="bg1"/>
                </a:solidFill>
                <a:latin typeface="楷体" panose="02010609060101010101" pitchFamily="49" charset="-122"/>
                <a:ea typeface="楷体" panose="02010609060101010101" pitchFamily="49" charset="-122"/>
              </a:rPr>
              <a:t>君子性非异也、善假于物</a:t>
            </a:r>
            <a:endParaRPr lang="en-US" altLang="zh-CN" sz="3200" b="1" dirty="0">
              <a:solidFill>
                <a:schemeClr val="bg1"/>
              </a:solidFill>
              <a:latin typeface="楷体" panose="02010609060101010101" pitchFamily="49" charset="-122"/>
              <a:ea typeface="楷体" panose="02010609060101010101" pitchFamily="49" charset="-122"/>
            </a:endParaRPr>
          </a:p>
        </p:txBody>
      </p:sp>
      <p:sp>
        <p:nvSpPr>
          <p:cNvPr id="6" name="矩形 5"/>
          <p:cNvSpPr/>
          <p:nvPr/>
        </p:nvSpPr>
        <p:spPr>
          <a:xfrm>
            <a:off x="1504507" y="3951301"/>
            <a:ext cx="9360364" cy="1815882"/>
          </a:xfrm>
          <a:prstGeom prst="rect">
            <a:avLst/>
          </a:prstGeom>
        </p:spPr>
        <p:txBody>
          <a:bodyPr wrap="square">
            <a:spAutoFit/>
          </a:bodyPr>
          <a:lstStyle/>
          <a:p>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数据是燃料、模型是引擎、算力是加速器</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的时代，人工智能算法正快速与芯片、基础软件（如编译）、模型（编程框架）和应用等融合，这些层次相互关联，构成了一个完整的人工智能系统。</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人工智能的特点对算力提出了不同于以往的新要求，传统的面向通用计算负载的</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CPU</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架构无法完全满足海量数据的并行智能计算需求，以异构计算、加速计算、可编程计算等为代表的新的计算技术和架构更适合人工智能的并行计算需求，得到了快速的发展。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35556" y="1944403"/>
            <a:ext cx="6533560" cy="2372124"/>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一、人工智能基础软硬件框架</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二、人工智能芯片</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三、人工智能系统</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智能计算支撑框架</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一、人工智能基础软硬件框架</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A31AC399-EEF8-47F6-B423-32D81922D15A}"/>
              </a:ext>
            </a:extLst>
          </p:cNvPr>
          <p:cNvPicPr>
            <a:picLocks noChangeAspect="1"/>
          </p:cNvPicPr>
          <p:nvPr/>
        </p:nvPicPr>
        <p:blipFill>
          <a:blip r:embed="rId3"/>
          <a:stretch>
            <a:fillRect/>
          </a:stretch>
        </p:blipFill>
        <p:spPr>
          <a:xfrm>
            <a:off x="7522785" y="1254816"/>
            <a:ext cx="4503988" cy="5490727"/>
          </a:xfrm>
          <a:prstGeom prst="rect">
            <a:avLst/>
          </a:prstGeom>
        </p:spPr>
      </p:pic>
      <p:sp>
        <p:nvSpPr>
          <p:cNvPr id="7" name="矩形 6">
            <a:extLst>
              <a:ext uri="{FF2B5EF4-FFF2-40B4-BE49-F238E27FC236}">
                <a16:creationId xmlns:a16="http://schemas.microsoft.com/office/drawing/2014/main" id="{79F60D75-1F1D-44D9-A071-48751345CFFE}"/>
              </a:ext>
            </a:extLst>
          </p:cNvPr>
          <p:cNvSpPr/>
          <p:nvPr/>
        </p:nvSpPr>
        <p:spPr>
          <a:xfrm>
            <a:off x="607943" y="1454332"/>
            <a:ext cx="6622773" cy="4575355"/>
          </a:xfrm>
          <a:prstGeom prst="rect">
            <a:avLst/>
          </a:prstGeom>
        </p:spPr>
        <p:txBody>
          <a:bodyPr wrap="square">
            <a:spAutoFit/>
          </a:bodyPr>
          <a:lstStyle/>
          <a:p>
            <a:pPr marL="285750" indent="-285750">
              <a:lnSpc>
                <a:spcPts val="2200"/>
              </a:lnSpc>
              <a:spcAft>
                <a:spcPts val="0"/>
              </a:spcAft>
              <a:buFont typeface="Wingdings" panose="05000000000000000000" pitchFamily="2" charset="2"/>
              <a:buChar char="l"/>
            </a:pP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人工智能的计算与应用需要一个综合性的智能计算框架来支撑。这一计算框架可分为</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运行系统</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开发系统</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，前者负责部署和运行模型，后者负责开发和训练模型。</a:t>
            </a:r>
            <a:endPar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285750" indent="-285750">
              <a:lnSpc>
                <a:spcPts val="2200"/>
              </a:lnSpc>
              <a:spcAft>
                <a:spcPts val="0"/>
              </a:spcAft>
              <a:buFont typeface="Wingdings" panose="05000000000000000000" pitchFamily="2" charset="2"/>
              <a:buChar char="l"/>
            </a:pPr>
            <a:endPar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285750" indent="-285750">
              <a:lnSpc>
                <a:spcPts val="2200"/>
              </a:lnSpc>
              <a:spcAft>
                <a:spcPts val="0"/>
              </a:spcAft>
              <a:buFont typeface="Wingdings" panose="05000000000000000000" pitchFamily="2" charset="2"/>
              <a:buChar char="l"/>
            </a:pPr>
            <a:r>
              <a:rPr lang="zh-CN" altLang="zh-CN" sz="13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开发系统</a:t>
            </a:r>
            <a:r>
              <a:rPr lang="zh-CN" altLang="en-US"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最基础的部分是</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人工智能芯片</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，它为人工智能提供物理上的计算支持。在芯片之上是</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基础软件与计算系统</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，例如操作系统中的文件系统和内核调度等。</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训练框架</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构建在基础的计算系统之上，用于执行人工智能所需的计算任务，如矩阵乘法、数据通信和计算图执行等。最后，</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开发环境</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将训练框架中的计算、通信和存储进行封装，提供用户简单且可扩展的编程接口，例如使用</a:t>
            </a:r>
            <a:r>
              <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Python</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来开发</a:t>
            </a:r>
            <a:r>
              <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AI</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模型。</a:t>
            </a:r>
          </a:p>
          <a:p>
            <a:pPr marL="285750" indent="-285750">
              <a:lnSpc>
                <a:spcPts val="2200"/>
              </a:lnSpc>
              <a:spcAft>
                <a:spcPts val="0"/>
              </a:spcAft>
              <a:buFont typeface="Wingdings" panose="05000000000000000000" pitchFamily="2" charset="2"/>
              <a:buChar char="l"/>
            </a:pPr>
            <a:endPar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285750" indent="-285750">
              <a:lnSpc>
                <a:spcPts val="2200"/>
              </a:lnSpc>
              <a:spcAft>
                <a:spcPts val="0"/>
              </a:spcAft>
              <a:buFont typeface="Wingdings" panose="05000000000000000000" pitchFamily="2" charset="2"/>
              <a:buChar char="l"/>
            </a:pPr>
            <a:r>
              <a:rPr lang="zh-CN" altLang="zh-CN" sz="13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运行系统</a:t>
            </a:r>
            <a:r>
              <a:rPr lang="zh-CN" altLang="en-US" sz="13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可分为四个层次：</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芯片指令集标准</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AI</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编译框架</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关键算法与模型</a:t>
            </a:r>
            <a:r>
              <a:rPr lang="zh-CN" altLang="zh-CN" sz="1300" dirty="0">
                <a:latin typeface="黑体" panose="02010609060101010101" pitchFamily="49" charset="-122"/>
                <a:ea typeface="黑体" panose="02010609060101010101" pitchFamily="49" charset="-122"/>
                <a:cs typeface="Times New Roman" panose="02020603050405020304" pitchFamily="18" charset="0"/>
              </a:rPr>
              <a:t>以及</a:t>
            </a:r>
            <a:r>
              <a:rPr lang="en-US"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AI</a:t>
            </a:r>
            <a:r>
              <a:rPr lang="zh-CN" altLang="zh-CN" sz="13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垂直领域开放创新平台</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。芯片指令集标准定义了硬件设备上可执行的指令集，以确保软件与硬件的兼容性。</a:t>
            </a:r>
            <a:r>
              <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AI</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编译框架负责将高级模型描述转化为底层硬件可执行的指令，以充分利用硬件的计算能力。关键算法与模型是人工智能应用中的核心部分，包括机器学习和深度学习算法，以及针对特定问题领域设计的模型。</a:t>
            </a:r>
            <a:r>
              <a:rPr lang="en-US"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AI</a:t>
            </a:r>
            <a:r>
              <a:rPr lang="zh-CN" altLang="zh-CN" sz="13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垂直领域开放创新平台提供了特定领域的解决方案和开发工具，帮助开发人员在特定领域中应用人工智能技术。</a:t>
            </a:r>
          </a:p>
        </p:txBody>
      </p:sp>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智能计算支撑框架</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一、人工智能基础软硬件框架</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A31AC399-EEF8-47F6-B423-32D81922D15A}"/>
              </a:ext>
            </a:extLst>
          </p:cNvPr>
          <p:cNvPicPr>
            <a:picLocks noChangeAspect="1"/>
          </p:cNvPicPr>
          <p:nvPr/>
        </p:nvPicPr>
        <p:blipFill>
          <a:blip r:embed="rId3"/>
          <a:stretch>
            <a:fillRect/>
          </a:stretch>
        </p:blipFill>
        <p:spPr>
          <a:xfrm>
            <a:off x="7707086" y="1308419"/>
            <a:ext cx="4484914" cy="5467474"/>
          </a:xfrm>
          <a:prstGeom prst="rect">
            <a:avLst/>
          </a:prstGeom>
        </p:spPr>
      </p:pic>
      <p:sp>
        <p:nvSpPr>
          <p:cNvPr id="8" name="矩形: 圆角 7">
            <a:extLst>
              <a:ext uri="{FF2B5EF4-FFF2-40B4-BE49-F238E27FC236}">
                <a16:creationId xmlns:a16="http://schemas.microsoft.com/office/drawing/2014/main" id="{BC18D3DB-E025-0B0D-1DF4-4040DEC06936}"/>
              </a:ext>
            </a:extLst>
          </p:cNvPr>
          <p:cNvSpPr/>
          <p:nvPr/>
        </p:nvSpPr>
        <p:spPr>
          <a:xfrm>
            <a:off x="1164883" y="2400528"/>
            <a:ext cx="6305006" cy="670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哪个领域的技术壁垒最大（卡脖子） ？</a:t>
            </a:r>
          </a:p>
        </p:txBody>
      </p:sp>
      <p:sp>
        <p:nvSpPr>
          <p:cNvPr id="11" name="矩形: 圆角 10">
            <a:extLst>
              <a:ext uri="{FF2B5EF4-FFF2-40B4-BE49-F238E27FC236}">
                <a16:creationId xmlns:a16="http://schemas.microsoft.com/office/drawing/2014/main" id="{5EC9D654-F45D-A942-2CA3-4D49F0192B65}"/>
              </a:ext>
            </a:extLst>
          </p:cNvPr>
          <p:cNvSpPr/>
          <p:nvPr/>
        </p:nvSpPr>
        <p:spPr>
          <a:xfrm>
            <a:off x="1164883" y="3517883"/>
            <a:ext cx="6305006" cy="670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哪个领域最挣钱？</a:t>
            </a:r>
          </a:p>
        </p:txBody>
      </p:sp>
      <p:sp>
        <p:nvSpPr>
          <p:cNvPr id="12" name="矩形: 圆角 11">
            <a:extLst>
              <a:ext uri="{FF2B5EF4-FFF2-40B4-BE49-F238E27FC236}">
                <a16:creationId xmlns:a16="http://schemas.microsoft.com/office/drawing/2014/main" id="{647AF205-969B-4CF3-C037-CE536F42A769}"/>
              </a:ext>
            </a:extLst>
          </p:cNvPr>
          <p:cNvSpPr/>
          <p:nvPr/>
        </p:nvSpPr>
        <p:spPr>
          <a:xfrm>
            <a:off x="1164883" y="4635239"/>
            <a:ext cx="6305006" cy="670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你要是投资人，你投资哪个？</a:t>
            </a:r>
          </a:p>
        </p:txBody>
      </p:sp>
      <p:sp>
        <p:nvSpPr>
          <p:cNvPr id="13" name="矩形: 圆角 12">
            <a:extLst>
              <a:ext uri="{FF2B5EF4-FFF2-40B4-BE49-F238E27FC236}">
                <a16:creationId xmlns:a16="http://schemas.microsoft.com/office/drawing/2014/main" id="{10861F53-FFB1-5358-E01D-52538917E68A}"/>
              </a:ext>
            </a:extLst>
          </p:cNvPr>
          <p:cNvSpPr/>
          <p:nvPr/>
        </p:nvSpPr>
        <p:spPr>
          <a:xfrm>
            <a:off x="1164883" y="5795772"/>
            <a:ext cx="6305006" cy="670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你要是开始选择从事某个领域，你选择哪个？</a:t>
            </a:r>
          </a:p>
        </p:txBody>
      </p:sp>
      <p:sp>
        <p:nvSpPr>
          <p:cNvPr id="14" name="矩形: 圆角 13">
            <a:extLst>
              <a:ext uri="{FF2B5EF4-FFF2-40B4-BE49-F238E27FC236}">
                <a16:creationId xmlns:a16="http://schemas.microsoft.com/office/drawing/2014/main" id="{68715A09-813A-A307-6799-07EA0FA8D9FF}"/>
              </a:ext>
            </a:extLst>
          </p:cNvPr>
          <p:cNvSpPr/>
          <p:nvPr/>
        </p:nvSpPr>
        <p:spPr>
          <a:xfrm>
            <a:off x="1164883" y="1308419"/>
            <a:ext cx="6305006" cy="670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哪个领域最热闹？</a:t>
            </a:r>
          </a:p>
        </p:txBody>
      </p:sp>
    </p:spTree>
    <p:extLst>
      <p:ext uri="{BB962C8B-B14F-4D97-AF65-F5344CB8AC3E}">
        <p14:creationId xmlns:p14="http://schemas.microsoft.com/office/powerpoint/2010/main" val="176339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3AC118A-563D-A12F-B5B1-14D4FC9D5857}"/>
              </a:ext>
            </a:extLst>
          </p:cNvPr>
          <p:cNvPicPr>
            <a:picLocks noChangeAspect="1"/>
          </p:cNvPicPr>
          <p:nvPr/>
        </p:nvPicPr>
        <p:blipFill>
          <a:blip r:embed="rId2"/>
          <a:stretch>
            <a:fillRect/>
          </a:stretch>
        </p:blipFill>
        <p:spPr>
          <a:xfrm>
            <a:off x="1876952" y="1409952"/>
            <a:ext cx="8438095" cy="40380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 name="组合 3">
            <a:extLst>
              <a:ext uri="{FF2B5EF4-FFF2-40B4-BE49-F238E27FC236}">
                <a16:creationId xmlns:a16="http://schemas.microsoft.com/office/drawing/2014/main" id="{2C0FFDA1-13B5-F10F-9346-12D32869CAF1}"/>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8BC183F9-12E4-4E1D-1C93-B358A70A7CD5}"/>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D48F08CE-94ED-474C-DBB5-E50946C0C11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2B536C1A-2BBA-AC2B-20B5-C8AFFBDE82F9}"/>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智能计算支撑框架</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 name="文本框 10">
            <a:extLst>
              <a:ext uri="{FF2B5EF4-FFF2-40B4-BE49-F238E27FC236}">
                <a16:creationId xmlns:a16="http://schemas.microsoft.com/office/drawing/2014/main" id="{9F1F29C5-A8A4-AE59-BFBB-4BF850CEBC29}"/>
              </a:ext>
            </a:extLst>
          </p:cNvPr>
          <p:cNvSpPr txBox="1"/>
          <p:nvPr/>
        </p:nvSpPr>
        <p:spPr>
          <a:xfrm>
            <a:off x="5312227" y="5633117"/>
            <a:ext cx="1567543" cy="369332"/>
          </a:xfrm>
          <a:prstGeom prst="rect">
            <a:avLst/>
          </a:prstGeom>
          <a:noFill/>
        </p:spPr>
        <p:txBody>
          <a:bodyPr wrap="square">
            <a:spAutoFit/>
          </a:bodyPr>
          <a:lstStyle/>
          <a:p>
            <a:r>
              <a:rPr lang="zh-CN" altLang="en-US" dirty="0"/>
              <a:t>豆包推荐回答</a:t>
            </a:r>
          </a:p>
        </p:txBody>
      </p:sp>
    </p:spTree>
    <p:extLst>
      <p:ext uri="{BB962C8B-B14F-4D97-AF65-F5344CB8AC3E}">
        <p14:creationId xmlns:p14="http://schemas.microsoft.com/office/powerpoint/2010/main" val="4059516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4726094-D618-BF5F-64B4-D31162335449}"/>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75A6B524-D10C-39FD-46F4-6EB786088230}"/>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73BD1534-12A4-8BB4-D77D-DBF6E3B3F39C}"/>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93D31E0F-E3DD-F380-E8D7-50C19D97C657}"/>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智能计算支撑框架</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pic>
        <p:nvPicPr>
          <p:cNvPr id="7" name="图片 6">
            <a:extLst>
              <a:ext uri="{FF2B5EF4-FFF2-40B4-BE49-F238E27FC236}">
                <a16:creationId xmlns:a16="http://schemas.microsoft.com/office/drawing/2014/main" id="{767A9F92-C03C-89BE-F95E-B663AD6F6BEB}"/>
              </a:ext>
            </a:extLst>
          </p:cNvPr>
          <p:cNvPicPr>
            <a:picLocks noChangeAspect="1"/>
          </p:cNvPicPr>
          <p:nvPr/>
        </p:nvPicPr>
        <p:blipFill>
          <a:blip r:embed="rId2"/>
          <a:stretch>
            <a:fillRect/>
          </a:stretch>
        </p:blipFill>
        <p:spPr>
          <a:xfrm>
            <a:off x="2457899" y="1350100"/>
            <a:ext cx="7780952" cy="47809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文本框 7">
            <a:extLst>
              <a:ext uri="{FF2B5EF4-FFF2-40B4-BE49-F238E27FC236}">
                <a16:creationId xmlns:a16="http://schemas.microsoft.com/office/drawing/2014/main" id="{61B0F1F3-52BD-0A0B-02A5-D9FB043EB5DA}"/>
              </a:ext>
            </a:extLst>
          </p:cNvPr>
          <p:cNvSpPr txBox="1"/>
          <p:nvPr/>
        </p:nvSpPr>
        <p:spPr>
          <a:xfrm>
            <a:off x="5312228" y="6131052"/>
            <a:ext cx="1567543" cy="369332"/>
          </a:xfrm>
          <a:prstGeom prst="rect">
            <a:avLst/>
          </a:prstGeom>
          <a:noFill/>
        </p:spPr>
        <p:txBody>
          <a:bodyPr wrap="square">
            <a:spAutoFit/>
          </a:bodyPr>
          <a:lstStyle/>
          <a:p>
            <a:r>
              <a:rPr lang="zh-CN" altLang="en-US" dirty="0"/>
              <a:t>豆包推荐回答</a:t>
            </a:r>
          </a:p>
        </p:txBody>
      </p:sp>
    </p:spTree>
    <p:extLst>
      <p:ext uri="{BB962C8B-B14F-4D97-AF65-F5344CB8AC3E}">
        <p14:creationId xmlns:p14="http://schemas.microsoft.com/office/powerpoint/2010/main" val="385949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D058815-1617-C951-B32A-26ACE84801A0}"/>
              </a:ext>
            </a:extLst>
          </p:cNvPr>
          <p:cNvPicPr>
            <a:picLocks noChangeAspect="1"/>
          </p:cNvPicPr>
          <p:nvPr/>
        </p:nvPicPr>
        <p:blipFill>
          <a:blip r:embed="rId2"/>
          <a:stretch>
            <a:fillRect/>
          </a:stretch>
        </p:blipFill>
        <p:spPr>
          <a:xfrm>
            <a:off x="6191620" y="2132954"/>
            <a:ext cx="5199191" cy="41509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 name="组合 3">
            <a:extLst>
              <a:ext uri="{FF2B5EF4-FFF2-40B4-BE49-F238E27FC236}">
                <a16:creationId xmlns:a16="http://schemas.microsoft.com/office/drawing/2014/main" id="{D23252D3-3065-BFD9-6419-7BAA561A28C1}"/>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D2E9FBCC-7704-ADD2-2B0C-4B7F6FAE03B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6A1191D8-295A-0828-1B86-FDEF1CBD4D43}"/>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BB1C6FA7-F4F1-D1AA-1857-93128B863B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智能计算支撑框架</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：英伟达股价</a:t>
              </a:r>
            </a:p>
          </p:txBody>
        </p:sp>
      </p:grpSp>
      <p:pic>
        <p:nvPicPr>
          <p:cNvPr id="9" name="图片 8">
            <a:extLst>
              <a:ext uri="{FF2B5EF4-FFF2-40B4-BE49-F238E27FC236}">
                <a16:creationId xmlns:a16="http://schemas.microsoft.com/office/drawing/2014/main" id="{34943065-1F2E-3283-71B6-AF4E0BBBF565}"/>
              </a:ext>
            </a:extLst>
          </p:cNvPr>
          <p:cNvPicPr>
            <a:picLocks noChangeAspect="1"/>
          </p:cNvPicPr>
          <p:nvPr/>
        </p:nvPicPr>
        <p:blipFill>
          <a:blip r:embed="rId3"/>
          <a:stretch>
            <a:fillRect/>
          </a:stretch>
        </p:blipFill>
        <p:spPr>
          <a:xfrm>
            <a:off x="679269" y="2138603"/>
            <a:ext cx="5321112" cy="41453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文本框 7">
            <a:extLst>
              <a:ext uri="{FF2B5EF4-FFF2-40B4-BE49-F238E27FC236}">
                <a16:creationId xmlns:a16="http://schemas.microsoft.com/office/drawing/2014/main" id="{2C275174-999F-8104-D765-BF66B7274169}"/>
              </a:ext>
            </a:extLst>
          </p:cNvPr>
          <p:cNvSpPr txBox="1"/>
          <p:nvPr/>
        </p:nvSpPr>
        <p:spPr>
          <a:xfrm>
            <a:off x="2229220" y="1325818"/>
            <a:ext cx="8238309" cy="646331"/>
          </a:xfrm>
          <a:prstGeom prst="rect">
            <a:avLst/>
          </a:prstGeom>
          <a:noFill/>
        </p:spPr>
        <p:txBody>
          <a:bodyPr wrap="square">
            <a:spAutoFit/>
          </a:bodyPr>
          <a:lstStyle/>
          <a:p>
            <a:r>
              <a:rPr lang="zh-CN" altLang="en-US" b="0" i="0" dirty="0">
                <a:effectLst/>
                <a:latin typeface="Inter"/>
              </a:rPr>
              <a:t>英伟达（</a:t>
            </a:r>
            <a:r>
              <a:rPr lang="en-US" altLang="zh-CN" b="0" i="0" dirty="0">
                <a:effectLst/>
                <a:latin typeface="Inter"/>
              </a:rPr>
              <a:t>NVIDIA</a:t>
            </a:r>
            <a:r>
              <a:rPr lang="zh-CN" altLang="en-US" b="0" i="0" dirty="0">
                <a:effectLst/>
                <a:latin typeface="Inter"/>
              </a:rPr>
              <a:t>）是全球 </a:t>
            </a:r>
            <a:r>
              <a:rPr lang="en-US" altLang="zh-CN" b="0" i="0" dirty="0">
                <a:effectLst/>
                <a:latin typeface="Inter"/>
              </a:rPr>
              <a:t>AI </a:t>
            </a:r>
            <a:r>
              <a:rPr lang="zh-CN" altLang="en-US" b="0" i="0" dirty="0">
                <a:effectLst/>
                <a:latin typeface="Inter"/>
              </a:rPr>
              <a:t>算力与半导体领域的龙头企业，</a:t>
            </a:r>
            <a:r>
              <a:rPr lang="en-US" altLang="zh-CN" b="0" i="0" dirty="0">
                <a:effectLst/>
                <a:latin typeface="Inter"/>
              </a:rPr>
              <a:t>1993 </a:t>
            </a:r>
            <a:r>
              <a:rPr lang="zh-CN" altLang="en-US" b="0" i="0" dirty="0">
                <a:effectLst/>
                <a:latin typeface="Inter"/>
              </a:rPr>
              <a:t>年成立后从图形处理器领域起步，如今业务已覆盖数据中心、游戏、汽车等多个核心领域。</a:t>
            </a:r>
            <a:endParaRPr lang="zh-CN" altLang="en-US" dirty="0"/>
          </a:p>
        </p:txBody>
      </p:sp>
    </p:spTree>
    <p:extLst>
      <p:ext uri="{BB962C8B-B14F-4D97-AF65-F5344CB8AC3E}">
        <p14:creationId xmlns:p14="http://schemas.microsoft.com/office/powerpoint/2010/main" val="341427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二、人工智能芯片</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ADE2C00E-4924-4036-834F-410BA6E825D7}"/>
              </a:ext>
            </a:extLst>
          </p:cNvPr>
          <p:cNvSpPr/>
          <p:nvPr/>
        </p:nvSpPr>
        <p:spPr>
          <a:xfrm>
            <a:off x="564356" y="1555391"/>
            <a:ext cx="11143939" cy="424731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人工智能芯片（</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AI chip</a:t>
            </a:r>
            <a:r>
              <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专门设计和优化用于人工智能计算任务的硬件。它们采用了特定的芯片架构和算法加速技术，以提供高性能和能效的计算能力。不同类型的人工智能芯片在设计和原理上有所差异。理解人工智能芯片的类型和原理对于选择合适的计算架构和优化算法至关重要。下面介绍几种主要的人工智能芯片类型及其原理。</a:t>
            </a:r>
            <a:endPar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266700" algn="just">
              <a:lnSpc>
                <a:spcPct val="150000"/>
              </a:lnSpc>
              <a:spcAft>
                <a:spcPts val="0"/>
              </a:spcAft>
            </a:pPr>
            <a:endPar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图形处理器（</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GPU</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张量处理器（</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TPU</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可扩展处理器（</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XPU</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类脑芯片（</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Neuromorphic Chip</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特定领域芯片（</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Domain-Specific Chip</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94950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二、人工智能芯片</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ADE2C00E-4924-4036-834F-410BA6E825D7}"/>
              </a:ext>
            </a:extLst>
          </p:cNvPr>
          <p:cNvSpPr/>
          <p:nvPr/>
        </p:nvSpPr>
        <p:spPr>
          <a:xfrm>
            <a:off x="308113" y="1555391"/>
            <a:ext cx="11708295" cy="4801314"/>
          </a:xfrm>
          <a:prstGeom prst="rect">
            <a:avLst/>
          </a:prstGeom>
        </p:spPr>
        <p:txBody>
          <a:bodyPr wrap="square">
            <a:spAutoFit/>
          </a:bodyPr>
          <a:lstStyle/>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Graphics Processing Unit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最初是为图形渲染而设计的，但由于其并行计算能力，逐渐在人工智能计算中（特别是卷积计算）扮演了重要角色</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采用了大规模的并行计算架构，拥有成百上千个计算核心，</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可同时执行多个计算任务</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，加速数据处理和算法运算。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的硬件和指令集优化了矩阵运算和向量操作等常用的人工智能计算操作，使其在深度学习等任务中表现出色。</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2006</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年</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在微软工作的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Kumar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Chellapilla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使用英伟达的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GeForce 7800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显卡第一次实现了卷积神经网络，发现比使用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要快</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倍，这是已知最早将</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用于深度学习的尝试。</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2012</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年</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，谷歌公司使用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16000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1000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台计算机从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1000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万幅图像中训练了一个深度神经网络完成了猫的识别。</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同年</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，来自多伦多大学的研究者提出了由五层卷积层和三层全连接层的神经网络</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AlexNet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6000</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万参数）</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，使用四颗英伟达</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Geforce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GTX 580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在一个星期时间内对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1400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万张图片完成了总计</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262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千万亿次浮点运算的神经网络训练，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在神经网络训练中所能取得作用引起了众人关注。 </a:t>
            </a:r>
          </a:p>
          <a:p>
            <a:pPr marL="285750" indent="-285750">
              <a:buFont typeface="Wingdings" panose="05000000000000000000" pitchFamily="2" charset="2"/>
              <a:buChar char="l"/>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比较有趣的是，英伟达的每一代</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架构都以著名科学家来命名，如居里（化学家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Currie,</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化学家，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2004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）、特斯拉（</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Tesla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2006</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）、费米（</a:t>
            </a:r>
            <a:r>
              <a:rPr lang="en-US" altLang="zh-CN" dirty="0">
                <a:latin typeface="Times New Roman" panose="02020603050405020304" pitchFamily="18" charset="0"/>
                <a:ea typeface="楷体" panose="02010609060101010101" pitchFamily="49" charset="-122"/>
                <a:cs typeface="Times New Roman" panose="02020603050405020304" pitchFamily="18" charset="0"/>
              </a:rPr>
              <a:t>Fermi,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）、开普勒（</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Kepler,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天文学家，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）、麦克斯韦（</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Maxwell,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）、帕斯卡（</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Pascal,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数学家和物理学家，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2016</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）、伏特（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Volta,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2017</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）、图灵（</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Turing,</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计算机科学家，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2018</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）、安培（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Ampere,</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物理学家，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2020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）、赫伯（</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Hopper,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计算机科学家，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2022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）、爱达（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Ada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，计算机科学家，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2023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38658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06C52AD-CE8A-6D07-051F-C49997355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625" y="1591782"/>
            <a:ext cx="6667500" cy="450532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A78AB539-811E-3D5B-4A0C-A21099768000}"/>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50D90639-45F0-9190-C188-5777EC9D515D}"/>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C00AB00D-3354-6721-7245-AA5BDE65002C}"/>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819A086A-D2D4-6C64-0094-775F2A250906}"/>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4015642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758AACA-B62E-1ECA-44DC-640BF3D2F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421" y="1403530"/>
            <a:ext cx="7886700" cy="509714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F3B016B1-6E03-C823-30BA-64B3B79A2D41}"/>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C0640946-4D58-98B4-D853-78A27497607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B4DC7BEC-E95C-BE23-E259-AA4C4C535B3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D0AEFFE2-E400-F7ED-80BE-1B4043FB231D}"/>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 name="矩形 5">
            <a:extLst>
              <a:ext uri="{FF2B5EF4-FFF2-40B4-BE49-F238E27FC236}">
                <a16:creationId xmlns:a16="http://schemas.microsoft.com/office/drawing/2014/main" id="{8B91C4EF-47DD-4768-6842-4876B0BEF6A2}"/>
              </a:ext>
            </a:extLst>
          </p:cNvPr>
          <p:cNvSpPr/>
          <p:nvPr/>
        </p:nvSpPr>
        <p:spPr>
          <a:xfrm>
            <a:off x="3779520" y="4493623"/>
            <a:ext cx="5538651" cy="96084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06D5C21-9A29-8309-BF76-9170B75E2CF8}"/>
              </a:ext>
            </a:extLst>
          </p:cNvPr>
          <p:cNvSpPr/>
          <p:nvPr/>
        </p:nvSpPr>
        <p:spPr>
          <a:xfrm>
            <a:off x="3779519" y="6097107"/>
            <a:ext cx="5538651" cy="6590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3FA7D15-57A1-72BC-C45D-2F7FC8C8F316}"/>
              </a:ext>
            </a:extLst>
          </p:cNvPr>
          <p:cNvSpPr/>
          <p:nvPr/>
        </p:nvSpPr>
        <p:spPr>
          <a:xfrm>
            <a:off x="3779518" y="2364377"/>
            <a:ext cx="6383385" cy="14866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5694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743E79A-A704-59C3-244A-86A74EF3A16C}"/>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750C6282-8631-3492-BBFC-F7DAEF56889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3D342AAA-7643-3EE0-A821-F6932D3B798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1A8D91ED-E939-4BBD-055A-7DE97D5B6C0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CUDA</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编程</a:t>
              </a:r>
            </a:p>
          </p:txBody>
        </p:sp>
      </p:grpSp>
      <p:pic>
        <p:nvPicPr>
          <p:cNvPr id="7" name="图片 6">
            <a:extLst>
              <a:ext uri="{FF2B5EF4-FFF2-40B4-BE49-F238E27FC236}">
                <a16:creationId xmlns:a16="http://schemas.microsoft.com/office/drawing/2014/main" id="{AE5D9C80-46EA-5883-0289-3B8F3C925449}"/>
              </a:ext>
            </a:extLst>
          </p:cNvPr>
          <p:cNvPicPr>
            <a:picLocks noChangeAspect="1"/>
          </p:cNvPicPr>
          <p:nvPr/>
        </p:nvPicPr>
        <p:blipFill>
          <a:blip r:embed="rId2"/>
          <a:stretch>
            <a:fillRect/>
          </a:stretch>
        </p:blipFill>
        <p:spPr>
          <a:xfrm>
            <a:off x="336685" y="2434059"/>
            <a:ext cx="5466667" cy="23904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图片 8">
            <a:extLst>
              <a:ext uri="{FF2B5EF4-FFF2-40B4-BE49-F238E27FC236}">
                <a16:creationId xmlns:a16="http://schemas.microsoft.com/office/drawing/2014/main" id="{7DCBC41E-FADE-4C56-0E80-AD3BB0D5A965}"/>
              </a:ext>
            </a:extLst>
          </p:cNvPr>
          <p:cNvPicPr>
            <a:picLocks noChangeAspect="1"/>
          </p:cNvPicPr>
          <p:nvPr/>
        </p:nvPicPr>
        <p:blipFill>
          <a:blip r:embed="rId3"/>
          <a:stretch>
            <a:fillRect/>
          </a:stretch>
        </p:blipFill>
        <p:spPr>
          <a:xfrm>
            <a:off x="6096000" y="1254816"/>
            <a:ext cx="5428571" cy="51809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椭圆 9">
            <a:extLst>
              <a:ext uri="{FF2B5EF4-FFF2-40B4-BE49-F238E27FC236}">
                <a16:creationId xmlns:a16="http://schemas.microsoft.com/office/drawing/2014/main" id="{E46163CD-71A7-FEFC-C823-BD6DAAC62300}"/>
              </a:ext>
            </a:extLst>
          </p:cNvPr>
          <p:cNvSpPr/>
          <p:nvPr/>
        </p:nvSpPr>
        <p:spPr>
          <a:xfrm>
            <a:off x="5965372" y="2248994"/>
            <a:ext cx="4746172" cy="109744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EE21412-FCAB-06C0-4301-D012D0BCA7C2}"/>
              </a:ext>
            </a:extLst>
          </p:cNvPr>
          <p:cNvSpPr/>
          <p:nvPr/>
        </p:nvSpPr>
        <p:spPr>
          <a:xfrm>
            <a:off x="6030685" y="3831771"/>
            <a:ext cx="4837611" cy="81860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EC418A94-8B0D-C018-1EFD-5D7654154089}"/>
              </a:ext>
            </a:extLst>
          </p:cNvPr>
          <p:cNvSpPr/>
          <p:nvPr/>
        </p:nvSpPr>
        <p:spPr>
          <a:xfrm>
            <a:off x="5919652" y="5721749"/>
            <a:ext cx="4837611" cy="81860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DF7E2E2-C3C4-6F28-4EED-7A39BF6D4F29}"/>
              </a:ext>
            </a:extLst>
          </p:cNvPr>
          <p:cNvSpPr txBox="1"/>
          <p:nvPr/>
        </p:nvSpPr>
        <p:spPr>
          <a:xfrm>
            <a:off x="9858103" y="2111588"/>
            <a:ext cx="1436914" cy="369332"/>
          </a:xfrm>
          <a:prstGeom prst="rect">
            <a:avLst/>
          </a:prstGeom>
          <a:noFill/>
        </p:spPr>
        <p:txBody>
          <a:bodyPr wrap="square">
            <a:spAutoFit/>
          </a:bodyPr>
          <a:lstStyle/>
          <a:p>
            <a:r>
              <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endParaRPr lang="zh-CN" altLang="en-US" dirty="0"/>
          </a:p>
        </p:txBody>
      </p:sp>
      <p:sp>
        <p:nvSpPr>
          <p:cNvPr id="15" name="文本框 14">
            <a:extLst>
              <a:ext uri="{FF2B5EF4-FFF2-40B4-BE49-F238E27FC236}">
                <a16:creationId xmlns:a16="http://schemas.microsoft.com/office/drawing/2014/main" id="{8745EFF1-A67D-A6C8-444F-A527228A04FF}"/>
              </a:ext>
            </a:extLst>
          </p:cNvPr>
          <p:cNvSpPr txBox="1"/>
          <p:nvPr/>
        </p:nvSpPr>
        <p:spPr>
          <a:xfrm>
            <a:off x="10442487" y="3727184"/>
            <a:ext cx="1436914" cy="369332"/>
          </a:xfrm>
          <a:prstGeom prst="rect">
            <a:avLst/>
          </a:prstGeom>
          <a:noFill/>
        </p:spPr>
        <p:txBody>
          <a:bodyPr wrap="square">
            <a:spAutoFit/>
          </a:bodyPr>
          <a:lstStyle/>
          <a:p>
            <a:r>
              <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a:t>
            </a:r>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运算</a:t>
            </a:r>
            <a:endParaRPr lang="zh-CN" altLang="en-US" dirty="0"/>
          </a:p>
        </p:txBody>
      </p:sp>
      <p:sp>
        <p:nvSpPr>
          <p:cNvPr id="16" name="文本框 15">
            <a:extLst>
              <a:ext uri="{FF2B5EF4-FFF2-40B4-BE49-F238E27FC236}">
                <a16:creationId xmlns:a16="http://schemas.microsoft.com/office/drawing/2014/main" id="{73675900-F3B3-62A6-C90A-77D417EA8E13}"/>
              </a:ext>
            </a:extLst>
          </p:cNvPr>
          <p:cNvSpPr txBox="1"/>
          <p:nvPr/>
        </p:nvSpPr>
        <p:spPr>
          <a:xfrm>
            <a:off x="9982163" y="5537083"/>
            <a:ext cx="1542408" cy="369332"/>
          </a:xfrm>
          <a:prstGeom prst="rect">
            <a:avLst/>
          </a:prstGeom>
          <a:noFill/>
        </p:spPr>
        <p:txBody>
          <a:bodyPr wrap="square">
            <a:spAutoFit/>
          </a:bodyPr>
          <a:lstStyle/>
          <a:p>
            <a:r>
              <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GPU </a:t>
            </a:r>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CPU</a:t>
            </a:r>
            <a:endParaRPr lang="zh-CN" altLang="en-US" dirty="0"/>
          </a:p>
        </p:txBody>
      </p:sp>
      <p:sp>
        <p:nvSpPr>
          <p:cNvPr id="17" name="Rectangle 1">
            <a:extLst>
              <a:ext uri="{FF2B5EF4-FFF2-40B4-BE49-F238E27FC236}">
                <a16:creationId xmlns:a16="http://schemas.microsoft.com/office/drawing/2014/main" id="{4411F41C-0FB0-0C26-B585-4ABBAA4AC78B}"/>
              </a:ext>
            </a:extLst>
          </p:cNvPr>
          <p:cNvSpPr>
            <a:spLocks noChangeArrowheads="1"/>
          </p:cNvSpPr>
          <p:nvPr/>
        </p:nvSpPr>
        <p:spPr bwMode="auto">
          <a:xfrm>
            <a:off x="420327" y="5484832"/>
            <a:ext cx="5466667"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a:ln>
                  <a:noFill/>
                </a:ln>
                <a:solidFill>
                  <a:srgbClr val="000000"/>
                </a:solidFill>
                <a:effectLst/>
                <a:latin typeface="Arial" panose="020B0604020202020204" pitchFamily="34" charset="0"/>
                <a:ea typeface="Inter"/>
              </a:rPr>
              <a:t>示例：CUDA 实现向量加法</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rgbClr val="000000"/>
                </a:solidFill>
                <a:effectLst/>
                <a:latin typeface="Arial" panose="020B0604020202020204" pitchFamily="34" charset="0"/>
                <a:ea typeface="Inter"/>
              </a:rPr>
              <a:t>功能：将两个长度为</a:t>
            </a:r>
            <a:r>
              <a:rPr kumimoji="0" lang="zh-CN" altLang="zh-CN" sz="1200" b="0" i="0" u="none" strike="noStrike" cap="none" normalizeH="0" baseline="0">
                <a:ln>
                  <a:noFill/>
                </a:ln>
                <a:solidFill>
                  <a:srgbClr val="000000"/>
                </a:solidFill>
                <a:effectLst/>
                <a:latin typeface="Arial Unicode MS" panose="020B0604020202020204" pitchFamily="34" charset="-122"/>
                <a:ea typeface="Menlo"/>
              </a:rPr>
              <a:t>N</a:t>
            </a:r>
            <a:r>
              <a:rPr kumimoji="0" lang="zh-CN" altLang="zh-CN" sz="1200" b="0" i="0" u="none" strike="noStrike" cap="none" normalizeH="0" baseline="0">
                <a:ln>
                  <a:noFill/>
                </a:ln>
                <a:solidFill>
                  <a:srgbClr val="000000"/>
                </a:solidFill>
                <a:effectLst/>
                <a:ea typeface="Inter"/>
              </a:rPr>
              <a:t>的向量</a:t>
            </a:r>
            <a:r>
              <a:rPr kumimoji="0" lang="zh-CN" altLang="zh-CN" sz="1200" b="0" i="0" u="none" strike="noStrike" cap="none" normalizeH="0" baseline="0">
                <a:ln>
                  <a:noFill/>
                </a:ln>
                <a:solidFill>
                  <a:srgbClr val="000000"/>
                </a:solidFill>
                <a:effectLst/>
                <a:latin typeface="Arial Unicode MS" panose="020B0604020202020204" pitchFamily="34" charset="-122"/>
                <a:ea typeface="Menlo"/>
              </a:rPr>
              <a:t>a</a:t>
            </a:r>
            <a:r>
              <a:rPr kumimoji="0" lang="zh-CN" altLang="zh-CN" sz="1200" b="0" i="0" u="none" strike="noStrike" cap="none" normalizeH="0" baseline="0">
                <a:ln>
                  <a:noFill/>
                </a:ln>
                <a:solidFill>
                  <a:srgbClr val="000000"/>
                </a:solidFill>
                <a:effectLst/>
                <a:ea typeface="Inter"/>
              </a:rPr>
              <a:t>、</a:t>
            </a:r>
            <a:r>
              <a:rPr kumimoji="0" lang="zh-CN" altLang="zh-CN" sz="1200" b="0" i="0" u="none" strike="noStrike" cap="none" normalizeH="0" baseline="0">
                <a:ln>
                  <a:noFill/>
                </a:ln>
                <a:solidFill>
                  <a:srgbClr val="000000"/>
                </a:solidFill>
                <a:effectLst/>
                <a:latin typeface="Arial Unicode MS" panose="020B0604020202020204" pitchFamily="34" charset="-122"/>
                <a:ea typeface="Menlo"/>
              </a:rPr>
              <a:t>b</a:t>
            </a:r>
            <a:r>
              <a:rPr kumimoji="0" lang="zh-CN" altLang="zh-CN" sz="1200" b="0" i="0" u="none" strike="noStrike" cap="none" normalizeH="0" baseline="0">
                <a:ln>
                  <a:noFill/>
                </a:ln>
                <a:solidFill>
                  <a:srgbClr val="000000"/>
                </a:solidFill>
                <a:effectLst/>
                <a:ea typeface="Inter"/>
              </a:rPr>
              <a:t>相加，结果存入向量</a:t>
            </a:r>
            <a:r>
              <a:rPr kumimoji="0" lang="zh-CN" altLang="zh-CN" sz="1200" b="0" i="0" u="none" strike="noStrike" cap="none" normalizeH="0" baseline="0">
                <a:ln>
                  <a:noFill/>
                </a:ln>
                <a:solidFill>
                  <a:srgbClr val="000000"/>
                </a:solidFill>
                <a:effectLst/>
                <a:latin typeface="Arial Unicode MS" panose="020B0604020202020204" pitchFamily="34" charset="-122"/>
                <a:ea typeface="Menlo"/>
              </a:rPr>
              <a:t>c</a:t>
            </a:r>
            <a:r>
              <a:rPr kumimoji="0" lang="zh-CN" altLang="zh-CN" sz="1200" b="0" i="0" u="none" strike="noStrike" cap="none" normalizeH="0" baseline="0">
                <a:ln>
                  <a:noFill/>
                </a:ln>
                <a:solidFill>
                  <a:srgbClr val="000000"/>
                </a:solidFill>
                <a:effectLst/>
                <a:ea typeface="Inter"/>
              </a:rPr>
              <a:t>（GPU 并行计算）。</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5577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TPU</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二、人工智能芯片</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ADE2C00E-4924-4036-834F-410BA6E825D7}"/>
              </a:ext>
            </a:extLst>
          </p:cNvPr>
          <p:cNvSpPr/>
          <p:nvPr/>
        </p:nvSpPr>
        <p:spPr>
          <a:xfrm>
            <a:off x="241852" y="1729325"/>
            <a:ext cx="11708295" cy="3693319"/>
          </a:xfrm>
          <a:prstGeom prst="rect">
            <a:avLst/>
          </a:prstGeom>
        </p:spPr>
        <p:txBody>
          <a:bodyPr wrap="square">
            <a:spAutoFit/>
          </a:bodyPr>
          <a:lstStyle/>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Tensor Processing Unit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）是一种专门用于加速人工智能计算的硬件加速器。它是由</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谷歌设计和开发</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的，旨在为深度学习任务提供高效的计算能力。</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的设计重点是针对机器学习和深度学习工作负载进行优化。与传统的中央处理器（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）和图形处理器（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）相比，</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在高度并行的矩阵乘法和向量运算上具有显著的性能优势</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。这使得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能够更快地执行深度神经网络的训练和推断任务。</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采用了特定的硬件架构和指令集，以支持高效的张量计算。它具有高内存带宽、低功耗和低延迟的特点，可在大规模深度学习模型的训练和推断中提供出色的性能。</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还具有高度可编程性和灵活性，可以支持多种深度学习框架和模型。</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谷歌将</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应用于其云计算平台，使开发人员能够在云端利用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来加速他们的人工智能任务。此外，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TPU</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还被用于谷歌的各种应用和服务中，包括语音识别、图像处理和自然语言处理等。</a:t>
            </a:r>
          </a:p>
        </p:txBody>
      </p:sp>
    </p:spTree>
    <p:extLst>
      <p:ext uri="{BB962C8B-B14F-4D97-AF65-F5344CB8AC3E}">
        <p14:creationId xmlns:p14="http://schemas.microsoft.com/office/powerpoint/2010/main" val="1522345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1915E1-A075-564E-0888-B9C34AAE1630}"/>
              </a:ext>
            </a:extLst>
          </p:cNvPr>
          <p:cNvPicPr>
            <a:picLocks noChangeAspect="1"/>
          </p:cNvPicPr>
          <p:nvPr/>
        </p:nvPicPr>
        <p:blipFill>
          <a:blip r:embed="rId2"/>
          <a:stretch>
            <a:fillRect/>
          </a:stretch>
        </p:blipFill>
        <p:spPr>
          <a:xfrm>
            <a:off x="2297057" y="1717721"/>
            <a:ext cx="7971428" cy="44285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 name="组合 3">
            <a:extLst>
              <a:ext uri="{FF2B5EF4-FFF2-40B4-BE49-F238E27FC236}">
                <a16:creationId xmlns:a16="http://schemas.microsoft.com/office/drawing/2014/main" id="{E450E68A-2DC6-6262-5717-179DEC3D20BD}"/>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3B184A80-C1C4-B484-2ACC-59C47521CB5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A3B4C548-F32A-0C99-28D6-4636AD10B101}"/>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B3C82654-128A-D81C-D5AC-EBC333DD00E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TPU</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cxnSp>
        <p:nvCxnSpPr>
          <p:cNvPr id="9" name="直接连接符 8">
            <a:extLst>
              <a:ext uri="{FF2B5EF4-FFF2-40B4-BE49-F238E27FC236}">
                <a16:creationId xmlns:a16="http://schemas.microsoft.com/office/drawing/2014/main" id="{67F66267-3C68-0559-0DA9-340A49C28784}"/>
              </a:ext>
            </a:extLst>
          </p:cNvPr>
          <p:cNvCxnSpPr>
            <a:cxnSpLocks/>
          </p:cNvCxnSpPr>
          <p:nvPr/>
        </p:nvCxnSpPr>
        <p:spPr>
          <a:xfrm>
            <a:off x="2921974" y="3143794"/>
            <a:ext cx="43845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5C8F60F-B257-C5A2-6D5D-1D866FDE9B4B}"/>
              </a:ext>
            </a:extLst>
          </p:cNvPr>
          <p:cNvCxnSpPr>
            <a:cxnSpLocks/>
          </p:cNvCxnSpPr>
          <p:nvPr/>
        </p:nvCxnSpPr>
        <p:spPr>
          <a:xfrm>
            <a:off x="3666556" y="3450771"/>
            <a:ext cx="35180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530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二、人工智能芯片</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1599DA8B-B16F-467E-927F-9265282F03A8}"/>
              </a:ext>
            </a:extLst>
          </p:cNvPr>
          <p:cNvSpPr/>
          <p:nvPr/>
        </p:nvSpPr>
        <p:spPr>
          <a:xfrm>
            <a:off x="959128" y="1863399"/>
            <a:ext cx="10838620" cy="4271682"/>
          </a:xfrm>
          <a:prstGeom prst="rect">
            <a:avLst/>
          </a:prstGeom>
        </p:spPr>
        <p:txBody>
          <a:bodyPr wrap="square">
            <a:spAutoFit/>
          </a:bodyPr>
          <a:lstStyle/>
          <a:p>
            <a:pPr marL="285750" indent="-285750">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可扩展处理器（</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XPU</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是一种灵活的人工智能芯片，可以同时支持多种类型的计算任务，如图像处理、语音识别和自然语言处理等。</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XPU</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的设计目标是</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在一颗芯片上集成多种类型的处理器</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CPU</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GPU</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DSP</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（数字信号处理器）等。它们通过硬件和软件的协同工作，将不同类型的计算任务分配给最适合的处理器，以实现高效的计算和能效。</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spcAft>
                <a:spcPts val="0"/>
              </a:spcAft>
              <a:buFont typeface="Wingdings" panose="05000000000000000000" pitchFamily="2" charset="2"/>
              <a:buChar char="l"/>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spcBef>
                <a:spcPts val="600"/>
              </a:spcBef>
              <a:spcAft>
                <a:spcPts val="600"/>
              </a:spcAft>
              <a:buFont typeface="Wingdings" panose="05000000000000000000" pitchFamily="2" charset="2"/>
              <a:buChar char="l"/>
            </a:pP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神经形态芯片</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Neuromorphic Chip</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：神经形态芯片</a:t>
            </a:r>
            <a:r>
              <a:rPr lang="zh-CN"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受人脑神经元结构和功能启发而设计的人工智能芯片，旨在模拟人脑思维计算模式和学习机制，因此采用了神经元模型和突触连接的特殊架构。它们通过并行计算和事件驱动的方式进行运算，模拟神经网络的行为。</a:t>
            </a:r>
            <a:r>
              <a:rPr lang="ja-JP" altLang="en-US"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架构仿生：摒弃传统冯・诺依曼架构的 “存储 </a:t>
            </a:r>
            <a:r>
              <a:rPr lang="en-US" altLang="ja-JP"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ja-JP" altLang="en-US"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计算分离”，采用 “神经元 </a:t>
            </a:r>
            <a:r>
              <a:rPr lang="en-US" altLang="ja-JP"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ja-JP" altLang="en-US"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突触” 的分布式结构，计算和存储就近完成（类似人脑神经信号传递）。</a:t>
            </a:r>
            <a:endPar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66517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10A0A43-8699-CA00-8366-642B07360EAC}"/>
              </a:ext>
            </a:extLst>
          </p:cNvPr>
          <p:cNvPicPr>
            <a:picLocks noChangeAspect="1"/>
          </p:cNvPicPr>
          <p:nvPr/>
        </p:nvPicPr>
        <p:blipFill>
          <a:blip r:embed="rId2"/>
          <a:stretch>
            <a:fillRect/>
          </a:stretch>
        </p:blipFill>
        <p:spPr>
          <a:xfrm>
            <a:off x="780732" y="320585"/>
            <a:ext cx="5546934" cy="2666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6" name="Picture 2">
            <a:extLst>
              <a:ext uri="{FF2B5EF4-FFF2-40B4-BE49-F238E27FC236}">
                <a16:creationId xmlns:a16="http://schemas.microsoft.com/office/drawing/2014/main" id="{A8D9D76C-BEEF-32FF-3A47-8F9DCF95B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2525" y="3116112"/>
            <a:ext cx="6453051" cy="342130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027103B6-31C1-0A4D-4DB7-4435C8C1384A}"/>
              </a:ext>
            </a:extLst>
          </p:cNvPr>
          <p:cNvSpPr txBox="1"/>
          <p:nvPr/>
        </p:nvSpPr>
        <p:spPr>
          <a:xfrm>
            <a:off x="6592388" y="399787"/>
            <a:ext cx="5169426" cy="2308324"/>
          </a:xfrm>
          <a:prstGeom prst="rect">
            <a:avLst/>
          </a:prstGeom>
          <a:noFill/>
        </p:spPr>
        <p:txBody>
          <a:bodyPr wrap="square">
            <a:spAutoFit/>
          </a:bodyPr>
          <a:lstStyle/>
          <a:p>
            <a:r>
              <a:rPr lang="zh-CN" altLang="en-US" b="0" i="0" dirty="0">
                <a:solidFill>
                  <a:srgbClr val="222222"/>
                </a:solidFill>
                <a:effectLst/>
                <a:latin typeface="arial" panose="020B0604020202020204" pitchFamily="34" charset="0"/>
              </a:rPr>
              <a:t>传统计算机：</a:t>
            </a:r>
            <a:endParaRPr lang="en-US" altLang="zh-CN" b="0" i="0" dirty="0">
              <a:solidFill>
                <a:srgbClr val="222222"/>
              </a:solidFill>
              <a:effectLst/>
              <a:latin typeface="arial" panose="020B0604020202020204" pitchFamily="34" charset="0"/>
            </a:endParaRPr>
          </a:p>
          <a:p>
            <a:pPr marL="285750" indent="-285750">
              <a:buFont typeface="Arial" panose="020B0604020202020204" pitchFamily="34" charset="0"/>
              <a:buChar char="•"/>
            </a:pPr>
            <a:r>
              <a:rPr lang="zh-CN" altLang="en-US" b="0" i="0" dirty="0">
                <a:solidFill>
                  <a:srgbClr val="222222"/>
                </a:solidFill>
                <a:effectLst/>
                <a:latin typeface="arial" panose="020B0604020202020204" pitchFamily="34" charset="0"/>
              </a:rPr>
              <a:t>主要基于冯</a:t>
            </a:r>
            <a:r>
              <a:rPr lang="en-US" altLang="zh-CN" b="0" i="0" dirty="0">
                <a:solidFill>
                  <a:srgbClr val="222222"/>
                </a:solidFill>
                <a:effectLst/>
                <a:latin typeface="arial" panose="020B0604020202020204" pitchFamily="34" charset="0"/>
              </a:rPr>
              <a:t>·</a:t>
            </a:r>
            <a:r>
              <a:rPr lang="zh-CN" altLang="en-US" b="0" i="0" dirty="0">
                <a:solidFill>
                  <a:srgbClr val="222222"/>
                </a:solidFill>
                <a:effectLst/>
                <a:latin typeface="arial" panose="020B0604020202020204" pitchFamily="34" charset="0"/>
              </a:rPr>
              <a:t>诺依曼架构，</a:t>
            </a:r>
            <a:r>
              <a:rPr lang="zh-CN" altLang="en-US" b="0" i="0" dirty="0">
                <a:solidFill>
                  <a:srgbClr val="FF0000"/>
                </a:solidFill>
                <a:effectLst/>
                <a:latin typeface="arial" panose="020B0604020202020204" pitchFamily="34" charset="0"/>
              </a:rPr>
              <a:t>计算和存储分离</a:t>
            </a:r>
            <a:r>
              <a:rPr lang="zh-CN" altLang="en-US" b="0" i="0" dirty="0">
                <a:solidFill>
                  <a:srgbClr val="222222"/>
                </a:solidFill>
                <a:effectLst/>
                <a:latin typeface="arial" panose="020B0604020202020204" pitchFamily="34" charset="0"/>
              </a:rPr>
              <a:t>，这在处理大量数据时会产生</a:t>
            </a:r>
            <a:r>
              <a:rPr lang="zh-CN" altLang="en-US" b="0" i="0" dirty="0">
                <a:solidFill>
                  <a:srgbClr val="FF0000"/>
                </a:solidFill>
                <a:effectLst/>
                <a:latin typeface="arial" panose="020B0604020202020204" pitchFamily="34" charset="0"/>
              </a:rPr>
              <a:t>“内存墙”</a:t>
            </a:r>
            <a:r>
              <a:rPr lang="zh-CN" altLang="en-US" b="0" i="0" dirty="0">
                <a:solidFill>
                  <a:srgbClr val="222222"/>
                </a:solidFill>
                <a:effectLst/>
                <a:latin typeface="arial" panose="020B0604020202020204" pitchFamily="34" charset="0"/>
              </a:rPr>
              <a:t>问题，即数据在处理器和存储器之间频繁移动导致速度变慢和能耗增加</a:t>
            </a:r>
            <a:endParaRPr lang="en-US" altLang="zh-CN" b="0" i="0" dirty="0">
              <a:solidFill>
                <a:srgbClr val="222222"/>
              </a:solidFill>
              <a:effectLst/>
              <a:latin typeface="arial" panose="020B0604020202020204" pitchFamily="34" charset="0"/>
            </a:endParaRPr>
          </a:p>
          <a:p>
            <a:pPr marL="285750" indent="-285750">
              <a:buFont typeface="Arial" panose="020B0604020202020204" pitchFamily="34" charset="0"/>
              <a:buChar char="•"/>
            </a:pPr>
            <a:r>
              <a:rPr lang="zh-CN" altLang="en-US" b="0" i="0" dirty="0">
                <a:effectLst/>
                <a:latin typeface="Inter"/>
              </a:rPr>
              <a:t>采用</a:t>
            </a:r>
            <a:r>
              <a:rPr lang="zh-CN" altLang="en-US" b="1" i="0" dirty="0">
                <a:solidFill>
                  <a:srgbClr val="FF0000"/>
                </a:solidFill>
                <a:effectLst/>
                <a:latin typeface="Inter"/>
              </a:rPr>
              <a:t>时钟周期驱动</a:t>
            </a:r>
            <a:r>
              <a:rPr lang="zh-CN" altLang="en-US" b="0" i="0" dirty="0">
                <a:effectLst/>
                <a:latin typeface="Inter"/>
              </a:rPr>
              <a:t>模式。它有固定的时钟频率，无论是否有实际计算任务，硬件单元都会随时钟周期持续运转。</a:t>
            </a:r>
            <a:endParaRPr lang="zh-CN" altLang="en-US" dirty="0"/>
          </a:p>
        </p:txBody>
      </p:sp>
      <p:sp>
        <p:nvSpPr>
          <p:cNvPr id="7" name="文本框 6">
            <a:extLst>
              <a:ext uri="{FF2B5EF4-FFF2-40B4-BE49-F238E27FC236}">
                <a16:creationId xmlns:a16="http://schemas.microsoft.com/office/drawing/2014/main" id="{B2F731AD-9F1F-823D-18A2-D0DE758E318D}"/>
              </a:ext>
            </a:extLst>
          </p:cNvPr>
          <p:cNvSpPr txBox="1"/>
          <p:nvPr/>
        </p:nvSpPr>
        <p:spPr>
          <a:xfrm>
            <a:off x="226424" y="3565884"/>
            <a:ext cx="5546934" cy="3139321"/>
          </a:xfrm>
          <a:prstGeom prst="rect">
            <a:avLst/>
          </a:prstGeom>
          <a:noFill/>
        </p:spPr>
        <p:txBody>
          <a:bodyPr wrap="square">
            <a:spAutoFit/>
          </a:bodyPr>
          <a:lstStyle/>
          <a:p>
            <a:pPr algn="just" latinLnBrk="0"/>
            <a:r>
              <a:rPr lang="zh-CN" altLang="en-US" b="0" i="0" dirty="0">
                <a:solidFill>
                  <a:srgbClr val="222222"/>
                </a:solidFill>
                <a:effectLst/>
                <a:latin typeface="arial" panose="020B0604020202020204" pitchFamily="34" charset="0"/>
              </a:rPr>
              <a:t>神经形态芯片：</a:t>
            </a:r>
          </a:p>
          <a:p>
            <a:pPr algn="just" latinLnBrk="0">
              <a:buFont typeface="Arial" panose="020B0604020202020204" pitchFamily="34" charset="0"/>
              <a:buChar char="•"/>
            </a:pPr>
            <a:r>
              <a:rPr lang="zh-CN" altLang="en-US" b="0" i="0" dirty="0">
                <a:solidFill>
                  <a:srgbClr val="FF0000"/>
                </a:solidFill>
                <a:effectLst/>
                <a:latin typeface="arial" panose="020B0604020202020204" pitchFamily="34" charset="0"/>
              </a:rPr>
              <a:t>存算一体</a:t>
            </a:r>
            <a:r>
              <a:rPr lang="zh-CN" altLang="en-US" b="0" i="0" dirty="0">
                <a:solidFill>
                  <a:srgbClr val="222222"/>
                </a:solidFill>
                <a:effectLst/>
                <a:latin typeface="arial" panose="020B0604020202020204" pitchFamily="34" charset="0"/>
              </a:rPr>
              <a:t>：模仿大脑，将存储和处理功能融合在一起，减少数据搬运，显著降低功耗。</a:t>
            </a:r>
          </a:p>
          <a:p>
            <a:pPr algn="just" latinLnBrk="0">
              <a:buFont typeface="Arial" panose="020B0604020202020204" pitchFamily="34" charset="0"/>
              <a:buChar char="•"/>
            </a:pPr>
            <a:r>
              <a:rPr lang="zh-CN" altLang="en-US" b="0" i="0" dirty="0">
                <a:solidFill>
                  <a:srgbClr val="FF0000"/>
                </a:solidFill>
                <a:effectLst/>
                <a:latin typeface="arial" panose="020B0604020202020204" pitchFamily="34" charset="0"/>
              </a:rPr>
              <a:t>事件驱动</a:t>
            </a:r>
            <a:r>
              <a:rPr lang="zh-CN" altLang="en-US" b="0" i="0" dirty="0">
                <a:solidFill>
                  <a:srgbClr val="222222"/>
                </a:solidFill>
                <a:effectLst/>
                <a:latin typeface="arial" panose="020B0604020202020204" pitchFamily="34" charset="0"/>
              </a:rPr>
              <a:t>：类似于大脑的运作方式，芯片中的“神经元”仅在接收到足够的输入刺激（脉冲）时才被激活并进行计算，没有动态信息生成时不会触发运算行为，</a:t>
            </a:r>
            <a:r>
              <a:rPr lang="zh-CN" altLang="en-US" b="0" i="0" dirty="0">
                <a:effectLst/>
                <a:latin typeface="PingFang SC"/>
              </a:rPr>
              <a:t>计算更稀疏，能耗显著降低</a:t>
            </a:r>
            <a:r>
              <a:rPr lang="zh-CN" altLang="en-US" b="0" i="0" dirty="0">
                <a:solidFill>
                  <a:srgbClr val="222222"/>
                </a:solidFill>
                <a:effectLst/>
                <a:latin typeface="arial" panose="020B0604020202020204" pitchFamily="34" charset="0"/>
              </a:rPr>
              <a:t>。</a:t>
            </a:r>
          </a:p>
          <a:p>
            <a:pPr algn="just" latinLnBrk="0">
              <a:buFont typeface="Arial" panose="020B0604020202020204" pitchFamily="34" charset="0"/>
              <a:buChar char="•"/>
            </a:pPr>
            <a:r>
              <a:rPr lang="zh-CN" altLang="en-US" b="0" i="0" dirty="0">
                <a:solidFill>
                  <a:srgbClr val="FF0000"/>
                </a:solidFill>
                <a:effectLst/>
                <a:latin typeface="arial" panose="020B0604020202020204" pitchFamily="34" charset="0"/>
              </a:rPr>
              <a:t>大规模并行处理</a:t>
            </a:r>
            <a:r>
              <a:rPr lang="zh-CN" altLang="en-US" b="0" i="0" dirty="0">
                <a:solidFill>
                  <a:srgbClr val="222222"/>
                </a:solidFill>
                <a:effectLst/>
                <a:latin typeface="arial" panose="020B0604020202020204" pitchFamily="34" charset="0"/>
              </a:rPr>
              <a:t>：像大脑中的神经元网络一样，神经形态芯片支持高度并行的计算模式。</a:t>
            </a:r>
            <a:endParaRPr lang="en-US" altLang="zh-CN" b="0" i="0" dirty="0">
              <a:solidFill>
                <a:srgbClr val="222222"/>
              </a:solidFill>
              <a:effectLst/>
              <a:latin typeface="arial" panose="020B0604020202020204" pitchFamily="34" charset="0"/>
            </a:endParaRPr>
          </a:p>
          <a:p>
            <a:pPr algn="just" latinLnBrk="0">
              <a:buFont typeface="Arial" panose="020B0604020202020204" pitchFamily="34" charset="0"/>
              <a:buChar char="•"/>
            </a:pPr>
            <a:r>
              <a:rPr lang="zh-CN" altLang="en-US" b="0" i="0" dirty="0">
                <a:solidFill>
                  <a:srgbClr val="222222"/>
                </a:solidFill>
                <a:effectLst/>
                <a:latin typeface="arial" panose="020B0604020202020204" pitchFamily="34" charset="0"/>
              </a:rPr>
              <a:t>神经形态芯片通常运行</a:t>
            </a:r>
            <a:r>
              <a:rPr lang="zh-CN" altLang="en-US" b="0" i="0" dirty="0">
                <a:solidFill>
                  <a:srgbClr val="FF0000"/>
                </a:solidFill>
                <a:effectLst/>
                <a:latin typeface="arial" panose="020B0604020202020204" pitchFamily="34" charset="0"/>
              </a:rPr>
              <a:t>脉冲神经网络（</a:t>
            </a:r>
            <a:r>
              <a:rPr lang="en-US" altLang="zh-CN" b="0" i="0" dirty="0">
                <a:solidFill>
                  <a:srgbClr val="FF0000"/>
                </a:solidFill>
                <a:effectLst/>
                <a:latin typeface="arial" panose="020B0604020202020204" pitchFamily="34" charset="0"/>
              </a:rPr>
              <a:t>SNN, Spiking Neural Network</a:t>
            </a:r>
            <a:r>
              <a:rPr lang="zh-CN" altLang="en-US" b="0" i="0" dirty="0">
                <a:solidFill>
                  <a:srgbClr val="FF0000"/>
                </a:solidFill>
                <a:effectLst/>
                <a:latin typeface="arial" panose="020B0604020202020204" pitchFamily="34" charset="0"/>
              </a:rPr>
              <a:t>）</a:t>
            </a:r>
            <a:r>
              <a:rPr lang="zh-CN" altLang="en-US" b="0" i="0" dirty="0">
                <a:solidFill>
                  <a:srgbClr val="222222"/>
                </a:solidFill>
                <a:effectLst/>
                <a:latin typeface="arial" panose="020B0604020202020204" pitchFamily="34" charset="0"/>
              </a:rPr>
              <a:t>，</a:t>
            </a:r>
            <a:r>
              <a:rPr lang="zh-CN" altLang="en-US" b="0" i="0" dirty="0">
                <a:solidFill>
                  <a:srgbClr val="333333"/>
                </a:solidFill>
                <a:effectLst/>
                <a:latin typeface="PingFang SC"/>
              </a:rPr>
              <a:t>仅在脉冲发生时激活</a:t>
            </a:r>
            <a:endParaRPr lang="zh-CN" altLang="en-US"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4196373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人工智能芯片：端侧</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二、人工智能芯片</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1599DA8B-B16F-467E-927F-9265282F03A8}"/>
              </a:ext>
            </a:extLst>
          </p:cNvPr>
          <p:cNvSpPr/>
          <p:nvPr/>
        </p:nvSpPr>
        <p:spPr>
          <a:xfrm>
            <a:off x="959128" y="1863399"/>
            <a:ext cx="10838620" cy="1706878"/>
          </a:xfrm>
          <a:prstGeom prst="rect">
            <a:avLst/>
          </a:prstGeom>
        </p:spPr>
        <p:txBody>
          <a:bodyPr wrap="square">
            <a:spAutoFit/>
          </a:bodyPr>
          <a:lstStyle/>
          <a:p>
            <a:pPr marL="285750" indent="-285750">
              <a:lnSpc>
                <a:spcPct val="150000"/>
              </a:lnSpc>
              <a:spcAft>
                <a:spcPts val="0"/>
              </a:spcAft>
              <a:buFont typeface="Wingdings" panose="05000000000000000000" pitchFamily="2" charset="2"/>
              <a:buChar char="l"/>
            </a:pPr>
            <a:r>
              <a:rPr lang="zh-CN" altLang="en-US" b="1" i="0" dirty="0">
                <a:solidFill>
                  <a:srgbClr val="000000"/>
                </a:solidFill>
                <a:effectLst/>
                <a:latin typeface="Inter"/>
              </a:rPr>
              <a:t>神经网络处理单元（</a:t>
            </a:r>
            <a:r>
              <a:rPr lang="en-US" altLang="zh-CN" b="1" i="0" dirty="0">
                <a:solidFill>
                  <a:srgbClr val="000000"/>
                </a:solidFill>
                <a:effectLst/>
                <a:latin typeface="Inter"/>
              </a:rPr>
              <a:t>NPU</a:t>
            </a:r>
            <a:r>
              <a:rPr lang="zh-CN" altLang="en-US" b="1" i="0" dirty="0">
                <a:solidFill>
                  <a:srgbClr val="000000"/>
                </a:solidFill>
                <a:effectLst/>
                <a:latin typeface="Inter"/>
              </a:rPr>
              <a:t>）</a:t>
            </a:r>
            <a:endParaRPr lang="en-US" altLang="zh-CN" b="1" i="0" dirty="0">
              <a:solidFill>
                <a:srgbClr val="000000"/>
              </a:solidFill>
              <a:effectLst/>
              <a:latin typeface="Inter"/>
            </a:endParaRPr>
          </a:p>
          <a:p>
            <a:pPr marL="285750" indent="-285750">
              <a:lnSpc>
                <a:spcPct val="150000"/>
              </a:lnSpc>
              <a:spcAft>
                <a:spcPts val="0"/>
              </a:spcAft>
              <a:buFont typeface="Wingdings" panose="05000000000000000000" pitchFamily="2" charset="2"/>
              <a:buChar char="l"/>
            </a:pPr>
            <a:r>
              <a:rPr lang="zh-CN" altLang="en-US" b="1" i="0" dirty="0">
                <a:solidFill>
                  <a:srgbClr val="000000"/>
                </a:solidFill>
                <a:effectLst/>
                <a:latin typeface="Inter"/>
              </a:rPr>
              <a:t>低功耗图形处理器（</a:t>
            </a:r>
            <a:r>
              <a:rPr lang="en-US" altLang="zh-CN" b="1" i="0" dirty="0">
                <a:solidFill>
                  <a:srgbClr val="000000"/>
                </a:solidFill>
                <a:effectLst/>
                <a:latin typeface="Inter"/>
              </a:rPr>
              <a:t>GPU</a:t>
            </a:r>
            <a:r>
              <a:rPr lang="zh-CN" altLang="en-US" b="1" i="0" dirty="0">
                <a:solidFill>
                  <a:srgbClr val="000000"/>
                </a:solidFill>
                <a:effectLst/>
                <a:latin typeface="Inter"/>
              </a:rPr>
              <a:t>）</a:t>
            </a:r>
            <a:endParaRPr lang="en-US" altLang="zh-CN" b="1" dirty="0">
              <a:solidFill>
                <a:srgbClr val="000000"/>
              </a:solidFill>
              <a:latin typeface="Inter"/>
            </a:endParaRPr>
          </a:p>
          <a:p>
            <a:pPr marL="285750" indent="-285750">
              <a:lnSpc>
                <a:spcPct val="150000"/>
              </a:lnSpc>
              <a:spcAft>
                <a:spcPts val="0"/>
              </a:spcAft>
              <a:buFont typeface="Wingdings" panose="05000000000000000000" pitchFamily="2" charset="2"/>
              <a:buChar char="l"/>
            </a:pPr>
            <a:r>
              <a:rPr lang="zh-CN" altLang="en-US" b="1" i="0" dirty="0">
                <a:solidFill>
                  <a:srgbClr val="000000"/>
                </a:solidFill>
                <a:effectLst/>
                <a:latin typeface="Inter"/>
              </a:rPr>
              <a:t>端侧张量处理单元（</a:t>
            </a:r>
            <a:r>
              <a:rPr lang="en-US" altLang="zh-CN" b="1" i="0" dirty="0">
                <a:solidFill>
                  <a:srgbClr val="000000"/>
                </a:solidFill>
                <a:effectLst/>
                <a:latin typeface="Inter"/>
              </a:rPr>
              <a:t>TPU</a:t>
            </a:r>
            <a:r>
              <a:rPr lang="zh-CN" altLang="en-US" b="1" i="0" dirty="0">
                <a:solidFill>
                  <a:srgbClr val="000000"/>
                </a:solidFill>
                <a:effectLst/>
                <a:latin typeface="Inter"/>
              </a:rPr>
              <a:t>）</a:t>
            </a:r>
            <a:endParaRPr lang="en-US" altLang="zh-CN" b="1" i="0" dirty="0">
              <a:solidFill>
                <a:srgbClr val="000000"/>
              </a:solidFill>
              <a:effectLst/>
              <a:latin typeface="Inter"/>
            </a:endParaRPr>
          </a:p>
          <a:p>
            <a:pPr marL="285750" indent="-285750">
              <a:lnSpc>
                <a:spcPct val="150000"/>
              </a:lnSpc>
              <a:spcAft>
                <a:spcPts val="0"/>
              </a:spcAft>
              <a:buFont typeface="Wingdings" panose="05000000000000000000" pitchFamily="2" charset="2"/>
              <a:buChar char="l"/>
            </a:pPr>
            <a:r>
              <a:rPr lang="zh-CN" altLang="en-US" b="1" i="0" dirty="0">
                <a:solidFill>
                  <a:srgbClr val="000000"/>
                </a:solidFill>
                <a:effectLst/>
                <a:latin typeface="Inter"/>
              </a:rPr>
              <a:t>现场可编程门阵列（</a:t>
            </a:r>
            <a:r>
              <a:rPr lang="en-US" altLang="zh-CN" b="1" i="0" dirty="0">
                <a:solidFill>
                  <a:srgbClr val="000000"/>
                </a:solidFill>
                <a:effectLst/>
                <a:latin typeface="Inter"/>
              </a:rPr>
              <a:t>FPGA</a:t>
            </a:r>
            <a:r>
              <a:rPr lang="zh-CN" altLang="en-US" b="1" i="0" dirty="0">
                <a:solidFill>
                  <a:srgbClr val="000000"/>
                </a:solidFill>
                <a:effectLst/>
                <a:latin typeface="Inter"/>
              </a:rPr>
              <a:t>）</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D3EF02A2-9553-75AE-9ABA-5E669E9ED981}"/>
              </a:ext>
            </a:extLst>
          </p:cNvPr>
          <p:cNvPicPr>
            <a:picLocks noChangeAspect="1"/>
          </p:cNvPicPr>
          <p:nvPr/>
        </p:nvPicPr>
        <p:blipFill>
          <a:blip r:embed="rId3"/>
          <a:stretch>
            <a:fillRect/>
          </a:stretch>
        </p:blipFill>
        <p:spPr>
          <a:xfrm>
            <a:off x="4734817" y="1646467"/>
            <a:ext cx="3419048" cy="3847619"/>
          </a:xfrm>
          <a:prstGeom prst="rect">
            <a:avLst/>
          </a:prstGeom>
        </p:spPr>
      </p:pic>
      <p:sp>
        <p:nvSpPr>
          <p:cNvPr id="10" name="文本框 9">
            <a:extLst>
              <a:ext uri="{FF2B5EF4-FFF2-40B4-BE49-F238E27FC236}">
                <a16:creationId xmlns:a16="http://schemas.microsoft.com/office/drawing/2014/main" id="{613604DA-786B-8CF3-96FC-1E3E3C7EA692}"/>
              </a:ext>
            </a:extLst>
          </p:cNvPr>
          <p:cNvSpPr txBox="1"/>
          <p:nvPr/>
        </p:nvSpPr>
        <p:spPr>
          <a:xfrm>
            <a:off x="4914665" y="5526352"/>
            <a:ext cx="3059352" cy="646331"/>
          </a:xfrm>
          <a:prstGeom prst="rect">
            <a:avLst/>
          </a:prstGeom>
          <a:noFill/>
        </p:spPr>
        <p:txBody>
          <a:bodyPr wrap="square">
            <a:spAutoFit/>
          </a:bodyPr>
          <a:lstStyle/>
          <a:p>
            <a:r>
              <a:rPr lang="zh-CN" altLang="en-US" b="0" i="0" dirty="0">
                <a:effectLst/>
                <a:latin typeface="Inter"/>
              </a:rPr>
              <a:t>华为手机的麒麟芯片的 </a:t>
            </a:r>
            <a:r>
              <a:rPr lang="en-US" altLang="zh-CN" b="0" i="0" dirty="0">
                <a:effectLst/>
                <a:latin typeface="Inter"/>
              </a:rPr>
              <a:t>NPU</a:t>
            </a:r>
          </a:p>
          <a:p>
            <a:pPr algn="ctr"/>
            <a:r>
              <a:rPr lang="zh-CN" altLang="en-US" dirty="0">
                <a:latin typeface="Inter"/>
              </a:rPr>
              <a:t>华为海思</a:t>
            </a:r>
            <a:endParaRPr lang="zh-CN" altLang="en-US" dirty="0"/>
          </a:p>
        </p:txBody>
      </p:sp>
      <p:pic>
        <p:nvPicPr>
          <p:cNvPr id="5122" name="Picture 2">
            <a:extLst>
              <a:ext uri="{FF2B5EF4-FFF2-40B4-BE49-F238E27FC236}">
                <a16:creationId xmlns:a16="http://schemas.microsoft.com/office/drawing/2014/main" id="{CA88E5E9-A5DC-DFE1-93DE-DC9166F830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8040" y="1646467"/>
            <a:ext cx="3887833" cy="3071388"/>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E3DA4580-2E96-6223-08B0-28AC3FE345B7}"/>
              </a:ext>
            </a:extLst>
          </p:cNvPr>
          <p:cNvSpPr txBox="1"/>
          <p:nvPr/>
        </p:nvSpPr>
        <p:spPr>
          <a:xfrm>
            <a:off x="9596844" y="4717855"/>
            <a:ext cx="1524000" cy="369332"/>
          </a:xfrm>
          <a:prstGeom prst="rect">
            <a:avLst/>
          </a:prstGeom>
          <a:noFill/>
        </p:spPr>
        <p:txBody>
          <a:bodyPr wrap="square">
            <a:spAutoFit/>
          </a:bodyPr>
          <a:lstStyle/>
          <a:p>
            <a:r>
              <a:rPr lang="zh-CN" altLang="en-US" dirty="0"/>
              <a:t>NVIDIA Jetson</a:t>
            </a:r>
          </a:p>
        </p:txBody>
      </p:sp>
      <p:pic>
        <p:nvPicPr>
          <p:cNvPr id="5124" name="Picture 4">
            <a:extLst>
              <a:ext uri="{FF2B5EF4-FFF2-40B4-BE49-F238E27FC236}">
                <a16:creationId xmlns:a16="http://schemas.microsoft.com/office/drawing/2014/main" id="{618CF344-9A8E-A9C8-52BB-05687E9DDA1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6893" y="3695992"/>
            <a:ext cx="4152973" cy="2782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231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A1ACC4B-903C-1DB7-79F0-B467A6134565}"/>
              </a:ext>
            </a:extLst>
          </p:cNvPr>
          <p:cNvPicPr>
            <a:picLocks noChangeAspect="1"/>
          </p:cNvPicPr>
          <p:nvPr/>
        </p:nvPicPr>
        <p:blipFill>
          <a:blip r:embed="rId2"/>
          <a:stretch>
            <a:fillRect/>
          </a:stretch>
        </p:blipFill>
        <p:spPr>
          <a:xfrm>
            <a:off x="1931362" y="1684354"/>
            <a:ext cx="8329275" cy="34892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 name="组合 3">
            <a:extLst>
              <a:ext uri="{FF2B5EF4-FFF2-40B4-BE49-F238E27FC236}">
                <a16:creationId xmlns:a16="http://schemas.microsoft.com/office/drawing/2014/main" id="{092555B7-CF9B-A251-FC4F-F3FB3FA24C1E}"/>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642056D0-E317-C3DF-3BE8-E3C6D99BF741}"/>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6485035A-6560-7FC9-8DCE-91187680A1D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B311A736-EFFD-47B9-0130-730F265C1B74}"/>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人工智能芯片：端侧</a:t>
              </a:r>
            </a:p>
          </p:txBody>
        </p:sp>
      </p:grpSp>
    </p:spTree>
    <p:extLst>
      <p:ext uri="{BB962C8B-B14F-4D97-AF65-F5344CB8AC3E}">
        <p14:creationId xmlns:p14="http://schemas.microsoft.com/office/powerpoint/2010/main" val="2050412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人工智能编程框架</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6D385C63-54FA-4C8E-887E-0297AA90465A}"/>
              </a:ext>
            </a:extLst>
          </p:cNvPr>
          <p:cNvSpPr/>
          <p:nvPr/>
        </p:nvSpPr>
        <p:spPr>
          <a:xfrm>
            <a:off x="852473" y="1514200"/>
            <a:ext cx="10459498" cy="4662815"/>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当前人工智能算法和模型变得越来越复杂，为了让编程人员更容易开发新的应用，降低算法研发门槛，一些人工智能编程框架、特别是深度学习框架应运而出。</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TensorFlow</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谷歌</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开源的端到端开源机器学习框架，拥有相当全面而灵活的生态系统，其中包含各种工具、库和社区资源。</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PyTorch</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Facebook</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主导，定位为从学术研究走向生产部署的深度学习框架，其独特的动态图执行模式提供了极佳的调试易用性。</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PaddlePaddle</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百度</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多年的深度学习技术研究和业务应用为基础的开源的产级深度学习框架，它集深度学习核心训练和推理框架、基础模型库、端到端开发套件和丰富的工具组件。</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MindSpore</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华为</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面向端云协同、全场景部署的</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 </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计算框架，结合华为自有的昇腾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处理器实现软硬协同优化，并提供了大规模训练自动并行等特有能力。深度学习编程框架将算法模型、硬件系统、编程人员和场景应用等要素有机联系起来，使得人工智能迸发</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使能</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之力。</a:t>
            </a:r>
          </a:p>
        </p:txBody>
      </p:sp>
    </p:spTree>
    <p:extLst>
      <p:ext uri="{BB962C8B-B14F-4D97-AF65-F5344CB8AC3E}">
        <p14:creationId xmlns:p14="http://schemas.microsoft.com/office/powerpoint/2010/main" val="333300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F2AF9634-5AAB-549C-1B82-38BF4086B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412" y="1604282"/>
            <a:ext cx="7115175" cy="417195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02459D3E-F5F9-65E8-4CDC-E47EDA46884C}"/>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149CA9DD-471B-CB4C-8C6C-A3B8E7E7F07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027D21A2-E27A-D81B-F4BD-4EB4E286016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185A3536-5A45-239D-A247-0AFFAD70451B}"/>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人工智能编程框架</a:t>
              </a:r>
            </a:p>
          </p:txBody>
        </p:sp>
      </p:grpSp>
    </p:spTree>
    <p:extLst>
      <p:ext uri="{BB962C8B-B14F-4D97-AF65-F5344CB8AC3E}">
        <p14:creationId xmlns:p14="http://schemas.microsoft.com/office/powerpoint/2010/main" val="2138381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分布式</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神经网络训练算法与系统</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A531CB4D-2426-4FFB-BCB9-5240EA6A387A}"/>
              </a:ext>
            </a:extLst>
          </p:cNvPr>
          <p:cNvSpPr/>
          <p:nvPr/>
        </p:nvSpPr>
        <p:spPr>
          <a:xfrm>
            <a:off x="571500" y="1514200"/>
            <a:ext cx="10873409" cy="923330"/>
          </a:xfrm>
          <a:prstGeom prst="rect">
            <a:avLst/>
          </a:prstGeom>
        </p:spPr>
        <p:txBody>
          <a:bodyPr wrap="square">
            <a:spAutoFit/>
          </a:bodyPr>
          <a:lstStyle/>
          <a:p>
            <a:r>
              <a:rPr lang="zh-CN" altLang="zh-CN" dirty="0">
                <a:latin typeface="楷体" panose="02010609060101010101" pitchFamily="49" charset="-122"/>
                <a:ea typeface="楷体" panose="02010609060101010101" pitchFamily="49" charset="-122"/>
                <a:cs typeface="Times New Roman" panose="02020603050405020304" pitchFamily="18" charset="0"/>
              </a:rPr>
              <a:t>分布式神经网络训练算法是一种</a:t>
            </a:r>
            <a:r>
              <a:rPr lang="zh-CN"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将神经网络训练任务分布在多台计算设备上并协同工作的方法</a:t>
            </a:r>
            <a:r>
              <a:rPr lang="zh-CN" altLang="zh-CN" dirty="0">
                <a:latin typeface="楷体" panose="02010609060101010101" pitchFamily="49" charset="-122"/>
                <a:ea typeface="楷体" panose="02010609060101010101" pitchFamily="49" charset="-122"/>
                <a:cs typeface="Times New Roman" panose="02020603050405020304" pitchFamily="18" charset="0"/>
              </a:rPr>
              <a:t>。它通过将数据和计算任务划分为多个部分，分配给不同的计算节点并利用并行计算能力，加快神经网络的训练速度和性能。目前主流的并行算法主要包括</a:t>
            </a:r>
            <a:r>
              <a:rPr lang="zh-CN"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数据并行、张量并行和流水线并行</a:t>
            </a:r>
            <a:r>
              <a:rPr lang="zh-CN" altLang="zh-CN" dirty="0">
                <a:latin typeface="楷体" panose="02010609060101010101" pitchFamily="49" charset="-122"/>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pic>
        <p:nvPicPr>
          <p:cNvPr id="8" name="图片 7">
            <a:extLst>
              <a:ext uri="{FF2B5EF4-FFF2-40B4-BE49-F238E27FC236}">
                <a16:creationId xmlns:a16="http://schemas.microsoft.com/office/drawing/2014/main" id="{4F75C869-63FB-4D98-BBD4-564C9E225ACB}"/>
              </a:ext>
            </a:extLst>
          </p:cNvPr>
          <p:cNvPicPr>
            <a:picLocks noChangeAspect="1"/>
          </p:cNvPicPr>
          <p:nvPr/>
        </p:nvPicPr>
        <p:blipFill>
          <a:blip r:embed="rId3"/>
          <a:stretch>
            <a:fillRect/>
          </a:stretch>
        </p:blipFill>
        <p:spPr>
          <a:xfrm>
            <a:off x="6728171" y="2566375"/>
            <a:ext cx="5294093" cy="3258561"/>
          </a:xfrm>
          <a:prstGeom prst="rect">
            <a:avLst/>
          </a:prstGeom>
        </p:spPr>
      </p:pic>
      <p:sp>
        <p:nvSpPr>
          <p:cNvPr id="9" name="矩形 8">
            <a:extLst>
              <a:ext uri="{FF2B5EF4-FFF2-40B4-BE49-F238E27FC236}">
                <a16:creationId xmlns:a16="http://schemas.microsoft.com/office/drawing/2014/main" id="{EF33E677-2F9A-4A84-B7E7-52284DB7B73A}"/>
              </a:ext>
            </a:extLst>
          </p:cNvPr>
          <p:cNvSpPr/>
          <p:nvPr/>
        </p:nvSpPr>
        <p:spPr>
          <a:xfrm>
            <a:off x="632172" y="2665098"/>
            <a:ext cx="6096000" cy="3458639"/>
          </a:xfrm>
          <a:prstGeom prst="rect">
            <a:avLst/>
          </a:prstGeom>
        </p:spPr>
        <p:txBody>
          <a:bodyPr>
            <a:spAutoFit/>
          </a:bodyPr>
          <a:lstStyle/>
          <a:p>
            <a:pPr indent="266700" algn="just">
              <a:lnSpc>
                <a:spcPts val="2200"/>
              </a:lnSpc>
              <a:spcAft>
                <a:spcPts val="0"/>
              </a:spcAft>
            </a:pP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数据并行</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DP/DDP</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：当训练数据量无法放下一个计算节点时，需要把训练数据分配到不同的计算节点上，每个计算节点均有一份完整的模型，在其本地存放的数据上进行训练。</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数据并行的代价</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计算节点之间需要高频率通讯梯度或同步模型，使得每个计算节点都能在每次迭代中使用全局模型，而在此基础上算梯度。</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梯度或模型的更新需要大量的网络传输，</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容易导致传统网络通信的高延时、低带宽，成为</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整个模型训练的性能瓶颈。</a:t>
            </a:r>
          </a:p>
        </p:txBody>
      </p:sp>
    </p:spTree>
    <p:extLst>
      <p:ext uri="{BB962C8B-B14F-4D97-AF65-F5344CB8AC3E}">
        <p14:creationId xmlns:p14="http://schemas.microsoft.com/office/powerpoint/2010/main" val="1107014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6EA34E2-1241-23DF-CD38-BAF2AE3202D7}"/>
              </a:ext>
            </a:extLst>
          </p:cNvPr>
          <p:cNvPicPr>
            <a:picLocks noChangeAspect="1"/>
          </p:cNvPicPr>
          <p:nvPr/>
        </p:nvPicPr>
        <p:blipFill>
          <a:blip r:embed="rId2"/>
          <a:stretch>
            <a:fillRect/>
          </a:stretch>
        </p:blipFill>
        <p:spPr>
          <a:xfrm>
            <a:off x="4794470" y="0"/>
            <a:ext cx="6591586" cy="6858000"/>
          </a:xfrm>
          <a:prstGeom prst="rect">
            <a:avLst/>
          </a:prstGeom>
        </p:spPr>
      </p:pic>
      <p:sp>
        <p:nvSpPr>
          <p:cNvPr id="7" name="文本框 6">
            <a:extLst>
              <a:ext uri="{FF2B5EF4-FFF2-40B4-BE49-F238E27FC236}">
                <a16:creationId xmlns:a16="http://schemas.microsoft.com/office/drawing/2014/main" id="{1841926B-1B7A-27BC-0F53-459B5CB9C826}"/>
              </a:ext>
            </a:extLst>
          </p:cNvPr>
          <p:cNvSpPr txBox="1"/>
          <p:nvPr/>
        </p:nvSpPr>
        <p:spPr>
          <a:xfrm>
            <a:off x="322217" y="3429000"/>
            <a:ext cx="5460274" cy="923330"/>
          </a:xfrm>
          <a:prstGeom prst="rect">
            <a:avLst/>
          </a:prstGeom>
          <a:noFill/>
        </p:spPr>
        <p:txBody>
          <a:bodyPr wrap="square">
            <a:spAutoFit/>
          </a:bodyPr>
          <a:lstStyle/>
          <a:p>
            <a:pPr algn="just"/>
            <a:r>
              <a:rPr lang="zh-CN" altLang="en-US" dirty="0"/>
              <a:t>数据并行的核心思想是将训练数据分割到多个</a:t>
            </a:r>
            <a:r>
              <a:rPr lang="en-US" altLang="zh-CN" dirty="0"/>
              <a:t>GPU</a:t>
            </a:r>
            <a:r>
              <a:rPr lang="zh-CN" altLang="en-US" dirty="0"/>
              <a:t>上，每个</a:t>
            </a:r>
            <a:r>
              <a:rPr lang="en-US" altLang="zh-CN" dirty="0"/>
              <a:t>GPU</a:t>
            </a:r>
            <a:r>
              <a:rPr lang="zh-CN" altLang="en-US" dirty="0"/>
              <a:t>持有完整的模型副本，独立计算梯度，然后通过</a:t>
            </a:r>
            <a:r>
              <a:rPr lang="en-US" altLang="zh-CN" dirty="0"/>
              <a:t>All-Reduce</a:t>
            </a:r>
            <a:r>
              <a:rPr lang="zh-CN" altLang="en-US" dirty="0"/>
              <a:t>操作同步梯度。</a:t>
            </a:r>
          </a:p>
        </p:txBody>
      </p:sp>
    </p:spTree>
    <p:extLst>
      <p:ext uri="{BB962C8B-B14F-4D97-AF65-F5344CB8AC3E}">
        <p14:creationId xmlns:p14="http://schemas.microsoft.com/office/powerpoint/2010/main" val="1290314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分布式神经网络训练算法与系统</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0B7692E9-BBFE-4EB5-ABD7-815A511DC8D2}"/>
              </a:ext>
            </a:extLst>
          </p:cNvPr>
          <p:cNvPicPr>
            <a:picLocks noChangeAspect="1"/>
          </p:cNvPicPr>
          <p:nvPr/>
        </p:nvPicPr>
        <p:blipFill>
          <a:blip r:embed="rId3"/>
          <a:stretch>
            <a:fillRect/>
          </a:stretch>
        </p:blipFill>
        <p:spPr>
          <a:xfrm>
            <a:off x="6897125" y="2482202"/>
            <a:ext cx="4869575" cy="2585323"/>
          </a:xfrm>
          <a:prstGeom prst="rect">
            <a:avLst/>
          </a:prstGeom>
        </p:spPr>
      </p:pic>
      <p:sp>
        <p:nvSpPr>
          <p:cNvPr id="10" name="矩形 9">
            <a:extLst>
              <a:ext uri="{FF2B5EF4-FFF2-40B4-BE49-F238E27FC236}">
                <a16:creationId xmlns:a16="http://schemas.microsoft.com/office/drawing/2014/main" id="{CFC47A0D-B9E1-45FE-A762-FD36638FBE4D}"/>
              </a:ext>
            </a:extLst>
          </p:cNvPr>
          <p:cNvSpPr/>
          <p:nvPr/>
        </p:nvSpPr>
        <p:spPr>
          <a:xfrm>
            <a:off x="312088" y="2351909"/>
            <a:ext cx="6399144" cy="2554545"/>
          </a:xfrm>
          <a:prstGeom prst="rect">
            <a:avLst/>
          </a:prstGeom>
        </p:spPr>
        <p:txBody>
          <a:bodyPr wrap="square">
            <a:spAutoFit/>
          </a:bodyPr>
          <a:lstStyle/>
          <a:p>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张量并行</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TP</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：当机器学习模型太大时，无法存储于一个计算节点，</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将模型的权重矩阵按行或列分割</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模型并行的代价</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训练的每次迭代过程中需要共享神经元的结果，这个共享对网络通信的要求是低延时、高带宽，而目前基于传统网络设备的计算节点之间的延时比较高，导致共享神经元的代价特别大，故一般只在节点内部多加速器之间才能高效完成张量并行</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训练。</a:t>
            </a:r>
          </a:p>
        </p:txBody>
      </p:sp>
    </p:spTree>
    <p:extLst>
      <p:ext uri="{BB962C8B-B14F-4D97-AF65-F5344CB8AC3E}">
        <p14:creationId xmlns:p14="http://schemas.microsoft.com/office/powerpoint/2010/main" val="205386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分布式神经网络训练算法与系统</a:t>
              </a:r>
              <a:endPar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CFC47A0D-B9E1-45FE-A762-FD36638FBE4D}"/>
              </a:ext>
            </a:extLst>
          </p:cNvPr>
          <p:cNvSpPr/>
          <p:nvPr/>
        </p:nvSpPr>
        <p:spPr>
          <a:xfrm>
            <a:off x="187411" y="2121057"/>
            <a:ext cx="6885031" cy="4188904"/>
          </a:xfrm>
          <a:prstGeom prst="rect">
            <a:avLst/>
          </a:prstGeom>
        </p:spPr>
        <p:txBody>
          <a:bodyPr wrap="square">
            <a:spAutoFit/>
          </a:bodyPr>
          <a:lstStyle/>
          <a:p>
            <a:pPr>
              <a:lnSpc>
                <a:spcPct val="150000"/>
              </a:lnSpc>
            </a:pP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流水线并行</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Pipeline Parallelism</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PP</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：当机器学习模型太大时，无法存储于一个计算节点，</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将模型按层分割，并进行工厂流水线式地数据处理。</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流水线并行需保证每个阶段的计算负载均衡，以减少短板效应带来的负面影响。相邻阶段之间需传递神经元，故减少阶段之间跨节点的通信开销需要低延时、高带宽网络通信，故如何减少通信延时、提高通信带宽是充分发挥流水线并行训练潜能的</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关键。</a:t>
            </a:r>
          </a:p>
        </p:txBody>
      </p:sp>
      <p:pic>
        <p:nvPicPr>
          <p:cNvPr id="8" name="图片 7">
            <a:extLst>
              <a:ext uri="{FF2B5EF4-FFF2-40B4-BE49-F238E27FC236}">
                <a16:creationId xmlns:a16="http://schemas.microsoft.com/office/drawing/2014/main" id="{F017B861-31C5-4BA7-AF8D-35F5A8BDB7F7}"/>
              </a:ext>
            </a:extLst>
          </p:cNvPr>
          <p:cNvPicPr>
            <a:picLocks noChangeAspect="1"/>
          </p:cNvPicPr>
          <p:nvPr/>
        </p:nvPicPr>
        <p:blipFill>
          <a:blip r:embed="rId3"/>
          <a:stretch>
            <a:fillRect/>
          </a:stretch>
        </p:blipFill>
        <p:spPr>
          <a:xfrm>
            <a:off x="6937470" y="2814496"/>
            <a:ext cx="5286039" cy="2581555"/>
          </a:xfrm>
          <a:prstGeom prst="rect">
            <a:avLst/>
          </a:prstGeom>
        </p:spPr>
      </p:pic>
    </p:spTree>
    <p:extLst>
      <p:ext uri="{BB962C8B-B14F-4D97-AF65-F5344CB8AC3E}">
        <p14:creationId xmlns:p14="http://schemas.microsoft.com/office/powerpoint/2010/main" val="1913272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23A1D7F-F161-532C-9112-2622898CB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30" y="98859"/>
            <a:ext cx="4378007" cy="37993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E0345D5-FBB9-4A8A-A058-6897855D1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7105" y="402364"/>
            <a:ext cx="6967988" cy="2201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爆炸形: 14 pt  3">
            <a:extLst>
              <a:ext uri="{FF2B5EF4-FFF2-40B4-BE49-F238E27FC236}">
                <a16:creationId xmlns:a16="http://schemas.microsoft.com/office/drawing/2014/main" id="{FF9788CC-3D49-4F35-BC5E-D90604DA9DB9}"/>
              </a:ext>
            </a:extLst>
          </p:cNvPr>
          <p:cNvSpPr/>
          <p:nvPr/>
        </p:nvSpPr>
        <p:spPr>
          <a:xfrm>
            <a:off x="6283868" y="2359823"/>
            <a:ext cx="4153651" cy="1576251"/>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59889DC-7CD8-37F8-7998-30542C9F0E12}"/>
              </a:ext>
            </a:extLst>
          </p:cNvPr>
          <p:cNvSpPr txBox="1"/>
          <p:nvPr/>
        </p:nvSpPr>
        <p:spPr>
          <a:xfrm>
            <a:off x="7294814" y="2789232"/>
            <a:ext cx="1915886" cy="923330"/>
          </a:xfrm>
          <a:prstGeom prst="rect">
            <a:avLst/>
          </a:prstGeom>
          <a:noFill/>
        </p:spPr>
        <p:txBody>
          <a:bodyPr wrap="square">
            <a:spAutoFit/>
          </a:bodyPr>
          <a:lstStyle/>
          <a:p>
            <a:r>
              <a:rPr lang="zh-CN" altLang="en-US" b="1" i="0" dirty="0">
                <a:solidFill>
                  <a:srgbClr val="191B1F"/>
                </a:solidFill>
                <a:effectLst/>
                <a:latin typeface="-apple-system"/>
              </a:rPr>
              <a:t>仅仅只是切分还不够，</a:t>
            </a:r>
            <a:r>
              <a:rPr lang="en-US" altLang="zh-CN" b="1" i="0" dirty="0">
                <a:solidFill>
                  <a:srgbClr val="191B1F"/>
                </a:solidFill>
                <a:effectLst/>
                <a:latin typeface="-apple-system"/>
              </a:rPr>
              <a:t>GPU</a:t>
            </a:r>
            <a:r>
              <a:rPr lang="zh-CN" altLang="en-US" b="1" i="0" dirty="0">
                <a:solidFill>
                  <a:srgbClr val="191B1F"/>
                </a:solidFill>
                <a:effectLst/>
                <a:latin typeface="-apple-system"/>
              </a:rPr>
              <a:t>利用度不够！</a:t>
            </a:r>
            <a:endParaRPr lang="zh-CN" altLang="en-US" dirty="0"/>
          </a:p>
        </p:txBody>
      </p:sp>
      <p:pic>
        <p:nvPicPr>
          <p:cNvPr id="2054" name="Picture 6">
            <a:extLst>
              <a:ext uri="{FF2B5EF4-FFF2-40B4-BE49-F238E27FC236}">
                <a16:creationId xmlns:a16="http://schemas.microsoft.com/office/drawing/2014/main" id="{E58CE15E-9258-782C-D7CE-F40EB1F1A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847" y="4223657"/>
            <a:ext cx="8392002" cy="25831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68C359A-45DE-1DA8-78A5-5E2A54AB3859}"/>
              </a:ext>
            </a:extLst>
          </p:cNvPr>
          <p:cNvSpPr txBox="1"/>
          <p:nvPr/>
        </p:nvSpPr>
        <p:spPr>
          <a:xfrm>
            <a:off x="9703293" y="4915075"/>
            <a:ext cx="2241675" cy="1200329"/>
          </a:xfrm>
          <a:prstGeom prst="rect">
            <a:avLst/>
          </a:prstGeom>
          <a:noFill/>
        </p:spPr>
        <p:txBody>
          <a:bodyPr wrap="square">
            <a:spAutoFit/>
          </a:bodyPr>
          <a:lstStyle/>
          <a:p>
            <a:r>
              <a:rPr lang="zh-CN" altLang="en-US" b="0" i="0" dirty="0">
                <a:solidFill>
                  <a:srgbClr val="191B1F"/>
                </a:solidFill>
                <a:effectLst/>
                <a:latin typeface="-apple-system"/>
              </a:rPr>
              <a:t>将</a:t>
            </a:r>
            <a:r>
              <a:rPr lang="en-US" altLang="zh-CN" b="0" i="0" dirty="0">
                <a:solidFill>
                  <a:srgbClr val="191B1F"/>
                </a:solidFill>
                <a:effectLst/>
                <a:latin typeface="-apple-system"/>
              </a:rPr>
              <a:t>batch</a:t>
            </a:r>
            <a:r>
              <a:rPr lang="zh-CN" altLang="en-US" b="0" i="0" dirty="0">
                <a:solidFill>
                  <a:srgbClr val="191B1F"/>
                </a:solidFill>
                <a:effectLst/>
                <a:latin typeface="-apple-system"/>
              </a:rPr>
              <a:t>切好，并逐一送入</a:t>
            </a:r>
            <a:r>
              <a:rPr lang="en-US" altLang="zh-CN" b="0" i="0" dirty="0">
                <a:solidFill>
                  <a:srgbClr val="191B1F"/>
                </a:solidFill>
                <a:effectLst/>
                <a:latin typeface="-apple-system"/>
              </a:rPr>
              <a:t>GPU</a:t>
            </a:r>
            <a:r>
              <a:rPr lang="zh-CN" altLang="en-US" b="0" i="0" dirty="0">
                <a:solidFill>
                  <a:srgbClr val="191B1F"/>
                </a:solidFill>
                <a:effectLst/>
                <a:latin typeface="-apple-system"/>
              </a:rPr>
              <a:t>的过程，就像一个流水生产线一样</a:t>
            </a:r>
            <a:endParaRPr lang="zh-CN" altLang="en-US" dirty="0"/>
          </a:p>
        </p:txBody>
      </p:sp>
      <p:sp>
        <p:nvSpPr>
          <p:cNvPr id="7" name="箭头: 下 6">
            <a:extLst>
              <a:ext uri="{FF2B5EF4-FFF2-40B4-BE49-F238E27FC236}">
                <a16:creationId xmlns:a16="http://schemas.microsoft.com/office/drawing/2014/main" id="{7CA52F0D-17F7-6B81-7916-8D606F7CC0FD}"/>
              </a:ext>
            </a:extLst>
          </p:cNvPr>
          <p:cNvSpPr/>
          <p:nvPr/>
        </p:nvSpPr>
        <p:spPr>
          <a:xfrm>
            <a:off x="4711337" y="3898174"/>
            <a:ext cx="1750423" cy="226623"/>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6103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0FD4354-491A-2B54-8C9C-4032ADD66A32}"/>
              </a:ext>
            </a:extLst>
          </p:cNvPr>
          <p:cNvSpPr txBox="1"/>
          <p:nvPr/>
        </p:nvSpPr>
        <p:spPr>
          <a:xfrm>
            <a:off x="4824549" y="474345"/>
            <a:ext cx="6096000" cy="59093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 设置分布式训练参数</a:t>
            </a:r>
          </a:p>
          <a:p>
            <a:r>
              <a:rPr lang="zh-CN" altLang="en-US" dirty="0"/>
              <a:t>export </a:t>
            </a:r>
            <a:r>
              <a:rPr lang="zh-CN" altLang="en-US" dirty="0">
                <a:solidFill>
                  <a:srgbClr val="FF0000"/>
                </a:solidFill>
              </a:rPr>
              <a:t>GPUS_PER_NODE=4</a:t>
            </a:r>
          </a:p>
          <a:p>
            <a:r>
              <a:rPr lang="zh-CN" altLang="en-US" dirty="0"/>
              <a:t>export </a:t>
            </a:r>
            <a:r>
              <a:rPr lang="zh-CN" altLang="en-US" dirty="0">
                <a:solidFill>
                  <a:srgbClr val="FF0000"/>
                </a:solidFill>
              </a:rPr>
              <a:t>NNODES=1</a:t>
            </a:r>
          </a:p>
          <a:p>
            <a:r>
              <a:rPr lang="zh-CN" altLang="en-US" dirty="0"/>
              <a:t>export </a:t>
            </a:r>
            <a:r>
              <a:rPr lang="zh-CN" altLang="en-US" dirty="0">
                <a:solidFill>
                  <a:srgbClr val="FF0000"/>
                </a:solidFill>
              </a:rPr>
              <a:t>NODE_RANK=0</a:t>
            </a:r>
          </a:p>
          <a:p>
            <a:r>
              <a:rPr lang="zh-CN" altLang="en-US" dirty="0"/>
              <a:t>export MASTER_ADDR=localhost</a:t>
            </a:r>
          </a:p>
          <a:p>
            <a:r>
              <a:rPr lang="zh-CN" altLang="en-US" dirty="0"/>
              <a:t>export MASTER_PORT=6001</a:t>
            </a:r>
          </a:p>
          <a:p>
            <a:r>
              <a:rPr lang="zh-CN" altLang="en-US" dirty="0"/>
              <a:t> </a:t>
            </a:r>
          </a:p>
          <a:p>
            <a:r>
              <a:rPr lang="zh-CN" altLang="en-US" dirty="0"/>
              <a:t># 启动训练</a:t>
            </a:r>
          </a:p>
          <a:p>
            <a:r>
              <a:rPr lang="zh-CN" altLang="en-US" dirty="0"/>
              <a:t>torchrun --nproc_per_node $GPUS_PER_NODE \</a:t>
            </a:r>
          </a:p>
          <a:p>
            <a:r>
              <a:rPr lang="zh-CN" altLang="en-US" dirty="0"/>
              <a:t>         --nnodes $NNODES \</a:t>
            </a:r>
          </a:p>
          <a:p>
            <a:r>
              <a:rPr lang="zh-CN" altLang="en-US" dirty="0"/>
              <a:t>         --node_rank $NODE_RANK \</a:t>
            </a:r>
          </a:p>
          <a:p>
            <a:r>
              <a:rPr lang="zh-CN" altLang="en-US" dirty="0"/>
              <a:t>         --master_addr $MASTER_ADDR \</a:t>
            </a:r>
          </a:p>
          <a:p>
            <a:r>
              <a:rPr lang="zh-CN" altLang="en-US" dirty="0"/>
              <a:t>         --master_port $MASTER_PORT \</a:t>
            </a:r>
          </a:p>
          <a:p>
            <a:r>
              <a:rPr lang="zh-CN" altLang="en-US" dirty="0"/>
              <a:t>         finetune.py \</a:t>
            </a:r>
          </a:p>
          <a:p>
            <a:r>
              <a:rPr lang="zh-CN" altLang="en-US" dirty="0"/>
              <a:t>         --model_name_or_path Qwen/Qwen-7B \</a:t>
            </a:r>
          </a:p>
          <a:p>
            <a:r>
              <a:rPr lang="zh-CN" altLang="en-US" dirty="0"/>
              <a:t>         --data_path your_data.json \</a:t>
            </a:r>
          </a:p>
          <a:p>
            <a:r>
              <a:rPr lang="zh-CN" altLang="en-US" dirty="0"/>
              <a:t>         --bf16 True \</a:t>
            </a:r>
          </a:p>
          <a:p>
            <a:r>
              <a:rPr lang="zh-CN" altLang="en-US" dirty="0"/>
              <a:t>         --output_dir output_qwen \</a:t>
            </a:r>
          </a:p>
          <a:p>
            <a:r>
              <a:rPr lang="zh-CN" altLang="en-US" dirty="0"/>
              <a:t>         --per_device_train_batch_size 1 \</a:t>
            </a:r>
          </a:p>
          <a:p>
            <a:r>
              <a:rPr lang="zh-CN" altLang="en-US" dirty="0"/>
              <a:t>         --gradient_accumulation_steps 16 \</a:t>
            </a:r>
          </a:p>
          <a:p>
            <a:r>
              <a:rPr lang="zh-CN" altLang="en-US" dirty="0"/>
              <a:t>         --deepspeed finetune/ds_config_zero3.json</a:t>
            </a:r>
          </a:p>
        </p:txBody>
      </p:sp>
      <p:sp>
        <p:nvSpPr>
          <p:cNvPr id="5" name="文本框 4">
            <a:extLst>
              <a:ext uri="{FF2B5EF4-FFF2-40B4-BE49-F238E27FC236}">
                <a16:creationId xmlns:a16="http://schemas.microsoft.com/office/drawing/2014/main" id="{28913369-E4C2-3B7E-9A8C-CAB72D80185C}"/>
              </a:ext>
            </a:extLst>
          </p:cNvPr>
          <p:cNvSpPr txBox="1"/>
          <p:nvPr/>
        </p:nvSpPr>
        <p:spPr>
          <a:xfrm>
            <a:off x="165463" y="2341658"/>
            <a:ext cx="3988526" cy="923330"/>
          </a:xfrm>
          <a:prstGeom prst="rect">
            <a:avLst/>
          </a:prstGeom>
          <a:noFill/>
        </p:spPr>
        <p:txBody>
          <a:bodyPr wrap="square">
            <a:spAutoFit/>
          </a:bodyPr>
          <a:lstStyle/>
          <a:p>
            <a:r>
              <a:rPr lang="en-US" altLang="zh-CN" b="0" i="0" dirty="0" err="1">
                <a:solidFill>
                  <a:srgbClr val="4D4D4D"/>
                </a:solidFill>
                <a:effectLst/>
                <a:latin typeface="-apple-system"/>
              </a:rPr>
              <a:t>Qwen</a:t>
            </a:r>
            <a:r>
              <a:rPr lang="zh-CN" altLang="en-US" b="0" i="0" dirty="0">
                <a:solidFill>
                  <a:srgbClr val="4D4D4D"/>
                </a:solidFill>
                <a:effectLst/>
                <a:latin typeface="-apple-system"/>
              </a:rPr>
              <a:t>使用</a:t>
            </a:r>
            <a:r>
              <a:rPr lang="en-US" altLang="zh-CN" b="0" i="0" dirty="0" err="1">
                <a:solidFill>
                  <a:srgbClr val="4D4D4D"/>
                </a:solidFill>
                <a:effectLst/>
                <a:latin typeface="-apple-system"/>
              </a:rPr>
              <a:t>DeepSpeed</a:t>
            </a:r>
            <a:r>
              <a:rPr lang="zh-CN" altLang="en-US" b="0" i="0" dirty="0">
                <a:solidFill>
                  <a:srgbClr val="4D4D4D"/>
                </a:solidFill>
                <a:effectLst/>
                <a:latin typeface="-apple-system"/>
              </a:rPr>
              <a:t>来实现高效的</a:t>
            </a:r>
            <a:r>
              <a:rPr lang="zh-CN" altLang="en-US" b="0" i="0" dirty="0">
                <a:solidFill>
                  <a:srgbClr val="FF0000"/>
                </a:solidFill>
                <a:effectLst/>
                <a:latin typeface="-apple-system"/>
              </a:rPr>
              <a:t>数据并行</a:t>
            </a:r>
            <a:r>
              <a:rPr lang="zh-CN" altLang="en-US" b="0" i="0" dirty="0">
                <a:solidFill>
                  <a:srgbClr val="4D4D4D"/>
                </a:solidFill>
                <a:effectLst/>
                <a:latin typeface="-apple-system"/>
              </a:rPr>
              <a:t>训练。使用</a:t>
            </a:r>
            <a:r>
              <a:rPr lang="en-US" altLang="zh-CN" b="0" i="0" dirty="0" err="1">
                <a:solidFill>
                  <a:srgbClr val="4D4D4D"/>
                </a:solidFill>
                <a:effectLst/>
                <a:latin typeface="-apple-system"/>
              </a:rPr>
              <a:t>Qwen</a:t>
            </a:r>
            <a:r>
              <a:rPr lang="zh-CN" altLang="en-US" b="0" i="0" dirty="0">
                <a:solidFill>
                  <a:srgbClr val="4D4D4D"/>
                </a:solidFill>
                <a:effectLst/>
                <a:latin typeface="-apple-system"/>
              </a:rPr>
              <a:t>提供的训练脚本启动数据并行训练：</a:t>
            </a:r>
            <a:endParaRPr lang="zh-CN" altLang="en-US" dirty="0"/>
          </a:p>
        </p:txBody>
      </p:sp>
    </p:spTree>
    <p:extLst>
      <p:ext uri="{BB962C8B-B14F-4D97-AF65-F5344CB8AC3E}">
        <p14:creationId xmlns:p14="http://schemas.microsoft.com/office/powerpoint/2010/main" val="3437509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D251E2B-DFD9-DB11-D607-C7AC4E9050AB}"/>
              </a:ext>
            </a:extLst>
          </p:cNvPr>
          <p:cNvSpPr txBox="1"/>
          <p:nvPr/>
        </p:nvSpPr>
        <p:spPr>
          <a:xfrm>
            <a:off x="2882537" y="686191"/>
            <a:ext cx="6096000" cy="369332"/>
          </a:xfrm>
          <a:prstGeom prst="rect">
            <a:avLst/>
          </a:prstGeom>
          <a:noFill/>
        </p:spPr>
        <p:txBody>
          <a:bodyPr wrap="square">
            <a:spAutoFit/>
          </a:bodyPr>
          <a:lstStyle/>
          <a:p>
            <a:r>
              <a:rPr lang="en-US" altLang="zh-CN" b="0" i="0" dirty="0" err="1">
                <a:solidFill>
                  <a:srgbClr val="4D4D4D"/>
                </a:solidFill>
                <a:effectLst/>
                <a:latin typeface="-apple-system"/>
              </a:rPr>
              <a:t>Qwen</a:t>
            </a:r>
            <a:r>
              <a:rPr lang="zh-CN" altLang="en-US" b="0" i="0" dirty="0">
                <a:solidFill>
                  <a:srgbClr val="4D4D4D"/>
                </a:solidFill>
                <a:effectLst/>
                <a:latin typeface="-apple-system"/>
              </a:rPr>
              <a:t>通过</a:t>
            </a:r>
            <a:r>
              <a:rPr lang="en-US" altLang="zh-CN" b="0" i="0" dirty="0" err="1">
                <a:solidFill>
                  <a:srgbClr val="4D4D4D"/>
                </a:solidFill>
                <a:effectLst/>
                <a:latin typeface="-apple-system"/>
              </a:rPr>
              <a:t>vLLM</a:t>
            </a:r>
            <a:r>
              <a:rPr lang="zh-CN" altLang="en-US" b="0" i="0" dirty="0">
                <a:solidFill>
                  <a:srgbClr val="4D4D4D"/>
                </a:solidFill>
                <a:effectLst/>
                <a:latin typeface="-apple-system"/>
              </a:rPr>
              <a:t>支持</a:t>
            </a:r>
            <a:r>
              <a:rPr lang="zh-CN" altLang="en-US" b="0" i="0" dirty="0">
                <a:solidFill>
                  <a:srgbClr val="FF0000"/>
                </a:solidFill>
                <a:effectLst/>
                <a:latin typeface="-apple-system"/>
              </a:rPr>
              <a:t>张量并行</a:t>
            </a:r>
            <a:r>
              <a:rPr lang="zh-CN" altLang="en-US" b="0" i="0" dirty="0">
                <a:solidFill>
                  <a:srgbClr val="4D4D4D"/>
                </a:solidFill>
                <a:effectLst/>
                <a:latin typeface="-apple-system"/>
              </a:rPr>
              <a:t>推理，显著提升推理速度：</a:t>
            </a:r>
            <a:endParaRPr lang="zh-CN" altLang="en-US" dirty="0"/>
          </a:p>
        </p:txBody>
      </p:sp>
      <p:sp>
        <p:nvSpPr>
          <p:cNvPr id="5" name="文本框 4">
            <a:extLst>
              <a:ext uri="{FF2B5EF4-FFF2-40B4-BE49-F238E27FC236}">
                <a16:creationId xmlns:a16="http://schemas.microsoft.com/office/drawing/2014/main" id="{E1375806-C451-B98F-E462-D6EF2826698C}"/>
              </a:ext>
            </a:extLst>
          </p:cNvPr>
          <p:cNvSpPr txBox="1"/>
          <p:nvPr/>
        </p:nvSpPr>
        <p:spPr>
          <a:xfrm>
            <a:off x="2882537" y="1137030"/>
            <a:ext cx="6096000"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from vllm_wrapper import vLLMWrapper</a:t>
            </a:r>
          </a:p>
          <a:p>
            <a:r>
              <a:rPr lang="zh-CN" altLang="en-US" dirty="0"/>
              <a:t> </a:t>
            </a:r>
          </a:p>
          <a:p>
            <a:r>
              <a:rPr lang="zh-CN" altLang="en-US" dirty="0"/>
              <a:t># 4路张量并行</a:t>
            </a:r>
          </a:p>
          <a:p>
            <a:r>
              <a:rPr lang="zh-CN" altLang="en-US" dirty="0"/>
              <a:t>model = vLLMWrapper('Qwen/Qwen-7B-Chat', </a:t>
            </a:r>
          </a:p>
          <a:p>
            <a:r>
              <a:rPr lang="zh-CN" altLang="en-US" dirty="0"/>
              <a:t>                   </a:t>
            </a:r>
            <a:r>
              <a:rPr lang="zh-CN" altLang="en-US" dirty="0">
                <a:solidFill>
                  <a:srgbClr val="FF0000"/>
                </a:solidFill>
              </a:rPr>
              <a:t>tensor_parallel_size=4</a:t>
            </a:r>
            <a:r>
              <a:rPr lang="zh-CN" altLang="en-US" dirty="0"/>
              <a:t>,</a:t>
            </a:r>
          </a:p>
          <a:p>
            <a:r>
              <a:rPr lang="zh-CN" altLang="en-US" dirty="0"/>
              <a:t>                   dtype="bfloat16")</a:t>
            </a:r>
          </a:p>
          <a:p>
            <a:r>
              <a:rPr lang="zh-CN" altLang="en-US" dirty="0"/>
              <a:t> </a:t>
            </a:r>
          </a:p>
          <a:p>
            <a:r>
              <a:rPr lang="zh-CN" altLang="en-US" dirty="0"/>
              <a:t>response, history = model.chat("你好", history=None)</a:t>
            </a:r>
          </a:p>
          <a:p>
            <a:r>
              <a:rPr lang="zh-CN" altLang="en-US" dirty="0"/>
              <a:t>print(response)</a:t>
            </a:r>
          </a:p>
        </p:txBody>
      </p:sp>
      <p:sp>
        <p:nvSpPr>
          <p:cNvPr id="7" name="文本框 6">
            <a:extLst>
              <a:ext uri="{FF2B5EF4-FFF2-40B4-BE49-F238E27FC236}">
                <a16:creationId xmlns:a16="http://schemas.microsoft.com/office/drawing/2014/main" id="{099E5096-47FA-204C-1E02-3013D51EB76F}"/>
              </a:ext>
            </a:extLst>
          </p:cNvPr>
          <p:cNvSpPr txBox="1"/>
          <p:nvPr/>
        </p:nvSpPr>
        <p:spPr>
          <a:xfrm>
            <a:off x="2882537" y="4191226"/>
            <a:ext cx="609600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 使用4个GPU进行张量并行推理</a:t>
            </a:r>
          </a:p>
          <a:p>
            <a:r>
              <a:rPr lang="zh-CN" altLang="en-US" dirty="0"/>
              <a:t>python -m fastchat.serve.vllm_worker \</a:t>
            </a:r>
          </a:p>
          <a:p>
            <a:r>
              <a:rPr lang="zh-CN" altLang="en-US" dirty="0"/>
              <a:t>    --model-path Qwen/Qwen-7B-Chat \</a:t>
            </a:r>
          </a:p>
          <a:p>
            <a:r>
              <a:rPr lang="zh-CN" altLang="en-US" dirty="0"/>
              <a:t>    --trust-remote-code \</a:t>
            </a:r>
          </a:p>
          <a:p>
            <a:r>
              <a:rPr lang="zh-CN" altLang="en-US" dirty="0"/>
              <a:t>    --</a:t>
            </a:r>
            <a:r>
              <a:rPr lang="zh-CN" altLang="en-US" dirty="0">
                <a:solidFill>
                  <a:srgbClr val="FF0000"/>
                </a:solidFill>
              </a:rPr>
              <a:t>tensor-parallel-size 4 </a:t>
            </a:r>
            <a:r>
              <a:rPr lang="zh-CN" altLang="en-US" dirty="0"/>
              <a:t>\</a:t>
            </a:r>
          </a:p>
          <a:p>
            <a:r>
              <a:rPr lang="zh-CN" altLang="en-US" dirty="0"/>
              <a:t>    --dtype bfloat16</a:t>
            </a:r>
          </a:p>
        </p:txBody>
      </p:sp>
    </p:spTree>
    <p:extLst>
      <p:ext uri="{BB962C8B-B14F-4D97-AF65-F5344CB8AC3E}">
        <p14:creationId xmlns:p14="http://schemas.microsoft.com/office/powerpoint/2010/main" val="2913265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分布式神经网络训练系统</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的关键要素</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B09F1D0C-15E8-48EF-93D1-E6BCDB1479BE}"/>
              </a:ext>
            </a:extLst>
          </p:cNvPr>
          <p:cNvPicPr>
            <a:picLocks noChangeAspect="1"/>
          </p:cNvPicPr>
          <p:nvPr/>
        </p:nvPicPr>
        <p:blipFill>
          <a:blip r:embed="rId3"/>
          <a:stretch>
            <a:fillRect/>
          </a:stretch>
        </p:blipFill>
        <p:spPr>
          <a:xfrm>
            <a:off x="8265042" y="1663337"/>
            <a:ext cx="4289970" cy="3943454"/>
          </a:xfrm>
          <a:prstGeom prst="rect">
            <a:avLst/>
          </a:prstGeom>
        </p:spPr>
      </p:pic>
      <p:sp>
        <p:nvSpPr>
          <p:cNvPr id="9" name="矩形 8">
            <a:extLst>
              <a:ext uri="{FF2B5EF4-FFF2-40B4-BE49-F238E27FC236}">
                <a16:creationId xmlns:a16="http://schemas.microsoft.com/office/drawing/2014/main" id="{1BF7021B-097C-410A-88BE-A7400FE9C549}"/>
              </a:ext>
            </a:extLst>
          </p:cNvPr>
          <p:cNvSpPr/>
          <p:nvPr/>
        </p:nvSpPr>
        <p:spPr>
          <a:xfrm>
            <a:off x="65604" y="1390185"/>
            <a:ext cx="8199438" cy="4581447"/>
          </a:xfrm>
          <a:prstGeom prst="rect">
            <a:avLst/>
          </a:prstGeom>
        </p:spPr>
        <p:txBody>
          <a:bodyPr wrap="square">
            <a:spAutoFit/>
          </a:bodyPr>
          <a:lstStyle/>
          <a:p>
            <a:pPr algn="just">
              <a:lnSpc>
                <a:spcPts val="2200"/>
              </a:lnSpc>
              <a:spcAft>
                <a:spcPts val="0"/>
              </a:spcAft>
            </a:pPr>
            <a:endParaRPr lang="en-US" altLang="zh-CN" sz="1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ts val="2200"/>
              </a:lnSpc>
              <a:spcAft>
                <a:spcPts val="0"/>
              </a:spcAft>
            </a:pP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通信和同步机制</a:t>
            </a:r>
            <a:r>
              <a:rPr lang="zh-CN" altLang="en-US"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：在分布式训练中，不同计算设备之间需要进行通信和同步，以确保模型参数（或激活值）的一致性。以数据并行为例，通信和同步机制通常使用参数服务器或</a:t>
            </a: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Ring </a:t>
            </a:r>
            <a:r>
              <a:rPr lang="en-US" altLang="zh-CN" sz="16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AllReduce</a:t>
            </a:r>
            <a:r>
              <a:rPr lang="zh-CN" altLang="en-US"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来实现。</a:t>
            </a:r>
            <a:endPar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en-US"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参数服务器：维护一个集中的参数存储，用于保存整个模型的参数。参数存储节点负责接收和分发参数更新。缺点：参数存储节点的网络通信压力较大。</a:t>
            </a:r>
          </a:p>
          <a:p>
            <a:pPr marL="285750" indent="-285750" algn="just">
              <a:lnSpc>
                <a:spcPts val="2200"/>
              </a:lnSpc>
              <a:spcAft>
                <a:spcPts val="0"/>
              </a:spcAft>
              <a:buFont typeface="Arial" panose="020B0604020202020204" pitchFamily="34" charset="0"/>
              <a:buChar char="•"/>
            </a:pP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Ring </a:t>
            </a:r>
            <a:r>
              <a:rPr lang="en-US" altLang="zh-CN" sz="16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AllReduce</a:t>
            </a:r>
            <a:r>
              <a:rPr lang="zh-CN" altLang="en-US"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：将计算节点组织成一个环形的通信拓扑结构，每个节点与其相邻节点进行通信。优点：节点之间的网络负载均衡。</a:t>
            </a:r>
          </a:p>
          <a:p>
            <a:pPr algn="just">
              <a:lnSpc>
                <a:spcPts val="2200"/>
              </a:lnSpc>
              <a:spcAft>
                <a:spcPts val="0"/>
              </a:spcAft>
            </a:pPr>
            <a:endPar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ts val="2200"/>
              </a:lnSpc>
              <a:spcAft>
                <a:spcPts val="0"/>
              </a:spcAft>
            </a:pP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资源管理和调度：</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分布式神经网络训练系统需要管理和调度多个计算设备的资源。这涉及到设备的分配、任务调度和负载均衡等问题。常见的资源管理工具包括</a:t>
            </a: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Kubernetes</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Apache Mesos</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等，它们能够有效地管理分布式训练任务的资源需求。</a:t>
            </a:r>
            <a:endPar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ts val="2200"/>
              </a:lnSpc>
              <a:spcAft>
                <a:spcPts val="0"/>
              </a:spcAft>
            </a:pPr>
            <a:endPar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gn="just">
              <a:lnSpc>
                <a:spcPts val="2200"/>
              </a:lnSpc>
              <a:spcAft>
                <a:spcPts val="0"/>
              </a:spcAft>
            </a:pP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容错和恢复：</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由于分布式训练涉及多个计算设备和网络通信，系统的容错和恢复机制变得至关重要。当某个设备或通信链路发生故障时，系统应具备自动检测和处理异常情况的能力，以保证训练任务的连续进行。</a:t>
            </a:r>
          </a:p>
        </p:txBody>
      </p:sp>
    </p:spTree>
    <p:extLst>
      <p:ext uri="{BB962C8B-B14F-4D97-AF65-F5344CB8AC3E}">
        <p14:creationId xmlns:p14="http://schemas.microsoft.com/office/powerpoint/2010/main" val="122861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分布式训练系统网络通信的异构硬件优化</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12B200C4-DA36-4965-9F22-1CFBB223E49C}"/>
              </a:ext>
            </a:extLst>
          </p:cNvPr>
          <p:cNvSpPr/>
          <p:nvPr/>
        </p:nvSpPr>
        <p:spPr>
          <a:xfrm>
            <a:off x="98130" y="1852999"/>
            <a:ext cx="6712082" cy="4042132"/>
          </a:xfrm>
          <a:prstGeom prst="rect">
            <a:avLst/>
          </a:prstGeom>
        </p:spPr>
        <p:txBody>
          <a:bodyPr wrap="square">
            <a:spAutoFit/>
          </a:bodyPr>
          <a:lstStyle/>
          <a:p>
            <a:pPr marL="285750" indent="-285750" algn="just">
              <a:lnSpc>
                <a:spcPts val="2200"/>
              </a:lnSpc>
              <a:spcAft>
                <a:spcPts val="0"/>
              </a:spcAft>
              <a:buFont typeface="Wingdings" panose="05000000000000000000" pitchFamily="2" charset="2"/>
              <a:buChar char="l"/>
            </a:pP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计算、存储、网络通信都是决定系统性能的关键因素。然而，通过观察过去</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20</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年中处理器性能的变化，可以发现，存储和网络的发展速度滞后于算力发展的</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，存储和网络越来越成为瓶颈</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200"/>
              </a:lnSpc>
              <a:spcAft>
                <a:spcPts val="0"/>
              </a:spcAft>
              <a:buFont typeface="Wingdings" panose="05000000000000000000" pitchFamily="2" charset="2"/>
              <a:buChar char="l"/>
            </a:pP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ts val="2200"/>
              </a:lnSpc>
              <a:buFont typeface="Wingdings" panose="05000000000000000000" pitchFamily="2" charset="2"/>
              <a:buChar char="l"/>
            </a:pP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GPU</a:t>
            </a: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为代表的</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a:t>
            </a: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芯片的计算能力</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20</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年</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增长了</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9</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万倍</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ts val="2200"/>
              </a:lnSpc>
              <a:buFont typeface="Wingdings" panose="05000000000000000000" pitchFamily="2" charset="2"/>
              <a:buChar char="l"/>
            </a:pP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ts val="2200"/>
              </a:lnSpc>
              <a:buFont typeface="Wingdings" panose="05000000000000000000" pitchFamily="2" charset="2"/>
              <a:buChar char="l"/>
            </a:pP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DRAM</a:t>
            </a: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带宽和网络互连带宽</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20</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年</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增长了</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30</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倍</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ts val="2200"/>
              </a:lnSpc>
              <a:spcAft>
                <a:spcPts val="0"/>
              </a:spcAft>
            </a:pP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ts val="2200"/>
              </a:lnSpc>
              <a:spcAft>
                <a:spcPts val="0"/>
              </a:spcAft>
            </a:pP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200"/>
              </a:lnSpc>
              <a:spcAft>
                <a:spcPts val="0"/>
              </a:spcAft>
              <a:buFont typeface="Wingdings" panose="05000000000000000000" pitchFamily="2" charset="2"/>
              <a:buChar char="l"/>
            </a:pP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因此，分布式训练中的网络优化越来越重要。为了克服网络瓶颈，业界越来越多地关注异构硬件加速网络的研究，比如利用智能网卡（</a:t>
            </a:r>
            <a:r>
              <a:rPr lang="en-US" altLang="zh-CN" sz="20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SmartNIC</a:t>
            </a: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）、智能交换机，来实现网络的硬件卸载以及网内计算，从而降低通信开销。</a:t>
            </a: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BF29D2EE-58F1-437C-B2D2-60C3896D56B7}"/>
              </a:ext>
            </a:extLst>
          </p:cNvPr>
          <p:cNvPicPr>
            <a:picLocks noChangeAspect="1"/>
          </p:cNvPicPr>
          <p:nvPr/>
        </p:nvPicPr>
        <p:blipFill>
          <a:blip r:embed="rId3"/>
          <a:stretch>
            <a:fillRect/>
          </a:stretch>
        </p:blipFill>
        <p:spPr>
          <a:xfrm>
            <a:off x="6810212" y="2116183"/>
            <a:ext cx="5330032" cy="3769908"/>
          </a:xfrm>
          <a:prstGeom prst="rect">
            <a:avLst/>
          </a:prstGeom>
        </p:spPr>
      </p:pic>
    </p:spTree>
    <p:extLst>
      <p:ext uri="{BB962C8B-B14F-4D97-AF65-F5344CB8AC3E}">
        <p14:creationId xmlns:p14="http://schemas.microsoft.com/office/powerpoint/2010/main" val="726418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大规模机器学习系统部署</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950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三、人工智能系统</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091976B2-2F86-4339-A875-1411394AE6D7}"/>
              </a:ext>
            </a:extLst>
          </p:cNvPr>
          <p:cNvSpPr/>
          <p:nvPr/>
        </p:nvSpPr>
        <p:spPr>
          <a:xfrm>
            <a:off x="242283" y="1315717"/>
            <a:ext cx="11455544" cy="3970318"/>
          </a:xfrm>
          <a:prstGeom prst="rect">
            <a:avLst/>
          </a:prstGeom>
        </p:spPr>
        <p:txBody>
          <a:bodyPr wrap="square">
            <a:spAutoFit/>
          </a:bodyPr>
          <a:lstStyle/>
          <a:p>
            <a:pPr marL="285750" indent="-285750">
              <a:buFont typeface="Wingdings" panose="05000000000000000000" pitchFamily="2" charset="2"/>
              <a:buChar char="l"/>
            </a:pPr>
            <a:r>
              <a:rPr lang="zh-CN"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目前工业界往往将大规模分布式机器学习系统部署在云服务器</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中，在云场景下，存在多个用户或任务共享同一组</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资源的情况，即</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多租环境。</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为了满足用户的</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资源使用需求，同时提高云服务器中的</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GPU</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资源利用率，降低云服务器的成本，需要实现</a:t>
            </a:r>
            <a:r>
              <a:rPr lang="zh-CN"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公平的资源分配</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高效的任务调度</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，需要</a:t>
            </a:r>
            <a:r>
              <a:rPr lang="zh-CN"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有效的</a:t>
            </a:r>
            <a:r>
              <a:rPr lang="en-US"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GPU</a:t>
            </a:r>
            <a:r>
              <a:rPr lang="zh-CN" altLang="zh-CN"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资源管理机制</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电网</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算力网</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98705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A122C88-4BF3-A417-2D11-E3FE7C2E76A9}"/>
              </a:ext>
            </a:extLst>
          </p:cNvPr>
          <p:cNvPicPr>
            <a:picLocks noChangeAspect="1"/>
          </p:cNvPicPr>
          <p:nvPr/>
        </p:nvPicPr>
        <p:blipFill>
          <a:blip r:embed="rId3"/>
          <a:stretch>
            <a:fillRect/>
          </a:stretch>
        </p:blipFill>
        <p:spPr>
          <a:xfrm>
            <a:off x="172006" y="95083"/>
            <a:ext cx="6032206" cy="3509353"/>
          </a:xfrm>
          <a:prstGeom prst="rect">
            <a:avLst/>
          </a:prstGeom>
        </p:spPr>
      </p:pic>
      <p:pic>
        <p:nvPicPr>
          <p:cNvPr id="5" name="图片 4">
            <a:extLst>
              <a:ext uri="{FF2B5EF4-FFF2-40B4-BE49-F238E27FC236}">
                <a16:creationId xmlns:a16="http://schemas.microsoft.com/office/drawing/2014/main" id="{3DB9F174-1C1F-DC11-29CF-29A85DA37D9F}"/>
              </a:ext>
            </a:extLst>
          </p:cNvPr>
          <p:cNvPicPr>
            <a:picLocks noChangeAspect="1"/>
          </p:cNvPicPr>
          <p:nvPr/>
        </p:nvPicPr>
        <p:blipFill>
          <a:blip r:embed="rId4"/>
          <a:stretch>
            <a:fillRect/>
          </a:stretch>
        </p:blipFill>
        <p:spPr>
          <a:xfrm>
            <a:off x="5572000" y="3019648"/>
            <a:ext cx="6418111" cy="3509352"/>
          </a:xfrm>
          <a:prstGeom prst="rect">
            <a:avLst/>
          </a:prstGeom>
        </p:spPr>
      </p:pic>
      <p:sp>
        <p:nvSpPr>
          <p:cNvPr id="7" name="文本框 6">
            <a:extLst>
              <a:ext uri="{FF2B5EF4-FFF2-40B4-BE49-F238E27FC236}">
                <a16:creationId xmlns:a16="http://schemas.microsoft.com/office/drawing/2014/main" id="{9C954C24-98A1-B267-0A3F-C18ABDD36099}"/>
              </a:ext>
            </a:extLst>
          </p:cNvPr>
          <p:cNvSpPr txBox="1"/>
          <p:nvPr/>
        </p:nvSpPr>
        <p:spPr>
          <a:xfrm>
            <a:off x="201889" y="4264534"/>
            <a:ext cx="4986799" cy="1200329"/>
          </a:xfrm>
          <a:prstGeom prst="rect">
            <a:avLst/>
          </a:prstGeom>
          <a:noFill/>
        </p:spPr>
        <p:txBody>
          <a:bodyPr wrap="square">
            <a:spAutoFit/>
          </a:bodyPr>
          <a:lstStyle/>
          <a:p>
            <a:r>
              <a:rPr lang="en-US" altLang="zh-CN" b="0" i="0" dirty="0">
                <a:solidFill>
                  <a:srgbClr val="222222"/>
                </a:solidFill>
                <a:effectLst/>
                <a:latin typeface="arial" panose="020B0604020202020204" pitchFamily="34" charset="0"/>
              </a:rPr>
              <a:t>2025</a:t>
            </a:r>
            <a:r>
              <a:rPr lang="zh-CN" altLang="en-US" b="0" i="0" dirty="0">
                <a:solidFill>
                  <a:srgbClr val="222222"/>
                </a:solidFill>
                <a:effectLst/>
                <a:latin typeface="arial" panose="020B0604020202020204" pitchFamily="34" charset="0"/>
              </a:rPr>
              <a:t>年度国家科学技术奖深圳市拟提名项目出炉，鹏城实验室、华为技术有限公司等单位完成的“</a:t>
            </a:r>
            <a:r>
              <a:rPr lang="zh-CN" altLang="en-US" b="0" i="0" dirty="0">
                <a:solidFill>
                  <a:srgbClr val="FF0000"/>
                </a:solidFill>
                <a:effectLst/>
                <a:latin typeface="arial" panose="020B0604020202020204" pitchFamily="34" charset="0"/>
              </a:rPr>
              <a:t>‘鹏城云脑’超大规模国产智能算力系统及产业化工程</a:t>
            </a:r>
            <a:r>
              <a:rPr lang="zh-CN" altLang="en-US" b="0" i="0" dirty="0">
                <a:solidFill>
                  <a:srgbClr val="222222"/>
                </a:solidFill>
                <a:effectLst/>
                <a:latin typeface="arial" panose="020B0604020202020204" pitchFamily="34" charset="0"/>
              </a:rPr>
              <a:t>”将角逐国家科技奖。</a:t>
            </a:r>
            <a:endParaRPr lang="zh-CN" altLang="en-US" dirty="0"/>
          </a:p>
        </p:txBody>
      </p:sp>
      <p:sp>
        <p:nvSpPr>
          <p:cNvPr id="9" name="文本框 8">
            <a:extLst>
              <a:ext uri="{FF2B5EF4-FFF2-40B4-BE49-F238E27FC236}">
                <a16:creationId xmlns:a16="http://schemas.microsoft.com/office/drawing/2014/main" id="{025B61FF-7400-2605-8B1C-1FBAC82BEB5E}"/>
              </a:ext>
            </a:extLst>
          </p:cNvPr>
          <p:cNvSpPr txBox="1"/>
          <p:nvPr/>
        </p:nvSpPr>
        <p:spPr>
          <a:xfrm>
            <a:off x="6546997" y="425601"/>
            <a:ext cx="4776677" cy="1754326"/>
          </a:xfrm>
          <a:prstGeom prst="rect">
            <a:avLst/>
          </a:prstGeom>
          <a:noFill/>
        </p:spPr>
        <p:txBody>
          <a:bodyPr wrap="square">
            <a:spAutoFit/>
          </a:bodyPr>
          <a:lstStyle/>
          <a:p>
            <a:r>
              <a:rPr lang="zh-CN" altLang="en-US" b="0" i="0" dirty="0">
                <a:solidFill>
                  <a:srgbClr val="222222"/>
                </a:solidFill>
                <a:effectLst/>
                <a:latin typeface="arial" panose="020B0604020202020204" pitchFamily="34" charset="0"/>
              </a:rPr>
              <a:t>“</a:t>
            </a:r>
            <a:r>
              <a:rPr lang="zh-CN" altLang="en-US" b="0" i="0" dirty="0">
                <a:solidFill>
                  <a:srgbClr val="FF0000"/>
                </a:solidFill>
                <a:effectLst/>
                <a:latin typeface="arial" panose="020B0604020202020204" pitchFamily="34" charset="0"/>
              </a:rPr>
              <a:t>算力即国力，在数字经济蓬勃兴起的时代浪潮中，算力发挥着坚如磐石的基座作用。</a:t>
            </a:r>
            <a:r>
              <a:rPr lang="zh-CN" altLang="en-US" b="0" i="0" dirty="0">
                <a:solidFill>
                  <a:srgbClr val="222222"/>
                </a:solidFill>
                <a:effectLst/>
                <a:latin typeface="arial" panose="020B0604020202020204" pitchFamily="34" charset="0"/>
              </a:rPr>
              <a:t>”近日，中国工程院院士、鹏城实验室主任</a:t>
            </a:r>
            <a:r>
              <a:rPr lang="zh-CN" altLang="en-US" b="0" i="0" dirty="0">
                <a:solidFill>
                  <a:srgbClr val="FF0000"/>
                </a:solidFill>
                <a:effectLst/>
                <a:latin typeface="arial" panose="020B0604020202020204" pitchFamily="34" charset="0"/>
              </a:rPr>
              <a:t>高文</a:t>
            </a:r>
            <a:r>
              <a:rPr lang="zh-CN" altLang="en-US" b="0" i="0" dirty="0">
                <a:solidFill>
                  <a:srgbClr val="222222"/>
                </a:solidFill>
                <a:effectLst/>
                <a:latin typeface="arial" panose="020B0604020202020204" pitchFamily="34" charset="0"/>
              </a:rPr>
              <a:t>在接受南方</a:t>
            </a:r>
            <a:r>
              <a:rPr lang="en-US" altLang="zh-CN" b="0" i="0" dirty="0">
                <a:solidFill>
                  <a:srgbClr val="222222"/>
                </a:solidFill>
                <a:effectLst/>
                <a:latin typeface="arial" panose="020B0604020202020204" pitchFamily="34" charset="0"/>
              </a:rPr>
              <a:t>+</a:t>
            </a:r>
            <a:r>
              <a:rPr lang="zh-CN" altLang="en-US" b="0" i="0" dirty="0">
                <a:solidFill>
                  <a:srgbClr val="222222"/>
                </a:solidFill>
                <a:effectLst/>
                <a:latin typeface="arial" panose="020B0604020202020204" pitchFamily="34" charset="0"/>
              </a:rPr>
              <a:t>记者采访时表示，为构建“中国算力网”，鹏城实验室正在向四座“技术高峰”发起挑战。</a:t>
            </a:r>
            <a:endParaRPr lang="zh-CN" altLang="en-US" dirty="0"/>
          </a:p>
        </p:txBody>
      </p:sp>
      <p:sp>
        <p:nvSpPr>
          <p:cNvPr id="11" name="文本框 10">
            <a:extLst>
              <a:ext uri="{FF2B5EF4-FFF2-40B4-BE49-F238E27FC236}">
                <a16:creationId xmlns:a16="http://schemas.microsoft.com/office/drawing/2014/main" id="{E48DFA76-9A3D-B8C3-E866-2A582CF2B45E}"/>
              </a:ext>
            </a:extLst>
          </p:cNvPr>
          <p:cNvSpPr txBox="1"/>
          <p:nvPr/>
        </p:nvSpPr>
        <p:spPr>
          <a:xfrm>
            <a:off x="7687340" y="2650316"/>
            <a:ext cx="2541181" cy="369332"/>
          </a:xfrm>
          <a:prstGeom prst="rect">
            <a:avLst/>
          </a:prstGeom>
          <a:noFill/>
        </p:spPr>
        <p:txBody>
          <a:bodyPr wrap="square">
            <a:spAutoFit/>
          </a:bodyPr>
          <a:lstStyle/>
          <a:p>
            <a:r>
              <a:rPr lang="zh-CN" altLang="en-US" b="0" i="0" dirty="0">
                <a:solidFill>
                  <a:srgbClr val="222222"/>
                </a:solidFill>
                <a:effectLst/>
                <a:latin typeface="arial" panose="020B0604020202020204" pitchFamily="34" charset="0"/>
              </a:rPr>
              <a:t>中国算力网：东数西算</a:t>
            </a:r>
            <a:endParaRPr lang="zh-CN" altLang="en-US" dirty="0"/>
          </a:p>
        </p:txBody>
      </p:sp>
    </p:spTree>
    <p:extLst>
      <p:ext uri="{BB962C8B-B14F-4D97-AF65-F5344CB8AC3E}">
        <p14:creationId xmlns:p14="http://schemas.microsoft.com/office/powerpoint/2010/main" val="2027712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306" y="44472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8122" y="1326427"/>
            <a:ext cx="11530866" cy="4578433"/>
          </a:xfrm>
          <a:prstGeom prst="rect">
            <a:avLst/>
          </a:prstGeom>
        </p:spPr>
        <p:txBody>
          <a:bodyPr wrap="square">
            <a:spAutoFit/>
          </a:bodyPr>
          <a:lstStyle/>
          <a:p>
            <a:pPr>
              <a:lnSpc>
                <a:spcPct val="150000"/>
              </a:lnSpc>
            </a:pP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2018 </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21 </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日，</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ACM</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授予</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John M. Hennessy</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David A. Patterson2017</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年度图灵奖，以奖励其开创系统的定量的方法来设计和评估计算机体系结构，该方法对微处理器行业产生了持久而深远的影响。两位获奖者在</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ISCA-2018</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会议期间做了题为</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计算机体系结构的黄金时代：领域专用的软硬件协同设计、增强安全性、开放的指令集以及敏捷芯片开发</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的图灵学术讲座。在这个讲座中提及了摩尔定律放缓、登纳德缩放定律（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Dennard Scaling</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）结束以及阿姆达尔定律正当其时对计算机体系架构创新的影响。</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摩尔定律（</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Moore's law</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1975</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加州理工大学教授卡沃</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米德（</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Carver Mead</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）第一次使用 “摩尔定律”这一单词来表示计算机发展速度。当价格不变时，计算机集成电路上可容纳的晶体管数目，每隔</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18</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个月或</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24</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个月便会增加一倍，相应地，计算机性能也会提升一倍。</a:t>
            </a:r>
          </a:p>
          <a:p>
            <a:pPr>
              <a:lnSpc>
                <a:spcPct val="150000"/>
              </a:lnSpc>
            </a:pPr>
            <a:endPar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登纳德缩放定律（</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Dennard scaling</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晶体管不断变小，但芯片的功率密度不变。随着晶体管密度的增加，每个晶体管的能耗将降低，因此硅芯片上每平方毫米上的能耗几乎保持恒定。由于每平方毫米硅芯片的计算能力随着技术的迭代而不断增强，计算机将变得更加节能。不过，登纳德缩放定律从 </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2007 </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年开始大幅放缓，大概在</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2012 </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年接近失效。登纳德缩放定律的终结意味着架构师必须找到更有高效的方法利用并行性。</a:t>
            </a:r>
          </a:p>
          <a:p>
            <a:pPr>
              <a:lnSpc>
                <a:spcPct val="150000"/>
              </a:lnSpc>
            </a:pPr>
            <a:endPar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阿姆达尔定律（</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Amdahl's Law</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：对计算机系统的某一部分加速的时候，该加速部分对系统整体性能的影响取决于该部分的重要性和加速程度。</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5416868"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咸与维新：计算机体系架构的黄金时代</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306" y="44472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8122" y="1326427"/>
            <a:ext cx="11530866" cy="3690369"/>
          </a:xfrm>
          <a:prstGeom prst="rect">
            <a:avLst/>
          </a:prstGeom>
        </p:spPr>
        <p:txBody>
          <a:bodyPr wrap="square">
            <a:spAutoFit/>
          </a:bodyPr>
          <a:lstStyle/>
          <a:p>
            <a:pPr>
              <a:lnSpc>
                <a:spcPct val="150000"/>
              </a:lnSpc>
            </a:pP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人工智能模型训练和推理是数据密集型计算模式，通过使用存算分离架构的“冯诺依曼结构计算机”运行动辄千亿参数的人工智能模型时受限于</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计算墙、内存墙、通信墙、能耗墙的桎梏</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2012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年在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ImageNet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竞赛中取得优异成绩的</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AlexNet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神经网络模型由</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个卷积层和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个全连接层构成，仅包含</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6000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万个参数，</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OpenAI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推出的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GPT-3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大模型包含</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1750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亿参数。据估计，对神经网络模型算力需求平均每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个月就会增长</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倍。这种令人望而却步的网络规模对模型训练和推理的硬件和软件的高效计算提出了巨大挑战。在“</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数据是燃料、模型是引擎、算力是加速器</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”的时代，显然未来从算法顶层、到编译器，到体系结构，到芯片以及设计高性能计算、硬件加速器和分布式系统将咸与推动计算机体系架构进入黄金时代的创新。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5416868"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咸与维新：计算机体系架构的黄金时代</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3995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latin typeface="楷体" panose="02010609060101010101" pitchFamily="49" charset="-122"/>
              <a:ea typeface="楷体" panose="02010609060101010101" pitchFamily="49" charset="-122"/>
            </a:endParaRPr>
          </a:p>
        </p:txBody>
      </p:sp>
      <p:sp>
        <p:nvSpPr>
          <p:cNvPr id="7" name="矩形 6"/>
          <p:cNvSpPr/>
          <p:nvPr/>
        </p:nvSpPr>
        <p:spPr>
          <a:xfrm>
            <a:off x="1312990" y="1361537"/>
            <a:ext cx="9818367" cy="4994765"/>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楷体" panose="02010609060101010101" pitchFamily="49" charset="-122"/>
                <a:ea typeface="楷体" panose="02010609060101010101" pitchFamily="49" charset="-122"/>
              </a:rPr>
              <a:t>在</a:t>
            </a:r>
            <a:r>
              <a:rPr lang="en-US" altLang="zh-CN" dirty="0">
                <a:solidFill>
                  <a:schemeClr val="bg1"/>
                </a:solidFill>
                <a:latin typeface="楷体" panose="02010609060101010101" pitchFamily="49" charset="-122"/>
                <a:ea typeface="楷体" panose="02010609060101010101" pitchFamily="49" charset="-122"/>
              </a:rPr>
              <a:t>“</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数据是燃料、模型是引擎、算力是加速器</a:t>
            </a:r>
            <a:r>
              <a:rPr lang="en-US" altLang="zh-CN" dirty="0">
                <a:solidFill>
                  <a:schemeClr val="bg1"/>
                </a:solidFill>
                <a:latin typeface="楷体" panose="02010609060101010101" pitchFamily="49" charset="-122"/>
                <a:ea typeface="楷体" panose="02010609060101010101" pitchFamily="49" charset="-122"/>
              </a:rPr>
              <a:t>”</a:t>
            </a:r>
            <a:r>
              <a:rPr lang="zh-CN" altLang="zh-CN" dirty="0">
                <a:solidFill>
                  <a:schemeClr val="bg1"/>
                </a:solidFill>
                <a:latin typeface="楷体" panose="02010609060101010101" pitchFamily="49" charset="-122"/>
                <a:ea typeface="楷体" panose="02010609060101010101" pitchFamily="49" charset="-122"/>
              </a:rPr>
              <a:t>的时代，人工智能算法、芯片、基础软件（如编译）、模型（编程框架）和应用等融合在一起，正在形成技术生态。</a:t>
            </a:r>
            <a:endParaRPr lang="en-US" altLang="zh-CN" dirty="0">
              <a:solidFill>
                <a:schemeClr val="bg1"/>
              </a:solidFill>
              <a:latin typeface="楷体" panose="02010609060101010101" pitchFamily="49" charset="-122"/>
              <a:ea typeface="楷体" panose="02010609060101010101" pitchFamily="49" charset="-122"/>
            </a:endParaRPr>
          </a:p>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楷体" panose="02010609060101010101" pitchFamily="49" charset="-122"/>
                <a:ea typeface="楷体" panose="02010609060101010101" pitchFamily="49" charset="-122"/>
              </a:rPr>
              <a:t>这一技术生态博大恢弘、精彩分呈，具有</a:t>
            </a:r>
            <a:r>
              <a:rPr lang="en-US" altLang="zh-CN" dirty="0">
                <a:solidFill>
                  <a:schemeClr val="bg1"/>
                </a:solidFill>
                <a:latin typeface="楷体" panose="02010609060101010101" pitchFamily="49" charset="-122"/>
                <a:ea typeface="楷体" panose="02010609060101010101" pitchFamily="49" charset="-122"/>
              </a:rPr>
              <a:t>“</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至小有内、至大无外</a:t>
            </a:r>
            <a:r>
              <a:rPr lang="en-US" altLang="zh-CN" dirty="0">
                <a:solidFill>
                  <a:schemeClr val="bg1"/>
                </a:solidFill>
                <a:latin typeface="楷体" panose="02010609060101010101" pitchFamily="49" charset="-122"/>
                <a:ea typeface="楷体" panose="02010609060101010101" pitchFamily="49" charset="-122"/>
              </a:rPr>
              <a:t>”</a:t>
            </a:r>
            <a:r>
              <a:rPr lang="zh-CN" altLang="zh-CN" dirty="0">
                <a:solidFill>
                  <a:schemeClr val="bg1"/>
                </a:solidFill>
                <a:latin typeface="楷体" panose="02010609060101010101" pitchFamily="49" charset="-122"/>
                <a:ea typeface="楷体" panose="02010609060101010101" pitchFamily="49" charset="-122"/>
              </a:rPr>
              <a:t>特点，其不单纯是一门课程、一手技术、一项产品或一个应用，而是理论博大深厚、技术生机勃勃、产品落地牵引、应用赋能社会的综合协同体。</a:t>
            </a:r>
            <a:endParaRPr lang="en-US" altLang="zh-CN" dirty="0">
              <a:solidFill>
                <a:schemeClr val="bg1"/>
              </a:solidFill>
              <a:latin typeface="楷体" panose="02010609060101010101" pitchFamily="49" charset="-122"/>
              <a:ea typeface="楷体" panose="02010609060101010101" pitchFamily="49" charset="-122"/>
            </a:endParaRPr>
          </a:p>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楷体" panose="02010609060101010101" pitchFamily="49" charset="-122"/>
                <a:ea typeface="楷体" panose="02010609060101010101" pitchFamily="49" charset="-122"/>
              </a:rPr>
              <a:t>因果学习中在解释干预算子（即赫赫有名的</a:t>
            </a:r>
            <a:r>
              <a:rPr lang="en-US" altLang="zh-CN" dirty="0">
                <a:solidFill>
                  <a:schemeClr val="bg1"/>
                </a:solidFill>
                <a:latin typeface="楷体" panose="02010609060101010101" pitchFamily="49" charset="-122"/>
                <a:ea typeface="楷体" panose="02010609060101010101" pitchFamily="49" charset="-122"/>
              </a:rPr>
              <a:t>do</a:t>
            </a:r>
            <a:r>
              <a:rPr lang="zh-CN" altLang="zh-CN" dirty="0">
                <a:solidFill>
                  <a:schemeClr val="bg1"/>
                </a:solidFill>
                <a:latin typeface="楷体" panose="02010609060101010101" pitchFamily="49" charset="-122"/>
                <a:ea typeface="楷体" panose="02010609060101010101" pitchFamily="49" charset="-122"/>
              </a:rPr>
              <a:t>算子）的意义时曾如下描述：改变一个变量所依赖的条件变量让我们转换了看世界的角度，而干预算子则改变了世界本身。</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人工智能基础软硬件与芯片等浑然一体所构成系统在当今语境下就是改变世界本身的工具。</a:t>
            </a:r>
          </a:p>
          <a:p>
            <a:pPr marL="285750" indent="-285750">
              <a:lnSpc>
                <a:spcPct val="200000"/>
              </a:lnSpc>
              <a:buClr>
                <a:schemeClr val="bg1"/>
              </a:buClr>
              <a:buSzPct val="80000"/>
              <a:buFont typeface="Wingdings" panose="05000000000000000000" pitchFamily="2" charset="2"/>
              <a:buChar char="u"/>
            </a:pPr>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10896</TotalTime>
  <Words>4410</Words>
  <Application>Microsoft Office PowerPoint</Application>
  <PresentationFormat>宽屏</PresentationFormat>
  <Paragraphs>260</Paragraphs>
  <Slides>37</Slides>
  <Notes>23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37</vt:i4>
      </vt:variant>
    </vt:vector>
  </HeadingPairs>
  <TitlesOfParts>
    <vt:vector size="55" baseType="lpstr">
      <vt:lpstr>-apple-system</vt:lpstr>
      <vt:lpstr>Arial Unicode MS</vt:lpstr>
      <vt:lpstr>Inter</vt:lpstr>
      <vt:lpstr>PingFang SC</vt:lpstr>
      <vt:lpstr>方正美黑简体</vt:lpstr>
      <vt:lpstr>方正颜宋简体_大</vt:lpstr>
      <vt:lpstr>方正颜宋简体_中</vt:lpstr>
      <vt:lpstr>黑体</vt:lpstr>
      <vt:lpstr>华文中宋</vt:lpstr>
      <vt:lpstr>楷体</vt:lpstr>
      <vt:lpstr>微软雅黑</vt:lpstr>
      <vt:lpstr>Arial</vt:lpstr>
      <vt:lpstr>Arial</vt:lpstr>
      <vt:lpstr>Bauhaus 93</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1096</cp:revision>
  <dcterms:created xsi:type="dcterms:W3CDTF">2023-07-27T09:00:19Z</dcterms:created>
  <dcterms:modified xsi:type="dcterms:W3CDTF">2026-07-15T10:47:22Z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