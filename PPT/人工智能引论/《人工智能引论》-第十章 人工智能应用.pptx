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56" r:id="rId2"/>
    <p:sldId id="257" r:id="rId3"/>
    <p:sldId id="263" r:id="rId4"/>
    <p:sldId id="258" r:id="rId5"/>
    <p:sldId id="273" r:id="rId6"/>
    <p:sldId id="2076139263" r:id="rId7"/>
    <p:sldId id="2076139264" r:id="rId8"/>
    <p:sldId id="2076139265" r:id="rId9"/>
    <p:sldId id="2076139266" r:id="rId10"/>
    <p:sldId id="2076139267" r:id="rId11"/>
    <p:sldId id="2076139268" r:id="rId12"/>
    <p:sldId id="2076139269" r:id="rId13"/>
    <p:sldId id="2076139298" r:id="rId14"/>
    <p:sldId id="2076139270" r:id="rId15"/>
    <p:sldId id="2076139271" r:id="rId16"/>
    <p:sldId id="2076139272" r:id="rId17"/>
    <p:sldId id="2076139273" r:id="rId18"/>
    <p:sldId id="2076139274" r:id="rId19"/>
    <p:sldId id="2076139275" r:id="rId20"/>
    <p:sldId id="2076139276" r:id="rId21"/>
    <p:sldId id="2076139277" r:id="rId22"/>
    <p:sldId id="2076139299" r:id="rId23"/>
    <p:sldId id="2076139279" r:id="rId24"/>
    <p:sldId id="2076139300" r:id="rId25"/>
    <p:sldId id="2076139280" r:id="rId26"/>
    <p:sldId id="2076139281" r:id="rId27"/>
    <p:sldId id="2076139282" r:id="rId28"/>
    <p:sldId id="2076139295" r:id="rId29"/>
    <p:sldId id="2076139283" r:id="rId30"/>
    <p:sldId id="2076139284" r:id="rId31"/>
    <p:sldId id="2076139285" r:id="rId32"/>
    <p:sldId id="2076139301" r:id="rId33"/>
    <p:sldId id="2076139286" r:id="rId34"/>
    <p:sldId id="2076139287" r:id="rId35"/>
    <p:sldId id="2076139288" r:id="rId36"/>
    <p:sldId id="2076139290" r:id="rId37"/>
    <p:sldId id="2076139297" r:id="rId38"/>
    <p:sldId id="2076139291" r:id="rId39"/>
    <p:sldId id="2076139292" r:id="rId40"/>
    <p:sldId id="2076139293" r:id="rId41"/>
    <p:sldId id="2076139294" r:id="rId42"/>
    <p:sldId id="264" r:id="rId43"/>
    <p:sldId id="269" r:id="rId44"/>
    <p:sldId id="270" r:id="rId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7480"/>
    <a:srgbClr val="01717E"/>
    <a:srgbClr val="017C84"/>
    <a:srgbClr val="51ADB7"/>
    <a:srgbClr val="014D53"/>
    <a:srgbClr val="007684"/>
    <a:srgbClr val="222222"/>
    <a:srgbClr val="EEF7F8"/>
    <a:srgbClr val="F7FBFB"/>
    <a:srgbClr val="F2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89442" autoAdjust="0"/>
  </p:normalViewPr>
  <p:slideViewPr>
    <p:cSldViewPr snapToGrid="0">
      <p:cViewPr varScale="1">
        <p:scale>
          <a:sx n="99" d="100"/>
          <a:sy n="99" d="100"/>
        </p:scale>
        <p:origin x="1032" y="72"/>
      </p:cViewPr>
      <p:guideLst/>
    </p:cSldViewPr>
  </p:slideViewPr>
  <p:outlineViewPr>
    <p:cViewPr>
      <p:scale>
        <a:sx n="33" d="100"/>
        <a:sy n="33" d="100"/>
      </p:scale>
      <p:origin x="0" y="-752"/>
    </p:cViewPr>
  </p:outlineViewPr>
  <p:notesTextViewPr>
    <p:cViewPr>
      <p:scale>
        <a:sx n="1" d="1"/>
        <a:sy n="1" d="1"/>
      </p:scale>
      <p:origin x="0" y="0"/>
    </p:cViewPr>
  </p:notesTextViewPr>
  <p:sorterViewPr>
    <p:cViewPr varScale="1">
      <p:scale>
        <a:sx n="100" d="100"/>
        <a:sy n="100" d="100"/>
      </p:scale>
      <p:origin x="0" y="-15219"/>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5224A5-F0C5-4B72-8135-2FAC1AE300C9}" type="datetimeFigureOut">
              <a:rPr lang="zh-CN" altLang="en-US" smtClean="0"/>
              <a:t>2026/7/15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8AECDA-B852-4CA6-98F9-FDA299AD4FD3}" type="slidenum">
              <a:rPr lang="zh-CN" altLang="en-US" smtClean="0"/>
              <a:t>‹#›</a:t>
            </a:fld>
            <a:endParaRPr lang="zh-CN" altLang="en-US"/>
          </a:p>
        </p:txBody>
      </p:sp>
    </p:spTree>
    <p:extLst>
      <p:ext uri="{BB962C8B-B14F-4D97-AF65-F5344CB8AC3E}">
        <p14:creationId xmlns:p14="http://schemas.microsoft.com/office/powerpoint/2010/main" val="1731540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封面</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a:t>
            </a:fld>
            <a:endParaRPr lang="zh-CN" altLang="en-US"/>
          </a:p>
        </p:txBody>
      </p:sp>
    </p:spTree>
    <p:extLst>
      <p:ext uri="{BB962C8B-B14F-4D97-AF65-F5344CB8AC3E}">
        <p14:creationId xmlns:p14="http://schemas.microsoft.com/office/powerpoint/2010/main" val="849922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章节页</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2</a:t>
            </a:fld>
            <a:endParaRPr lang="zh-CN" altLang="en-US"/>
          </a:p>
        </p:txBody>
      </p:sp>
    </p:spTree>
    <p:extLst>
      <p:ext uri="{BB962C8B-B14F-4D97-AF65-F5344CB8AC3E}">
        <p14:creationId xmlns:p14="http://schemas.microsoft.com/office/powerpoint/2010/main" val="518064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知识卡片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a:t>
            </a:fld>
            <a:endParaRPr lang="zh-CN" altLang="en-US"/>
          </a:p>
        </p:txBody>
      </p:sp>
    </p:spTree>
    <p:extLst>
      <p:ext uri="{BB962C8B-B14F-4D97-AF65-F5344CB8AC3E}">
        <p14:creationId xmlns:p14="http://schemas.microsoft.com/office/powerpoint/2010/main" val="1490159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目录</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a:t>
            </a:fld>
            <a:endParaRPr lang="zh-CN" altLang="en-US"/>
          </a:p>
        </p:txBody>
      </p:sp>
    </p:spTree>
    <p:extLst>
      <p:ext uri="{BB962C8B-B14F-4D97-AF65-F5344CB8AC3E}">
        <p14:creationId xmlns:p14="http://schemas.microsoft.com/office/powerpoint/2010/main" val="3773908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endParaRPr lang="en-US" altLang="zh-CN" dirty="0"/>
          </a:p>
          <a:p>
            <a:r>
              <a:rPr lang="zh-CN" altLang="en-US" dirty="0"/>
              <a:t>句法分析、语义角色标注、实体识别在当前大语言模型时代下还有意义？</a:t>
            </a:r>
            <a:endParaRPr lang="en-US" altLang="zh-CN" dirty="0"/>
          </a:p>
          <a:p>
            <a:r>
              <a:rPr lang="zh-CN" altLang="en-US" b="0" i="0" dirty="0">
                <a:effectLst/>
                <a:latin typeface="Inter"/>
              </a:rPr>
              <a:t>高质量的句法分析、语义角色标注数据可作为监督信号，用于 </a:t>
            </a:r>
            <a:r>
              <a:rPr lang="en-US" altLang="zh-CN" b="0" i="0" dirty="0">
                <a:effectLst/>
                <a:latin typeface="Inter"/>
              </a:rPr>
              <a:t>LLM </a:t>
            </a:r>
            <a:r>
              <a:rPr lang="zh-CN" altLang="en-US" b="0" i="0" dirty="0">
                <a:effectLst/>
                <a:latin typeface="Inter"/>
              </a:rPr>
              <a:t>的预训练或微调，帮助模型更快掌握语言规律</a:t>
            </a:r>
            <a:endParaRPr lang="en-US" altLang="zh-CN" b="0" i="0" dirty="0">
              <a:effectLst/>
              <a:latin typeface="Inter"/>
            </a:endParaRPr>
          </a:p>
          <a:p>
            <a:r>
              <a:rPr lang="zh-CN" altLang="en-US" b="0" i="0" dirty="0">
                <a:effectLst/>
                <a:latin typeface="Inter"/>
              </a:rPr>
              <a:t>句法分析和语义角色标注可作为客观评估指标，辅助诊断模型问题</a:t>
            </a:r>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5</a:t>
            </a:fld>
            <a:endParaRPr lang="zh-CN" altLang="en-US"/>
          </a:p>
        </p:txBody>
      </p:sp>
    </p:spTree>
    <p:extLst>
      <p:ext uri="{BB962C8B-B14F-4D97-AF65-F5344CB8AC3E}">
        <p14:creationId xmlns:p14="http://schemas.microsoft.com/office/powerpoint/2010/main" val="1566013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a:t>
            </a:fld>
            <a:endParaRPr lang="zh-CN" altLang="en-US"/>
          </a:p>
        </p:txBody>
      </p:sp>
    </p:spTree>
    <p:extLst>
      <p:ext uri="{BB962C8B-B14F-4D97-AF65-F5344CB8AC3E}">
        <p14:creationId xmlns:p14="http://schemas.microsoft.com/office/powerpoint/2010/main" val="3472281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a:t>
            </a:fld>
            <a:endParaRPr lang="zh-CN" altLang="en-US"/>
          </a:p>
        </p:txBody>
      </p:sp>
    </p:spTree>
    <p:extLst>
      <p:ext uri="{BB962C8B-B14F-4D97-AF65-F5344CB8AC3E}">
        <p14:creationId xmlns:p14="http://schemas.microsoft.com/office/powerpoint/2010/main" val="22936053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8</a:t>
            </a:fld>
            <a:endParaRPr lang="zh-CN" altLang="en-US"/>
          </a:p>
        </p:txBody>
      </p:sp>
    </p:spTree>
    <p:extLst>
      <p:ext uri="{BB962C8B-B14F-4D97-AF65-F5344CB8AC3E}">
        <p14:creationId xmlns:p14="http://schemas.microsoft.com/office/powerpoint/2010/main" val="25911586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9</a:t>
            </a:fld>
            <a:endParaRPr lang="zh-CN" altLang="en-US"/>
          </a:p>
        </p:txBody>
      </p:sp>
    </p:spTree>
    <p:extLst>
      <p:ext uri="{BB962C8B-B14F-4D97-AF65-F5344CB8AC3E}">
        <p14:creationId xmlns:p14="http://schemas.microsoft.com/office/powerpoint/2010/main" val="3819400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10</a:t>
            </a:fld>
            <a:endParaRPr lang="zh-CN" altLang="en-US"/>
          </a:p>
        </p:txBody>
      </p:sp>
    </p:spTree>
    <p:extLst>
      <p:ext uri="{BB962C8B-B14F-4D97-AF65-F5344CB8AC3E}">
        <p14:creationId xmlns:p14="http://schemas.microsoft.com/office/powerpoint/2010/main" val="2442885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11</a:t>
            </a:fld>
            <a:endParaRPr lang="zh-CN" altLang="en-US"/>
          </a:p>
        </p:txBody>
      </p:sp>
    </p:spTree>
    <p:extLst>
      <p:ext uri="{BB962C8B-B14F-4D97-AF65-F5344CB8AC3E}">
        <p14:creationId xmlns:p14="http://schemas.microsoft.com/office/powerpoint/2010/main" val="27838766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12</a:t>
            </a:fld>
            <a:endParaRPr lang="zh-CN" altLang="en-US"/>
          </a:p>
        </p:txBody>
      </p:sp>
    </p:spTree>
    <p:extLst>
      <p:ext uri="{BB962C8B-B14F-4D97-AF65-F5344CB8AC3E}">
        <p14:creationId xmlns:p14="http://schemas.microsoft.com/office/powerpoint/2010/main" val="471248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14</a:t>
            </a:fld>
            <a:endParaRPr lang="zh-CN" altLang="en-US"/>
          </a:p>
        </p:txBody>
      </p:sp>
    </p:spTree>
    <p:extLst>
      <p:ext uri="{BB962C8B-B14F-4D97-AF65-F5344CB8AC3E}">
        <p14:creationId xmlns:p14="http://schemas.microsoft.com/office/powerpoint/2010/main" val="21401450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15</a:t>
            </a:fld>
            <a:endParaRPr lang="zh-CN" altLang="en-US"/>
          </a:p>
        </p:txBody>
      </p:sp>
    </p:spTree>
    <p:extLst>
      <p:ext uri="{BB962C8B-B14F-4D97-AF65-F5344CB8AC3E}">
        <p14:creationId xmlns:p14="http://schemas.microsoft.com/office/powerpoint/2010/main" val="2883737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endParaRPr lang="en-US" altLang="zh-CN" dirty="0"/>
          </a:p>
          <a:p>
            <a:r>
              <a:rPr lang="zh-CN" altLang="en-US" dirty="0"/>
              <a:t>给不同难度的数据样本设置不同的权重</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16</a:t>
            </a:fld>
            <a:endParaRPr lang="zh-CN" altLang="en-US"/>
          </a:p>
        </p:txBody>
      </p:sp>
    </p:spTree>
    <p:extLst>
      <p:ext uri="{BB962C8B-B14F-4D97-AF65-F5344CB8AC3E}">
        <p14:creationId xmlns:p14="http://schemas.microsoft.com/office/powerpoint/2010/main" val="34474382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17</a:t>
            </a:fld>
            <a:endParaRPr lang="zh-CN" altLang="en-US"/>
          </a:p>
        </p:txBody>
      </p:sp>
    </p:spTree>
    <p:extLst>
      <p:ext uri="{BB962C8B-B14F-4D97-AF65-F5344CB8AC3E}">
        <p14:creationId xmlns:p14="http://schemas.microsoft.com/office/powerpoint/2010/main" val="24877953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18</a:t>
            </a:fld>
            <a:endParaRPr lang="zh-CN" altLang="en-US"/>
          </a:p>
        </p:txBody>
      </p:sp>
    </p:spTree>
    <p:extLst>
      <p:ext uri="{BB962C8B-B14F-4D97-AF65-F5344CB8AC3E}">
        <p14:creationId xmlns:p14="http://schemas.microsoft.com/office/powerpoint/2010/main" val="1123619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19</a:t>
            </a:fld>
            <a:endParaRPr lang="zh-CN" altLang="en-US"/>
          </a:p>
        </p:txBody>
      </p:sp>
    </p:spTree>
    <p:extLst>
      <p:ext uri="{BB962C8B-B14F-4D97-AF65-F5344CB8AC3E}">
        <p14:creationId xmlns:p14="http://schemas.microsoft.com/office/powerpoint/2010/main" val="17376920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20</a:t>
            </a:fld>
            <a:endParaRPr lang="zh-CN" altLang="en-US"/>
          </a:p>
        </p:txBody>
      </p:sp>
    </p:spTree>
    <p:extLst>
      <p:ext uri="{BB962C8B-B14F-4D97-AF65-F5344CB8AC3E}">
        <p14:creationId xmlns:p14="http://schemas.microsoft.com/office/powerpoint/2010/main" val="2746268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21</a:t>
            </a:fld>
            <a:endParaRPr lang="zh-CN" altLang="en-US"/>
          </a:p>
        </p:txBody>
      </p:sp>
    </p:spTree>
    <p:extLst>
      <p:ext uri="{BB962C8B-B14F-4D97-AF65-F5344CB8AC3E}">
        <p14:creationId xmlns:p14="http://schemas.microsoft.com/office/powerpoint/2010/main" val="15504282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23</a:t>
            </a:fld>
            <a:endParaRPr lang="zh-CN" altLang="en-US"/>
          </a:p>
        </p:txBody>
      </p:sp>
    </p:spTree>
    <p:extLst>
      <p:ext uri="{BB962C8B-B14F-4D97-AF65-F5344CB8AC3E}">
        <p14:creationId xmlns:p14="http://schemas.microsoft.com/office/powerpoint/2010/main" val="14550685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25</a:t>
            </a:fld>
            <a:endParaRPr lang="zh-CN" altLang="en-US"/>
          </a:p>
        </p:txBody>
      </p:sp>
    </p:spTree>
    <p:extLst>
      <p:ext uri="{BB962C8B-B14F-4D97-AF65-F5344CB8AC3E}">
        <p14:creationId xmlns:p14="http://schemas.microsoft.com/office/powerpoint/2010/main" val="1719046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26</a:t>
            </a:fld>
            <a:endParaRPr lang="zh-CN" altLang="en-US"/>
          </a:p>
        </p:txBody>
      </p:sp>
    </p:spTree>
    <p:extLst>
      <p:ext uri="{BB962C8B-B14F-4D97-AF65-F5344CB8AC3E}">
        <p14:creationId xmlns:p14="http://schemas.microsoft.com/office/powerpoint/2010/main" val="37490575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27</a:t>
            </a:fld>
            <a:endParaRPr lang="zh-CN" altLang="en-US"/>
          </a:p>
        </p:txBody>
      </p:sp>
    </p:spTree>
    <p:extLst>
      <p:ext uri="{BB962C8B-B14F-4D97-AF65-F5344CB8AC3E}">
        <p14:creationId xmlns:p14="http://schemas.microsoft.com/office/powerpoint/2010/main" val="23884247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28</a:t>
            </a:fld>
            <a:endParaRPr lang="zh-CN" altLang="en-US"/>
          </a:p>
        </p:txBody>
      </p:sp>
    </p:spTree>
    <p:extLst>
      <p:ext uri="{BB962C8B-B14F-4D97-AF65-F5344CB8AC3E}">
        <p14:creationId xmlns:p14="http://schemas.microsoft.com/office/powerpoint/2010/main" val="29134317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29</a:t>
            </a:fld>
            <a:endParaRPr lang="zh-CN" altLang="en-US"/>
          </a:p>
        </p:txBody>
      </p:sp>
    </p:spTree>
    <p:extLst>
      <p:ext uri="{BB962C8B-B14F-4D97-AF65-F5344CB8AC3E}">
        <p14:creationId xmlns:p14="http://schemas.microsoft.com/office/powerpoint/2010/main" val="18555184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30</a:t>
            </a:fld>
            <a:endParaRPr lang="zh-CN" altLang="en-US"/>
          </a:p>
        </p:txBody>
      </p:sp>
    </p:spTree>
    <p:extLst>
      <p:ext uri="{BB962C8B-B14F-4D97-AF65-F5344CB8AC3E}">
        <p14:creationId xmlns:p14="http://schemas.microsoft.com/office/powerpoint/2010/main" val="13594081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31</a:t>
            </a:fld>
            <a:endParaRPr lang="zh-CN" altLang="en-US"/>
          </a:p>
        </p:txBody>
      </p:sp>
    </p:spTree>
    <p:extLst>
      <p:ext uri="{BB962C8B-B14F-4D97-AF65-F5344CB8AC3E}">
        <p14:creationId xmlns:p14="http://schemas.microsoft.com/office/powerpoint/2010/main" val="27158093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33</a:t>
            </a:fld>
            <a:endParaRPr lang="zh-CN" altLang="en-US"/>
          </a:p>
        </p:txBody>
      </p:sp>
    </p:spTree>
    <p:extLst>
      <p:ext uri="{BB962C8B-B14F-4D97-AF65-F5344CB8AC3E}">
        <p14:creationId xmlns:p14="http://schemas.microsoft.com/office/powerpoint/2010/main" val="3224767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34</a:t>
            </a:fld>
            <a:endParaRPr lang="zh-CN" altLang="en-US"/>
          </a:p>
        </p:txBody>
      </p:sp>
    </p:spTree>
    <p:extLst>
      <p:ext uri="{BB962C8B-B14F-4D97-AF65-F5344CB8AC3E}">
        <p14:creationId xmlns:p14="http://schemas.microsoft.com/office/powerpoint/2010/main" val="41467823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35</a:t>
            </a:fld>
            <a:endParaRPr lang="zh-CN" altLang="en-US"/>
          </a:p>
        </p:txBody>
      </p:sp>
    </p:spTree>
    <p:extLst>
      <p:ext uri="{BB962C8B-B14F-4D97-AF65-F5344CB8AC3E}">
        <p14:creationId xmlns:p14="http://schemas.microsoft.com/office/powerpoint/2010/main" val="23973221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36</a:t>
            </a:fld>
            <a:endParaRPr lang="zh-CN" altLang="en-US"/>
          </a:p>
        </p:txBody>
      </p:sp>
    </p:spTree>
    <p:extLst>
      <p:ext uri="{BB962C8B-B14F-4D97-AF65-F5344CB8AC3E}">
        <p14:creationId xmlns:p14="http://schemas.microsoft.com/office/powerpoint/2010/main" val="34388003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37</a:t>
            </a:fld>
            <a:endParaRPr lang="zh-CN" altLang="en-US"/>
          </a:p>
        </p:txBody>
      </p:sp>
    </p:spTree>
    <p:extLst>
      <p:ext uri="{BB962C8B-B14F-4D97-AF65-F5344CB8AC3E}">
        <p14:creationId xmlns:p14="http://schemas.microsoft.com/office/powerpoint/2010/main" val="3691681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38</a:t>
            </a:fld>
            <a:endParaRPr lang="zh-CN" altLang="en-US"/>
          </a:p>
        </p:txBody>
      </p:sp>
    </p:spTree>
    <p:extLst>
      <p:ext uri="{BB962C8B-B14F-4D97-AF65-F5344CB8AC3E}">
        <p14:creationId xmlns:p14="http://schemas.microsoft.com/office/powerpoint/2010/main" val="20048986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39</a:t>
            </a:fld>
            <a:endParaRPr lang="zh-CN" altLang="en-US"/>
          </a:p>
        </p:txBody>
      </p:sp>
    </p:spTree>
    <p:extLst>
      <p:ext uri="{BB962C8B-B14F-4D97-AF65-F5344CB8AC3E}">
        <p14:creationId xmlns:p14="http://schemas.microsoft.com/office/powerpoint/2010/main" val="28912859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40</a:t>
            </a:fld>
            <a:endParaRPr lang="zh-CN" altLang="en-US"/>
          </a:p>
        </p:txBody>
      </p:sp>
    </p:spTree>
    <p:extLst>
      <p:ext uri="{BB962C8B-B14F-4D97-AF65-F5344CB8AC3E}">
        <p14:creationId xmlns:p14="http://schemas.microsoft.com/office/powerpoint/2010/main" val="16118071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41</a:t>
            </a:fld>
            <a:endParaRPr lang="zh-CN" altLang="en-US"/>
          </a:p>
        </p:txBody>
      </p:sp>
    </p:spTree>
    <p:extLst>
      <p:ext uri="{BB962C8B-B14F-4D97-AF65-F5344CB8AC3E}">
        <p14:creationId xmlns:p14="http://schemas.microsoft.com/office/powerpoint/2010/main" val="9110742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延伸阅读</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42</a:t>
            </a:fld>
            <a:endParaRPr lang="zh-CN" altLang="en-US"/>
          </a:p>
        </p:txBody>
      </p:sp>
    </p:spTree>
    <p:extLst>
      <p:ext uri="{BB962C8B-B14F-4D97-AF65-F5344CB8AC3E}">
        <p14:creationId xmlns:p14="http://schemas.microsoft.com/office/powerpoint/2010/main" val="42191943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本章小结</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43</a:t>
            </a:fld>
            <a:endParaRPr lang="zh-CN" altLang="en-US"/>
          </a:p>
        </p:txBody>
      </p:sp>
    </p:spTree>
    <p:extLst>
      <p:ext uri="{BB962C8B-B14F-4D97-AF65-F5344CB8AC3E}">
        <p14:creationId xmlns:p14="http://schemas.microsoft.com/office/powerpoint/2010/main" val="31390803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结语</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44</a:t>
            </a:fld>
            <a:endParaRPr lang="zh-CN" altLang="en-US"/>
          </a:p>
        </p:txBody>
      </p:sp>
    </p:spTree>
    <p:extLst>
      <p:ext uri="{BB962C8B-B14F-4D97-AF65-F5344CB8AC3E}">
        <p14:creationId xmlns:p14="http://schemas.microsoft.com/office/powerpoint/2010/main" val="1885593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结语">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一">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60.png"/></Relationships>
</file>

<file path=ppt/slides/_rels/slide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7.wmf"/><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oleObject" Target="../embeddings/oleObject1.bin"/><Relationship Id="rId5" Type="http://schemas.openxmlformats.org/officeDocument/2006/relationships/image" Target="../media/image180.png"/><Relationship Id="rId10" Type="http://schemas.openxmlformats.org/officeDocument/2006/relationships/image" Target="../media/image18.wmf"/><Relationship Id="rId9"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3.xml"/><Relationship Id="rId5" Type="http://schemas.openxmlformats.org/officeDocument/2006/relationships/image" Target="../media/image49.png"/><Relationship Id="rId4" Type="http://schemas.openxmlformats.org/officeDocument/2006/relationships/image" Target="../media/image48.png"/></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684"/>
        </a:solidFill>
        <a:effectLst/>
      </p:bgPr>
    </p:bg>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 y="-46319"/>
            <a:ext cx="12192000" cy="5716503"/>
          </a:xfrm>
          <a:prstGeom prst="rect">
            <a:avLst/>
          </a:prstGeom>
        </p:spPr>
      </p:pic>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7288" t="60187" r="62545" b="13687"/>
          <a:stretch>
            <a:fillRect/>
          </a:stretch>
        </p:blipFill>
        <p:spPr>
          <a:xfrm flipH="1" flipV="1">
            <a:off x="8544560" y="5394960"/>
            <a:ext cx="3677920" cy="1493520"/>
          </a:xfrm>
          <a:prstGeom prst="rect">
            <a:avLst/>
          </a:prstGeom>
        </p:spPr>
      </p:pic>
      <p:pic>
        <p:nvPicPr>
          <p:cNvPr id="15" name="图片 14"/>
          <p:cNvPicPr>
            <a:picLocks noChangeAspect="1"/>
          </p:cNvPicPr>
          <p:nvPr/>
        </p:nvPicPr>
        <p:blipFill rotWithShape="1">
          <a:blip r:embed="rId3" cstate="print">
            <a:extLst>
              <a:ext uri="{28A0092B-C50C-407E-A947-70E740481C1C}">
                <a14:useLocalDpi xmlns:a14="http://schemas.microsoft.com/office/drawing/2010/main" val="0"/>
              </a:ext>
            </a:extLst>
          </a:blip>
          <a:srcRect l="24826" b="55447"/>
          <a:stretch>
            <a:fillRect/>
          </a:stretch>
        </p:blipFill>
        <p:spPr>
          <a:xfrm>
            <a:off x="-132080" y="4453337"/>
            <a:ext cx="9165288" cy="2546903"/>
          </a:xfrm>
          <a:prstGeom prst="rect">
            <a:avLst/>
          </a:prstGeom>
        </p:spPr>
      </p:pic>
      <p:grpSp>
        <p:nvGrpSpPr>
          <p:cNvPr id="12" name="组合 11"/>
          <p:cNvGrpSpPr/>
          <p:nvPr/>
        </p:nvGrpSpPr>
        <p:grpSpPr>
          <a:xfrm>
            <a:off x="-905689" y="342255"/>
            <a:ext cx="14873910" cy="7227071"/>
            <a:chOff x="2275139" y="1708487"/>
            <a:chExt cx="7788686" cy="3784438"/>
          </a:xfrm>
        </p:grpSpPr>
        <p:sp>
          <p:nvSpPr>
            <p:cNvPr id="9" name="六边形 8"/>
            <p:cNvSpPr/>
            <p:nvPr/>
          </p:nvSpPr>
          <p:spPr>
            <a:xfrm rot="5400000">
              <a:off x="5811401" y="1880190"/>
              <a:ext cx="3784438"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单圆角矩形 10"/>
            <p:cNvSpPr/>
            <p:nvPr/>
          </p:nvSpPr>
          <p:spPr>
            <a:xfrm>
              <a:off x="2275139" y="3590090"/>
              <a:ext cx="5733603" cy="45719"/>
            </a:xfrm>
            <a:prstGeom prst="round1Rect">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2727158" y="2057400"/>
            <a:ext cx="6737684" cy="1015663"/>
          </a:xfrm>
          <a:prstGeom prst="rect">
            <a:avLst/>
          </a:prstGeom>
          <a:noFill/>
        </p:spPr>
        <p:txBody>
          <a:bodyPr wrap="square" rtlCol="0">
            <a:spAutoFit/>
          </a:bodyPr>
          <a:lstStyle/>
          <a:p>
            <a:pPr algn="ctr"/>
            <a:r>
              <a:rPr lang="zh-CN" altLang="en-US" sz="60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人工智能引论</a:t>
            </a:r>
          </a:p>
        </p:txBody>
      </p:sp>
      <p:sp>
        <p:nvSpPr>
          <p:cNvPr id="19" name="文本框 18"/>
          <p:cNvSpPr txBox="1"/>
          <p:nvPr/>
        </p:nvSpPr>
        <p:spPr>
          <a:xfrm rot="1849986">
            <a:off x="8195789" y="4908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99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9900" b="1" dirty="0">
              <a:gradFill>
                <a:gsLst>
                  <a:gs pos="30000">
                    <a:srgbClr val="007684"/>
                  </a:gs>
                  <a:gs pos="83000">
                    <a:srgbClr val="016773"/>
                  </a:gs>
                </a:gsLst>
                <a:lin ang="5400000" scaled="0"/>
              </a:gradFill>
              <a:latin typeface="Bauhaus 93" panose="04030905020B02020C02" pitchFamily="82" charset="0"/>
            </a:endParaRPr>
          </a:p>
        </p:txBody>
      </p:sp>
      <p:sp>
        <p:nvSpPr>
          <p:cNvPr id="2" name="文本框 1">
            <a:extLst>
              <a:ext uri="{FF2B5EF4-FFF2-40B4-BE49-F238E27FC236}">
                <a16:creationId xmlns:a16="http://schemas.microsoft.com/office/drawing/2014/main" id="{5B36A0C6-E98D-20E0-791D-6C27CDC46342}"/>
              </a:ext>
            </a:extLst>
          </p:cNvPr>
          <p:cNvSpPr txBox="1"/>
          <p:nvPr/>
        </p:nvSpPr>
        <p:spPr>
          <a:xfrm>
            <a:off x="5269479" y="4299065"/>
            <a:ext cx="1653043" cy="430374"/>
          </a:xfrm>
          <a:prstGeom prst="rect">
            <a:avLst/>
          </a:prstGeom>
          <a:noFill/>
        </p:spPr>
        <p:txBody>
          <a:bodyPr wrap="square" rtlCol="0">
            <a:spAutoFit/>
          </a:bodyPr>
          <a:lstStyle/>
          <a:p>
            <a:pPr marL="0" lvl="1" algn="ctr">
              <a:lnSpc>
                <a:spcPct val="120000"/>
              </a:lnSpc>
            </a:pPr>
            <a:r>
              <a:rPr lang="zh-CN" altLang="en-US" sz="200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高俊龙</a:t>
            </a:r>
          </a:p>
        </p:txBody>
      </p:sp>
      <p:sp>
        <p:nvSpPr>
          <p:cNvPr id="3" name="文本框 2">
            <a:extLst>
              <a:ext uri="{FF2B5EF4-FFF2-40B4-BE49-F238E27FC236}">
                <a16:creationId xmlns:a16="http://schemas.microsoft.com/office/drawing/2014/main" id="{E7A46647-77F0-2473-71BD-A4CCF15C6291}"/>
              </a:ext>
            </a:extLst>
          </p:cNvPr>
          <p:cNvSpPr txBox="1"/>
          <p:nvPr/>
        </p:nvSpPr>
        <p:spPr>
          <a:xfrm>
            <a:off x="3546133" y="4941202"/>
            <a:ext cx="5099734" cy="396583"/>
          </a:xfrm>
          <a:prstGeom prst="rect">
            <a:avLst/>
          </a:prstGeom>
          <a:noFill/>
        </p:spPr>
        <p:txBody>
          <a:bodyPr wrap="square" rtlCol="0">
            <a:spAutoFit/>
          </a:bodyPr>
          <a:lstStyle/>
          <a:p>
            <a:pPr marL="0" lvl="1" algn="ctr">
              <a:lnSpc>
                <a:spcPct val="120000"/>
              </a:lnSpc>
            </a:pPr>
            <a:r>
              <a:rPr lang="zh-CN" altLang="en-US"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厦门大学信息学院</a:t>
            </a:r>
            <a:endParaRPr lang="en-US" altLang="zh-CN"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130" name="图片 129"/>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128" name="图片 127"/>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92" name="图片 91"/>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8" name="组合 17"/>
          <p:cNvGrpSpPr/>
          <p:nvPr/>
        </p:nvGrpSpPr>
        <p:grpSpPr>
          <a:xfrm>
            <a:off x="10001700" y="2854959"/>
            <a:ext cx="2268815" cy="2101347"/>
            <a:chOff x="6175344" y="342254"/>
            <a:chExt cx="7803037" cy="7227071"/>
          </a:xfrm>
        </p:grpSpPr>
        <p:sp>
          <p:nvSpPr>
            <p:cNvPr id="19" name="六边形 18"/>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9863825" y="4346576"/>
            <a:ext cx="2963878" cy="2745105"/>
            <a:chOff x="6175344" y="342254"/>
            <a:chExt cx="7803037"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4335562" y="3439840"/>
            <a:ext cx="3570208" cy="769441"/>
          </a:xfrm>
          <a:prstGeom prst="rect">
            <a:avLst/>
          </a:prstGeom>
        </p:spPr>
        <p:txBody>
          <a:bodyPr wrap="none">
            <a:spAutoFit/>
          </a:bodyPr>
          <a:lstStyle/>
          <a:p>
            <a:pPr algn="ctr"/>
            <a:r>
              <a:rPr lang="zh-CN" altLang="en-US"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人工智能应用</a:t>
            </a:r>
            <a:endParaRPr lang="zh-CN" altLang="zh-CN"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8" name="矩形 7"/>
          <p:cNvSpPr/>
          <p:nvPr/>
        </p:nvSpPr>
        <p:spPr>
          <a:xfrm>
            <a:off x="5311171" y="2445722"/>
            <a:ext cx="1569660" cy="646331"/>
          </a:xfrm>
          <a:prstGeom prst="rect">
            <a:avLst/>
          </a:prstGeom>
        </p:spPr>
        <p:txBody>
          <a:bodyPr wrap="none">
            <a:spAutoFit/>
          </a:bodyPr>
          <a:lstStyle/>
          <a:p>
            <a:pPr algn="ct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第十章</a:t>
            </a:r>
          </a:p>
        </p:txBody>
      </p:sp>
      <p:cxnSp>
        <p:nvCxnSpPr>
          <p:cNvPr id="9" name="直接连接符 8"/>
          <p:cNvCxnSpPr/>
          <p:nvPr/>
        </p:nvCxnSpPr>
        <p:spPr>
          <a:xfrm>
            <a:off x="3024554" y="3265946"/>
            <a:ext cx="6116350" cy="0"/>
          </a:xfrm>
          <a:prstGeom prst="line">
            <a:avLst/>
          </a:prstGeom>
          <a:ln w="22225">
            <a:solidFill>
              <a:schemeClr val="bg1"/>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a:off x="2221671" y="2179434"/>
            <a:ext cx="7748658" cy="2397279"/>
            <a:chOff x="2221671" y="2179434"/>
            <a:chExt cx="7748658" cy="2397279"/>
          </a:xfrm>
        </p:grpSpPr>
        <p:sp>
          <p:nvSpPr>
            <p:cNvPr id="6" name="标题 9801"/>
            <p:cNvSpPr txBox="1"/>
            <p:nvPr/>
          </p:nvSpPr>
          <p:spPr>
            <a:xfrm rot="16200000">
              <a:off x="8719085" y="3325468"/>
              <a:ext cx="2397277" cy="105210"/>
            </a:xfrm>
            <a:prstGeom prst="parallelogram">
              <a:avLst>
                <a:gd name="adj" fmla="val 98875"/>
              </a:avLst>
            </a:prstGeom>
            <a:gradFill flip="none" rotWithShape="1">
              <a:gsLst>
                <a:gs pos="100000">
                  <a:srgbClr val="016773"/>
                </a:gs>
                <a:gs pos="0">
                  <a:srgbClr val="00ABA5"/>
                </a:gs>
              </a:gsLst>
              <a:lin ang="6000000" scaled="0"/>
              <a:tileRect/>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10" name="标题 9801"/>
            <p:cNvSpPr txBox="1"/>
            <p:nvPr/>
          </p:nvSpPr>
          <p:spPr>
            <a:xfrm flipH="1">
              <a:off x="2221671" y="4468236"/>
              <a:ext cx="7748657" cy="108477"/>
            </a:xfrm>
            <a:prstGeom prst="parallelogram">
              <a:avLst>
                <a:gd name="adj" fmla="val 102209"/>
              </a:avLst>
            </a:prstGeom>
            <a:gradFill>
              <a:gsLst>
                <a:gs pos="55000">
                  <a:srgbClr val="016773"/>
                </a:gs>
                <a:gs pos="0">
                  <a:srgbClr val="00ABA5"/>
                </a:gs>
                <a:gs pos="100000">
                  <a:srgbClr val="00ABA5"/>
                </a:gs>
              </a:gsLst>
              <a:lin ang="6000000" scaled="0"/>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cxnSp>
          <p:nvCxnSpPr>
            <p:cNvPr id="11" name="直接连接符 10"/>
            <p:cNvCxnSpPr/>
            <p:nvPr/>
          </p:nvCxnSpPr>
          <p:spPr>
            <a:xfrm flipH="1">
              <a:off x="2221671" y="2179434"/>
              <a:ext cx="76428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flipH="1">
              <a:off x="10768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222317" y="4468236"/>
              <a:ext cx="7642800" cy="0"/>
            </a:xfrm>
            <a:prstGeom prst="line">
              <a:avLst/>
            </a:prstGeom>
            <a:ln w="15875" cap="rnd">
              <a:gradFill>
                <a:gsLst>
                  <a:gs pos="0">
                    <a:schemeClr val="bg1">
                      <a:alpha val="0"/>
                    </a:schemeClr>
                  </a:gs>
                  <a:gs pos="100000">
                    <a:schemeClr val="bg1"/>
                  </a:gs>
                </a:gsLst>
                <a:lin ang="360000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flipH="1">
              <a:off x="87196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8933514" y="5200219"/>
            <a:ext cx="1549536" cy="1435160"/>
            <a:chOff x="6175344" y="342254"/>
            <a:chExt cx="7803037" cy="7227071"/>
          </a:xfrm>
        </p:grpSpPr>
        <p:sp>
          <p:nvSpPr>
            <p:cNvPr id="22" name="六边形 2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875295" y="-875664"/>
            <a:ext cx="2974038" cy="2745105"/>
            <a:chOff x="6175344" y="342254"/>
            <a:chExt cx="7829785" cy="7227071"/>
          </a:xfrm>
        </p:grpSpPr>
        <p:sp>
          <p:nvSpPr>
            <p:cNvPr id="25" name="六边形 2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平行四边形 2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1259840" y="635784"/>
            <a:ext cx="823697" cy="760292"/>
            <a:chOff x="6175344" y="342254"/>
            <a:chExt cx="7829785" cy="7227071"/>
          </a:xfrm>
        </p:grpSpPr>
        <p:sp>
          <p:nvSpPr>
            <p:cNvPr id="28" name="六边形 2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88689" y="2444173"/>
            <a:ext cx="12192000" cy="4357556"/>
          </a:xfrm>
          <a:prstGeom prst="rect">
            <a:avLst/>
          </a:prstGeom>
          <a:pattFill prst="dashUpDiag">
            <a:fgClr>
              <a:schemeClr val="bg1">
                <a:lumMod val="95000"/>
              </a:schemeClr>
            </a:fgClr>
            <a:bgClr>
              <a:schemeClr val="bg1"/>
            </a:bgClr>
          </a:pattFill>
          <a:ln>
            <a:noFill/>
          </a:ln>
          <a:effectLst>
            <a:innerShdw blurRad="279400" dist="25400">
              <a:prstClr val="black">
                <a:alpha val="3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327129" y="3867301"/>
            <a:ext cx="9709192" cy="2481715"/>
            <a:chOff x="1241404" y="3150817"/>
            <a:chExt cx="9709192" cy="2481715"/>
          </a:xfrm>
        </p:grpSpPr>
        <p:grpSp>
          <p:nvGrpSpPr>
            <p:cNvPr id="9" name="组合 8"/>
            <p:cNvGrpSpPr/>
            <p:nvPr/>
          </p:nvGrpSpPr>
          <p:grpSpPr>
            <a:xfrm>
              <a:off x="1241404" y="3150817"/>
              <a:ext cx="9709192" cy="2481715"/>
              <a:chOff x="1685472" y="920193"/>
              <a:chExt cx="9759953" cy="4937875"/>
            </a:xfrm>
          </p:grpSpPr>
          <p:sp>
            <p:nvSpPr>
              <p:cNvPr id="11" name="矩形: 圆顶角 38"/>
              <p:cNvSpPr/>
              <p:nvPr/>
            </p:nvSpPr>
            <p:spPr>
              <a:xfrm rot="16200000">
                <a:off x="4361101" y="-1226256"/>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圆顶角 39"/>
              <p:cNvSpPr/>
              <p:nvPr/>
            </p:nvSpPr>
            <p:spPr>
              <a:xfrm rot="16200000">
                <a:off x="4265598" y="-1381975"/>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矩形: 圆顶角 40"/>
              <p:cNvSpPr/>
              <p:nvPr/>
            </p:nvSpPr>
            <p:spPr>
              <a:xfrm rot="16200000">
                <a:off x="4154777" y="-1549112"/>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cxnSp>
          <p:nvCxnSpPr>
            <p:cNvPr id="10" name="直接连接符 9"/>
            <p:cNvCxnSpPr/>
            <p:nvPr/>
          </p:nvCxnSpPr>
          <p:spPr>
            <a:xfrm flipV="1">
              <a:off x="1305272" y="3499098"/>
              <a:ext cx="0" cy="1579796"/>
            </a:xfrm>
            <a:prstGeom prst="line">
              <a:avLst/>
            </a:prstGeom>
            <a:ln w="152400">
              <a:solidFill>
                <a:srgbClr val="007684"/>
              </a:solidFill>
            </a:ln>
            <a:effectLst>
              <a:outerShdw blurRad="635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3" name="矩形 2"/>
          <p:cNvSpPr/>
          <p:nvPr/>
        </p:nvSpPr>
        <p:spPr>
          <a:xfrm>
            <a:off x="1149642" y="1099999"/>
            <a:ext cx="7924801" cy="2032211"/>
          </a:xfrm>
          <a:prstGeom prst="rect">
            <a:avLst/>
          </a:prstGeom>
          <a:gradFill>
            <a:gsLst>
              <a:gs pos="0">
                <a:srgbClr val="0093A2"/>
              </a:gs>
              <a:gs pos="100000">
                <a:srgbClr val="222222">
                  <a:alpha val="0"/>
                </a:srgbClr>
              </a:gs>
              <a:gs pos="96000">
                <a:srgbClr val="222222"/>
              </a:gs>
              <a:gs pos="36000">
                <a:srgbClr val="01717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791286" y="1533114"/>
            <a:ext cx="5659901" cy="641714"/>
          </a:xfrm>
          <a:prstGeom prst="rect">
            <a:avLst/>
          </a:prstGeom>
        </p:spPr>
        <p:txBody>
          <a:bodyPr wrap="square">
            <a:spAutoFit/>
          </a:bodyPr>
          <a:lstStyle/>
          <a:p>
            <a:pPr indent="575945" algn="just">
              <a:lnSpc>
                <a:spcPct val="130000"/>
              </a:lnSpc>
              <a:spcBef>
                <a:spcPts val="600"/>
              </a:spcBef>
            </a:pPr>
            <a:r>
              <a:rPr lang="zh-CN" altLang="zh-CN" sz="3200" b="1" dirty="0">
                <a:solidFill>
                  <a:schemeClr val="bg1"/>
                </a:solidFill>
                <a:latin typeface="楷体" panose="02010609060101010101" pitchFamily="49" charset="-122"/>
                <a:ea typeface="楷体" panose="02010609060101010101" pitchFamily="49" charset="-122"/>
              </a:rPr>
              <a:t>凡贵通者，贵其能用之也</a:t>
            </a:r>
          </a:p>
        </p:txBody>
      </p:sp>
      <p:sp>
        <p:nvSpPr>
          <p:cNvPr id="6" name="矩形 5"/>
          <p:cNvSpPr/>
          <p:nvPr/>
        </p:nvSpPr>
        <p:spPr>
          <a:xfrm>
            <a:off x="1504507" y="3940814"/>
            <a:ext cx="9360364" cy="1846659"/>
          </a:xfrm>
          <a:prstGeom prst="rect">
            <a:avLst/>
          </a:prstGeom>
        </p:spPr>
        <p:txBody>
          <a:bodyPr wrap="square">
            <a:spAutoFit/>
          </a:bodyPr>
          <a:lstStyle/>
          <a:p>
            <a:pPr marL="285750" indent="-285750">
              <a:buFont typeface="Wingdings" panose="05000000000000000000" pitchFamily="2" charset="2"/>
              <a:buChar char="l"/>
            </a:pPr>
            <a:r>
              <a:rPr lang="zh-CN" altLang="zh-CN" dirty="0"/>
              <a:t> </a:t>
            </a:r>
            <a:r>
              <a:rPr lang="zh-CN" altLang="zh-CN" sz="1600" dirty="0">
                <a:latin typeface="楷体" panose="02010609060101010101" pitchFamily="49" charset="-122"/>
                <a:ea typeface="楷体" panose="02010609060101010101" pitchFamily="49" charset="-122"/>
              </a:rPr>
              <a:t>回顾人工智能发展历程中的主要挫折，不难发现，当人工智能与外部信息环境的变化趋势不符时，往往就使得人工智能的发展遭遇羁绊。促使人工智能发展变化的动力既有来自人工智能研究内部驱动力，也有来自信息环境与社会需求的外部驱动力，两者都很重要。但是相比较而言，往往后者的动力更加强大。</a:t>
            </a:r>
            <a:r>
              <a:rPr lang="en-US" altLang="zh-CN" sz="1600" dirty="0">
                <a:latin typeface="楷体" panose="02010609060101010101" pitchFamily="49" charset="-122"/>
                <a:ea typeface="楷体" panose="02010609060101010101" pitchFamily="49" charset="-122"/>
              </a:rPr>
              <a:t> </a:t>
            </a:r>
            <a:endParaRPr lang="zh-CN" altLang="zh-CN" sz="1600"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l"/>
            </a:pPr>
            <a:r>
              <a:rPr lang="zh-CN" altLang="zh-CN" sz="1600" dirty="0">
                <a:latin typeface="楷体" panose="02010609060101010101" pitchFamily="49" charset="-122"/>
                <a:ea typeface="楷体" panose="02010609060101010101" pitchFamily="49" charset="-122"/>
              </a:rPr>
              <a:t>当前人工智能的目标正从</a:t>
            </a:r>
            <a:r>
              <a:rPr lang="en-US" altLang="zh-CN" sz="1600" dirty="0">
                <a:latin typeface="楷体" panose="02010609060101010101" pitchFamily="49" charset="-122"/>
                <a:ea typeface="楷体" panose="02010609060101010101" pitchFamily="49" charset="-122"/>
              </a:rPr>
              <a:t>“</a:t>
            </a:r>
            <a:r>
              <a:rPr lang="zh-CN" altLang="zh-CN" sz="1600" dirty="0">
                <a:latin typeface="楷体" panose="02010609060101010101" pitchFamily="49" charset="-122"/>
                <a:ea typeface="楷体" panose="02010609060101010101" pitchFamily="49" charset="-122"/>
              </a:rPr>
              <a:t>用计算机模拟人的智能</a:t>
            </a:r>
            <a:r>
              <a:rPr lang="en-US" altLang="zh-CN" sz="1600" dirty="0">
                <a:latin typeface="楷体" panose="02010609060101010101" pitchFamily="49" charset="-122"/>
                <a:ea typeface="楷体" panose="02010609060101010101" pitchFamily="49" charset="-122"/>
              </a:rPr>
              <a:t>”</a:t>
            </a:r>
            <a:r>
              <a:rPr lang="zh-CN" altLang="zh-CN" sz="1600" dirty="0">
                <a:latin typeface="楷体" panose="02010609060101010101" pitchFamily="49" charset="-122"/>
                <a:ea typeface="楷体" panose="02010609060101010101" pitchFamily="49" charset="-122"/>
              </a:rPr>
              <a:t>走向</a:t>
            </a:r>
            <a:r>
              <a:rPr lang="en-US" altLang="zh-CN" sz="1600" dirty="0">
                <a:latin typeface="楷体" panose="02010609060101010101" pitchFamily="49" charset="-122"/>
                <a:ea typeface="楷体" panose="02010609060101010101" pitchFamily="49" charset="-122"/>
              </a:rPr>
              <a:t>“</a:t>
            </a:r>
            <a:r>
              <a:rPr lang="zh-CN" altLang="zh-CN" sz="1600" dirty="0">
                <a:latin typeface="楷体" panose="02010609060101010101" pitchFamily="49" charset="-122"/>
                <a:ea typeface="楷体" panose="02010609060101010101" pitchFamily="49" charset="-122"/>
              </a:rPr>
              <a:t>赋能社会</a:t>
            </a:r>
            <a:r>
              <a:rPr lang="en-US" altLang="zh-CN" sz="1600" dirty="0">
                <a:latin typeface="楷体" panose="02010609060101010101" pitchFamily="49" charset="-122"/>
                <a:ea typeface="楷体" panose="02010609060101010101" pitchFamily="49" charset="-122"/>
              </a:rPr>
              <a:t>”</a:t>
            </a:r>
            <a:r>
              <a:rPr lang="zh-CN" altLang="zh-CN" sz="1600" dirty="0">
                <a:latin typeface="楷体" panose="02010609060101010101" pitchFamily="49" charset="-122"/>
                <a:ea typeface="楷体" panose="02010609060101010101" pitchFamily="49" charset="-122"/>
              </a:rPr>
              <a:t>。</a:t>
            </a:r>
            <a:r>
              <a:rPr lang="en-US" altLang="zh-CN" sz="1600" dirty="0">
                <a:latin typeface="楷体" panose="02010609060101010101" pitchFamily="49" charset="-122"/>
                <a:ea typeface="楷体" panose="02010609060101010101" pitchFamily="49" charset="-122"/>
              </a:rPr>
              <a:t> </a:t>
            </a:r>
          </a:p>
          <a:p>
            <a:pPr marL="285750" indent="-285750">
              <a:buFont typeface="Wingdings" panose="05000000000000000000" pitchFamily="2" charset="2"/>
              <a:buChar char="l"/>
            </a:pPr>
            <a:r>
              <a:rPr lang="en-US" altLang="zh-CN" sz="1600" dirty="0">
                <a:latin typeface="楷体" panose="02010609060101010101" pitchFamily="49" charset="-122"/>
                <a:ea typeface="楷体" panose="02010609060101010101" pitchFamily="49" charset="-122"/>
              </a:rPr>
              <a:t>“</a:t>
            </a:r>
            <a:r>
              <a:rPr lang="zh-CN" altLang="zh-CN" sz="1600" dirty="0">
                <a:latin typeface="楷体" panose="02010609060101010101" pitchFamily="49" charset="-122"/>
                <a:ea typeface="楷体" panose="02010609060101010101" pitchFamily="49" charset="-122"/>
              </a:rPr>
              <a:t>行之力则知愈进，知之深则行愈达</a:t>
            </a:r>
            <a:r>
              <a:rPr lang="en-US" altLang="zh-CN" sz="1600" dirty="0">
                <a:latin typeface="楷体" panose="02010609060101010101" pitchFamily="49" charset="-122"/>
                <a:ea typeface="楷体" panose="02010609060101010101" pitchFamily="49" charset="-122"/>
              </a:rPr>
              <a:t>”</a:t>
            </a:r>
            <a:r>
              <a:rPr lang="zh-CN" altLang="zh-CN" sz="1600" dirty="0">
                <a:latin typeface="楷体" panose="02010609060101010101" pitchFamily="49" charset="-122"/>
                <a:ea typeface="楷体" panose="02010609060101010101" pitchFamily="49" charset="-122"/>
              </a:rPr>
              <a:t>，主要介绍语言大模型、机器翻译、视觉理解、语音识别与合成、科学计算</a:t>
            </a:r>
            <a:r>
              <a:rPr lang="zh-CN" altLang="en-US" sz="1600" dirty="0">
                <a:latin typeface="楷体" panose="02010609060101010101" pitchFamily="49" charset="-122"/>
                <a:ea typeface="楷体" panose="02010609060101010101" pitchFamily="49" charset="-122"/>
              </a:rPr>
              <a:t>、跨媒体智能</a:t>
            </a:r>
            <a:r>
              <a:rPr lang="zh-CN" altLang="zh-CN" sz="1600" dirty="0">
                <a:latin typeface="楷体" panose="02010609060101010101" pitchFamily="49" charset="-122"/>
                <a:ea typeface="楷体" panose="02010609060101010101" pitchFamily="49" charset="-122"/>
              </a:rPr>
              <a:t>以及机器人控制等</a:t>
            </a:r>
            <a:r>
              <a:rPr lang="zh-CN" altLang="en-US" sz="1600" dirty="0">
                <a:latin typeface="楷体" panose="02010609060101010101" pitchFamily="49" charset="-122"/>
                <a:ea typeface="楷体" panose="02010609060101010101" pitchFamily="49" charset="-122"/>
              </a:rPr>
              <a:t>应用</a:t>
            </a:r>
            <a:endParaRPr lang="zh-CN" altLang="zh-CN" sz="1600" dirty="0">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sp>
        <p:nvSpPr>
          <p:cNvPr id="2" name="标题 9801"/>
          <p:cNvSpPr txBox="1"/>
          <p:nvPr/>
        </p:nvSpPr>
        <p:spPr>
          <a:xfrm flipV="1">
            <a:off x="0" y="729000"/>
            <a:ext cx="11615165" cy="5400000"/>
          </a:xfrm>
          <a:prstGeom prst="cube">
            <a:avLst>
              <a:gd name="adj" fmla="val 1804"/>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5" name="六边形 4"/>
          <p:cNvSpPr/>
          <p:nvPr/>
        </p:nvSpPr>
        <p:spPr>
          <a:xfrm rot="5400000">
            <a:off x="-5678865" y="-723361"/>
            <a:ext cx="9564253" cy="8696378"/>
          </a:xfrm>
          <a:prstGeom prst="hexagon">
            <a:avLst>
              <a:gd name="adj" fmla="val 30493"/>
              <a:gd name="vf" fmla="val 115470"/>
            </a:avLst>
          </a:prstGeom>
          <a:gradFill>
            <a:gsLst>
              <a:gs pos="77000">
                <a:srgbClr val="016773"/>
              </a:gs>
              <a:gs pos="100000">
                <a:srgbClr val="007684"/>
              </a:gs>
            </a:gsLst>
            <a:lin ang="5400000" scaled="0"/>
          </a:gradFill>
          <a:ln>
            <a:noFill/>
          </a:ln>
          <a:effectLst>
            <a:outerShdw blurRad="698500" dist="165100" algn="l" rotWithShape="0">
              <a:srgbClr val="013F4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rot="19714174">
            <a:off x="-2503449" y="2643987"/>
            <a:ext cx="7581286" cy="4086054"/>
          </a:xfrm>
          <a:prstGeom prst="parallelogram">
            <a:avLst>
              <a:gd name="adj" fmla="val 61032"/>
            </a:avLst>
          </a:prstGeom>
          <a:solidFill>
            <a:srgbClr val="00A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320891" y="2740372"/>
            <a:ext cx="540023" cy="1384403"/>
          </a:xfrm>
          <a:custGeom>
            <a:avLst/>
            <a:gdLst/>
            <a:ahLst/>
            <a:cxnLst/>
            <a:rect l="l" t="t" r="r" b="b"/>
            <a:pathLst>
              <a:path w="540023" h="1384403">
                <a:moveTo>
                  <a:pt x="195374" y="1232620"/>
                </a:moveTo>
                <a:lnTo>
                  <a:pt x="204155" y="1247987"/>
                </a:lnTo>
                <a:cubicBezTo>
                  <a:pt x="132445" y="1288964"/>
                  <a:pt x="80491" y="1317502"/>
                  <a:pt x="48295" y="1333600"/>
                </a:cubicBezTo>
                <a:cubicBezTo>
                  <a:pt x="42441" y="1337991"/>
                  <a:pt x="37319" y="1336527"/>
                  <a:pt x="32928" y="1329210"/>
                </a:cubicBezTo>
                <a:cubicBezTo>
                  <a:pt x="27074" y="1321892"/>
                  <a:pt x="16830" y="1305062"/>
                  <a:pt x="2195" y="1278720"/>
                </a:cubicBezTo>
                <a:cubicBezTo>
                  <a:pt x="732" y="1277256"/>
                  <a:pt x="0" y="1275793"/>
                  <a:pt x="0" y="1274329"/>
                </a:cubicBezTo>
                <a:close/>
                <a:moveTo>
                  <a:pt x="458800" y="863824"/>
                </a:moveTo>
                <a:cubicBezTo>
                  <a:pt x="460264" y="862361"/>
                  <a:pt x="463190" y="863092"/>
                  <a:pt x="467581" y="866019"/>
                </a:cubicBezTo>
                <a:cubicBezTo>
                  <a:pt x="470508" y="867483"/>
                  <a:pt x="474167" y="870410"/>
                  <a:pt x="478557" y="874800"/>
                </a:cubicBezTo>
                <a:cubicBezTo>
                  <a:pt x="500509" y="892362"/>
                  <a:pt x="515144" y="903338"/>
                  <a:pt x="522461" y="907728"/>
                </a:cubicBezTo>
                <a:cubicBezTo>
                  <a:pt x="528315" y="912119"/>
                  <a:pt x="530510" y="915778"/>
                  <a:pt x="529047" y="918705"/>
                </a:cubicBezTo>
                <a:cubicBezTo>
                  <a:pt x="529047" y="920168"/>
                  <a:pt x="526120" y="922363"/>
                  <a:pt x="520266" y="925290"/>
                </a:cubicBezTo>
                <a:cubicBezTo>
                  <a:pt x="511485" y="928217"/>
                  <a:pt x="507826" y="934071"/>
                  <a:pt x="509290" y="942852"/>
                </a:cubicBezTo>
                <a:cubicBezTo>
                  <a:pt x="509290" y="1112615"/>
                  <a:pt x="508558" y="1223839"/>
                  <a:pt x="507095" y="1276525"/>
                </a:cubicBezTo>
                <a:cubicBezTo>
                  <a:pt x="507095" y="1314575"/>
                  <a:pt x="500509" y="1336527"/>
                  <a:pt x="487338" y="1342381"/>
                </a:cubicBezTo>
                <a:cubicBezTo>
                  <a:pt x="477093" y="1351162"/>
                  <a:pt x="467581" y="1361406"/>
                  <a:pt x="458800" y="1373114"/>
                </a:cubicBezTo>
                <a:cubicBezTo>
                  <a:pt x="450019" y="1381895"/>
                  <a:pt x="442702" y="1385554"/>
                  <a:pt x="436848" y="1384090"/>
                </a:cubicBezTo>
                <a:cubicBezTo>
                  <a:pt x="432457" y="1381163"/>
                  <a:pt x="430994" y="1373846"/>
                  <a:pt x="432457" y="1362138"/>
                </a:cubicBezTo>
                <a:cubicBezTo>
                  <a:pt x="436848" y="1347503"/>
                  <a:pt x="433921" y="1337259"/>
                  <a:pt x="423677" y="1331405"/>
                </a:cubicBezTo>
                <a:cubicBezTo>
                  <a:pt x="413432" y="1321161"/>
                  <a:pt x="392212" y="1307989"/>
                  <a:pt x="360015" y="1291891"/>
                </a:cubicBezTo>
                <a:lnTo>
                  <a:pt x="366601" y="1278720"/>
                </a:lnTo>
                <a:lnTo>
                  <a:pt x="443434" y="1294086"/>
                </a:lnTo>
                <a:cubicBezTo>
                  <a:pt x="447824" y="1276525"/>
                  <a:pt x="450019" y="1152861"/>
                  <a:pt x="450019" y="923095"/>
                </a:cubicBezTo>
                <a:lnTo>
                  <a:pt x="278792" y="929681"/>
                </a:lnTo>
                <a:lnTo>
                  <a:pt x="274402" y="1221644"/>
                </a:lnTo>
                <a:cubicBezTo>
                  <a:pt x="302208" y="1173349"/>
                  <a:pt x="323428" y="1130177"/>
                  <a:pt x="338063" y="1092127"/>
                </a:cubicBezTo>
                <a:cubicBezTo>
                  <a:pt x="323428" y="1061394"/>
                  <a:pt x="305135" y="1027002"/>
                  <a:pt x="283183" y="988951"/>
                </a:cubicBezTo>
                <a:lnTo>
                  <a:pt x="296354" y="980171"/>
                </a:lnTo>
                <a:cubicBezTo>
                  <a:pt x="318306" y="1005050"/>
                  <a:pt x="337332" y="1028465"/>
                  <a:pt x="353430" y="1050417"/>
                </a:cubicBezTo>
                <a:cubicBezTo>
                  <a:pt x="357820" y="1038710"/>
                  <a:pt x="362211" y="1026270"/>
                  <a:pt x="366601" y="1013099"/>
                </a:cubicBezTo>
                <a:cubicBezTo>
                  <a:pt x="373918" y="986756"/>
                  <a:pt x="378309" y="966999"/>
                  <a:pt x="379772" y="953828"/>
                </a:cubicBezTo>
                <a:cubicBezTo>
                  <a:pt x="379772" y="947974"/>
                  <a:pt x="384163" y="947242"/>
                  <a:pt x="392944" y="951633"/>
                </a:cubicBezTo>
                <a:cubicBezTo>
                  <a:pt x="397334" y="956023"/>
                  <a:pt x="406847" y="961877"/>
                  <a:pt x="421481" y="969194"/>
                </a:cubicBezTo>
                <a:cubicBezTo>
                  <a:pt x="427335" y="972121"/>
                  <a:pt x="430994" y="974317"/>
                  <a:pt x="432457" y="975780"/>
                </a:cubicBezTo>
                <a:cubicBezTo>
                  <a:pt x="436848" y="977244"/>
                  <a:pt x="436848" y="983098"/>
                  <a:pt x="432457" y="993342"/>
                </a:cubicBezTo>
                <a:cubicBezTo>
                  <a:pt x="430994" y="997732"/>
                  <a:pt x="428067" y="1004318"/>
                  <a:pt x="423677" y="1013099"/>
                </a:cubicBezTo>
                <a:cubicBezTo>
                  <a:pt x="420750" y="1021880"/>
                  <a:pt x="417823" y="1028465"/>
                  <a:pt x="414896" y="1032856"/>
                </a:cubicBezTo>
                <a:cubicBezTo>
                  <a:pt x="406115" y="1054808"/>
                  <a:pt x="397334" y="1075297"/>
                  <a:pt x="388553" y="1094322"/>
                </a:cubicBezTo>
                <a:cubicBezTo>
                  <a:pt x="413432" y="1127982"/>
                  <a:pt x="430994" y="1153593"/>
                  <a:pt x="441238" y="1171154"/>
                </a:cubicBezTo>
                <a:cubicBezTo>
                  <a:pt x="448556" y="1182862"/>
                  <a:pt x="448556" y="1193838"/>
                  <a:pt x="441238" y="1204082"/>
                </a:cubicBezTo>
                <a:cubicBezTo>
                  <a:pt x="429531" y="1224571"/>
                  <a:pt x="417823" y="1239206"/>
                  <a:pt x="406115" y="1247987"/>
                </a:cubicBezTo>
                <a:cubicBezTo>
                  <a:pt x="391480" y="1211400"/>
                  <a:pt x="376845" y="1175545"/>
                  <a:pt x="362211" y="1140421"/>
                </a:cubicBezTo>
                <a:cubicBezTo>
                  <a:pt x="338795" y="1179935"/>
                  <a:pt x="308794" y="1216522"/>
                  <a:pt x="272207" y="1250182"/>
                </a:cubicBezTo>
                <a:lnTo>
                  <a:pt x="272207" y="1337991"/>
                </a:lnTo>
                <a:cubicBezTo>
                  <a:pt x="272207" y="1346771"/>
                  <a:pt x="269280" y="1351894"/>
                  <a:pt x="263426" y="1353357"/>
                </a:cubicBezTo>
                <a:cubicBezTo>
                  <a:pt x="248791" y="1363602"/>
                  <a:pt x="234156" y="1370919"/>
                  <a:pt x="219522" y="1375309"/>
                </a:cubicBezTo>
                <a:cubicBezTo>
                  <a:pt x="212204" y="1376773"/>
                  <a:pt x="209277" y="1373846"/>
                  <a:pt x="210741" y="1366528"/>
                </a:cubicBezTo>
                <a:cubicBezTo>
                  <a:pt x="213668" y="1307989"/>
                  <a:pt x="216595" y="1202619"/>
                  <a:pt x="219522" y="1050417"/>
                </a:cubicBezTo>
                <a:cubicBezTo>
                  <a:pt x="220985" y="1005050"/>
                  <a:pt x="221717" y="975048"/>
                  <a:pt x="221717" y="960414"/>
                </a:cubicBezTo>
                <a:cubicBezTo>
                  <a:pt x="221717" y="932608"/>
                  <a:pt x="221717" y="906265"/>
                  <a:pt x="221717" y="881386"/>
                </a:cubicBezTo>
                <a:cubicBezTo>
                  <a:pt x="221717" y="876995"/>
                  <a:pt x="222449" y="874800"/>
                  <a:pt x="223912" y="874800"/>
                </a:cubicBezTo>
                <a:cubicBezTo>
                  <a:pt x="223912" y="873337"/>
                  <a:pt x="226107" y="873337"/>
                  <a:pt x="230498" y="874800"/>
                </a:cubicBezTo>
                <a:cubicBezTo>
                  <a:pt x="242206" y="879191"/>
                  <a:pt x="259035" y="887972"/>
                  <a:pt x="280988" y="901143"/>
                </a:cubicBezTo>
                <a:lnTo>
                  <a:pt x="434653" y="894557"/>
                </a:lnTo>
                <a:cubicBezTo>
                  <a:pt x="434653" y="894557"/>
                  <a:pt x="435384" y="894557"/>
                  <a:pt x="436848" y="894557"/>
                </a:cubicBezTo>
                <a:cubicBezTo>
                  <a:pt x="445629" y="893094"/>
                  <a:pt x="450019" y="890167"/>
                  <a:pt x="450019" y="885776"/>
                </a:cubicBezTo>
                <a:cubicBezTo>
                  <a:pt x="452946" y="882849"/>
                  <a:pt x="454410" y="878459"/>
                  <a:pt x="454410" y="872605"/>
                </a:cubicBezTo>
                <a:cubicBezTo>
                  <a:pt x="455873" y="866751"/>
                  <a:pt x="457337" y="863824"/>
                  <a:pt x="458800" y="863824"/>
                </a:cubicBezTo>
                <a:close/>
                <a:moveTo>
                  <a:pt x="111956" y="857239"/>
                </a:moveTo>
                <a:cubicBezTo>
                  <a:pt x="113420" y="855775"/>
                  <a:pt x="115615" y="856507"/>
                  <a:pt x="118542" y="859434"/>
                </a:cubicBezTo>
                <a:cubicBezTo>
                  <a:pt x="120005" y="860897"/>
                  <a:pt x="123664" y="863092"/>
                  <a:pt x="129518" y="866019"/>
                </a:cubicBezTo>
                <a:cubicBezTo>
                  <a:pt x="155860" y="880654"/>
                  <a:pt x="170495" y="889435"/>
                  <a:pt x="173422" y="892362"/>
                </a:cubicBezTo>
                <a:cubicBezTo>
                  <a:pt x="177813" y="895289"/>
                  <a:pt x="177081" y="899679"/>
                  <a:pt x="171227" y="905533"/>
                </a:cubicBezTo>
                <a:cubicBezTo>
                  <a:pt x="166836" y="909924"/>
                  <a:pt x="158787" y="919436"/>
                  <a:pt x="147080" y="934071"/>
                </a:cubicBezTo>
                <a:cubicBezTo>
                  <a:pt x="110493" y="980902"/>
                  <a:pt x="81223" y="1013099"/>
                  <a:pt x="59271" y="1030660"/>
                </a:cubicBezTo>
                <a:lnTo>
                  <a:pt x="131713" y="1021880"/>
                </a:lnTo>
                <a:cubicBezTo>
                  <a:pt x="136103" y="1014562"/>
                  <a:pt x="139762" y="1007977"/>
                  <a:pt x="142689" y="1002123"/>
                </a:cubicBezTo>
                <a:cubicBezTo>
                  <a:pt x="150006" y="988951"/>
                  <a:pt x="155860" y="975048"/>
                  <a:pt x="160251" y="960414"/>
                </a:cubicBezTo>
                <a:cubicBezTo>
                  <a:pt x="161714" y="957487"/>
                  <a:pt x="163178" y="956023"/>
                  <a:pt x="164641" y="956023"/>
                </a:cubicBezTo>
                <a:cubicBezTo>
                  <a:pt x="164641" y="954560"/>
                  <a:pt x="166105" y="955292"/>
                  <a:pt x="169032" y="958218"/>
                </a:cubicBezTo>
                <a:cubicBezTo>
                  <a:pt x="193911" y="974317"/>
                  <a:pt x="209277" y="986024"/>
                  <a:pt x="215131" y="993342"/>
                </a:cubicBezTo>
                <a:cubicBezTo>
                  <a:pt x="217326" y="994074"/>
                  <a:pt x="218424" y="995537"/>
                  <a:pt x="218424" y="997732"/>
                </a:cubicBezTo>
                <a:cubicBezTo>
                  <a:pt x="218424" y="999927"/>
                  <a:pt x="217326" y="1002854"/>
                  <a:pt x="215131" y="1006513"/>
                </a:cubicBezTo>
                <a:cubicBezTo>
                  <a:pt x="212204" y="1009440"/>
                  <a:pt x="207814" y="1014562"/>
                  <a:pt x="201960" y="1021880"/>
                </a:cubicBezTo>
                <a:cubicBezTo>
                  <a:pt x="194643" y="1029197"/>
                  <a:pt x="189520" y="1035051"/>
                  <a:pt x="186593" y="1039441"/>
                </a:cubicBezTo>
                <a:cubicBezTo>
                  <a:pt x="154397" y="1084809"/>
                  <a:pt x="121469" y="1123591"/>
                  <a:pt x="87809" y="1155788"/>
                </a:cubicBezTo>
                <a:lnTo>
                  <a:pt x="190984" y="1140421"/>
                </a:lnTo>
                <a:lnTo>
                  <a:pt x="199765" y="1160178"/>
                </a:lnTo>
                <a:lnTo>
                  <a:pt x="87809" y="1199692"/>
                </a:lnTo>
                <a:cubicBezTo>
                  <a:pt x="67320" y="1208473"/>
                  <a:pt x="54149" y="1215790"/>
                  <a:pt x="48295" y="1221644"/>
                </a:cubicBezTo>
                <a:lnTo>
                  <a:pt x="15367" y="1162373"/>
                </a:lnTo>
                <a:cubicBezTo>
                  <a:pt x="34392" y="1159447"/>
                  <a:pt x="48295" y="1150666"/>
                  <a:pt x="57076" y="1136031"/>
                </a:cubicBezTo>
                <a:cubicBezTo>
                  <a:pt x="76101" y="1109688"/>
                  <a:pt x="94394" y="1083346"/>
                  <a:pt x="111956" y="1057003"/>
                </a:cubicBezTo>
                <a:lnTo>
                  <a:pt x="68052" y="1070174"/>
                </a:lnTo>
                <a:cubicBezTo>
                  <a:pt x="51954" y="1076028"/>
                  <a:pt x="39514" y="1082614"/>
                  <a:pt x="30733" y="1089931"/>
                </a:cubicBezTo>
                <a:lnTo>
                  <a:pt x="0" y="1037246"/>
                </a:lnTo>
                <a:cubicBezTo>
                  <a:pt x="13171" y="1032856"/>
                  <a:pt x="23416" y="1026270"/>
                  <a:pt x="30733" y="1017489"/>
                </a:cubicBezTo>
                <a:cubicBezTo>
                  <a:pt x="61466" y="967731"/>
                  <a:pt x="82687" y="928949"/>
                  <a:pt x="94394" y="901143"/>
                </a:cubicBezTo>
                <a:cubicBezTo>
                  <a:pt x="101712" y="885045"/>
                  <a:pt x="106834" y="871873"/>
                  <a:pt x="109761" y="861629"/>
                </a:cubicBezTo>
                <a:cubicBezTo>
                  <a:pt x="111224" y="858702"/>
                  <a:pt x="111956" y="857239"/>
                  <a:pt x="111956" y="857239"/>
                </a:cubicBezTo>
                <a:close/>
                <a:moveTo>
                  <a:pt x="498314" y="233425"/>
                </a:moveTo>
                <a:cubicBezTo>
                  <a:pt x="501241" y="236352"/>
                  <a:pt x="504900" y="240011"/>
                  <a:pt x="509290" y="244402"/>
                </a:cubicBezTo>
                <a:cubicBezTo>
                  <a:pt x="518071" y="254646"/>
                  <a:pt x="524656" y="261231"/>
                  <a:pt x="529047" y="264158"/>
                </a:cubicBezTo>
                <a:cubicBezTo>
                  <a:pt x="531974" y="267085"/>
                  <a:pt x="532706" y="270012"/>
                  <a:pt x="531242" y="272939"/>
                </a:cubicBezTo>
                <a:cubicBezTo>
                  <a:pt x="529779" y="274403"/>
                  <a:pt x="526852" y="275135"/>
                  <a:pt x="522461" y="275135"/>
                </a:cubicBezTo>
                <a:cubicBezTo>
                  <a:pt x="510753" y="273671"/>
                  <a:pt x="490997" y="273671"/>
                  <a:pt x="463190" y="275135"/>
                </a:cubicBezTo>
                <a:cubicBezTo>
                  <a:pt x="445629" y="275135"/>
                  <a:pt x="431726" y="275135"/>
                  <a:pt x="421481" y="275135"/>
                </a:cubicBezTo>
                <a:lnTo>
                  <a:pt x="381968" y="277330"/>
                </a:lnTo>
                <a:cubicBezTo>
                  <a:pt x="387821" y="278793"/>
                  <a:pt x="390017" y="280988"/>
                  <a:pt x="388553" y="283915"/>
                </a:cubicBezTo>
                <a:lnTo>
                  <a:pt x="388553" y="336601"/>
                </a:lnTo>
                <a:lnTo>
                  <a:pt x="436848" y="334405"/>
                </a:lnTo>
                <a:cubicBezTo>
                  <a:pt x="442702" y="332942"/>
                  <a:pt x="452214" y="331478"/>
                  <a:pt x="465386" y="330015"/>
                </a:cubicBezTo>
                <a:cubicBezTo>
                  <a:pt x="478557" y="328551"/>
                  <a:pt x="487338" y="327820"/>
                  <a:pt x="491728" y="327820"/>
                </a:cubicBezTo>
                <a:cubicBezTo>
                  <a:pt x="500509" y="336601"/>
                  <a:pt x="508558" y="344650"/>
                  <a:pt x="515876" y="351967"/>
                </a:cubicBezTo>
                <a:cubicBezTo>
                  <a:pt x="518803" y="354894"/>
                  <a:pt x="520266" y="357089"/>
                  <a:pt x="520266" y="358553"/>
                </a:cubicBezTo>
                <a:cubicBezTo>
                  <a:pt x="518803" y="360016"/>
                  <a:pt x="515876" y="360748"/>
                  <a:pt x="511485" y="360748"/>
                </a:cubicBezTo>
                <a:cubicBezTo>
                  <a:pt x="492460" y="360748"/>
                  <a:pt x="475630" y="361480"/>
                  <a:pt x="460995" y="362943"/>
                </a:cubicBezTo>
                <a:lnTo>
                  <a:pt x="388553" y="367334"/>
                </a:lnTo>
                <a:lnTo>
                  <a:pt x="388553" y="446361"/>
                </a:lnTo>
                <a:cubicBezTo>
                  <a:pt x="426604" y="452215"/>
                  <a:pt x="477093" y="452947"/>
                  <a:pt x="540023" y="448556"/>
                </a:cubicBezTo>
                <a:lnTo>
                  <a:pt x="537828" y="463923"/>
                </a:lnTo>
                <a:cubicBezTo>
                  <a:pt x="523193" y="472704"/>
                  <a:pt x="507095" y="487339"/>
                  <a:pt x="489533" y="507827"/>
                </a:cubicBezTo>
                <a:cubicBezTo>
                  <a:pt x="485143" y="518072"/>
                  <a:pt x="475630" y="521730"/>
                  <a:pt x="460995" y="518803"/>
                </a:cubicBezTo>
                <a:cubicBezTo>
                  <a:pt x="358552" y="518803"/>
                  <a:pt x="289769" y="483680"/>
                  <a:pt x="254645" y="413433"/>
                </a:cubicBezTo>
                <a:cubicBezTo>
                  <a:pt x="235620" y="463191"/>
                  <a:pt x="200496" y="503437"/>
                  <a:pt x="149275" y="534170"/>
                </a:cubicBezTo>
                <a:lnTo>
                  <a:pt x="140494" y="525389"/>
                </a:lnTo>
                <a:cubicBezTo>
                  <a:pt x="172690" y="477094"/>
                  <a:pt x="193911" y="425141"/>
                  <a:pt x="204155" y="369529"/>
                </a:cubicBezTo>
                <a:cubicBezTo>
                  <a:pt x="208546" y="346113"/>
                  <a:pt x="210741" y="325624"/>
                  <a:pt x="210741" y="308063"/>
                </a:cubicBezTo>
                <a:cubicBezTo>
                  <a:pt x="210741" y="303672"/>
                  <a:pt x="211473" y="301477"/>
                  <a:pt x="212936" y="301477"/>
                </a:cubicBezTo>
                <a:cubicBezTo>
                  <a:pt x="214399" y="300014"/>
                  <a:pt x="217326" y="300014"/>
                  <a:pt x="221717" y="301477"/>
                </a:cubicBezTo>
                <a:cubicBezTo>
                  <a:pt x="239279" y="307331"/>
                  <a:pt x="256840" y="313185"/>
                  <a:pt x="274402" y="319039"/>
                </a:cubicBezTo>
                <a:cubicBezTo>
                  <a:pt x="278792" y="323429"/>
                  <a:pt x="280256" y="327820"/>
                  <a:pt x="278792" y="332210"/>
                </a:cubicBezTo>
                <a:cubicBezTo>
                  <a:pt x="278792" y="335137"/>
                  <a:pt x="276597" y="342454"/>
                  <a:pt x="272207" y="354162"/>
                </a:cubicBezTo>
                <a:cubicBezTo>
                  <a:pt x="267816" y="367334"/>
                  <a:pt x="264889" y="376846"/>
                  <a:pt x="263426" y="382700"/>
                </a:cubicBezTo>
                <a:cubicBezTo>
                  <a:pt x="280988" y="401725"/>
                  <a:pt x="300745" y="416360"/>
                  <a:pt x="322697" y="426604"/>
                </a:cubicBezTo>
                <a:lnTo>
                  <a:pt x="322697" y="279525"/>
                </a:lnTo>
                <a:lnTo>
                  <a:pt x="285378" y="279525"/>
                </a:lnTo>
                <a:cubicBezTo>
                  <a:pt x="266353" y="279525"/>
                  <a:pt x="238547" y="280988"/>
                  <a:pt x="201960" y="283915"/>
                </a:cubicBezTo>
                <a:lnTo>
                  <a:pt x="180008" y="250987"/>
                </a:lnTo>
                <a:cubicBezTo>
                  <a:pt x="194643" y="250987"/>
                  <a:pt x="218790" y="250255"/>
                  <a:pt x="252450" y="248792"/>
                </a:cubicBezTo>
                <a:cubicBezTo>
                  <a:pt x="265621" y="248792"/>
                  <a:pt x="273670" y="248792"/>
                  <a:pt x="276597" y="248792"/>
                </a:cubicBezTo>
                <a:lnTo>
                  <a:pt x="406115" y="244402"/>
                </a:lnTo>
                <a:cubicBezTo>
                  <a:pt x="409042" y="244402"/>
                  <a:pt x="413432" y="244402"/>
                  <a:pt x="419286" y="244402"/>
                </a:cubicBezTo>
                <a:cubicBezTo>
                  <a:pt x="457337" y="241475"/>
                  <a:pt x="483679" y="237816"/>
                  <a:pt x="498314" y="233425"/>
                </a:cubicBezTo>
                <a:close/>
                <a:moveTo>
                  <a:pt x="377577" y="136836"/>
                </a:moveTo>
                <a:lnTo>
                  <a:pt x="289769" y="141226"/>
                </a:lnTo>
                <a:lnTo>
                  <a:pt x="289769" y="178545"/>
                </a:lnTo>
                <a:lnTo>
                  <a:pt x="384163" y="174155"/>
                </a:lnTo>
                <a:cubicBezTo>
                  <a:pt x="395871" y="174155"/>
                  <a:pt x="406115" y="173423"/>
                  <a:pt x="414896" y="171959"/>
                </a:cubicBezTo>
                <a:lnTo>
                  <a:pt x="414896" y="136836"/>
                </a:lnTo>
                <a:cubicBezTo>
                  <a:pt x="406115" y="136836"/>
                  <a:pt x="393675" y="136836"/>
                  <a:pt x="377577" y="136836"/>
                </a:cubicBezTo>
                <a:close/>
                <a:moveTo>
                  <a:pt x="417091" y="68784"/>
                </a:moveTo>
                <a:lnTo>
                  <a:pt x="289769" y="73175"/>
                </a:lnTo>
                <a:lnTo>
                  <a:pt x="289769" y="112689"/>
                </a:lnTo>
                <a:lnTo>
                  <a:pt x="370991" y="108298"/>
                </a:lnTo>
                <a:cubicBezTo>
                  <a:pt x="375382" y="108298"/>
                  <a:pt x="381968" y="107566"/>
                  <a:pt x="390748" y="106103"/>
                </a:cubicBezTo>
                <a:cubicBezTo>
                  <a:pt x="398066" y="106103"/>
                  <a:pt x="403188" y="106103"/>
                  <a:pt x="406115" y="106103"/>
                </a:cubicBezTo>
                <a:cubicBezTo>
                  <a:pt x="409042" y="110493"/>
                  <a:pt x="412701" y="114884"/>
                  <a:pt x="417091" y="119274"/>
                </a:cubicBezTo>
                <a:close/>
                <a:moveTo>
                  <a:pt x="423677" y="11709"/>
                </a:moveTo>
                <a:cubicBezTo>
                  <a:pt x="425140" y="10245"/>
                  <a:pt x="428067" y="10977"/>
                  <a:pt x="432457" y="13904"/>
                </a:cubicBezTo>
                <a:cubicBezTo>
                  <a:pt x="439775" y="19758"/>
                  <a:pt x="451483" y="28539"/>
                  <a:pt x="467581" y="40247"/>
                </a:cubicBezTo>
                <a:cubicBezTo>
                  <a:pt x="480752" y="47564"/>
                  <a:pt x="488801" y="52686"/>
                  <a:pt x="491728" y="55613"/>
                </a:cubicBezTo>
                <a:cubicBezTo>
                  <a:pt x="497582" y="60003"/>
                  <a:pt x="500509" y="63662"/>
                  <a:pt x="500509" y="66589"/>
                </a:cubicBezTo>
                <a:cubicBezTo>
                  <a:pt x="500509" y="69516"/>
                  <a:pt x="497582" y="71711"/>
                  <a:pt x="491728" y="73175"/>
                </a:cubicBezTo>
                <a:cubicBezTo>
                  <a:pt x="482947" y="76102"/>
                  <a:pt x="479289" y="81956"/>
                  <a:pt x="480752" y="90736"/>
                </a:cubicBezTo>
                <a:cubicBezTo>
                  <a:pt x="479289" y="106835"/>
                  <a:pt x="478557" y="141226"/>
                  <a:pt x="478557" y="193912"/>
                </a:cubicBezTo>
                <a:cubicBezTo>
                  <a:pt x="478557" y="198302"/>
                  <a:pt x="477825" y="201229"/>
                  <a:pt x="476362" y="202692"/>
                </a:cubicBezTo>
                <a:cubicBezTo>
                  <a:pt x="467581" y="207083"/>
                  <a:pt x="450019" y="212937"/>
                  <a:pt x="423677" y="220254"/>
                </a:cubicBezTo>
                <a:cubicBezTo>
                  <a:pt x="416359" y="221718"/>
                  <a:pt x="413432" y="219522"/>
                  <a:pt x="414896" y="213668"/>
                </a:cubicBezTo>
                <a:lnTo>
                  <a:pt x="414896" y="202692"/>
                </a:lnTo>
                <a:cubicBezTo>
                  <a:pt x="407578" y="202692"/>
                  <a:pt x="399529" y="202692"/>
                  <a:pt x="390748" y="202692"/>
                </a:cubicBezTo>
                <a:lnTo>
                  <a:pt x="289769" y="207083"/>
                </a:lnTo>
                <a:cubicBezTo>
                  <a:pt x="289769" y="212937"/>
                  <a:pt x="288305" y="216595"/>
                  <a:pt x="285378" y="218059"/>
                </a:cubicBezTo>
                <a:cubicBezTo>
                  <a:pt x="266353" y="225376"/>
                  <a:pt x="248791" y="230498"/>
                  <a:pt x="232693" y="233425"/>
                </a:cubicBezTo>
                <a:cubicBezTo>
                  <a:pt x="229766" y="234889"/>
                  <a:pt x="227571" y="234889"/>
                  <a:pt x="226107" y="233425"/>
                </a:cubicBezTo>
                <a:cubicBezTo>
                  <a:pt x="226107" y="233425"/>
                  <a:pt x="226107" y="231962"/>
                  <a:pt x="226107" y="229035"/>
                </a:cubicBezTo>
                <a:cubicBezTo>
                  <a:pt x="226107" y="218791"/>
                  <a:pt x="226107" y="196839"/>
                  <a:pt x="226107" y="163179"/>
                </a:cubicBezTo>
                <a:cubicBezTo>
                  <a:pt x="227571" y="123665"/>
                  <a:pt x="228302" y="95859"/>
                  <a:pt x="228302" y="79760"/>
                </a:cubicBezTo>
                <a:cubicBezTo>
                  <a:pt x="228302" y="63662"/>
                  <a:pt x="228302" y="47564"/>
                  <a:pt x="228302" y="31466"/>
                </a:cubicBezTo>
                <a:cubicBezTo>
                  <a:pt x="226839" y="27075"/>
                  <a:pt x="226839" y="24148"/>
                  <a:pt x="228302" y="22685"/>
                </a:cubicBezTo>
                <a:cubicBezTo>
                  <a:pt x="229766" y="21221"/>
                  <a:pt x="231961" y="21221"/>
                  <a:pt x="234888" y="22685"/>
                </a:cubicBezTo>
                <a:cubicBezTo>
                  <a:pt x="243669" y="25612"/>
                  <a:pt x="258304" y="31466"/>
                  <a:pt x="278792" y="40247"/>
                </a:cubicBezTo>
                <a:cubicBezTo>
                  <a:pt x="283183" y="41710"/>
                  <a:pt x="286842" y="43173"/>
                  <a:pt x="289769" y="44637"/>
                </a:cubicBezTo>
                <a:lnTo>
                  <a:pt x="406115" y="40247"/>
                </a:lnTo>
                <a:cubicBezTo>
                  <a:pt x="410505" y="40247"/>
                  <a:pt x="414164" y="38051"/>
                  <a:pt x="417091" y="33661"/>
                </a:cubicBezTo>
                <a:cubicBezTo>
                  <a:pt x="420018" y="29270"/>
                  <a:pt x="421481" y="24148"/>
                  <a:pt x="421481" y="18294"/>
                </a:cubicBezTo>
                <a:cubicBezTo>
                  <a:pt x="422945" y="13904"/>
                  <a:pt x="423677" y="11709"/>
                  <a:pt x="423677" y="11709"/>
                </a:cubicBezTo>
                <a:close/>
                <a:moveTo>
                  <a:pt x="83418" y="733"/>
                </a:moveTo>
                <a:cubicBezTo>
                  <a:pt x="84882" y="-731"/>
                  <a:pt x="88540" y="1"/>
                  <a:pt x="94394" y="2928"/>
                </a:cubicBezTo>
                <a:cubicBezTo>
                  <a:pt x="114883" y="8782"/>
                  <a:pt x="132445" y="16099"/>
                  <a:pt x="147080" y="24880"/>
                </a:cubicBezTo>
                <a:cubicBezTo>
                  <a:pt x="151470" y="26343"/>
                  <a:pt x="153665" y="30002"/>
                  <a:pt x="153665" y="35856"/>
                </a:cubicBezTo>
                <a:cubicBezTo>
                  <a:pt x="152202" y="46100"/>
                  <a:pt x="151470" y="65857"/>
                  <a:pt x="151470" y="95127"/>
                </a:cubicBezTo>
                <a:lnTo>
                  <a:pt x="151470" y="123665"/>
                </a:lnTo>
                <a:cubicBezTo>
                  <a:pt x="166105" y="120738"/>
                  <a:pt x="180008" y="118543"/>
                  <a:pt x="193179" y="117079"/>
                </a:cubicBezTo>
                <a:cubicBezTo>
                  <a:pt x="201960" y="127323"/>
                  <a:pt x="210009" y="136104"/>
                  <a:pt x="217326" y="143422"/>
                </a:cubicBezTo>
                <a:cubicBezTo>
                  <a:pt x="218790" y="146349"/>
                  <a:pt x="219522" y="148544"/>
                  <a:pt x="219522" y="150007"/>
                </a:cubicBezTo>
                <a:cubicBezTo>
                  <a:pt x="218058" y="151471"/>
                  <a:pt x="215131" y="152202"/>
                  <a:pt x="210741" y="152202"/>
                </a:cubicBezTo>
                <a:cubicBezTo>
                  <a:pt x="187325" y="152202"/>
                  <a:pt x="168300" y="152934"/>
                  <a:pt x="153665" y="154398"/>
                </a:cubicBezTo>
                <a:lnTo>
                  <a:pt x="151470" y="154398"/>
                </a:lnTo>
                <a:cubicBezTo>
                  <a:pt x="151470" y="179277"/>
                  <a:pt x="151470" y="204888"/>
                  <a:pt x="151470" y="231230"/>
                </a:cubicBezTo>
                <a:lnTo>
                  <a:pt x="206350" y="211473"/>
                </a:lnTo>
                <a:lnTo>
                  <a:pt x="212936" y="222449"/>
                </a:lnTo>
                <a:cubicBezTo>
                  <a:pt x="195374" y="235621"/>
                  <a:pt x="174886" y="250255"/>
                  <a:pt x="151470" y="266354"/>
                </a:cubicBezTo>
                <a:cubicBezTo>
                  <a:pt x="151470" y="279525"/>
                  <a:pt x="151470" y="291965"/>
                  <a:pt x="151470" y="303672"/>
                </a:cubicBezTo>
                <a:cubicBezTo>
                  <a:pt x="150006" y="375383"/>
                  <a:pt x="145616" y="419287"/>
                  <a:pt x="138299" y="435385"/>
                </a:cubicBezTo>
                <a:cubicBezTo>
                  <a:pt x="128054" y="467582"/>
                  <a:pt x="110493" y="496119"/>
                  <a:pt x="85614" y="520999"/>
                </a:cubicBezTo>
                <a:cubicBezTo>
                  <a:pt x="73906" y="531243"/>
                  <a:pt x="65857" y="534902"/>
                  <a:pt x="61466" y="531975"/>
                </a:cubicBezTo>
                <a:cubicBezTo>
                  <a:pt x="57076" y="529048"/>
                  <a:pt x="57076" y="520267"/>
                  <a:pt x="61466" y="505632"/>
                </a:cubicBezTo>
                <a:cubicBezTo>
                  <a:pt x="64393" y="490997"/>
                  <a:pt x="62198" y="480021"/>
                  <a:pt x="54881" y="472704"/>
                </a:cubicBezTo>
                <a:cubicBezTo>
                  <a:pt x="46100" y="460996"/>
                  <a:pt x="29270" y="444898"/>
                  <a:pt x="4391" y="424409"/>
                </a:cubicBezTo>
                <a:lnTo>
                  <a:pt x="13171" y="413433"/>
                </a:lnTo>
                <a:lnTo>
                  <a:pt x="74637" y="435385"/>
                </a:lnTo>
                <a:cubicBezTo>
                  <a:pt x="79028" y="410506"/>
                  <a:pt x="82687" y="370260"/>
                  <a:pt x="85614" y="314648"/>
                </a:cubicBezTo>
                <a:cubicBezTo>
                  <a:pt x="82687" y="316112"/>
                  <a:pt x="78296" y="319039"/>
                  <a:pt x="72442" y="323429"/>
                </a:cubicBezTo>
                <a:cubicBezTo>
                  <a:pt x="63661" y="329283"/>
                  <a:pt x="57076" y="333674"/>
                  <a:pt x="52685" y="336601"/>
                </a:cubicBezTo>
                <a:cubicBezTo>
                  <a:pt x="48295" y="339527"/>
                  <a:pt x="44636" y="339527"/>
                  <a:pt x="41709" y="336601"/>
                </a:cubicBezTo>
                <a:cubicBezTo>
                  <a:pt x="41709" y="338064"/>
                  <a:pt x="40977" y="338064"/>
                  <a:pt x="39514" y="336601"/>
                </a:cubicBezTo>
                <a:cubicBezTo>
                  <a:pt x="38051" y="333674"/>
                  <a:pt x="35124" y="330015"/>
                  <a:pt x="30733" y="325624"/>
                </a:cubicBezTo>
                <a:cubicBezTo>
                  <a:pt x="17562" y="308063"/>
                  <a:pt x="8781" y="293428"/>
                  <a:pt x="4391" y="281720"/>
                </a:cubicBezTo>
                <a:lnTo>
                  <a:pt x="85614" y="253182"/>
                </a:lnTo>
                <a:cubicBezTo>
                  <a:pt x="85614" y="222449"/>
                  <a:pt x="85614" y="190985"/>
                  <a:pt x="85614" y="158788"/>
                </a:cubicBezTo>
                <a:lnTo>
                  <a:pt x="74637" y="158788"/>
                </a:lnTo>
                <a:cubicBezTo>
                  <a:pt x="57076" y="161715"/>
                  <a:pt x="40977" y="163179"/>
                  <a:pt x="26343" y="163179"/>
                </a:cubicBezTo>
                <a:lnTo>
                  <a:pt x="6586" y="132446"/>
                </a:lnTo>
                <a:cubicBezTo>
                  <a:pt x="15367" y="132446"/>
                  <a:pt x="27806" y="131714"/>
                  <a:pt x="43904" y="130250"/>
                </a:cubicBezTo>
                <a:cubicBezTo>
                  <a:pt x="54149" y="130250"/>
                  <a:pt x="61466" y="130250"/>
                  <a:pt x="65857" y="130250"/>
                </a:cubicBezTo>
                <a:lnTo>
                  <a:pt x="85614" y="128055"/>
                </a:lnTo>
                <a:lnTo>
                  <a:pt x="85614" y="95127"/>
                </a:lnTo>
                <a:cubicBezTo>
                  <a:pt x="85614" y="55613"/>
                  <a:pt x="84882" y="27807"/>
                  <a:pt x="83418" y="11709"/>
                </a:cubicBezTo>
                <a:cubicBezTo>
                  <a:pt x="81955" y="5855"/>
                  <a:pt x="81955" y="2196"/>
                  <a:pt x="83418" y="733"/>
                </a:cubicBezTo>
                <a:close/>
              </a:path>
            </a:pathLst>
          </a:custGeom>
          <a:solidFill>
            <a:schemeClr val="bg1"/>
          </a:solidFill>
          <a:ln>
            <a:noFill/>
          </a:ln>
          <a:effectLst>
            <a:outerShdw blurRad="38100" dist="38100" dir="2700000" algn="tl">
              <a:srgbClr val="000000">
                <a:alpha val="43137"/>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4400" dirty="0">
              <a:solidFill>
                <a:schemeClr val="bg1"/>
              </a:solidFill>
              <a:effectLst>
                <a:outerShdw blurRad="38100" dist="38100" dir="2700000" algn="tl">
                  <a:srgbClr val="000000">
                    <a:alpha val="43137"/>
                  </a:srgbClr>
                </a:outerShdw>
              </a:effectLst>
              <a:latin typeface="方正颜宋简体_中" panose="02000000000000000000" pitchFamily="2" charset="-122"/>
              <a:ea typeface="方正颜宋简体_中" panose="02000000000000000000" pitchFamily="2" charset="-122"/>
              <a:cs typeface="方正颜宋简体_中" panose="02000000000000000000" pitchFamily="2" charset="-122"/>
            </a:endParaRPr>
          </a:p>
        </p:txBody>
      </p:sp>
      <p:sp>
        <p:nvSpPr>
          <p:cNvPr id="9" name="文本框 8"/>
          <p:cNvSpPr txBox="1"/>
          <p:nvPr/>
        </p:nvSpPr>
        <p:spPr>
          <a:xfrm>
            <a:off x="3987430" y="1828900"/>
            <a:ext cx="6533560" cy="3886641"/>
          </a:xfrm>
          <a:prstGeom prst="rect">
            <a:avLst/>
          </a:prstGeom>
          <a:noFill/>
        </p:spPr>
        <p:txBody>
          <a:bodyPr wrap="square" rtlCol="0">
            <a:spAutoFit/>
          </a:bodyPr>
          <a:lstStyle/>
          <a:p>
            <a:pPr marL="342900" indent="-342900">
              <a:lnSpc>
                <a:spcPct val="200000"/>
              </a:lnSpc>
              <a:buFont typeface="+mj-lt"/>
              <a:buAutoNum type="arabicPeriod"/>
            </a:pPr>
            <a:r>
              <a:rPr lang="zh-CN" altLang="en-US" b="1" dirty="0">
                <a:solidFill>
                  <a:schemeClr val="tx1">
                    <a:lumMod val="85000"/>
                    <a:lumOff val="15000"/>
                  </a:schemeClr>
                </a:solidFill>
                <a:latin typeface="Times New Roman" panose="02020603050405020304" pitchFamily="18" charset="0"/>
                <a:ea typeface="华文中宋" panose="02010600040101010101" pitchFamily="2" charset="-122"/>
                <a:cs typeface="Times New Roman" panose="02020603050405020304" pitchFamily="18" charset="0"/>
              </a:rPr>
              <a:t>语言基础模型（大模型）</a:t>
            </a:r>
          </a:p>
          <a:p>
            <a:pPr marL="342900" indent="-342900">
              <a:lnSpc>
                <a:spcPct val="200000"/>
              </a:lnSpc>
              <a:buFont typeface="+mj-lt"/>
              <a:buAutoNum type="arabicPeriod"/>
            </a:pPr>
            <a:r>
              <a:rPr lang="zh-CN" altLang="en-US" b="1" dirty="0">
                <a:solidFill>
                  <a:schemeClr val="tx1">
                    <a:lumMod val="85000"/>
                    <a:lumOff val="15000"/>
                  </a:schemeClr>
                </a:solidFill>
                <a:latin typeface="Times New Roman" panose="02020603050405020304" pitchFamily="18" charset="0"/>
                <a:ea typeface="华文中宋" panose="02010600040101010101" pitchFamily="2" charset="-122"/>
                <a:cs typeface="Times New Roman" panose="02020603050405020304" pitchFamily="18" charset="0"/>
              </a:rPr>
              <a:t>自然语言中的机器翻译</a:t>
            </a:r>
          </a:p>
          <a:p>
            <a:pPr marL="342900" indent="-342900">
              <a:lnSpc>
                <a:spcPct val="200000"/>
              </a:lnSpc>
              <a:buFont typeface="+mj-lt"/>
              <a:buAutoNum type="arabicPeriod"/>
            </a:pPr>
            <a:r>
              <a:rPr lang="zh-CN" altLang="en-US" b="1" dirty="0">
                <a:solidFill>
                  <a:schemeClr val="tx1">
                    <a:lumMod val="85000"/>
                    <a:lumOff val="15000"/>
                  </a:schemeClr>
                </a:solidFill>
                <a:latin typeface="Times New Roman" panose="02020603050405020304" pitchFamily="18" charset="0"/>
                <a:ea typeface="华文中宋" panose="02010600040101010101" pitchFamily="2" charset="-122"/>
                <a:cs typeface="Times New Roman" panose="02020603050405020304" pitchFamily="18" charset="0"/>
              </a:rPr>
              <a:t>图像分类与视觉对象定位</a:t>
            </a:r>
          </a:p>
          <a:p>
            <a:pPr marL="342900" indent="-342900">
              <a:lnSpc>
                <a:spcPct val="200000"/>
              </a:lnSpc>
              <a:buFont typeface="+mj-lt"/>
              <a:buAutoNum type="arabicPeriod"/>
            </a:pPr>
            <a:r>
              <a:rPr lang="zh-CN" altLang="en-US" b="1" dirty="0">
                <a:solidFill>
                  <a:schemeClr val="tx1">
                    <a:lumMod val="85000"/>
                    <a:lumOff val="15000"/>
                  </a:schemeClr>
                </a:solidFill>
                <a:latin typeface="Times New Roman" panose="02020603050405020304" pitchFamily="18" charset="0"/>
                <a:ea typeface="华文中宋" panose="02010600040101010101" pitchFamily="2" charset="-122"/>
                <a:cs typeface="Times New Roman" panose="02020603050405020304" pitchFamily="18" charset="0"/>
              </a:rPr>
              <a:t>语音识别与合成</a:t>
            </a:r>
          </a:p>
          <a:p>
            <a:pPr marL="342900" indent="-342900">
              <a:lnSpc>
                <a:spcPct val="200000"/>
              </a:lnSpc>
              <a:buFont typeface="+mj-lt"/>
              <a:buAutoNum type="arabicPeriod"/>
            </a:pPr>
            <a:r>
              <a:rPr lang="zh-CN" altLang="en-US" b="1" dirty="0">
                <a:solidFill>
                  <a:schemeClr val="tx1">
                    <a:lumMod val="85000"/>
                    <a:lumOff val="15000"/>
                  </a:schemeClr>
                </a:solidFill>
                <a:latin typeface="Times New Roman" panose="02020603050405020304" pitchFamily="18" charset="0"/>
                <a:ea typeface="华文中宋" panose="02010600040101010101" pitchFamily="2" charset="-122"/>
                <a:cs typeface="Times New Roman" panose="02020603050405020304" pitchFamily="18" charset="0"/>
              </a:rPr>
              <a:t>科学计算</a:t>
            </a:r>
          </a:p>
          <a:p>
            <a:pPr marL="342900" indent="-342900">
              <a:lnSpc>
                <a:spcPct val="200000"/>
              </a:lnSpc>
              <a:buFont typeface="+mj-lt"/>
              <a:buAutoNum type="arabicPeriod"/>
            </a:pPr>
            <a:r>
              <a:rPr lang="zh-CN" altLang="en-US" b="1" dirty="0">
                <a:solidFill>
                  <a:schemeClr val="tx1">
                    <a:lumMod val="85000"/>
                    <a:lumOff val="15000"/>
                  </a:schemeClr>
                </a:solidFill>
                <a:latin typeface="Times New Roman" panose="02020603050405020304" pitchFamily="18" charset="0"/>
                <a:ea typeface="华文中宋" panose="02010600040101010101" pitchFamily="2" charset="-122"/>
                <a:cs typeface="Times New Roman" panose="02020603050405020304" pitchFamily="18" charset="0"/>
              </a:rPr>
              <a:t>跨媒体智能</a:t>
            </a:r>
          </a:p>
          <a:p>
            <a:pPr marL="342900" indent="-342900">
              <a:lnSpc>
                <a:spcPct val="200000"/>
              </a:lnSpc>
              <a:buFont typeface="+mj-lt"/>
              <a:buAutoNum type="arabicPeriod"/>
            </a:pPr>
            <a:r>
              <a:rPr lang="zh-CN" altLang="en-US" b="1" dirty="0">
                <a:solidFill>
                  <a:schemeClr val="tx1">
                    <a:lumMod val="85000"/>
                    <a:lumOff val="15000"/>
                  </a:schemeClr>
                </a:solidFill>
                <a:latin typeface="Times New Roman" panose="02020603050405020304" pitchFamily="18" charset="0"/>
                <a:ea typeface="华文中宋" panose="02010600040101010101" pitchFamily="2" charset="-122"/>
                <a:cs typeface="Times New Roman" panose="02020603050405020304" pitchFamily="18" charset="0"/>
              </a:rPr>
              <a:t>机器人控制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自然语言处理的范式变革</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一、语言基础模型（大语言模型）</a:t>
            </a:r>
            <a:endParaRPr lang="zh-CN" altLang="en-US" sz="1600" dirty="0">
              <a:solidFill>
                <a:srgbClr val="000000"/>
              </a:solidFill>
              <a:latin typeface="Times New Roman" panose="02020603050405020304" pitchFamily="18" charset="0"/>
            </a:endParaRPr>
          </a:p>
        </p:txBody>
      </p:sp>
      <p:sp>
        <p:nvSpPr>
          <p:cNvPr id="102" name="圆角矩形 38">
            <a:extLst>
              <a:ext uri="{FF2B5EF4-FFF2-40B4-BE49-F238E27FC236}">
                <a16:creationId xmlns:a16="http://schemas.microsoft.com/office/drawing/2014/main" id="{4AF22E00-BD97-4B3A-886E-BC6E0CFC8238}"/>
              </a:ext>
            </a:extLst>
          </p:cNvPr>
          <p:cNvSpPr/>
          <p:nvPr/>
        </p:nvSpPr>
        <p:spPr>
          <a:xfrm>
            <a:off x="192938" y="5889329"/>
            <a:ext cx="2469357" cy="512581"/>
          </a:xfrm>
          <a:prstGeom prst="roundRect">
            <a:avLst>
              <a:gd name="adj" fmla="val 5638"/>
            </a:avLst>
          </a:prstGeom>
          <a:solidFill>
            <a:schemeClr val="bg1"/>
          </a:solidFill>
          <a:ln>
            <a:noFill/>
          </a:ln>
          <a:effectLst>
            <a:outerShdw blurRad="127000" dist="127000" dir="2700000" algn="tl" rotWithShape="0">
              <a:srgbClr val="0190EB">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b="1" dirty="0">
                <a:solidFill>
                  <a:srgbClr val="014BAE"/>
                </a:solidFill>
                <a:latin typeface="Times New Roman" panose="02020603050405020304" pitchFamily="18" charset="0"/>
                <a:ea typeface="楷体" panose="02010609060101010101" pitchFamily="49" charset="-122"/>
                <a:cs typeface="Times New Roman" panose="02020603050405020304" pitchFamily="18" charset="0"/>
              </a:rPr>
              <a:t>语言为大</a:t>
            </a:r>
            <a:endParaRPr lang="en-US" altLang="zh-CN" b="1" dirty="0">
              <a:solidFill>
                <a:srgbClr val="014BAE"/>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100" dirty="0">
                <a:solidFill>
                  <a:srgbClr val="014BAE"/>
                </a:solidFill>
                <a:latin typeface="Times New Roman" panose="02020603050405020304" pitchFamily="18" charset="0"/>
                <a:ea typeface="楷体" panose="02010609060101010101" pitchFamily="49" charset="-122"/>
                <a:cs typeface="Times New Roman" panose="02020603050405020304" pitchFamily="18" charset="0"/>
              </a:rPr>
              <a:t>乔姆斯基文法、产生式规则等</a:t>
            </a:r>
          </a:p>
        </p:txBody>
      </p:sp>
      <p:sp>
        <p:nvSpPr>
          <p:cNvPr id="103" name="圆角矩形 38">
            <a:extLst>
              <a:ext uri="{FF2B5EF4-FFF2-40B4-BE49-F238E27FC236}">
                <a16:creationId xmlns:a16="http://schemas.microsoft.com/office/drawing/2014/main" id="{384B6169-2C44-4B17-B9B6-D78676B6B3CE}"/>
              </a:ext>
            </a:extLst>
          </p:cNvPr>
          <p:cNvSpPr/>
          <p:nvPr/>
        </p:nvSpPr>
        <p:spPr>
          <a:xfrm>
            <a:off x="3301118" y="5889328"/>
            <a:ext cx="3953021" cy="512581"/>
          </a:xfrm>
          <a:prstGeom prst="roundRect">
            <a:avLst>
              <a:gd name="adj" fmla="val 5638"/>
            </a:avLst>
          </a:prstGeom>
          <a:solidFill>
            <a:schemeClr val="bg1"/>
          </a:solidFill>
          <a:ln>
            <a:noFill/>
          </a:ln>
          <a:effectLst>
            <a:outerShdw blurRad="127000" dist="127000" dir="2700000" algn="tl" rotWithShape="0">
              <a:srgbClr val="0190EB">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b="1" dirty="0">
                <a:solidFill>
                  <a:srgbClr val="014BAE"/>
                </a:solidFill>
                <a:latin typeface="Times New Roman" panose="02020603050405020304" pitchFamily="18" charset="0"/>
                <a:ea typeface="楷体" panose="02010609060101010101" pitchFamily="49" charset="-122"/>
                <a:cs typeface="Times New Roman" panose="02020603050405020304" pitchFamily="18" charset="0"/>
              </a:rPr>
              <a:t>计算与模型为大、语言式微</a:t>
            </a:r>
            <a:endParaRPr lang="en-US" altLang="zh-CN" b="1" dirty="0">
              <a:solidFill>
                <a:srgbClr val="014BAE"/>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100" dirty="0">
                <a:solidFill>
                  <a:srgbClr val="014BAE"/>
                </a:solidFill>
                <a:latin typeface="Times New Roman" panose="02020603050405020304" pitchFamily="18" charset="0"/>
                <a:ea typeface="楷体" panose="02010609060101010101" pitchFamily="49" charset="-122"/>
                <a:cs typeface="Times New Roman" panose="02020603050405020304" pitchFamily="18" charset="0"/>
              </a:rPr>
              <a:t>语料数据驱动下模型训练</a:t>
            </a:r>
          </a:p>
        </p:txBody>
      </p:sp>
      <p:sp>
        <p:nvSpPr>
          <p:cNvPr id="104" name="圆角矩形 38">
            <a:extLst>
              <a:ext uri="{FF2B5EF4-FFF2-40B4-BE49-F238E27FC236}">
                <a16:creationId xmlns:a16="http://schemas.microsoft.com/office/drawing/2014/main" id="{5B028D03-BDFA-43B3-BA2D-0F48F5A8CC52}"/>
              </a:ext>
            </a:extLst>
          </p:cNvPr>
          <p:cNvSpPr/>
          <p:nvPr/>
        </p:nvSpPr>
        <p:spPr>
          <a:xfrm>
            <a:off x="8189054" y="5849531"/>
            <a:ext cx="2953336" cy="512581"/>
          </a:xfrm>
          <a:prstGeom prst="roundRect">
            <a:avLst>
              <a:gd name="adj" fmla="val 5638"/>
            </a:avLst>
          </a:prstGeom>
          <a:solidFill>
            <a:schemeClr val="bg1"/>
          </a:solidFill>
          <a:ln>
            <a:noFill/>
          </a:ln>
          <a:effectLst>
            <a:outerShdw blurRad="127000" dist="127000" dir="2700000" algn="tl" rotWithShape="0">
              <a:srgbClr val="0190EB">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b="1" dirty="0">
                <a:solidFill>
                  <a:srgbClr val="014BAE"/>
                </a:solidFill>
                <a:latin typeface="Times New Roman" panose="02020603050405020304" pitchFamily="18" charset="0"/>
                <a:ea typeface="楷体" panose="02010609060101010101" pitchFamily="49" charset="-122"/>
                <a:cs typeface="Times New Roman" panose="02020603050405020304" pitchFamily="18" charset="0"/>
              </a:rPr>
              <a:t>计算与模型为大、语言点金</a:t>
            </a:r>
            <a:endParaRPr lang="en-US" altLang="zh-CN" b="1" dirty="0">
              <a:solidFill>
                <a:srgbClr val="014BAE"/>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100" dirty="0">
                <a:solidFill>
                  <a:srgbClr val="014BAE"/>
                </a:solidFill>
                <a:latin typeface="Times New Roman" panose="02020603050405020304" pitchFamily="18" charset="0"/>
                <a:ea typeface="楷体" panose="02010609060101010101" pitchFamily="49" charset="-122"/>
                <a:cs typeface="Times New Roman" panose="02020603050405020304" pitchFamily="18" charset="0"/>
              </a:rPr>
              <a:t>语料数据驱动下模型预训练、指令</a:t>
            </a:r>
            <a:r>
              <a:rPr lang="en-US" altLang="zh-CN" sz="1100" dirty="0">
                <a:solidFill>
                  <a:srgbClr val="014BAE"/>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1100" dirty="0">
                <a:solidFill>
                  <a:srgbClr val="014BAE"/>
                </a:solidFill>
                <a:latin typeface="Times New Roman" panose="02020603050405020304" pitchFamily="18" charset="0"/>
                <a:ea typeface="楷体" panose="02010609060101010101" pitchFamily="49" charset="-122"/>
                <a:cs typeface="Times New Roman" panose="02020603050405020304" pitchFamily="18" charset="0"/>
              </a:rPr>
              <a:t>提示调优</a:t>
            </a:r>
          </a:p>
        </p:txBody>
      </p:sp>
      <p:pic>
        <p:nvPicPr>
          <p:cNvPr id="7" name="图片 6">
            <a:extLst>
              <a:ext uri="{FF2B5EF4-FFF2-40B4-BE49-F238E27FC236}">
                <a16:creationId xmlns:a16="http://schemas.microsoft.com/office/drawing/2014/main" id="{956C03C0-8E11-41C8-95C2-B81906AD8EBB}"/>
              </a:ext>
            </a:extLst>
          </p:cNvPr>
          <p:cNvPicPr>
            <a:picLocks noChangeAspect="1"/>
          </p:cNvPicPr>
          <p:nvPr/>
        </p:nvPicPr>
        <p:blipFill>
          <a:blip r:embed="rId3"/>
          <a:stretch>
            <a:fillRect/>
          </a:stretch>
        </p:blipFill>
        <p:spPr>
          <a:xfrm rot="5400000">
            <a:off x="3560116" y="-1993907"/>
            <a:ext cx="4634512" cy="11131958"/>
          </a:xfrm>
          <a:prstGeom prst="rect">
            <a:avLst/>
          </a:prstGeom>
        </p:spPr>
      </p:pic>
    </p:spTree>
    <p:extLst>
      <p:ext uri="{BB962C8B-B14F-4D97-AF65-F5344CB8AC3E}">
        <p14:creationId xmlns:p14="http://schemas.microsoft.com/office/powerpoint/2010/main" val="2068928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语</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言大模型的建模</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一、语言基础模型（大语言模型）</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05F177DE-D6A9-40DA-AE2D-3C9B6EB74727}"/>
                  </a:ext>
                </a:extLst>
              </p:cNvPr>
              <p:cNvSpPr/>
              <p:nvPr/>
            </p:nvSpPr>
            <p:spPr>
              <a:xfrm>
                <a:off x="1345809" y="1683367"/>
                <a:ext cx="9326879" cy="632224"/>
              </a:xfrm>
              <a:prstGeom prst="rect">
                <a:avLst/>
              </a:prstGeom>
            </p:spPr>
            <p:txBody>
              <a:bodyPr wrap="square">
                <a:spAutoFit/>
              </a:bodyPr>
              <a:lstStyle/>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给定长度为</a:t>
                </a:r>
                <a:r>
                  <a:rPr lang="en-US" altLang="zh-CN" sz="1600" i="1" dirty="0">
                    <a:solidFill>
                      <a:srgbClr val="000000"/>
                    </a:solidFill>
                    <a:effectLst/>
                    <a:latin typeface="Times New Roman" panose="02020603050405020304" pitchFamily="18" charset="0"/>
                    <a:ea typeface="楷体_GB2312"/>
                    <a:cs typeface="Times New Roman" panose="02020603050405020304" pitchFamily="18" charset="0"/>
                  </a:rPr>
                  <a:t>N</a:t>
                </a:r>
                <a:r>
                  <a:rPr lang="zh-CN" altLang="zh-CN" sz="1600" dirty="0">
                    <a:solidFill>
                      <a:srgbClr val="000000"/>
                    </a:solidFill>
                    <a:effectLst/>
                    <a:latin typeface="Times New Roman" panose="02020603050405020304" pitchFamily="18" charset="0"/>
                    <a:ea typeface="楷体_GB2312"/>
                    <a:cs typeface="Times New Roman" panose="02020603050405020304" pitchFamily="18" charset="0"/>
                  </a:rPr>
                  <a:t>的单词序列</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d>
                      <m:dPr>
                        <m:ctrlPr>
                          <a:rPr lang="zh-CN" altLang="zh-CN" sz="1600" i="1">
                            <a:solidFill>
                              <a:srgbClr val="000000"/>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1600" i="1">
                                <a:solidFill>
                                  <a:srgbClr val="0000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solidFill>
                                  <a:srgbClr val="000000"/>
                                </a:solidFill>
                                <a:latin typeface="Cambria Math" panose="02040503050406030204" pitchFamily="18" charset="0"/>
                                <a:cs typeface="宋体" panose="02010600030101010101" pitchFamily="2" charset="-122"/>
                              </a:rPr>
                              <m:t>𝑤</m:t>
                            </m:r>
                          </m:e>
                          <m:sub>
                            <m:r>
                              <a:rPr lang="en-US" altLang="zh-CN" sz="1600">
                                <a:solidFill>
                                  <a:srgbClr val="000000"/>
                                </a:solidFill>
                                <a:latin typeface="Cambria Math" panose="02040503050406030204" pitchFamily="18" charset="0"/>
                                <a:cs typeface="宋体" panose="02010600030101010101" pitchFamily="2" charset="-122"/>
                              </a:rPr>
                              <m:t>1</m:t>
                            </m:r>
                          </m:sub>
                        </m:sSub>
                        <m:r>
                          <a:rPr lang="en-US" altLang="zh-CN" sz="1600">
                            <a:solidFill>
                              <a:srgbClr val="000000"/>
                            </a:solidFill>
                            <a:latin typeface="Cambria Math" panose="02040503050406030204" pitchFamily="18" charset="0"/>
                            <a:cs typeface="宋体" panose="02010600030101010101" pitchFamily="2" charset="-122"/>
                          </a:rPr>
                          <m:t>,</m:t>
                        </m:r>
                        <m:sSub>
                          <m:sSubPr>
                            <m:ctrlPr>
                              <a:rPr lang="zh-CN" altLang="zh-CN" sz="1600" i="1">
                                <a:solidFill>
                                  <a:srgbClr val="0000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solidFill>
                                  <a:srgbClr val="000000"/>
                                </a:solidFill>
                                <a:latin typeface="Cambria Math" panose="02040503050406030204" pitchFamily="18" charset="0"/>
                                <a:cs typeface="宋体" panose="02010600030101010101" pitchFamily="2" charset="-122"/>
                              </a:rPr>
                              <m:t>𝑤</m:t>
                            </m:r>
                          </m:e>
                          <m:sub>
                            <m:r>
                              <a:rPr lang="en-US" altLang="zh-CN" sz="1600">
                                <a:solidFill>
                                  <a:srgbClr val="000000"/>
                                </a:solidFill>
                                <a:latin typeface="Cambria Math" panose="02040503050406030204" pitchFamily="18" charset="0"/>
                                <a:cs typeface="宋体" panose="02010600030101010101" pitchFamily="2" charset="-122"/>
                              </a:rPr>
                              <m:t>2</m:t>
                            </m:r>
                          </m:sub>
                        </m:sSub>
                        <m:r>
                          <a:rPr lang="en-US" altLang="zh-CN" sz="1600">
                            <a:solidFill>
                              <a:srgbClr val="000000"/>
                            </a:solidFill>
                            <a:latin typeface="Cambria Math" panose="02040503050406030204" pitchFamily="18" charset="0"/>
                            <a:cs typeface="宋体" panose="02010600030101010101" pitchFamily="2" charset="-122"/>
                          </a:rPr>
                          <m:t>,…,</m:t>
                        </m:r>
                        <m:sSub>
                          <m:sSubPr>
                            <m:ctrlPr>
                              <a:rPr lang="zh-CN" altLang="zh-CN" sz="1600" i="1">
                                <a:solidFill>
                                  <a:srgbClr val="0000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solidFill>
                                  <a:srgbClr val="000000"/>
                                </a:solidFill>
                                <a:latin typeface="Cambria Math" panose="02040503050406030204" pitchFamily="18" charset="0"/>
                                <a:cs typeface="宋体" panose="02010600030101010101" pitchFamily="2" charset="-122"/>
                              </a:rPr>
                              <m:t>𝑤</m:t>
                            </m:r>
                          </m:e>
                          <m:sub>
                            <m:r>
                              <a:rPr lang="en-US" altLang="zh-CN" sz="1600" i="1">
                                <a:solidFill>
                                  <a:srgbClr val="000000"/>
                                </a:solidFill>
                                <a:latin typeface="Cambria Math" panose="02040503050406030204" pitchFamily="18" charset="0"/>
                                <a:cs typeface="宋体" panose="02010600030101010101" pitchFamily="2" charset="-122"/>
                              </a:rPr>
                              <m:t>𝑇</m:t>
                            </m:r>
                          </m:sub>
                        </m:sSub>
                      </m:e>
                    </m:d>
                  </m:oMath>
                </a14:m>
                <a:r>
                  <a:rPr lang="zh-CN" altLang="zh-CN" sz="1600" dirty="0">
                    <a:solidFill>
                      <a:srgbClr val="000000"/>
                    </a:solidFill>
                    <a:effectLst/>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sz="1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effectLst/>
                    <a:latin typeface="Times New Roman" panose="02020603050405020304" pitchFamily="18" charset="0"/>
                    <a:ea typeface="楷体_GB2312"/>
                    <a:cs typeface="Times New Roman" panose="02020603050405020304" pitchFamily="18" charset="0"/>
                  </a:rPr>
                  <a:t>表示第</a:t>
                </a:r>
                <a14:m>
                  <m:oMath xmlns:m="http://schemas.openxmlformats.org/officeDocument/2006/math">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𝑖</m:t>
                    </m:r>
                  </m:oMath>
                </a14:m>
                <a:r>
                  <a:rPr lang="zh-CN" altLang="zh-CN" sz="1600" dirty="0">
                    <a:solidFill>
                      <a:srgbClr val="000000"/>
                    </a:solidFill>
                    <a:effectLst/>
                    <a:latin typeface="Times New Roman" panose="02020603050405020304" pitchFamily="18" charset="0"/>
                    <a:ea typeface="楷体_GB2312"/>
                    <a:cs typeface="Times New Roman" panose="02020603050405020304" pitchFamily="18" charset="0"/>
                  </a:rPr>
                  <a:t>个单词，</a:t>
                </a:r>
                <a:r>
                  <a:rPr lang="zh-CN" altLang="zh-CN" sz="1600" dirty="0">
                    <a:solidFill>
                      <a:srgbClr val="FF0000"/>
                    </a:solidFill>
                    <a:effectLst/>
                    <a:latin typeface="Times New Roman" panose="02020603050405020304" pitchFamily="18" charset="0"/>
                    <a:ea typeface="楷体_GB2312"/>
                    <a:cs typeface="Times New Roman" panose="02020603050405020304" pitchFamily="18" charset="0"/>
                  </a:rPr>
                  <a:t>传统语言模型</a:t>
                </a:r>
                <a:r>
                  <a:rPr lang="zh-CN" altLang="zh-CN" sz="1600" dirty="0">
                    <a:solidFill>
                      <a:srgbClr val="000000"/>
                    </a:solidFill>
                    <a:effectLst/>
                    <a:latin typeface="Times New Roman" panose="02020603050405020304" pitchFamily="18" charset="0"/>
                    <a:ea typeface="楷体_GB2312"/>
                    <a:cs typeface="Times New Roman" panose="02020603050405020304" pitchFamily="18" charset="0"/>
                  </a:rPr>
                  <a:t>通过</a:t>
                </a:r>
                <a:r>
                  <a:rPr lang="zh-CN" altLang="en-US" sz="1600" dirty="0">
                    <a:solidFill>
                      <a:srgbClr val="000000"/>
                    </a:solidFill>
                    <a:effectLst/>
                    <a:latin typeface="Times New Roman" panose="02020603050405020304" pitchFamily="18" charset="0"/>
                    <a:ea typeface="楷体_GB2312"/>
                    <a:cs typeface="Times New Roman" panose="02020603050405020304" pitchFamily="18" charset="0"/>
                  </a:rPr>
                  <a:t>完成预测</a:t>
                </a:r>
                <a:r>
                  <a:rPr lang="zh-CN" altLang="zh-CN" sz="1600" dirty="0">
                    <a:solidFill>
                      <a:srgbClr val="000000"/>
                    </a:solidFill>
                    <a:effectLst/>
                    <a:latin typeface="Times New Roman" panose="02020603050405020304" pitchFamily="18" charset="0"/>
                    <a:ea typeface="楷体_GB2312"/>
                    <a:cs typeface="Times New Roman" panose="02020603050405020304" pitchFamily="18" charset="0"/>
                  </a:rPr>
                  <a:t>下一个</a:t>
                </a:r>
                <a:r>
                  <a:rPr lang="zh-CN" altLang="en-US" sz="1600" dirty="0">
                    <a:solidFill>
                      <a:srgbClr val="000000"/>
                    </a:solidFill>
                    <a:effectLst/>
                    <a:latin typeface="Times New Roman" panose="02020603050405020304" pitchFamily="18" charset="0"/>
                    <a:ea typeface="楷体_GB2312"/>
                    <a:cs typeface="Times New Roman" panose="02020603050405020304" pitchFamily="18" charset="0"/>
                  </a:rPr>
                  <a:t>单词</a:t>
                </a:r>
                <a:r>
                  <a:rPr lang="zh-CN" altLang="zh-CN" sz="1600" dirty="0">
                    <a:solidFill>
                      <a:srgbClr val="000000"/>
                    </a:solidFill>
                    <a:effectLst/>
                    <a:latin typeface="Times New Roman" panose="02020603050405020304" pitchFamily="18" charset="0"/>
                    <a:ea typeface="楷体_GB2312"/>
                    <a:cs typeface="Times New Roman" panose="02020603050405020304" pitchFamily="18" charset="0"/>
                  </a:rPr>
                  <a:t>（</a:t>
                </a:r>
                <a:r>
                  <a:rPr lang="en-US" altLang="zh-CN" sz="1600" dirty="0">
                    <a:solidFill>
                      <a:srgbClr val="000000"/>
                    </a:solidFill>
                    <a:effectLst/>
                    <a:latin typeface="Times New Roman" panose="02020603050405020304" pitchFamily="18" charset="0"/>
                    <a:ea typeface="楷体_GB2312"/>
                    <a:cs typeface="Times New Roman" panose="02020603050405020304" pitchFamily="18" charset="0"/>
                  </a:rPr>
                  <a:t>Next Word Prediction</a:t>
                </a:r>
                <a:r>
                  <a:rPr lang="zh-CN" altLang="zh-CN" sz="1600" dirty="0">
                    <a:solidFill>
                      <a:srgbClr val="000000"/>
                    </a:solidFill>
                    <a:effectLst/>
                    <a:latin typeface="Times New Roman" panose="02020603050405020304" pitchFamily="18" charset="0"/>
                    <a:ea typeface="楷体_GB2312"/>
                    <a:cs typeface="Times New Roman" panose="02020603050405020304" pitchFamily="18" charset="0"/>
                  </a:rPr>
                  <a:t>，</a:t>
                </a:r>
                <a:r>
                  <a:rPr lang="en-US" altLang="zh-CN" sz="1600" dirty="0">
                    <a:solidFill>
                      <a:srgbClr val="000000"/>
                    </a:solidFill>
                    <a:effectLst/>
                    <a:latin typeface="Times New Roman" panose="02020603050405020304" pitchFamily="18" charset="0"/>
                    <a:ea typeface="楷体_GB2312"/>
                    <a:cs typeface="Times New Roman" panose="02020603050405020304" pitchFamily="18" charset="0"/>
                  </a:rPr>
                  <a:t>NWP</a:t>
                </a:r>
                <a:r>
                  <a:rPr lang="zh-CN" altLang="zh-CN" sz="1600" dirty="0">
                    <a:solidFill>
                      <a:srgbClr val="000000"/>
                    </a:solidFill>
                    <a:effectLst/>
                    <a:latin typeface="Times New Roman" panose="02020603050405020304" pitchFamily="18" charset="0"/>
                    <a:ea typeface="楷体_GB2312"/>
                    <a:cs typeface="Times New Roman" panose="02020603050405020304" pitchFamily="18" charset="0"/>
                  </a:rPr>
                  <a:t>）任务，</a:t>
                </a:r>
                <a:r>
                  <a:rPr lang="zh-CN" altLang="en-US" sz="1600" dirty="0">
                    <a:solidFill>
                      <a:srgbClr val="000000"/>
                    </a:solidFill>
                    <a:effectLst/>
                    <a:latin typeface="Times New Roman" panose="02020603050405020304" pitchFamily="18" charset="0"/>
                    <a:ea typeface="楷体_GB2312"/>
                    <a:cs typeface="Times New Roman" panose="02020603050405020304" pitchFamily="18" charset="0"/>
                  </a:rPr>
                  <a:t>来实现</a:t>
                </a:r>
                <a:r>
                  <a:rPr lang="zh-CN" altLang="zh-CN" sz="1600" dirty="0">
                    <a:solidFill>
                      <a:srgbClr val="FF0000"/>
                    </a:solidFill>
                    <a:effectLst/>
                    <a:latin typeface="Times New Roman" panose="02020603050405020304" pitchFamily="18" charset="0"/>
                    <a:ea typeface="楷体_GB2312"/>
                    <a:cs typeface="Times New Roman" panose="02020603050405020304" pitchFamily="18" charset="0"/>
                  </a:rPr>
                  <a:t>建模文本</a:t>
                </a:r>
                <a:r>
                  <a:rPr lang="zh-CN" altLang="en-US" sz="1600" dirty="0">
                    <a:solidFill>
                      <a:srgbClr val="FF0000"/>
                    </a:solidFill>
                    <a:effectLst/>
                    <a:latin typeface="Times New Roman" panose="02020603050405020304" pitchFamily="18" charset="0"/>
                    <a:ea typeface="楷体_GB2312"/>
                    <a:cs typeface="Times New Roman" panose="02020603050405020304" pitchFamily="18" charset="0"/>
                  </a:rPr>
                  <a:t>单词的</a:t>
                </a:r>
                <a:r>
                  <a:rPr lang="zh-CN" altLang="zh-CN" sz="1600" dirty="0">
                    <a:solidFill>
                      <a:srgbClr val="FF0000"/>
                    </a:solidFill>
                    <a:effectLst/>
                    <a:latin typeface="Times New Roman" panose="02020603050405020304" pitchFamily="18" charset="0"/>
                    <a:ea typeface="楷体_GB2312"/>
                    <a:cs typeface="Times New Roman" panose="02020603050405020304" pitchFamily="18" charset="0"/>
                  </a:rPr>
                  <a:t>联合概率分布</a:t>
                </a:r>
                <a:r>
                  <a:rPr lang="zh-CN" altLang="zh-CN" sz="1600" dirty="0">
                    <a:solidFill>
                      <a:srgbClr val="000000"/>
                    </a:solidFill>
                    <a:latin typeface="Times New Roman" panose="02020603050405020304" pitchFamily="18" charset="0"/>
                    <a:cs typeface="宋体" panose="02010600030101010101" pitchFamily="2" charset="-122"/>
                  </a:rPr>
                  <a:t>：</a:t>
                </a:r>
                <a:endParaRPr lang="zh-CN" altLang="zh-CN" sz="1600" dirty="0">
                  <a:solidFill>
                    <a:srgbClr val="000000"/>
                  </a:solidFill>
                  <a:effectLst/>
                  <a:latin typeface="Times New Roman" panose="02020603050405020304" pitchFamily="18" charset="0"/>
                  <a:ea typeface="楷体_GB231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05F177DE-D6A9-40DA-AE2D-3C9B6EB74727}"/>
                  </a:ext>
                </a:extLst>
              </p:cNvPr>
              <p:cNvSpPr>
                <a:spLocks noRot="1" noChangeAspect="1" noMove="1" noResize="1" noEditPoints="1" noAdjustHandles="1" noChangeArrowheads="1" noChangeShapeType="1" noTextEdit="1"/>
              </p:cNvSpPr>
              <p:nvPr/>
            </p:nvSpPr>
            <p:spPr>
              <a:xfrm>
                <a:off x="1345809" y="1683367"/>
                <a:ext cx="9326879" cy="632224"/>
              </a:xfrm>
              <a:prstGeom prst="rect">
                <a:avLst/>
              </a:prstGeom>
              <a:blipFill>
                <a:blip r:embed="rId3"/>
                <a:stretch>
                  <a:fillRect l="-392" t="-962" r="-327" b="-1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6A255380-0ED5-4D11-BAE1-86708C5CE38E}"/>
                  </a:ext>
                </a:extLst>
              </p:cNvPr>
              <p:cNvSpPr/>
              <p:nvPr/>
            </p:nvSpPr>
            <p:spPr>
              <a:xfrm>
                <a:off x="3279416" y="2720300"/>
                <a:ext cx="4873514" cy="6577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a:latin typeface="Cambria Math" panose="02040503050406030204" pitchFamily="18" charset="0"/>
                        </a:rPr>
                        <m:t>p</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1">
                                  <a:latin typeface="Cambria Math" panose="02040503050406030204" pitchFamily="18" charset="0"/>
                                </a:rPr>
                                <m:t>𝑇</m:t>
                              </m:r>
                            </m:sub>
                          </m:sSub>
                        </m:e>
                      </m:d>
                      <m:r>
                        <a:rPr lang="zh-CN" altLang="en-US" i="0">
                          <a:latin typeface="Cambria Math" panose="02040503050406030204" pitchFamily="18" charset="0"/>
                        </a:rPr>
                        <m:t>=</m:t>
                      </m:r>
                      <m:nary>
                        <m:naryPr>
                          <m:chr m:val="∏"/>
                          <m:limLoc m:val="subSup"/>
                          <m:ctrlPr>
                            <a:rPr lang="zh-CN" altLang="en-US" i="1">
                              <a:latin typeface="Cambria Math" panose="02040503050406030204" pitchFamily="18" charset="0"/>
                            </a:rPr>
                          </m:ctrlPr>
                        </m:naryPr>
                        <m:sub>
                          <m:r>
                            <m:rPr>
                              <m:sty m:val="p"/>
                            </m:rPr>
                            <a:rPr lang="zh-CN" altLang="en-US" i="0">
                              <a:latin typeface="Cambria Math" panose="02040503050406030204" pitchFamily="18" charset="0"/>
                            </a:rPr>
                            <m:t>i</m:t>
                          </m:r>
                          <m:r>
                            <a:rPr lang="zh-CN" altLang="en-US" i="0">
                              <a:latin typeface="Cambria Math" panose="02040503050406030204" pitchFamily="18" charset="0"/>
                            </a:rPr>
                            <m:t>=1</m:t>
                          </m:r>
                        </m:sub>
                        <m:sup>
                          <m:r>
                            <a:rPr lang="zh-CN" altLang="en-US" i="1">
                              <a:latin typeface="Cambria Math" panose="02040503050406030204" pitchFamily="18" charset="0"/>
                            </a:rPr>
                            <m:t>𝑇</m:t>
                          </m:r>
                        </m:sup>
                        <m:e>
                          <m:r>
                            <m:rPr>
                              <m:sty m:val="p"/>
                            </m:rPr>
                            <a:rPr lang="zh-CN" altLang="en-US" i="0">
                              <a:latin typeface="Cambria Math" panose="02040503050406030204" pitchFamily="18" charset="0"/>
                            </a:rPr>
                            <m:t>p</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w</m:t>
                                  </m:r>
                                </m:e>
                                <m:sub>
                                  <m:r>
                                    <m:rPr>
                                      <m:sty m:val="p"/>
                                    </m:rPr>
                                    <a:rPr lang="zh-CN" altLang="en-US" i="0">
                                      <a:latin typeface="Cambria Math" panose="02040503050406030204" pitchFamily="18" charset="0"/>
                                    </a:rPr>
                                    <m:t>i</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1">
                                      <a:latin typeface="Cambria Math" panose="02040503050406030204" pitchFamily="18" charset="0"/>
                                    </a:rPr>
                                    <m:t>𝑖</m:t>
                                  </m:r>
                                  <m:r>
                                    <a:rPr lang="zh-CN" altLang="en-US" i="0">
                                      <a:latin typeface="Cambria Math" panose="02040503050406030204" pitchFamily="18" charset="0"/>
                                    </a:rPr>
                                    <m:t>−1</m:t>
                                  </m:r>
                                </m:sub>
                              </m:sSub>
                            </m:e>
                          </m:d>
                        </m:e>
                      </m:nary>
                    </m:oMath>
                  </m:oMathPara>
                </a14:m>
                <a:endParaRPr lang="zh-CN" altLang="en-US" dirty="0"/>
              </a:p>
            </p:txBody>
          </p:sp>
        </mc:Choice>
        <mc:Fallback xmlns="">
          <p:sp>
            <p:nvSpPr>
              <p:cNvPr id="9" name="矩形 8">
                <a:extLst>
                  <a:ext uri="{FF2B5EF4-FFF2-40B4-BE49-F238E27FC236}">
                    <a16:creationId xmlns:a16="http://schemas.microsoft.com/office/drawing/2014/main" id="{6A255380-0ED5-4D11-BAE1-86708C5CE38E}"/>
                  </a:ext>
                </a:extLst>
              </p:cNvPr>
              <p:cNvSpPr>
                <a:spLocks noRot="1" noChangeAspect="1" noMove="1" noResize="1" noEditPoints="1" noAdjustHandles="1" noChangeArrowheads="1" noChangeShapeType="1" noTextEdit="1"/>
              </p:cNvSpPr>
              <p:nvPr/>
            </p:nvSpPr>
            <p:spPr>
              <a:xfrm>
                <a:off x="3279416" y="2720300"/>
                <a:ext cx="4873514" cy="657744"/>
              </a:xfrm>
              <a:prstGeom prst="rect">
                <a:avLst/>
              </a:prstGeom>
              <a:blipFill>
                <a:blip r:embed="rId4"/>
                <a:stretch>
                  <a:fillRect/>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A0368D3C-9074-4850-9A54-DB438871FC01}"/>
              </a:ext>
            </a:extLst>
          </p:cNvPr>
          <p:cNvSpPr/>
          <p:nvPr/>
        </p:nvSpPr>
        <p:spPr>
          <a:xfrm>
            <a:off x="1046892" y="3898551"/>
            <a:ext cx="10817591" cy="1892249"/>
          </a:xfrm>
          <a:prstGeom prst="rect">
            <a:avLst/>
          </a:prstGeom>
        </p:spPr>
        <p:txBody>
          <a:bodyPr wrap="square">
            <a:spAutoFit/>
          </a:bodyPr>
          <a:lstStyle/>
          <a:p>
            <a:pPr marL="285750" indent="-285750" algn="just">
              <a:lnSpc>
                <a:spcPct val="150000"/>
              </a:lnSpc>
              <a:buFont typeface="Wingdings" panose="05000000000000000000" pitchFamily="2" charset="2"/>
              <a:buChar char="l"/>
            </a:pP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经典</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N-gram</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算法</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采用</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Markov</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假设近似统计语言模型：序列中下一个单词出现的概率仅与有限的上文序列有关。</a:t>
            </a:r>
            <a:endParaRPr lang="en-US" altLang="zh-CN" sz="16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随着神经网络技术的兴起，</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神经网络语言模型（</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Neural Network Language Model</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NNLM</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于</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2003</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年</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被提出。循环神经网络（</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Recurrent Neural Network</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RNN</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）因其处理不同长度的输入序列，更好地捕捉到序列中的上下文信息和依赖关系的优势，成为语言模型的主流网络架构。随着具有高效并行计算能力和长程记忆能力的</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Transformer</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的兴起，</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Transformer</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逐渐代替循环神经网络作为语言模型建模的神经网络架构</a:t>
            </a:r>
            <a:endParaRPr lang="zh-CN" alt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919222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语</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言大模型的建模</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一、语言基础模型（大语言模型）</a:t>
            </a:r>
            <a:endParaRPr lang="zh-CN" altLang="en-US" sz="1600" dirty="0">
              <a:solidFill>
                <a:srgbClr val="000000"/>
              </a:solidFill>
              <a:latin typeface="Times New Roman" panose="02020603050405020304" pitchFamily="18" charset="0"/>
            </a:endParaRPr>
          </a:p>
        </p:txBody>
      </p:sp>
      <p:sp>
        <p:nvSpPr>
          <p:cNvPr id="2" name="矩形 1">
            <a:extLst>
              <a:ext uri="{FF2B5EF4-FFF2-40B4-BE49-F238E27FC236}">
                <a16:creationId xmlns:a16="http://schemas.microsoft.com/office/drawing/2014/main" id="{E951F6DE-EA1F-4D3A-809D-F4C65460B7B4}"/>
              </a:ext>
            </a:extLst>
          </p:cNvPr>
          <p:cNvSpPr/>
          <p:nvPr/>
        </p:nvSpPr>
        <p:spPr>
          <a:xfrm>
            <a:off x="177392" y="2245113"/>
            <a:ext cx="6012392" cy="2948243"/>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Transformer</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模块中（图</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10.2</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），每个单词均被表达为</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12288</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维内嵌词向量。在自然语言序列中，每个单词在其固定位置出现后，与其相邻单词一起来刻画上下文语义（</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in-context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Transformer</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还将每个单词在序列中出现的位置编码进入了内嵌向量。这样，每一个单词所对应的</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12288</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维内嵌向量从若干个维度刻画了单词与其他单词的上下文概率关联。</a:t>
            </a:r>
          </a:p>
        </p:txBody>
      </p:sp>
      <p:pic>
        <p:nvPicPr>
          <p:cNvPr id="7" name="图片 6">
            <a:extLst>
              <a:ext uri="{FF2B5EF4-FFF2-40B4-BE49-F238E27FC236}">
                <a16:creationId xmlns:a16="http://schemas.microsoft.com/office/drawing/2014/main" id="{E31D0210-5279-4F4D-9278-8E745B2B24CA}"/>
              </a:ext>
            </a:extLst>
          </p:cNvPr>
          <p:cNvPicPr>
            <a:picLocks noChangeAspect="1"/>
          </p:cNvPicPr>
          <p:nvPr/>
        </p:nvPicPr>
        <p:blipFill>
          <a:blip r:embed="rId3"/>
          <a:stretch>
            <a:fillRect/>
          </a:stretch>
        </p:blipFill>
        <p:spPr>
          <a:xfrm>
            <a:off x="6444169" y="1852579"/>
            <a:ext cx="5416905" cy="3756275"/>
          </a:xfrm>
          <a:prstGeom prst="rect">
            <a:avLst/>
          </a:prstGeom>
        </p:spPr>
      </p:pic>
    </p:spTree>
    <p:extLst>
      <p:ext uri="{BB962C8B-B14F-4D97-AF65-F5344CB8AC3E}">
        <p14:creationId xmlns:p14="http://schemas.microsoft.com/office/powerpoint/2010/main" val="1951085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不同类型语</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言大模型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一、语言基础模型（大语言模型）</a:t>
            </a:r>
            <a:endParaRPr lang="zh-CN" altLang="en-US" sz="1600" dirty="0">
              <a:solidFill>
                <a:srgbClr val="000000"/>
              </a:solidFill>
              <a:latin typeface="Times New Roman" panose="02020603050405020304" pitchFamily="18" charset="0"/>
            </a:endParaRPr>
          </a:p>
        </p:txBody>
      </p:sp>
      <p:sp>
        <p:nvSpPr>
          <p:cNvPr id="8" name="矩形 7">
            <a:extLst>
              <a:ext uri="{FF2B5EF4-FFF2-40B4-BE49-F238E27FC236}">
                <a16:creationId xmlns:a16="http://schemas.microsoft.com/office/drawing/2014/main" id="{F54573EA-DD0D-4BD9-9A96-690E270B418E}"/>
              </a:ext>
            </a:extLst>
          </p:cNvPr>
          <p:cNvSpPr/>
          <p:nvPr/>
        </p:nvSpPr>
        <p:spPr>
          <a:xfrm>
            <a:off x="1725636" y="1619348"/>
            <a:ext cx="8689145" cy="369332"/>
          </a:xfrm>
          <a:prstGeom prst="rect">
            <a:avLst/>
          </a:prstGeom>
        </p:spPr>
        <p:txBody>
          <a:bodyPr wrap="square">
            <a:spAutoFit/>
          </a:bodyPr>
          <a:lstStyle/>
          <a:p>
            <a:r>
              <a:rPr lang="zh-CN" altLang="zh-CN" dirty="0">
                <a:latin typeface="楷体" panose="02010609060101010101" pitchFamily="49" charset="-122"/>
                <a:ea typeface="楷体" panose="02010609060101010101" pitchFamily="49" charset="-122"/>
                <a:cs typeface="Times New Roman" panose="02020603050405020304" pitchFamily="18" charset="0"/>
              </a:rPr>
              <a:t>当前不同类别的语言模型的不同变种分为</a:t>
            </a:r>
            <a:r>
              <a:rPr lang="zh-CN" altLang="zh-CN" dirty="0">
                <a:solidFill>
                  <a:srgbClr val="FF0000"/>
                </a:solidFill>
                <a:latin typeface="楷体" panose="02010609060101010101" pitchFamily="49" charset="-122"/>
                <a:ea typeface="楷体" panose="02010609060101010101" pitchFamily="49" charset="-122"/>
                <a:cs typeface="Times New Roman" panose="02020603050405020304" pitchFamily="18" charset="0"/>
              </a:rPr>
              <a:t>编码模型、解码模型和编码</a:t>
            </a:r>
            <a:r>
              <a:rPr lang="en-US" altLang="zh-CN" dirty="0">
                <a:solidFill>
                  <a:srgbClr val="FF0000"/>
                </a:solidFill>
                <a:latin typeface="楷体" panose="02010609060101010101" pitchFamily="49" charset="-122"/>
                <a:ea typeface="楷体" panose="02010609060101010101" pitchFamily="49" charset="-122"/>
                <a:cs typeface="Times New Roman" panose="02020603050405020304" pitchFamily="18" charset="0"/>
              </a:rPr>
              <a:t>-</a:t>
            </a:r>
            <a:r>
              <a:rPr lang="zh-CN" altLang="zh-CN" dirty="0">
                <a:solidFill>
                  <a:srgbClr val="FF0000"/>
                </a:solidFill>
                <a:latin typeface="楷体" panose="02010609060101010101" pitchFamily="49" charset="-122"/>
                <a:ea typeface="楷体" panose="02010609060101010101" pitchFamily="49" charset="-122"/>
                <a:cs typeface="Times New Roman" panose="02020603050405020304" pitchFamily="18" charset="0"/>
              </a:rPr>
              <a:t>解码模型</a:t>
            </a:r>
            <a:endParaRPr lang="zh-CN" altLang="en-US" dirty="0">
              <a:solidFill>
                <a:srgbClr val="FF0000"/>
              </a:solidFill>
              <a:latin typeface="楷体" panose="02010609060101010101" pitchFamily="49" charset="-122"/>
              <a:ea typeface="楷体" panose="02010609060101010101" pitchFamily="49" charset="-122"/>
            </a:endParaRPr>
          </a:p>
        </p:txBody>
      </p:sp>
      <p:pic>
        <p:nvPicPr>
          <p:cNvPr id="9" name="图片 8">
            <a:extLst>
              <a:ext uri="{FF2B5EF4-FFF2-40B4-BE49-F238E27FC236}">
                <a16:creationId xmlns:a16="http://schemas.microsoft.com/office/drawing/2014/main" id="{E13ABB56-4ABE-47D4-81E5-9E6E02139441}"/>
              </a:ext>
            </a:extLst>
          </p:cNvPr>
          <p:cNvPicPr>
            <a:picLocks noChangeAspect="1"/>
          </p:cNvPicPr>
          <p:nvPr/>
        </p:nvPicPr>
        <p:blipFill>
          <a:blip r:embed="rId3"/>
          <a:stretch>
            <a:fillRect/>
          </a:stretch>
        </p:blipFill>
        <p:spPr>
          <a:xfrm>
            <a:off x="6428936" y="2195690"/>
            <a:ext cx="5430128" cy="4133535"/>
          </a:xfrm>
          <a:prstGeom prst="rect">
            <a:avLst/>
          </a:prstGeom>
        </p:spPr>
      </p:pic>
      <p:sp>
        <p:nvSpPr>
          <p:cNvPr id="10" name="矩形 9">
            <a:extLst>
              <a:ext uri="{FF2B5EF4-FFF2-40B4-BE49-F238E27FC236}">
                <a16:creationId xmlns:a16="http://schemas.microsoft.com/office/drawing/2014/main" id="{8C5991EE-F560-4C7D-B084-1B2D0F5A128E}"/>
              </a:ext>
            </a:extLst>
          </p:cNvPr>
          <p:cNvSpPr/>
          <p:nvPr/>
        </p:nvSpPr>
        <p:spPr>
          <a:xfrm>
            <a:off x="332936" y="3429000"/>
            <a:ext cx="6096000" cy="1200329"/>
          </a:xfrm>
          <a:prstGeom prst="rect">
            <a:avLst/>
          </a:prstGeom>
        </p:spPr>
        <p:txBody>
          <a:bodyPr>
            <a:spAutoFit/>
          </a:bodyPr>
          <a:lstStyle/>
          <a:p>
            <a:pPr algn="just"/>
            <a:r>
              <a:rPr lang="zh-CN"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编码模型（</a:t>
            </a:r>
            <a:r>
              <a:rPr lang="en-US"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encoder-only</a:t>
            </a:r>
            <a:r>
              <a:rPr lang="zh-CN"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，如</a:t>
            </a:r>
            <a:r>
              <a:rPr lang="en-US"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BERT</a:t>
            </a:r>
            <a:r>
              <a:rPr lang="zh-CN"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err="1">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RoBERTa</a:t>
            </a:r>
            <a:r>
              <a:rPr lang="zh-CN"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等）</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：编码模型使用掩码语言模型（</a:t>
            </a:r>
            <a:r>
              <a:rPr lang="en-US" altLang="zh-CN" dirty="0">
                <a:latin typeface="Times New Roman" panose="02020603050405020304" pitchFamily="18" charset="0"/>
                <a:ea typeface="楷体" panose="02010609060101010101" pitchFamily="49" charset="-122"/>
                <a:cs typeface="Times New Roman" panose="02020603050405020304" pitchFamily="18" charset="0"/>
              </a:rPr>
              <a:t>Masked Language Modelling</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MLM</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）作为预训练目标函数。</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202153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不同类型语</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言大模型</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：编码模型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一、语言基础模型（大语言模型）</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BB9A9CF-6A84-4AB5-BF11-13D4FC685563}"/>
                  </a:ext>
                </a:extLst>
              </p:cNvPr>
              <p:cNvSpPr/>
              <p:nvPr/>
            </p:nvSpPr>
            <p:spPr>
              <a:xfrm>
                <a:off x="385011" y="1662585"/>
                <a:ext cx="6414374" cy="4099135"/>
              </a:xfrm>
              <a:prstGeom prst="rect">
                <a:avLst/>
              </a:prstGeom>
            </p:spPr>
            <p:txBody>
              <a:bodyPr wrap="square">
                <a:spAutoFit/>
              </a:bodyPr>
              <a:lstStyle/>
              <a:p>
                <a:pPr indent="266700" algn="just">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具体地，编码模型通过如下目标函数进行预训练，其中</a:t>
                </a:r>
                <a14:m>
                  <m:oMath xmlns:m="http://schemas.openxmlformats.org/officeDocument/2006/math">
                    <m:r>
                      <a:rPr lang="en-US" altLang="zh-CN" sz="1400" i="1">
                        <a:solidFill>
                          <a:srgbClr val="000000"/>
                        </a:solidFill>
                        <a:effectLst/>
                        <a:latin typeface="Cambria Math" panose="02040503050406030204" pitchFamily="18" charset="0"/>
                        <a:ea typeface="楷体" panose="02010609060101010101" pitchFamily="49" charset="-122"/>
                        <a:cs typeface="Times New Roman" panose="02020603050405020304" pitchFamily="18" charset="0"/>
                      </a:rPr>
                      <m:t>𝜃</m:t>
                    </m:r>
                  </m:oMath>
                </a14:m>
                <a:r>
                  <a:rPr lang="zh-CN" altLang="zh-CN" sz="1400" dirty="0">
                    <a:solidFill>
                      <a:srgbClr val="000000"/>
                    </a:solidFill>
                    <a:effectLst/>
                    <a:latin typeface="Times New Roman" panose="02020603050405020304" pitchFamily="18" charset="0"/>
                    <a:ea typeface="楷体_GB2312"/>
                    <a:cs typeface="Times New Roman" panose="02020603050405020304" pitchFamily="18" charset="0"/>
                  </a:rPr>
                  <a:t>为需要优化的参数：</a:t>
                </a:r>
                <a:endParaRPr lang="en-US" altLang="zh-CN" sz="1400" dirty="0">
                  <a:solidFill>
                    <a:srgbClr val="000000"/>
                  </a:solidFill>
                  <a:effectLst/>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endParaRPr lang="en-US" altLang="zh-CN" sz="14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endParaRPr lang="zh-CN" altLang="zh-CN" sz="1400" dirty="0">
                  <a:solidFill>
                    <a:srgbClr val="000000"/>
                  </a:solidFill>
                  <a:effectLst/>
                  <a:latin typeface="Times New Roman" panose="02020603050405020304" pitchFamily="18" charset="0"/>
                  <a:ea typeface="楷体_GB2312"/>
                  <a:cs typeface="Times New Roman" panose="02020603050405020304" pitchFamily="18" charset="0"/>
                </a:endParaRPr>
              </a:p>
              <a:p>
                <a:pPr indent="127000" algn="just">
                  <a:lnSpc>
                    <a:spcPts val="1200"/>
                  </a:lnSpc>
                  <a:spcAft>
                    <a:spcPts val="0"/>
                  </a:spcAft>
                </a:pPr>
                <a14:m>
                  <m:oMathPara xmlns:m="http://schemas.openxmlformats.org/officeDocument/2006/math">
                    <m:oMathParaPr>
                      <m:jc m:val="centerGroup"/>
                    </m:oMathParaPr>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ℒ</m:t>
                          </m:r>
                        </m:e>
                        <m:sub>
                          <m:r>
                            <a:rPr lang="en-US" altLang="zh-CN" i="1">
                              <a:solidFill>
                                <a:srgbClr val="000000"/>
                              </a:solidFill>
                              <a:latin typeface="Cambria Math" panose="02040503050406030204" pitchFamily="18" charset="0"/>
                              <a:ea typeface="楷体_GB2312"/>
                              <a:cs typeface="Times New Roman" panose="02020603050405020304" pitchFamily="18" charset="0"/>
                            </a:rPr>
                            <m:t>𝐿𝑀</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effectLst/>
                          <a:latin typeface="Cambria Math" panose="02040503050406030204" pitchFamily="18" charset="0"/>
                          <a:ea typeface="楷体" panose="02010609060101010101" pitchFamily="49" charset="-122"/>
                          <a:cs typeface="Times New Roman" panose="02020603050405020304" pitchFamily="18" charset="0"/>
                        </a:rPr>
                        <m:t>𝜃</m:t>
                      </m:r>
                      <m:r>
                        <a:rPr lang="en-US" altLang="zh-CN" sz="1400" i="1">
                          <a:solidFill>
                            <a:srgbClr val="000000"/>
                          </a:solidFill>
                          <a:effectLst/>
                          <a:latin typeface="Cambria Math" panose="02040503050406030204" pitchFamily="18" charset="0"/>
                          <a:ea typeface="楷体" panose="02010609060101010101" pitchFamily="49" charset="-12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m:t>
                      </m:r>
                      <m:nary>
                        <m:nary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solidFill>
                                <a:srgbClr val="000000"/>
                              </a:solidFill>
                              <a:latin typeface="Cambria Math" panose="02040503050406030204" pitchFamily="18" charset="0"/>
                              <a:ea typeface="楷体_GB2312"/>
                              <a:cs typeface="Times New Roman" panose="02020603050405020304" pitchFamily="18" charset="0"/>
                            </a:rPr>
                            <m:t>𝑡</m:t>
                          </m:r>
                          <m:r>
                            <a:rPr lang="en-US" altLang="zh-CN">
                              <a:solidFill>
                                <a:srgbClr val="000000"/>
                              </a:solidFill>
                              <a:latin typeface="Cambria Math" panose="02040503050406030204" pitchFamily="18" charset="0"/>
                              <a:ea typeface="楷体_GB2312"/>
                              <a:cs typeface="Times New Roman" panose="02020603050405020304" pitchFamily="18" charset="0"/>
                            </a:rPr>
                            <m:t>=1</m:t>
                          </m:r>
                        </m:sub>
                        <m:sup>
                          <m:r>
                            <a:rPr lang="en-US" altLang="zh-CN" i="1">
                              <a:solidFill>
                                <a:srgbClr val="000000"/>
                              </a:solidFill>
                              <a:latin typeface="Cambria Math" panose="02040503050406030204" pitchFamily="18" charset="0"/>
                              <a:ea typeface="楷体_GB2312"/>
                              <a:cs typeface="Times New Roman" panose="02020603050405020304" pitchFamily="18" charset="0"/>
                            </a:rPr>
                            <m:t>𝑇</m:t>
                          </m:r>
                        </m:sup>
                        <m:e>
                          <m:r>
                            <a:rPr lang="en-US" altLang="zh-CN" i="1">
                              <a:solidFill>
                                <a:srgbClr val="000000"/>
                              </a:solidFill>
                              <a:latin typeface="Cambria Math" panose="02040503050406030204" pitchFamily="18" charset="0"/>
                              <a:ea typeface="楷体_GB2312"/>
                              <a:cs typeface="Times New Roman" panose="02020603050405020304" pitchFamily="18" charset="0"/>
                            </a:rPr>
                            <m:t>𝑙𝑜𝑔</m:t>
                          </m:r>
                          <m:r>
                            <a:rPr lang="en-US" altLang="zh-CN" i="1">
                              <a:solidFill>
                                <a:srgbClr val="000000"/>
                              </a:solidFill>
                              <a:latin typeface="Cambria Math" panose="02040503050406030204" pitchFamily="18" charset="0"/>
                              <a:ea typeface="楷体_GB2312"/>
                              <a:cs typeface="Times New Roman" panose="02020603050405020304" pitchFamily="18" charset="0"/>
                            </a:rPr>
                            <m:t> </m:t>
                          </m:r>
                          <m:r>
                            <a:rPr lang="en-US" altLang="zh-CN" i="1">
                              <a:solidFill>
                                <a:srgbClr val="000000"/>
                              </a:solidFill>
                              <a:latin typeface="Cambria Math" panose="02040503050406030204" pitchFamily="18" charset="0"/>
                              <a:ea typeface="楷体_GB2312"/>
                              <a:cs typeface="Times New Roman" panose="02020603050405020304" pitchFamily="18" charset="0"/>
                            </a:rPr>
                            <m:t>𝑃</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i="1">
                                      <a:solidFill>
                                        <a:srgbClr val="000000"/>
                                      </a:solidFill>
                                      <a:latin typeface="Cambria Math" panose="02040503050406030204" pitchFamily="18" charset="0"/>
                                      <a:ea typeface="楷体_GB2312"/>
                                      <a:cs typeface="Times New Roman" panose="02020603050405020304" pitchFamily="18" charset="0"/>
                                    </a:rPr>
                                    <m:t>𝑡</m:t>
                                  </m:r>
                                </m:sub>
                              </m:sSub>
                            </m:e>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𝑡</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effectLst/>
                                  <a:latin typeface="Cambria Math" panose="02040503050406030204" pitchFamily="18" charset="0"/>
                                  <a:ea typeface="楷体" panose="02010609060101010101" pitchFamily="49" charset="-122"/>
                                  <a:cs typeface="Times New Roman" panose="02020603050405020304" pitchFamily="18" charset="0"/>
                                </a:rPr>
                                <m:t>𝜃</m:t>
                              </m:r>
                            </m:e>
                          </m:d>
                        </m:e>
                      </m:nary>
                    </m:oMath>
                  </m:oMathPara>
                </a14:m>
                <a:endParaRPr lang="en-US" altLang="zh-CN" sz="1400" dirty="0">
                  <a:solidFill>
                    <a:srgbClr val="000000"/>
                  </a:solidFill>
                  <a:effectLst/>
                  <a:latin typeface="Times New Roman" panose="02020603050405020304" pitchFamily="18" charset="0"/>
                  <a:ea typeface="楷体_GB2312"/>
                  <a:cs typeface="Times New Roman" panose="02020603050405020304" pitchFamily="18" charset="0"/>
                </a:endParaRPr>
              </a:p>
              <a:p>
                <a:pPr indent="127000" algn="just">
                  <a:lnSpc>
                    <a:spcPts val="1200"/>
                  </a:lnSpc>
                  <a:spcAft>
                    <a:spcPts val="0"/>
                  </a:spcAft>
                </a:pPr>
                <a:endParaRPr lang="en-US" altLang="zh-CN" sz="1400" dirty="0">
                  <a:solidFill>
                    <a:srgbClr val="000000"/>
                  </a:solidFill>
                  <a:latin typeface="Times New Roman" panose="02020603050405020304" pitchFamily="18" charset="0"/>
                  <a:ea typeface="楷体_GB2312"/>
                  <a:cs typeface="Times New Roman" panose="02020603050405020304" pitchFamily="18" charset="0"/>
                </a:endParaRPr>
              </a:p>
              <a:p>
                <a:pPr indent="127000" algn="just">
                  <a:lnSpc>
                    <a:spcPct val="150000"/>
                  </a:lnSpc>
                  <a:spcAft>
                    <a:spcPts val="0"/>
                  </a:spcAft>
                </a:pPr>
                <a:endParaRPr lang="en-US" altLang="zh-CN" sz="1400" dirty="0">
                  <a:solidFill>
                    <a:srgbClr val="000000"/>
                  </a:solidFill>
                  <a:effectLst/>
                  <a:latin typeface="Times New Roman" panose="02020603050405020304" pitchFamily="18" charset="0"/>
                  <a:ea typeface="楷体_GB2312"/>
                  <a:cs typeface="Times New Roman" panose="02020603050405020304" pitchFamily="18" charset="0"/>
                </a:endParaRPr>
              </a:p>
              <a:p>
                <a:pPr indent="127000" algn="just">
                  <a:lnSpc>
                    <a:spcPct val="1500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sSub>
                      <m:sSub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sSubPr>
                      <m:e>
                        <m:r>
                          <m:rPr>
                            <m:sty m:val="p"/>
                          </m:rPr>
                          <a:rPr lang="en-US" altLang="zh-CN" sz="1400">
                            <a:solidFill>
                              <a:srgbClr val="000000"/>
                            </a:solidFill>
                            <a:latin typeface="Cambria Math" panose="02040503050406030204" pitchFamily="18" charset="0"/>
                            <a:ea typeface="楷体_GB2312"/>
                            <a:cs typeface="Times New Roman" panose="02020603050405020304" pitchFamily="18" charset="0"/>
                          </a:rPr>
                          <m:t>w</m:t>
                        </m:r>
                      </m:e>
                      <m:sub>
                        <m:r>
                          <a:rPr lang="en-US" altLang="zh-CN" sz="1400">
                            <a:solidFill>
                              <a:srgbClr val="000000"/>
                            </a:solidFill>
                            <a:latin typeface="Cambria Math" panose="02040503050406030204" pitchFamily="18" charset="0"/>
                            <a:ea typeface="楷体_GB2312"/>
                            <a:cs typeface="Times New Roman" panose="02020603050405020304" pitchFamily="18" charset="0"/>
                          </a:rPr>
                          <m:t>𝑡</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为当前模型需要预测的单词，</a:t>
                </a:r>
                <a14:m>
                  <m:oMath xmlns:m="http://schemas.openxmlformats.org/officeDocument/2006/math">
                    <m:sSub>
                      <m:sSub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sz="1400">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400">
                            <a:solidFill>
                              <a:srgbClr val="000000"/>
                            </a:solidFill>
                            <a:latin typeface="Cambria Math" panose="02040503050406030204" pitchFamily="18" charset="0"/>
                            <a:ea typeface="楷体_GB2312"/>
                            <a:cs typeface="Times New Roman" panose="02020603050405020304" pitchFamily="18" charset="0"/>
                          </a:rPr>
                          <m:t>\</m:t>
                        </m:r>
                        <m:r>
                          <a:rPr lang="en-US" altLang="zh-CN" sz="1400">
                            <a:solidFill>
                              <a:srgbClr val="000000"/>
                            </a:solidFill>
                            <a:latin typeface="Cambria Math" panose="02040503050406030204" pitchFamily="18" charset="0"/>
                            <a:ea typeface="楷体_GB2312"/>
                            <a:cs typeface="Times New Roman" panose="02020603050405020304" pitchFamily="18" charset="0"/>
                          </a:rPr>
                          <m:t>𝑡</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表示文本中第</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个单词被掩码后的文本</a:t>
                </a:r>
                <a:endParaRPr lang="en-US" altLang="zh-CN" sz="1400" dirty="0">
                  <a:solidFill>
                    <a:srgbClr val="000000"/>
                  </a:solidFill>
                  <a:latin typeface="Times New Roman" panose="02020603050405020304" pitchFamily="18" charset="0"/>
                  <a:ea typeface="楷体_GB2312"/>
                  <a:cs typeface="Times New Roman" panose="02020603050405020304" pitchFamily="18" charset="0"/>
                </a:endParaRPr>
              </a:p>
              <a:p>
                <a:pPr indent="127000" algn="just">
                  <a:lnSpc>
                    <a:spcPct val="150000"/>
                  </a:lnSpc>
                </a:pPr>
                <a:endParaRPr lang="en-US" altLang="zh-CN" sz="1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127000" algn="just">
                  <a:lnSpc>
                    <a:spcPct val="150000"/>
                  </a:lnSpc>
                </a:pP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缺点：</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MLM </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在预训练阶段学习预测被掩码的单词，而不是像自回归模型（如</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GPT</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）那样根据前面的单词生成下一个单词。因此，这可能导致基于</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MLM</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的编码模型生成的文本不够连贯。</a:t>
                </a:r>
              </a:p>
              <a:p>
                <a:pPr indent="127000" algn="just">
                  <a:lnSpc>
                    <a:spcPct val="150000"/>
                  </a:lnSpc>
                  <a:spcAft>
                    <a:spcPts val="0"/>
                  </a:spcAft>
                </a:pPr>
                <a:endParaRPr lang="zh-CN" altLang="zh-CN" sz="1400"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1BB9A9CF-6A84-4AB5-BF11-13D4FC685563}"/>
                  </a:ext>
                </a:extLst>
              </p:cNvPr>
              <p:cNvSpPr>
                <a:spLocks noRot="1" noChangeAspect="1" noMove="1" noResize="1" noEditPoints="1" noAdjustHandles="1" noChangeArrowheads="1" noChangeShapeType="1" noTextEdit="1"/>
              </p:cNvSpPr>
              <p:nvPr/>
            </p:nvSpPr>
            <p:spPr>
              <a:xfrm>
                <a:off x="385011" y="1662585"/>
                <a:ext cx="6414374" cy="4099135"/>
              </a:xfrm>
              <a:prstGeom prst="rect">
                <a:avLst/>
              </a:prstGeom>
              <a:blipFill>
                <a:blip r:embed="rId3"/>
                <a:stretch>
                  <a:fillRect l="-760" t="-11905" r="-4373"/>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09F0BC0B-B835-3715-D8D5-DDFAD180BCA3}"/>
              </a:ext>
            </a:extLst>
          </p:cNvPr>
          <p:cNvPicPr>
            <a:picLocks noChangeAspect="1"/>
          </p:cNvPicPr>
          <p:nvPr/>
        </p:nvPicPr>
        <p:blipFill>
          <a:blip r:embed="rId4"/>
          <a:stretch>
            <a:fillRect/>
          </a:stretch>
        </p:blipFill>
        <p:spPr>
          <a:xfrm>
            <a:off x="6881323" y="1878056"/>
            <a:ext cx="5430128" cy="4133535"/>
          </a:xfrm>
          <a:prstGeom prst="rect">
            <a:avLst/>
          </a:prstGeom>
        </p:spPr>
      </p:pic>
    </p:spTree>
    <p:extLst>
      <p:ext uri="{BB962C8B-B14F-4D97-AF65-F5344CB8AC3E}">
        <p14:creationId xmlns:p14="http://schemas.microsoft.com/office/powerpoint/2010/main" val="3906601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不同类型语</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言大模型</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：解码模型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一、语言基础模型（大语言模型）</a:t>
            </a:r>
            <a:endParaRPr lang="zh-CN" altLang="en-US" sz="1600" dirty="0">
              <a:solidFill>
                <a:srgbClr val="000000"/>
              </a:solidFill>
              <a:latin typeface="Times New Roman" panose="02020603050405020304" pitchFamily="18" charset="0"/>
            </a:endParaRPr>
          </a:p>
        </p:txBody>
      </p:sp>
      <p:pic>
        <p:nvPicPr>
          <p:cNvPr id="9" name="图片 8">
            <a:extLst>
              <a:ext uri="{FF2B5EF4-FFF2-40B4-BE49-F238E27FC236}">
                <a16:creationId xmlns:a16="http://schemas.microsoft.com/office/drawing/2014/main" id="{E13ABB56-4ABE-47D4-81E5-9E6E02139441}"/>
              </a:ext>
            </a:extLst>
          </p:cNvPr>
          <p:cNvPicPr>
            <a:picLocks noChangeAspect="1"/>
          </p:cNvPicPr>
          <p:nvPr/>
        </p:nvPicPr>
        <p:blipFill>
          <a:blip r:embed="rId3"/>
          <a:stretch>
            <a:fillRect/>
          </a:stretch>
        </p:blipFill>
        <p:spPr>
          <a:xfrm>
            <a:off x="6946972" y="1681774"/>
            <a:ext cx="5245028" cy="3992633"/>
          </a:xfrm>
          <a:prstGeom prst="rect">
            <a:avLst/>
          </a:prstGeom>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991B2C12-6F6B-4250-BA73-D362DB56CEF5}"/>
                  </a:ext>
                </a:extLst>
              </p:cNvPr>
              <p:cNvSpPr/>
              <p:nvPr/>
            </p:nvSpPr>
            <p:spPr>
              <a:xfrm>
                <a:off x="276664" y="1634038"/>
                <a:ext cx="6705600" cy="4088107"/>
              </a:xfrm>
              <a:prstGeom prst="rect">
                <a:avLst/>
              </a:prstGeom>
            </p:spPr>
            <p:txBody>
              <a:bodyPr wrap="square">
                <a:spAutoFit/>
              </a:bodyPr>
              <a:lstStyle/>
              <a:p>
                <a:pPr indent="266700" algn="just">
                  <a:lnSpc>
                    <a:spcPct val="150000"/>
                  </a:lnSpc>
                  <a:spcAft>
                    <a:spcPts val="0"/>
                  </a:spcAft>
                </a:pPr>
                <a:r>
                  <a:rPr lang="zh-CN"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解码模型（</a:t>
                </a:r>
                <a:r>
                  <a:rPr lang="en-US"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decoder-only</a:t>
                </a:r>
                <a:r>
                  <a:rPr lang="zh-CN"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，如</a:t>
                </a:r>
                <a:r>
                  <a:rPr lang="en-US"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GPT-2</a:t>
                </a:r>
                <a:r>
                  <a:rPr lang="zh-CN"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GPT-3</a:t>
                </a:r>
                <a:r>
                  <a:rPr lang="zh-CN"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等）</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解码</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模型根据如下目标函数进行预训练，其中</a:t>
                </a:r>
                <a14:m>
                  <m:oMath xmlns:m="http://schemas.openxmlformats.org/officeDocument/2006/math">
                    <m:r>
                      <a:rPr lang="en-US"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𝜃</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为需要优化的参数：</a:t>
                </a:r>
              </a:p>
              <a:p>
                <a:pPr indent="1270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ℒ</m:t>
                          </m:r>
                        </m:e>
                        <m:sub>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𝐿𝑀</m:t>
                          </m:r>
                        </m:sub>
                      </m:sSub>
                      <m:r>
                        <a:rPr lang="en-US" altLang="zh-CN" sz="1600">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𝜃</m:t>
                      </m:r>
                      <m:r>
                        <a:rPr lang="en-US"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𝑥</m:t>
                      </m:r>
                      <m:r>
                        <a:rPr lang="en-US" altLang="zh-CN" sz="1600">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nary>
                        <m:naryPr>
                          <m:chr m:val="∑"/>
                          <m:ctrlPr>
                            <a:rPr lang="zh-CN" altLang="zh-CN" sz="1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𝑡</m:t>
                          </m:r>
                          <m:r>
                            <a:rPr lang="en-US" altLang="zh-CN" sz="1600">
                              <a:solidFill>
                                <a:srgbClr val="000000"/>
                              </a:solidFill>
                              <a:effectLst/>
                              <a:latin typeface="Cambria Math" panose="02040503050406030204" pitchFamily="18" charset="0"/>
                              <a:ea typeface="楷体_GB2312"/>
                              <a:cs typeface="Times New Roman" panose="02020603050405020304" pitchFamily="18" charset="0"/>
                            </a:rPr>
                            <m:t>=1</m:t>
                          </m:r>
                        </m:sub>
                        <m:sup>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𝑇</m:t>
                          </m:r>
                        </m:sup>
                        <m:e>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𝑙𝑜𝑔</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 </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𝑃</m:t>
                          </m:r>
                          <m:d>
                            <m:dPr>
                              <m:ctrlPr>
                                <a:rPr lang="zh-CN" altLang="zh-CN" sz="1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𝑡</m:t>
                                  </m:r>
                                </m:sub>
                              </m:sSub>
                            </m:e>
                            <m:e>
                              <m:sSub>
                                <m:sSubPr>
                                  <m:ctrlPr>
                                    <a:rPr lang="zh-CN" altLang="zh-CN" sz="1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𝑥</m:t>
                                  </m:r>
                                </m:e>
                                <m:sub>
                                  <m:r>
                                    <a:rPr lang="en-US" altLang="zh-CN" sz="1600">
                                      <a:solidFill>
                                        <a:srgbClr val="000000"/>
                                      </a:solidFill>
                                      <a:effectLst/>
                                      <a:latin typeface="Cambria Math" panose="02040503050406030204" pitchFamily="18" charset="0"/>
                                      <a:ea typeface="楷体_GB2312"/>
                                      <a:cs typeface="Times New Roman" panose="02020603050405020304" pitchFamily="18" charset="0"/>
                                    </a:rPr>
                                    <m:t>&lt;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𝑡</m:t>
                                  </m:r>
                                </m:sub>
                              </m:sSub>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𝜃</m:t>
                              </m:r>
                            </m:e>
                          </m:d>
                        </m:e>
                      </m:nary>
                    </m:oMath>
                  </m:oMathPara>
                </a14:m>
                <a:endParaRPr lang="zh-CN" altLang="zh-CN" sz="16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其中，</a:t>
                </a:r>
                <a:r>
                  <a:rPr lang="en-SG" altLang="zh-CN" sz="1600" i="1" dirty="0">
                    <a:solidFill>
                      <a:srgbClr val="000000"/>
                    </a:solidFill>
                    <a:latin typeface="Times New Roman" panose="02020603050405020304" pitchFamily="18" charset="0"/>
                    <a:ea typeface="楷体_GB2312"/>
                    <a:cs typeface="Times New Roman" panose="02020603050405020304" pitchFamily="18" charset="0"/>
                  </a:rPr>
                  <a:t>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为文本</a:t>
                </a:r>
                <a14:m>
                  <m:oMath xmlns:m="http://schemas.openxmlformats.org/officeDocument/2006/math">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𝑥</m:t>
                    </m:r>
                  </m:oMath>
                </a14:m>
                <a:r>
                  <a:rPr lang="zh-CN" altLang="zh-CN" sz="1600" dirty="0">
                    <a:solidFill>
                      <a:srgbClr val="000000"/>
                    </a:solidFill>
                    <a:effectLst/>
                    <a:latin typeface="Times New Roman" panose="02020603050405020304" pitchFamily="18" charset="0"/>
                    <a:ea typeface="楷体_GB2312"/>
                    <a:cs typeface="Times New Roman" panose="02020603050405020304" pitchFamily="18" charset="0"/>
                  </a:rPr>
                  <a:t>的</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长度，</a:t>
                </a:r>
                <a14:m>
                  <m:oMath xmlns:m="http://schemas.openxmlformats.org/officeDocument/2006/math">
                    <m:sSub>
                      <m:sSubPr>
                        <m:ctrlPr>
                          <a:rPr lang="zh-CN" altLang="zh-CN" sz="1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𝑥</m:t>
                        </m:r>
                      </m:e>
                      <m:sub>
                        <m:r>
                          <a:rPr lang="en-US" altLang="zh-CN" sz="1600">
                            <a:solidFill>
                              <a:srgbClr val="000000"/>
                            </a:solidFill>
                            <a:effectLst/>
                            <a:latin typeface="Cambria Math" panose="02040503050406030204" pitchFamily="18" charset="0"/>
                            <a:ea typeface="楷体_GB2312"/>
                            <a:cs typeface="Times New Roman" panose="02020603050405020304" pitchFamily="18" charset="0"/>
                          </a:rPr>
                          <m:t>&lt;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𝑡</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表示前词序列，</a:t>
                </a:r>
                <a14:m>
                  <m:oMath xmlns:m="http://schemas.openxmlformats.org/officeDocument/2006/math">
                    <m:sSub>
                      <m:sSubPr>
                        <m:ctrlPr>
                          <a:rPr lang="zh-CN" altLang="zh-CN" sz="1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𝑡</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为当前模型需要预测的单词。基于自回归语言模型的解码模型在生成下一个单词时只考虑左侧上下文。</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zh-CN" altLang="en-US" sz="1600" dirty="0">
                    <a:solidFill>
                      <a:srgbClr val="FF0000"/>
                    </a:solidFill>
                    <a:latin typeface="Times New Roman" panose="02020603050405020304" pitchFamily="18" charset="0"/>
                    <a:ea typeface="楷体_GB2312"/>
                    <a:cs typeface="Times New Roman" panose="02020603050405020304" pitchFamily="18" charset="0"/>
                  </a:rPr>
                  <a:t>缺点：</a:t>
                </a:r>
                <a:r>
                  <a:rPr lang="zh-CN" altLang="zh-CN" sz="1600" dirty="0">
                    <a:solidFill>
                      <a:srgbClr val="FF0000"/>
                    </a:solidFill>
                    <a:latin typeface="Times New Roman" panose="02020603050405020304" pitchFamily="18" charset="0"/>
                    <a:ea typeface="楷体_GB2312"/>
                    <a:cs typeface="Times New Roman" panose="02020603050405020304" pitchFamily="18" charset="0"/>
                  </a:rPr>
                  <a:t>这种单向上下文捕获限制了模型在某些需要双向上下文信息的任务中的性能。</a:t>
                </a:r>
              </a:p>
            </p:txBody>
          </p:sp>
        </mc:Choice>
        <mc:Fallback xmlns="">
          <p:sp>
            <p:nvSpPr>
              <p:cNvPr id="7" name="矩形 6">
                <a:extLst>
                  <a:ext uri="{FF2B5EF4-FFF2-40B4-BE49-F238E27FC236}">
                    <a16:creationId xmlns:a16="http://schemas.microsoft.com/office/drawing/2014/main" id="{991B2C12-6F6B-4250-BA73-D362DB56CEF5}"/>
                  </a:ext>
                </a:extLst>
              </p:cNvPr>
              <p:cNvSpPr>
                <a:spLocks noRot="1" noChangeAspect="1" noMove="1" noResize="1" noEditPoints="1" noAdjustHandles="1" noChangeArrowheads="1" noChangeShapeType="1" noTextEdit="1"/>
              </p:cNvSpPr>
              <p:nvPr/>
            </p:nvSpPr>
            <p:spPr>
              <a:xfrm>
                <a:off x="276664" y="1634038"/>
                <a:ext cx="6705600" cy="4088107"/>
              </a:xfrm>
              <a:prstGeom prst="rect">
                <a:avLst/>
              </a:prstGeom>
              <a:blipFill>
                <a:blip r:embed="rId4"/>
                <a:stretch>
                  <a:fillRect l="-455" r="-545" b="-89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14968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不同类型语</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言大模型</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：编码</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解码模型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一、语言基础模型（大语言模型）</a:t>
            </a:r>
            <a:endParaRPr lang="zh-CN" altLang="en-US" sz="1600" dirty="0">
              <a:solidFill>
                <a:srgbClr val="000000"/>
              </a:solidFill>
              <a:latin typeface="Times New Roman" panose="02020603050405020304" pitchFamily="18" charset="0"/>
            </a:endParaRPr>
          </a:p>
        </p:txBody>
      </p:sp>
      <p:pic>
        <p:nvPicPr>
          <p:cNvPr id="9" name="图片 8">
            <a:extLst>
              <a:ext uri="{FF2B5EF4-FFF2-40B4-BE49-F238E27FC236}">
                <a16:creationId xmlns:a16="http://schemas.microsoft.com/office/drawing/2014/main" id="{E13ABB56-4ABE-47D4-81E5-9E6E02139441}"/>
              </a:ext>
            </a:extLst>
          </p:cNvPr>
          <p:cNvPicPr>
            <a:picLocks noChangeAspect="1"/>
          </p:cNvPicPr>
          <p:nvPr/>
        </p:nvPicPr>
        <p:blipFill>
          <a:blip r:embed="rId3"/>
          <a:stretch>
            <a:fillRect/>
          </a:stretch>
        </p:blipFill>
        <p:spPr>
          <a:xfrm>
            <a:off x="6438312" y="1449743"/>
            <a:ext cx="5753687" cy="4379836"/>
          </a:xfrm>
          <a:prstGeom prst="rect">
            <a:avLst/>
          </a:prstGeom>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C0F5DCCF-D399-4615-96CD-D9B628651146}"/>
                  </a:ext>
                </a:extLst>
              </p:cNvPr>
              <p:cNvSpPr/>
              <p:nvPr/>
            </p:nvSpPr>
            <p:spPr>
              <a:xfrm>
                <a:off x="342313" y="1691182"/>
                <a:ext cx="6096000" cy="3378041"/>
              </a:xfrm>
              <a:prstGeom prst="rect">
                <a:avLst/>
              </a:prstGeom>
            </p:spPr>
            <p:txBody>
              <a:bodyPr>
                <a:spAutoFit/>
              </a:bodyPr>
              <a:lstStyle/>
              <a:p>
                <a:pPr indent="266700" algn="just">
                  <a:lnSpc>
                    <a:spcPct val="150000"/>
                  </a:lnSpc>
                  <a:spcAft>
                    <a:spcPts val="0"/>
                  </a:spcAft>
                </a:pPr>
                <a:r>
                  <a:rPr lang="zh-CN"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编码</a:t>
                </a:r>
                <a:r>
                  <a:rPr lang="en-US"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解码模型（</a:t>
                </a:r>
                <a:r>
                  <a:rPr lang="en-US"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encoder- decoder</a:t>
                </a:r>
                <a:r>
                  <a:rPr lang="zh-CN"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，如</a:t>
                </a:r>
                <a:r>
                  <a:rPr lang="en-US"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BART</a:t>
                </a:r>
                <a:r>
                  <a:rPr lang="zh-CN"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T5</a:t>
                </a:r>
                <a:r>
                  <a:rPr lang="zh-CN"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等）</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：为了使预训练语言模型可同时完成自然语言理解和生成任务，解编码型预训练语言模型被提出。其训练目标一般可用如下公式表示，其中</a:t>
                </a:r>
                <a14:m>
                  <m:oMath xmlns:m="http://schemas.openxmlformats.org/officeDocument/2006/math">
                    <m:r>
                      <a:rPr lang="en-US"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𝜃</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为需要优化的参数：</a:t>
                </a:r>
              </a:p>
              <a:p>
                <a:pPr indent="3048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ℒ</m:t>
                          </m:r>
                        </m:e>
                        <m:sub>
                          <m:r>
                            <m:rPr>
                              <m:nor/>
                            </m:rPr>
                            <a:rPr lang="en-SG" altLang="zh-CN" sz="1600">
                              <a:solidFill>
                                <a:srgbClr val="000000"/>
                              </a:solidFill>
                              <a:effectLst/>
                              <a:latin typeface="Cambria Math" panose="02040503050406030204" pitchFamily="18" charset="0"/>
                              <a:ea typeface="楷体_GB2312"/>
                              <a:cs typeface="Times New Roman" panose="02020603050405020304" pitchFamily="18" charset="0"/>
                            </a:rPr>
                            <m:t>LM</m:t>
                          </m:r>
                        </m:sub>
                      </m:sSub>
                      <m:r>
                        <a:rPr lang="en-US" altLang="zh-CN" sz="1600">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𝜃</m:t>
                      </m:r>
                      <m:r>
                        <a:rPr lang="en-US"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𝑥</m:t>
                      </m:r>
                      <m:r>
                        <a:rPr lang="en-US" altLang="zh-CN" sz="1600">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nary>
                        <m:naryPr>
                          <m:chr m:val="∑"/>
                          <m:ctrlPr>
                            <a:rPr lang="zh-CN" altLang="zh-CN" sz="1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𝑡</m:t>
                          </m:r>
                          <m:r>
                            <a:rPr lang="en-US" altLang="zh-CN" sz="1600">
                              <a:solidFill>
                                <a:srgbClr val="000000"/>
                              </a:solidFill>
                              <a:effectLst/>
                              <a:latin typeface="Cambria Math" panose="02040503050406030204" pitchFamily="18" charset="0"/>
                              <a:ea typeface="楷体_GB2312"/>
                              <a:cs typeface="Times New Roman" panose="02020603050405020304" pitchFamily="18" charset="0"/>
                            </a:rPr>
                            <m:t>=1</m:t>
                          </m:r>
                        </m:sub>
                        <m:sup>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𝑢</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𝑣</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sup>
                        <m:e>
                          <m:r>
                            <m:rPr>
                              <m:nor/>
                            </m:rPr>
                            <a:rPr lang="en-US" altLang="zh-CN" sz="1600">
                              <a:solidFill>
                                <a:srgbClr val="000000"/>
                              </a:solidFill>
                              <a:effectLst/>
                              <a:latin typeface="Times New Roman" panose="02020603050405020304" pitchFamily="18" charset="0"/>
                              <a:ea typeface="楷体_GB2312"/>
                              <a:cs typeface="Times New Roman" panose="02020603050405020304" pitchFamily="18" charset="0"/>
                            </a:rPr>
                            <m:t>log</m:t>
                          </m:r>
                          <m:r>
                            <m:rPr>
                              <m:nor/>
                            </m:rPr>
                            <a:rPr lang="en-US" altLang="zh-CN" sz="1600">
                              <a:solidFill>
                                <a:srgbClr val="000000"/>
                              </a:solidFill>
                              <a:effectLst/>
                              <a:latin typeface="Cambria Math" panose="02040503050406030204" pitchFamily="18" charset="0"/>
                              <a:ea typeface="楷体_GB2312"/>
                              <a:cs typeface="Times New Roman" panose="02020603050405020304" pitchFamily="18" charset="0"/>
                            </a:rPr>
                            <m:t> </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𝑃</m:t>
                          </m:r>
                          <m:d>
                            <m:dPr>
                              <m:ctrlPr>
                                <a:rPr lang="zh-CN" altLang="zh-CN" sz="1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𝑡</m:t>
                                  </m:r>
                                </m:sub>
                              </m:sSub>
                            </m:e>
                            <m:e>
                              <m:sSubSup>
                                <m:sSubSupPr>
                                  <m:ctrlPr>
                                    <a:rPr lang="zh-CN" altLang="zh-CN" sz="1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&lt;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𝑡</m:t>
                                  </m:r>
                                </m:sub>
                                <m:sup>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𝑢</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𝑣</m:t>
                                  </m:r>
                                </m:sup>
                              </m:sSubSup>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sSup>
                                <m:sSupPr>
                                  <m:ctrlPr>
                                    <a:rPr lang="zh-CN" altLang="zh-CN" sz="1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𝑥</m:t>
                                  </m:r>
                                </m:e>
                                <m:sup>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𝑢</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𝑣</m:t>
                                  </m:r>
                                </m:sup>
                              </m:sSup>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𝜃</m:t>
                              </m:r>
                            </m:e>
                          </m:d>
                        </m:e>
                      </m:nary>
                    </m:oMath>
                  </m:oMathPara>
                </a14:m>
                <a:endParaRPr lang="zh-CN" altLang="zh-CN" sz="16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sSup>
                      <m:sSupPr>
                        <m:ctrlPr>
                          <a:rPr lang="zh-CN" altLang="zh-CN" sz="1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𝑥</m:t>
                        </m:r>
                      </m:e>
                      <m:sup>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𝑢</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𝑣</m:t>
                        </m:r>
                      </m:sup>
                    </m:s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表示被破坏的文本，</a:t>
                </a:r>
                <a14:m>
                  <m:oMath xmlns:m="http://schemas.openxmlformats.org/officeDocument/2006/math">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𝑢</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𝑣</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为需要重建的文本长度，</a:t>
                </a:r>
                <a14:m>
                  <m:oMath xmlns:m="http://schemas.openxmlformats.org/officeDocument/2006/math">
                    <m:sSub>
                      <m:sSubPr>
                        <m:ctrlPr>
                          <a:rPr lang="zh-CN" altLang="zh-CN" sz="16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𝑡</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为当前模型需要预测的单词。</a:t>
                </a:r>
              </a:p>
            </p:txBody>
          </p:sp>
        </mc:Choice>
        <mc:Fallback xmlns="">
          <p:sp>
            <p:nvSpPr>
              <p:cNvPr id="2" name="矩形 1">
                <a:extLst>
                  <a:ext uri="{FF2B5EF4-FFF2-40B4-BE49-F238E27FC236}">
                    <a16:creationId xmlns:a16="http://schemas.microsoft.com/office/drawing/2014/main" id="{C0F5DCCF-D399-4615-96CD-D9B628651146}"/>
                  </a:ext>
                </a:extLst>
              </p:cNvPr>
              <p:cNvSpPr>
                <a:spLocks noRot="1" noChangeAspect="1" noMove="1" noResize="1" noEditPoints="1" noAdjustHandles="1" noChangeArrowheads="1" noChangeShapeType="1" noTextEdit="1"/>
              </p:cNvSpPr>
              <p:nvPr/>
            </p:nvSpPr>
            <p:spPr>
              <a:xfrm>
                <a:off x="342313" y="1691182"/>
                <a:ext cx="6096000" cy="3378041"/>
              </a:xfrm>
              <a:prstGeom prst="rect">
                <a:avLst/>
              </a:prstGeom>
              <a:blipFill>
                <a:blip r:embed="rId4"/>
                <a:stretch>
                  <a:fillRect l="-500" r="-4000" b="-12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81500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语</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言大模型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一、语言基础模型（大语言模型）</a:t>
            </a:r>
            <a:endParaRPr lang="zh-CN" altLang="en-US" sz="1600" dirty="0">
              <a:solidFill>
                <a:srgbClr val="000000"/>
              </a:solidFill>
              <a:latin typeface="Times New Roman" panose="02020603050405020304" pitchFamily="18" charset="0"/>
            </a:endParaRPr>
          </a:p>
        </p:txBody>
      </p:sp>
      <p:sp>
        <p:nvSpPr>
          <p:cNvPr id="8" name="矩形 7">
            <a:extLst>
              <a:ext uri="{FF2B5EF4-FFF2-40B4-BE49-F238E27FC236}">
                <a16:creationId xmlns:a16="http://schemas.microsoft.com/office/drawing/2014/main" id="{355E3CD7-A096-46F1-9201-13E9CD72F1E3}"/>
              </a:ext>
            </a:extLst>
          </p:cNvPr>
          <p:cNvSpPr/>
          <p:nvPr/>
        </p:nvSpPr>
        <p:spPr>
          <a:xfrm>
            <a:off x="545678" y="1198959"/>
            <a:ext cx="11476276" cy="1502976"/>
          </a:xfrm>
          <a:prstGeom prst="rect">
            <a:avLst/>
          </a:prstGeom>
        </p:spPr>
        <p:txBody>
          <a:bodyPr wrap="square">
            <a:spAutoFit/>
          </a:bodyPr>
          <a:lstStyle/>
          <a:p>
            <a:pPr indent="266700" algn="just">
              <a:lnSpc>
                <a:spcPts val="2200"/>
              </a:lnSpc>
              <a:spcAft>
                <a:spcPts val="0"/>
              </a:spcAft>
            </a:pPr>
            <a:r>
              <a:rPr lang="zh-CN"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基于</a:t>
            </a:r>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Transformer</a:t>
            </a:r>
            <a:r>
              <a:rPr lang="zh-CN"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网络的语言大模型往往包含两个主要模块：（多头）注意力模块以及前馈神经网络模块。</a:t>
            </a:r>
            <a:endPar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lnSpc>
                <a:spcPts val="2200"/>
              </a:lnSpc>
              <a:spcAft>
                <a:spcPts val="0"/>
              </a:spcAft>
              <a:buFont typeface="Arial" panose="020B0604020202020204" pitchFamily="34" charset="0"/>
              <a:buChar char="•"/>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注意力模块</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的</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参数约占模型总参数</a:t>
            </a: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30%</a:t>
            </a: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左右</a:t>
            </a:r>
            <a:endPar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lnSpc>
                <a:spcPts val="2200"/>
              </a:lnSpc>
              <a:spcAft>
                <a:spcPts val="0"/>
              </a:spcAft>
              <a:buFont typeface="Arial" panose="020B0604020202020204" pitchFamily="34" charset="0"/>
              <a:buChar char="•"/>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前馈神经</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模块的</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参数约占模型总参数的</a:t>
            </a:r>
            <a:r>
              <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60%</a:t>
            </a: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左右</a:t>
            </a:r>
            <a:endPar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marL="742950" lvl="1" indent="-285750" algn="just">
              <a:lnSpc>
                <a:spcPts val="2200"/>
              </a:lnSpc>
              <a:buFont typeface="Arial" panose="020B0604020202020204" pitchFamily="34" charset="0"/>
              <a:buChar char="•"/>
            </a:pP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MoE</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混合专家模型（</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Mixture of Experts</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）（平衡“大参数规模”与“低算力消耗”的关键技术）</a:t>
            </a:r>
            <a:endParaRPr lang="zh-CN"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1" name="图片 10">
            <a:extLst>
              <a:ext uri="{FF2B5EF4-FFF2-40B4-BE49-F238E27FC236}">
                <a16:creationId xmlns:a16="http://schemas.microsoft.com/office/drawing/2014/main" id="{6D109CE9-8121-8F1D-DE46-3B04E41D9CE6}"/>
              </a:ext>
            </a:extLst>
          </p:cNvPr>
          <p:cNvPicPr>
            <a:picLocks noChangeAspect="1"/>
          </p:cNvPicPr>
          <p:nvPr/>
        </p:nvPicPr>
        <p:blipFill>
          <a:blip r:embed="rId3"/>
          <a:stretch>
            <a:fillRect/>
          </a:stretch>
        </p:blipFill>
        <p:spPr>
          <a:xfrm>
            <a:off x="1809029" y="2655943"/>
            <a:ext cx="8573941" cy="4156598"/>
          </a:xfrm>
          <a:prstGeom prst="rect">
            <a:avLst/>
          </a:prstGeom>
        </p:spPr>
      </p:pic>
    </p:spTree>
    <p:extLst>
      <p:ext uri="{BB962C8B-B14F-4D97-AF65-F5344CB8AC3E}">
        <p14:creationId xmlns:p14="http://schemas.microsoft.com/office/powerpoint/2010/main" val="724543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D108393-1185-5364-A744-9299172F6ABF}"/>
              </a:ext>
            </a:extLst>
          </p:cNvPr>
          <p:cNvPicPr>
            <a:picLocks noChangeAspect="1"/>
          </p:cNvPicPr>
          <p:nvPr/>
        </p:nvPicPr>
        <p:blipFill>
          <a:blip r:embed="rId2"/>
          <a:stretch>
            <a:fillRect/>
          </a:stretch>
        </p:blipFill>
        <p:spPr>
          <a:xfrm>
            <a:off x="2258576" y="222584"/>
            <a:ext cx="7797572" cy="3975233"/>
          </a:xfrm>
          <a:prstGeom prst="rect">
            <a:avLst/>
          </a:prstGeom>
        </p:spPr>
      </p:pic>
      <p:pic>
        <p:nvPicPr>
          <p:cNvPr id="9" name="图片 8">
            <a:extLst>
              <a:ext uri="{FF2B5EF4-FFF2-40B4-BE49-F238E27FC236}">
                <a16:creationId xmlns:a16="http://schemas.microsoft.com/office/drawing/2014/main" id="{B4647701-4142-C799-DDE5-08E02B01B76A}"/>
              </a:ext>
            </a:extLst>
          </p:cNvPr>
          <p:cNvPicPr>
            <a:picLocks noChangeAspect="1"/>
          </p:cNvPicPr>
          <p:nvPr/>
        </p:nvPicPr>
        <p:blipFill>
          <a:blip r:embed="rId3"/>
          <a:stretch>
            <a:fillRect/>
          </a:stretch>
        </p:blipFill>
        <p:spPr>
          <a:xfrm>
            <a:off x="3264162" y="4284445"/>
            <a:ext cx="5663675" cy="2066723"/>
          </a:xfrm>
          <a:prstGeom prst="rect">
            <a:avLst/>
          </a:prstGeom>
        </p:spPr>
      </p:pic>
    </p:spTree>
    <p:extLst>
      <p:ext uri="{BB962C8B-B14F-4D97-AF65-F5344CB8AC3E}">
        <p14:creationId xmlns:p14="http://schemas.microsoft.com/office/powerpoint/2010/main" val="2605597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语</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言大模型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一、语言基础模型（大语言模型）</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0986E5E1-1FA8-4511-B3D9-9DA42321F875}"/>
                  </a:ext>
                </a:extLst>
              </p:cNvPr>
              <p:cNvSpPr/>
              <p:nvPr/>
            </p:nvSpPr>
            <p:spPr>
              <a:xfrm>
                <a:off x="465430" y="1850138"/>
                <a:ext cx="6548387" cy="3740768"/>
              </a:xfrm>
              <a:prstGeom prst="rect">
                <a:avLst/>
              </a:prstGeom>
            </p:spPr>
            <p:txBody>
              <a:bodyPr wrap="square">
                <a:spAutoFit/>
              </a:bodyPr>
              <a:lstStyle/>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10.5</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给出了由四个单词组成的句子</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项庄舞剑、意在沛公</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被</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Transformer</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处理的示意图。首先生成每个单词的内嵌向量（包含了单词在句子中位置编码向量信息），记为</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1≤</m:t>
                        </m:r>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i="1">
                            <a:solidFill>
                              <a:srgbClr val="000000"/>
                            </a:solidFill>
                            <a:latin typeface="Cambria Math" panose="02040503050406030204" pitchFamily="18" charset="0"/>
                            <a:ea typeface="楷体_GB2312"/>
                            <a:cs typeface="Times New Roman" panose="02020603050405020304" pitchFamily="18" charset="0"/>
                          </a:rPr>
                          <m:t>≤4</m:t>
                        </m:r>
                      </m:e>
                    </m:d>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接着如下计算每个单词</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的查询向量（</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query</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）、键向量</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(key)</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和值向量</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(value)</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endPar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查询向量：</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𝑊</m:t>
                        </m:r>
                      </m:e>
                      <m:sub>
                        <m:r>
                          <m:rPr>
                            <m:sty m:val="p"/>
                          </m:rPr>
                          <a:rPr lang="en-US" altLang="zh-CN">
                            <a:solidFill>
                              <a:srgbClr val="000000"/>
                            </a:solidFill>
                            <a:latin typeface="Cambria Math" panose="02040503050406030204" pitchFamily="18" charset="0"/>
                            <a:ea typeface="楷体_GB2312"/>
                            <a:cs typeface="Times New Roman" panose="02020603050405020304" pitchFamily="18" charset="0"/>
                          </a:rPr>
                          <m:t>query</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键向量：</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𝑘</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𝑊</m:t>
                        </m:r>
                      </m:e>
                      <m:sub>
                        <m:r>
                          <m:rPr>
                            <m:sty m:val="p"/>
                          </m:rPr>
                          <a:rPr lang="en-US" altLang="zh-CN">
                            <a:solidFill>
                              <a:srgbClr val="000000"/>
                            </a:solidFill>
                            <a:latin typeface="Cambria Math" panose="02040503050406030204" pitchFamily="18" charset="0"/>
                            <a:ea typeface="楷体_GB2312"/>
                            <a:cs typeface="Times New Roman" panose="02020603050405020304" pitchFamily="18" charset="0"/>
                          </a:rPr>
                          <m:t>key</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值向量：</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𝑣</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𝑊</m:t>
                        </m:r>
                      </m:e>
                      <m:sub>
                        <m:r>
                          <m:rPr>
                            <m:sty m:val="p"/>
                          </m:rPr>
                          <a:rPr lang="en-US" altLang="zh-CN">
                            <a:solidFill>
                              <a:srgbClr val="000000"/>
                            </a:solidFill>
                            <a:latin typeface="Cambria Math" panose="02040503050406030204" pitchFamily="18" charset="0"/>
                            <a:ea typeface="楷体_GB2312"/>
                            <a:cs typeface="Times New Roman" panose="02020603050405020304" pitchFamily="18" charset="0"/>
                          </a:rPr>
                          <m:t>value</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endPar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对于包含</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𝐿</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个单词的自然语言句子，如何来计算句子中第</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个单词</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与其他单词因为上下文共同出现而呈现的概率关联呢？</a:t>
                </a:r>
              </a:p>
            </p:txBody>
          </p:sp>
        </mc:Choice>
        <mc:Fallback xmlns="">
          <p:sp>
            <p:nvSpPr>
              <p:cNvPr id="14" name="矩形 13">
                <a:extLst>
                  <a:ext uri="{FF2B5EF4-FFF2-40B4-BE49-F238E27FC236}">
                    <a16:creationId xmlns:a16="http://schemas.microsoft.com/office/drawing/2014/main" id="{0986E5E1-1FA8-4511-B3D9-9DA42321F875}"/>
                  </a:ext>
                </a:extLst>
              </p:cNvPr>
              <p:cNvSpPr>
                <a:spLocks noRot="1" noChangeAspect="1" noMove="1" noResize="1" noEditPoints="1" noAdjustHandles="1" noChangeArrowheads="1" noChangeShapeType="1" noTextEdit="1"/>
              </p:cNvSpPr>
              <p:nvPr/>
            </p:nvSpPr>
            <p:spPr>
              <a:xfrm>
                <a:off x="465430" y="1850138"/>
                <a:ext cx="6548387" cy="3740768"/>
              </a:xfrm>
              <a:prstGeom prst="rect">
                <a:avLst/>
              </a:prstGeom>
              <a:blipFill>
                <a:blip r:embed="rId4"/>
                <a:stretch>
                  <a:fillRect l="-744" t="-1794" r="-744" b="-1142"/>
                </a:stretch>
              </a:blipFill>
            </p:spPr>
            <p:txBody>
              <a:bodyPr/>
              <a:lstStyle/>
              <a:p>
                <a:r>
                  <a:rPr lang="zh-CN" altLang="en-US">
                    <a:noFill/>
                  </a:rPr>
                  <a:t> </a:t>
                </a:r>
              </a:p>
            </p:txBody>
          </p:sp>
        </mc:Fallback>
      </mc:AlternateContent>
      <p:pic>
        <p:nvPicPr>
          <p:cNvPr id="7" name="图片 6" descr="图形用户界面, 图示&#10;&#10;描述已自动生成">
            <a:extLst>
              <a:ext uri="{FF2B5EF4-FFF2-40B4-BE49-F238E27FC236}">
                <a16:creationId xmlns:a16="http://schemas.microsoft.com/office/drawing/2014/main" id="{96A612E6-C041-4B97-9531-13A986DCF526}"/>
              </a:ext>
            </a:extLst>
          </p:cNvPr>
          <p:cNvPicPr>
            <a:picLocks noChangeAspect="1"/>
          </p:cNvPicPr>
          <p:nvPr/>
        </p:nvPicPr>
        <p:blipFill>
          <a:blip r:embed="rId5"/>
          <a:stretch>
            <a:fillRect/>
          </a:stretch>
        </p:blipFill>
        <p:spPr>
          <a:xfrm>
            <a:off x="7352020" y="1562380"/>
            <a:ext cx="4507715" cy="4534727"/>
          </a:xfrm>
          <a:prstGeom prst="rect">
            <a:avLst/>
          </a:prstGeom>
        </p:spPr>
      </p:pic>
    </p:spTree>
    <p:extLst>
      <p:ext uri="{BB962C8B-B14F-4D97-AF65-F5344CB8AC3E}">
        <p14:creationId xmlns:p14="http://schemas.microsoft.com/office/powerpoint/2010/main" val="3816170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语</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言大模型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一、语言基础模型（大语言模型）</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6C5253EC-B7A1-4A69-AC9A-251407DB58A1}"/>
              </a:ext>
            </a:extLst>
          </p:cNvPr>
          <p:cNvPicPr>
            <a:picLocks noChangeAspect="1"/>
          </p:cNvPicPr>
          <p:nvPr/>
        </p:nvPicPr>
        <p:blipFill>
          <a:blip r:embed="rId3"/>
          <a:stretch>
            <a:fillRect/>
          </a:stretch>
        </p:blipFill>
        <p:spPr>
          <a:xfrm>
            <a:off x="6372564" y="1409139"/>
            <a:ext cx="5819436" cy="4832264"/>
          </a:xfrm>
          <a:prstGeom prst="rect">
            <a:avLst/>
          </a:prstGeom>
        </p:spPr>
      </p:pic>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453D0307-8B82-4898-9D56-539B43B0C656}"/>
                  </a:ext>
                </a:extLst>
              </p:cNvPr>
              <p:cNvSpPr/>
              <p:nvPr/>
            </p:nvSpPr>
            <p:spPr>
              <a:xfrm>
                <a:off x="375139" y="1572595"/>
                <a:ext cx="6096000" cy="1205073"/>
              </a:xfrm>
              <a:prstGeom prst="rect">
                <a:avLst/>
              </a:prstGeom>
            </p:spPr>
            <p:txBody>
              <a:bodyPr>
                <a:spAutoFit/>
              </a:bodyPr>
              <a:lstStyle/>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首先计算单词</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查询向量和单词</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𝑗</m:t>
                        </m:r>
                      </m:sub>
                    </m:sSub>
                  </m:oMath>
                </a14:m>
                <a:r>
                  <a:rPr lang="zh-CN" altLang="en-US" sz="1600" dirty="0">
                    <a:solidFill>
                      <a:srgbClr val="000000"/>
                    </a:solidFill>
                    <a:latin typeface="Times New Roman" panose="02020603050405020304" pitchFamily="18" charset="0"/>
                    <a:ea typeface="楷体_GB2312"/>
                    <a:cs typeface="Times New Roman" panose="02020603050405020304" pitchFamily="18" charset="0"/>
                  </a:rPr>
                  <a:t>键</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向量之间的内积，作为这两个单词在句子中关联度：</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score</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𝑗</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𝑇</m:t>
                        </m:r>
                      </m:sup>
                    </m:sSubSup>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𝑊</m:t>
                        </m:r>
                      </m:e>
                      <m:sub>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query</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𝑇</m:t>
                        </m:r>
                      </m:sup>
                    </m:sSubSup>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𝑊</m:t>
                        </m:r>
                      </m:e>
                      <m:sub>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key</m:t>
                        </m:r>
                      </m:sub>
                    </m:sSub>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𝑗</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𝑇</m:t>
                        </m:r>
                      </m:sup>
                    </m:sSub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。通过</a:t>
                </a:r>
                <a:r>
                  <a:rPr lang="en-US" altLang="zh-CN" sz="1600" dirty="0" err="1">
                    <a:solidFill>
                      <a:srgbClr val="000000"/>
                    </a:solidFill>
                    <a:latin typeface="Times New Roman" panose="02020603050405020304" pitchFamily="18" charset="0"/>
                    <a:ea typeface="楷体_GB2312"/>
                    <a:cs typeface="Times New Roman" panose="02020603050405020304" pitchFamily="18" charset="0"/>
                  </a:rPr>
                  <a:t>softmax</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函数对关联度归一化处理，得到</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与其他单词（包括其自己）关联概率分布：</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453D0307-8B82-4898-9D56-539B43B0C656}"/>
                  </a:ext>
                </a:extLst>
              </p:cNvPr>
              <p:cNvSpPr>
                <a:spLocks noRot="1" noChangeAspect="1" noMove="1" noResize="1" noEditPoints="1" noAdjustHandles="1" noChangeArrowheads="1" noChangeShapeType="1" noTextEdit="1"/>
              </p:cNvSpPr>
              <p:nvPr/>
            </p:nvSpPr>
            <p:spPr>
              <a:xfrm>
                <a:off x="375139" y="1572595"/>
                <a:ext cx="6096000" cy="1205073"/>
              </a:xfrm>
              <a:prstGeom prst="rect">
                <a:avLst/>
              </a:prstGeom>
              <a:blipFill>
                <a:blip r:embed="rId5"/>
                <a:stretch>
                  <a:fillRect l="-600" t="-505" r="-500" b="-5051"/>
                </a:stretch>
              </a:blipFill>
            </p:spPr>
            <p:txBody>
              <a:bodyPr/>
              <a:lstStyle/>
              <a:p>
                <a:r>
                  <a:rPr lang="zh-CN" altLang="en-US">
                    <a:noFill/>
                  </a:rPr>
                  <a:t> </a:t>
                </a:r>
              </a:p>
            </p:txBody>
          </p:sp>
        </mc:Fallback>
      </mc:AlternateContent>
      <p:sp>
        <p:nvSpPr>
          <p:cNvPr id="17" name="Rectangle 10">
            <a:extLst>
              <a:ext uri="{FF2B5EF4-FFF2-40B4-BE49-F238E27FC236}">
                <a16:creationId xmlns:a16="http://schemas.microsoft.com/office/drawing/2014/main" id="{4D9386CC-EE9D-439B-BA61-43C3320D6111}"/>
              </a:ext>
            </a:extLst>
          </p:cNvPr>
          <p:cNvSpPr>
            <a:spLocks noChangeArrowheads="1"/>
          </p:cNvSpPr>
          <p:nvPr/>
        </p:nvSpPr>
        <p:spPr bwMode="auto">
          <a:xfrm>
            <a:off x="1833489" y="309184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a:extLst>
              <a:ext uri="{FF2B5EF4-FFF2-40B4-BE49-F238E27FC236}">
                <a16:creationId xmlns:a16="http://schemas.microsoft.com/office/drawing/2014/main" id="{591D3ADD-24E7-4B67-938C-1C403BED1A0A}"/>
              </a:ext>
            </a:extLst>
          </p:cNvPr>
          <p:cNvGraphicFramePr>
            <a:graphicFrameLocks noChangeAspect="1"/>
          </p:cNvGraphicFramePr>
          <p:nvPr>
            <p:extLst>
              <p:ext uri="{D42A27DB-BD31-4B8C-83A1-F6EECF244321}">
                <p14:modId xmlns:p14="http://schemas.microsoft.com/office/powerpoint/2010/main" val="1294197106"/>
              </p:ext>
            </p:extLst>
          </p:nvPr>
        </p:nvGraphicFramePr>
        <p:xfrm>
          <a:off x="1003497" y="2928016"/>
          <a:ext cx="4942448" cy="544652"/>
        </p:xfrm>
        <a:graphic>
          <a:graphicData uri="http://schemas.openxmlformats.org/presentationml/2006/ole">
            <mc:AlternateContent xmlns:mc="http://schemas.openxmlformats.org/markup-compatibility/2006">
              <mc:Choice xmlns:v="urn:schemas-microsoft-com:vml" Requires="v">
                <p:oleObj r:id="rId6" imgW="2578100" imgH="279400" progId="Equation.DSMT4">
                  <p:embed/>
                </p:oleObj>
              </mc:Choice>
              <mc:Fallback>
                <p:oleObj r:id="rId6" imgW="2578100" imgH="27940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3497" y="2928016"/>
                        <a:ext cx="4942448" cy="544652"/>
                      </a:xfrm>
                      <a:prstGeom prst="rect">
                        <a:avLst/>
                      </a:prstGeom>
                      <a:noFill/>
                    </p:spPr>
                  </p:pic>
                </p:oleObj>
              </mc:Fallback>
            </mc:AlternateContent>
          </a:graphicData>
        </a:graphic>
      </p:graphicFrame>
      <p:sp>
        <p:nvSpPr>
          <p:cNvPr id="19" name="Rectangle 11">
            <a:extLst>
              <a:ext uri="{FF2B5EF4-FFF2-40B4-BE49-F238E27FC236}">
                <a16:creationId xmlns:a16="http://schemas.microsoft.com/office/drawing/2014/main" id="{64472D33-01A7-4C85-AD8E-C250F12C6A73}"/>
              </a:ext>
            </a:extLst>
          </p:cNvPr>
          <p:cNvSpPr>
            <a:spLocks noChangeArrowheads="1"/>
          </p:cNvSpPr>
          <p:nvPr/>
        </p:nvSpPr>
        <p:spPr bwMode="auto">
          <a:xfrm>
            <a:off x="1833489" y="382527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06BE433D-D108-46E9-BE55-949FFB8B7288}"/>
                  </a:ext>
                </a:extLst>
              </p:cNvPr>
              <p:cNvSpPr/>
              <p:nvPr/>
            </p:nvSpPr>
            <p:spPr>
              <a:xfrm>
                <a:off x="383881" y="3985091"/>
                <a:ext cx="6096000" cy="1486561"/>
              </a:xfrm>
              <a:prstGeom prst="rect">
                <a:avLst/>
              </a:prstGeom>
            </p:spPr>
            <p:txBody>
              <a:bodyPr>
                <a:spAutoFit/>
              </a:bodyPr>
              <a:lstStyle/>
              <a:p>
                <a:pPr indent="266700" algn="just">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用归一化的关联度乘以句子中每个单词值向量，加权累加所得就是单词</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i="1">
                            <a:solidFill>
                              <a:srgbClr val="000000"/>
                            </a:solidFill>
                            <a:latin typeface="Cambria Math" panose="02040503050406030204" pitchFamily="18" charset="0"/>
                            <a:ea typeface="楷体_GB2312"/>
                            <a:cs typeface="Times New Roman" panose="02020603050405020304" pitchFamily="18" charset="0"/>
                          </a:rPr>
                          <m:t>𝑗</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与句子中其他单词（包括自己）的自注意力分数（</a:t>
                </a:r>
                <a:r>
                  <a:rPr lang="en-US" altLang="zh-CN" dirty="0">
                    <a:solidFill>
                      <a:srgbClr val="000000"/>
                    </a:solidFill>
                    <a:latin typeface="Times New Roman" panose="02020603050405020304" pitchFamily="18" charset="0"/>
                    <a:ea typeface="楷体_GB2312"/>
                    <a:cs typeface="Times New Roman" panose="02020603050405020304" pitchFamily="18" charset="0"/>
                  </a:rPr>
                  <a:t>self-attention score</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24" name="矩形 23">
                <a:extLst>
                  <a:ext uri="{FF2B5EF4-FFF2-40B4-BE49-F238E27FC236}">
                    <a16:creationId xmlns:a16="http://schemas.microsoft.com/office/drawing/2014/main" id="{06BE433D-D108-46E9-BE55-949FFB8B7288}"/>
                  </a:ext>
                </a:extLst>
              </p:cNvPr>
              <p:cNvSpPr>
                <a:spLocks noRot="1" noChangeAspect="1" noMove="1" noResize="1" noEditPoints="1" noAdjustHandles="1" noChangeArrowheads="1" noChangeShapeType="1" noTextEdit="1"/>
              </p:cNvSpPr>
              <p:nvPr/>
            </p:nvSpPr>
            <p:spPr>
              <a:xfrm>
                <a:off x="383881" y="3985091"/>
                <a:ext cx="6096000" cy="1486561"/>
              </a:xfrm>
              <a:prstGeom prst="rect">
                <a:avLst/>
              </a:prstGeom>
              <a:blipFill>
                <a:blip r:embed="rId8"/>
                <a:stretch>
                  <a:fillRect l="-900" t="-3279" r="-800"/>
                </a:stretch>
              </a:blipFill>
            </p:spPr>
            <p:txBody>
              <a:bodyPr/>
              <a:lstStyle/>
              <a:p>
                <a:r>
                  <a:rPr lang="zh-CN" altLang="en-US">
                    <a:noFill/>
                  </a:rPr>
                  <a:t> </a:t>
                </a:r>
              </a:p>
            </p:txBody>
          </p:sp>
        </mc:Fallback>
      </mc:AlternateContent>
      <p:sp>
        <p:nvSpPr>
          <p:cNvPr id="28" name="Rectangle 19">
            <a:extLst>
              <a:ext uri="{FF2B5EF4-FFF2-40B4-BE49-F238E27FC236}">
                <a16:creationId xmlns:a16="http://schemas.microsoft.com/office/drawing/2014/main" id="{E11C7C6C-DE31-49A0-8111-65349A1E6DCF}"/>
              </a:ext>
            </a:extLst>
          </p:cNvPr>
          <p:cNvSpPr>
            <a:spLocks noChangeArrowheads="1"/>
          </p:cNvSpPr>
          <p:nvPr/>
        </p:nvSpPr>
        <p:spPr bwMode="auto">
          <a:xfrm>
            <a:off x="2445724" y="519217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9" name="对象 28">
            <a:extLst>
              <a:ext uri="{FF2B5EF4-FFF2-40B4-BE49-F238E27FC236}">
                <a16:creationId xmlns:a16="http://schemas.microsoft.com/office/drawing/2014/main" id="{3D31733B-F008-425C-AB95-822779BB7DC3}"/>
              </a:ext>
            </a:extLst>
          </p:cNvPr>
          <p:cNvGraphicFramePr>
            <a:graphicFrameLocks noChangeAspect="1"/>
          </p:cNvGraphicFramePr>
          <p:nvPr>
            <p:extLst>
              <p:ext uri="{D42A27DB-BD31-4B8C-83A1-F6EECF244321}">
                <p14:modId xmlns:p14="http://schemas.microsoft.com/office/powerpoint/2010/main" val="1697300652"/>
              </p:ext>
            </p:extLst>
          </p:nvPr>
        </p:nvGraphicFramePr>
        <p:xfrm>
          <a:off x="1833489" y="5045197"/>
          <a:ext cx="2602523" cy="764044"/>
        </p:xfrm>
        <a:graphic>
          <a:graphicData uri="http://schemas.openxmlformats.org/presentationml/2006/ole">
            <mc:AlternateContent xmlns:mc="http://schemas.openxmlformats.org/markup-compatibility/2006">
              <mc:Choice xmlns:v="urn:schemas-microsoft-com:vml" Requires="v">
                <p:oleObj r:id="rId9" imgW="952087" imgH="431613" progId="Equation.DSMT4">
                  <p:embed/>
                </p:oleObj>
              </mc:Choice>
              <mc:Fallback>
                <p:oleObj r:id="rId9" imgW="952087" imgH="431613" progId="Equation.DSMT4">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3489" y="5045197"/>
                        <a:ext cx="2602523" cy="764044"/>
                      </a:xfrm>
                      <a:prstGeom prst="rect">
                        <a:avLst/>
                      </a:prstGeom>
                      <a:noFill/>
                    </p:spPr>
                  </p:pic>
                </p:oleObj>
              </mc:Fallback>
            </mc:AlternateContent>
          </a:graphicData>
        </a:graphic>
      </p:graphicFrame>
    </p:spTree>
    <p:extLst>
      <p:ext uri="{BB962C8B-B14F-4D97-AF65-F5344CB8AC3E}">
        <p14:creationId xmlns:p14="http://schemas.microsoft.com/office/powerpoint/2010/main" val="452189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语</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言大模型</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：预训练</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一、语言基础模型（大语言模型）</a:t>
            </a:r>
            <a:endParaRPr lang="zh-CN" altLang="en-US" sz="1600" dirty="0">
              <a:solidFill>
                <a:srgbClr val="000000"/>
              </a:solidFill>
              <a:latin typeface="Times New Roman" panose="02020603050405020304" pitchFamily="18" charset="0"/>
            </a:endParaRPr>
          </a:p>
        </p:txBody>
      </p:sp>
      <p:sp>
        <p:nvSpPr>
          <p:cNvPr id="19" name="Rectangle 11">
            <a:extLst>
              <a:ext uri="{FF2B5EF4-FFF2-40B4-BE49-F238E27FC236}">
                <a16:creationId xmlns:a16="http://schemas.microsoft.com/office/drawing/2014/main" id="{64472D33-01A7-4C85-AD8E-C250F12C6A73}"/>
              </a:ext>
            </a:extLst>
          </p:cNvPr>
          <p:cNvSpPr>
            <a:spLocks noChangeArrowheads="1"/>
          </p:cNvSpPr>
          <p:nvPr/>
        </p:nvSpPr>
        <p:spPr bwMode="auto">
          <a:xfrm>
            <a:off x="1833489" y="382527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6" name="图片 15"/>
          <p:cNvPicPr>
            <a:picLocks noChangeAspect="1"/>
          </p:cNvPicPr>
          <p:nvPr/>
        </p:nvPicPr>
        <p:blipFill>
          <a:blip r:embed="rId3"/>
          <a:stretch>
            <a:fillRect/>
          </a:stretch>
        </p:blipFill>
        <p:spPr>
          <a:xfrm>
            <a:off x="1833489" y="1338114"/>
            <a:ext cx="8300939" cy="5390876"/>
          </a:xfrm>
          <a:prstGeom prst="rect">
            <a:avLst/>
          </a:prstGeom>
        </p:spPr>
      </p:pic>
      <p:sp>
        <p:nvSpPr>
          <p:cNvPr id="2" name="文本框 1">
            <a:extLst>
              <a:ext uri="{FF2B5EF4-FFF2-40B4-BE49-F238E27FC236}">
                <a16:creationId xmlns:a16="http://schemas.microsoft.com/office/drawing/2014/main" id="{7CD9B980-565F-183B-DE65-A57A67F22310}"/>
              </a:ext>
            </a:extLst>
          </p:cNvPr>
          <p:cNvSpPr txBox="1"/>
          <p:nvPr/>
        </p:nvSpPr>
        <p:spPr>
          <a:xfrm>
            <a:off x="9904396" y="2666198"/>
            <a:ext cx="1799924" cy="1477328"/>
          </a:xfrm>
          <a:prstGeom prst="rect">
            <a:avLst/>
          </a:prstGeom>
          <a:noFill/>
        </p:spPr>
        <p:txBody>
          <a:bodyPr wrap="square" rtlCol="0">
            <a:spAutoFit/>
          </a:bodyPr>
          <a:lstStyle/>
          <a:p>
            <a:r>
              <a:rPr lang="zh-CN" altLang="en-US" dirty="0"/>
              <a:t>损失函数中不同文本的权重一样。可能会有什么问题？是否有什么改进方式？</a:t>
            </a:r>
          </a:p>
        </p:txBody>
      </p:sp>
    </p:spTree>
    <p:extLst>
      <p:ext uri="{BB962C8B-B14F-4D97-AF65-F5344CB8AC3E}">
        <p14:creationId xmlns:p14="http://schemas.microsoft.com/office/powerpoint/2010/main" val="569458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语</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言大模型</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SFT</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一、语言基础模型（大语言模型）</a:t>
            </a:r>
            <a:endParaRPr lang="zh-CN" altLang="en-US" sz="1600" dirty="0">
              <a:solidFill>
                <a:srgbClr val="000000"/>
              </a:solidFill>
              <a:latin typeface="Times New Roman" panose="02020603050405020304" pitchFamily="18" charset="0"/>
            </a:endParaRPr>
          </a:p>
        </p:txBody>
      </p:sp>
      <p:sp>
        <p:nvSpPr>
          <p:cNvPr id="19" name="Rectangle 11">
            <a:extLst>
              <a:ext uri="{FF2B5EF4-FFF2-40B4-BE49-F238E27FC236}">
                <a16:creationId xmlns:a16="http://schemas.microsoft.com/office/drawing/2014/main" id="{64472D33-01A7-4C85-AD8E-C250F12C6A73}"/>
              </a:ext>
            </a:extLst>
          </p:cNvPr>
          <p:cNvSpPr>
            <a:spLocks noChangeArrowheads="1"/>
          </p:cNvSpPr>
          <p:nvPr/>
        </p:nvSpPr>
        <p:spPr bwMode="auto">
          <a:xfrm>
            <a:off x="1833489" y="382527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 name="图片 1">
            <a:extLst>
              <a:ext uri="{FF2B5EF4-FFF2-40B4-BE49-F238E27FC236}">
                <a16:creationId xmlns:a16="http://schemas.microsoft.com/office/drawing/2014/main" id="{2E1E8119-B893-4866-AA7B-B69CD1882ABD}"/>
              </a:ext>
            </a:extLst>
          </p:cNvPr>
          <p:cNvPicPr>
            <a:picLocks noChangeAspect="1"/>
          </p:cNvPicPr>
          <p:nvPr/>
        </p:nvPicPr>
        <p:blipFill>
          <a:blip r:embed="rId3"/>
          <a:stretch>
            <a:fillRect/>
          </a:stretch>
        </p:blipFill>
        <p:spPr>
          <a:xfrm>
            <a:off x="2100528" y="1297569"/>
            <a:ext cx="7990944" cy="4088786"/>
          </a:xfrm>
          <a:prstGeom prst="rect">
            <a:avLst/>
          </a:prstGeom>
        </p:spPr>
      </p:pic>
      <p:sp>
        <p:nvSpPr>
          <p:cNvPr id="7" name="矩形 6">
            <a:extLst>
              <a:ext uri="{FF2B5EF4-FFF2-40B4-BE49-F238E27FC236}">
                <a16:creationId xmlns:a16="http://schemas.microsoft.com/office/drawing/2014/main" id="{C6308782-5E8A-4E1C-A615-6F8CF6E4F0B9}"/>
              </a:ext>
            </a:extLst>
          </p:cNvPr>
          <p:cNvSpPr/>
          <p:nvPr/>
        </p:nvSpPr>
        <p:spPr>
          <a:xfrm>
            <a:off x="919411" y="5459042"/>
            <a:ext cx="10726719" cy="830997"/>
          </a:xfrm>
          <a:prstGeom prst="rect">
            <a:avLst/>
          </a:prstGeom>
        </p:spPr>
        <p:txBody>
          <a:bodyPr wrap="square">
            <a:spAutoFit/>
          </a:bodyPr>
          <a:lstStyle/>
          <a:p>
            <a:pPr marL="342900" indent="-342900">
              <a:buFont typeface="Arial" panose="020B0604020202020204" pitchFamily="34" charset="0"/>
              <a:buChar char="•"/>
            </a:pPr>
            <a:r>
              <a:rPr lang="zh-CN" altLang="en-US" sz="2400" b="0" i="0" dirty="0">
                <a:solidFill>
                  <a:srgbClr val="FF0000"/>
                </a:solidFill>
                <a:effectLst/>
                <a:latin typeface="Inter"/>
              </a:rPr>
              <a:t>提示学习</a:t>
            </a:r>
            <a:r>
              <a:rPr lang="zh-CN" altLang="en-US" sz="2400" b="0" i="0" dirty="0">
                <a:effectLst/>
                <a:latin typeface="Inter"/>
              </a:rPr>
              <a:t>是 “让模型理解任务”（小样本场景）</a:t>
            </a:r>
            <a:endParaRPr lang="en-US" altLang="zh-CN" sz="2400" b="0" i="0" dirty="0">
              <a:effectLst/>
              <a:latin typeface="Inter"/>
            </a:endParaRPr>
          </a:p>
          <a:p>
            <a:pPr marL="342900" indent="-342900">
              <a:buFont typeface="Arial" panose="020B0604020202020204" pitchFamily="34" charset="0"/>
              <a:buChar char="•"/>
            </a:pPr>
            <a:r>
              <a:rPr lang="zh-CN" altLang="en-US" sz="2400" b="0" i="0" dirty="0">
                <a:solidFill>
                  <a:srgbClr val="FF0000"/>
                </a:solidFill>
                <a:effectLst/>
                <a:latin typeface="Inter"/>
              </a:rPr>
              <a:t>指令微调</a:t>
            </a:r>
            <a:r>
              <a:rPr lang="zh-CN" altLang="en-US" sz="2400" b="0" i="0" dirty="0">
                <a:effectLst/>
                <a:latin typeface="Inter"/>
              </a:rPr>
              <a:t>是 “让模型学会遵循任务指令”（模型的泛化性和指令遵循能力）</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400501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语</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言大模型</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：指令微调数据集构造</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一、语言基础模型（大语言模型）</a:t>
            </a:r>
            <a:endParaRPr lang="zh-CN" altLang="en-US" sz="1600" dirty="0">
              <a:solidFill>
                <a:srgbClr val="000000"/>
              </a:solidFill>
              <a:latin typeface="Times New Roman" panose="02020603050405020304" pitchFamily="18" charset="0"/>
            </a:endParaRPr>
          </a:p>
        </p:txBody>
      </p:sp>
      <p:sp>
        <p:nvSpPr>
          <p:cNvPr id="7" name="矩形 6">
            <a:extLst>
              <a:ext uri="{FF2B5EF4-FFF2-40B4-BE49-F238E27FC236}">
                <a16:creationId xmlns:a16="http://schemas.microsoft.com/office/drawing/2014/main" id="{C6308782-5E8A-4E1C-A615-6F8CF6E4F0B9}"/>
              </a:ext>
            </a:extLst>
          </p:cNvPr>
          <p:cNvSpPr/>
          <p:nvPr/>
        </p:nvSpPr>
        <p:spPr>
          <a:xfrm>
            <a:off x="2583380" y="1564654"/>
            <a:ext cx="8621233" cy="1200329"/>
          </a:xfrm>
          <a:prstGeom prst="rect">
            <a:avLst/>
          </a:prstGeom>
        </p:spPr>
        <p:txBody>
          <a:bodyPr wrap="square">
            <a:spAutoFit/>
          </a:bodyPr>
          <a:lstStyle/>
          <a:p>
            <a:pPr>
              <a:lnSpc>
                <a:spcPct val="150000"/>
              </a:lnSpc>
            </a:pPr>
            <a:r>
              <a:rPr lang="zh-CN" altLang="en-US" dirty="0">
                <a:latin typeface="Times New Roman" panose="02020603050405020304" pitchFamily="18" charset="0"/>
                <a:ea typeface="楷体" panose="02010609060101010101" pitchFamily="49" charset="-122"/>
                <a:cs typeface="Times New Roman" panose="02020603050405020304" pitchFamily="18" charset="0"/>
              </a:rPr>
              <a:t>下图展示</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将自然语言推断数据集转化成生成式的的指令数据集</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Times New Roman" panose="02020603050405020304" pitchFamily="18" charset="0"/>
                <a:ea typeface="楷体" panose="02010609060101010101" pitchFamily="49" charset="-122"/>
                <a:cs typeface="Times New Roman" panose="02020603050405020304" pitchFamily="18" charset="0"/>
              </a:rPr>
              <a:t>为了增强对指令理解的泛化能力，图中使用了若干不同模板</a:t>
            </a:r>
          </a:p>
          <a:p>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 name="图片 8">
            <a:extLst>
              <a:ext uri="{FF2B5EF4-FFF2-40B4-BE49-F238E27FC236}">
                <a16:creationId xmlns:a16="http://schemas.microsoft.com/office/drawing/2014/main" id="{D4B9CABC-7C08-5E10-55BD-0AC47B589644}"/>
              </a:ext>
            </a:extLst>
          </p:cNvPr>
          <p:cNvPicPr>
            <a:picLocks noChangeAspect="1"/>
          </p:cNvPicPr>
          <p:nvPr/>
        </p:nvPicPr>
        <p:blipFill>
          <a:blip r:embed="rId3"/>
          <a:stretch>
            <a:fillRect/>
          </a:stretch>
        </p:blipFill>
        <p:spPr>
          <a:xfrm>
            <a:off x="2648984" y="2435193"/>
            <a:ext cx="6658155" cy="3967886"/>
          </a:xfrm>
          <a:prstGeom prst="rect">
            <a:avLst/>
          </a:prstGeom>
        </p:spPr>
      </p:pic>
    </p:spTree>
    <p:extLst>
      <p:ext uri="{BB962C8B-B14F-4D97-AF65-F5344CB8AC3E}">
        <p14:creationId xmlns:p14="http://schemas.microsoft.com/office/powerpoint/2010/main" val="1136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语</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言大模型</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RLHF</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一、语言基础模型（大语言模型）</a:t>
            </a:r>
            <a:endParaRPr lang="zh-CN" altLang="en-US" sz="1600" dirty="0">
              <a:solidFill>
                <a:srgbClr val="000000"/>
              </a:solidFill>
              <a:latin typeface="Times New Roman" panose="02020603050405020304" pitchFamily="18" charset="0"/>
            </a:endParaRPr>
          </a:p>
        </p:txBody>
      </p:sp>
      <p:sp>
        <p:nvSpPr>
          <p:cNvPr id="19" name="Rectangle 11">
            <a:extLst>
              <a:ext uri="{FF2B5EF4-FFF2-40B4-BE49-F238E27FC236}">
                <a16:creationId xmlns:a16="http://schemas.microsoft.com/office/drawing/2014/main" id="{64472D33-01A7-4C85-AD8E-C250F12C6A73}"/>
              </a:ext>
            </a:extLst>
          </p:cNvPr>
          <p:cNvSpPr>
            <a:spLocks noChangeArrowheads="1"/>
          </p:cNvSpPr>
          <p:nvPr/>
        </p:nvSpPr>
        <p:spPr bwMode="auto">
          <a:xfrm>
            <a:off x="1833489" y="382527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矩形 1">
            <a:extLst>
              <a:ext uri="{FF2B5EF4-FFF2-40B4-BE49-F238E27FC236}">
                <a16:creationId xmlns:a16="http://schemas.microsoft.com/office/drawing/2014/main" id="{0C9D7EEB-165D-4AFE-B405-1CAA999E63CA}"/>
              </a:ext>
            </a:extLst>
          </p:cNvPr>
          <p:cNvSpPr/>
          <p:nvPr/>
        </p:nvSpPr>
        <p:spPr>
          <a:xfrm>
            <a:off x="581464" y="2041425"/>
            <a:ext cx="6330462" cy="3779240"/>
          </a:xfrm>
          <a:prstGeom prst="rect">
            <a:avLst/>
          </a:prstGeom>
        </p:spPr>
        <p:txBody>
          <a:bodyPr wrap="square">
            <a:spAutoFit/>
          </a:bodyPr>
          <a:lstStyle/>
          <a:p>
            <a:pPr marL="285750" indent="-285750">
              <a:lnSpc>
                <a:spcPct val="150000"/>
              </a:lnSpc>
              <a:spcAft>
                <a:spcPts val="0"/>
              </a:spcAft>
              <a:buFont typeface="Wingdings" panose="05000000000000000000" pitchFamily="2" charset="2"/>
              <a:buChar char="l"/>
            </a:pPr>
            <a:r>
              <a:rPr lang="zh-CN" altLang="zh-CN" dirty="0">
                <a:latin typeface="Times New Roman" panose="02020603050405020304" pitchFamily="18" charset="0"/>
                <a:ea typeface="楷体" panose="02010609060101010101" pitchFamily="49" charset="-122"/>
                <a:cs typeface="Times New Roman" panose="02020603050405020304" pitchFamily="18" charset="0"/>
              </a:rPr>
              <a:t>为了使得模型能够“安全且有效地”合成内容，后续研究（例如</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InstructGPT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[Ouyang et al., 2022]</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）将人在回路反馈信息（</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Reinforcement Learning with Human Feedback</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，基于人类反馈的强化学习，</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RLHF</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）引入来纠正语言大模型的错误输出，以便模型的输出与人类价值对齐。</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nSpc>
                <a:spcPct val="150000"/>
              </a:lnSpc>
              <a:spcAft>
                <a:spcPts val="0"/>
              </a:spcAft>
              <a:buFont typeface="Wingdings" panose="05000000000000000000" pitchFamily="2" charset="2"/>
              <a:buChar char="l"/>
            </a:pPr>
            <a:r>
              <a:rPr lang="en-US" altLang="zh-CN" dirty="0">
                <a:latin typeface="Times New Roman" panose="02020603050405020304" pitchFamily="18" charset="0"/>
                <a:ea typeface="楷体" panose="02010609060101010101" pitchFamily="49" charset="-122"/>
                <a:cs typeface="Times New Roman" panose="02020603050405020304" pitchFamily="18" charset="0"/>
              </a:rPr>
              <a:t>RLHF</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方法采用强化学习，</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直接优化模型对人类反馈信号的响应</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，来提升语言模型的性能。优化目标既包括明确的意图（例如遵循指示），也包括隐含的意图（例如保持诚实、不 带有偏见、有毒或其他有害）。</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 name="图片 8">
            <a:extLst>
              <a:ext uri="{FF2B5EF4-FFF2-40B4-BE49-F238E27FC236}">
                <a16:creationId xmlns:a16="http://schemas.microsoft.com/office/drawing/2014/main" id="{D9F30542-8A8A-4E3C-BCE8-DBFC14FF6DD2}"/>
              </a:ext>
            </a:extLst>
          </p:cNvPr>
          <p:cNvPicPr>
            <a:picLocks noChangeAspect="1"/>
          </p:cNvPicPr>
          <p:nvPr/>
        </p:nvPicPr>
        <p:blipFill>
          <a:blip r:embed="rId3"/>
          <a:stretch>
            <a:fillRect/>
          </a:stretch>
        </p:blipFill>
        <p:spPr>
          <a:xfrm>
            <a:off x="6911926" y="1977546"/>
            <a:ext cx="5174239" cy="3678021"/>
          </a:xfrm>
          <a:prstGeom prst="rect">
            <a:avLst/>
          </a:prstGeom>
        </p:spPr>
      </p:pic>
    </p:spTree>
    <p:extLst>
      <p:ext uri="{BB962C8B-B14F-4D97-AF65-F5344CB8AC3E}">
        <p14:creationId xmlns:p14="http://schemas.microsoft.com/office/powerpoint/2010/main" val="27309203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语</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言大模型</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：人在环路反馈</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一、语言基础模型（大语言模型）</a:t>
            </a:r>
            <a:endParaRPr lang="zh-CN" altLang="en-US" sz="1600" dirty="0">
              <a:solidFill>
                <a:srgbClr val="000000"/>
              </a:solidFill>
              <a:latin typeface="Times New Roman" panose="02020603050405020304" pitchFamily="18" charset="0"/>
            </a:endParaRPr>
          </a:p>
        </p:txBody>
      </p:sp>
      <p:sp>
        <p:nvSpPr>
          <p:cNvPr id="19" name="Rectangle 11">
            <a:extLst>
              <a:ext uri="{FF2B5EF4-FFF2-40B4-BE49-F238E27FC236}">
                <a16:creationId xmlns:a16="http://schemas.microsoft.com/office/drawing/2014/main" id="{64472D33-01A7-4C85-AD8E-C250F12C6A73}"/>
              </a:ext>
            </a:extLst>
          </p:cNvPr>
          <p:cNvSpPr>
            <a:spLocks noChangeArrowheads="1"/>
          </p:cNvSpPr>
          <p:nvPr/>
        </p:nvSpPr>
        <p:spPr bwMode="auto">
          <a:xfrm>
            <a:off x="1833489" y="382527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a:extLst>
              <a:ext uri="{FF2B5EF4-FFF2-40B4-BE49-F238E27FC236}">
                <a16:creationId xmlns:a16="http://schemas.microsoft.com/office/drawing/2014/main" id="{F2D24E3C-A6D4-49CD-B0A9-D24437308B90}"/>
              </a:ext>
            </a:extLst>
          </p:cNvPr>
          <p:cNvSpPr/>
          <p:nvPr/>
        </p:nvSpPr>
        <p:spPr>
          <a:xfrm>
            <a:off x="342314" y="1454332"/>
            <a:ext cx="7033846" cy="916405"/>
          </a:xfrm>
          <a:prstGeom prst="rect">
            <a:avLst/>
          </a:prstGeom>
        </p:spPr>
        <p:txBody>
          <a:bodyPr wrap="square">
            <a:spAutoFit/>
          </a:bodyPr>
          <a:lstStyle/>
          <a:p>
            <a:pPr indent="266700" algn="just">
              <a:lnSpc>
                <a:spcPts val="2200"/>
              </a:lnSpc>
              <a:spcAft>
                <a:spcPts val="0"/>
              </a:spcAft>
            </a:pPr>
            <a:r>
              <a:rPr lang="zh-CN" altLang="zh-CN" sz="1400"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假设通过指令微调后的模型记为</a:t>
            </a:r>
            <a:r>
              <a:rPr lang="en-US" altLang="zh-CN" sz="1400"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SFT</a:t>
            </a:r>
            <a:r>
              <a:rPr lang="zh-CN" altLang="zh-CN" sz="1400"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400" kern="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supvised</a:t>
            </a:r>
            <a:r>
              <a:rPr lang="en-US" altLang="zh-CN" sz="1400"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fine-tuning</a:t>
            </a:r>
            <a:r>
              <a:rPr lang="zh-CN" altLang="zh-CN" sz="1400"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）模型，人在回路微调通过如下过程继续对该策略模型进行微调：</a:t>
            </a:r>
            <a:endParaRPr lang="zh-CN" altLang="zh-CN" sz="14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ts val="2200"/>
              </a:lnSpc>
              <a:spcAft>
                <a:spcPts val="0"/>
              </a:spcAft>
            </a:pPr>
            <a:r>
              <a:rPr lang="zh-CN" altLang="zh-CN" sz="1400" b="1" kern="0" dirty="0">
                <a:solidFill>
                  <a:schemeClr val="accent6"/>
                </a:solidFill>
                <a:latin typeface="Times New Roman" panose="02020603050405020304" pitchFamily="18" charset="0"/>
                <a:ea typeface="华文楷体" panose="02010600040101010101" pitchFamily="2" charset="-122"/>
                <a:cs typeface="Times New Roman" panose="02020603050405020304" pitchFamily="18" charset="0"/>
              </a:rPr>
              <a:t>第一阶段：训练奖励模型（</a:t>
            </a:r>
            <a:r>
              <a:rPr lang="en-US" altLang="zh-CN" sz="1400" b="1" kern="0" dirty="0">
                <a:solidFill>
                  <a:schemeClr val="accent6"/>
                </a:solidFill>
                <a:latin typeface="Times New Roman" panose="02020603050405020304" pitchFamily="18" charset="0"/>
                <a:ea typeface="华文楷体" panose="02010600040101010101" pitchFamily="2" charset="-122"/>
                <a:cs typeface="Times New Roman" panose="02020603050405020304" pitchFamily="18" charset="0"/>
              </a:rPr>
              <a:t>Reward Model, RM</a:t>
            </a:r>
            <a:r>
              <a:rPr lang="zh-CN" altLang="zh-CN" sz="1400" b="1" kern="0" dirty="0">
                <a:solidFill>
                  <a:schemeClr val="accent6"/>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1400" kern="100" dirty="0">
              <a:solidFill>
                <a:schemeClr val="accent6"/>
              </a:solidFill>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14" name="图片 13">
            <a:extLst>
              <a:ext uri="{FF2B5EF4-FFF2-40B4-BE49-F238E27FC236}">
                <a16:creationId xmlns:a16="http://schemas.microsoft.com/office/drawing/2014/main" id="{81D0CF18-B782-4EFF-85CF-935DA1B099EA}"/>
              </a:ext>
            </a:extLst>
          </p:cNvPr>
          <p:cNvPicPr>
            <a:picLocks noChangeAspect="1"/>
          </p:cNvPicPr>
          <p:nvPr/>
        </p:nvPicPr>
        <p:blipFill>
          <a:blip r:embed="rId3"/>
          <a:stretch>
            <a:fillRect/>
          </a:stretch>
        </p:blipFill>
        <p:spPr>
          <a:xfrm>
            <a:off x="6811970" y="1838425"/>
            <a:ext cx="5573249" cy="4360244"/>
          </a:xfrm>
          <a:prstGeom prst="rect">
            <a:avLst/>
          </a:prstGeom>
        </p:spPr>
      </p:pic>
      <p:sp>
        <p:nvSpPr>
          <p:cNvPr id="52" name="矩形 51">
            <a:extLst>
              <a:ext uri="{FF2B5EF4-FFF2-40B4-BE49-F238E27FC236}">
                <a16:creationId xmlns:a16="http://schemas.microsoft.com/office/drawing/2014/main" id="{03B5ED8B-39C8-4DE3-8823-AE5F415F25A1}"/>
              </a:ext>
            </a:extLst>
          </p:cNvPr>
          <p:cNvSpPr/>
          <p:nvPr/>
        </p:nvSpPr>
        <p:spPr>
          <a:xfrm>
            <a:off x="99831" y="4873098"/>
            <a:ext cx="6248544" cy="584775"/>
          </a:xfrm>
          <a:prstGeom prst="rect">
            <a:avLst/>
          </a:prstGeom>
        </p:spPr>
        <p:txBody>
          <a:bodyPr wrap="square">
            <a:spAutoFit/>
          </a:bodyPr>
          <a:lstStyle/>
          <a:p>
            <a:r>
              <a:rPr lang="zh-CN" altLang="zh-CN" sz="16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为何这里使用排序，而非直接对回答结果打分呢？因为排序相比打分更容易接近客观事实，即不同标注员的打分结果会存在很大差异。</a:t>
            </a:r>
            <a:endParaRPr lang="zh-CN" alt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 name="图片 8">
            <a:extLst>
              <a:ext uri="{FF2B5EF4-FFF2-40B4-BE49-F238E27FC236}">
                <a16:creationId xmlns:a16="http://schemas.microsoft.com/office/drawing/2014/main" id="{9445262E-3FCF-4744-A876-4C615BDA06AD}"/>
              </a:ext>
            </a:extLst>
          </p:cNvPr>
          <p:cNvPicPr>
            <a:picLocks noChangeAspect="1"/>
          </p:cNvPicPr>
          <p:nvPr/>
        </p:nvPicPr>
        <p:blipFill>
          <a:blip r:embed="rId4"/>
          <a:stretch>
            <a:fillRect/>
          </a:stretch>
        </p:blipFill>
        <p:spPr>
          <a:xfrm>
            <a:off x="-76941" y="2485057"/>
            <a:ext cx="6913262" cy="1979893"/>
          </a:xfrm>
          <a:prstGeom prst="rect">
            <a:avLst/>
          </a:prstGeom>
        </p:spPr>
      </p:pic>
    </p:spTree>
    <p:extLst>
      <p:ext uri="{BB962C8B-B14F-4D97-AF65-F5344CB8AC3E}">
        <p14:creationId xmlns:p14="http://schemas.microsoft.com/office/powerpoint/2010/main" val="3241285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语</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言大模型</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：人在环路反馈</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326243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一、语言基础模型（大语言模型）</a:t>
            </a:r>
            <a:endParaRPr lang="zh-CN" altLang="en-US" sz="1600" dirty="0">
              <a:solidFill>
                <a:srgbClr val="000000"/>
              </a:solidFill>
              <a:latin typeface="Times New Roman" panose="02020603050405020304" pitchFamily="18" charset="0"/>
            </a:endParaRPr>
          </a:p>
        </p:txBody>
      </p:sp>
      <p:sp>
        <p:nvSpPr>
          <p:cNvPr id="19" name="Rectangle 11">
            <a:extLst>
              <a:ext uri="{FF2B5EF4-FFF2-40B4-BE49-F238E27FC236}">
                <a16:creationId xmlns:a16="http://schemas.microsoft.com/office/drawing/2014/main" id="{64472D33-01A7-4C85-AD8E-C250F12C6A73}"/>
              </a:ext>
            </a:extLst>
          </p:cNvPr>
          <p:cNvSpPr>
            <a:spLocks noChangeArrowheads="1"/>
          </p:cNvSpPr>
          <p:nvPr/>
        </p:nvSpPr>
        <p:spPr bwMode="auto">
          <a:xfrm>
            <a:off x="1833489" y="382527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a:extLst>
              <a:ext uri="{FF2B5EF4-FFF2-40B4-BE49-F238E27FC236}">
                <a16:creationId xmlns:a16="http://schemas.microsoft.com/office/drawing/2014/main" id="{F2D24E3C-A6D4-49CD-B0A9-D24437308B90}"/>
              </a:ext>
            </a:extLst>
          </p:cNvPr>
          <p:cNvSpPr/>
          <p:nvPr/>
        </p:nvSpPr>
        <p:spPr>
          <a:xfrm>
            <a:off x="342314" y="1454332"/>
            <a:ext cx="6799384" cy="2067233"/>
          </a:xfrm>
          <a:prstGeom prst="rect">
            <a:avLst/>
          </a:prstGeom>
        </p:spPr>
        <p:txBody>
          <a:bodyPr wrap="square">
            <a:spAutoFit/>
          </a:bodyPr>
          <a:lstStyle/>
          <a:p>
            <a:pPr indent="266700" algn="just">
              <a:lnSpc>
                <a:spcPts val="2200"/>
              </a:lnSpc>
              <a:spcAft>
                <a:spcPts val="0"/>
              </a:spcAft>
            </a:pPr>
            <a:r>
              <a:rPr lang="zh-CN" altLang="zh-CN" sz="1400" kern="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假设通过指令微调后的模型记为</a:t>
            </a:r>
            <a:r>
              <a:rPr lang="en-US" altLang="zh-CN" sz="1400" kern="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SFT</a:t>
            </a:r>
            <a:r>
              <a:rPr lang="zh-CN" altLang="zh-CN" sz="1400" kern="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zh-CN" sz="1400" kern="0" dirty="0" err="1">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supvised</a:t>
            </a:r>
            <a:r>
              <a:rPr lang="en-US" altLang="zh-CN" sz="1400" kern="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 fine-tuning</a:t>
            </a:r>
            <a:r>
              <a:rPr lang="zh-CN" altLang="zh-CN" sz="1400" kern="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）模型，人在回路微调通过如下过程继续对该策略模型进行微调：</a:t>
            </a:r>
            <a:endParaRPr lang="zh-CN" altLang="zh-CN" sz="1400" kern="100" dirty="0">
              <a:latin typeface="华文楷体" panose="02010600040101010101" pitchFamily="2" charset="-122"/>
              <a:ea typeface="华文楷体" panose="02010600040101010101" pitchFamily="2" charset="-122"/>
              <a:cs typeface="Times New Roman" panose="02020603050405020304" pitchFamily="18" charset="0"/>
            </a:endParaRPr>
          </a:p>
          <a:p>
            <a:pPr indent="266700" algn="just">
              <a:lnSpc>
                <a:spcPts val="2200"/>
              </a:lnSpc>
            </a:pPr>
            <a:r>
              <a:rPr lang="zh-CN" altLang="zh-CN" sz="1400" b="1" kern="0" dirty="0">
                <a:solidFill>
                  <a:schemeClr val="accent6"/>
                </a:solidFill>
                <a:latin typeface="华文楷体" panose="02010600040101010101" pitchFamily="2" charset="-122"/>
                <a:ea typeface="华文楷体" panose="02010600040101010101" pitchFamily="2" charset="-122"/>
                <a:cs typeface="Times New Roman" panose="02020603050405020304" pitchFamily="18" charset="0"/>
              </a:rPr>
              <a:t>第二阶段：</a:t>
            </a:r>
            <a:r>
              <a:rPr lang="en-US" altLang="zh-CN" sz="1400" b="1" kern="0" dirty="0">
                <a:solidFill>
                  <a:schemeClr val="accent6"/>
                </a:solidFill>
                <a:latin typeface="华文楷体" panose="02010600040101010101" pitchFamily="2" charset="-122"/>
                <a:ea typeface="华文楷体" panose="02010600040101010101" pitchFamily="2" charset="-122"/>
                <a:cs typeface="Times New Roman" panose="02020603050405020304" pitchFamily="18" charset="0"/>
              </a:rPr>
              <a:t>RM</a:t>
            </a:r>
            <a:r>
              <a:rPr lang="zh-CN" altLang="zh-CN" sz="1400" b="1" kern="0" dirty="0">
                <a:solidFill>
                  <a:schemeClr val="accent6"/>
                </a:solidFill>
                <a:latin typeface="华文楷体" panose="02010600040101010101" pitchFamily="2" charset="-122"/>
                <a:ea typeface="华文楷体" panose="02010600040101010101" pitchFamily="2" charset="-122"/>
                <a:cs typeface="Times New Roman" panose="02020603050405020304" pitchFamily="18" charset="0"/>
              </a:rPr>
              <a:t>模型预测结果且通过</a:t>
            </a:r>
            <a:r>
              <a:rPr lang="en-US" altLang="zh-CN" sz="1400" b="1" kern="0" dirty="0">
                <a:solidFill>
                  <a:schemeClr val="accent6"/>
                </a:solidFill>
                <a:latin typeface="华文楷体" panose="02010600040101010101" pitchFamily="2" charset="-122"/>
                <a:ea typeface="华文楷体" panose="02010600040101010101" pitchFamily="2" charset="-122"/>
                <a:cs typeface="Times New Roman" panose="02020603050405020304" pitchFamily="18" charset="0"/>
              </a:rPr>
              <a:t>PPO</a:t>
            </a:r>
            <a:r>
              <a:rPr lang="zh-CN" altLang="zh-CN" sz="1400" b="1" kern="0" dirty="0">
                <a:solidFill>
                  <a:schemeClr val="accent6"/>
                </a:solidFill>
                <a:latin typeface="华文楷体" panose="02010600040101010101" pitchFamily="2" charset="-122"/>
                <a:ea typeface="华文楷体" panose="02010600040101010101" pitchFamily="2" charset="-122"/>
                <a:cs typeface="Times New Roman" panose="02020603050405020304" pitchFamily="18" charset="0"/>
              </a:rPr>
              <a:t>算法优化</a:t>
            </a:r>
            <a:r>
              <a:rPr lang="en-US" altLang="zh-CN" sz="1400" b="1" kern="0" dirty="0">
                <a:solidFill>
                  <a:schemeClr val="accent6"/>
                </a:solidFill>
                <a:latin typeface="华文楷体" panose="02010600040101010101" pitchFamily="2" charset="-122"/>
                <a:ea typeface="华文楷体" panose="02010600040101010101" pitchFamily="2" charset="-122"/>
                <a:cs typeface="Times New Roman" panose="02020603050405020304" pitchFamily="18" charset="0"/>
              </a:rPr>
              <a:t>SFT</a:t>
            </a:r>
            <a:r>
              <a:rPr lang="zh-CN" altLang="zh-CN" sz="1400" b="1" kern="0" dirty="0">
                <a:solidFill>
                  <a:schemeClr val="accent6"/>
                </a:solidFill>
                <a:latin typeface="华文楷体" panose="02010600040101010101" pitchFamily="2" charset="-122"/>
                <a:ea typeface="华文楷体" panose="02010600040101010101" pitchFamily="2" charset="-122"/>
                <a:cs typeface="Times New Roman" panose="02020603050405020304" pitchFamily="18" charset="0"/>
              </a:rPr>
              <a:t>模型</a:t>
            </a:r>
            <a:endParaRPr lang="en-US" altLang="zh-CN" sz="1400" b="1" kern="0" dirty="0">
              <a:solidFill>
                <a:schemeClr val="accent6"/>
              </a:solidFill>
              <a:latin typeface="华文楷体" panose="02010600040101010101" pitchFamily="2" charset="-122"/>
              <a:ea typeface="华文楷体" panose="02010600040101010101" pitchFamily="2" charset="-122"/>
              <a:cs typeface="Times New Roman" panose="02020603050405020304" pitchFamily="18" charset="0"/>
            </a:endParaRPr>
          </a:p>
          <a:p>
            <a:pPr indent="266700" algn="just">
              <a:lnSpc>
                <a:spcPts val="2200"/>
              </a:lnSpc>
              <a:spcAft>
                <a:spcPts val="0"/>
              </a:spcAft>
            </a:pPr>
            <a:r>
              <a:rPr lang="zh-CN" altLang="zh-CN" sz="1600" dirty="0">
                <a:latin typeface="华文楷体" panose="02010600040101010101" pitchFamily="2" charset="-122"/>
                <a:ea typeface="华文楷体" panose="02010600040101010101" pitchFamily="2" charset="-122"/>
                <a:cs typeface="Times New Roman" panose="02020603050405020304" pitchFamily="18" charset="0"/>
              </a:rPr>
              <a:t>让</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SFT</a:t>
            </a:r>
            <a:r>
              <a:rPr lang="zh-CN" altLang="zh-CN" sz="1600" dirty="0">
                <a:latin typeface="华文楷体" panose="02010600040101010101" pitchFamily="2" charset="-122"/>
                <a:ea typeface="华文楷体" panose="02010600040101010101" pitchFamily="2" charset="-122"/>
                <a:cs typeface="Times New Roman" panose="02020603050405020304" pitchFamily="18" charset="0"/>
              </a:rPr>
              <a:t>模型去回答来自训练数据中没有人类对答案结果排序的问题，然后让训练好的奖励模型</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RM</a:t>
            </a:r>
            <a:r>
              <a:rPr lang="zh-CN" altLang="zh-CN" sz="1600" dirty="0">
                <a:latin typeface="华文楷体" panose="02010600040101010101" pitchFamily="2" charset="-122"/>
                <a:ea typeface="华文楷体" panose="02010600040101010101" pitchFamily="2" charset="-122"/>
                <a:cs typeface="Times New Roman" panose="02020603050405020304" pitchFamily="18" charset="0"/>
              </a:rPr>
              <a:t>去给策略模型的预测结果进行打分进而排序，再通过</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PPO</a:t>
            </a:r>
            <a:r>
              <a:rPr lang="zh-CN" altLang="zh-CN" sz="1600"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Proximal Policy Optimization</a:t>
            </a:r>
            <a:r>
              <a:rPr lang="zh-CN" altLang="zh-CN" sz="1600" dirty="0">
                <a:latin typeface="华文楷体" panose="02010600040101010101" pitchFamily="2" charset="-122"/>
                <a:ea typeface="华文楷体" panose="02010600040101010101" pitchFamily="2" charset="-122"/>
                <a:cs typeface="Times New Roman" panose="02020603050405020304" pitchFamily="18" charset="0"/>
              </a:rPr>
              <a:t>）算法基于</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RM</a:t>
            </a:r>
            <a:r>
              <a:rPr lang="zh-CN" altLang="zh-CN" sz="1600" dirty="0">
                <a:latin typeface="华文楷体" panose="02010600040101010101" pitchFamily="2" charset="-122"/>
                <a:ea typeface="华文楷体" panose="02010600040101010101" pitchFamily="2" charset="-122"/>
                <a:cs typeface="Times New Roman" panose="02020603050405020304" pitchFamily="18" charset="0"/>
              </a:rPr>
              <a:t>的奖励分对于</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SFT</a:t>
            </a:r>
            <a:r>
              <a:rPr lang="zh-CN" altLang="zh-CN" sz="1600" dirty="0">
                <a:latin typeface="华文楷体" panose="02010600040101010101" pitchFamily="2" charset="-122"/>
                <a:ea typeface="华文楷体" panose="02010600040101010101" pitchFamily="2" charset="-122"/>
                <a:cs typeface="Times New Roman" panose="02020603050405020304" pitchFamily="18" charset="0"/>
              </a:rPr>
              <a:t>模型进行微调（如图</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10.9</a:t>
            </a:r>
            <a:r>
              <a:rPr lang="zh-CN" altLang="zh-CN" sz="1600" dirty="0">
                <a:latin typeface="华文楷体" panose="02010600040101010101" pitchFamily="2" charset="-122"/>
                <a:ea typeface="华文楷体" panose="02010600040101010101" pitchFamily="2" charset="-122"/>
                <a:cs typeface="Times New Roman" panose="02020603050405020304" pitchFamily="18" charset="0"/>
              </a:rPr>
              <a:t>）</a:t>
            </a:r>
            <a:endParaRPr lang="zh-CN" altLang="zh-CN" sz="1600" b="1" kern="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p:txBody>
      </p:sp>
      <p:pic>
        <p:nvPicPr>
          <p:cNvPr id="2" name="图片 1">
            <a:extLst>
              <a:ext uri="{FF2B5EF4-FFF2-40B4-BE49-F238E27FC236}">
                <a16:creationId xmlns:a16="http://schemas.microsoft.com/office/drawing/2014/main" id="{9FA933F0-E05D-4E5C-9E4E-A9D33DEB9AA5}"/>
              </a:ext>
            </a:extLst>
          </p:cNvPr>
          <p:cNvPicPr>
            <a:picLocks noChangeAspect="1"/>
          </p:cNvPicPr>
          <p:nvPr/>
        </p:nvPicPr>
        <p:blipFill>
          <a:blip r:embed="rId3"/>
          <a:stretch>
            <a:fillRect/>
          </a:stretch>
        </p:blipFill>
        <p:spPr>
          <a:xfrm>
            <a:off x="7169566" y="1636577"/>
            <a:ext cx="4976777" cy="3457088"/>
          </a:xfrm>
          <a:prstGeom prst="rect">
            <a:avLst/>
          </a:prstGeom>
        </p:spPr>
      </p:pic>
      <p:sp>
        <p:nvSpPr>
          <p:cNvPr id="10" name="文本框 9">
            <a:extLst>
              <a:ext uri="{FF2B5EF4-FFF2-40B4-BE49-F238E27FC236}">
                <a16:creationId xmlns:a16="http://schemas.microsoft.com/office/drawing/2014/main" id="{5CD5086B-1465-494D-7169-68C4C64E904D}"/>
              </a:ext>
            </a:extLst>
          </p:cNvPr>
          <p:cNvSpPr txBox="1"/>
          <p:nvPr/>
        </p:nvSpPr>
        <p:spPr>
          <a:xfrm>
            <a:off x="0" y="5558713"/>
            <a:ext cx="6595712" cy="873572"/>
          </a:xfrm>
          <a:prstGeom prst="rect">
            <a:avLst/>
          </a:prstGeom>
          <a:noFill/>
        </p:spPr>
        <p:txBody>
          <a:bodyPr wrap="square">
            <a:spAutoFit/>
          </a:bodyPr>
          <a:lstStyle/>
          <a:p>
            <a:pPr marL="742950" lvl="1" indent="-285750">
              <a:lnSpc>
                <a:spcPct val="150000"/>
              </a:lnSpc>
              <a:buFont typeface="Wingdings" panose="05000000000000000000" pitchFamily="2" charset="2"/>
              <a:buChar char="l"/>
            </a:pP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为什么采用强化学习学习，是否可以采用监督学习？</a:t>
            </a:r>
            <a:endPar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marL="1200150" lvl="2" indent="-285750">
              <a:lnSpc>
                <a:spcPct val="150000"/>
              </a:lnSpc>
              <a:buFont typeface="Wingdings" panose="05000000000000000000" pitchFamily="2" charset="2"/>
              <a:buChar char="l"/>
            </a:pP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Reward</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model</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集合了人类的价值观</a:t>
            </a:r>
            <a:endPar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2" name="图片 11">
            <a:extLst>
              <a:ext uri="{FF2B5EF4-FFF2-40B4-BE49-F238E27FC236}">
                <a16:creationId xmlns:a16="http://schemas.microsoft.com/office/drawing/2014/main" id="{503C7D37-5DD2-23C9-9703-A9AA8DD57A42}"/>
              </a:ext>
            </a:extLst>
          </p:cNvPr>
          <p:cNvPicPr>
            <a:picLocks noChangeAspect="1"/>
          </p:cNvPicPr>
          <p:nvPr/>
        </p:nvPicPr>
        <p:blipFill>
          <a:blip r:embed="rId4"/>
          <a:stretch>
            <a:fillRect/>
          </a:stretch>
        </p:blipFill>
        <p:spPr>
          <a:xfrm>
            <a:off x="342314" y="3904423"/>
            <a:ext cx="6518712" cy="785668"/>
          </a:xfrm>
          <a:prstGeom prst="rect">
            <a:avLst/>
          </a:prstGeom>
        </p:spPr>
      </p:pic>
    </p:spTree>
    <p:extLst>
      <p:ext uri="{BB962C8B-B14F-4D97-AF65-F5344CB8AC3E}">
        <p14:creationId xmlns:p14="http://schemas.microsoft.com/office/powerpoint/2010/main" val="3238793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DDC2A73-A340-722B-D1A9-8B0AC43EA544}"/>
              </a:ext>
            </a:extLst>
          </p:cNvPr>
          <p:cNvPicPr>
            <a:picLocks noChangeAspect="1"/>
          </p:cNvPicPr>
          <p:nvPr/>
        </p:nvPicPr>
        <p:blipFill>
          <a:blip r:embed="rId2"/>
          <a:stretch>
            <a:fillRect/>
          </a:stretch>
        </p:blipFill>
        <p:spPr>
          <a:xfrm>
            <a:off x="1049598" y="294145"/>
            <a:ext cx="9701821" cy="5826463"/>
          </a:xfrm>
          <a:prstGeom prst="rect">
            <a:avLst/>
          </a:prstGeom>
        </p:spPr>
      </p:pic>
      <p:sp>
        <p:nvSpPr>
          <p:cNvPr id="5" name="文本框 4">
            <a:extLst>
              <a:ext uri="{FF2B5EF4-FFF2-40B4-BE49-F238E27FC236}">
                <a16:creationId xmlns:a16="http://schemas.microsoft.com/office/drawing/2014/main" id="{C023CEB2-54A9-AEAF-B5B9-65EDC69E6516}"/>
              </a:ext>
            </a:extLst>
          </p:cNvPr>
          <p:cNvSpPr txBox="1"/>
          <p:nvPr/>
        </p:nvSpPr>
        <p:spPr>
          <a:xfrm>
            <a:off x="1268128" y="6290776"/>
            <a:ext cx="6097604" cy="369332"/>
          </a:xfrm>
          <a:prstGeom prst="rect">
            <a:avLst/>
          </a:prstGeom>
          <a:noFill/>
        </p:spPr>
        <p:txBody>
          <a:bodyPr wrap="square">
            <a:spAutoFit/>
          </a:bodyPr>
          <a:lstStyle/>
          <a:p>
            <a:r>
              <a:rPr lang="en-US" altLang="zh-CN" dirty="0" err="1">
                <a:latin typeface="Times New Roman" panose="02020603050405020304" pitchFamily="18" charset="0"/>
                <a:ea typeface="楷体" panose="02010609060101010101" pitchFamily="49" charset="-122"/>
                <a:cs typeface="Times New Roman" panose="02020603050405020304" pitchFamily="18" charset="0"/>
              </a:rPr>
              <a:t>InstructGPT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[Ouyang et al., 2022]</a:t>
            </a:r>
            <a:endParaRPr lang="zh-CN" altLang="en-US" dirty="0"/>
          </a:p>
        </p:txBody>
      </p:sp>
    </p:spTree>
    <p:extLst>
      <p:ext uri="{BB962C8B-B14F-4D97-AF65-F5344CB8AC3E}">
        <p14:creationId xmlns:p14="http://schemas.microsoft.com/office/powerpoint/2010/main" val="1821168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3B1252A3-EF99-4365-8143-7ADB17E92224}"/>
              </a:ext>
            </a:extLst>
          </p:cNvPr>
          <p:cNvSpPr/>
          <p:nvPr/>
        </p:nvSpPr>
        <p:spPr>
          <a:xfrm>
            <a:off x="407562" y="1789176"/>
            <a:ext cx="11265945" cy="2231380"/>
          </a:xfrm>
          <a:prstGeom prst="rect">
            <a:avLst/>
          </a:prstGeom>
        </p:spPr>
        <p:txBody>
          <a:bodyPr wrap="square">
            <a:spAutoFit/>
          </a:bodyPr>
          <a:lstStyle/>
          <a:p>
            <a:pPr>
              <a:lnSpc>
                <a:spcPct val="150000"/>
              </a:lnSpc>
            </a:pPr>
            <a:r>
              <a:rPr lang="zh-CN" altLang="zh-CN" sz="1600" b="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机器翻译任务可如下描述：</a:t>
            </a:r>
            <a:r>
              <a:rPr lang="zh-CN" altLang="zh-CN" dirty="0">
                <a:latin typeface="楷体" panose="02010609060101010101" pitchFamily="49" charset="-122"/>
                <a:ea typeface="楷体" panose="02010609060101010101" pitchFamily="49" charset="-122"/>
              </a:rPr>
              <a:t>给定一个源语言句子（例如中文），将其翻译为目标语言句子（例如英语）。</a:t>
            </a:r>
          </a:p>
          <a:p>
            <a:pPr>
              <a:lnSpc>
                <a:spcPct val="150000"/>
              </a:lnSpc>
            </a:pPr>
            <a:endParaRPr lang="zh-CN" altLang="zh-CN" dirty="0">
              <a:latin typeface="楷体" panose="02010609060101010101" pitchFamily="49" charset="-122"/>
              <a:ea typeface="楷体" panose="02010609060101010101" pitchFamily="49" charset="-122"/>
            </a:endParaRPr>
          </a:p>
          <a:p>
            <a:pPr>
              <a:lnSpc>
                <a:spcPct val="150000"/>
              </a:lnSpc>
            </a:pPr>
            <a:r>
              <a:rPr lang="zh-CN" altLang="zh-CN" dirty="0">
                <a:latin typeface="楷体" panose="02010609060101010101" pitchFamily="49" charset="-122"/>
                <a:ea typeface="楷体" panose="02010609060101010101" pitchFamily="49" charset="-122"/>
              </a:rPr>
              <a:t>在过去的几十年里，主要出现了</a:t>
            </a:r>
            <a:r>
              <a:rPr lang="zh-CN" altLang="zh-CN" dirty="0">
                <a:solidFill>
                  <a:srgbClr val="FF0000"/>
                </a:solidFill>
                <a:latin typeface="楷体" panose="02010609060101010101" pitchFamily="49" charset="-122"/>
                <a:ea typeface="楷体" panose="02010609060101010101" pitchFamily="49" charset="-122"/>
              </a:rPr>
              <a:t>非深度学习</a:t>
            </a:r>
            <a:r>
              <a:rPr lang="zh-CN" altLang="zh-CN" dirty="0">
                <a:latin typeface="楷体" panose="02010609060101010101" pitchFamily="49" charset="-122"/>
                <a:ea typeface="楷体" panose="02010609060101010101" pitchFamily="49" charset="-122"/>
              </a:rPr>
              <a:t>和</a:t>
            </a:r>
            <a:r>
              <a:rPr lang="zh-CN" altLang="zh-CN" dirty="0">
                <a:solidFill>
                  <a:srgbClr val="FF0000"/>
                </a:solidFill>
                <a:latin typeface="楷体" panose="02010609060101010101" pitchFamily="49" charset="-122"/>
                <a:ea typeface="楷体" panose="02010609060101010101" pitchFamily="49" charset="-122"/>
              </a:rPr>
              <a:t>深度学习</a:t>
            </a:r>
            <a:r>
              <a:rPr lang="zh-CN" altLang="zh-CN" dirty="0">
                <a:latin typeface="楷体" panose="02010609060101010101" pitchFamily="49" charset="-122"/>
                <a:ea typeface="楷体" panose="02010609060101010101" pitchFamily="49" charset="-122"/>
              </a:rPr>
              <a:t>的两类机器翻译方法。</a:t>
            </a:r>
          </a:p>
          <a:p>
            <a:pPr>
              <a:lnSpc>
                <a:spcPct val="150000"/>
              </a:lnSpc>
            </a:pPr>
            <a:endParaRPr lang="en-US" altLang="zh-CN" sz="1600" b="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endParaRPr lang="en-US"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0" name="组合 9">
            <a:extLst>
              <a:ext uri="{FF2B5EF4-FFF2-40B4-BE49-F238E27FC236}">
                <a16:creationId xmlns:a16="http://schemas.microsoft.com/office/drawing/2014/main" id="{4E2A6E07-8FB5-4531-8A46-C022BA30645E}"/>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9650F931-6C8A-4F69-B0E7-A9AC3274951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C1935D7A-D7B4-44D0-9BC9-7CAE19BACB0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556D89AC-3EB8-4059-B675-2467F90A0D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自然语言中机器翻译</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4" name="矩形 13">
            <a:extLst>
              <a:ext uri="{FF2B5EF4-FFF2-40B4-BE49-F238E27FC236}">
                <a16:creationId xmlns:a16="http://schemas.microsoft.com/office/drawing/2014/main" id="{6A940600-13FD-4A91-ACD0-2BE3F1A464D3}"/>
              </a:ext>
            </a:extLst>
          </p:cNvPr>
          <p:cNvSpPr/>
          <p:nvPr/>
        </p:nvSpPr>
        <p:spPr>
          <a:xfrm>
            <a:off x="852473" y="129010"/>
            <a:ext cx="2646878"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二、自然语言中的机器翻译</a:t>
            </a:r>
            <a:endParaRPr lang="zh-CN" altLang="en-US" sz="16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5555548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242715F-DC6A-18B0-8F5C-E877EBEDF3D1}"/>
              </a:ext>
            </a:extLst>
          </p:cNvPr>
          <p:cNvSpPr txBox="1"/>
          <p:nvPr/>
        </p:nvSpPr>
        <p:spPr>
          <a:xfrm>
            <a:off x="991401" y="2443344"/>
            <a:ext cx="9269129" cy="2117246"/>
          </a:xfrm>
          <a:prstGeom prst="rect">
            <a:avLst/>
          </a:prstGeom>
          <a:noFill/>
        </p:spPr>
        <p:txBody>
          <a:bodyPr wrap="square">
            <a:spAutoFit/>
          </a:bodyPr>
          <a:lstStyle/>
          <a:p>
            <a:pPr algn="just">
              <a:lnSpc>
                <a:spcPct val="150000"/>
              </a:lnSpc>
            </a:pPr>
            <a:r>
              <a:rPr lang="zh-CN" altLang="zh-CN" sz="1600" b="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基于文法的机器翻译</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Grammar-based Machine Translation</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）主要利用语言学和语法规则来实现源语言和目标语言之间的单词替换，以完成自动翻译</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Riezler</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2006]</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。其通常有两个主要步骤：</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解析（</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Parsing</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）和生成（</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Generation</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。在解析阶段，源语言句子会被解析成语法结构树或其他形式的中间表示。在生成阶段，根据目标语言的文法规则，利用解析得到的中间表示，生成对应的目标语言句子</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DECCFF38-D1BD-2533-4441-69C962BF31A5}"/>
              </a:ext>
            </a:extLst>
          </p:cNvPr>
          <p:cNvSpPr txBox="1"/>
          <p:nvPr/>
        </p:nvSpPr>
        <p:spPr>
          <a:xfrm>
            <a:off x="1126154" y="1928079"/>
            <a:ext cx="6097604" cy="369332"/>
          </a:xfrm>
          <a:prstGeom prst="rect">
            <a:avLst/>
          </a:prstGeom>
          <a:noFill/>
        </p:spPr>
        <p:txBody>
          <a:bodyPr wrap="square">
            <a:spAutoFit/>
          </a:bodyPr>
          <a:lstStyle/>
          <a:p>
            <a:r>
              <a:rPr lang="zh-CN" altLang="zh-CN" dirty="0">
                <a:latin typeface="楷体" panose="02010609060101010101" pitchFamily="49" charset="-122"/>
                <a:ea typeface="楷体" panose="02010609060101010101" pitchFamily="49" charset="-122"/>
              </a:rPr>
              <a:t>非深度学习方法主要包括</a:t>
            </a:r>
            <a:r>
              <a:rPr lang="zh-CN" altLang="zh-CN" dirty="0">
                <a:solidFill>
                  <a:srgbClr val="FF0000"/>
                </a:solidFill>
                <a:latin typeface="楷体" panose="02010609060101010101" pitchFamily="49" charset="-122"/>
                <a:ea typeface="楷体" panose="02010609060101010101" pitchFamily="49" charset="-122"/>
              </a:rPr>
              <a:t>基于文法</a:t>
            </a:r>
            <a:r>
              <a:rPr lang="zh-CN" altLang="zh-CN" dirty="0">
                <a:latin typeface="楷体" panose="02010609060101010101" pitchFamily="49" charset="-122"/>
                <a:ea typeface="楷体" panose="02010609060101010101" pitchFamily="49" charset="-122"/>
              </a:rPr>
              <a:t>和</a:t>
            </a:r>
            <a:r>
              <a:rPr lang="zh-CN" altLang="zh-CN" dirty="0">
                <a:solidFill>
                  <a:srgbClr val="FF0000"/>
                </a:solidFill>
                <a:latin typeface="楷体" panose="02010609060101010101" pitchFamily="49" charset="-122"/>
                <a:ea typeface="楷体" panose="02010609060101010101" pitchFamily="49" charset="-122"/>
              </a:rPr>
              <a:t>基于统计</a:t>
            </a:r>
            <a:r>
              <a:rPr lang="zh-CN" altLang="zh-CN" dirty="0">
                <a:latin typeface="楷体" panose="02010609060101010101" pitchFamily="49" charset="-122"/>
                <a:ea typeface="楷体" panose="02010609060101010101" pitchFamily="49" charset="-122"/>
              </a:rPr>
              <a:t>的两种方法。</a:t>
            </a:r>
            <a:endParaRPr lang="zh-CN" altLang="en-US" dirty="0"/>
          </a:p>
        </p:txBody>
      </p:sp>
      <p:grpSp>
        <p:nvGrpSpPr>
          <p:cNvPr id="6" name="组合 5">
            <a:extLst>
              <a:ext uri="{FF2B5EF4-FFF2-40B4-BE49-F238E27FC236}">
                <a16:creationId xmlns:a16="http://schemas.microsoft.com/office/drawing/2014/main" id="{9EB0AA6B-177B-237C-056C-1CC7F1A30147}"/>
              </a:ext>
            </a:extLst>
          </p:cNvPr>
          <p:cNvGrpSpPr/>
          <p:nvPr/>
        </p:nvGrpSpPr>
        <p:grpSpPr>
          <a:xfrm>
            <a:off x="2583380" y="726948"/>
            <a:ext cx="7464387" cy="497934"/>
            <a:chOff x="4099943" y="2819853"/>
            <a:chExt cx="2570275" cy="497934"/>
          </a:xfrm>
        </p:grpSpPr>
        <p:sp>
          <p:nvSpPr>
            <p:cNvPr id="7" name="平行四边形 6">
              <a:extLst>
                <a:ext uri="{FF2B5EF4-FFF2-40B4-BE49-F238E27FC236}">
                  <a16:creationId xmlns:a16="http://schemas.microsoft.com/office/drawing/2014/main" id="{A122CBE2-B220-C495-0981-72E6AB4A3C95}"/>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平行四边形 7">
              <a:extLst>
                <a:ext uri="{FF2B5EF4-FFF2-40B4-BE49-F238E27FC236}">
                  <a16:creationId xmlns:a16="http://schemas.microsoft.com/office/drawing/2014/main" id="{908F387C-4C96-4F11-E821-D0215A0F3536}"/>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矩形 8">
              <a:extLst>
                <a:ext uri="{FF2B5EF4-FFF2-40B4-BE49-F238E27FC236}">
                  <a16:creationId xmlns:a16="http://schemas.microsoft.com/office/drawing/2014/main" id="{A2A34438-BDD1-76C3-DC76-DAB558F6CA44}"/>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自然语言中机器翻译：非深度学习方法</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pic>
        <p:nvPicPr>
          <p:cNvPr id="13" name="图片 12">
            <a:extLst>
              <a:ext uri="{FF2B5EF4-FFF2-40B4-BE49-F238E27FC236}">
                <a16:creationId xmlns:a16="http://schemas.microsoft.com/office/drawing/2014/main" id="{8F2E2817-5DC2-A66F-A96E-8A8616FFEA07}"/>
              </a:ext>
            </a:extLst>
          </p:cNvPr>
          <p:cNvPicPr>
            <a:picLocks noChangeAspect="1"/>
          </p:cNvPicPr>
          <p:nvPr/>
        </p:nvPicPr>
        <p:blipFill>
          <a:blip r:embed="rId2"/>
          <a:stretch>
            <a:fillRect/>
          </a:stretch>
        </p:blipFill>
        <p:spPr>
          <a:xfrm>
            <a:off x="1311951" y="4560590"/>
            <a:ext cx="2542857" cy="1961905"/>
          </a:xfrm>
          <a:prstGeom prst="rect">
            <a:avLst/>
          </a:prstGeom>
        </p:spPr>
      </p:pic>
      <p:pic>
        <p:nvPicPr>
          <p:cNvPr id="15" name="图片 14">
            <a:extLst>
              <a:ext uri="{FF2B5EF4-FFF2-40B4-BE49-F238E27FC236}">
                <a16:creationId xmlns:a16="http://schemas.microsoft.com/office/drawing/2014/main" id="{FF746571-7D2A-9899-5F8F-4291F0D019D0}"/>
              </a:ext>
            </a:extLst>
          </p:cNvPr>
          <p:cNvPicPr>
            <a:picLocks noChangeAspect="1"/>
          </p:cNvPicPr>
          <p:nvPr/>
        </p:nvPicPr>
        <p:blipFill>
          <a:blip r:embed="rId3"/>
          <a:stretch>
            <a:fillRect/>
          </a:stretch>
        </p:blipFill>
        <p:spPr>
          <a:xfrm>
            <a:off x="3971854" y="4560590"/>
            <a:ext cx="2557740" cy="1876732"/>
          </a:xfrm>
          <a:prstGeom prst="rect">
            <a:avLst/>
          </a:prstGeom>
        </p:spPr>
      </p:pic>
    </p:spTree>
    <p:extLst>
      <p:ext uri="{BB962C8B-B14F-4D97-AF65-F5344CB8AC3E}">
        <p14:creationId xmlns:p14="http://schemas.microsoft.com/office/powerpoint/2010/main" val="20139511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3B1252A3-EF99-4365-8143-7ADB17E92224}"/>
              </a:ext>
            </a:extLst>
          </p:cNvPr>
          <p:cNvSpPr/>
          <p:nvPr/>
        </p:nvSpPr>
        <p:spPr>
          <a:xfrm>
            <a:off x="407562" y="1789176"/>
            <a:ext cx="11265945" cy="5047536"/>
          </a:xfrm>
          <a:prstGeom prst="rect">
            <a:avLst/>
          </a:prstGeom>
        </p:spPr>
        <p:txBody>
          <a:bodyPr wrap="square">
            <a:spAutoFit/>
          </a:bodyPr>
          <a:lstStyle/>
          <a:p>
            <a:r>
              <a:rPr lang="zh-CN" altLang="zh-CN" sz="1600" b="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基于统计的机器翻译（</a:t>
            </a:r>
            <a:r>
              <a:rPr lang="en-US" altLang="zh-CN" sz="1600" b="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Statistical Machine Translation</a:t>
            </a:r>
            <a:r>
              <a:rPr lang="zh-CN" altLang="zh-CN" sz="1600" b="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SMT</a:t>
            </a:r>
            <a:r>
              <a:rPr lang="zh-CN" altLang="zh-CN" sz="1600" b="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的核心思想是基于统计模型来进行翻译</a:t>
            </a:r>
            <a:r>
              <a:rPr lang="en-US" altLang="zh-CN" dirty="0">
                <a:latin typeface="Times New Roman" panose="02020603050405020304" pitchFamily="18" charset="0"/>
                <a:ea typeface="楷体" panose="02010609060101010101" pitchFamily="49" charset="-122"/>
                <a:cs typeface="Times New Roman" panose="02020603050405020304" pitchFamily="18" charset="0"/>
              </a:rPr>
              <a:t>[Lopez 2008]</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。与基于文法的机器翻译方法不同，基于统计的机器翻译并不依赖于手动编写的规则，而是通过机器学习来建模语言之间的转换。基于统计的机器翻译主要有训练和解码两个阶段。</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lgn="just"/>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pPr algn="just"/>
            <a:r>
              <a:rPr lang="zh-CN" altLang="zh-CN" sz="1600" b="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训练阶段</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：整理形成大规模的双语平行语料库，语料库中包括源语言和目标语言一一对齐的句子对。通过对对齐的源语言句子和目标语言句子进行学习，获取源语言单词和目标语言单词在句子级</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对应</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关系。然后利用</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统计模型</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（如隐马尔可夫模型，</a:t>
            </a:r>
            <a:r>
              <a:rPr lang="en-US" altLang="zh-CN" dirty="0">
                <a:latin typeface="Times New Roman" panose="02020603050405020304" pitchFamily="18" charset="0"/>
                <a:ea typeface="楷体" panose="02010609060101010101" pitchFamily="49" charset="-122"/>
                <a:cs typeface="Times New Roman" panose="02020603050405020304" pitchFamily="18" charset="0"/>
              </a:rPr>
              <a:t>Hidden Markov Model</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）来学习刻画了源语言和目标语言之间翻译概率的语言模型。</a:t>
            </a:r>
          </a:p>
          <a:p>
            <a:pPr algn="just"/>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lgn="just"/>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lgn="just"/>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lgn="just"/>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lgn="just"/>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lgn="just"/>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lgn="just"/>
            <a:r>
              <a:rPr lang="zh-CN" altLang="zh-CN" sz="1600" b="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解码阶段</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：对于给定的源语言句子，基于训练阶段所得语言模型来计算源语言句子与目标语言句子之间的出现概率，找到概率最大的匹配目标语言句子。常用的解码算法包括贪婪搜索和束搜索</a:t>
            </a:r>
            <a:r>
              <a:rPr lang="en-US" altLang="zh-CN" dirty="0">
                <a:latin typeface="Times New Roman" panose="02020603050405020304" pitchFamily="18" charset="0"/>
                <a:ea typeface="楷体" panose="02010609060101010101" pitchFamily="49" charset="-122"/>
                <a:cs typeface="Times New Roman" panose="02020603050405020304" pitchFamily="18" charset="0"/>
              </a:rPr>
              <a:t>(Beam Search)</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等。</a:t>
            </a:r>
          </a:p>
          <a:p>
            <a:pPr algn="just"/>
            <a:endParaRPr lang="zh-CN" altLang="zh-CN" dirty="0">
              <a:latin typeface="楷体" panose="02010609060101010101" pitchFamily="49" charset="-122"/>
              <a:ea typeface="楷体" panose="02010609060101010101" pitchFamily="49" charset="-122"/>
            </a:endParaRPr>
          </a:p>
          <a:p>
            <a:pPr algn="just"/>
            <a:endParaRPr lang="en-US"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0" name="组合 9">
            <a:extLst>
              <a:ext uri="{FF2B5EF4-FFF2-40B4-BE49-F238E27FC236}">
                <a16:creationId xmlns:a16="http://schemas.microsoft.com/office/drawing/2014/main" id="{4E2A6E07-8FB5-4531-8A46-C022BA30645E}"/>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9650F931-6C8A-4F69-B0E7-A9AC3274951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C1935D7A-D7B4-44D0-9BC9-7CAE19BACB0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556D89AC-3EB8-4059-B675-2467F90A0D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自然语言中机器翻译</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4" name="矩形 13">
            <a:extLst>
              <a:ext uri="{FF2B5EF4-FFF2-40B4-BE49-F238E27FC236}">
                <a16:creationId xmlns:a16="http://schemas.microsoft.com/office/drawing/2014/main" id="{6A940600-13FD-4A91-ACD0-2BE3F1A464D3}"/>
              </a:ext>
            </a:extLst>
          </p:cNvPr>
          <p:cNvSpPr/>
          <p:nvPr/>
        </p:nvSpPr>
        <p:spPr>
          <a:xfrm>
            <a:off x="852473" y="129010"/>
            <a:ext cx="2646878"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二、自然语言中的机器翻译</a:t>
            </a:r>
            <a:endParaRPr lang="zh-CN" altLang="en-US" sz="1600" dirty="0">
              <a:solidFill>
                <a:srgbClr val="000000"/>
              </a:solidFill>
              <a:latin typeface="Times New Roman" panose="02020603050405020304" pitchFamily="18" charset="0"/>
            </a:endParaRPr>
          </a:p>
        </p:txBody>
      </p:sp>
      <p:pic>
        <p:nvPicPr>
          <p:cNvPr id="3" name="图片 2">
            <a:extLst>
              <a:ext uri="{FF2B5EF4-FFF2-40B4-BE49-F238E27FC236}">
                <a16:creationId xmlns:a16="http://schemas.microsoft.com/office/drawing/2014/main" id="{77728AE7-B54F-F81E-110F-205D835F3CF3}"/>
              </a:ext>
            </a:extLst>
          </p:cNvPr>
          <p:cNvPicPr>
            <a:picLocks noChangeAspect="1"/>
          </p:cNvPicPr>
          <p:nvPr/>
        </p:nvPicPr>
        <p:blipFill>
          <a:blip r:embed="rId3"/>
          <a:stretch>
            <a:fillRect/>
          </a:stretch>
        </p:blipFill>
        <p:spPr>
          <a:xfrm>
            <a:off x="518493" y="4111740"/>
            <a:ext cx="2809524" cy="542857"/>
          </a:xfrm>
          <a:prstGeom prst="rect">
            <a:avLst/>
          </a:prstGeom>
        </p:spPr>
      </p:pic>
      <p:graphicFrame>
        <p:nvGraphicFramePr>
          <p:cNvPr id="6" name="表格 5">
            <a:extLst>
              <a:ext uri="{FF2B5EF4-FFF2-40B4-BE49-F238E27FC236}">
                <a16:creationId xmlns:a16="http://schemas.microsoft.com/office/drawing/2014/main" id="{D5B214D8-D163-69BB-5DF7-69CA306C03AA}"/>
              </a:ext>
            </a:extLst>
          </p:cNvPr>
          <p:cNvGraphicFramePr>
            <a:graphicFrameLocks noGrp="1"/>
          </p:cNvGraphicFramePr>
          <p:nvPr>
            <p:extLst>
              <p:ext uri="{D42A27DB-BD31-4B8C-83A1-F6EECF244321}">
                <p14:modId xmlns:p14="http://schemas.microsoft.com/office/powerpoint/2010/main" val="4194149765"/>
              </p:ext>
            </p:extLst>
          </p:nvPr>
        </p:nvGraphicFramePr>
        <p:xfrm>
          <a:off x="3603513" y="3871115"/>
          <a:ext cx="8219174" cy="486084"/>
        </p:xfrm>
        <a:graphic>
          <a:graphicData uri="http://schemas.openxmlformats.org/drawingml/2006/table">
            <a:tbl>
              <a:tblPr/>
              <a:tblGrid>
                <a:gridCol w="2530643">
                  <a:extLst>
                    <a:ext uri="{9D8B030D-6E8A-4147-A177-3AD203B41FA5}">
                      <a16:colId xmlns:a16="http://schemas.microsoft.com/office/drawing/2014/main" val="3080404461"/>
                    </a:ext>
                  </a:extLst>
                </a:gridCol>
                <a:gridCol w="5688531">
                  <a:extLst>
                    <a:ext uri="{9D8B030D-6E8A-4147-A177-3AD203B41FA5}">
                      <a16:colId xmlns:a16="http://schemas.microsoft.com/office/drawing/2014/main" val="2418374712"/>
                    </a:ext>
                  </a:extLst>
                </a:gridCol>
              </a:tblGrid>
              <a:tr h="486084">
                <a:tc>
                  <a:txBody>
                    <a:bodyPr/>
                    <a:lstStyle/>
                    <a:p>
                      <a:r>
                        <a:rPr lang="zh-CN" altLang="en-US" sz="1400" b="1" dirty="0">
                          <a:solidFill>
                            <a:srgbClr val="000000"/>
                          </a:solidFill>
                          <a:effectLst/>
                        </a:rPr>
                        <a:t>翻译模型</a:t>
                      </a:r>
                      <a:endParaRPr lang="en-US" sz="1400" b="0" dirty="0">
                        <a:effectLst/>
                      </a:endParaRPr>
                    </a:p>
                  </a:txBody>
                  <a:tcPr marL="171450" marR="171450" marT="114300" marB="114300" anchor="ctr">
                    <a:lnL w="9525" cap="flat" cmpd="sng" algn="ctr">
                      <a:solidFill>
                        <a:srgbClr val="40E0E3"/>
                      </a:solidFill>
                      <a:prstDash val="solid"/>
                      <a:round/>
                      <a:headEnd type="none" w="med" len="med"/>
                      <a:tailEnd type="none" w="med" len="med"/>
                    </a:lnL>
                    <a:lnR w="9525" cap="flat" cmpd="sng" algn="ctr">
                      <a:solidFill>
                        <a:srgbClr val="00E0E3"/>
                      </a:solidFill>
                      <a:prstDash val="solid"/>
                      <a:round/>
                      <a:headEnd type="none" w="med" len="med"/>
                      <a:tailEnd type="none" w="med" len="med"/>
                    </a:lnR>
                    <a:lnT w="9525" cap="flat" cmpd="sng" algn="ctr">
                      <a:solidFill>
                        <a:srgbClr val="60E0E3"/>
                      </a:solidFill>
                      <a:prstDash val="solid"/>
                      <a:round/>
                      <a:headEnd type="none" w="med" len="med"/>
                      <a:tailEnd type="none" w="med" len="med"/>
                    </a:lnT>
                    <a:lnB w="9525" cap="flat" cmpd="sng" algn="ctr">
                      <a:solidFill>
                        <a:srgbClr val="40DFE3"/>
                      </a:solidFill>
                      <a:prstDash val="solid"/>
                      <a:round/>
                      <a:headEnd type="none" w="med" len="med"/>
                      <a:tailEnd type="none" w="med" len="med"/>
                    </a:lnB>
                    <a:solidFill>
                      <a:srgbClr val="FFFFFF"/>
                    </a:solidFill>
                  </a:tcPr>
                </a:tc>
                <a:tc>
                  <a:txBody>
                    <a:bodyPr/>
                    <a:lstStyle/>
                    <a:p>
                      <a:r>
                        <a:rPr lang="zh-CN" altLang="en-US" sz="1400" b="0" dirty="0">
                          <a:effectLst/>
                        </a:rPr>
                        <a:t>计算 “源语言词组 </a:t>
                      </a:r>
                      <a:r>
                        <a:rPr lang="en-US" altLang="zh-CN" sz="1400" b="0" dirty="0">
                          <a:effectLst/>
                        </a:rPr>
                        <a:t>/ </a:t>
                      </a:r>
                      <a:r>
                        <a:rPr lang="zh-CN" altLang="en-US" sz="1400" b="0" dirty="0">
                          <a:effectLst/>
                        </a:rPr>
                        <a:t>单词对应目标语言词组 </a:t>
                      </a:r>
                      <a:r>
                        <a:rPr lang="en-US" altLang="zh-CN" sz="1400" b="0" dirty="0">
                          <a:effectLst/>
                        </a:rPr>
                        <a:t>/ </a:t>
                      </a:r>
                      <a:r>
                        <a:rPr lang="zh-CN" altLang="en-US" sz="1400" b="0" dirty="0">
                          <a:effectLst/>
                        </a:rPr>
                        <a:t>单词” 的概率</a:t>
                      </a:r>
                    </a:p>
                  </a:txBody>
                  <a:tcPr marL="171450" marR="171450" marT="114300" marB="114300" anchor="ctr">
                    <a:lnL w="9525" cap="flat" cmpd="sng" algn="ctr">
                      <a:solidFill>
                        <a:srgbClr val="00E0E3"/>
                      </a:solidFill>
                      <a:prstDash val="solid"/>
                      <a:round/>
                      <a:headEnd type="none" w="med" len="med"/>
                      <a:tailEnd type="none" w="med" len="med"/>
                    </a:lnL>
                    <a:lnR w="9525" cap="flat" cmpd="sng" algn="ctr">
                      <a:solidFill>
                        <a:srgbClr val="C017E6"/>
                      </a:solidFill>
                      <a:prstDash val="solid"/>
                      <a:round/>
                      <a:headEnd type="none" w="med" len="med"/>
                      <a:tailEnd type="none" w="med" len="med"/>
                    </a:lnR>
                    <a:lnT w="9525" cap="flat" cmpd="sng" algn="ctr">
                      <a:solidFill>
                        <a:srgbClr val="20E1E3"/>
                      </a:solidFill>
                      <a:prstDash val="solid"/>
                      <a:round/>
                      <a:headEnd type="none" w="med" len="med"/>
                      <a:tailEnd type="none" w="med" len="med"/>
                    </a:lnT>
                    <a:lnB w="9525" cap="flat" cmpd="sng" algn="ctr">
                      <a:solidFill>
                        <a:srgbClr val="80DEE3"/>
                      </a:solidFill>
                      <a:prstDash val="solid"/>
                      <a:round/>
                      <a:headEnd type="none" w="med" len="med"/>
                      <a:tailEnd type="none" w="med" len="med"/>
                    </a:lnB>
                    <a:solidFill>
                      <a:srgbClr val="FFFFFF"/>
                    </a:solidFill>
                  </a:tcPr>
                </a:tc>
                <a:extLst>
                  <a:ext uri="{0D108BD9-81ED-4DB2-BD59-A6C34878D82A}">
                    <a16:rowId xmlns:a16="http://schemas.microsoft.com/office/drawing/2014/main" val="3197629280"/>
                  </a:ext>
                </a:extLst>
              </a:tr>
            </a:tbl>
          </a:graphicData>
        </a:graphic>
      </p:graphicFrame>
      <p:graphicFrame>
        <p:nvGraphicFramePr>
          <p:cNvPr id="7" name="表格 6">
            <a:extLst>
              <a:ext uri="{FF2B5EF4-FFF2-40B4-BE49-F238E27FC236}">
                <a16:creationId xmlns:a16="http://schemas.microsoft.com/office/drawing/2014/main" id="{72BC4E51-D09F-46CB-D397-D7906BC75753}"/>
              </a:ext>
            </a:extLst>
          </p:cNvPr>
          <p:cNvGraphicFramePr>
            <a:graphicFrameLocks noGrp="1"/>
          </p:cNvGraphicFramePr>
          <p:nvPr>
            <p:extLst>
              <p:ext uri="{D42A27DB-BD31-4B8C-83A1-F6EECF244321}">
                <p14:modId xmlns:p14="http://schemas.microsoft.com/office/powerpoint/2010/main" val="192918096"/>
              </p:ext>
            </p:extLst>
          </p:nvPr>
        </p:nvGraphicFramePr>
        <p:xfrm>
          <a:off x="3603513" y="4349579"/>
          <a:ext cx="8216502" cy="441960"/>
        </p:xfrm>
        <a:graphic>
          <a:graphicData uri="http://schemas.openxmlformats.org/drawingml/2006/table">
            <a:tbl>
              <a:tblPr/>
              <a:tblGrid>
                <a:gridCol w="2525108">
                  <a:extLst>
                    <a:ext uri="{9D8B030D-6E8A-4147-A177-3AD203B41FA5}">
                      <a16:colId xmlns:a16="http://schemas.microsoft.com/office/drawing/2014/main" val="1184161119"/>
                    </a:ext>
                  </a:extLst>
                </a:gridCol>
                <a:gridCol w="5691394">
                  <a:extLst>
                    <a:ext uri="{9D8B030D-6E8A-4147-A177-3AD203B41FA5}">
                      <a16:colId xmlns:a16="http://schemas.microsoft.com/office/drawing/2014/main" val="313349841"/>
                    </a:ext>
                  </a:extLst>
                </a:gridCol>
              </a:tblGrid>
              <a:tr h="0">
                <a:tc>
                  <a:txBody>
                    <a:bodyPr/>
                    <a:lstStyle/>
                    <a:p>
                      <a:r>
                        <a:rPr lang="zh-CN" altLang="en-US" sz="1400" b="1" dirty="0">
                          <a:solidFill>
                            <a:srgbClr val="000000"/>
                          </a:solidFill>
                          <a:effectLst/>
                        </a:rPr>
                        <a:t>语言模型</a:t>
                      </a:r>
                      <a:endParaRPr lang="en-US" sz="1400" b="0" dirty="0">
                        <a:effectLst/>
                      </a:endParaRPr>
                    </a:p>
                  </a:txBody>
                  <a:tcPr marL="171450" marR="171450" marT="114300" marB="114300" anchor="ctr">
                    <a:lnL w="9525" cap="flat" cmpd="sng" algn="ctr">
                      <a:solidFill>
                        <a:srgbClr val="8081E3"/>
                      </a:solidFill>
                      <a:prstDash val="solid"/>
                      <a:round/>
                      <a:headEnd type="none" w="med" len="med"/>
                      <a:tailEnd type="none" w="med" len="med"/>
                    </a:lnL>
                    <a:lnR w="9525" cap="flat" cmpd="sng" algn="ctr">
                      <a:solidFill>
                        <a:srgbClr val="008AE3"/>
                      </a:solidFill>
                      <a:prstDash val="solid"/>
                      <a:round/>
                      <a:headEnd type="none" w="med" len="med"/>
                      <a:tailEnd type="none" w="med" len="med"/>
                    </a:lnR>
                    <a:lnT w="9525" cap="flat" cmpd="sng" algn="ctr">
                      <a:solidFill>
                        <a:srgbClr val="E088E3"/>
                      </a:solidFill>
                      <a:prstDash val="solid"/>
                      <a:round/>
                      <a:headEnd type="none" w="med" len="med"/>
                      <a:tailEnd type="none" w="med" len="med"/>
                    </a:lnT>
                    <a:lnB w="9525" cap="flat" cmpd="sng" algn="ctr">
                      <a:solidFill>
                        <a:srgbClr val="6081E3"/>
                      </a:solidFill>
                      <a:prstDash val="solid"/>
                      <a:round/>
                      <a:headEnd type="none" w="med" len="med"/>
                      <a:tailEnd type="none" w="med" len="med"/>
                    </a:lnB>
                    <a:solidFill>
                      <a:srgbClr val="FFFFFF"/>
                    </a:solidFill>
                  </a:tcPr>
                </a:tc>
                <a:tc>
                  <a:txBody>
                    <a:bodyPr/>
                    <a:lstStyle/>
                    <a:p>
                      <a:r>
                        <a:rPr lang="zh-CN" altLang="en-US" sz="1400" b="0" dirty="0">
                          <a:effectLst/>
                        </a:rPr>
                        <a:t>计算 “目标语言句子是否通顺” 的概率</a:t>
                      </a:r>
                    </a:p>
                  </a:txBody>
                  <a:tcPr marL="171450" marR="171450" marT="114300" marB="114300" anchor="ctr">
                    <a:lnL w="9525" cap="flat" cmpd="sng" algn="ctr">
                      <a:solidFill>
                        <a:srgbClr val="008AE3"/>
                      </a:solidFill>
                      <a:prstDash val="solid"/>
                      <a:round/>
                      <a:headEnd type="none" w="med" len="med"/>
                      <a:tailEnd type="none" w="med" len="med"/>
                    </a:lnL>
                    <a:lnR w="9525" cap="flat" cmpd="sng" algn="ctr">
                      <a:solidFill>
                        <a:srgbClr val="80ADAE"/>
                      </a:solidFill>
                      <a:prstDash val="solid"/>
                      <a:round/>
                      <a:headEnd type="none" w="med" len="med"/>
                      <a:tailEnd type="none" w="med" len="med"/>
                    </a:lnR>
                    <a:lnT w="9525" cap="flat" cmpd="sng" algn="ctr">
                      <a:solidFill>
                        <a:srgbClr val="C08AE3"/>
                      </a:solidFill>
                      <a:prstDash val="solid"/>
                      <a:round/>
                      <a:headEnd type="none" w="med" len="med"/>
                      <a:tailEnd type="none" w="med" len="med"/>
                    </a:lnT>
                    <a:lnB w="9525" cap="flat" cmpd="sng" algn="ctr">
                      <a:solidFill>
                        <a:srgbClr val="C08EE3"/>
                      </a:solidFill>
                      <a:prstDash val="solid"/>
                      <a:round/>
                      <a:headEnd type="none" w="med" len="med"/>
                      <a:tailEnd type="none" w="med" len="med"/>
                    </a:lnB>
                    <a:solidFill>
                      <a:srgbClr val="FFFFFF"/>
                    </a:solidFill>
                  </a:tcPr>
                </a:tc>
                <a:extLst>
                  <a:ext uri="{0D108BD9-81ED-4DB2-BD59-A6C34878D82A}">
                    <a16:rowId xmlns:a16="http://schemas.microsoft.com/office/drawing/2014/main" val="372767545"/>
                  </a:ext>
                </a:extLst>
              </a:tr>
            </a:tbl>
          </a:graphicData>
        </a:graphic>
      </p:graphicFrame>
      <p:graphicFrame>
        <p:nvGraphicFramePr>
          <p:cNvPr id="15" name="表格 14">
            <a:extLst>
              <a:ext uri="{FF2B5EF4-FFF2-40B4-BE49-F238E27FC236}">
                <a16:creationId xmlns:a16="http://schemas.microsoft.com/office/drawing/2014/main" id="{65E18A39-2C3D-FCD4-1459-2AA9E6863335}"/>
              </a:ext>
            </a:extLst>
          </p:cNvPr>
          <p:cNvGraphicFramePr>
            <a:graphicFrameLocks noGrp="1"/>
          </p:cNvGraphicFramePr>
          <p:nvPr>
            <p:extLst>
              <p:ext uri="{D42A27DB-BD31-4B8C-83A1-F6EECF244321}">
                <p14:modId xmlns:p14="http://schemas.microsoft.com/office/powerpoint/2010/main" val="3575017070"/>
              </p:ext>
            </p:extLst>
          </p:nvPr>
        </p:nvGraphicFramePr>
        <p:xfrm>
          <a:off x="3603513" y="4791539"/>
          <a:ext cx="8216502" cy="441960"/>
        </p:xfrm>
        <a:graphic>
          <a:graphicData uri="http://schemas.openxmlformats.org/drawingml/2006/table">
            <a:tbl>
              <a:tblPr/>
              <a:tblGrid>
                <a:gridCol w="2527780">
                  <a:extLst>
                    <a:ext uri="{9D8B030D-6E8A-4147-A177-3AD203B41FA5}">
                      <a16:colId xmlns:a16="http://schemas.microsoft.com/office/drawing/2014/main" val="851959394"/>
                    </a:ext>
                  </a:extLst>
                </a:gridCol>
                <a:gridCol w="5688722">
                  <a:extLst>
                    <a:ext uri="{9D8B030D-6E8A-4147-A177-3AD203B41FA5}">
                      <a16:colId xmlns:a16="http://schemas.microsoft.com/office/drawing/2014/main" val="3034164001"/>
                    </a:ext>
                  </a:extLst>
                </a:gridCol>
              </a:tblGrid>
              <a:tr h="0">
                <a:tc>
                  <a:txBody>
                    <a:bodyPr/>
                    <a:lstStyle/>
                    <a:p>
                      <a:r>
                        <a:rPr lang="zh-CN" altLang="en-US" sz="1400" b="1" dirty="0">
                          <a:solidFill>
                            <a:srgbClr val="000000"/>
                          </a:solidFill>
                          <a:effectLst/>
                        </a:rPr>
                        <a:t>对齐模型</a:t>
                      </a:r>
                      <a:endParaRPr lang="en-US" sz="1400" b="0" dirty="0">
                        <a:effectLst/>
                      </a:endParaRPr>
                    </a:p>
                  </a:txBody>
                  <a:tcPr marL="171450" marR="171450" marT="114300" marB="114300" anchor="ctr">
                    <a:lnL w="9525" cap="flat" cmpd="sng" algn="ctr">
                      <a:solidFill>
                        <a:srgbClr val="6057DA"/>
                      </a:solidFill>
                      <a:prstDash val="solid"/>
                      <a:round/>
                      <a:headEnd type="none" w="med" len="med"/>
                      <a:tailEnd type="none" w="med" len="med"/>
                    </a:lnL>
                    <a:lnR w="9525" cap="flat" cmpd="sng" algn="ctr">
                      <a:solidFill>
                        <a:srgbClr val="0060DA"/>
                      </a:solidFill>
                      <a:prstDash val="solid"/>
                      <a:round/>
                      <a:headEnd type="none" w="med" len="med"/>
                      <a:tailEnd type="none" w="med" len="med"/>
                    </a:lnR>
                    <a:lnT w="9525" cap="flat" cmpd="sng" algn="ctr">
                      <a:solidFill>
                        <a:srgbClr val="A051DA"/>
                      </a:solidFill>
                      <a:prstDash val="solid"/>
                      <a:round/>
                      <a:headEnd type="none" w="med" len="med"/>
                      <a:tailEnd type="none" w="med" len="med"/>
                    </a:lnT>
                    <a:lnB w="9525" cap="flat" cmpd="sng" algn="ctr">
                      <a:solidFill>
                        <a:srgbClr val="A058DA"/>
                      </a:solidFill>
                      <a:prstDash val="solid"/>
                      <a:round/>
                      <a:headEnd type="none" w="med" len="med"/>
                      <a:tailEnd type="none" w="med" len="med"/>
                    </a:lnB>
                    <a:solidFill>
                      <a:srgbClr val="FFFFFF"/>
                    </a:solidFill>
                  </a:tcPr>
                </a:tc>
                <a:tc>
                  <a:txBody>
                    <a:bodyPr/>
                    <a:lstStyle/>
                    <a:p>
                      <a:r>
                        <a:rPr lang="zh-CN" altLang="en-US" sz="1400" b="0" dirty="0">
                          <a:effectLst/>
                        </a:rPr>
                        <a:t>计算 “源语言单词与目标语言单词的对应位置关系” 的概率</a:t>
                      </a:r>
                    </a:p>
                  </a:txBody>
                  <a:tcPr marL="171450" marR="171450" marT="114300" marB="114300" anchor="ctr">
                    <a:lnL w="9525" cap="flat" cmpd="sng" algn="ctr">
                      <a:solidFill>
                        <a:srgbClr val="0060DA"/>
                      </a:solidFill>
                      <a:prstDash val="solid"/>
                      <a:round/>
                      <a:headEnd type="none" w="med" len="med"/>
                      <a:tailEnd type="none" w="med" len="med"/>
                    </a:lnL>
                    <a:lnR w="9525" cap="flat" cmpd="sng" algn="ctr">
                      <a:solidFill>
                        <a:srgbClr val="B09451"/>
                      </a:solidFill>
                      <a:prstDash val="solid"/>
                      <a:round/>
                      <a:headEnd type="none" w="med" len="med"/>
                      <a:tailEnd type="none" w="med" len="med"/>
                    </a:lnR>
                    <a:lnT w="9525" cap="flat" cmpd="sng" algn="ctr">
                      <a:solidFill>
                        <a:srgbClr val="A060DA"/>
                      </a:solidFill>
                      <a:prstDash val="solid"/>
                      <a:round/>
                      <a:headEnd type="none" w="med" len="med"/>
                      <a:tailEnd type="none" w="med" len="med"/>
                    </a:lnT>
                    <a:lnB w="9525" cap="flat" cmpd="sng" algn="ctr">
                      <a:solidFill>
                        <a:srgbClr val="A05DDA"/>
                      </a:solidFill>
                      <a:prstDash val="solid"/>
                      <a:round/>
                      <a:headEnd type="none" w="med" len="med"/>
                      <a:tailEnd type="none" w="med" len="med"/>
                    </a:lnB>
                    <a:solidFill>
                      <a:srgbClr val="FFFFFF"/>
                    </a:solidFill>
                  </a:tcPr>
                </a:tc>
                <a:extLst>
                  <a:ext uri="{0D108BD9-81ED-4DB2-BD59-A6C34878D82A}">
                    <a16:rowId xmlns:a16="http://schemas.microsoft.com/office/drawing/2014/main" val="1653729901"/>
                  </a:ext>
                </a:extLst>
              </a:tr>
            </a:tbl>
          </a:graphicData>
        </a:graphic>
      </p:graphicFrame>
      <p:pic>
        <p:nvPicPr>
          <p:cNvPr id="17" name="图片 16">
            <a:extLst>
              <a:ext uri="{FF2B5EF4-FFF2-40B4-BE49-F238E27FC236}">
                <a16:creationId xmlns:a16="http://schemas.microsoft.com/office/drawing/2014/main" id="{16B4762F-BE56-934B-21B7-BD6D6FF03E32}"/>
              </a:ext>
            </a:extLst>
          </p:cNvPr>
          <p:cNvPicPr>
            <a:picLocks noChangeAspect="1"/>
          </p:cNvPicPr>
          <p:nvPr/>
        </p:nvPicPr>
        <p:blipFill>
          <a:blip r:embed="rId4"/>
          <a:stretch>
            <a:fillRect/>
          </a:stretch>
        </p:blipFill>
        <p:spPr>
          <a:xfrm>
            <a:off x="4803854" y="5983125"/>
            <a:ext cx="2862550" cy="372853"/>
          </a:xfrm>
          <a:prstGeom prst="rect">
            <a:avLst/>
          </a:prstGeom>
        </p:spPr>
      </p:pic>
    </p:spTree>
    <p:extLst>
      <p:ext uri="{BB962C8B-B14F-4D97-AF65-F5344CB8AC3E}">
        <p14:creationId xmlns:p14="http://schemas.microsoft.com/office/powerpoint/2010/main" val="9363255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E2A6E07-8FB5-4531-8A46-C022BA30645E}"/>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9650F931-6C8A-4F69-B0E7-A9AC3274951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C1935D7A-D7B4-44D0-9BC9-7CAE19BACB0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556D89AC-3EB8-4059-B675-2467F90A0D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自然语言中机器翻译：基于深度学习方法</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4" name="矩形 13">
            <a:extLst>
              <a:ext uri="{FF2B5EF4-FFF2-40B4-BE49-F238E27FC236}">
                <a16:creationId xmlns:a16="http://schemas.microsoft.com/office/drawing/2014/main" id="{6A940600-13FD-4A91-ACD0-2BE3F1A464D3}"/>
              </a:ext>
            </a:extLst>
          </p:cNvPr>
          <p:cNvSpPr/>
          <p:nvPr/>
        </p:nvSpPr>
        <p:spPr>
          <a:xfrm>
            <a:off x="852473" y="129010"/>
            <a:ext cx="2646878"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二、自然语言中的机器翻译</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1B29DC5A-F3A1-4A5B-B651-FB0A98E65562}"/>
              </a:ext>
            </a:extLst>
          </p:cNvPr>
          <p:cNvPicPr>
            <a:picLocks noChangeAspect="1"/>
          </p:cNvPicPr>
          <p:nvPr/>
        </p:nvPicPr>
        <p:blipFill>
          <a:blip r:embed="rId3"/>
          <a:stretch>
            <a:fillRect/>
          </a:stretch>
        </p:blipFill>
        <p:spPr>
          <a:xfrm>
            <a:off x="3129358" y="2780208"/>
            <a:ext cx="6852805" cy="3842183"/>
          </a:xfrm>
          <a:prstGeom prst="rect">
            <a:avLst/>
          </a:prstGeom>
        </p:spPr>
      </p:pic>
      <p:sp>
        <p:nvSpPr>
          <p:cNvPr id="3" name="矩形 2">
            <a:extLst>
              <a:ext uri="{FF2B5EF4-FFF2-40B4-BE49-F238E27FC236}">
                <a16:creationId xmlns:a16="http://schemas.microsoft.com/office/drawing/2014/main" id="{BDE6820E-8F25-4AB8-A3F6-CF2DAF5B06E5}"/>
              </a:ext>
            </a:extLst>
          </p:cNvPr>
          <p:cNvSpPr/>
          <p:nvPr/>
        </p:nvSpPr>
        <p:spPr>
          <a:xfrm>
            <a:off x="308691" y="1580719"/>
            <a:ext cx="11010618" cy="1534459"/>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基于深度学习的机器翻译（</a:t>
            </a:r>
            <a:r>
              <a:rPr lang="en-US"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Neural Machine Translation</a:t>
            </a:r>
            <a:r>
              <a:rPr lang="zh-CN"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NMT</a:t>
            </a:r>
            <a:r>
              <a:rPr lang="zh-CN"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是一种利用深度神经网络模型进行机器翻译的方法，其在大规模对齐语料库上训练端到端的神经网络模型，一旦给定输入的源语言句子，神经网络模型则可直接生成目标语言句子。这一方法能从大规模的双语语料中学习语言的潜在特征和语义表示，从而更好地捕捉</a:t>
            </a:r>
            <a:r>
              <a:rPr lang="zh-CN" altLang="zh-CN" sz="16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语言之间的复杂关系和长距离依赖</a:t>
            </a:r>
            <a:r>
              <a:rPr lang="en-US"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[Stahlberg 2020]</a:t>
            </a:r>
            <a:r>
              <a:rPr lang="zh-CN"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a:t>
            </a:r>
          </a:p>
        </p:txBody>
      </p:sp>
    </p:spTree>
    <p:extLst>
      <p:ext uri="{BB962C8B-B14F-4D97-AF65-F5344CB8AC3E}">
        <p14:creationId xmlns:p14="http://schemas.microsoft.com/office/powerpoint/2010/main" val="15219972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E2A6E07-8FB5-4531-8A46-C022BA30645E}"/>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9650F931-6C8A-4F69-B0E7-A9AC3274951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C1935D7A-D7B4-44D0-9BC9-7CAE19BACB0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556D89AC-3EB8-4059-B675-2467F90A0D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自然语言中机器翻译：基于深度学习方法</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4" name="矩形 13">
            <a:extLst>
              <a:ext uri="{FF2B5EF4-FFF2-40B4-BE49-F238E27FC236}">
                <a16:creationId xmlns:a16="http://schemas.microsoft.com/office/drawing/2014/main" id="{6A940600-13FD-4A91-ACD0-2BE3F1A464D3}"/>
              </a:ext>
            </a:extLst>
          </p:cNvPr>
          <p:cNvSpPr/>
          <p:nvPr/>
        </p:nvSpPr>
        <p:spPr>
          <a:xfrm>
            <a:off x="852473" y="129010"/>
            <a:ext cx="2646878"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二、自然语言中的机器翻译</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1B29DC5A-F3A1-4A5B-B651-FB0A98E65562}"/>
              </a:ext>
            </a:extLst>
          </p:cNvPr>
          <p:cNvPicPr>
            <a:picLocks noChangeAspect="1"/>
          </p:cNvPicPr>
          <p:nvPr/>
        </p:nvPicPr>
        <p:blipFill>
          <a:blip r:embed="rId3"/>
          <a:stretch>
            <a:fillRect/>
          </a:stretch>
        </p:blipFill>
        <p:spPr>
          <a:xfrm>
            <a:off x="2697113" y="2380753"/>
            <a:ext cx="7171315" cy="4020763"/>
          </a:xfrm>
          <a:prstGeom prst="rect">
            <a:avLst/>
          </a:prstGeom>
        </p:spPr>
      </p:pic>
      <p:sp>
        <p:nvSpPr>
          <p:cNvPr id="4" name="矩形 3">
            <a:extLst>
              <a:ext uri="{FF2B5EF4-FFF2-40B4-BE49-F238E27FC236}">
                <a16:creationId xmlns:a16="http://schemas.microsoft.com/office/drawing/2014/main" id="{F224CDB5-EFF1-43BE-A10C-6A715E78CBB5}"/>
              </a:ext>
            </a:extLst>
          </p:cNvPr>
          <p:cNvSpPr/>
          <p:nvPr/>
        </p:nvSpPr>
        <p:spPr>
          <a:xfrm>
            <a:off x="290688" y="1384898"/>
            <a:ext cx="11365506" cy="904991"/>
          </a:xfrm>
          <a:prstGeom prst="rect">
            <a:avLst/>
          </a:prstGeom>
        </p:spPr>
        <p:txBody>
          <a:bodyPr wrap="square">
            <a:spAutoFit/>
          </a:bodyPr>
          <a:lstStyle/>
          <a:p>
            <a:pPr algn="just">
              <a:lnSpc>
                <a:spcPts val="2200"/>
              </a:lnSpc>
              <a:spcAft>
                <a:spcPts val="0"/>
              </a:spcAft>
            </a:pPr>
            <a:r>
              <a:rPr lang="zh-CN" altLang="zh-CN" sz="2000" b="1" kern="100" dirty="0">
                <a:solidFill>
                  <a:schemeClr val="accent6"/>
                </a:solidFill>
                <a:latin typeface="Times New Roman" panose="02020603050405020304" pitchFamily="18" charset="0"/>
                <a:ea typeface="华文楷体" panose="02010600040101010101" pitchFamily="2" charset="-122"/>
                <a:cs typeface="Times New Roman" panose="02020603050405020304" pitchFamily="18" charset="0"/>
              </a:rPr>
              <a:t>编码器</a:t>
            </a:r>
            <a:endParaRPr lang="zh-CN" altLang="zh-CN" sz="2000" kern="100" dirty="0">
              <a:solidFill>
                <a:schemeClr val="accent6"/>
              </a:solidFill>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ct val="200000"/>
              </a:lnSpc>
              <a:spcAft>
                <a:spcPts val="0"/>
              </a:spcAft>
            </a:pPr>
            <a:r>
              <a:rPr lang="zh-CN"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编码器的作用是将输入源语言中每个单词以及其所具有上下文信息编码为固定维度的向量表示。</a:t>
            </a:r>
          </a:p>
        </p:txBody>
      </p:sp>
    </p:spTree>
    <p:extLst>
      <p:ext uri="{BB962C8B-B14F-4D97-AF65-F5344CB8AC3E}">
        <p14:creationId xmlns:p14="http://schemas.microsoft.com/office/powerpoint/2010/main" val="10971609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E2A6E07-8FB5-4531-8A46-C022BA30645E}"/>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9650F931-6C8A-4F69-B0E7-A9AC3274951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C1935D7A-D7B4-44D0-9BC9-7CAE19BACB0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556D89AC-3EB8-4059-B675-2467F90A0D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自然语言中机器翻译：基于深度学习方法</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4" name="矩形 13">
            <a:extLst>
              <a:ext uri="{FF2B5EF4-FFF2-40B4-BE49-F238E27FC236}">
                <a16:creationId xmlns:a16="http://schemas.microsoft.com/office/drawing/2014/main" id="{6A940600-13FD-4A91-ACD0-2BE3F1A464D3}"/>
              </a:ext>
            </a:extLst>
          </p:cNvPr>
          <p:cNvSpPr/>
          <p:nvPr/>
        </p:nvSpPr>
        <p:spPr>
          <a:xfrm>
            <a:off x="852473" y="129010"/>
            <a:ext cx="2646878"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二、自然语言中的机器翻译</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1B29DC5A-F3A1-4A5B-B651-FB0A98E65562}"/>
              </a:ext>
            </a:extLst>
          </p:cNvPr>
          <p:cNvPicPr>
            <a:picLocks noChangeAspect="1"/>
          </p:cNvPicPr>
          <p:nvPr/>
        </p:nvPicPr>
        <p:blipFill>
          <a:blip r:embed="rId3"/>
          <a:stretch>
            <a:fillRect/>
          </a:stretch>
        </p:blipFill>
        <p:spPr>
          <a:xfrm>
            <a:off x="2771583" y="2353954"/>
            <a:ext cx="7210580" cy="4042778"/>
          </a:xfrm>
          <a:prstGeom prst="rect">
            <a:avLst/>
          </a:prstGeom>
        </p:spPr>
      </p:pic>
      <p:sp>
        <p:nvSpPr>
          <p:cNvPr id="4" name="矩形 3">
            <a:extLst>
              <a:ext uri="{FF2B5EF4-FFF2-40B4-BE49-F238E27FC236}">
                <a16:creationId xmlns:a16="http://schemas.microsoft.com/office/drawing/2014/main" id="{F224CDB5-EFF1-43BE-A10C-6A715E78CBB5}"/>
              </a:ext>
            </a:extLst>
          </p:cNvPr>
          <p:cNvSpPr/>
          <p:nvPr/>
        </p:nvSpPr>
        <p:spPr>
          <a:xfrm>
            <a:off x="252036" y="1612403"/>
            <a:ext cx="10865143" cy="1520544"/>
          </a:xfrm>
          <a:prstGeom prst="rect">
            <a:avLst/>
          </a:prstGeom>
        </p:spPr>
        <p:txBody>
          <a:bodyPr wrap="square">
            <a:spAutoFit/>
          </a:bodyPr>
          <a:lstStyle/>
          <a:p>
            <a:pPr algn="just">
              <a:lnSpc>
                <a:spcPts val="2200"/>
              </a:lnSpc>
            </a:pPr>
            <a:r>
              <a:rPr lang="zh-CN" altLang="zh-CN" sz="2000" b="1" kern="100" dirty="0">
                <a:solidFill>
                  <a:schemeClr val="accent6"/>
                </a:solidFill>
                <a:latin typeface="Times New Roman" panose="02020603050405020304" pitchFamily="18" charset="0"/>
                <a:ea typeface="华文楷体" panose="02010600040101010101" pitchFamily="2" charset="-122"/>
                <a:cs typeface="Times New Roman" panose="02020603050405020304" pitchFamily="18" charset="0"/>
              </a:rPr>
              <a:t>解码器</a:t>
            </a:r>
          </a:p>
          <a:p>
            <a:pPr indent="266700" algn="just">
              <a:lnSpc>
                <a:spcPct val="200000"/>
              </a:lnSpc>
              <a:spcAft>
                <a:spcPts val="0"/>
              </a:spcAft>
            </a:pPr>
            <a:r>
              <a:rPr lang="zh-CN"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解码器将编码器在处理完源语言句子中所有单词后给出的隐藏状态作为输入，逐步生成目标语言中每个单词。</a:t>
            </a:r>
          </a:p>
        </p:txBody>
      </p:sp>
    </p:spTree>
    <p:extLst>
      <p:ext uri="{BB962C8B-B14F-4D97-AF65-F5344CB8AC3E}">
        <p14:creationId xmlns:p14="http://schemas.microsoft.com/office/powerpoint/2010/main" val="9167459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E2A6E07-8FB5-4531-8A46-C022BA30645E}"/>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9650F931-6C8A-4F69-B0E7-A9AC3274951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C1935D7A-D7B4-44D0-9BC9-7CAE19BACB0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556D89AC-3EB8-4059-B675-2467F90A0D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自然语言中机器翻译：基于深度学习方法</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4" name="矩形 13">
            <a:extLst>
              <a:ext uri="{FF2B5EF4-FFF2-40B4-BE49-F238E27FC236}">
                <a16:creationId xmlns:a16="http://schemas.microsoft.com/office/drawing/2014/main" id="{6A940600-13FD-4A91-ACD0-2BE3F1A464D3}"/>
              </a:ext>
            </a:extLst>
          </p:cNvPr>
          <p:cNvSpPr/>
          <p:nvPr/>
        </p:nvSpPr>
        <p:spPr>
          <a:xfrm>
            <a:off x="852473" y="129010"/>
            <a:ext cx="2646878"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二、自然语言中的机器翻译</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1B29DC5A-F3A1-4A5B-B651-FB0A98E65562}"/>
              </a:ext>
            </a:extLst>
          </p:cNvPr>
          <p:cNvPicPr>
            <a:picLocks noChangeAspect="1"/>
          </p:cNvPicPr>
          <p:nvPr/>
        </p:nvPicPr>
        <p:blipFill>
          <a:blip r:embed="rId3"/>
          <a:stretch>
            <a:fillRect/>
          </a:stretch>
        </p:blipFill>
        <p:spPr>
          <a:xfrm>
            <a:off x="6822831" y="2071045"/>
            <a:ext cx="5130018" cy="2876263"/>
          </a:xfrm>
          <a:prstGeom prst="rect">
            <a:avLst/>
          </a:prstGeom>
        </p:spPr>
      </p:pic>
      <p:sp>
        <p:nvSpPr>
          <p:cNvPr id="4" name="矩形 3">
            <a:extLst>
              <a:ext uri="{FF2B5EF4-FFF2-40B4-BE49-F238E27FC236}">
                <a16:creationId xmlns:a16="http://schemas.microsoft.com/office/drawing/2014/main" id="{F224CDB5-EFF1-43BE-A10C-6A715E78CBB5}"/>
              </a:ext>
            </a:extLst>
          </p:cNvPr>
          <p:cNvSpPr/>
          <p:nvPr/>
        </p:nvSpPr>
        <p:spPr>
          <a:xfrm>
            <a:off x="81990" y="2071045"/>
            <a:ext cx="6519213" cy="2095638"/>
          </a:xfrm>
          <a:prstGeom prst="rect">
            <a:avLst/>
          </a:prstGeom>
        </p:spPr>
        <p:txBody>
          <a:bodyPr wrap="square">
            <a:spAutoFit/>
          </a:bodyPr>
          <a:lstStyle/>
          <a:p>
            <a:pPr>
              <a:lnSpc>
                <a:spcPct val="150000"/>
              </a:lnSpc>
            </a:pPr>
            <a:r>
              <a:rPr lang="zh-CN" altLang="zh-CN"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模型训练</a:t>
            </a:r>
          </a:p>
          <a:p>
            <a:pPr>
              <a:lnSpc>
                <a:spcPct val="200000"/>
              </a:lnSpc>
            </a:pPr>
            <a:r>
              <a:rPr lang="zh-CN"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解码器每一时刻生成的单词与目标语言中的真实单词进行对比，通过</a:t>
            </a:r>
            <a:r>
              <a:rPr lang="zh-CN"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交叉熵损失（</a:t>
            </a:r>
            <a:r>
              <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cross-entropy loss</a:t>
            </a:r>
            <a:r>
              <a:rPr lang="zh-CN"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函数来衡量模型生成的译文与真实译文之间差异。</a:t>
            </a:r>
          </a:p>
        </p:txBody>
      </p:sp>
    </p:spTree>
    <p:extLst>
      <p:ext uri="{BB962C8B-B14F-4D97-AF65-F5344CB8AC3E}">
        <p14:creationId xmlns:p14="http://schemas.microsoft.com/office/powerpoint/2010/main" val="2481199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E2A6E07-8FB5-4531-8A46-C022BA30645E}"/>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9650F931-6C8A-4F69-B0E7-A9AC3274951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C1935D7A-D7B4-44D0-9BC9-7CAE19BACB0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556D89AC-3EB8-4059-B675-2467F90A0D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图像分类与视觉对象定位</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4" name="矩形 13">
            <a:extLst>
              <a:ext uri="{FF2B5EF4-FFF2-40B4-BE49-F238E27FC236}">
                <a16:creationId xmlns:a16="http://schemas.microsoft.com/office/drawing/2014/main" id="{6A940600-13FD-4A91-ACD0-2BE3F1A464D3}"/>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a:t>
            </a:r>
            <a:r>
              <a:rPr lang="zh-CN" altLang="zh-CN" sz="1600" dirty="0">
                <a:solidFill>
                  <a:srgbClr val="000000"/>
                </a:solidFill>
                <a:latin typeface="Times New Roman" panose="02020603050405020304" pitchFamily="18" charset="0"/>
                <a:ea typeface="楷体_GB2312"/>
              </a:rPr>
              <a:t>图像分类与视觉对象定位</a:t>
            </a:r>
            <a:endParaRPr lang="zh-CN" altLang="en-US" sz="1600" dirty="0">
              <a:solidFill>
                <a:srgbClr val="000000"/>
              </a:solidFill>
              <a:latin typeface="Times New Roman" panose="02020603050405020304" pitchFamily="18" charset="0"/>
            </a:endParaRPr>
          </a:p>
        </p:txBody>
      </p:sp>
      <p:pic>
        <p:nvPicPr>
          <p:cNvPr id="3" name="图片 2">
            <a:extLst>
              <a:ext uri="{FF2B5EF4-FFF2-40B4-BE49-F238E27FC236}">
                <a16:creationId xmlns:a16="http://schemas.microsoft.com/office/drawing/2014/main" id="{5C13C164-DBB8-48CC-A520-881CAC842BC3}"/>
              </a:ext>
            </a:extLst>
          </p:cNvPr>
          <p:cNvPicPr>
            <a:picLocks noChangeAspect="1"/>
          </p:cNvPicPr>
          <p:nvPr/>
        </p:nvPicPr>
        <p:blipFill>
          <a:blip r:embed="rId3"/>
          <a:stretch>
            <a:fillRect/>
          </a:stretch>
        </p:blipFill>
        <p:spPr>
          <a:xfrm>
            <a:off x="6735666" y="2173815"/>
            <a:ext cx="5175778" cy="3097089"/>
          </a:xfrm>
          <a:prstGeom prst="rect">
            <a:avLst/>
          </a:prstGeom>
        </p:spPr>
      </p:pic>
      <p:sp>
        <p:nvSpPr>
          <p:cNvPr id="5" name="矩形 4">
            <a:extLst>
              <a:ext uri="{FF2B5EF4-FFF2-40B4-BE49-F238E27FC236}">
                <a16:creationId xmlns:a16="http://schemas.microsoft.com/office/drawing/2014/main" id="{6005C079-9223-45F5-AE02-A5FC1C77A406}"/>
              </a:ext>
            </a:extLst>
          </p:cNvPr>
          <p:cNvSpPr/>
          <p:nvPr/>
        </p:nvSpPr>
        <p:spPr>
          <a:xfrm>
            <a:off x="280556" y="1770146"/>
            <a:ext cx="6559565" cy="2120068"/>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图像分类</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：人工智能模型将一副图像识别归属为</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K</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个类别中某一个类别</a:t>
            </a: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视觉对象定位</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：人工智能模型输出图像中存在的若干视觉对象的位置信息</a:t>
            </a:r>
          </a:p>
          <a:p>
            <a:pPr algn="just">
              <a:lnSpc>
                <a:spcPct val="150000"/>
              </a:lnSpc>
              <a:spcAft>
                <a:spcPts val="0"/>
              </a:spcAft>
            </a:pP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88727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E2A6E07-8FB5-4531-8A46-C022BA30645E}"/>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9650F931-6C8A-4F69-B0E7-A9AC3274951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C1935D7A-D7B4-44D0-9BC9-7CAE19BACB0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556D89AC-3EB8-4059-B675-2467F90A0D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图像分类与视觉对象定位</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4" name="矩形 13">
            <a:extLst>
              <a:ext uri="{FF2B5EF4-FFF2-40B4-BE49-F238E27FC236}">
                <a16:creationId xmlns:a16="http://schemas.microsoft.com/office/drawing/2014/main" id="{6A940600-13FD-4A91-ACD0-2BE3F1A464D3}"/>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a:t>
            </a:r>
            <a:r>
              <a:rPr lang="zh-CN" altLang="zh-CN" sz="1600" dirty="0">
                <a:solidFill>
                  <a:srgbClr val="000000"/>
                </a:solidFill>
                <a:latin typeface="Times New Roman" panose="02020603050405020304" pitchFamily="18" charset="0"/>
                <a:ea typeface="楷体_GB2312"/>
              </a:rPr>
              <a:t>图像分类与视觉对象定位</a:t>
            </a:r>
            <a:endParaRPr lang="zh-CN" altLang="en-US" sz="1600" dirty="0">
              <a:solidFill>
                <a:srgbClr val="000000"/>
              </a:solidFill>
              <a:latin typeface="Times New Roman" panose="02020603050405020304" pitchFamily="18" charset="0"/>
            </a:endParaRPr>
          </a:p>
        </p:txBody>
      </p:sp>
      <p:pic>
        <p:nvPicPr>
          <p:cNvPr id="3" name="图片 2">
            <a:extLst>
              <a:ext uri="{FF2B5EF4-FFF2-40B4-BE49-F238E27FC236}">
                <a16:creationId xmlns:a16="http://schemas.microsoft.com/office/drawing/2014/main" id="{5C13C164-DBB8-48CC-A520-881CAC842BC3}"/>
              </a:ext>
            </a:extLst>
          </p:cNvPr>
          <p:cNvPicPr>
            <a:picLocks noChangeAspect="1"/>
          </p:cNvPicPr>
          <p:nvPr/>
        </p:nvPicPr>
        <p:blipFill>
          <a:blip r:embed="rId3"/>
          <a:stretch>
            <a:fillRect/>
          </a:stretch>
        </p:blipFill>
        <p:spPr>
          <a:xfrm>
            <a:off x="7445492" y="2290834"/>
            <a:ext cx="4658573" cy="2787603"/>
          </a:xfrm>
          <a:prstGeom prst="rect">
            <a:avLst/>
          </a:prstGeom>
        </p:spPr>
      </p:pic>
      <p:sp>
        <p:nvSpPr>
          <p:cNvPr id="9" name="矩形: 圆角 6">
            <a:extLst>
              <a:ext uri="{FF2B5EF4-FFF2-40B4-BE49-F238E27FC236}">
                <a16:creationId xmlns:a16="http://schemas.microsoft.com/office/drawing/2014/main" id="{0058F441-5B48-4A23-B885-B5312B42FF79}"/>
              </a:ext>
            </a:extLst>
          </p:cNvPr>
          <p:cNvSpPr/>
          <p:nvPr/>
        </p:nvSpPr>
        <p:spPr>
          <a:xfrm>
            <a:off x="317311" y="1677548"/>
            <a:ext cx="7091673" cy="4529795"/>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ABCB12E6-614F-40F4-BECA-0AE2FAE4EEC8}"/>
              </a:ext>
            </a:extLst>
          </p:cNvPr>
          <p:cNvSpPr/>
          <p:nvPr/>
        </p:nvSpPr>
        <p:spPr>
          <a:xfrm>
            <a:off x="407562" y="1789176"/>
            <a:ext cx="6902949" cy="4278094"/>
          </a:xfrm>
          <a:prstGeom prst="rect">
            <a:avLst/>
          </a:prstGeom>
        </p:spPr>
        <p:txBody>
          <a:bodyPr wrap="square">
            <a:spAutoFit/>
          </a:bodyPr>
          <a:lstStyle/>
          <a:p>
            <a:pPr marL="285750" indent="-285750" algn="just">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卷积操作</a:t>
            </a:r>
            <a:r>
              <a:rPr lang="zh-CN" altLang="en-US" sz="16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：输入的图像属于高度非结构化的信息，需要使用卷积操作提取图像中关键特征。</a:t>
            </a:r>
            <a:endParaRPr lang="en-US" altLang="zh-CN" sz="16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buFont typeface="Wingdings" panose="05000000000000000000" pitchFamily="2" charset="2"/>
              <a:buChar char="l"/>
            </a:pPr>
            <a:endParaRPr lang="zh-CN" altLang="en-US" sz="16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池化操作</a:t>
            </a:r>
            <a:r>
              <a:rPr lang="zh-CN" altLang="en-US" sz="16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：池化有最大池化和平均池化两种实现方式，提取统计意义上特征。</a:t>
            </a:r>
          </a:p>
          <a:p>
            <a:pPr marL="285750" indent="-285750" algn="just">
              <a:buFont typeface="Wingdings" panose="05000000000000000000" pitchFamily="2" charset="2"/>
              <a:buChar char="l"/>
            </a:pPr>
            <a:endPar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全连接层</a:t>
            </a:r>
            <a:r>
              <a:rPr lang="zh-CN" altLang="en-US" sz="16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：主要计算包括线性变换和激活函数变换。线性变换使用权重矩阵和偏置（</a:t>
            </a:r>
            <a:r>
              <a:rPr lang="en-US" altLang="zh-CN" sz="16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bias</a:t>
            </a:r>
            <a:r>
              <a:rPr lang="zh-CN" altLang="en-US" sz="16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）处理输入特征向量，输出新的特征向量。激活函数负责对输出特征向量进行非线性投影，增强模型的非线性表达能力。</a:t>
            </a:r>
          </a:p>
          <a:p>
            <a:pPr marL="285750" indent="-285750" algn="just">
              <a:buFont typeface="Wingdings" panose="05000000000000000000" pitchFamily="2" charset="2"/>
              <a:buChar char="l"/>
            </a:pPr>
            <a:endPar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分类任务</a:t>
            </a:r>
            <a:r>
              <a:rPr lang="zh-CN" altLang="en-US" sz="16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：全连接层投影得到新的特征向量后，将该向量送入到</a:t>
            </a:r>
            <a:r>
              <a:rPr lang="en-US" altLang="zh-CN" sz="1600" dirty="0" err="1">
                <a:solidFill>
                  <a:schemeClr val="bg1"/>
                </a:solidFill>
                <a:latin typeface="Times New Roman" panose="02020603050405020304" pitchFamily="18" charset="0"/>
                <a:ea typeface="楷体" panose="02010609060101010101" pitchFamily="49" charset="-122"/>
                <a:cs typeface="Times New Roman" panose="02020603050405020304" pitchFamily="18" charset="0"/>
              </a:rPr>
              <a:t>Softmax</a:t>
            </a:r>
            <a:r>
              <a:rPr lang="zh-CN" altLang="en-US" sz="16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激活函数，用于完成目标物体类别的预测。</a:t>
            </a:r>
            <a:r>
              <a:rPr lang="en-US" altLang="zh-CN" sz="1600" dirty="0" err="1">
                <a:solidFill>
                  <a:schemeClr val="bg1"/>
                </a:solidFill>
                <a:latin typeface="Times New Roman" panose="02020603050405020304" pitchFamily="18" charset="0"/>
                <a:ea typeface="楷体" panose="02010609060101010101" pitchFamily="49" charset="-122"/>
                <a:cs typeface="Times New Roman" panose="02020603050405020304" pitchFamily="18" charset="0"/>
              </a:rPr>
              <a:t>Softmax</a:t>
            </a:r>
            <a:r>
              <a:rPr lang="zh-CN" altLang="en-US" sz="16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激活函数负责将输入的特征向量映射为所有类别的概率分布，即该输入特征向量隶属于每个类别的概率大小，并将概率值最高所对应类别作为图像分类输出结果。</a:t>
            </a:r>
          </a:p>
          <a:p>
            <a:pPr marL="285750" indent="-285750" algn="just">
              <a:buFont typeface="Wingdings" panose="05000000000000000000" pitchFamily="2" charset="2"/>
              <a:buChar char="l"/>
            </a:pPr>
            <a:endPar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视觉物体定位任务</a:t>
            </a:r>
            <a:r>
              <a:rPr lang="zh-CN" altLang="en-US" sz="16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：在视觉物体定位任务中，模型将全连接层所得到的特征向量作为输入，预测视觉物体的定位信息。</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504419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35E1C442-DB75-CB59-BD82-A4750C80FA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924" y="210351"/>
            <a:ext cx="10287896" cy="503200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0FFD4201-CBF6-F50E-2360-78797B042CB3}"/>
              </a:ext>
            </a:extLst>
          </p:cNvPr>
          <p:cNvSpPr txBox="1"/>
          <p:nvPr/>
        </p:nvSpPr>
        <p:spPr>
          <a:xfrm>
            <a:off x="263091" y="5386737"/>
            <a:ext cx="11665818" cy="1200329"/>
          </a:xfrm>
          <a:prstGeom prst="rect">
            <a:avLst/>
          </a:prstGeom>
          <a:noFill/>
        </p:spPr>
        <p:txBody>
          <a:bodyPr wrap="square">
            <a:spAutoFit/>
          </a:bodyPr>
          <a:lstStyle/>
          <a:p>
            <a:pPr algn="l">
              <a:buFont typeface="Arial" panose="020B0604020202020204" pitchFamily="34" charset="0"/>
              <a:buChar char="•"/>
            </a:pPr>
            <a:r>
              <a:rPr lang="zh-CN" altLang="en-US" b="0" i="0" dirty="0">
                <a:solidFill>
                  <a:srgbClr val="191B1F"/>
                </a:solidFill>
                <a:effectLst/>
                <a:latin typeface="-apple-system"/>
              </a:rPr>
              <a:t>首先缩放至固定大小</a:t>
            </a:r>
            <a:r>
              <a:rPr lang="en-US" altLang="zh-CN" b="0" i="0" dirty="0" err="1">
                <a:solidFill>
                  <a:srgbClr val="191B1F"/>
                </a:solidFill>
                <a:effectLst/>
                <a:latin typeface="-apple-system"/>
              </a:rPr>
              <a:t>MxN</a:t>
            </a:r>
            <a:r>
              <a:rPr lang="zh-CN" altLang="en-US" b="0" i="0" dirty="0">
                <a:solidFill>
                  <a:srgbClr val="191B1F"/>
                </a:solidFill>
                <a:effectLst/>
                <a:latin typeface="-apple-system"/>
              </a:rPr>
              <a:t>，然后将</a:t>
            </a:r>
            <a:r>
              <a:rPr lang="en-US" altLang="zh-CN" b="0" i="0" dirty="0" err="1">
                <a:solidFill>
                  <a:srgbClr val="191B1F"/>
                </a:solidFill>
                <a:effectLst/>
                <a:latin typeface="-apple-system"/>
              </a:rPr>
              <a:t>MxN</a:t>
            </a:r>
            <a:r>
              <a:rPr lang="zh-CN" altLang="en-US" b="0" i="0" dirty="0">
                <a:solidFill>
                  <a:srgbClr val="191B1F"/>
                </a:solidFill>
                <a:effectLst/>
                <a:latin typeface="-apple-system"/>
              </a:rPr>
              <a:t>图像送入网络</a:t>
            </a:r>
            <a:r>
              <a:rPr lang="zh-CN" altLang="en-US" dirty="0">
                <a:solidFill>
                  <a:srgbClr val="191B1F"/>
                </a:solidFill>
                <a:latin typeface="-apple-system"/>
              </a:rPr>
              <a:t>，</a:t>
            </a:r>
            <a:r>
              <a:rPr lang="en-US" altLang="zh-CN" b="0" i="0" dirty="0">
                <a:solidFill>
                  <a:srgbClr val="191B1F"/>
                </a:solidFill>
                <a:effectLst/>
                <a:latin typeface="-apple-system"/>
              </a:rPr>
              <a:t>Conv layers</a:t>
            </a:r>
            <a:r>
              <a:rPr lang="zh-CN" altLang="en-US" b="0" i="0" dirty="0">
                <a:solidFill>
                  <a:srgbClr val="191B1F"/>
                </a:solidFill>
                <a:effectLst/>
                <a:latin typeface="-apple-system"/>
              </a:rPr>
              <a:t>中包含了</a:t>
            </a:r>
            <a:r>
              <a:rPr lang="en-US" altLang="zh-CN" b="0" i="0" dirty="0">
                <a:solidFill>
                  <a:srgbClr val="191B1F"/>
                </a:solidFill>
                <a:effectLst/>
                <a:latin typeface="-apple-system"/>
              </a:rPr>
              <a:t>13</a:t>
            </a:r>
            <a:r>
              <a:rPr lang="zh-CN" altLang="en-US" b="0" i="0" dirty="0">
                <a:solidFill>
                  <a:srgbClr val="191B1F"/>
                </a:solidFill>
                <a:effectLst/>
                <a:latin typeface="-apple-system"/>
              </a:rPr>
              <a:t>个</a:t>
            </a:r>
            <a:r>
              <a:rPr lang="en-US" altLang="zh-CN" b="0" i="0" dirty="0">
                <a:solidFill>
                  <a:srgbClr val="191B1F"/>
                </a:solidFill>
                <a:effectLst/>
                <a:latin typeface="-apple-system"/>
              </a:rPr>
              <a:t>conv</a:t>
            </a:r>
            <a:r>
              <a:rPr lang="zh-CN" altLang="en-US" b="0" i="0" dirty="0">
                <a:solidFill>
                  <a:srgbClr val="191B1F"/>
                </a:solidFill>
                <a:effectLst/>
                <a:latin typeface="-apple-system"/>
              </a:rPr>
              <a:t>层</a:t>
            </a:r>
            <a:r>
              <a:rPr lang="en-US" altLang="zh-CN" b="0" i="0" dirty="0">
                <a:solidFill>
                  <a:srgbClr val="191B1F"/>
                </a:solidFill>
                <a:effectLst/>
                <a:latin typeface="-apple-system"/>
              </a:rPr>
              <a:t>+13</a:t>
            </a:r>
            <a:r>
              <a:rPr lang="zh-CN" altLang="en-US" b="0" i="0" dirty="0">
                <a:solidFill>
                  <a:srgbClr val="191B1F"/>
                </a:solidFill>
                <a:effectLst/>
                <a:latin typeface="-apple-system"/>
              </a:rPr>
              <a:t>个</a:t>
            </a:r>
            <a:r>
              <a:rPr lang="en-US" altLang="zh-CN" b="0" i="0" dirty="0" err="1">
                <a:solidFill>
                  <a:srgbClr val="191B1F"/>
                </a:solidFill>
                <a:effectLst/>
                <a:latin typeface="-apple-system"/>
              </a:rPr>
              <a:t>relu</a:t>
            </a:r>
            <a:r>
              <a:rPr lang="zh-CN" altLang="en-US" b="0" i="0" dirty="0">
                <a:solidFill>
                  <a:srgbClr val="191B1F"/>
                </a:solidFill>
                <a:effectLst/>
                <a:latin typeface="-apple-system"/>
              </a:rPr>
              <a:t>层</a:t>
            </a:r>
            <a:r>
              <a:rPr lang="en-US" altLang="zh-CN" b="0" i="0" dirty="0">
                <a:solidFill>
                  <a:srgbClr val="191B1F"/>
                </a:solidFill>
                <a:effectLst/>
                <a:latin typeface="-apple-system"/>
              </a:rPr>
              <a:t>+4</a:t>
            </a:r>
            <a:r>
              <a:rPr lang="zh-CN" altLang="en-US" b="0" i="0" dirty="0">
                <a:solidFill>
                  <a:srgbClr val="191B1F"/>
                </a:solidFill>
                <a:effectLst/>
                <a:latin typeface="-apple-system"/>
              </a:rPr>
              <a:t>个</a:t>
            </a:r>
            <a:r>
              <a:rPr lang="en-US" altLang="zh-CN" b="0" i="0" dirty="0">
                <a:solidFill>
                  <a:srgbClr val="191B1F"/>
                </a:solidFill>
                <a:effectLst/>
                <a:latin typeface="-apple-system"/>
              </a:rPr>
              <a:t>pooling</a:t>
            </a:r>
            <a:r>
              <a:rPr lang="zh-CN" altLang="en-US" b="0" i="0" dirty="0">
                <a:solidFill>
                  <a:srgbClr val="191B1F"/>
                </a:solidFill>
                <a:effectLst/>
                <a:latin typeface="-apple-system"/>
              </a:rPr>
              <a:t>层；</a:t>
            </a:r>
          </a:p>
          <a:p>
            <a:pPr algn="l">
              <a:buFont typeface="Arial" panose="020B0604020202020204" pitchFamily="34" charset="0"/>
              <a:buChar char="•"/>
            </a:pPr>
            <a:r>
              <a:rPr lang="en-US" altLang="zh-CN" b="0" i="0" dirty="0">
                <a:solidFill>
                  <a:srgbClr val="191B1F"/>
                </a:solidFill>
                <a:effectLst/>
                <a:latin typeface="-apple-system"/>
              </a:rPr>
              <a:t>RPN</a:t>
            </a:r>
            <a:r>
              <a:rPr lang="zh-CN" altLang="en-US" b="0" i="0" dirty="0">
                <a:solidFill>
                  <a:srgbClr val="191B1F"/>
                </a:solidFill>
                <a:effectLst/>
                <a:latin typeface="-apple-system"/>
              </a:rPr>
              <a:t>网络首先经过</a:t>
            </a:r>
            <a:r>
              <a:rPr lang="en-US" altLang="zh-CN" b="0" i="0" dirty="0">
                <a:solidFill>
                  <a:srgbClr val="191B1F"/>
                </a:solidFill>
                <a:effectLst/>
                <a:latin typeface="-apple-system"/>
              </a:rPr>
              <a:t>3x3</a:t>
            </a:r>
            <a:r>
              <a:rPr lang="zh-CN" altLang="en-US" b="0" i="0" dirty="0">
                <a:solidFill>
                  <a:srgbClr val="191B1F"/>
                </a:solidFill>
                <a:effectLst/>
                <a:latin typeface="-apple-system"/>
              </a:rPr>
              <a:t>卷积，再分别生成</a:t>
            </a:r>
            <a:r>
              <a:rPr lang="en-US" altLang="zh-CN" b="0" i="0" dirty="0">
                <a:solidFill>
                  <a:srgbClr val="191B1F"/>
                </a:solidFill>
                <a:effectLst/>
                <a:latin typeface="-apple-system"/>
              </a:rPr>
              <a:t>positive anchors</a:t>
            </a:r>
            <a:r>
              <a:rPr lang="zh-CN" altLang="en-US" b="0" i="0" dirty="0">
                <a:solidFill>
                  <a:srgbClr val="191B1F"/>
                </a:solidFill>
                <a:effectLst/>
                <a:latin typeface="-apple-system"/>
              </a:rPr>
              <a:t>和对应</a:t>
            </a:r>
            <a:r>
              <a:rPr lang="en-US" altLang="zh-CN" b="0" i="0" dirty="0">
                <a:solidFill>
                  <a:srgbClr val="191B1F"/>
                </a:solidFill>
                <a:effectLst/>
                <a:latin typeface="-apple-system"/>
              </a:rPr>
              <a:t>bounding box regression</a:t>
            </a:r>
            <a:r>
              <a:rPr lang="zh-CN" altLang="en-US" b="0" i="0" dirty="0">
                <a:solidFill>
                  <a:srgbClr val="191B1F"/>
                </a:solidFill>
                <a:effectLst/>
                <a:latin typeface="-apple-system"/>
              </a:rPr>
              <a:t>偏移量，然后计算出</a:t>
            </a:r>
            <a:r>
              <a:rPr lang="en-US" altLang="zh-CN" b="0" i="0" dirty="0">
                <a:solidFill>
                  <a:srgbClr val="191B1F"/>
                </a:solidFill>
                <a:effectLst/>
                <a:latin typeface="-apple-system"/>
              </a:rPr>
              <a:t>proposals</a:t>
            </a:r>
            <a:r>
              <a:rPr lang="zh-CN" altLang="en-US" b="0" i="0" dirty="0">
                <a:solidFill>
                  <a:srgbClr val="191B1F"/>
                </a:solidFill>
                <a:effectLst/>
                <a:latin typeface="-apple-system"/>
              </a:rPr>
              <a:t>；</a:t>
            </a:r>
          </a:p>
          <a:p>
            <a:pPr algn="l">
              <a:buFont typeface="Arial" panose="020B0604020202020204" pitchFamily="34" charset="0"/>
              <a:buChar char="•"/>
            </a:pPr>
            <a:r>
              <a:rPr lang="en-US" altLang="zh-CN" b="0" i="0" dirty="0">
                <a:solidFill>
                  <a:srgbClr val="191B1F"/>
                </a:solidFill>
                <a:effectLst/>
                <a:latin typeface="-apple-system"/>
              </a:rPr>
              <a:t>Roi Pooling</a:t>
            </a:r>
            <a:r>
              <a:rPr lang="zh-CN" altLang="en-US" b="0" i="0" dirty="0">
                <a:solidFill>
                  <a:srgbClr val="191B1F"/>
                </a:solidFill>
                <a:effectLst/>
                <a:latin typeface="-apple-system"/>
              </a:rPr>
              <a:t>层则利用</a:t>
            </a:r>
            <a:r>
              <a:rPr lang="en-US" altLang="zh-CN" b="0" i="0" dirty="0">
                <a:solidFill>
                  <a:srgbClr val="191B1F"/>
                </a:solidFill>
                <a:effectLst/>
                <a:latin typeface="-apple-system"/>
              </a:rPr>
              <a:t>proposals</a:t>
            </a:r>
            <a:r>
              <a:rPr lang="zh-CN" altLang="en-US" b="0" i="0" dirty="0">
                <a:solidFill>
                  <a:srgbClr val="191B1F"/>
                </a:solidFill>
                <a:effectLst/>
                <a:latin typeface="-apple-system"/>
              </a:rPr>
              <a:t>从</a:t>
            </a:r>
            <a:r>
              <a:rPr lang="en-US" altLang="zh-CN" b="0" i="0" dirty="0">
                <a:solidFill>
                  <a:srgbClr val="191B1F"/>
                </a:solidFill>
                <a:effectLst/>
                <a:latin typeface="-apple-system"/>
              </a:rPr>
              <a:t>feature maps</a:t>
            </a:r>
            <a:r>
              <a:rPr lang="zh-CN" altLang="en-US" b="0" i="0" dirty="0">
                <a:solidFill>
                  <a:srgbClr val="191B1F"/>
                </a:solidFill>
                <a:effectLst/>
                <a:latin typeface="-apple-system"/>
              </a:rPr>
              <a:t>中提取</a:t>
            </a:r>
            <a:r>
              <a:rPr lang="en-US" altLang="zh-CN" b="0" i="0" dirty="0">
                <a:solidFill>
                  <a:srgbClr val="191B1F"/>
                </a:solidFill>
                <a:effectLst/>
                <a:latin typeface="-apple-system"/>
              </a:rPr>
              <a:t>proposal feature</a:t>
            </a:r>
            <a:r>
              <a:rPr lang="zh-CN" altLang="en-US" b="0" i="0" dirty="0">
                <a:solidFill>
                  <a:srgbClr val="191B1F"/>
                </a:solidFill>
                <a:effectLst/>
                <a:latin typeface="-apple-system"/>
              </a:rPr>
              <a:t>送入后续全连接和</a:t>
            </a:r>
            <a:r>
              <a:rPr lang="en-US" altLang="zh-CN" b="0" i="0" dirty="0" err="1">
                <a:solidFill>
                  <a:srgbClr val="191B1F"/>
                </a:solidFill>
                <a:effectLst/>
                <a:latin typeface="-apple-system"/>
              </a:rPr>
              <a:t>softmax</a:t>
            </a:r>
            <a:r>
              <a:rPr lang="zh-CN" altLang="en-US" b="0" i="0" dirty="0">
                <a:solidFill>
                  <a:srgbClr val="191B1F"/>
                </a:solidFill>
                <a:effectLst/>
                <a:latin typeface="-apple-system"/>
              </a:rPr>
              <a:t>网络作</a:t>
            </a:r>
            <a:r>
              <a:rPr lang="en-US" altLang="zh-CN" b="0" i="0" dirty="0">
                <a:solidFill>
                  <a:srgbClr val="191B1F"/>
                </a:solidFill>
                <a:effectLst/>
                <a:latin typeface="-apple-system"/>
              </a:rPr>
              <a:t>classification</a:t>
            </a:r>
            <a:r>
              <a:rPr lang="zh-CN" altLang="en-US" dirty="0">
                <a:solidFill>
                  <a:srgbClr val="191B1F"/>
                </a:solidFill>
                <a:latin typeface="-apple-system"/>
              </a:rPr>
              <a:t>和</a:t>
            </a:r>
            <a:r>
              <a:rPr lang="zh-CN" altLang="en-US" b="0" i="0" dirty="0">
                <a:solidFill>
                  <a:srgbClr val="191B1F"/>
                </a:solidFill>
                <a:effectLst/>
                <a:latin typeface="-apple-system"/>
              </a:rPr>
              <a:t>进一步的</a:t>
            </a:r>
            <a:r>
              <a:rPr lang="en-US" altLang="zh-CN" b="0" i="0" dirty="0">
                <a:solidFill>
                  <a:srgbClr val="191B1F"/>
                </a:solidFill>
                <a:effectLst/>
                <a:latin typeface="-apple-system"/>
              </a:rPr>
              <a:t>bounding box</a:t>
            </a:r>
            <a:r>
              <a:rPr lang="zh-CN" altLang="en-US" b="0" i="0" dirty="0">
                <a:solidFill>
                  <a:srgbClr val="191B1F"/>
                </a:solidFill>
                <a:effectLst/>
                <a:latin typeface="-apple-system"/>
              </a:rPr>
              <a:t>调整。</a:t>
            </a:r>
          </a:p>
        </p:txBody>
      </p:sp>
    </p:spTree>
    <p:extLst>
      <p:ext uri="{BB962C8B-B14F-4D97-AF65-F5344CB8AC3E}">
        <p14:creationId xmlns:p14="http://schemas.microsoft.com/office/powerpoint/2010/main" val="28599142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E2A6E07-8FB5-4531-8A46-C022BA30645E}"/>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9650F931-6C8A-4F69-B0E7-A9AC3274951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C1935D7A-D7B4-44D0-9BC9-7CAE19BACB0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556D89AC-3EB8-4059-B675-2467F90A0D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语音识别：</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基于隐马尔科夫链的语音识别</a:t>
              </a:r>
            </a:p>
          </p:txBody>
        </p:sp>
      </p:grpSp>
      <p:sp>
        <p:nvSpPr>
          <p:cNvPr id="14" name="矩形 13">
            <a:extLst>
              <a:ext uri="{FF2B5EF4-FFF2-40B4-BE49-F238E27FC236}">
                <a16:creationId xmlns:a16="http://schemas.microsoft.com/office/drawing/2014/main" id="{6A940600-13FD-4A91-ACD0-2BE3F1A464D3}"/>
              </a:ext>
            </a:extLst>
          </p:cNvPr>
          <p:cNvSpPr/>
          <p:nvPr/>
        </p:nvSpPr>
        <p:spPr>
          <a:xfrm>
            <a:off x="852473" y="129010"/>
            <a:ext cx="204575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四、语音识别与合成</a:t>
            </a:r>
            <a:endParaRPr lang="zh-CN" altLang="en-US" sz="1600" dirty="0">
              <a:solidFill>
                <a:srgbClr val="000000"/>
              </a:solidFill>
              <a:latin typeface="Times New Roman" panose="02020603050405020304" pitchFamily="18" charset="0"/>
            </a:endParaRPr>
          </a:p>
        </p:txBody>
      </p:sp>
      <p:sp>
        <p:nvSpPr>
          <p:cNvPr id="3" name="矩形 2">
            <a:extLst>
              <a:ext uri="{FF2B5EF4-FFF2-40B4-BE49-F238E27FC236}">
                <a16:creationId xmlns:a16="http://schemas.microsoft.com/office/drawing/2014/main" id="{A78A86A2-3399-4A94-930D-15C8C6BF0C86}"/>
              </a:ext>
            </a:extLst>
          </p:cNvPr>
          <p:cNvSpPr/>
          <p:nvPr/>
        </p:nvSpPr>
        <p:spPr>
          <a:xfrm>
            <a:off x="434003" y="1561325"/>
            <a:ext cx="6549152" cy="4678204"/>
          </a:xfrm>
          <a:prstGeom prst="rect">
            <a:avLst/>
          </a:prstGeom>
        </p:spPr>
        <p:txBody>
          <a:bodyPr wrap="square">
            <a:spAutoFit/>
          </a:bodyPr>
          <a:lstStyle/>
          <a:p>
            <a:pPr algn="just">
              <a:lnSpc>
                <a:spcPts val="2200"/>
              </a:lnSpc>
              <a:spcAft>
                <a:spcPts val="0"/>
              </a:spcAft>
            </a:pPr>
            <a:r>
              <a:rPr lang="zh-CN" altLang="zh-CN" b="1" kern="100" dirty="0">
                <a:solidFill>
                  <a:schemeClr val="accent6"/>
                </a:solidFill>
                <a:latin typeface="华文楷体" panose="02010600040101010101" pitchFamily="2" charset="-122"/>
                <a:ea typeface="华文楷体" panose="02010600040101010101" pitchFamily="2" charset="-122"/>
                <a:cs typeface="Times New Roman" panose="02020603050405020304" pitchFamily="18" charset="0"/>
              </a:rPr>
              <a:t>基于隐马尔科夫链的语音识别</a:t>
            </a:r>
            <a:endParaRPr lang="zh-CN" altLang="zh-CN" kern="100" dirty="0">
              <a:solidFill>
                <a:schemeClr val="accent6"/>
              </a:solidFill>
              <a:latin typeface="华文楷体" panose="02010600040101010101" pitchFamily="2" charset="-122"/>
              <a:ea typeface="华文楷体" panose="02010600040101010101" pitchFamily="2" charset="-122"/>
              <a:cs typeface="Times New Roman" panose="02020603050405020304" pitchFamily="18" charset="0"/>
            </a:endParaRPr>
          </a:p>
          <a:p>
            <a:pPr indent="266700" algn="just">
              <a:lnSpc>
                <a:spcPts val="2200"/>
              </a:lnSpc>
              <a:spcAft>
                <a:spcPts val="0"/>
              </a:spcAft>
            </a:pPr>
            <a:endParaRPr lang="en-US"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a:p>
            <a:pPr indent="266700" algn="just">
              <a:lnSpc>
                <a:spcPct val="150000"/>
              </a:lnSpc>
              <a:spcAft>
                <a:spcPts val="0"/>
              </a:spcAft>
            </a:pPr>
            <a:r>
              <a:rPr lang="en-US"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1970</a:t>
            </a:r>
            <a:r>
              <a:rPr lang="zh-CN"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年前后，美国数学家</a:t>
            </a:r>
            <a:r>
              <a:rPr lang="en-US"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 Baum</a:t>
            </a:r>
            <a:r>
              <a:rPr lang="zh-CN"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等人建立起了马尔可夫链（</a:t>
            </a:r>
            <a:r>
              <a:rPr lang="en-US"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Markov Chain</a:t>
            </a:r>
            <a:r>
              <a:rPr lang="zh-CN"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）的数学基础，后来有学者将</a:t>
            </a:r>
            <a:r>
              <a:rPr lang="zh-CN"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隐马尔科夫链模型（</a:t>
            </a:r>
            <a:r>
              <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Hidden Markov Model</a:t>
            </a:r>
            <a:r>
              <a:rPr lang="zh-CN"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HMM</a:t>
            </a:r>
            <a:r>
              <a:rPr lang="zh-CN"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应用于语音识别任务，实现了从单个单词语音识别到连续单词语音识别的飞跃。</a:t>
            </a:r>
            <a:endParaRPr lang="en-US"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a:p>
            <a:pPr indent="266700" algn="just">
              <a:lnSpc>
                <a:spcPct val="150000"/>
              </a:lnSpc>
            </a:pPr>
            <a:r>
              <a:rPr lang="zh-CN" altLang="zh-CN" dirty="0">
                <a:latin typeface="华文楷体" panose="02010600040101010101" pitchFamily="2" charset="-122"/>
                <a:ea typeface="华文楷体" panose="02010600040101010101" pitchFamily="2" charset="-122"/>
                <a:cs typeface="Times New Roman" panose="02020603050405020304" pitchFamily="18" charset="0"/>
              </a:rPr>
              <a:t>该方法通过马尔科夫过程来刻画模拟语音发声机理，每一个语音序列相当于状态转移图中一条路径，在这一模型中，语音识别任务就是从所有可能的语句序列中选择出最可能状态转移序列。模型通过</a:t>
            </a:r>
            <a:r>
              <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EM</a:t>
            </a:r>
            <a:r>
              <a:rPr lang="zh-CN"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算法</a:t>
            </a:r>
            <a:r>
              <a:rPr lang="zh-CN" altLang="zh-CN" dirty="0">
                <a:latin typeface="华文楷体" panose="02010600040101010101" pitchFamily="2" charset="-122"/>
                <a:ea typeface="华文楷体" panose="02010600040101010101" pitchFamily="2" charset="-122"/>
                <a:cs typeface="Times New Roman" panose="02020603050405020304" pitchFamily="18" charset="0"/>
              </a:rPr>
              <a:t>进行迭代优化训练，预测时则使用被称为</a:t>
            </a:r>
            <a:r>
              <a:rPr lang="zh-CN"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维特比算法（</a:t>
            </a:r>
            <a:r>
              <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Viterbi algorithm</a:t>
            </a:r>
            <a:r>
              <a:rPr lang="zh-CN"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zh-CN" dirty="0">
                <a:latin typeface="华文楷体" panose="02010600040101010101" pitchFamily="2" charset="-122"/>
                <a:ea typeface="华文楷体" panose="02010600040101010101" pitchFamily="2" charset="-122"/>
                <a:cs typeface="Times New Roman" panose="02020603050405020304" pitchFamily="18" charset="0"/>
              </a:rPr>
              <a:t>完成解码。</a:t>
            </a:r>
          </a:p>
          <a:p>
            <a:pPr indent="266700" algn="just">
              <a:lnSpc>
                <a:spcPts val="2200"/>
              </a:lnSpc>
              <a:spcAft>
                <a:spcPts val="0"/>
              </a:spcAft>
            </a:pP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p:pic>
        <p:nvPicPr>
          <p:cNvPr id="5" name="图片 4">
            <a:extLst>
              <a:ext uri="{FF2B5EF4-FFF2-40B4-BE49-F238E27FC236}">
                <a16:creationId xmlns:a16="http://schemas.microsoft.com/office/drawing/2014/main" id="{E63C0607-080C-4F24-A6E0-5EF3E1FC5A82}"/>
              </a:ext>
            </a:extLst>
          </p:cNvPr>
          <p:cNvPicPr>
            <a:picLocks noChangeAspect="1"/>
          </p:cNvPicPr>
          <p:nvPr/>
        </p:nvPicPr>
        <p:blipFill>
          <a:blip r:embed="rId3"/>
          <a:stretch>
            <a:fillRect/>
          </a:stretch>
        </p:blipFill>
        <p:spPr>
          <a:xfrm>
            <a:off x="6983155" y="3205739"/>
            <a:ext cx="5002604" cy="1657439"/>
          </a:xfrm>
          <a:prstGeom prst="rect">
            <a:avLst/>
          </a:prstGeom>
        </p:spPr>
      </p:pic>
    </p:spTree>
    <p:extLst>
      <p:ext uri="{BB962C8B-B14F-4D97-AF65-F5344CB8AC3E}">
        <p14:creationId xmlns:p14="http://schemas.microsoft.com/office/powerpoint/2010/main" val="26065318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E2A6E07-8FB5-4531-8A46-C022BA30645E}"/>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9650F931-6C8A-4F69-B0E7-A9AC3274951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C1935D7A-D7B4-44D0-9BC9-7CAE19BACB0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556D89AC-3EB8-4059-B675-2467F90A0D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语音识别：</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基于神经网络模型的语音识别</a:t>
              </a:r>
            </a:p>
          </p:txBody>
        </p:sp>
      </p:grpSp>
      <p:sp>
        <p:nvSpPr>
          <p:cNvPr id="14" name="矩形 13">
            <a:extLst>
              <a:ext uri="{FF2B5EF4-FFF2-40B4-BE49-F238E27FC236}">
                <a16:creationId xmlns:a16="http://schemas.microsoft.com/office/drawing/2014/main" id="{6A940600-13FD-4A91-ACD0-2BE3F1A464D3}"/>
              </a:ext>
            </a:extLst>
          </p:cNvPr>
          <p:cNvSpPr/>
          <p:nvPr/>
        </p:nvSpPr>
        <p:spPr>
          <a:xfrm>
            <a:off x="852473" y="129010"/>
            <a:ext cx="204575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四、语音识别与合成</a:t>
            </a:r>
            <a:endParaRPr lang="zh-CN" altLang="en-US" sz="1600" dirty="0">
              <a:solidFill>
                <a:srgbClr val="000000"/>
              </a:solidFill>
              <a:latin typeface="Times New Roman" panose="02020603050405020304" pitchFamily="18" charset="0"/>
            </a:endParaRPr>
          </a:p>
        </p:txBody>
      </p:sp>
      <p:sp>
        <p:nvSpPr>
          <p:cNvPr id="2" name="矩形 1">
            <a:extLst>
              <a:ext uri="{FF2B5EF4-FFF2-40B4-BE49-F238E27FC236}">
                <a16:creationId xmlns:a16="http://schemas.microsoft.com/office/drawing/2014/main" id="{9F261413-4B70-46C2-914A-E5058D92D1DF}"/>
              </a:ext>
            </a:extLst>
          </p:cNvPr>
          <p:cNvSpPr/>
          <p:nvPr/>
        </p:nvSpPr>
        <p:spPr>
          <a:xfrm>
            <a:off x="623222" y="1805028"/>
            <a:ext cx="10068224" cy="2543453"/>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语音识别任务可用机器翻译任务中常用的序列</a:t>
            </a:r>
            <a:r>
              <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序列（</a:t>
            </a:r>
            <a:r>
              <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sequence to sequence</a:t>
            </a: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）框架完成。</a:t>
            </a:r>
            <a:endPar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ct val="150000"/>
              </a:lnSpc>
              <a:spcAft>
                <a:spcPts val="0"/>
              </a:spcAft>
            </a:pPr>
            <a:endPar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ct val="150000"/>
              </a:lnSpc>
              <a:spcAft>
                <a:spcPts val="0"/>
              </a:spcAft>
            </a:pP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在传统语音识别模型中，训练数据中语音片段与文字序列需要按照单词级别、甚至是音素级别进行对齐，才能进行有效训练。但是，基于神经网络的语音识别方法只要进行</a:t>
            </a:r>
            <a:r>
              <a:rPr lang="zh-CN" altLang="zh-CN"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句子级别文本序列和音频片段对齐，完成端到端的模型训练</a:t>
            </a: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。为此，需要将语音识别任务中原本不定长的序列</a:t>
            </a:r>
            <a:r>
              <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序列问题转化为完全对齐的帧到帧问题。</a:t>
            </a:r>
          </a:p>
        </p:txBody>
      </p:sp>
    </p:spTree>
    <p:extLst>
      <p:ext uri="{BB962C8B-B14F-4D97-AF65-F5344CB8AC3E}">
        <p14:creationId xmlns:p14="http://schemas.microsoft.com/office/powerpoint/2010/main" val="14654153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E2A6E07-8FB5-4531-8A46-C022BA30645E}"/>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9650F931-6C8A-4F69-B0E7-A9AC3274951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C1935D7A-D7B4-44D0-9BC9-7CAE19BACB0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556D89AC-3EB8-4059-B675-2467F90A0D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语音识别：</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基于神经网络模型的语音识别</a:t>
              </a:r>
            </a:p>
          </p:txBody>
        </p:sp>
      </p:grpSp>
      <p:sp>
        <p:nvSpPr>
          <p:cNvPr id="14" name="矩形 13">
            <a:extLst>
              <a:ext uri="{FF2B5EF4-FFF2-40B4-BE49-F238E27FC236}">
                <a16:creationId xmlns:a16="http://schemas.microsoft.com/office/drawing/2014/main" id="{6A940600-13FD-4A91-ACD0-2BE3F1A464D3}"/>
              </a:ext>
            </a:extLst>
          </p:cNvPr>
          <p:cNvSpPr/>
          <p:nvPr/>
        </p:nvSpPr>
        <p:spPr>
          <a:xfrm>
            <a:off x="852473" y="129010"/>
            <a:ext cx="204575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四、语音识别与合成</a:t>
            </a:r>
            <a:endParaRPr lang="zh-CN" altLang="en-US" sz="1600" dirty="0">
              <a:solidFill>
                <a:srgbClr val="000000"/>
              </a:solidFill>
              <a:latin typeface="Times New Roman" panose="02020603050405020304" pitchFamily="18" charset="0"/>
            </a:endParaRPr>
          </a:p>
        </p:txBody>
      </p:sp>
      <p:pic>
        <p:nvPicPr>
          <p:cNvPr id="3" name="图片 2">
            <a:extLst>
              <a:ext uri="{FF2B5EF4-FFF2-40B4-BE49-F238E27FC236}">
                <a16:creationId xmlns:a16="http://schemas.microsoft.com/office/drawing/2014/main" id="{D16C85A1-822D-4D2D-B30E-34710ECB7956}"/>
              </a:ext>
            </a:extLst>
          </p:cNvPr>
          <p:cNvPicPr>
            <a:picLocks noChangeAspect="1"/>
          </p:cNvPicPr>
          <p:nvPr/>
        </p:nvPicPr>
        <p:blipFill>
          <a:blip r:embed="rId3"/>
          <a:stretch>
            <a:fillRect/>
          </a:stretch>
        </p:blipFill>
        <p:spPr>
          <a:xfrm>
            <a:off x="6681371" y="2207952"/>
            <a:ext cx="4779082" cy="3233372"/>
          </a:xfrm>
          <a:prstGeom prst="rect">
            <a:avLst/>
          </a:prstGeom>
        </p:spPr>
      </p:pic>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1B10460F-D607-4E4E-B6C3-1BFD05763122}"/>
                  </a:ext>
                </a:extLst>
              </p:cNvPr>
              <p:cNvSpPr/>
              <p:nvPr/>
            </p:nvSpPr>
            <p:spPr>
              <a:xfrm>
                <a:off x="252375" y="1636637"/>
                <a:ext cx="6096000" cy="3737562"/>
              </a:xfrm>
              <a:prstGeom prst="rect">
                <a:avLst/>
              </a:prstGeom>
            </p:spPr>
            <p:txBody>
              <a:bodyPr>
                <a:spAutoFit/>
              </a:bodyPr>
              <a:lstStyle/>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为了实现这一目的，连接时序分类首先在输出序列所有符号中不同位置增加一个空白符</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𝜖</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，对输出序列进行扩充，从而使得扩充后输出序列与输入音频特征序列具有相同长度。</a:t>
                </a: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例如，对于短句</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𝑡h𝑒</m:t>
                    </m:r>
                    <m:r>
                      <a:rPr lang="en-US" altLang="zh-CN">
                        <a:solidFill>
                          <a:srgbClr val="000000"/>
                        </a:solidFill>
                        <a:latin typeface="Cambria Math" panose="02040503050406030204" pitchFamily="18" charset="0"/>
                        <a:ea typeface="楷体_GB2312"/>
                        <a:cs typeface="Times New Roman" panose="02020603050405020304" pitchFamily="18" charset="0"/>
                      </a:rPr>
                      <m:t> </m:t>
                    </m:r>
                    <m:r>
                      <a:rPr lang="en-US" altLang="zh-CN" i="1">
                        <a:solidFill>
                          <a:srgbClr val="000000"/>
                        </a:solidFill>
                        <a:latin typeface="Cambria Math" panose="02040503050406030204" pitchFamily="18" charset="0"/>
                        <a:ea typeface="楷体_GB2312"/>
                        <a:cs typeface="Times New Roman" panose="02020603050405020304" pitchFamily="18" charset="0"/>
                      </a:rPr>
                      <m:t>𝑐𝑎𝑡</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，下面两条增加了若干空白符</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𝜖</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的序列都是对原有序列的合理扩充：</a:t>
                </a: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endPar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304800" algn="just">
                  <a:lnSpc>
                    <a:spcPts val="2200"/>
                  </a:lnSpc>
                  <a:spcAft>
                    <a:spcPts val="0"/>
                  </a:spcAft>
                </a:pPr>
                <a14:m>
                  <m:oMathPara xmlns:m="http://schemas.openxmlformats.org/officeDocument/2006/math">
                    <m:oMathParaPr>
                      <m:jc m:val="centerGroup"/>
                    </m:oMathParaPr>
                    <m:oMath xmlns:m="http://schemas.openxmlformats.org/officeDocument/2006/math">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𝑡</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h</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𝑒</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𝑏</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 </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𝑐</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 </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𝑎</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𝑡</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oMath>
                  </m:oMathPara>
                </a14:m>
                <a:endPar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304800" algn="just">
                  <a:lnSpc>
                    <a:spcPts val="2200"/>
                  </a:lnSpc>
                  <a:spcAft>
                    <a:spcPts val="0"/>
                  </a:spcAft>
                </a:pPr>
                <a14:m>
                  <m:oMathPara xmlns:m="http://schemas.openxmlformats.org/officeDocument/2006/math">
                    <m:oMathParaPr>
                      <m:jc m:val="centerGroup"/>
                    </m:oMathParaPr>
                    <m:oMath xmlns:m="http://schemas.openxmlformats.org/officeDocument/2006/math">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𝑡</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h</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𝑒</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𝑏</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 </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𝑐</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𝑎</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𝑡</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600" i="1">
                          <a:solidFill>
                            <a:srgbClr val="000000"/>
                          </a:solidFill>
                          <a:effectLst/>
                          <a:latin typeface="Cambria Math" panose="02040503050406030204" pitchFamily="18" charset="0"/>
                          <a:ea typeface="楷体_GB2312"/>
                          <a:cs typeface="Times New Roman" panose="02020603050405020304" pitchFamily="18" charset="0"/>
                        </a:rPr>
                        <m:t>𝜖</m:t>
                      </m:r>
                    </m:oMath>
                  </m:oMathPara>
                </a14:m>
                <a:endPar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最终，模型通过最大化所有这些合理序列的输出概率之和来进行训练。</a:t>
                </a: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ts val="2200"/>
                  </a:lnSpc>
                  <a:spcAft>
                    <a:spcPts val="0"/>
                  </a:spcAft>
                </a:pPr>
                <a:endPar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id="{1B10460F-D607-4E4E-B6C3-1BFD05763122}"/>
                  </a:ext>
                </a:extLst>
              </p:cNvPr>
              <p:cNvSpPr>
                <a:spLocks noRot="1" noChangeAspect="1" noMove="1" noResize="1" noEditPoints="1" noAdjustHandles="1" noChangeArrowheads="1" noChangeShapeType="1" noTextEdit="1"/>
              </p:cNvSpPr>
              <p:nvPr/>
            </p:nvSpPr>
            <p:spPr>
              <a:xfrm>
                <a:off x="252375" y="1636637"/>
                <a:ext cx="6096000" cy="3737562"/>
              </a:xfrm>
              <a:prstGeom prst="rect">
                <a:avLst/>
              </a:prstGeom>
              <a:blipFill>
                <a:blip r:embed="rId4"/>
                <a:stretch>
                  <a:fillRect l="-800" t="-1629" r="-900"/>
                </a:stretch>
              </a:blipFill>
            </p:spPr>
            <p:txBody>
              <a:bodyPr/>
              <a:lstStyle/>
              <a:p>
                <a:r>
                  <a:rPr lang="zh-CN" altLang="en-US">
                    <a:noFill/>
                  </a:rPr>
                  <a:t> </a:t>
                </a:r>
              </a:p>
            </p:txBody>
          </p:sp>
        </mc:Fallback>
      </mc:AlternateContent>
      <p:sp>
        <p:nvSpPr>
          <p:cNvPr id="2" name="圆角矩形 1"/>
          <p:cNvSpPr/>
          <p:nvPr/>
        </p:nvSpPr>
        <p:spPr>
          <a:xfrm>
            <a:off x="842931" y="3505418"/>
            <a:ext cx="4914888" cy="817341"/>
          </a:xfrm>
          <a:prstGeom prst="roundRect">
            <a:avLst/>
          </a:prstGeom>
          <a:solidFill>
            <a:schemeClr val="accent4">
              <a:lumMod val="20000"/>
              <a:lumOff val="8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BEAB8D93-182D-6B96-8A57-197F2179FAB8}"/>
              </a:ext>
            </a:extLst>
          </p:cNvPr>
          <p:cNvSpPr txBox="1"/>
          <p:nvPr/>
        </p:nvSpPr>
        <p:spPr>
          <a:xfrm>
            <a:off x="2144027" y="1269666"/>
            <a:ext cx="1860082" cy="369332"/>
          </a:xfrm>
          <a:prstGeom prst="rect">
            <a:avLst/>
          </a:prstGeom>
          <a:noFill/>
        </p:spPr>
        <p:txBody>
          <a:bodyPr wrap="square">
            <a:spAutoFit/>
          </a:bodyPr>
          <a:lstStyle/>
          <a:p>
            <a:r>
              <a:rPr lang="zh-CN" altLang="zh-CN" b="1" dirty="0">
                <a:solidFill>
                  <a:schemeClr val="accent6"/>
                </a:solidFill>
                <a:latin typeface="Times New Roman" panose="02020603050405020304" pitchFamily="18" charset="0"/>
                <a:ea typeface="华文楷体" panose="02010600040101010101" pitchFamily="2" charset="-122"/>
                <a:cs typeface="Times New Roman" panose="02020603050405020304" pitchFamily="18" charset="0"/>
              </a:rPr>
              <a:t>连接时序分类</a:t>
            </a:r>
            <a:r>
              <a:rPr lang="zh-CN" altLang="en-US" b="1" dirty="0">
                <a:solidFill>
                  <a:schemeClr val="accent6"/>
                </a:solidFill>
                <a:latin typeface="Times New Roman" panose="02020603050405020304" pitchFamily="18" charset="0"/>
                <a:ea typeface="华文楷体" panose="02010600040101010101" pitchFamily="2" charset="-122"/>
                <a:cs typeface="Times New Roman" panose="02020603050405020304" pitchFamily="18" charset="0"/>
              </a:rPr>
              <a:t>法</a:t>
            </a:r>
            <a:endParaRPr lang="zh-CN" altLang="en-US" dirty="0"/>
          </a:p>
        </p:txBody>
      </p:sp>
    </p:spTree>
    <p:extLst>
      <p:ext uri="{BB962C8B-B14F-4D97-AF65-F5344CB8AC3E}">
        <p14:creationId xmlns:p14="http://schemas.microsoft.com/office/powerpoint/2010/main" val="28519677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E2A6E07-8FB5-4531-8A46-C022BA30645E}"/>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9650F931-6C8A-4F69-B0E7-A9AC3274951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C1935D7A-D7B4-44D0-9BC9-7CAE19BACB0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556D89AC-3EB8-4059-B675-2467F90A0D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语音合成</a:t>
              </a:r>
              <a:endPar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4" name="矩形 13">
            <a:extLst>
              <a:ext uri="{FF2B5EF4-FFF2-40B4-BE49-F238E27FC236}">
                <a16:creationId xmlns:a16="http://schemas.microsoft.com/office/drawing/2014/main" id="{6A940600-13FD-4A91-ACD0-2BE3F1A464D3}"/>
              </a:ext>
            </a:extLst>
          </p:cNvPr>
          <p:cNvSpPr/>
          <p:nvPr/>
        </p:nvSpPr>
        <p:spPr>
          <a:xfrm>
            <a:off x="852473" y="129010"/>
            <a:ext cx="204575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四、语音识别与合成</a:t>
            </a:r>
            <a:endParaRPr lang="zh-CN" altLang="en-US" sz="1600" dirty="0">
              <a:solidFill>
                <a:srgbClr val="000000"/>
              </a:solidFill>
              <a:latin typeface="Times New Roman" panose="02020603050405020304" pitchFamily="18" charset="0"/>
            </a:endParaRPr>
          </a:p>
        </p:txBody>
      </p:sp>
      <p:sp>
        <p:nvSpPr>
          <p:cNvPr id="2" name="矩形 1">
            <a:extLst>
              <a:ext uri="{FF2B5EF4-FFF2-40B4-BE49-F238E27FC236}">
                <a16:creationId xmlns:a16="http://schemas.microsoft.com/office/drawing/2014/main" id="{4D64BC3E-741E-4CB8-93DA-A864161F3BB2}"/>
              </a:ext>
            </a:extLst>
          </p:cNvPr>
          <p:cNvSpPr/>
          <p:nvPr/>
        </p:nvSpPr>
        <p:spPr>
          <a:xfrm>
            <a:off x="558018" y="1377187"/>
            <a:ext cx="11071274" cy="938719"/>
          </a:xfrm>
          <a:prstGeom prst="rect">
            <a:avLst/>
          </a:prstGeom>
        </p:spPr>
        <p:txBody>
          <a:bodyPr wrap="square">
            <a:spAutoFit/>
          </a:bodyPr>
          <a:lstStyle/>
          <a:p>
            <a:pPr indent="266700" algn="just">
              <a:lnSpc>
                <a:spcPts val="2200"/>
              </a:lnSpc>
              <a:spcAft>
                <a:spcPts val="0"/>
              </a:spcAft>
            </a:pPr>
            <a:r>
              <a:rPr lang="zh-CN"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语音合成（</a:t>
            </a:r>
            <a:r>
              <a:rPr lang="en-US"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speech synthesis</a:t>
            </a:r>
            <a:r>
              <a:rPr lang="zh-CN"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）是一种通过机器合成人声的技术。将文本转化为声学特征的系统被称为</a:t>
            </a:r>
            <a:r>
              <a:rPr lang="zh-CN" altLang="zh-CN" sz="1600" dirty="0">
                <a:latin typeface="华文楷体" panose="02010600040101010101" pitchFamily="2" charset="-122"/>
                <a:ea typeface="华文楷体" panose="02010600040101010101" pitchFamily="2" charset="-122"/>
                <a:cs typeface="Times New Roman" panose="02020603050405020304" pitchFamily="18" charset="0"/>
              </a:rPr>
              <a:t>声学模型（</a:t>
            </a:r>
            <a:r>
              <a:rPr lang="en-US" altLang="zh-CN" sz="1600" dirty="0">
                <a:latin typeface="华文楷体" panose="02010600040101010101" pitchFamily="2" charset="-122"/>
                <a:ea typeface="华文楷体" panose="02010600040101010101" pitchFamily="2" charset="-122"/>
                <a:cs typeface="Times New Roman" panose="02020603050405020304" pitchFamily="18" charset="0"/>
              </a:rPr>
              <a:t>acoustic model</a:t>
            </a:r>
            <a:r>
              <a:rPr lang="zh-CN" altLang="zh-CN" sz="16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，将声学特征输入转化为音频输出的系统则称为声码器（</a:t>
            </a:r>
            <a:r>
              <a:rPr lang="en-US"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vocoder</a:t>
            </a:r>
            <a:r>
              <a:rPr lang="zh-CN"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），完整的从文本到语音的转换系统又被称为</a:t>
            </a:r>
            <a:r>
              <a:rPr lang="en-US" altLang="zh-CN" sz="16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TTS</a:t>
            </a:r>
            <a:r>
              <a:rPr lang="zh-CN" altLang="zh-CN" sz="16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zh-CN" sz="16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text-to-speech</a:t>
            </a:r>
            <a:r>
              <a:rPr lang="zh-CN" altLang="zh-CN" sz="16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）系统</a:t>
            </a:r>
            <a:r>
              <a:rPr lang="zh-CN"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a:t>
            </a:r>
          </a:p>
        </p:txBody>
      </p:sp>
      <p:pic>
        <p:nvPicPr>
          <p:cNvPr id="5" name="图片 4">
            <a:extLst>
              <a:ext uri="{FF2B5EF4-FFF2-40B4-BE49-F238E27FC236}">
                <a16:creationId xmlns:a16="http://schemas.microsoft.com/office/drawing/2014/main" id="{4763ADB1-0C78-44E7-B8B0-06951832B017}"/>
              </a:ext>
            </a:extLst>
          </p:cNvPr>
          <p:cNvPicPr>
            <a:picLocks noChangeAspect="1"/>
          </p:cNvPicPr>
          <p:nvPr/>
        </p:nvPicPr>
        <p:blipFill>
          <a:blip r:embed="rId3"/>
          <a:stretch>
            <a:fillRect/>
          </a:stretch>
        </p:blipFill>
        <p:spPr>
          <a:xfrm>
            <a:off x="7698873" y="2660396"/>
            <a:ext cx="3832463" cy="3238883"/>
          </a:xfrm>
          <a:prstGeom prst="rect">
            <a:avLst/>
          </a:prstGeom>
        </p:spPr>
      </p:pic>
      <p:sp>
        <p:nvSpPr>
          <p:cNvPr id="6" name="矩形 5">
            <a:extLst>
              <a:ext uri="{FF2B5EF4-FFF2-40B4-BE49-F238E27FC236}">
                <a16:creationId xmlns:a16="http://schemas.microsoft.com/office/drawing/2014/main" id="{5A1D4EE6-970E-43B7-8F4C-5FAE7C09306E}"/>
              </a:ext>
            </a:extLst>
          </p:cNvPr>
          <p:cNvSpPr/>
          <p:nvPr/>
        </p:nvSpPr>
        <p:spPr>
          <a:xfrm>
            <a:off x="233662" y="2660396"/>
            <a:ext cx="6870521" cy="1778885"/>
          </a:xfrm>
          <a:prstGeom prst="rect">
            <a:avLst/>
          </a:prstGeom>
        </p:spPr>
        <p:txBody>
          <a:bodyPr wrap="square">
            <a:spAutoFit/>
          </a:bodyPr>
          <a:lstStyle/>
          <a:p>
            <a:pPr marL="285750" indent="-285750" algn="just">
              <a:lnSpc>
                <a:spcPts val="2200"/>
              </a:lnSpc>
              <a:spcAft>
                <a:spcPts val="0"/>
              </a:spcAft>
              <a:buFont typeface="Wingdings" panose="05000000000000000000" pitchFamily="2" charset="2"/>
              <a:buChar char="l"/>
            </a:pPr>
            <a:r>
              <a:rPr lang="zh-CN"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传统基于序列对序列（</a:t>
            </a:r>
            <a:r>
              <a:rPr lang="en-US"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seq2seq</a:t>
            </a:r>
            <a:r>
              <a:rPr lang="zh-CN"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）的深度学习模型在进行合成时必须按序以自回归方式逐帧生成合成音频，这使得合成实时性大打折扣。为了解决这一问题，</a:t>
            </a:r>
            <a:r>
              <a:rPr lang="zh-CN"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全并行非自回归架构合成模型</a:t>
            </a:r>
            <a:r>
              <a:rPr lang="en-US" altLang="zh-CN" dirty="0" err="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FastSpeech</a:t>
            </a:r>
            <a:r>
              <a:rPr lang="en-US"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[Ren 2019]</a:t>
            </a:r>
            <a:r>
              <a:rPr lang="zh-CN"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被提出。</a:t>
            </a:r>
            <a:r>
              <a:rPr lang="en-US" altLang="zh-CN" dirty="0" err="1">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FastSpeech</a:t>
            </a:r>
            <a:r>
              <a:rPr lang="zh-CN"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利用了文本和语音单调对应性质，通过长度适配模块预测并控制语音速度和韵律，可并行完成语音合成。</a:t>
            </a:r>
            <a:endParaRPr lang="en-US" altLang="zh-CN"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7073761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E2A6E07-8FB5-4531-8A46-C022BA30645E}"/>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9650F931-6C8A-4F69-B0E7-A9AC3274951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C1935D7A-D7B4-44D0-9BC9-7CAE19BACB0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556D89AC-3EB8-4059-B675-2467F90A0D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科学计算</a:t>
              </a:r>
              <a:endPar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4" name="矩形 13">
            <a:extLst>
              <a:ext uri="{FF2B5EF4-FFF2-40B4-BE49-F238E27FC236}">
                <a16:creationId xmlns:a16="http://schemas.microsoft.com/office/drawing/2014/main" id="{6A940600-13FD-4A91-ACD0-2BE3F1A464D3}"/>
              </a:ext>
            </a:extLst>
          </p:cNvPr>
          <p:cNvSpPr/>
          <p:nvPr/>
        </p:nvSpPr>
        <p:spPr>
          <a:xfrm>
            <a:off x="852473"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五、科学计算</a:t>
            </a:r>
            <a:endParaRPr lang="zh-CN" altLang="en-US" sz="1600" dirty="0">
              <a:solidFill>
                <a:srgbClr val="000000"/>
              </a:solidFill>
              <a:latin typeface="Times New Roman" panose="02020603050405020304" pitchFamily="18" charset="0"/>
            </a:endParaRPr>
          </a:p>
        </p:txBody>
      </p:sp>
      <p:sp>
        <p:nvSpPr>
          <p:cNvPr id="4" name="矩形 3">
            <a:extLst>
              <a:ext uri="{FF2B5EF4-FFF2-40B4-BE49-F238E27FC236}">
                <a16:creationId xmlns:a16="http://schemas.microsoft.com/office/drawing/2014/main" id="{9084FA07-051D-4C92-A7B0-DF9964D574C4}"/>
              </a:ext>
            </a:extLst>
          </p:cNvPr>
          <p:cNvSpPr/>
          <p:nvPr/>
        </p:nvSpPr>
        <p:spPr>
          <a:xfrm>
            <a:off x="852473" y="1475546"/>
            <a:ext cx="11180282" cy="631648"/>
          </a:xfrm>
          <a:prstGeom prst="rect">
            <a:avLst/>
          </a:prstGeom>
        </p:spPr>
        <p:txBody>
          <a:bodyPr wrap="square">
            <a:spAutoFit/>
          </a:bodyPr>
          <a:lstStyle/>
          <a:p>
            <a:pPr indent="266700" algn="just">
              <a:lnSpc>
                <a:spcPts val="22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近年来，科学智能（</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AI4Science</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）成为机器学习和自然科学的一个重要交叉领域。将深度学习模型作为科学计算的一个模拟器，</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利用现有的数学物理方程对模拟的结果进行约束和训练</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成为将机器学习应用于自然科学研究一种新方式。</a:t>
            </a:r>
          </a:p>
        </p:txBody>
      </p:sp>
      <p:pic>
        <p:nvPicPr>
          <p:cNvPr id="15" name="Picture 4" descr="https://assets.weforum.org/editor/VH-lKcz3UvQ7KlpSxv3s8IBlFP7jKgZkcu9B-UB7FMY.png">
            <a:extLst>
              <a:ext uri="{FF2B5EF4-FFF2-40B4-BE49-F238E27FC236}">
                <a16:creationId xmlns:a16="http://schemas.microsoft.com/office/drawing/2014/main" id="{4A21E6B0-8453-415F-A4A2-34C9DF8C728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2249810"/>
            <a:ext cx="5993257" cy="3457971"/>
          </a:xfrm>
          <a:prstGeom prst="rect">
            <a:avLst/>
          </a:prstGeom>
          <a:noFill/>
          <a:extLst>
            <a:ext uri="{909E8E84-426E-40DD-AFC4-6F175D3DCCD1}">
              <a14:hiddenFill xmlns:a14="http://schemas.microsoft.com/office/drawing/2010/main">
                <a:solidFill>
                  <a:srgbClr val="FFFFFF"/>
                </a:solidFill>
              </a14:hiddenFill>
            </a:ext>
          </a:extLst>
        </p:spPr>
      </p:pic>
      <p:sp>
        <p:nvSpPr>
          <p:cNvPr id="16" name="矩形 15">
            <a:extLst>
              <a:ext uri="{FF2B5EF4-FFF2-40B4-BE49-F238E27FC236}">
                <a16:creationId xmlns:a16="http://schemas.microsoft.com/office/drawing/2014/main" id="{21CB2377-176D-42B8-9739-26137F13C831}"/>
              </a:ext>
            </a:extLst>
          </p:cNvPr>
          <p:cNvSpPr/>
          <p:nvPr/>
        </p:nvSpPr>
        <p:spPr>
          <a:xfrm>
            <a:off x="219089" y="5804719"/>
            <a:ext cx="10912642" cy="584775"/>
          </a:xfrm>
          <a:prstGeom prst="rect">
            <a:avLst/>
          </a:prstGeom>
        </p:spPr>
        <p:txBody>
          <a:bodyPr wrap="square">
            <a:spAutoFit/>
          </a:bodyPr>
          <a:lstStyle/>
          <a:p>
            <a:pPr algn="ctr"/>
            <a:r>
              <a:rPr lang="zh-CN" altLang="en-US" sz="1600" spc="-2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人工智能</a:t>
            </a:r>
            <a:r>
              <a:rPr lang="en-US" altLang="zh-CN" sz="1600" spc="-2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(AI)</a:t>
            </a:r>
            <a:r>
              <a:rPr lang="zh-CN" altLang="en-US" sz="1600" spc="-2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正越来越多地融入科学发现和技术突破，形成</a:t>
            </a:r>
            <a:r>
              <a:rPr lang="zh-CN" altLang="en-US" sz="1600" spc="-2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设问、研究、假设、测试、评估和分析</a:t>
            </a:r>
            <a:r>
              <a:rPr lang="zh-CN" altLang="en-US" sz="1600" spc="-2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等闭环，</a:t>
            </a:r>
            <a:r>
              <a:rPr lang="en-US" altLang="zh-CN" sz="1600" b="1" i="1" spc="-2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AI for Science and Engineering</a:t>
            </a:r>
            <a:r>
              <a:rPr lang="zh-CN" altLang="en-US" sz="1600" spc="-2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是新的科研范式</a:t>
            </a:r>
          </a:p>
        </p:txBody>
      </p:sp>
      <p:pic>
        <p:nvPicPr>
          <p:cNvPr id="17" name="Picture 2" descr="Fig. 1">
            <a:extLst>
              <a:ext uri="{FF2B5EF4-FFF2-40B4-BE49-F238E27FC236}">
                <a16:creationId xmlns:a16="http://schemas.microsoft.com/office/drawing/2014/main" id="{D042A272-CE00-4C3E-A1F7-102B1286CF6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6017" y="2249810"/>
            <a:ext cx="5378327" cy="3457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39290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E2A6E07-8FB5-4531-8A46-C022BA30645E}"/>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9650F931-6C8A-4F69-B0E7-A9AC3274951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C1935D7A-D7B4-44D0-9BC9-7CAE19BACB0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556D89AC-3EB8-4059-B675-2467F90A0D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科学计算</a:t>
              </a:r>
              <a:endPar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4" name="矩形 13">
            <a:extLst>
              <a:ext uri="{FF2B5EF4-FFF2-40B4-BE49-F238E27FC236}">
                <a16:creationId xmlns:a16="http://schemas.microsoft.com/office/drawing/2014/main" id="{6A940600-13FD-4A91-ACD0-2BE3F1A464D3}"/>
              </a:ext>
            </a:extLst>
          </p:cNvPr>
          <p:cNvSpPr/>
          <p:nvPr/>
        </p:nvSpPr>
        <p:spPr>
          <a:xfrm>
            <a:off x="852473"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五、科学计算</a:t>
            </a:r>
            <a:endParaRPr lang="zh-CN" altLang="en-US" sz="1600" dirty="0">
              <a:solidFill>
                <a:srgbClr val="000000"/>
              </a:solidFill>
              <a:latin typeface="Times New Roman" panose="02020603050405020304" pitchFamily="18" charset="0"/>
            </a:endParaRPr>
          </a:p>
        </p:txBody>
      </p:sp>
      <p:pic>
        <p:nvPicPr>
          <p:cNvPr id="3" name="图片 2">
            <a:extLst>
              <a:ext uri="{FF2B5EF4-FFF2-40B4-BE49-F238E27FC236}">
                <a16:creationId xmlns:a16="http://schemas.microsoft.com/office/drawing/2014/main" id="{A8C1F679-F76F-4300-909D-FB3B6BB76456}"/>
              </a:ext>
            </a:extLst>
          </p:cNvPr>
          <p:cNvPicPr>
            <a:picLocks noChangeAspect="1"/>
          </p:cNvPicPr>
          <p:nvPr/>
        </p:nvPicPr>
        <p:blipFill>
          <a:blip r:embed="rId3"/>
          <a:stretch>
            <a:fillRect/>
          </a:stretch>
        </p:blipFill>
        <p:spPr>
          <a:xfrm>
            <a:off x="6722508" y="2107194"/>
            <a:ext cx="5083125" cy="2433074"/>
          </a:xfrm>
          <a:prstGeom prst="rect">
            <a:avLst/>
          </a:prstGeom>
        </p:spPr>
      </p:pic>
      <p:sp>
        <p:nvSpPr>
          <p:cNvPr id="4" name="矩形 3">
            <a:extLst>
              <a:ext uri="{FF2B5EF4-FFF2-40B4-BE49-F238E27FC236}">
                <a16:creationId xmlns:a16="http://schemas.microsoft.com/office/drawing/2014/main" id="{9084FA07-051D-4C92-A7B0-DF9964D574C4}"/>
              </a:ext>
            </a:extLst>
          </p:cNvPr>
          <p:cNvSpPr/>
          <p:nvPr/>
        </p:nvSpPr>
        <p:spPr>
          <a:xfrm>
            <a:off x="852473" y="1475546"/>
            <a:ext cx="11180282" cy="631648"/>
          </a:xfrm>
          <a:prstGeom prst="rect">
            <a:avLst/>
          </a:prstGeom>
        </p:spPr>
        <p:txBody>
          <a:bodyPr wrap="square">
            <a:spAutoFit/>
          </a:bodyPr>
          <a:lstStyle/>
          <a:p>
            <a:pPr indent="266700" algn="just">
              <a:lnSpc>
                <a:spcPts val="22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近年来，科学智能（</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AI4Science</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）成为机器学习和自然科学的一个重要交叉领域。将深度学习模型作为科学计算的一个模拟器，</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利用现有的数学物理方程对模拟的结果进行约束和训练</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成为将机器学习应用于自然科学研究一种新方式。</a:t>
            </a:r>
          </a:p>
        </p:txBody>
      </p:sp>
      <p:sp>
        <p:nvSpPr>
          <p:cNvPr id="7" name="矩形 6">
            <a:extLst>
              <a:ext uri="{FF2B5EF4-FFF2-40B4-BE49-F238E27FC236}">
                <a16:creationId xmlns:a16="http://schemas.microsoft.com/office/drawing/2014/main" id="{BD441BC9-470E-4EDD-986D-B2F61FB0CD5D}"/>
              </a:ext>
            </a:extLst>
          </p:cNvPr>
          <p:cNvSpPr/>
          <p:nvPr/>
        </p:nvSpPr>
        <p:spPr>
          <a:xfrm>
            <a:off x="244726" y="2387792"/>
            <a:ext cx="6477782" cy="2640403"/>
          </a:xfrm>
          <a:prstGeom prst="rect">
            <a:avLst/>
          </a:prstGeom>
        </p:spPr>
        <p:txBody>
          <a:bodyPr wrap="square">
            <a:spAutoFit/>
          </a:bodyPr>
          <a:lstStyle/>
          <a:p>
            <a:pPr indent="266700" algn="just">
              <a:lnSpc>
                <a:spcPct val="150000"/>
              </a:lnSpc>
              <a:spcAft>
                <a:spcPts val="0"/>
              </a:spcAft>
            </a:pPr>
            <a:r>
              <a:rPr lang="zh-CN" altLang="zh-CN"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知识与数据在科学智能中相辅相成，通过</a:t>
            </a:r>
            <a:r>
              <a:rPr lang="zh-CN"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数据驱动与知识引导</a:t>
            </a:r>
            <a:r>
              <a:rPr lang="zh-CN" altLang="zh-CN"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相结合的方式，人工智能方法能够解决大量科学问题。</a:t>
            </a:r>
            <a:endParaRPr lang="en-US" altLang="zh-CN"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ct val="150000"/>
              </a:lnSpc>
              <a:spcAft>
                <a:spcPts val="0"/>
              </a:spcAft>
            </a:pPr>
            <a:endPar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lnSpc>
                <a:spcPct val="150000"/>
              </a:lnSpc>
              <a:spcAft>
                <a:spcPts val="0"/>
              </a:spcAft>
            </a:pPr>
            <a:r>
              <a:rPr lang="zh-CN" altLang="zh-CN"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在这种知识与数据结合的科学研究新范式下，无论是</a:t>
            </a:r>
            <a:r>
              <a:rPr lang="zh-CN"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物理仿真、化学合成、蛋白质结构预测</a:t>
            </a:r>
            <a:r>
              <a:rPr lang="zh-CN" altLang="en-US"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等</a:t>
            </a:r>
            <a:r>
              <a:rPr lang="zh-CN" altLang="zh-CN"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基础科学问题，还是</a:t>
            </a:r>
            <a:r>
              <a:rPr lang="zh-CN"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药物虚拟筛选、新材料合成、天气预测</a:t>
            </a:r>
            <a:r>
              <a:rPr lang="zh-CN" altLang="zh-CN" sz="1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等应用科学问题都在机器学习的帮助下开拓了新的研究道路，找到了新的解决思路。</a:t>
            </a:r>
          </a:p>
        </p:txBody>
      </p:sp>
    </p:spTree>
    <p:extLst>
      <p:ext uri="{BB962C8B-B14F-4D97-AF65-F5344CB8AC3E}">
        <p14:creationId xmlns:p14="http://schemas.microsoft.com/office/powerpoint/2010/main" val="26885788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E2A6E07-8FB5-4531-8A46-C022BA30645E}"/>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9650F931-6C8A-4F69-B0E7-A9AC3274951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C1935D7A-D7B4-44D0-9BC9-7CAE19BACB0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556D89AC-3EB8-4059-B675-2467F90A0D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科学计算：</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物理约束下的神经网络</a:t>
              </a:r>
            </a:p>
          </p:txBody>
        </p:sp>
      </p:grpSp>
      <p:sp>
        <p:nvSpPr>
          <p:cNvPr id="14" name="矩形 13">
            <a:extLst>
              <a:ext uri="{FF2B5EF4-FFF2-40B4-BE49-F238E27FC236}">
                <a16:creationId xmlns:a16="http://schemas.microsoft.com/office/drawing/2014/main" id="{6A940600-13FD-4A91-ACD0-2BE3F1A464D3}"/>
              </a:ext>
            </a:extLst>
          </p:cNvPr>
          <p:cNvSpPr/>
          <p:nvPr/>
        </p:nvSpPr>
        <p:spPr>
          <a:xfrm>
            <a:off x="852473"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五、科学计算</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AA335B30-B7CA-4FA7-B1A8-1ED17383A32A}"/>
              </a:ext>
            </a:extLst>
          </p:cNvPr>
          <p:cNvPicPr>
            <a:picLocks noChangeAspect="1"/>
          </p:cNvPicPr>
          <p:nvPr/>
        </p:nvPicPr>
        <p:blipFill>
          <a:blip r:embed="rId3"/>
          <a:stretch>
            <a:fillRect/>
          </a:stretch>
        </p:blipFill>
        <p:spPr>
          <a:xfrm>
            <a:off x="217784" y="2904667"/>
            <a:ext cx="6314787" cy="2231347"/>
          </a:xfrm>
          <a:prstGeom prst="rect">
            <a:avLst/>
          </a:prstGeom>
        </p:spPr>
      </p:pic>
      <p:sp>
        <p:nvSpPr>
          <p:cNvPr id="6" name="矩形 5">
            <a:extLst>
              <a:ext uri="{FF2B5EF4-FFF2-40B4-BE49-F238E27FC236}">
                <a16:creationId xmlns:a16="http://schemas.microsoft.com/office/drawing/2014/main" id="{CE7B8B4A-DDE6-4341-9D0A-977E4EEDF2E4}"/>
              </a:ext>
            </a:extLst>
          </p:cNvPr>
          <p:cNvSpPr/>
          <p:nvPr/>
        </p:nvSpPr>
        <p:spPr>
          <a:xfrm>
            <a:off x="271976" y="1421111"/>
            <a:ext cx="10442917" cy="643189"/>
          </a:xfrm>
          <a:prstGeom prst="rect">
            <a:avLst/>
          </a:prstGeom>
        </p:spPr>
        <p:txBody>
          <a:bodyPr wrap="square">
            <a:spAutoFit/>
          </a:bodyPr>
          <a:lstStyle/>
          <a:p>
            <a:pPr indent="266700" algn="just">
              <a:lnSpc>
                <a:spcPts val="2200"/>
              </a:lnSpc>
              <a:spcAft>
                <a:spcPts val="0"/>
              </a:spcAft>
            </a:pPr>
            <a:r>
              <a:rPr lang="zh-CN" altLang="en-US"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基于数据驱动和物理驱动来约束模型，数据驱动损失函数驱动模型仿真预测值与真实值之间的差距减小，物理驱动损失函数驱动模型仿真预测值尽可能符合</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数学物理方程</a:t>
            </a: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p:txBody>
      </p:sp>
      <p:grpSp>
        <p:nvGrpSpPr>
          <p:cNvPr id="3" name="组合 2">
            <a:extLst>
              <a:ext uri="{FF2B5EF4-FFF2-40B4-BE49-F238E27FC236}">
                <a16:creationId xmlns:a16="http://schemas.microsoft.com/office/drawing/2014/main" id="{5250F681-C120-187E-55AA-192021CDE91A}"/>
              </a:ext>
            </a:extLst>
          </p:cNvPr>
          <p:cNvGrpSpPr/>
          <p:nvPr/>
        </p:nvGrpSpPr>
        <p:grpSpPr>
          <a:xfrm>
            <a:off x="7189524" y="1826409"/>
            <a:ext cx="3855790" cy="2746000"/>
            <a:chOff x="5451" y="3192"/>
            <a:chExt cx="8078" cy="5399"/>
          </a:xfrm>
        </p:grpSpPr>
        <p:pic>
          <p:nvPicPr>
            <p:cNvPr id="4" name="图片 3">
              <a:extLst>
                <a:ext uri="{FF2B5EF4-FFF2-40B4-BE49-F238E27FC236}">
                  <a16:creationId xmlns:a16="http://schemas.microsoft.com/office/drawing/2014/main" id="{1BF9B883-1954-C8C8-FC86-690E606ED0F3}"/>
                </a:ext>
              </a:extLst>
            </p:cNvPr>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11035" y="6225"/>
              <a:ext cx="2495" cy="2366"/>
            </a:xfrm>
            <a:prstGeom prst="rect">
              <a:avLst/>
            </a:prstGeom>
          </p:spPr>
        </p:pic>
        <p:pic>
          <p:nvPicPr>
            <p:cNvPr id="5" name="图片 4">
              <a:extLst>
                <a:ext uri="{FF2B5EF4-FFF2-40B4-BE49-F238E27FC236}">
                  <a16:creationId xmlns:a16="http://schemas.microsoft.com/office/drawing/2014/main" id="{2E183EF5-7F95-C7C1-FAF9-787DB8CD70A0}"/>
                </a:ext>
              </a:extLst>
            </p:cNvPr>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5451" y="6065"/>
              <a:ext cx="2515" cy="2385"/>
            </a:xfrm>
            <a:prstGeom prst="rect">
              <a:avLst/>
            </a:prstGeom>
          </p:spPr>
        </p:pic>
        <p:pic>
          <p:nvPicPr>
            <p:cNvPr id="7" name="图片 6">
              <a:extLst>
                <a:ext uri="{FF2B5EF4-FFF2-40B4-BE49-F238E27FC236}">
                  <a16:creationId xmlns:a16="http://schemas.microsoft.com/office/drawing/2014/main" id="{E5F9BB1B-092D-3119-29FD-5005ABFF68F3}"/>
                </a:ext>
              </a:extLst>
            </p:cNvPr>
            <p:cNvPicPr>
              <a:picLocks noChangeAspect="1"/>
            </p:cNvPicPr>
            <p:nvPr/>
          </p:nvPicPr>
          <p:blipFill>
            <a:blip r:embed="rId6"/>
            <a:srcRect/>
            <a:stretch>
              <a:fillRect/>
            </a:stretch>
          </p:blipFill>
          <p:spPr>
            <a:xfrm>
              <a:off x="7966" y="3192"/>
              <a:ext cx="2369" cy="1825"/>
            </a:xfrm>
            <a:prstGeom prst="rect">
              <a:avLst/>
            </a:prstGeom>
          </p:spPr>
        </p:pic>
        <p:grpSp>
          <p:nvGrpSpPr>
            <p:cNvPr id="9" name="组合 8">
              <a:extLst>
                <a:ext uri="{FF2B5EF4-FFF2-40B4-BE49-F238E27FC236}">
                  <a16:creationId xmlns:a16="http://schemas.microsoft.com/office/drawing/2014/main" id="{17C68E49-0AA7-A289-7282-427249CFB123}"/>
                </a:ext>
              </a:extLst>
            </p:cNvPr>
            <p:cNvGrpSpPr/>
            <p:nvPr/>
          </p:nvGrpSpPr>
          <p:grpSpPr>
            <a:xfrm>
              <a:off x="7568" y="5022"/>
              <a:ext cx="4395" cy="2438"/>
              <a:chOff x="7568" y="5022"/>
              <a:chExt cx="4395" cy="2438"/>
            </a:xfrm>
          </p:grpSpPr>
          <p:sp>
            <p:nvSpPr>
              <p:cNvPr id="15" name="S">
                <a:extLst>
                  <a:ext uri="{FF2B5EF4-FFF2-40B4-BE49-F238E27FC236}">
                    <a16:creationId xmlns:a16="http://schemas.microsoft.com/office/drawing/2014/main" id="{ACFDE461-950B-45C5-7CC5-0EAFFCE8C07E}"/>
                  </a:ext>
                </a:extLst>
              </p:cNvPr>
              <p:cNvSpPr txBox="1"/>
              <p:nvPr/>
            </p:nvSpPr>
            <p:spPr>
              <a:xfrm>
                <a:off x="9700" y="6490"/>
                <a:ext cx="2263" cy="480"/>
              </a:xfrm>
              <a:prstGeom prst="rect">
                <a:avLst/>
              </a:prstGeom>
              <a:ln w="12700">
                <a:miter lim="400000"/>
              </a:ln>
            </p:spPr>
            <p:txBody>
              <a:bodyPr wrap="square" lIns="25400" tIns="25400" rIns="25400" bIns="25400">
                <a:noAutofit/>
              </a:bodyPr>
              <a:lstStyle>
                <a:lvl1pPr defTabSz="457200">
                  <a:defRPr sz="2800" b="0">
                    <a:solidFill>
                      <a:srgbClr val="F0F0F0"/>
                    </a:solidFill>
                    <a:latin typeface="Montserrat Bold"/>
                    <a:ea typeface="Montserrat Bold"/>
                    <a:cs typeface="Montserrat Bold"/>
                    <a:sym typeface="Montserrat Bold"/>
                  </a:defRPr>
                </a:lvl1pPr>
              </a:lstStyle>
              <a:p>
                <a:pPr algn="ctr"/>
                <a:r>
                  <a:rPr lang="zh-CN" altLang="en-US" sz="1800" b="1" dirty="0">
                    <a:solidFill>
                      <a:schemeClr val="accent1">
                        <a:lumMod val="75000"/>
                      </a:schemeClr>
                    </a:solidFill>
                    <a:latin typeface="+mj-ea"/>
                    <a:ea typeface="+mj-ea"/>
                  </a:rPr>
                  <a:t>代理模型</a:t>
                </a:r>
              </a:p>
              <a:p>
                <a:pPr algn="ctr"/>
                <a:endParaRPr lang="zh-CN" altLang="en-US" sz="1800" b="1" dirty="0">
                  <a:solidFill>
                    <a:schemeClr val="accent1">
                      <a:lumMod val="75000"/>
                    </a:schemeClr>
                  </a:solidFill>
                  <a:latin typeface="+mj-ea"/>
                  <a:ea typeface="+mj-ea"/>
                </a:endParaRPr>
              </a:p>
            </p:txBody>
          </p:sp>
          <p:sp>
            <p:nvSpPr>
              <p:cNvPr id="16" name="S">
                <a:extLst>
                  <a:ext uri="{FF2B5EF4-FFF2-40B4-BE49-F238E27FC236}">
                    <a16:creationId xmlns:a16="http://schemas.microsoft.com/office/drawing/2014/main" id="{491227CE-7ECC-A0DD-8EC2-BB22CAF6CB60}"/>
                  </a:ext>
                </a:extLst>
              </p:cNvPr>
              <p:cNvSpPr txBox="1"/>
              <p:nvPr/>
            </p:nvSpPr>
            <p:spPr>
              <a:xfrm>
                <a:off x="7568" y="6504"/>
                <a:ext cx="2132" cy="645"/>
              </a:xfrm>
              <a:prstGeom prst="rect">
                <a:avLst/>
              </a:prstGeom>
              <a:ln w="12700">
                <a:miter lim="400000"/>
              </a:ln>
            </p:spPr>
            <p:txBody>
              <a:bodyPr wrap="square" lIns="25400" tIns="25400" rIns="25400" bIns="25400">
                <a:spAutoFit/>
              </a:bodyPr>
              <a:lstStyle>
                <a:lvl1pPr defTabSz="457200">
                  <a:defRPr sz="2800" b="0">
                    <a:solidFill>
                      <a:srgbClr val="F0F0F0"/>
                    </a:solidFill>
                    <a:latin typeface="Montserrat Bold"/>
                    <a:ea typeface="Montserrat Bold"/>
                    <a:cs typeface="Montserrat Bold"/>
                    <a:sym typeface="Montserrat Bold"/>
                  </a:defRPr>
                </a:lvl1pPr>
              </a:lstStyle>
              <a:p>
                <a:pPr algn="ctr"/>
                <a:r>
                  <a:rPr lang="zh-CN" altLang="en-US" sz="1800" b="1" dirty="0">
                    <a:solidFill>
                      <a:schemeClr val="accent1">
                        <a:lumMod val="75000"/>
                      </a:schemeClr>
                    </a:solidFill>
                    <a:latin typeface="+mj-ea"/>
                    <a:ea typeface="+mj-ea"/>
                  </a:rPr>
                  <a:t>数值模型</a:t>
                </a:r>
              </a:p>
            </p:txBody>
          </p:sp>
          <p:sp>
            <p:nvSpPr>
              <p:cNvPr id="17" name="燕尾形箭头 14">
                <a:extLst>
                  <a:ext uri="{FF2B5EF4-FFF2-40B4-BE49-F238E27FC236}">
                    <a16:creationId xmlns:a16="http://schemas.microsoft.com/office/drawing/2014/main" id="{E552983F-BEAF-FD9F-C005-4014BB100D11}"/>
                  </a:ext>
                </a:extLst>
              </p:cNvPr>
              <p:cNvSpPr/>
              <p:nvPr/>
            </p:nvSpPr>
            <p:spPr>
              <a:xfrm rot="7800000">
                <a:off x="7930" y="5845"/>
                <a:ext cx="816" cy="379"/>
              </a:xfrm>
              <a:prstGeom prst="notch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8" name="燕尾形箭头 17">
                <a:extLst>
                  <a:ext uri="{FF2B5EF4-FFF2-40B4-BE49-F238E27FC236}">
                    <a16:creationId xmlns:a16="http://schemas.microsoft.com/office/drawing/2014/main" id="{9B7121F5-7AB1-5B01-522D-44FA3F7D4FF0}"/>
                  </a:ext>
                </a:extLst>
              </p:cNvPr>
              <p:cNvSpPr/>
              <p:nvPr/>
            </p:nvSpPr>
            <p:spPr>
              <a:xfrm>
                <a:off x="9143" y="7055"/>
                <a:ext cx="763" cy="405"/>
              </a:xfrm>
              <a:prstGeom prst="notch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9" name="燕尾形箭头 19">
                <a:extLst>
                  <a:ext uri="{FF2B5EF4-FFF2-40B4-BE49-F238E27FC236}">
                    <a16:creationId xmlns:a16="http://schemas.microsoft.com/office/drawing/2014/main" id="{8D532BF6-59A7-AADA-4DA4-C6714CD7A19A}"/>
                  </a:ext>
                </a:extLst>
              </p:cNvPr>
              <p:cNvSpPr/>
              <p:nvPr/>
            </p:nvSpPr>
            <p:spPr>
              <a:xfrm rot="13380000">
                <a:off x="10232" y="5844"/>
                <a:ext cx="763" cy="405"/>
              </a:xfrm>
              <a:prstGeom prst="notch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0" name="燕尾形箭头 21">
                <a:extLst>
                  <a:ext uri="{FF2B5EF4-FFF2-40B4-BE49-F238E27FC236}">
                    <a16:creationId xmlns:a16="http://schemas.microsoft.com/office/drawing/2014/main" id="{A2D5D4AC-7410-7639-7BEC-7AE74BD1E5F5}"/>
                  </a:ext>
                </a:extLst>
              </p:cNvPr>
              <p:cNvSpPr/>
              <p:nvPr/>
            </p:nvSpPr>
            <p:spPr>
              <a:xfrm rot="2640000">
                <a:off x="10636" y="5792"/>
                <a:ext cx="763" cy="405"/>
              </a:xfrm>
              <a:prstGeom prst="notch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1" name="文本框 20">
                <a:extLst>
                  <a:ext uri="{FF2B5EF4-FFF2-40B4-BE49-F238E27FC236}">
                    <a16:creationId xmlns:a16="http://schemas.microsoft.com/office/drawing/2014/main" id="{C8C5C5CC-0404-91F5-755F-BEB766288B0B}"/>
                  </a:ext>
                </a:extLst>
              </p:cNvPr>
              <p:cNvSpPr txBox="1"/>
              <p:nvPr/>
            </p:nvSpPr>
            <p:spPr>
              <a:xfrm>
                <a:off x="8024" y="5022"/>
                <a:ext cx="2688" cy="580"/>
              </a:xfrm>
              <a:prstGeom prst="rect">
                <a:avLst/>
              </a:prstGeom>
              <a:noFill/>
            </p:spPr>
            <p:txBody>
              <a:bodyPr wrap="square" rtlCol="0" anchor="t">
                <a:spAutoFit/>
              </a:bodyPr>
              <a:lstStyle/>
              <a:p>
                <a:pPr algn="ctr"/>
                <a:r>
                  <a:rPr lang="zh-CN" altLang="en-US" b="1" dirty="0">
                    <a:solidFill>
                      <a:schemeClr val="accent1">
                        <a:lumMod val="75000"/>
                      </a:schemeClr>
                    </a:solidFill>
                    <a:latin typeface="+mj-ea"/>
                    <a:ea typeface="+mj-ea"/>
                    <a:sym typeface="+mn-ea"/>
                  </a:rPr>
                  <a:t>物理模型</a:t>
                </a:r>
              </a:p>
            </p:txBody>
          </p:sp>
        </p:grpSp>
      </p:grpSp>
      <p:pic>
        <p:nvPicPr>
          <p:cNvPr id="22" name="图片 21">
            <a:extLst>
              <a:ext uri="{FF2B5EF4-FFF2-40B4-BE49-F238E27FC236}">
                <a16:creationId xmlns:a16="http://schemas.microsoft.com/office/drawing/2014/main" id="{65FD65B9-B722-BDA7-5837-51016942EF85}"/>
              </a:ext>
            </a:extLst>
          </p:cNvPr>
          <p:cNvPicPr>
            <a:picLocks noChangeAspect="1"/>
          </p:cNvPicPr>
          <p:nvPr/>
        </p:nvPicPr>
        <p:blipFill>
          <a:blip r:embed="rId7"/>
          <a:stretch>
            <a:fillRect/>
          </a:stretch>
        </p:blipFill>
        <p:spPr>
          <a:xfrm>
            <a:off x="6835679" y="4425891"/>
            <a:ext cx="4596414" cy="2275916"/>
          </a:xfrm>
          <a:prstGeom prst="rect">
            <a:avLst/>
          </a:prstGeom>
        </p:spPr>
      </p:pic>
      <p:sp>
        <p:nvSpPr>
          <p:cNvPr id="28" name="文本框 27">
            <a:extLst>
              <a:ext uri="{FF2B5EF4-FFF2-40B4-BE49-F238E27FC236}">
                <a16:creationId xmlns:a16="http://schemas.microsoft.com/office/drawing/2014/main" id="{56F8D7DC-C43C-59D5-1951-9BAD2339C436}"/>
              </a:ext>
            </a:extLst>
          </p:cNvPr>
          <p:cNvSpPr txBox="1"/>
          <p:nvPr/>
        </p:nvSpPr>
        <p:spPr>
          <a:xfrm>
            <a:off x="7026442" y="6488668"/>
            <a:ext cx="4783756" cy="369332"/>
          </a:xfrm>
          <a:prstGeom prst="rect">
            <a:avLst/>
          </a:prstGeom>
          <a:noFill/>
        </p:spPr>
        <p:txBody>
          <a:bodyPr wrap="square">
            <a:spAutoFit/>
          </a:bodyPr>
          <a:lstStyle/>
          <a:p>
            <a:r>
              <a:rPr lang="zh-CN" altLang="en-US" sz="1800" b="1" dirty="0">
                <a:solidFill>
                  <a:srgbClr val="1B236C"/>
                </a:solidFill>
                <a:latin typeface="微软雅黑" panose="020B0503020204020204" charset="-122"/>
                <a:ea typeface="微软雅黑" panose="020B0503020204020204" charset="-122"/>
                <a:cs typeface="微软雅黑" panose="020B0503020204020204" charset="-122"/>
              </a:rPr>
              <a:t>水电解槽与燃料电池的神经网络仿真与优化</a:t>
            </a:r>
            <a:endParaRPr lang="zh-CN" altLang="en-US" dirty="0"/>
          </a:p>
        </p:txBody>
      </p:sp>
    </p:spTree>
    <p:extLst>
      <p:ext uri="{BB962C8B-B14F-4D97-AF65-F5344CB8AC3E}">
        <p14:creationId xmlns:p14="http://schemas.microsoft.com/office/powerpoint/2010/main" val="9929317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E2A6E07-8FB5-4531-8A46-C022BA30645E}"/>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9650F931-6C8A-4F69-B0E7-A9AC3274951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C1935D7A-D7B4-44D0-9BC9-7CAE19BACB0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556D89AC-3EB8-4059-B675-2467F90A0D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跨媒体计算</a:t>
              </a:r>
              <a:endPar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4" name="矩形 13">
            <a:extLst>
              <a:ext uri="{FF2B5EF4-FFF2-40B4-BE49-F238E27FC236}">
                <a16:creationId xmlns:a16="http://schemas.microsoft.com/office/drawing/2014/main" id="{6A940600-13FD-4A91-ACD0-2BE3F1A464D3}"/>
              </a:ext>
            </a:extLst>
          </p:cNvPr>
          <p:cNvSpPr/>
          <p:nvPr/>
        </p:nvSpPr>
        <p:spPr>
          <a:xfrm>
            <a:off x="852473" y="129010"/>
            <a:ext cx="163378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六、跨媒体计算</a:t>
            </a:r>
            <a:endParaRPr lang="zh-CN" altLang="en-US" sz="1600" dirty="0">
              <a:solidFill>
                <a:srgbClr val="000000"/>
              </a:solidFill>
              <a:latin typeface="Times New Roman" panose="02020603050405020304" pitchFamily="18" charset="0"/>
            </a:endParaRPr>
          </a:p>
        </p:txBody>
      </p:sp>
      <p:sp>
        <p:nvSpPr>
          <p:cNvPr id="3" name="矩形 2">
            <a:extLst>
              <a:ext uri="{FF2B5EF4-FFF2-40B4-BE49-F238E27FC236}">
                <a16:creationId xmlns:a16="http://schemas.microsoft.com/office/drawing/2014/main" id="{BF4712BE-963C-491F-B659-63D9B1B7D503}"/>
              </a:ext>
            </a:extLst>
          </p:cNvPr>
          <p:cNvSpPr/>
          <p:nvPr/>
        </p:nvSpPr>
        <p:spPr>
          <a:xfrm>
            <a:off x="32826" y="2680323"/>
            <a:ext cx="5448886" cy="2308324"/>
          </a:xfrm>
          <a:prstGeom prst="rect">
            <a:avLst/>
          </a:prstGeom>
        </p:spPr>
        <p:txBody>
          <a:bodyPr wrap="square">
            <a:spAutoFit/>
          </a:bodyPr>
          <a:lstStyle/>
          <a:p>
            <a:pPr indent="266700" algn="just">
              <a:lnSpc>
                <a:spcPct val="150000"/>
              </a:lnSpc>
              <a:spcAft>
                <a:spcPts val="0"/>
              </a:spcAft>
            </a:pPr>
            <a:r>
              <a:rPr lang="zh-CN"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跨媒体计算与综合推理相互结合，可从一种类型数据陈述的若干已知判断（前提）出发，推断出由另一类型数据陈述的若干结论，如跨媒体检索、图文生成、图像（视频）问答和音乐驱动视频生成等。这些研究重点围绕如何打通逻辑、语言、听觉和视觉等之间的异构鸿沟而展开，以在不同类型数据之间形成深层次的推理。</a:t>
            </a:r>
          </a:p>
        </p:txBody>
      </p:sp>
      <p:pic>
        <p:nvPicPr>
          <p:cNvPr id="15" name="Picture 3" descr="C:\Users\Cheng Yao\Desktop\Osx36.png">
            <a:extLst>
              <a:ext uri="{FF2B5EF4-FFF2-40B4-BE49-F238E27FC236}">
                <a16:creationId xmlns:a16="http://schemas.microsoft.com/office/drawing/2014/main" id="{0185BA00-E042-4DAD-BAA8-E9B79D9D9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1902" y="3878338"/>
            <a:ext cx="783820" cy="7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8" descr="C:\Users\Cheng Yao\Desktop\Hein015.png">
            <a:extLst>
              <a:ext uri="{FF2B5EF4-FFF2-40B4-BE49-F238E27FC236}">
                <a16:creationId xmlns:a16="http://schemas.microsoft.com/office/drawing/2014/main" id="{4EF580FF-C44A-4239-AF77-790A671115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9964" y="3843747"/>
            <a:ext cx="773560" cy="77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4" descr="C:\Users\Cheng Yao\Desktop\Osx28.png">
            <a:extLst>
              <a:ext uri="{FF2B5EF4-FFF2-40B4-BE49-F238E27FC236}">
                <a16:creationId xmlns:a16="http://schemas.microsoft.com/office/drawing/2014/main" id="{2C7A8991-8C16-4C36-B869-2AAF02ED9B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22258" y="3884687"/>
            <a:ext cx="738243" cy="738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8">
            <a:extLst>
              <a:ext uri="{FF2B5EF4-FFF2-40B4-BE49-F238E27FC236}">
                <a16:creationId xmlns:a16="http://schemas.microsoft.com/office/drawing/2014/main" id="{D628CF7C-5D72-4C4D-9E4E-A2F8C973B97C}"/>
              </a:ext>
            </a:extLst>
          </p:cNvPr>
          <p:cNvSpPr txBox="1">
            <a:spLocks noChangeArrowheads="1"/>
          </p:cNvSpPr>
          <p:nvPr/>
        </p:nvSpPr>
        <p:spPr bwMode="auto">
          <a:xfrm>
            <a:off x="6489321" y="3223422"/>
            <a:ext cx="7617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Verdana" pitchFamily="34" charset="0"/>
                <a:ea typeface="宋体" pitchFamily="2" charset="-122"/>
              </a:defRPr>
            </a:lvl1pPr>
            <a:lvl2pPr marL="742950" indent="-285750">
              <a:defRPr sz="2800">
                <a:solidFill>
                  <a:schemeClr val="tx1"/>
                </a:solidFill>
                <a:latin typeface="Verdana" pitchFamily="34" charset="0"/>
                <a:ea typeface="宋体" pitchFamily="2" charset="-122"/>
              </a:defRPr>
            </a:lvl2pPr>
            <a:lvl3pPr marL="1143000" indent="-228600">
              <a:defRPr sz="2800">
                <a:solidFill>
                  <a:schemeClr val="tx1"/>
                </a:solidFill>
                <a:latin typeface="Verdana" pitchFamily="34" charset="0"/>
                <a:ea typeface="宋体" pitchFamily="2" charset="-122"/>
              </a:defRPr>
            </a:lvl3pPr>
            <a:lvl4pPr marL="1600200" indent="-228600">
              <a:defRPr sz="2800">
                <a:solidFill>
                  <a:schemeClr val="tx1"/>
                </a:solidFill>
                <a:latin typeface="Verdana" pitchFamily="34" charset="0"/>
                <a:ea typeface="宋体" pitchFamily="2" charset="-122"/>
              </a:defRPr>
            </a:lvl4pPr>
            <a:lvl5pPr marL="2057400" indent="-228600">
              <a:defRPr sz="2800">
                <a:solidFill>
                  <a:schemeClr val="tx1"/>
                </a:solidFill>
                <a:latin typeface="Verdana" pitchFamily="34"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9pPr>
          </a:lstStyle>
          <a:p>
            <a:r>
              <a:rPr lang="zh-CN" altLang="en-US" sz="200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跨 越</a:t>
            </a:r>
          </a:p>
        </p:txBody>
      </p:sp>
      <p:sp>
        <p:nvSpPr>
          <p:cNvPr id="19" name="TextBox 19">
            <a:extLst>
              <a:ext uri="{FF2B5EF4-FFF2-40B4-BE49-F238E27FC236}">
                <a16:creationId xmlns:a16="http://schemas.microsoft.com/office/drawing/2014/main" id="{EBF0C349-C111-420B-B18B-584ADA23A0AE}"/>
              </a:ext>
            </a:extLst>
          </p:cNvPr>
          <p:cNvSpPr txBox="1">
            <a:spLocks noChangeArrowheads="1"/>
          </p:cNvSpPr>
          <p:nvPr/>
        </p:nvSpPr>
        <p:spPr bwMode="auto">
          <a:xfrm>
            <a:off x="8068245" y="3205385"/>
            <a:ext cx="7617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Verdana" pitchFamily="34" charset="0"/>
                <a:ea typeface="宋体" pitchFamily="2" charset="-122"/>
              </a:defRPr>
            </a:lvl1pPr>
            <a:lvl2pPr marL="742950" indent="-285750">
              <a:defRPr sz="2800">
                <a:solidFill>
                  <a:schemeClr val="tx1"/>
                </a:solidFill>
                <a:latin typeface="Verdana" pitchFamily="34" charset="0"/>
                <a:ea typeface="宋体" pitchFamily="2" charset="-122"/>
              </a:defRPr>
            </a:lvl2pPr>
            <a:lvl3pPr marL="1143000" indent="-228600">
              <a:defRPr sz="2800">
                <a:solidFill>
                  <a:schemeClr val="tx1"/>
                </a:solidFill>
                <a:latin typeface="Verdana" pitchFamily="34" charset="0"/>
                <a:ea typeface="宋体" pitchFamily="2" charset="-122"/>
              </a:defRPr>
            </a:lvl3pPr>
            <a:lvl4pPr marL="1600200" indent="-228600">
              <a:defRPr sz="2800">
                <a:solidFill>
                  <a:schemeClr val="tx1"/>
                </a:solidFill>
                <a:latin typeface="Verdana" pitchFamily="34" charset="0"/>
                <a:ea typeface="宋体" pitchFamily="2" charset="-122"/>
              </a:defRPr>
            </a:lvl4pPr>
            <a:lvl5pPr marL="2057400" indent="-228600">
              <a:defRPr sz="2800">
                <a:solidFill>
                  <a:schemeClr val="tx1"/>
                </a:solidFill>
                <a:latin typeface="Verdana" pitchFamily="34"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9pPr>
          </a:lstStyle>
          <a:p>
            <a:r>
              <a:rPr lang="zh-CN" altLang="en-US" sz="200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跨 越</a:t>
            </a:r>
          </a:p>
        </p:txBody>
      </p:sp>
      <p:cxnSp>
        <p:nvCxnSpPr>
          <p:cNvPr id="20" name="曲线连接符 49">
            <a:extLst>
              <a:ext uri="{FF2B5EF4-FFF2-40B4-BE49-F238E27FC236}">
                <a16:creationId xmlns:a16="http://schemas.microsoft.com/office/drawing/2014/main" id="{91CC8463-082B-4712-9657-FB3AA74E86E3}"/>
              </a:ext>
            </a:extLst>
          </p:cNvPr>
          <p:cNvCxnSpPr>
            <a:cxnSpLocks noChangeShapeType="1"/>
          </p:cNvCxnSpPr>
          <p:nvPr/>
        </p:nvCxnSpPr>
        <p:spPr bwMode="auto">
          <a:xfrm rot="16200000" flipH="1">
            <a:off x="6839107" y="3064744"/>
            <a:ext cx="49213" cy="1689100"/>
          </a:xfrm>
          <a:prstGeom prst="curvedConnector3">
            <a:avLst>
              <a:gd name="adj1" fmla="val -652093"/>
            </a:avLst>
          </a:prstGeom>
          <a:noFill/>
          <a:ln w="25400">
            <a:solidFill>
              <a:schemeClr val="accent2"/>
            </a:solidFill>
            <a:round/>
            <a:headEnd type="arrow" w="med" len="med"/>
            <a:tailEnd type="arrow" w="med" len="med"/>
          </a:ln>
          <a:effectLst>
            <a:outerShdw dist="20000" dir="5400000" algn="ctr" rotWithShape="0">
              <a:srgbClr val="000000">
                <a:alpha val="34998"/>
              </a:srgbClr>
            </a:outerShdw>
          </a:effectLst>
          <a:extLst>
            <a:ext uri="{909E8E84-426E-40DD-AFC4-6F175D3DCCD1}">
              <a14:hiddenFill xmlns:a14="http://schemas.microsoft.com/office/drawing/2010/main">
                <a:noFill/>
              </a14:hiddenFill>
            </a:ext>
          </a:extLst>
        </p:spPr>
      </p:cxnSp>
      <p:cxnSp>
        <p:nvCxnSpPr>
          <p:cNvPr id="21" name="曲线连接符 50">
            <a:extLst>
              <a:ext uri="{FF2B5EF4-FFF2-40B4-BE49-F238E27FC236}">
                <a16:creationId xmlns:a16="http://schemas.microsoft.com/office/drawing/2014/main" id="{3088EF79-D1A5-47D4-9CA1-A49A07ABD5F4}"/>
              </a:ext>
            </a:extLst>
          </p:cNvPr>
          <p:cNvCxnSpPr>
            <a:cxnSpLocks noChangeShapeType="1"/>
          </p:cNvCxnSpPr>
          <p:nvPr/>
        </p:nvCxnSpPr>
        <p:spPr bwMode="auto">
          <a:xfrm rot="5400000" flipH="1" flipV="1">
            <a:off x="8477128" y="3096416"/>
            <a:ext cx="82550" cy="1666875"/>
          </a:xfrm>
          <a:prstGeom prst="curvedConnector3">
            <a:avLst>
              <a:gd name="adj1" fmla="val 491796"/>
            </a:avLst>
          </a:prstGeom>
          <a:noFill/>
          <a:ln w="25400">
            <a:solidFill>
              <a:schemeClr val="accent2"/>
            </a:solidFill>
            <a:round/>
            <a:headEnd type="arrow" w="med" len="med"/>
            <a:tailEnd type="arrow" w="med" len="med"/>
          </a:ln>
          <a:effectLst>
            <a:outerShdw dist="20000" dir="5400000" algn="ctr" rotWithShape="0">
              <a:srgbClr val="000000">
                <a:alpha val="34998"/>
              </a:srgbClr>
            </a:outerShdw>
          </a:effectLst>
          <a:extLst>
            <a:ext uri="{909E8E84-426E-40DD-AFC4-6F175D3DCCD1}">
              <a14:hiddenFill xmlns:a14="http://schemas.microsoft.com/office/drawing/2010/main">
                <a:noFill/>
              </a14:hiddenFill>
            </a:ext>
          </a:extLst>
        </p:spPr>
      </p:cxnSp>
      <p:sp>
        <p:nvSpPr>
          <p:cNvPr id="22" name="弧形 21">
            <a:extLst>
              <a:ext uri="{FF2B5EF4-FFF2-40B4-BE49-F238E27FC236}">
                <a16:creationId xmlns:a16="http://schemas.microsoft.com/office/drawing/2014/main" id="{F0BAC25A-D7AE-4A4D-B348-C6AE03C3B847}"/>
              </a:ext>
            </a:extLst>
          </p:cNvPr>
          <p:cNvSpPr/>
          <p:nvPr/>
        </p:nvSpPr>
        <p:spPr>
          <a:xfrm>
            <a:off x="6019163" y="3090062"/>
            <a:ext cx="3322033" cy="1535257"/>
          </a:xfrm>
          <a:prstGeom prst="arc">
            <a:avLst>
              <a:gd name="adj1" fmla="val 10661981"/>
              <a:gd name="adj2" fmla="val 21548686"/>
            </a:avLst>
          </a:prstGeom>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3" name="TextBox 18">
            <a:extLst>
              <a:ext uri="{FF2B5EF4-FFF2-40B4-BE49-F238E27FC236}">
                <a16:creationId xmlns:a16="http://schemas.microsoft.com/office/drawing/2014/main" id="{1EABDB93-6BD7-4563-B769-5F80DD09F8EC}"/>
              </a:ext>
            </a:extLst>
          </p:cNvPr>
          <p:cNvSpPr txBox="1">
            <a:spLocks noChangeArrowheads="1"/>
          </p:cNvSpPr>
          <p:nvPr/>
        </p:nvSpPr>
        <p:spPr bwMode="auto">
          <a:xfrm>
            <a:off x="7259913" y="2718993"/>
            <a:ext cx="7617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Verdana" pitchFamily="34" charset="0"/>
                <a:ea typeface="宋体" pitchFamily="2" charset="-122"/>
              </a:defRPr>
            </a:lvl1pPr>
            <a:lvl2pPr marL="742950" indent="-285750">
              <a:defRPr sz="2800">
                <a:solidFill>
                  <a:schemeClr val="tx1"/>
                </a:solidFill>
                <a:latin typeface="Verdana" pitchFamily="34" charset="0"/>
                <a:ea typeface="宋体" pitchFamily="2" charset="-122"/>
              </a:defRPr>
            </a:lvl2pPr>
            <a:lvl3pPr marL="1143000" indent="-228600">
              <a:defRPr sz="2800">
                <a:solidFill>
                  <a:schemeClr val="tx1"/>
                </a:solidFill>
                <a:latin typeface="Verdana" pitchFamily="34" charset="0"/>
                <a:ea typeface="宋体" pitchFamily="2" charset="-122"/>
              </a:defRPr>
            </a:lvl3pPr>
            <a:lvl4pPr marL="1600200" indent="-228600">
              <a:defRPr sz="2800">
                <a:solidFill>
                  <a:schemeClr val="tx1"/>
                </a:solidFill>
                <a:latin typeface="Verdana" pitchFamily="34" charset="0"/>
                <a:ea typeface="宋体" pitchFamily="2" charset="-122"/>
              </a:defRPr>
            </a:lvl4pPr>
            <a:lvl5pPr marL="2057400" indent="-228600">
              <a:defRPr sz="2800">
                <a:solidFill>
                  <a:schemeClr val="tx1"/>
                </a:solidFill>
                <a:latin typeface="Verdana" pitchFamily="34"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9pPr>
          </a:lstStyle>
          <a:p>
            <a:r>
              <a:rPr lang="zh-CN" altLang="en-US" sz="200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跨 越</a:t>
            </a:r>
          </a:p>
        </p:txBody>
      </p:sp>
      <p:sp>
        <p:nvSpPr>
          <p:cNvPr id="24" name="TextBox 33">
            <a:extLst>
              <a:ext uri="{FF2B5EF4-FFF2-40B4-BE49-F238E27FC236}">
                <a16:creationId xmlns:a16="http://schemas.microsoft.com/office/drawing/2014/main" id="{C6AD6269-B696-4A76-9454-052E6013B3AB}"/>
              </a:ext>
            </a:extLst>
          </p:cNvPr>
          <p:cNvSpPr txBox="1"/>
          <p:nvPr/>
        </p:nvSpPr>
        <p:spPr>
          <a:xfrm>
            <a:off x="10131150" y="4084927"/>
            <a:ext cx="646331" cy="369332"/>
          </a:xfrm>
          <a:prstGeom prst="rect">
            <a:avLst/>
          </a:prstGeom>
          <a:noFill/>
        </p:spPr>
        <p:txBody>
          <a:bodyPr wrap="non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图形</a:t>
            </a:r>
          </a:p>
        </p:txBody>
      </p:sp>
      <p:sp>
        <p:nvSpPr>
          <p:cNvPr id="25" name="TextBox 46">
            <a:extLst>
              <a:ext uri="{FF2B5EF4-FFF2-40B4-BE49-F238E27FC236}">
                <a16:creationId xmlns:a16="http://schemas.microsoft.com/office/drawing/2014/main" id="{FB9D474C-6DBA-42B1-AA83-8CFEB10DB929}"/>
              </a:ext>
            </a:extLst>
          </p:cNvPr>
          <p:cNvSpPr txBox="1"/>
          <p:nvPr/>
        </p:nvSpPr>
        <p:spPr>
          <a:xfrm>
            <a:off x="10837347" y="4082779"/>
            <a:ext cx="1396536" cy="369332"/>
          </a:xfrm>
          <a:prstGeom prst="rect">
            <a:avLst/>
          </a:prstGeom>
          <a:noFill/>
        </p:spPr>
        <p:txBody>
          <a:bodyPr wrap="none" rtlCol="0">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动画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26" name="曲线连接符 50">
            <a:extLst>
              <a:ext uri="{FF2B5EF4-FFF2-40B4-BE49-F238E27FC236}">
                <a16:creationId xmlns:a16="http://schemas.microsoft.com/office/drawing/2014/main" id="{87B6A0D5-72BF-4463-8B2B-BF6676089847}"/>
              </a:ext>
            </a:extLst>
          </p:cNvPr>
          <p:cNvCxnSpPr>
            <a:cxnSpLocks noChangeShapeType="1"/>
          </p:cNvCxnSpPr>
          <p:nvPr/>
        </p:nvCxnSpPr>
        <p:spPr bwMode="auto">
          <a:xfrm rot="5400000" flipH="1" flipV="1">
            <a:off x="10175008" y="3042752"/>
            <a:ext cx="82550" cy="1666875"/>
          </a:xfrm>
          <a:prstGeom prst="curvedConnector3">
            <a:avLst>
              <a:gd name="adj1" fmla="val 491796"/>
            </a:avLst>
          </a:prstGeom>
          <a:noFill/>
          <a:ln w="25400">
            <a:solidFill>
              <a:schemeClr val="accent2"/>
            </a:solidFill>
            <a:round/>
            <a:headEnd type="arrow" w="med" len="med"/>
            <a:tailEnd type="arrow" w="med" len="med"/>
          </a:ln>
          <a:effectLst>
            <a:outerShdw dist="20000" dir="5400000" algn="ctr" rotWithShape="0">
              <a:srgbClr val="000000">
                <a:alpha val="34998"/>
              </a:srgbClr>
            </a:outerShdw>
          </a:effectLst>
          <a:extLst>
            <a:ext uri="{909E8E84-426E-40DD-AFC4-6F175D3DCCD1}">
              <a14:hiddenFill xmlns:a14="http://schemas.microsoft.com/office/drawing/2010/main">
                <a:noFill/>
              </a14:hiddenFill>
            </a:ext>
          </a:extLst>
        </p:spPr>
      </p:cxnSp>
      <p:sp>
        <p:nvSpPr>
          <p:cNvPr id="27" name="TextBox 48">
            <a:extLst>
              <a:ext uri="{FF2B5EF4-FFF2-40B4-BE49-F238E27FC236}">
                <a16:creationId xmlns:a16="http://schemas.microsoft.com/office/drawing/2014/main" id="{DA16BC46-3E16-4BF1-8520-F17C2B898261}"/>
              </a:ext>
            </a:extLst>
          </p:cNvPr>
          <p:cNvSpPr txBox="1"/>
          <p:nvPr/>
        </p:nvSpPr>
        <p:spPr>
          <a:xfrm>
            <a:off x="9959427" y="3063190"/>
            <a:ext cx="646331" cy="369332"/>
          </a:xfrm>
          <a:prstGeom prst="rect">
            <a:avLst/>
          </a:prstGeom>
          <a:noFill/>
        </p:spPr>
        <p:txBody>
          <a:bodyPr wrap="none" rtlCol="0">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6766373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E2A6E07-8FB5-4531-8A46-C022BA30645E}"/>
              </a:ext>
            </a:extLst>
          </p:cNvPr>
          <p:cNvGrpSpPr/>
          <p:nvPr/>
        </p:nvGrpSpPr>
        <p:grpSpPr>
          <a:xfrm>
            <a:off x="2583380" y="726948"/>
            <a:ext cx="7464387" cy="497934"/>
            <a:chOff x="4099943" y="2819853"/>
            <a:chExt cx="2570275" cy="497934"/>
          </a:xfrm>
        </p:grpSpPr>
        <p:sp>
          <p:nvSpPr>
            <p:cNvPr id="11" name="平行四边形 10">
              <a:extLst>
                <a:ext uri="{FF2B5EF4-FFF2-40B4-BE49-F238E27FC236}">
                  <a16:creationId xmlns:a16="http://schemas.microsoft.com/office/drawing/2014/main" id="{9650F931-6C8A-4F69-B0E7-A9AC3274951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平行四边形 11">
              <a:extLst>
                <a:ext uri="{FF2B5EF4-FFF2-40B4-BE49-F238E27FC236}">
                  <a16:creationId xmlns:a16="http://schemas.microsoft.com/office/drawing/2014/main" id="{C1935D7A-D7B4-44D0-9BC9-7CAE19BACB0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a:extLst>
                <a:ext uri="{FF2B5EF4-FFF2-40B4-BE49-F238E27FC236}">
                  <a16:creationId xmlns:a16="http://schemas.microsoft.com/office/drawing/2014/main" id="{556D89AC-3EB8-4059-B675-2467F90A0D0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机器人控制</a:t>
              </a:r>
              <a:endPar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4" name="矩形 13">
            <a:extLst>
              <a:ext uri="{FF2B5EF4-FFF2-40B4-BE49-F238E27FC236}">
                <a16:creationId xmlns:a16="http://schemas.microsoft.com/office/drawing/2014/main" id="{6A940600-13FD-4A91-ACD0-2BE3F1A464D3}"/>
              </a:ext>
            </a:extLst>
          </p:cNvPr>
          <p:cNvSpPr/>
          <p:nvPr/>
        </p:nvSpPr>
        <p:spPr>
          <a:xfrm>
            <a:off x="852473" y="129010"/>
            <a:ext cx="1620957"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七、机器人控制</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7E969B0E-4711-44FD-A4BF-9FFF0E2C506C}"/>
              </a:ext>
            </a:extLst>
          </p:cNvPr>
          <p:cNvPicPr>
            <a:picLocks noChangeAspect="1"/>
          </p:cNvPicPr>
          <p:nvPr/>
        </p:nvPicPr>
        <p:blipFill>
          <a:blip r:embed="rId3"/>
          <a:stretch>
            <a:fillRect/>
          </a:stretch>
        </p:blipFill>
        <p:spPr>
          <a:xfrm>
            <a:off x="5881092" y="3075072"/>
            <a:ext cx="6161651" cy="2013691"/>
          </a:xfrm>
          <a:prstGeom prst="rect">
            <a:avLst/>
          </a:prstGeom>
        </p:spPr>
      </p:pic>
      <p:sp>
        <p:nvSpPr>
          <p:cNvPr id="4" name="矩形 3">
            <a:extLst>
              <a:ext uri="{FF2B5EF4-FFF2-40B4-BE49-F238E27FC236}">
                <a16:creationId xmlns:a16="http://schemas.microsoft.com/office/drawing/2014/main" id="{B7FB2F33-1700-4374-8B93-4119CF6B5648}"/>
              </a:ext>
            </a:extLst>
          </p:cNvPr>
          <p:cNvSpPr/>
          <p:nvPr/>
        </p:nvSpPr>
        <p:spPr>
          <a:xfrm>
            <a:off x="186771" y="2347688"/>
            <a:ext cx="5791998" cy="2948243"/>
          </a:xfrm>
          <a:prstGeom prst="rect">
            <a:avLst/>
          </a:prstGeom>
        </p:spPr>
        <p:txBody>
          <a:bodyPr wrap="square">
            <a:spAutoFit/>
          </a:bodyPr>
          <a:lstStyle/>
          <a:p>
            <a:pPr algn="just">
              <a:lnSpc>
                <a:spcPct val="15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机器人通过多种传感器（</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Sensor</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）得到对环境（</a:t>
            </a:r>
            <a:r>
              <a:rPr lang="en-US" altLang="zh-CN" dirty="0">
                <a:latin typeface="Times New Roman" panose="02020603050405020304" pitchFamily="18" charset="0"/>
                <a:ea typeface="楷体" panose="02010609060101010101" pitchFamily="49" charset="-122"/>
                <a:cs typeface="Times New Roman" panose="02020603050405020304" pitchFamily="18" charset="0"/>
              </a:rPr>
              <a:t>Environment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）的感知，进而得到对智能体和环境的状态估计（</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State Estimation</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），根据具体任务和规划算法实现基本的规划（</a:t>
            </a:r>
            <a:r>
              <a:rPr lang="en-US" altLang="zh-CN" dirty="0">
                <a:latin typeface="Times New Roman" panose="02020603050405020304" pitchFamily="18" charset="0"/>
                <a:ea typeface="楷体" panose="02010609060101010101" pitchFamily="49" charset="-122"/>
                <a:cs typeface="Times New Roman" panose="02020603050405020304" pitchFamily="18" charset="0"/>
              </a:rPr>
              <a:t>Planning</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），进而调动低阶控制器控制机器人的自身机械结构、操作单元（</a:t>
            </a:r>
            <a:r>
              <a:rPr lang="en-US" altLang="zh-CN" dirty="0">
                <a:latin typeface="Times New Roman" panose="02020603050405020304" pitchFamily="18" charset="0"/>
                <a:ea typeface="楷体" panose="02010609060101010101" pitchFamily="49" charset="-122"/>
                <a:cs typeface="Times New Roman" panose="02020603050405020304" pitchFamily="18" charset="0"/>
              </a:rPr>
              <a:t>Manipulator</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）执行相应动作，最后通过一系列高阶控制器（</a:t>
            </a:r>
            <a:r>
              <a:rPr lang="en-US" altLang="zh-CN" dirty="0">
                <a:latin typeface="Times New Roman" panose="02020603050405020304" pitchFamily="18" charset="0"/>
                <a:ea typeface="楷体" panose="02010609060101010101" pitchFamily="49" charset="-122"/>
                <a:cs typeface="Times New Roman" panose="02020603050405020304" pitchFamily="18" charset="0"/>
              </a:rPr>
              <a:t>Controller</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）实现整体状态控制直到完成任务</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7132405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63750" y="703343"/>
            <a:ext cx="11595798" cy="5601196"/>
          </a:xfrm>
          <a:prstGeom prst="rect">
            <a:avLst/>
          </a:prstGeom>
          <a:solidFill>
            <a:srgbClr val="EEF7F8"/>
          </a:solidFill>
          <a:ln>
            <a:noFill/>
          </a:ln>
          <a:effectLst>
            <a:outerShdw blurRad="495300" dist="241300" dir="2700000" algn="tl" rotWithShape="0">
              <a:srgbClr val="222222">
                <a:alpha val="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590994" y="584180"/>
            <a:ext cx="2579459" cy="708913"/>
            <a:chOff x="3509228" y="1296644"/>
            <a:chExt cx="2754111" cy="756910"/>
          </a:xfrm>
          <a:effectLst/>
        </p:grpSpPr>
        <p:sp>
          <p:nvSpPr>
            <p:cNvPr id="8" name="立方体 7"/>
            <p:cNvSpPr/>
            <p:nvPr/>
          </p:nvSpPr>
          <p:spPr>
            <a:xfrm>
              <a:off x="3522589" y="1312169"/>
              <a:ext cx="2740750" cy="738665"/>
            </a:xfrm>
            <a:prstGeom prst="cube">
              <a:avLst>
                <a:gd name="adj" fmla="val 9465"/>
              </a:avLst>
            </a:prstGeom>
            <a:solidFill>
              <a:srgbClr val="0076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3520104" y="1385123"/>
              <a:ext cx="2658236" cy="668431"/>
              <a:chOff x="766780" y="725067"/>
              <a:chExt cx="3103577" cy="780415"/>
            </a:xfrm>
          </p:grpSpPr>
          <p:grpSp>
            <p:nvGrpSpPr>
              <p:cNvPr id="14" name="组合 13"/>
              <p:cNvGrpSpPr/>
              <p:nvPr/>
            </p:nvGrpSpPr>
            <p:grpSpPr>
              <a:xfrm>
                <a:off x="766780" y="728242"/>
                <a:ext cx="777240" cy="777240"/>
                <a:chOff x="1908810" y="1131040"/>
                <a:chExt cx="777240" cy="777240"/>
              </a:xfrm>
            </p:grpSpPr>
            <p:sp>
              <p:nvSpPr>
                <p:cNvPr id="33" name="矩形 3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3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a:endCxn id="3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41549" y="725067"/>
                <a:ext cx="777240" cy="777240"/>
                <a:chOff x="1908810" y="1131040"/>
                <a:chExt cx="777240" cy="777240"/>
              </a:xfrm>
            </p:grpSpPr>
            <p:sp>
              <p:nvSpPr>
                <p:cNvPr id="28" name="矩形 2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a:endCxn id="2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316784" y="725067"/>
                <a:ext cx="777240" cy="777240"/>
                <a:chOff x="1908810" y="1131040"/>
                <a:chExt cx="777240" cy="777240"/>
              </a:xfrm>
            </p:grpSpPr>
            <p:sp>
              <p:nvSpPr>
                <p:cNvPr id="23" name="矩形 2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2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2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3093117" y="725067"/>
                <a:ext cx="777240" cy="777240"/>
                <a:chOff x="1908810" y="1131040"/>
                <a:chExt cx="777240" cy="777240"/>
              </a:xfrm>
            </p:grpSpPr>
            <p:sp>
              <p:nvSpPr>
                <p:cNvPr id="18" name="矩形 1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1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1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10" name="矩形 9"/>
            <p:cNvSpPr/>
            <p:nvPr/>
          </p:nvSpPr>
          <p:spPr>
            <a:xfrm>
              <a:off x="3509228" y="1300957"/>
              <a:ext cx="671979" cy="677107"/>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延</a:t>
              </a:r>
            </a:p>
          </p:txBody>
        </p:sp>
        <p:sp>
          <p:nvSpPr>
            <p:cNvPr id="11" name="矩形 10"/>
            <p:cNvSpPr/>
            <p:nvPr/>
          </p:nvSpPr>
          <p:spPr>
            <a:xfrm>
              <a:off x="4183692" y="1298239"/>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伸</a:t>
              </a:r>
            </a:p>
          </p:txBody>
        </p:sp>
        <p:sp>
          <p:nvSpPr>
            <p:cNvPr id="12" name="矩形 11"/>
            <p:cNvSpPr/>
            <p:nvPr/>
          </p:nvSpPr>
          <p:spPr>
            <a:xfrm>
              <a:off x="4846347" y="1297103"/>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阅</a:t>
              </a:r>
            </a:p>
          </p:txBody>
        </p:sp>
        <p:sp>
          <p:nvSpPr>
            <p:cNvPr id="13" name="矩形 12"/>
            <p:cNvSpPr/>
            <p:nvPr/>
          </p:nvSpPr>
          <p:spPr>
            <a:xfrm>
              <a:off x="5506300" y="1296644"/>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读</a:t>
              </a:r>
            </a:p>
          </p:txBody>
        </p:sp>
      </p:grpSp>
      <p:sp>
        <p:nvSpPr>
          <p:cNvPr id="40" name="矩形 39"/>
          <p:cNvSpPr/>
          <p:nvPr/>
        </p:nvSpPr>
        <p:spPr>
          <a:xfrm>
            <a:off x="518122" y="1326427"/>
            <a:ext cx="11530866" cy="5201424"/>
          </a:xfrm>
          <a:prstGeom prst="rect">
            <a:avLst/>
          </a:prstGeom>
        </p:spPr>
        <p:txBody>
          <a:bodyPr wrap="square">
            <a:spAutoFit/>
          </a:bodyPr>
          <a:lstStyle/>
          <a:p>
            <a:pPr>
              <a:lnSpc>
                <a:spcPct val="150000"/>
              </a:lnSpc>
            </a:pPr>
            <a:r>
              <a:rPr lang="zh-CN"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人工智能效应（</a:t>
            </a:r>
            <a:r>
              <a:rPr lang="en-US"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AI effect</a:t>
            </a:r>
            <a:r>
              <a:rPr lang="zh-CN"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）」或奇怪悖论（</a:t>
            </a:r>
            <a:r>
              <a:rPr lang="en-US"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odd paradox</a:t>
            </a:r>
            <a:r>
              <a:rPr lang="zh-CN"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图灵奖获得者麦卡锡曾经自嘲到：一样东西一旦用人工智能实现了，人们就不再叫它人工智能了（</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“As soon as it works, no one calls it AI any more</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），因为这只是计算。这被称为人工智能效应（</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AI effect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）」或奇怪悖论（</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odd paradox</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5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zh-CN" altLang="zh-CN" sz="15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社会一旦有技术上的需要，这种需要就会比十所大学更能把科学推向前进</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。人工智能天然具有应用驱动特点，具有增强任何领域的技术的潜力，是类似于内燃机或电力的一种</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使能</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技术。人类历史上曾出现过蒸汽机、电力、计算机、半导体和互联网等通用目的技术（</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General purpose technologies</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）。这些通用目的技术具有普遍适用性、动态演进性和创新互补性等特点，通用目的技术是使能技术</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(enabling technology)</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，但不是完整的最终解决方案。瓦特在</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1795</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年改良了蒸汽机，使得蒸汽机与纺织、交通和冶金等工业紧密结合，直至</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100</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年后，蒸汽机对劳动生产率的贡献才达到顶峰，机械动力迅速取代了人力、风力、水力和畜力，推动人类迈入工业革命时代。美国历史学家斯塔夫里阿诺斯（</a:t>
            </a:r>
            <a:r>
              <a:rPr lang="en-US" altLang="zh-CN" sz="1500" dirty="0" err="1">
                <a:latin typeface="Times New Roman" panose="02020603050405020304" pitchFamily="18" charset="0"/>
                <a:ea typeface="微软雅黑" panose="020B0503020204020204" pitchFamily="34" charset="-122"/>
                <a:cs typeface="Times New Roman" panose="02020603050405020304" pitchFamily="18" charset="0"/>
              </a:rPr>
              <a:t>Leften</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 Stavros </a:t>
            </a:r>
            <a:r>
              <a:rPr lang="en-US" altLang="zh-CN" sz="1500" dirty="0" err="1">
                <a:latin typeface="Times New Roman" panose="02020603050405020304" pitchFamily="18" charset="0"/>
                <a:ea typeface="微软雅黑" panose="020B0503020204020204" pitchFamily="34" charset="-122"/>
                <a:cs typeface="Times New Roman" panose="02020603050405020304" pitchFamily="18" charset="0"/>
              </a:rPr>
              <a:t>Stavrianos</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）在《全球通史》一书赞誉为</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蒸汽机的历史意义无论怎样夸大都不过</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50000"/>
              </a:lnSpc>
            </a:pPr>
            <a:endParaRPr lang="en-US" altLang="zh-CN" sz="15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梁启超写过一篇文章叫《学与术》，其中有一段写道：</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b="1" dirty="0">
                <a:solidFill>
                  <a:schemeClr val="accent6"/>
                </a:solidFill>
                <a:latin typeface="Times New Roman" panose="02020603050405020304" pitchFamily="18" charset="0"/>
                <a:ea typeface="微软雅黑" panose="020B0503020204020204" pitchFamily="34" charset="-122"/>
                <a:cs typeface="Times New Roman" panose="02020603050405020304" pitchFamily="18" charset="0"/>
              </a:rPr>
              <a:t>学也者，观察事物而发明其真理者也；术也者，取所发明之真理而致诸用者也</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对人工智能理论与模型研究和让人工智能赋能社会两者息息相关，相互促进。</a:t>
            </a:r>
          </a:p>
          <a:p>
            <a:pPr>
              <a:lnSpc>
                <a:spcPct val="150000"/>
              </a:lnSpc>
            </a:pPr>
            <a:endParaRPr lang="zh-CN" altLang="zh-CN" sz="15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7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8" name="组合 47"/>
          <p:cNvGrpSpPr/>
          <p:nvPr/>
        </p:nvGrpSpPr>
        <p:grpSpPr>
          <a:xfrm flipH="1">
            <a:off x="11065702" y="671669"/>
            <a:ext cx="851673" cy="853582"/>
            <a:chOff x="5244327" y="2299574"/>
            <a:chExt cx="851673" cy="853582"/>
          </a:xfrm>
        </p:grpSpPr>
        <p:sp>
          <p:nvSpPr>
            <p:cNvPr id="49" name="L 形 48"/>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L 形 49"/>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组合 51"/>
          <p:cNvGrpSpPr/>
          <p:nvPr/>
        </p:nvGrpSpPr>
        <p:grpSpPr>
          <a:xfrm flipV="1">
            <a:off x="321517" y="5450957"/>
            <a:ext cx="851673" cy="853582"/>
            <a:chOff x="5244327" y="2299574"/>
            <a:chExt cx="851673" cy="853582"/>
          </a:xfrm>
        </p:grpSpPr>
        <p:sp>
          <p:nvSpPr>
            <p:cNvPr id="53" name="L 形 52"/>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L 形 53"/>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flipH="1" flipV="1">
            <a:off x="11065672" y="5470438"/>
            <a:ext cx="851673" cy="853582"/>
            <a:chOff x="5244327" y="2299574"/>
            <a:chExt cx="851673" cy="853582"/>
          </a:xfrm>
        </p:grpSpPr>
        <p:sp>
          <p:nvSpPr>
            <p:cNvPr id="56" name="L 形 55"/>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L 形 56"/>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a:extLst>
              <a:ext uri="{FF2B5EF4-FFF2-40B4-BE49-F238E27FC236}">
                <a16:creationId xmlns:a16="http://schemas.microsoft.com/office/drawing/2014/main" id="{469AA995-01A2-4488-8818-4A8D7139E178}"/>
              </a:ext>
            </a:extLst>
          </p:cNvPr>
          <p:cNvSpPr/>
          <p:nvPr/>
        </p:nvSpPr>
        <p:spPr>
          <a:xfrm>
            <a:off x="4411516" y="853367"/>
            <a:ext cx="3570208" cy="830997"/>
          </a:xfrm>
          <a:prstGeom prst="rect">
            <a:avLst/>
          </a:prstGeom>
        </p:spPr>
        <p:txBody>
          <a:bodyPr wrap="none">
            <a:spAutoFit/>
          </a:bodyPr>
          <a:lstStyle/>
          <a:p>
            <a:r>
              <a:rPr lang="zh-CN" altLang="zh-CN" sz="2400" b="1" dirty="0">
                <a:solidFill>
                  <a:srgbClr val="C00000"/>
                </a:solidFill>
                <a:latin typeface="微软雅黑" panose="020B0503020204020204" pitchFamily="34" charset="-122"/>
                <a:ea typeface="微软雅黑" panose="020B0503020204020204" pitchFamily="34" charset="-122"/>
              </a:rPr>
              <a:t>人工智能效应之奇怪悖论</a:t>
            </a:r>
          </a:p>
          <a:p>
            <a:endParaRPr lang="zh-CN" altLang="en-US" sz="24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1000">
              <a:srgbClr val="0093A2">
                <a:alpha val="63000"/>
              </a:srgbClr>
            </a:gs>
            <a:gs pos="91000">
              <a:srgbClr val="013F45"/>
            </a:gs>
          </a:gsLst>
          <a:lin ang="5400000" scaled="0"/>
        </a:gradFill>
        <a:effectLst/>
      </p:bgPr>
    </p:bg>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24826" t="20686" b="9518"/>
          <a:stretch>
            <a:fillRect/>
          </a:stretch>
        </p:blipFill>
        <p:spPr>
          <a:xfrm rot="992355" flipH="1">
            <a:off x="3875496" y="-237272"/>
            <a:ext cx="9134310" cy="3976491"/>
          </a:xfrm>
          <a:prstGeom prst="rect">
            <a:avLst/>
          </a:prstGeom>
        </p:spPr>
      </p:pic>
      <p:sp>
        <p:nvSpPr>
          <p:cNvPr id="2" name="iṩḻíḑe"/>
          <p:cNvSpPr/>
          <p:nvPr/>
        </p:nvSpPr>
        <p:spPr>
          <a:xfrm>
            <a:off x="1234134" y="823236"/>
            <a:ext cx="10080000" cy="5034224"/>
          </a:xfrm>
          <a:prstGeom prst="snip2DiagRect">
            <a:avLst>
              <a:gd name="adj1" fmla="val 0"/>
              <a:gd name="adj2" fmla="val 0"/>
            </a:avLst>
          </a:prstGeom>
          <a:gradFill>
            <a:gsLst>
              <a:gs pos="100000">
                <a:srgbClr val="016773"/>
              </a:gs>
              <a:gs pos="52000">
                <a:srgbClr val="007684"/>
              </a:gs>
              <a:gs pos="0">
                <a:srgbClr val="449FA8"/>
              </a:gs>
            </a:gsLst>
            <a:lin ang="2700000" scaled="0"/>
          </a:gradFill>
          <a:ln>
            <a:gradFill flip="none" rotWithShape="1">
              <a:gsLst>
                <a:gs pos="100000">
                  <a:srgbClr val="FCFCFC"/>
                </a:gs>
                <a:gs pos="75000">
                  <a:srgbClr val="FCFCFC">
                    <a:alpha val="0"/>
                  </a:srgbClr>
                </a:gs>
                <a:gs pos="65000">
                  <a:srgbClr val="FCFCFC">
                    <a:alpha val="0"/>
                  </a:srgbClr>
                </a:gs>
                <a:gs pos="30000">
                  <a:srgbClr val="FCFCFC">
                    <a:alpha val="50000"/>
                  </a:srgbClr>
                </a:gs>
                <a:gs pos="10000">
                  <a:srgbClr val="FAFAFA">
                    <a:alpha val="0"/>
                  </a:srgbClr>
                </a:gs>
              </a:gsLst>
              <a:lin ang="2700000" scaled="0"/>
              <a:tileRect/>
            </a:gradFill>
          </a:ln>
          <a:effectLst>
            <a:outerShdw blurRad="50800" dist="508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700" dirty="0">
              <a:solidFill>
                <a:schemeClr val="lt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1312990" y="1361537"/>
            <a:ext cx="9818367" cy="4108817"/>
          </a:xfrm>
          <a:prstGeom prst="rect">
            <a:avLst/>
          </a:prstGeom>
        </p:spPr>
        <p:txBody>
          <a:bodyPr wrap="square">
            <a:spAutoFit/>
          </a:bodyPr>
          <a:lstStyle/>
          <a:p>
            <a:pPr marL="285750" indent="-285750">
              <a:lnSpc>
                <a:spcPct val="150000"/>
              </a:lnSpc>
              <a:buClr>
                <a:schemeClr val="bg1"/>
              </a:buClr>
              <a:buSzPct val="80000"/>
              <a:buFont typeface="Wingdings" panose="05000000000000000000" pitchFamily="2" charset="2"/>
              <a:buChar char="u"/>
            </a:pP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其作始也简，其将毕也必巨</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，人工智能</a:t>
            </a:r>
            <a:r>
              <a:rPr lang="en-US"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1956</a:t>
            </a:r>
            <a:r>
              <a:rPr lang="zh-CN"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年从达特茅斯启航，今天正在对经济发展、社会进步产生重大而深远的影响，发挥头雁效应。德国数学家大卫</a:t>
            </a:r>
            <a:r>
              <a:rPr lang="en-US"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希尔伯特</a:t>
            </a:r>
            <a:r>
              <a:rPr lang="en-US"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(David Hilbert)</a:t>
            </a:r>
            <a:r>
              <a:rPr lang="zh-CN"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在二十世纪初提出的</a:t>
            </a:r>
            <a:r>
              <a:rPr lang="en-US"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23</a:t>
            </a:r>
            <a:r>
              <a:rPr lang="zh-CN"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个数学问题。大卫</a:t>
            </a:r>
            <a:r>
              <a:rPr lang="en-US"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希尔伯特去世时，仍然有很多问题尚未解决，在他的墓碑上用德文刻下了 </a:t>
            </a:r>
            <a:r>
              <a:rPr lang="en-US"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我们必须知道，我们必将知道</a:t>
            </a:r>
            <a:r>
              <a:rPr lang="en-US"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这一句话。我们相信，</a:t>
            </a:r>
            <a:r>
              <a:rPr lang="en-US"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可认知</a:t>
            </a:r>
            <a:r>
              <a:rPr lang="en-US"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乐观主义态度将鼓舞人工智能研究者和实践者不断推动对人工智能的无尽探索。</a:t>
            </a:r>
            <a:endParaRPr lang="en-US"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nSpc>
                <a:spcPct val="150000"/>
              </a:lnSpc>
              <a:buClr>
                <a:schemeClr val="bg1"/>
              </a:buClr>
              <a:buSzPct val="80000"/>
              <a:buFont typeface="Wingdings" panose="05000000000000000000" pitchFamily="2" charset="2"/>
              <a:buChar char="u"/>
            </a:pPr>
            <a:r>
              <a:rPr lang="zh-CN"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今天，</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人工智能犹如历史上蒸气机、电力、计算机和互联网等通用技术一样</a:t>
            </a:r>
            <a:r>
              <a:rPr lang="zh-CN"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正深刻地以史无前例速度改变人类社会和经济发展，在语言基础模型（大模型）、自然语言中的机器翻译、图像分类与视觉对象定位、语音识别与合成、科学计算、跨媒体智能和机器人控制等领域为释放人类创造力和促进经济增长提供了巨大的机会。</a:t>
            </a:r>
          </a:p>
          <a:p>
            <a:r>
              <a:rPr lang="en-US"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矩形: 圆角 42"/>
          <p:cNvSpPr/>
          <p:nvPr/>
        </p:nvSpPr>
        <p:spPr>
          <a:xfrm>
            <a:off x="5218279" y="785408"/>
            <a:ext cx="1847895" cy="504454"/>
          </a:xfrm>
          <a:prstGeom prst="roundRect">
            <a:avLst>
              <a:gd name="adj" fmla="val 10365"/>
            </a:avLst>
          </a:prstGeom>
          <a:solidFill>
            <a:srgbClr val="9ACBCA"/>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47"/>
          <p:cNvSpPr/>
          <p:nvPr/>
        </p:nvSpPr>
        <p:spPr>
          <a:xfrm>
            <a:off x="5165205" y="732108"/>
            <a:ext cx="1847895" cy="504454"/>
          </a:xfrm>
          <a:prstGeom prst="roundRect">
            <a:avLst>
              <a:gd name="adj" fmla="val 10365"/>
            </a:avLst>
          </a:prstGeom>
          <a:solidFill>
            <a:srgbClr val="FAFCFC"/>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4"/>
          <a:stretch>
            <a:fillRect/>
          </a:stretch>
        </p:blipFill>
        <p:spPr>
          <a:xfrm>
            <a:off x="5139195" y="627721"/>
            <a:ext cx="2165958" cy="208773"/>
          </a:xfrm>
          <a:prstGeom prst="rect">
            <a:avLst/>
          </a:prstGeom>
        </p:spPr>
      </p:pic>
      <p:pic>
        <p:nvPicPr>
          <p:cNvPr id="13" name="图片 12"/>
          <p:cNvPicPr>
            <a:picLocks noChangeAspect="1"/>
          </p:cNvPicPr>
          <p:nvPr/>
        </p:nvPicPr>
        <p:blipFill>
          <a:blip r:embed="rId4"/>
          <a:stretch>
            <a:fillRect/>
          </a:stretch>
        </p:blipFill>
        <p:spPr>
          <a:xfrm flipH="1">
            <a:off x="4554375" y="1126723"/>
            <a:ext cx="2458725" cy="195194"/>
          </a:xfrm>
          <a:prstGeom prst="rect">
            <a:avLst/>
          </a:prstGeom>
        </p:spPr>
      </p:pic>
      <p:sp>
        <p:nvSpPr>
          <p:cNvPr id="18" name="文本框 17"/>
          <p:cNvSpPr txBox="1"/>
          <p:nvPr/>
        </p:nvSpPr>
        <p:spPr>
          <a:xfrm>
            <a:off x="5379329" y="823236"/>
            <a:ext cx="1397310" cy="337970"/>
          </a:xfrm>
          <a:custGeom>
            <a:avLst/>
            <a:gdLst/>
            <a:ahLst/>
            <a:cxnLst/>
            <a:rect l="l" t="t" r="r" b="b"/>
            <a:pathLst>
              <a:path w="1397310" h="337970">
                <a:moveTo>
                  <a:pt x="1317464" y="206499"/>
                </a:moveTo>
                <a:lnTo>
                  <a:pt x="1263774" y="209252"/>
                </a:lnTo>
                <a:lnTo>
                  <a:pt x="1262397" y="275332"/>
                </a:lnTo>
                <a:lnTo>
                  <a:pt x="1294060" y="273955"/>
                </a:lnTo>
                <a:cubicBezTo>
                  <a:pt x="1298649" y="273955"/>
                  <a:pt x="1304156" y="273497"/>
                  <a:pt x="1310580" y="272579"/>
                </a:cubicBezTo>
                <a:cubicBezTo>
                  <a:pt x="1314251" y="272579"/>
                  <a:pt x="1316546" y="272579"/>
                  <a:pt x="1317464" y="272579"/>
                </a:cubicBezTo>
                <a:close/>
                <a:moveTo>
                  <a:pt x="1326412" y="165199"/>
                </a:moveTo>
                <a:cubicBezTo>
                  <a:pt x="1327789" y="164740"/>
                  <a:pt x="1329395" y="165199"/>
                  <a:pt x="1331230" y="166576"/>
                </a:cubicBezTo>
                <a:cubicBezTo>
                  <a:pt x="1356928" y="181260"/>
                  <a:pt x="1373448" y="191356"/>
                  <a:pt x="1380790" y="196862"/>
                </a:cubicBezTo>
                <a:cubicBezTo>
                  <a:pt x="1385379" y="199616"/>
                  <a:pt x="1387673" y="201910"/>
                  <a:pt x="1387673" y="203746"/>
                </a:cubicBezTo>
                <a:cubicBezTo>
                  <a:pt x="1387673" y="205581"/>
                  <a:pt x="1385379" y="207417"/>
                  <a:pt x="1380790" y="209252"/>
                </a:cubicBezTo>
                <a:cubicBezTo>
                  <a:pt x="1376201" y="212006"/>
                  <a:pt x="1374365" y="215677"/>
                  <a:pt x="1375283" y="220266"/>
                </a:cubicBezTo>
                <a:cubicBezTo>
                  <a:pt x="1374365" y="238621"/>
                  <a:pt x="1373907" y="267990"/>
                  <a:pt x="1373907" y="308372"/>
                </a:cubicBezTo>
                <a:cubicBezTo>
                  <a:pt x="1374824" y="313879"/>
                  <a:pt x="1373448" y="316632"/>
                  <a:pt x="1369777" y="316632"/>
                </a:cubicBezTo>
                <a:cubicBezTo>
                  <a:pt x="1366105" y="320303"/>
                  <a:pt x="1353716" y="325351"/>
                  <a:pt x="1332607" y="331775"/>
                </a:cubicBezTo>
                <a:cubicBezTo>
                  <a:pt x="1330771" y="332693"/>
                  <a:pt x="1329395" y="333152"/>
                  <a:pt x="1328477" y="333152"/>
                </a:cubicBezTo>
                <a:cubicBezTo>
                  <a:pt x="1321135" y="335905"/>
                  <a:pt x="1317464" y="334070"/>
                  <a:pt x="1317464" y="327645"/>
                </a:cubicBezTo>
                <a:lnTo>
                  <a:pt x="1317464" y="295982"/>
                </a:lnTo>
                <a:cubicBezTo>
                  <a:pt x="1316546" y="295982"/>
                  <a:pt x="1314251" y="295982"/>
                  <a:pt x="1310580" y="295982"/>
                </a:cubicBezTo>
                <a:cubicBezTo>
                  <a:pt x="1305991" y="296900"/>
                  <a:pt x="1301861" y="297359"/>
                  <a:pt x="1298190" y="297359"/>
                </a:cubicBezTo>
                <a:lnTo>
                  <a:pt x="1262397" y="298735"/>
                </a:lnTo>
                <a:lnTo>
                  <a:pt x="1262397" y="306995"/>
                </a:lnTo>
                <a:cubicBezTo>
                  <a:pt x="1263315" y="315255"/>
                  <a:pt x="1261020" y="320303"/>
                  <a:pt x="1255514" y="322139"/>
                </a:cubicBezTo>
                <a:cubicBezTo>
                  <a:pt x="1243583" y="327645"/>
                  <a:pt x="1228898" y="332693"/>
                  <a:pt x="1211461" y="337282"/>
                </a:cubicBezTo>
                <a:cubicBezTo>
                  <a:pt x="1206872" y="338200"/>
                  <a:pt x="1204577" y="335905"/>
                  <a:pt x="1204577" y="330399"/>
                </a:cubicBezTo>
                <a:cubicBezTo>
                  <a:pt x="1206413" y="303783"/>
                  <a:pt x="1207331" y="277627"/>
                  <a:pt x="1207331" y="251929"/>
                </a:cubicBezTo>
                <a:cubicBezTo>
                  <a:pt x="1195400" y="259271"/>
                  <a:pt x="1191270" y="261566"/>
                  <a:pt x="1194941" y="258812"/>
                </a:cubicBezTo>
                <a:cubicBezTo>
                  <a:pt x="1144463" y="287263"/>
                  <a:pt x="1111423" y="306078"/>
                  <a:pt x="1095821" y="315255"/>
                </a:cubicBezTo>
                <a:cubicBezTo>
                  <a:pt x="1090315" y="318009"/>
                  <a:pt x="1086185" y="317091"/>
                  <a:pt x="1083431" y="312502"/>
                </a:cubicBezTo>
                <a:cubicBezTo>
                  <a:pt x="1073336" y="295064"/>
                  <a:pt x="1065535" y="279462"/>
                  <a:pt x="1060028" y="265696"/>
                </a:cubicBezTo>
                <a:lnTo>
                  <a:pt x="1207331" y="234032"/>
                </a:lnTo>
                <a:cubicBezTo>
                  <a:pt x="1207331" y="232197"/>
                  <a:pt x="1207790" y="229902"/>
                  <a:pt x="1208707" y="227149"/>
                </a:cubicBezTo>
                <a:cubicBezTo>
                  <a:pt x="1208707" y="224396"/>
                  <a:pt x="1208707" y="222560"/>
                  <a:pt x="1208707" y="221642"/>
                </a:cubicBezTo>
                <a:cubicBezTo>
                  <a:pt x="1208707" y="203287"/>
                  <a:pt x="1208249" y="189061"/>
                  <a:pt x="1207331" y="178966"/>
                </a:cubicBezTo>
                <a:cubicBezTo>
                  <a:pt x="1206413" y="174377"/>
                  <a:pt x="1206872" y="171624"/>
                  <a:pt x="1208707" y="170706"/>
                </a:cubicBezTo>
                <a:cubicBezTo>
                  <a:pt x="1209625" y="169788"/>
                  <a:pt x="1211920" y="170247"/>
                  <a:pt x="1215591" y="172083"/>
                </a:cubicBezTo>
                <a:cubicBezTo>
                  <a:pt x="1218344" y="173000"/>
                  <a:pt x="1222474" y="174377"/>
                  <a:pt x="1227981" y="176213"/>
                </a:cubicBezTo>
                <a:cubicBezTo>
                  <a:pt x="1240829" y="180801"/>
                  <a:pt x="1250466" y="184014"/>
                  <a:pt x="1256891" y="185849"/>
                </a:cubicBezTo>
                <a:lnTo>
                  <a:pt x="1309204" y="184473"/>
                </a:lnTo>
                <a:cubicBezTo>
                  <a:pt x="1309204" y="184473"/>
                  <a:pt x="1309662" y="184473"/>
                  <a:pt x="1310580" y="184473"/>
                </a:cubicBezTo>
                <a:cubicBezTo>
                  <a:pt x="1316087" y="183555"/>
                  <a:pt x="1319299" y="181260"/>
                  <a:pt x="1320217" y="177589"/>
                </a:cubicBezTo>
                <a:cubicBezTo>
                  <a:pt x="1322052" y="174836"/>
                  <a:pt x="1322970" y="172541"/>
                  <a:pt x="1322970" y="170706"/>
                </a:cubicBezTo>
                <a:cubicBezTo>
                  <a:pt x="1322970" y="170706"/>
                  <a:pt x="1322970" y="170247"/>
                  <a:pt x="1322970" y="169329"/>
                </a:cubicBezTo>
                <a:cubicBezTo>
                  <a:pt x="1323888" y="167035"/>
                  <a:pt x="1325035" y="165658"/>
                  <a:pt x="1326412" y="165199"/>
                </a:cubicBezTo>
                <a:close/>
                <a:moveTo>
                  <a:pt x="585080" y="150056"/>
                </a:moveTo>
                <a:lnTo>
                  <a:pt x="468064" y="155563"/>
                </a:lnTo>
                <a:lnTo>
                  <a:pt x="468064" y="172083"/>
                </a:lnTo>
                <a:cubicBezTo>
                  <a:pt x="472653" y="172083"/>
                  <a:pt x="479078" y="171624"/>
                  <a:pt x="487338" y="170706"/>
                </a:cubicBezTo>
                <a:cubicBezTo>
                  <a:pt x="491926" y="170706"/>
                  <a:pt x="495139" y="170706"/>
                  <a:pt x="496974" y="170706"/>
                </a:cubicBezTo>
                <a:lnTo>
                  <a:pt x="536897" y="167953"/>
                </a:lnTo>
                <a:cubicBezTo>
                  <a:pt x="546993" y="167953"/>
                  <a:pt x="555712" y="167035"/>
                  <a:pt x="563054" y="165199"/>
                </a:cubicBezTo>
                <a:cubicBezTo>
                  <a:pt x="568561" y="170706"/>
                  <a:pt x="573149" y="176213"/>
                  <a:pt x="576820" y="181719"/>
                </a:cubicBezTo>
                <a:cubicBezTo>
                  <a:pt x="578656" y="183555"/>
                  <a:pt x="579115" y="184473"/>
                  <a:pt x="578197" y="184473"/>
                </a:cubicBezTo>
                <a:cubicBezTo>
                  <a:pt x="578197" y="185390"/>
                  <a:pt x="576820" y="185849"/>
                  <a:pt x="574067" y="185849"/>
                </a:cubicBezTo>
                <a:cubicBezTo>
                  <a:pt x="572232" y="185849"/>
                  <a:pt x="568561" y="185849"/>
                  <a:pt x="563054" y="185849"/>
                </a:cubicBezTo>
                <a:cubicBezTo>
                  <a:pt x="553876" y="186767"/>
                  <a:pt x="547452" y="187226"/>
                  <a:pt x="543781" y="187226"/>
                </a:cubicBezTo>
                <a:lnTo>
                  <a:pt x="505234" y="189979"/>
                </a:lnTo>
                <a:cubicBezTo>
                  <a:pt x="504316" y="189979"/>
                  <a:pt x="499728" y="190438"/>
                  <a:pt x="491468" y="191356"/>
                </a:cubicBezTo>
                <a:cubicBezTo>
                  <a:pt x="481372" y="192274"/>
                  <a:pt x="475407" y="192733"/>
                  <a:pt x="473571" y="192733"/>
                </a:cubicBezTo>
                <a:lnTo>
                  <a:pt x="468064" y="184473"/>
                </a:lnTo>
                <a:lnTo>
                  <a:pt x="468064" y="207876"/>
                </a:lnTo>
                <a:lnTo>
                  <a:pt x="541027" y="205122"/>
                </a:lnTo>
                <a:cubicBezTo>
                  <a:pt x="546534" y="205122"/>
                  <a:pt x="557547" y="204205"/>
                  <a:pt x="574067" y="202369"/>
                </a:cubicBezTo>
                <a:cubicBezTo>
                  <a:pt x="577738" y="201451"/>
                  <a:pt x="580033" y="200992"/>
                  <a:pt x="580950" y="200992"/>
                </a:cubicBezTo>
                <a:lnTo>
                  <a:pt x="583704" y="205122"/>
                </a:lnTo>
                <a:close/>
                <a:moveTo>
                  <a:pt x="589210" y="114263"/>
                </a:moveTo>
                <a:lnTo>
                  <a:pt x="429518" y="121146"/>
                </a:lnTo>
                <a:cubicBezTo>
                  <a:pt x="425847" y="121146"/>
                  <a:pt x="421258" y="121146"/>
                  <a:pt x="415751" y="121146"/>
                </a:cubicBezTo>
                <a:cubicBezTo>
                  <a:pt x="432271" y="124817"/>
                  <a:pt x="448791" y="129406"/>
                  <a:pt x="465311" y="134913"/>
                </a:cubicBezTo>
                <a:lnTo>
                  <a:pt x="576820" y="129406"/>
                </a:lnTo>
                <a:cubicBezTo>
                  <a:pt x="580492" y="129406"/>
                  <a:pt x="583704" y="127571"/>
                  <a:pt x="586457" y="123899"/>
                </a:cubicBezTo>
                <a:cubicBezTo>
                  <a:pt x="587375" y="122982"/>
                  <a:pt x="587834" y="122064"/>
                  <a:pt x="587834" y="121146"/>
                </a:cubicBezTo>
                <a:cubicBezTo>
                  <a:pt x="588752" y="119311"/>
                  <a:pt x="589210" y="117934"/>
                  <a:pt x="589210" y="117016"/>
                </a:cubicBezTo>
                <a:cubicBezTo>
                  <a:pt x="589210" y="115181"/>
                  <a:pt x="589210" y="114263"/>
                  <a:pt x="589210" y="114263"/>
                </a:cubicBezTo>
                <a:close/>
                <a:moveTo>
                  <a:pt x="952649" y="92236"/>
                </a:moveTo>
                <a:cubicBezTo>
                  <a:pt x="995784" y="131701"/>
                  <a:pt x="1024694" y="163823"/>
                  <a:pt x="1039378" y="188603"/>
                </a:cubicBezTo>
                <a:cubicBezTo>
                  <a:pt x="1046720" y="199616"/>
                  <a:pt x="1044885" y="211547"/>
                  <a:pt x="1033872" y="224396"/>
                </a:cubicBezTo>
                <a:cubicBezTo>
                  <a:pt x="1021023" y="240916"/>
                  <a:pt x="1005880" y="255141"/>
                  <a:pt x="988442" y="267072"/>
                </a:cubicBezTo>
                <a:cubicBezTo>
                  <a:pt x="979264" y="223019"/>
                  <a:pt x="963662" y="167035"/>
                  <a:pt x="941635" y="99120"/>
                </a:cubicBezTo>
                <a:close/>
                <a:moveTo>
                  <a:pt x="777297" y="87762"/>
                </a:moveTo>
                <a:cubicBezTo>
                  <a:pt x="779017" y="87992"/>
                  <a:pt x="781025" y="88565"/>
                  <a:pt x="783320" y="89483"/>
                </a:cubicBezTo>
                <a:cubicBezTo>
                  <a:pt x="798922" y="94990"/>
                  <a:pt x="814983" y="101414"/>
                  <a:pt x="831503" y="108756"/>
                </a:cubicBezTo>
                <a:cubicBezTo>
                  <a:pt x="834256" y="109674"/>
                  <a:pt x="836091" y="110592"/>
                  <a:pt x="837009" y="111510"/>
                </a:cubicBezTo>
                <a:cubicBezTo>
                  <a:pt x="837009" y="112427"/>
                  <a:pt x="836091" y="114263"/>
                  <a:pt x="834256" y="117016"/>
                </a:cubicBezTo>
                <a:cubicBezTo>
                  <a:pt x="832420" y="118852"/>
                  <a:pt x="825996" y="131242"/>
                  <a:pt x="814983" y="154186"/>
                </a:cubicBezTo>
                <a:cubicBezTo>
                  <a:pt x="788367" y="209252"/>
                  <a:pt x="759457" y="246881"/>
                  <a:pt x="728253" y="267072"/>
                </a:cubicBezTo>
                <a:lnTo>
                  <a:pt x="722746" y="260189"/>
                </a:lnTo>
                <a:cubicBezTo>
                  <a:pt x="735595" y="227149"/>
                  <a:pt x="748444" y="186308"/>
                  <a:pt x="761293" y="137666"/>
                </a:cubicBezTo>
                <a:cubicBezTo>
                  <a:pt x="765882" y="117475"/>
                  <a:pt x="768635" y="103250"/>
                  <a:pt x="769553" y="94990"/>
                </a:cubicBezTo>
                <a:cubicBezTo>
                  <a:pt x="769553" y="89483"/>
                  <a:pt x="772134" y="87074"/>
                  <a:pt x="777297" y="87762"/>
                </a:cubicBezTo>
                <a:close/>
                <a:moveTo>
                  <a:pt x="563054" y="61950"/>
                </a:moveTo>
                <a:lnTo>
                  <a:pt x="483208" y="66080"/>
                </a:lnTo>
                <a:cubicBezTo>
                  <a:pt x="491468" y="67915"/>
                  <a:pt x="497892" y="70210"/>
                  <a:pt x="502481" y="72963"/>
                </a:cubicBezTo>
                <a:cubicBezTo>
                  <a:pt x="510741" y="77552"/>
                  <a:pt x="512117" y="82600"/>
                  <a:pt x="506611" y="88106"/>
                </a:cubicBezTo>
                <a:lnTo>
                  <a:pt x="499728" y="94990"/>
                </a:lnTo>
                <a:lnTo>
                  <a:pt x="545157" y="93613"/>
                </a:lnTo>
                <a:cubicBezTo>
                  <a:pt x="548828" y="87189"/>
                  <a:pt x="553417" y="79387"/>
                  <a:pt x="558924" y="70210"/>
                </a:cubicBezTo>
                <a:cubicBezTo>
                  <a:pt x="560759" y="67456"/>
                  <a:pt x="562136" y="64703"/>
                  <a:pt x="563054" y="61950"/>
                </a:cubicBezTo>
                <a:close/>
                <a:moveTo>
                  <a:pt x="1267904" y="8260"/>
                </a:moveTo>
                <a:cubicBezTo>
                  <a:pt x="1290848" y="11931"/>
                  <a:pt x="1306909" y="15602"/>
                  <a:pt x="1316087" y="19273"/>
                </a:cubicBezTo>
                <a:cubicBezTo>
                  <a:pt x="1318840" y="20191"/>
                  <a:pt x="1319758" y="22027"/>
                  <a:pt x="1318840" y="24780"/>
                </a:cubicBezTo>
                <a:cubicBezTo>
                  <a:pt x="1318840" y="35793"/>
                  <a:pt x="1318840" y="47265"/>
                  <a:pt x="1318840" y="59196"/>
                </a:cubicBezTo>
                <a:lnTo>
                  <a:pt x="1318840" y="60573"/>
                </a:lnTo>
                <a:lnTo>
                  <a:pt x="1335360" y="60573"/>
                </a:lnTo>
                <a:cubicBezTo>
                  <a:pt x="1337196" y="60573"/>
                  <a:pt x="1340867" y="60114"/>
                  <a:pt x="1346373" y="59196"/>
                </a:cubicBezTo>
                <a:cubicBezTo>
                  <a:pt x="1361976" y="58279"/>
                  <a:pt x="1372071" y="56902"/>
                  <a:pt x="1376660" y="55066"/>
                </a:cubicBezTo>
                <a:cubicBezTo>
                  <a:pt x="1385838" y="66080"/>
                  <a:pt x="1391803" y="72963"/>
                  <a:pt x="1394557" y="75716"/>
                </a:cubicBezTo>
                <a:cubicBezTo>
                  <a:pt x="1396392" y="77552"/>
                  <a:pt x="1396851" y="78929"/>
                  <a:pt x="1395933" y="79846"/>
                </a:cubicBezTo>
                <a:cubicBezTo>
                  <a:pt x="1395015" y="80764"/>
                  <a:pt x="1393180" y="81223"/>
                  <a:pt x="1390427" y="81223"/>
                </a:cubicBezTo>
                <a:cubicBezTo>
                  <a:pt x="1387673" y="81223"/>
                  <a:pt x="1379872" y="81223"/>
                  <a:pt x="1367023" y="81223"/>
                </a:cubicBezTo>
                <a:cubicBezTo>
                  <a:pt x="1354175" y="82141"/>
                  <a:pt x="1345915" y="82600"/>
                  <a:pt x="1342243" y="82600"/>
                </a:cubicBezTo>
                <a:lnTo>
                  <a:pt x="1317464" y="83976"/>
                </a:lnTo>
                <a:lnTo>
                  <a:pt x="1317464" y="128029"/>
                </a:lnTo>
                <a:lnTo>
                  <a:pt x="1329853" y="128029"/>
                </a:lnTo>
                <a:cubicBezTo>
                  <a:pt x="1346373" y="128029"/>
                  <a:pt x="1361976" y="126653"/>
                  <a:pt x="1376660" y="123899"/>
                </a:cubicBezTo>
                <a:cubicBezTo>
                  <a:pt x="1378495" y="125735"/>
                  <a:pt x="1381708" y="129406"/>
                  <a:pt x="1386297" y="134913"/>
                </a:cubicBezTo>
                <a:cubicBezTo>
                  <a:pt x="1390885" y="140419"/>
                  <a:pt x="1393639" y="143632"/>
                  <a:pt x="1394557" y="144549"/>
                </a:cubicBezTo>
                <a:cubicBezTo>
                  <a:pt x="1396392" y="147303"/>
                  <a:pt x="1397310" y="149138"/>
                  <a:pt x="1397310" y="150056"/>
                </a:cubicBezTo>
                <a:cubicBezTo>
                  <a:pt x="1396392" y="150974"/>
                  <a:pt x="1394557" y="151433"/>
                  <a:pt x="1391803" y="151433"/>
                </a:cubicBezTo>
                <a:cubicBezTo>
                  <a:pt x="1374365" y="151433"/>
                  <a:pt x="1356469" y="151433"/>
                  <a:pt x="1338113" y="151433"/>
                </a:cubicBezTo>
                <a:lnTo>
                  <a:pt x="1254137" y="155563"/>
                </a:lnTo>
                <a:cubicBezTo>
                  <a:pt x="1251384" y="155563"/>
                  <a:pt x="1244959" y="156022"/>
                  <a:pt x="1234864" y="156939"/>
                </a:cubicBezTo>
                <a:cubicBezTo>
                  <a:pt x="1222933" y="157857"/>
                  <a:pt x="1215132" y="158316"/>
                  <a:pt x="1211461" y="158316"/>
                </a:cubicBezTo>
                <a:lnTo>
                  <a:pt x="1194941" y="133536"/>
                </a:lnTo>
                <a:cubicBezTo>
                  <a:pt x="1216967" y="133536"/>
                  <a:pt x="1233946" y="133536"/>
                  <a:pt x="1245877" y="133536"/>
                </a:cubicBezTo>
                <a:lnTo>
                  <a:pt x="1259644" y="132159"/>
                </a:lnTo>
                <a:lnTo>
                  <a:pt x="1259644" y="86730"/>
                </a:lnTo>
                <a:cubicBezTo>
                  <a:pt x="1256891" y="86730"/>
                  <a:pt x="1251384" y="87189"/>
                  <a:pt x="1243124" y="88106"/>
                </a:cubicBezTo>
                <a:cubicBezTo>
                  <a:pt x="1229357" y="89024"/>
                  <a:pt x="1217885" y="89942"/>
                  <a:pt x="1208707" y="90860"/>
                </a:cubicBezTo>
                <a:lnTo>
                  <a:pt x="1190811" y="64703"/>
                </a:lnTo>
                <a:cubicBezTo>
                  <a:pt x="1222015" y="64703"/>
                  <a:pt x="1242206" y="64244"/>
                  <a:pt x="1251384" y="63326"/>
                </a:cubicBezTo>
                <a:lnTo>
                  <a:pt x="1259644" y="63326"/>
                </a:lnTo>
                <a:lnTo>
                  <a:pt x="1259644" y="60573"/>
                </a:lnTo>
                <a:cubicBezTo>
                  <a:pt x="1259644" y="43135"/>
                  <a:pt x="1259644" y="27992"/>
                  <a:pt x="1259644" y="15143"/>
                </a:cubicBezTo>
                <a:cubicBezTo>
                  <a:pt x="1259644" y="8719"/>
                  <a:pt x="1262397" y="6425"/>
                  <a:pt x="1267904" y="8260"/>
                </a:cubicBezTo>
                <a:close/>
                <a:moveTo>
                  <a:pt x="861101" y="6883"/>
                </a:moveTo>
                <a:cubicBezTo>
                  <a:pt x="862936" y="6883"/>
                  <a:pt x="865460" y="7342"/>
                  <a:pt x="868672" y="8260"/>
                </a:cubicBezTo>
                <a:cubicBezTo>
                  <a:pt x="892534" y="14684"/>
                  <a:pt x="907678" y="19732"/>
                  <a:pt x="914102" y="23403"/>
                </a:cubicBezTo>
                <a:cubicBezTo>
                  <a:pt x="917773" y="24321"/>
                  <a:pt x="919609" y="27074"/>
                  <a:pt x="919609" y="31663"/>
                </a:cubicBezTo>
                <a:cubicBezTo>
                  <a:pt x="918691" y="41759"/>
                  <a:pt x="918232" y="55984"/>
                  <a:pt x="918232" y="74340"/>
                </a:cubicBezTo>
                <a:cubicBezTo>
                  <a:pt x="918232" y="157857"/>
                  <a:pt x="917314" y="221642"/>
                  <a:pt x="915479" y="265696"/>
                </a:cubicBezTo>
                <a:cubicBezTo>
                  <a:pt x="915479" y="294147"/>
                  <a:pt x="909054" y="309749"/>
                  <a:pt x="896206" y="312502"/>
                </a:cubicBezTo>
                <a:cubicBezTo>
                  <a:pt x="884275" y="318926"/>
                  <a:pt x="874638" y="324892"/>
                  <a:pt x="867296" y="330399"/>
                </a:cubicBezTo>
                <a:cubicBezTo>
                  <a:pt x="859036" y="335905"/>
                  <a:pt x="853529" y="338200"/>
                  <a:pt x="850776" y="337282"/>
                </a:cubicBezTo>
                <a:cubicBezTo>
                  <a:pt x="847105" y="335446"/>
                  <a:pt x="845728" y="330399"/>
                  <a:pt x="846646" y="322139"/>
                </a:cubicBezTo>
                <a:cubicBezTo>
                  <a:pt x="847564" y="307454"/>
                  <a:pt x="843434" y="298735"/>
                  <a:pt x="834256" y="295982"/>
                </a:cubicBezTo>
                <a:cubicBezTo>
                  <a:pt x="827831" y="292311"/>
                  <a:pt x="813606" y="285887"/>
                  <a:pt x="791579" y="276709"/>
                </a:cubicBezTo>
                <a:cubicBezTo>
                  <a:pt x="786991" y="274873"/>
                  <a:pt x="783320" y="273497"/>
                  <a:pt x="780566" y="272579"/>
                </a:cubicBezTo>
                <a:lnTo>
                  <a:pt x="783320" y="260189"/>
                </a:lnTo>
                <a:lnTo>
                  <a:pt x="850776" y="267072"/>
                </a:lnTo>
                <a:cubicBezTo>
                  <a:pt x="855365" y="262483"/>
                  <a:pt x="858118" y="196404"/>
                  <a:pt x="859036" y="68833"/>
                </a:cubicBezTo>
                <a:cubicBezTo>
                  <a:pt x="859036" y="66080"/>
                  <a:pt x="859036" y="59655"/>
                  <a:pt x="859036" y="49560"/>
                </a:cubicBezTo>
                <a:cubicBezTo>
                  <a:pt x="858118" y="34875"/>
                  <a:pt x="857659" y="24321"/>
                  <a:pt x="857659" y="17897"/>
                </a:cubicBezTo>
                <a:cubicBezTo>
                  <a:pt x="856741" y="11472"/>
                  <a:pt x="856741" y="8260"/>
                  <a:pt x="857659" y="8260"/>
                </a:cubicBezTo>
                <a:cubicBezTo>
                  <a:pt x="858118" y="7342"/>
                  <a:pt x="859265" y="6883"/>
                  <a:pt x="861101" y="6883"/>
                </a:cubicBezTo>
                <a:close/>
                <a:moveTo>
                  <a:pt x="1136433" y="4818"/>
                </a:moveTo>
                <a:cubicBezTo>
                  <a:pt x="1137809" y="4360"/>
                  <a:pt x="1139416" y="4589"/>
                  <a:pt x="1141251" y="5507"/>
                </a:cubicBezTo>
                <a:cubicBezTo>
                  <a:pt x="1144004" y="7342"/>
                  <a:pt x="1150429" y="10554"/>
                  <a:pt x="1160524" y="15143"/>
                </a:cubicBezTo>
                <a:cubicBezTo>
                  <a:pt x="1177044" y="23403"/>
                  <a:pt x="1186222" y="28451"/>
                  <a:pt x="1188057" y="30287"/>
                </a:cubicBezTo>
                <a:cubicBezTo>
                  <a:pt x="1190811" y="32122"/>
                  <a:pt x="1190352" y="34875"/>
                  <a:pt x="1186681" y="38547"/>
                </a:cubicBezTo>
                <a:cubicBezTo>
                  <a:pt x="1183928" y="40382"/>
                  <a:pt x="1177962" y="46807"/>
                  <a:pt x="1168784" y="57820"/>
                </a:cubicBezTo>
                <a:cubicBezTo>
                  <a:pt x="1145840" y="82600"/>
                  <a:pt x="1126108" y="100496"/>
                  <a:pt x="1109588" y="111510"/>
                </a:cubicBezTo>
                <a:lnTo>
                  <a:pt x="1150888" y="108756"/>
                </a:lnTo>
                <a:cubicBezTo>
                  <a:pt x="1150888" y="106921"/>
                  <a:pt x="1151805" y="105085"/>
                  <a:pt x="1153641" y="103250"/>
                </a:cubicBezTo>
                <a:cubicBezTo>
                  <a:pt x="1158230" y="94990"/>
                  <a:pt x="1161901" y="86271"/>
                  <a:pt x="1164654" y="77093"/>
                </a:cubicBezTo>
                <a:cubicBezTo>
                  <a:pt x="1166490" y="73422"/>
                  <a:pt x="1169243" y="72504"/>
                  <a:pt x="1172914" y="74340"/>
                </a:cubicBezTo>
                <a:cubicBezTo>
                  <a:pt x="1184845" y="80764"/>
                  <a:pt x="1199071" y="89024"/>
                  <a:pt x="1215591" y="99120"/>
                </a:cubicBezTo>
                <a:cubicBezTo>
                  <a:pt x="1220180" y="101873"/>
                  <a:pt x="1220180" y="104626"/>
                  <a:pt x="1215591" y="107380"/>
                </a:cubicBezTo>
                <a:cubicBezTo>
                  <a:pt x="1211002" y="111968"/>
                  <a:pt x="1204577" y="118393"/>
                  <a:pt x="1196317" y="126653"/>
                </a:cubicBezTo>
                <a:cubicBezTo>
                  <a:pt x="1167866" y="156939"/>
                  <a:pt x="1145381" y="177589"/>
                  <a:pt x="1128861" y="188603"/>
                </a:cubicBezTo>
                <a:lnTo>
                  <a:pt x="1190811" y="181719"/>
                </a:lnTo>
                <a:lnTo>
                  <a:pt x="1196317" y="195486"/>
                </a:lnTo>
                <a:lnTo>
                  <a:pt x="1121978" y="225772"/>
                </a:lnTo>
                <a:cubicBezTo>
                  <a:pt x="1110965" y="229443"/>
                  <a:pt x="1101328" y="234950"/>
                  <a:pt x="1093068" y="242292"/>
                </a:cubicBezTo>
                <a:lnTo>
                  <a:pt x="1072418" y="194109"/>
                </a:lnTo>
                <a:cubicBezTo>
                  <a:pt x="1088938" y="192274"/>
                  <a:pt x="1100410" y="186767"/>
                  <a:pt x="1106835" y="177589"/>
                </a:cubicBezTo>
                <a:cubicBezTo>
                  <a:pt x="1117848" y="163823"/>
                  <a:pt x="1127026" y="150515"/>
                  <a:pt x="1134368" y="137666"/>
                </a:cubicBezTo>
                <a:lnTo>
                  <a:pt x="1109588" y="145926"/>
                </a:lnTo>
                <a:cubicBezTo>
                  <a:pt x="1096739" y="150515"/>
                  <a:pt x="1087561" y="155104"/>
                  <a:pt x="1082055" y="159693"/>
                </a:cubicBezTo>
                <a:lnTo>
                  <a:pt x="1061405" y="115640"/>
                </a:lnTo>
                <a:cubicBezTo>
                  <a:pt x="1074254" y="112886"/>
                  <a:pt x="1082055" y="108756"/>
                  <a:pt x="1084808" y="103250"/>
                </a:cubicBezTo>
                <a:cubicBezTo>
                  <a:pt x="1094903" y="86730"/>
                  <a:pt x="1107752" y="63785"/>
                  <a:pt x="1123354" y="34417"/>
                </a:cubicBezTo>
                <a:cubicBezTo>
                  <a:pt x="1124272" y="31663"/>
                  <a:pt x="1125649" y="27992"/>
                  <a:pt x="1127484" y="23403"/>
                </a:cubicBezTo>
                <a:cubicBezTo>
                  <a:pt x="1129320" y="19732"/>
                  <a:pt x="1131156" y="14684"/>
                  <a:pt x="1132991" y="8260"/>
                </a:cubicBezTo>
                <a:cubicBezTo>
                  <a:pt x="1133909" y="6424"/>
                  <a:pt x="1135056" y="5277"/>
                  <a:pt x="1136433" y="4818"/>
                </a:cubicBezTo>
                <a:close/>
                <a:moveTo>
                  <a:pt x="143173" y="1377"/>
                </a:moveTo>
                <a:cubicBezTo>
                  <a:pt x="144090" y="459"/>
                  <a:pt x="146385" y="459"/>
                  <a:pt x="150056" y="1377"/>
                </a:cubicBezTo>
                <a:cubicBezTo>
                  <a:pt x="170247" y="6883"/>
                  <a:pt x="187685" y="12849"/>
                  <a:pt x="202369" y="19273"/>
                </a:cubicBezTo>
                <a:cubicBezTo>
                  <a:pt x="205122" y="20191"/>
                  <a:pt x="206040" y="22486"/>
                  <a:pt x="205122" y="26157"/>
                </a:cubicBezTo>
                <a:cubicBezTo>
                  <a:pt x="203287" y="39923"/>
                  <a:pt x="202369" y="56443"/>
                  <a:pt x="202369" y="75716"/>
                </a:cubicBezTo>
                <a:lnTo>
                  <a:pt x="246422" y="74340"/>
                </a:lnTo>
                <a:cubicBezTo>
                  <a:pt x="272120" y="71586"/>
                  <a:pt x="292770" y="69292"/>
                  <a:pt x="308372" y="67456"/>
                </a:cubicBezTo>
                <a:cubicBezTo>
                  <a:pt x="318467" y="75716"/>
                  <a:pt x="325351" y="82600"/>
                  <a:pt x="329022" y="88106"/>
                </a:cubicBezTo>
                <a:cubicBezTo>
                  <a:pt x="331775" y="90860"/>
                  <a:pt x="332693" y="92695"/>
                  <a:pt x="331775" y="93613"/>
                </a:cubicBezTo>
                <a:cubicBezTo>
                  <a:pt x="331775" y="95449"/>
                  <a:pt x="329939" y="96366"/>
                  <a:pt x="326268" y="96366"/>
                </a:cubicBezTo>
                <a:cubicBezTo>
                  <a:pt x="306077" y="96366"/>
                  <a:pt x="284051" y="96366"/>
                  <a:pt x="260189" y="96366"/>
                </a:cubicBezTo>
                <a:lnTo>
                  <a:pt x="213382" y="99120"/>
                </a:lnTo>
                <a:cubicBezTo>
                  <a:pt x="256518" y="158775"/>
                  <a:pt x="301947" y="201910"/>
                  <a:pt x="349672" y="228526"/>
                </a:cubicBezTo>
                <a:lnTo>
                  <a:pt x="348295" y="236786"/>
                </a:lnTo>
                <a:cubicBezTo>
                  <a:pt x="334528" y="246881"/>
                  <a:pt x="319385" y="261566"/>
                  <a:pt x="302865" y="280839"/>
                </a:cubicBezTo>
                <a:cubicBezTo>
                  <a:pt x="299194" y="285428"/>
                  <a:pt x="295523" y="285428"/>
                  <a:pt x="291852" y="280839"/>
                </a:cubicBezTo>
                <a:cubicBezTo>
                  <a:pt x="255141" y="246881"/>
                  <a:pt x="224854" y="188144"/>
                  <a:pt x="200992" y="104626"/>
                </a:cubicBezTo>
                <a:cubicBezTo>
                  <a:pt x="200992" y="149597"/>
                  <a:pt x="200992" y="195027"/>
                  <a:pt x="200992" y="240916"/>
                </a:cubicBezTo>
                <a:cubicBezTo>
                  <a:pt x="204663" y="240916"/>
                  <a:pt x="210170" y="240457"/>
                  <a:pt x="217512" y="239539"/>
                </a:cubicBezTo>
                <a:cubicBezTo>
                  <a:pt x="227608" y="238621"/>
                  <a:pt x="234491" y="237703"/>
                  <a:pt x="238162" y="236786"/>
                </a:cubicBezTo>
                <a:cubicBezTo>
                  <a:pt x="247340" y="245963"/>
                  <a:pt x="253305" y="252388"/>
                  <a:pt x="256059" y="256059"/>
                </a:cubicBezTo>
                <a:cubicBezTo>
                  <a:pt x="257894" y="257894"/>
                  <a:pt x="258812" y="259730"/>
                  <a:pt x="258812" y="261566"/>
                </a:cubicBezTo>
                <a:cubicBezTo>
                  <a:pt x="257894" y="262483"/>
                  <a:pt x="256059" y="262942"/>
                  <a:pt x="253305" y="262942"/>
                </a:cubicBezTo>
                <a:cubicBezTo>
                  <a:pt x="229443" y="262942"/>
                  <a:pt x="212464" y="263401"/>
                  <a:pt x="202369" y="264319"/>
                </a:cubicBezTo>
                <a:lnTo>
                  <a:pt x="200992" y="264319"/>
                </a:lnTo>
                <a:cubicBezTo>
                  <a:pt x="200992" y="279921"/>
                  <a:pt x="200992" y="295064"/>
                  <a:pt x="200992" y="309749"/>
                </a:cubicBezTo>
                <a:cubicBezTo>
                  <a:pt x="201910" y="317091"/>
                  <a:pt x="199616" y="321680"/>
                  <a:pt x="194109" y="323515"/>
                </a:cubicBezTo>
                <a:cubicBezTo>
                  <a:pt x="178507" y="329022"/>
                  <a:pt x="161987" y="333611"/>
                  <a:pt x="144549" y="337282"/>
                </a:cubicBezTo>
                <a:cubicBezTo>
                  <a:pt x="141796" y="338200"/>
                  <a:pt x="139960" y="338200"/>
                  <a:pt x="139043" y="337282"/>
                </a:cubicBezTo>
                <a:cubicBezTo>
                  <a:pt x="138125" y="337282"/>
                  <a:pt x="137666" y="335446"/>
                  <a:pt x="137666" y="331775"/>
                </a:cubicBezTo>
                <a:cubicBezTo>
                  <a:pt x="138584" y="324433"/>
                  <a:pt x="139043" y="313879"/>
                  <a:pt x="139043" y="300112"/>
                </a:cubicBezTo>
                <a:cubicBezTo>
                  <a:pt x="139960" y="285428"/>
                  <a:pt x="140419" y="274414"/>
                  <a:pt x="140419" y="267072"/>
                </a:cubicBezTo>
                <a:lnTo>
                  <a:pt x="128029" y="267072"/>
                </a:lnTo>
                <a:cubicBezTo>
                  <a:pt x="111509" y="268908"/>
                  <a:pt x="99578" y="269826"/>
                  <a:pt x="92236" y="269826"/>
                </a:cubicBezTo>
                <a:lnTo>
                  <a:pt x="74340" y="245046"/>
                </a:lnTo>
                <a:cubicBezTo>
                  <a:pt x="92695" y="245046"/>
                  <a:pt x="108297" y="244587"/>
                  <a:pt x="121146" y="243669"/>
                </a:cubicBezTo>
                <a:lnTo>
                  <a:pt x="140419" y="243669"/>
                </a:lnTo>
                <a:cubicBezTo>
                  <a:pt x="141337" y="217971"/>
                  <a:pt x="141796" y="192733"/>
                  <a:pt x="141796" y="167953"/>
                </a:cubicBezTo>
                <a:cubicBezTo>
                  <a:pt x="106003" y="221183"/>
                  <a:pt x="60114" y="262483"/>
                  <a:pt x="4130" y="291852"/>
                </a:cubicBezTo>
                <a:lnTo>
                  <a:pt x="0" y="284969"/>
                </a:lnTo>
                <a:cubicBezTo>
                  <a:pt x="47724" y="229902"/>
                  <a:pt x="85812" y="169329"/>
                  <a:pt x="114263" y="103250"/>
                </a:cubicBezTo>
                <a:lnTo>
                  <a:pt x="83976" y="104626"/>
                </a:lnTo>
                <a:cubicBezTo>
                  <a:pt x="66538" y="105544"/>
                  <a:pt x="51395" y="106462"/>
                  <a:pt x="38546" y="107380"/>
                </a:cubicBezTo>
                <a:lnTo>
                  <a:pt x="17897" y="81223"/>
                </a:lnTo>
                <a:cubicBezTo>
                  <a:pt x="26156" y="82141"/>
                  <a:pt x="42218" y="82141"/>
                  <a:pt x="66080" y="81223"/>
                </a:cubicBezTo>
                <a:cubicBezTo>
                  <a:pt x="71586" y="81223"/>
                  <a:pt x="75257" y="81223"/>
                  <a:pt x="77093" y="81223"/>
                </a:cubicBezTo>
                <a:lnTo>
                  <a:pt x="143173" y="78470"/>
                </a:lnTo>
                <a:cubicBezTo>
                  <a:pt x="143173" y="55525"/>
                  <a:pt x="142714" y="32581"/>
                  <a:pt x="141796" y="9637"/>
                </a:cubicBezTo>
                <a:cubicBezTo>
                  <a:pt x="141796" y="5048"/>
                  <a:pt x="142255" y="2295"/>
                  <a:pt x="143173" y="1377"/>
                </a:cubicBezTo>
                <a:close/>
                <a:moveTo>
                  <a:pt x="488714" y="0"/>
                </a:moveTo>
                <a:cubicBezTo>
                  <a:pt x="522672" y="1836"/>
                  <a:pt x="545616" y="6425"/>
                  <a:pt x="557547" y="13767"/>
                </a:cubicBezTo>
                <a:cubicBezTo>
                  <a:pt x="565807" y="17438"/>
                  <a:pt x="567184" y="22944"/>
                  <a:pt x="561677" y="30287"/>
                </a:cubicBezTo>
                <a:cubicBezTo>
                  <a:pt x="558924" y="33040"/>
                  <a:pt x="555712" y="35793"/>
                  <a:pt x="552041" y="38547"/>
                </a:cubicBezTo>
                <a:lnTo>
                  <a:pt x="593340" y="37170"/>
                </a:lnTo>
                <a:cubicBezTo>
                  <a:pt x="611696" y="35334"/>
                  <a:pt x="627757" y="33040"/>
                  <a:pt x="641524" y="30287"/>
                </a:cubicBezTo>
                <a:cubicBezTo>
                  <a:pt x="644277" y="32122"/>
                  <a:pt x="648407" y="35793"/>
                  <a:pt x="653913" y="41300"/>
                </a:cubicBezTo>
                <a:cubicBezTo>
                  <a:pt x="658502" y="45889"/>
                  <a:pt x="661715" y="49101"/>
                  <a:pt x="663550" y="50937"/>
                </a:cubicBezTo>
                <a:cubicBezTo>
                  <a:pt x="666303" y="53690"/>
                  <a:pt x="667221" y="55525"/>
                  <a:pt x="666303" y="56443"/>
                </a:cubicBezTo>
                <a:cubicBezTo>
                  <a:pt x="665386" y="57361"/>
                  <a:pt x="662632" y="57820"/>
                  <a:pt x="658043" y="57820"/>
                </a:cubicBezTo>
                <a:cubicBezTo>
                  <a:pt x="654372" y="57820"/>
                  <a:pt x="647030" y="57820"/>
                  <a:pt x="636017" y="57820"/>
                </a:cubicBezTo>
                <a:cubicBezTo>
                  <a:pt x="619497" y="58738"/>
                  <a:pt x="608025" y="59196"/>
                  <a:pt x="601600" y="59196"/>
                </a:cubicBezTo>
                <a:cubicBezTo>
                  <a:pt x="603436" y="61032"/>
                  <a:pt x="606189" y="62868"/>
                  <a:pt x="609860" y="64703"/>
                </a:cubicBezTo>
                <a:cubicBezTo>
                  <a:pt x="612614" y="66539"/>
                  <a:pt x="615367" y="68374"/>
                  <a:pt x="618120" y="70210"/>
                </a:cubicBezTo>
                <a:cubicBezTo>
                  <a:pt x="619956" y="71128"/>
                  <a:pt x="620874" y="72504"/>
                  <a:pt x="620874" y="74340"/>
                </a:cubicBezTo>
                <a:cubicBezTo>
                  <a:pt x="619956" y="75258"/>
                  <a:pt x="618579" y="76175"/>
                  <a:pt x="616744" y="77093"/>
                </a:cubicBezTo>
                <a:cubicBezTo>
                  <a:pt x="614908" y="78011"/>
                  <a:pt x="611696" y="79387"/>
                  <a:pt x="607107" y="81223"/>
                </a:cubicBezTo>
                <a:cubicBezTo>
                  <a:pt x="603436" y="83059"/>
                  <a:pt x="600224" y="84435"/>
                  <a:pt x="597470" y="85353"/>
                </a:cubicBezTo>
                <a:cubicBezTo>
                  <a:pt x="593799" y="88106"/>
                  <a:pt x="589669" y="89942"/>
                  <a:pt x="585080" y="90860"/>
                </a:cubicBezTo>
                <a:lnTo>
                  <a:pt x="619497" y="89483"/>
                </a:lnTo>
                <a:cubicBezTo>
                  <a:pt x="620415" y="89483"/>
                  <a:pt x="622250" y="89483"/>
                  <a:pt x="625004" y="89483"/>
                </a:cubicBezTo>
                <a:cubicBezTo>
                  <a:pt x="647948" y="87647"/>
                  <a:pt x="664009" y="85353"/>
                  <a:pt x="673187" y="82600"/>
                </a:cubicBezTo>
                <a:cubicBezTo>
                  <a:pt x="685118" y="94531"/>
                  <a:pt x="692001" y="101873"/>
                  <a:pt x="693837" y="104626"/>
                </a:cubicBezTo>
                <a:cubicBezTo>
                  <a:pt x="695672" y="107380"/>
                  <a:pt x="696590" y="109215"/>
                  <a:pt x="696590" y="110133"/>
                </a:cubicBezTo>
                <a:cubicBezTo>
                  <a:pt x="695672" y="111051"/>
                  <a:pt x="693378" y="111510"/>
                  <a:pt x="689707" y="111510"/>
                </a:cubicBezTo>
                <a:cubicBezTo>
                  <a:pt x="669516" y="111510"/>
                  <a:pt x="648866" y="111968"/>
                  <a:pt x="627757" y="112886"/>
                </a:cubicBezTo>
                <a:lnTo>
                  <a:pt x="598847" y="114263"/>
                </a:lnTo>
                <a:lnTo>
                  <a:pt x="600224" y="114263"/>
                </a:lnTo>
                <a:cubicBezTo>
                  <a:pt x="608484" y="118852"/>
                  <a:pt x="621791" y="126653"/>
                  <a:pt x="640147" y="137666"/>
                </a:cubicBezTo>
                <a:cubicBezTo>
                  <a:pt x="642900" y="139502"/>
                  <a:pt x="644736" y="140878"/>
                  <a:pt x="645654" y="141796"/>
                </a:cubicBezTo>
                <a:cubicBezTo>
                  <a:pt x="650242" y="144549"/>
                  <a:pt x="652537" y="146844"/>
                  <a:pt x="652537" y="148679"/>
                </a:cubicBezTo>
                <a:cubicBezTo>
                  <a:pt x="652537" y="150515"/>
                  <a:pt x="650701" y="152350"/>
                  <a:pt x="647030" y="154186"/>
                </a:cubicBezTo>
                <a:cubicBezTo>
                  <a:pt x="643359" y="155104"/>
                  <a:pt x="641524" y="157857"/>
                  <a:pt x="641524" y="162446"/>
                </a:cubicBezTo>
                <a:cubicBezTo>
                  <a:pt x="640606" y="170706"/>
                  <a:pt x="640147" y="186308"/>
                  <a:pt x="640147" y="209252"/>
                </a:cubicBezTo>
                <a:cubicBezTo>
                  <a:pt x="640147" y="214759"/>
                  <a:pt x="638311" y="218889"/>
                  <a:pt x="634640" y="221642"/>
                </a:cubicBezTo>
                <a:cubicBezTo>
                  <a:pt x="621791" y="227149"/>
                  <a:pt x="608484" y="231738"/>
                  <a:pt x="594717" y="235409"/>
                </a:cubicBezTo>
                <a:cubicBezTo>
                  <a:pt x="587375" y="238162"/>
                  <a:pt x="583704" y="235868"/>
                  <a:pt x="583704" y="228526"/>
                </a:cubicBezTo>
                <a:lnTo>
                  <a:pt x="583704" y="224396"/>
                </a:lnTo>
                <a:cubicBezTo>
                  <a:pt x="574526" y="224396"/>
                  <a:pt x="563513" y="224855"/>
                  <a:pt x="550664" y="225772"/>
                </a:cubicBezTo>
                <a:cubicBezTo>
                  <a:pt x="550664" y="225772"/>
                  <a:pt x="551582" y="226231"/>
                  <a:pt x="553417" y="227149"/>
                </a:cubicBezTo>
                <a:cubicBezTo>
                  <a:pt x="556171" y="228067"/>
                  <a:pt x="557088" y="229443"/>
                  <a:pt x="556171" y="231279"/>
                </a:cubicBezTo>
                <a:cubicBezTo>
                  <a:pt x="556171" y="236786"/>
                  <a:pt x="556171" y="242292"/>
                  <a:pt x="556171" y="247799"/>
                </a:cubicBezTo>
                <a:lnTo>
                  <a:pt x="607107" y="245046"/>
                </a:lnTo>
                <a:cubicBezTo>
                  <a:pt x="630969" y="245046"/>
                  <a:pt x="655290" y="243210"/>
                  <a:pt x="680070" y="239539"/>
                </a:cubicBezTo>
                <a:cubicBezTo>
                  <a:pt x="683741" y="243210"/>
                  <a:pt x="689707" y="250552"/>
                  <a:pt x="697967" y="261566"/>
                </a:cubicBezTo>
                <a:cubicBezTo>
                  <a:pt x="699802" y="264319"/>
                  <a:pt x="700720" y="266154"/>
                  <a:pt x="700720" y="267072"/>
                </a:cubicBezTo>
                <a:cubicBezTo>
                  <a:pt x="699802" y="267990"/>
                  <a:pt x="697967" y="268449"/>
                  <a:pt x="695213" y="268449"/>
                </a:cubicBezTo>
                <a:cubicBezTo>
                  <a:pt x="658502" y="268449"/>
                  <a:pt x="632346" y="268908"/>
                  <a:pt x="616744" y="269826"/>
                </a:cubicBezTo>
                <a:lnTo>
                  <a:pt x="556171" y="271202"/>
                </a:lnTo>
                <a:lnTo>
                  <a:pt x="556171" y="315255"/>
                </a:lnTo>
                <a:cubicBezTo>
                  <a:pt x="557088" y="320762"/>
                  <a:pt x="554794" y="323974"/>
                  <a:pt x="549287" y="324892"/>
                </a:cubicBezTo>
                <a:cubicBezTo>
                  <a:pt x="533685" y="329481"/>
                  <a:pt x="516706" y="332693"/>
                  <a:pt x="498351" y="334529"/>
                </a:cubicBezTo>
                <a:cubicBezTo>
                  <a:pt x="494680" y="335446"/>
                  <a:pt x="492844" y="333611"/>
                  <a:pt x="492844" y="329022"/>
                </a:cubicBezTo>
                <a:cubicBezTo>
                  <a:pt x="493762" y="322598"/>
                  <a:pt x="494221" y="303783"/>
                  <a:pt x="494221" y="272579"/>
                </a:cubicBezTo>
                <a:lnTo>
                  <a:pt x="426765" y="275332"/>
                </a:lnTo>
                <a:cubicBezTo>
                  <a:pt x="414834" y="275332"/>
                  <a:pt x="397855" y="276250"/>
                  <a:pt x="375828" y="278085"/>
                </a:cubicBezTo>
                <a:lnTo>
                  <a:pt x="359308" y="253306"/>
                </a:lnTo>
                <a:cubicBezTo>
                  <a:pt x="394184" y="253306"/>
                  <a:pt x="415292" y="252847"/>
                  <a:pt x="422635" y="251929"/>
                </a:cubicBezTo>
                <a:lnTo>
                  <a:pt x="494221" y="250552"/>
                </a:lnTo>
                <a:lnTo>
                  <a:pt x="494221" y="227149"/>
                </a:lnTo>
                <a:lnTo>
                  <a:pt x="466688" y="228526"/>
                </a:lnTo>
                <a:cubicBezTo>
                  <a:pt x="466688" y="229443"/>
                  <a:pt x="464852" y="230820"/>
                  <a:pt x="461181" y="232656"/>
                </a:cubicBezTo>
                <a:cubicBezTo>
                  <a:pt x="451086" y="237245"/>
                  <a:pt x="435942" y="241375"/>
                  <a:pt x="415751" y="245046"/>
                </a:cubicBezTo>
                <a:cubicBezTo>
                  <a:pt x="412080" y="246881"/>
                  <a:pt x="410245" y="244587"/>
                  <a:pt x="410245" y="238162"/>
                </a:cubicBezTo>
                <a:cubicBezTo>
                  <a:pt x="411162" y="227149"/>
                  <a:pt x="411621" y="203287"/>
                  <a:pt x="411621" y="166576"/>
                </a:cubicBezTo>
                <a:cubicBezTo>
                  <a:pt x="411621" y="155563"/>
                  <a:pt x="411621" y="143173"/>
                  <a:pt x="411621" y="129406"/>
                </a:cubicBezTo>
                <a:cubicBezTo>
                  <a:pt x="411621" y="124817"/>
                  <a:pt x="412080" y="122523"/>
                  <a:pt x="412998" y="122523"/>
                </a:cubicBezTo>
                <a:cubicBezTo>
                  <a:pt x="402902" y="122523"/>
                  <a:pt x="391430" y="123441"/>
                  <a:pt x="378581" y="125276"/>
                </a:cubicBezTo>
                <a:lnTo>
                  <a:pt x="357932" y="99120"/>
                </a:lnTo>
                <a:cubicBezTo>
                  <a:pt x="382711" y="99120"/>
                  <a:pt x="403820" y="99120"/>
                  <a:pt x="421258" y="99120"/>
                </a:cubicBezTo>
                <a:lnTo>
                  <a:pt x="459804" y="96366"/>
                </a:lnTo>
                <a:cubicBezTo>
                  <a:pt x="457051" y="90860"/>
                  <a:pt x="451086" y="81223"/>
                  <a:pt x="441908" y="67456"/>
                </a:cubicBezTo>
                <a:cubicBezTo>
                  <a:pt x="438237" y="68374"/>
                  <a:pt x="431812" y="68833"/>
                  <a:pt x="422635" y="68833"/>
                </a:cubicBezTo>
                <a:cubicBezTo>
                  <a:pt x="412539" y="69751"/>
                  <a:pt x="405656" y="70210"/>
                  <a:pt x="401985" y="70210"/>
                </a:cubicBezTo>
                <a:lnTo>
                  <a:pt x="382711" y="46807"/>
                </a:lnTo>
                <a:cubicBezTo>
                  <a:pt x="390971" y="46807"/>
                  <a:pt x="402902" y="46348"/>
                  <a:pt x="418505" y="45430"/>
                </a:cubicBezTo>
                <a:cubicBezTo>
                  <a:pt x="429518" y="45430"/>
                  <a:pt x="436860" y="45430"/>
                  <a:pt x="440531" y="45430"/>
                </a:cubicBezTo>
                <a:lnTo>
                  <a:pt x="506611" y="41300"/>
                </a:lnTo>
                <a:cubicBezTo>
                  <a:pt x="502940" y="33958"/>
                  <a:pt x="494680" y="22027"/>
                  <a:pt x="481831" y="5507"/>
                </a:cubicBezTo>
                <a:close/>
              </a:path>
            </a:pathLst>
          </a:custGeom>
          <a:solidFill>
            <a:srgbClr val="007684"/>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2800" dirty="0">
              <a:solidFill>
                <a:srgbClr val="007684"/>
              </a:solidFill>
              <a:latin typeface="方正颜宋简体_大" panose="02000000000000000000" pitchFamily="2" charset="-122"/>
              <a:ea typeface="方正颜宋简体_大" panose="02000000000000000000" pitchFamily="2" charset="-122"/>
              <a:cs typeface="方正颜宋简体_大" panose="02000000000000000000"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3" name="图片 2"/>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4" name="图片 3"/>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4" name="组合 13"/>
          <p:cNvGrpSpPr/>
          <p:nvPr/>
        </p:nvGrpSpPr>
        <p:grpSpPr>
          <a:xfrm>
            <a:off x="-875295" y="-875664"/>
            <a:ext cx="2974038" cy="2745105"/>
            <a:chOff x="6175344" y="342254"/>
            <a:chExt cx="7829785"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1259840" y="635784"/>
            <a:ext cx="823697" cy="760292"/>
            <a:chOff x="6175344" y="342254"/>
            <a:chExt cx="7829785" cy="7227071"/>
          </a:xfrm>
        </p:grpSpPr>
        <p:sp>
          <p:nvSpPr>
            <p:cNvPr id="18" name="六边形 1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平行四边形 1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圆角 7"/>
          <p:cNvSpPr/>
          <p:nvPr/>
        </p:nvSpPr>
        <p:spPr>
          <a:xfrm>
            <a:off x="2421652" y="2038221"/>
            <a:ext cx="7054775" cy="3118500"/>
          </a:xfrm>
          <a:prstGeom prst="roundRect">
            <a:avLst>
              <a:gd name="adj" fmla="val 0"/>
            </a:avLst>
          </a:prstGeom>
          <a:solidFill>
            <a:schemeClr val="tx1">
              <a:lumMod val="95000"/>
              <a:lumOff val="5000"/>
              <a:alpha val="5000"/>
            </a:schemeClr>
          </a:solidFill>
          <a:ln>
            <a:solidFill>
              <a:schemeClr val="bg1"/>
            </a:solidFill>
          </a:ln>
          <a:effectLst>
            <a:outerShdw blurRad="1524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7" name="组合 36"/>
          <p:cNvGrpSpPr/>
          <p:nvPr/>
        </p:nvGrpSpPr>
        <p:grpSpPr>
          <a:xfrm>
            <a:off x="7558543" y="954064"/>
            <a:ext cx="5262302" cy="5007863"/>
            <a:chOff x="6175345" y="153244"/>
            <a:chExt cx="7792878" cy="7416082"/>
          </a:xfrm>
        </p:grpSpPr>
        <p:grpSp>
          <p:nvGrpSpPr>
            <p:cNvPr id="32" name="组合 31"/>
            <p:cNvGrpSpPr/>
            <p:nvPr/>
          </p:nvGrpSpPr>
          <p:grpSpPr>
            <a:xfrm>
              <a:off x="6175345" y="342257"/>
              <a:ext cx="7792878" cy="7227069"/>
              <a:chOff x="5983104" y="1708488"/>
              <a:chExt cx="4080721" cy="3784437"/>
            </a:xfrm>
          </p:grpSpPr>
          <p:sp>
            <p:nvSpPr>
              <p:cNvPr id="33" name="六边形 32"/>
              <p:cNvSpPr/>
              <p:nvPr/>
            </p:nvSpPr>
            <p:spPr>
              <a:xfrm rot="5400000">
                <a:off x="5811401" y="1880191"/>
                <a:ext cx="3784437"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文本框 35"/>
            <p:cNvSpPr txBox="1"/>
            <p:nvPr/>
          </p:nvSpPr>
          <p:spPr>
            <a:xfrm rot="1849986">
              <a:off x="8151150" y="15324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15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1500" b="1" dirty="0">
                <a:gradFill>
                  <a:gsLst>
                    <a:gs pos="30000">
                      <a:srgbClr val="007684"/>
                    </a:gs>
                    <a:gs pos="83000">
                      <a:srgbClr val="016773"/>
                    </a:gs>
                  </a:gsLst>
                  <a:lin ang="5400000" scaled="0"/>
                </a:gradFill>
                <a:latin typeface="Bauhaus 93" panose="04030905020B02020C02" pitchFamily="82" charset="0"/>
              </a:endParaRPr>
            </a:p>
          </p:txBody>
        </p:sp>
      </p:grpSp>
      <p:grpSp>
        <p:nvGrpSpPr>
          <p:cNvPr id="23" name="组合 22"/>
          <p:cNvGrpSpPr/>
          <p:nvPr/>
        </p:nvGrpSpPr>
        <p:grpSpPr>
          <a:xfrm>
            <a:off x="3774000" y="4177005"/>
            <a:ext cx="4644000" cy="124808"/>
            <a:chOff x="3774000" y="4177005"/>
            <a:chExt cx="4644000" cy="124808"/>
          </a:xfrm>
        </p:grpSpPr>
        <p:pic>
          <p:nvPicPr>
            <p:cNvPr id="24" name="图片 23"/>
            <p:cNvPicPr>
              <a:picLocks noChangeAspect="1" noChangeArrowheads="1"/>
            </p:cNvPicPr>
            <p:nvPr/>
          </p:nvPicPr>
          <p:blipFill>
            <a:blip r:embed="rId6">
              <a:biLevel thresh="50000"/>
              <a:grayscl/>
              <a:extLst>
                <a:ext uri="{28A0092B-C50C-407E-A947-70E740481C1C}">
                  <a14:useLocalDpi xmlns:a14="http://schemas.microsoft.com/office/drawing/2010/main" val="0"/>
                </a:ext>
              </a:extLst>
            </a:blip>
            <a:srcRect l="88019" t="22713" r="2956" b="25211"/>
            <a:stretch>
              <a:fillRect/>
            </a:stretch>
          </p:blipFill>
          <p:spPr bwMode="auto">
            <a:xfrm rot="5400000">
              <a:off x="6033596" y="1917409"/>
              <a:ext cx="124808" cy="46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cxnSp>
          <p:nvCxnSpPr>
            <p:cNvPr id="25" name="直接连接符 24"/>
            <p:cNvCxnSpPr/>
            <p:nvPr/>
          </p:nvCxnSpPr>
          <p:spPr>
            <a:xfrm>
              <a:off x="3936000" y="4177005"/>
              <a:ext cx="4320000" cy="0"/>
            </a:xfrm>
            <a:prstGeom prst="line">
              <a:avLst/>
            </a:prstGeom>
            <a:ln w="12700">
              <a:gradFill>
                <a:gsLst>
                  <a:gs pos="0">
                    <a:schemeClr val="accent1">
                      <a:lumMod val="5000"/>
                      <a:lumOff val="95000"/>
                      <a:alpha val="0"/>
                    </a:schemeClr>
                  </a:gs>
                  <a:gs pos="69000">
                    <a:schemeClr val="bg1"/>
                  </a:gs>
                  <a:gs pos="100000">
                    <a:schemeClr val="bg1">
                      <a:alpha val="0"/>
                    </a:schemeClr>
                  </a:gs>
                  <a:gs pos="40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890173" y="4315438"/>
            <a:ext cx="2268815" cy="2101347"/>
            <a:chOff x="6175344" y="342254"/>
            <a:chExt cx="7803037" cy="7227071"/>
          </a:xfrm>
        </p:grpSpPr>
        <p:sp>
          <p:nvSpPr>
            <p:cNvPr id="6" name="六边形 5"/>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174548" y="5375868"/>
            <a:ext cx="1123874" cy="1040917"/>
            <a:chOff x="6175344" y="342254"/>
            <a:chExt cx="7803037" cy="7227071"/>
          </a:xfrm>
        </p:grpSpPr>
        <p:sp>
          <p:nvSpPr>
            <p:cNvPr id="12" name="六边形 1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p:nvGrpSpPr>
        <p:grpSpPr>
          <a:xfrm>
            <a:off x="10709077" y="4985964"/>
            <a:ext cx="1077639" cy="994687"/>
            <a:chOff x="6175344" y="342254"/>
            <a:chExt cx="7829785" cy="7227071"/>
          </a:xfrm>
        </p:grpSpPr>
        <p:sp>
          <p:nvSpPr>
            <p:cNvPr id="45" name="六边形 4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平行四边形 4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453603"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38" name="文本框 37"/>
          <p:cNvSpPr txBox="1"/>
          <p:nvPr/>
        </p:nvSpPr>
        <p:spPr>
          <a:xfrm>
            <a:off x="5307690"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0" name="文本框 39"/>
          <p:cNvSpPr txBox="1"/>
          <p:nvPr/>
        </p:nvSpPr>
        <p:spPr>
          <a:xfrm>
            <a:off x="6148718" y="2830973"/>
            <a:ext cx="766167" cy="1054879"/>
          </a:xfrm>
          <a:custGeom>
            <a:avLst/>
            <a:gdLst/>
            <a:ahLst/>
            <a:cxnLst/>
            <a:rect l="l" t="t" r="r" b="b"/>
            <a:pathLst>
              <a:path w="766167" h="1054879">
                <a:moveTo>
                  <a:pt x="478854" y="261193"/>
                </a:moveTo>
                <a:lnTo>
                  <a:pt x="578978" y="261193"/>
                </a:lnTo>
                <a:lnTo>
                  <a:pt x="578978" y="470148"/>
                </a:lnTo>
                <a:cubicBezTo>
                  <a:pt x="578978" y="548506"/>
                  <a:pt x="570272" y="619608"/>
                  <a:pt x="552859" y="683456"/>
                </a:cubicBezTo>
                <a:lnTo>
                  <a:pt x="635570" y="683456"/>
                </a:lnTo>
                <a:lnTo>
                  <a:pt x="635570" y="914177"/>
                </a:lnTo>
                <a:cubicBezTo>
                  <a:pt x="635570" y="922883"/>
                  <a:pt x="638472" y="927236"/>
                  <a:pt x="644277" y="927236"/>
                </a:cubicBezTo>
                <a:cubicBezTo>
                  <a:pt x="650081" y="927236"/>
                  <a:pt x="655885" y="924334"/>
                  <a:pt x="661690" y="918530"/>
                </a:cubicBezTo>
                <a:cubicBezTo>
                  <a:pt x="687809" y="874998"/>
                  <a:pt x="712477" y="824210"/>
                  <a:pt x="735694" y="766167"/>
                </a:cubicBezTo>
                <a:lnTo>
                  <a:pt x="748754" y="770520"/>
                </a:lnTo>
                <a:cubicBezTo>
                  <a:pt x="716830" y="854682"/>
                  <a:pt x="718281" y="908372"/>
                  <a:pt x="753107" y="931589"/>
                </a:cubicBezTo>
                <a:cubicBezTo>
                  <a:pt x="761814" y="937394"/>
                  <a:pt x="764716" y="941747"/>
                  <a:pt x="761814" y="944649"/>
                </a:cubicBezTo>
                <a:cubicBezTo>
                  <a:pt x="735694" y="1020105"/>
                  <a:pt x="690711" y="1056382"/>
                  <a:pt x="626864" y="1053480"/>
                </a:cubicBezTo>
                <a:cubicBezTo>
                  <a:pt x="539799" y="1062186"/>
                  <a:pt x="499169" y="1030262"/>
                  <a:pt x="504973" y="957709"/>
                </a:cubicBezTo>
                <a:lnTo>
                  <a:pt x="504973" y="792286"/>
                </a:lnTo>
                <a:cubicBezTo>
                  <a:pt x="458539" y="885155"/>
                  <a:pt x="358415" y="972220"/>
                  <a:pt x="204601" y="1053480"/>
                </a:cubicBezTo>
                <a:lnTo>
                  <a:pt x="200248" y="1040420"/>
                </a:lnTo>
                <a:cubicBezTo>
                  <a:pt x="385985" y="895313"/>
                  <a:pt x="478854" y="705222"/>
                  <a:pt x="478854" y="470148"/>
                </a:cubicBezTo>
                <a:close/>
                <a:moveTo>
                  <a:pt x="644277" y="0"/>
                </a:moveTo>
                <a:lnTo>
                  <a:pt x="766167" y="47885"/>
                </a:lnTo>
                <a:lnTo>
                  <a:pt x="726988" y="100124"/>
                </a:lnTo>
                <a:lnTo>
                  <a:pt x="726988" y="626864"/>
                </a:lnTo>
                <a:lnTo>
                  <a:pt x="605098" y="626864"/>
                </a:lnTo>
                <a:lnTo>
                  <a:pt x="605098" y="134950"/>
                </a:lnTo>
                <a:lnTo>
                  <a:pt x="452735" y="134950"/>
                </a:lnTo>
                <a:lnTo>
                  <a:pt x="452735" y="622511"/>
                </a:lnTo>
                <a:lnTo>
                  <a:pt x="335198" y="622511"/>
                </a:lnTo>
                <a:lnTo>
                  <a:pt x="330845" y="626864"/>
                </a:lnTo>
                <a:lnTo>
                  <a:pt x="330845" y="69651"/>
                </a:lnTo>
                <a:lnTo>
                  <a:pt x="300372" y="117537"/>
                </a:lnTo>
                <a:cubicBezTo>
                  <a:pt x="300372" y="280057"/>
                  <a:pt x="284410" y="415007"/>
                  <a:pt x="252487" y="522386"/>
                </a:cubicBezTo>
                <a:cubicBezTo>
                  <a:pt x="301823" y="618157"/>
                  <a:pt x="327942" y="703771"/>
                  <a:pt x="330845" y="779227"/>
                </a:cubicBezTo>
                <a:cubicBezTo>
                  <a:pt x="330845" y="837270"/>
                  <a:pt x="314883" y="872095"/>
                  <a:pt x="282959" y="883704"/>
                </a:cubicBezTo>
                <a:cubicBezTo>
                  <a:pt x="242329" y="889508"/>
                  <a:pt x="217661" y="866291"/>
                  <a:pt x="208954" y="814052"/>
                </a:cubicBezTo>
                <a:cubicBezTo>
                  <a:pt x="203150" y="767618"/>
                  <a:pt x="197346" y="726988"/>
                  <a:pt x="191541" y="692162"/>
                </a:cubicBezTo>
                <a:cubicBezTo>
                  <a:pt x="142205" y="790835"/>
                  <a:pt x="81260" y="869193"/>
                  <a:pt x="8706" y="927236"/>
                </a:cubicBezTo>
                <a:lnTo>
                  <a:pt x="0" y="922883"/>
                </a:lnTo>
                <a:cubicBezTo>
                  <a:pt x="63847" y="812601"/>
                  <a:pt x="111732" y="679102"/>
                  <a:pt x="143656" y="522386"/>
                </a:cubicBezTo>
                <a:cubicBezTo>
                  <a:pt x="120439" y="444028"/>
                  <a:pt x="87064" y="351160"/>
                  <a:pt x="43532" y="243780"/>
                </a:cubicBezTo>
                <a:cubicBezTo>
                  <a:pt x="40630" y="235074"/>
                  <a:pt x="37728" y="229269"/>
                  <a:pt x="34826" y="226367"/>
                </a:cubicBezTo>
                <a:lnTo>
                  <a:pt x="43532" y="217661"/>
                </a:lnTo>
                <a:cubicBezTo>
                  <a:pt x="84162" y="261193"/>
                  <a:pt x="126243" y="316334"/>
                  <a:pt x="169775" y="383083"/>
                </a:cubicBezTo>
                <a:cubicBezTo>
                  <a:pt x="181384" y="296019"/>
                  <a:pt x="187188" y="216210"/>
                  <a:pt x="187188" y="143656"/>
                </a:cubicBezTo>
                <a:lnTo>
                  <a:pt x="17413" y="143656"/>
                </a:lnTo>
                <a:lnTo>
                  <a:pt x="17413" y="65298"/>
                </a:lnTo>
                <a:lnTo>
                  <a:pt x="187188" y="65298"/>
                </a:lnTo>
                <a:lnTo>
                  <a:pt x="226367" y="13059"/>
                </a:lnTo>
                <a:lnTo>
                  <a:pt x="330845" y="56592"/>
                </a:lnTo>
                <a:lnTo>
                  <a:pt x="330845" y="8706"/>
                </a:lnTo>
                <a:lnTo>
                  <a:pt x="452735" y="8706"/>
                </a:lnTo>
                <a:lnTo>
                  <a:pt x="452735" y="56592"/>
                </a:lnTo>
                <a:lnTo>
                  <a:pt x="600744" y="56592"/>
                </a:ln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2" name="文本框 41"/>
          <p:cNvSpPr txBox="1"/>
          <p:nvPr/>
        </p:nvSpPr>
        <p:spPr>
          <a:xfrm>
            <a:off x="7011511" y="2830973"/>
            <a:ext cx="757461" cy="1057833"/>
          </a:xfrm>
          <a:custGeom>
            <a:avLst/>
            <a:gdLst/>
            <a:ahLst/>
            <a:cxnLst/>
            <a:rect l="l" t="t" r="r" b="b"/>
            <a:pathLst>
              <a:path w="757461" h="1057833">
                <a:moveTo>
                  <a:pt x="252487" y="892410"/>
                </a:moveTo>
                <a:lnTo>
                  <a:pt x="252487" y="940296"/>
                </a:lnTo>
                <a:lnTo>
                  <a:pt x="531093" y="940296"/>
                </a:lnTo>
                <a:lnTo>
                  <a:pt x="531093" y="892410"/>
                </a:lnTo>
                <a:close/>
                <a:moveTo>
                  <a:pt x="252487" y="761814"/>
                </a:moveTo>
                <a:lnTo>
                  <a:pt x="252487" y="818406"/>
                </a:lnTo>
                <a:lnTo>
                  <a:pt x="531093" y="818406"/>
                </a:lnTo>
                <a:lnTo>
                  <a:pt x="531093" y="761814"/>
                </a:lnTo>
                <a:close/>
                <a:moveTo>
                  <a:pt x="252487" y="635570"/>
                </a:moveTo>
                <a:lnTo>
                  <a:pt x="252487" y="692162"/>
                </a:lnTo>
                <a:lnTo>
                  <a:pt x="531093" y="692162"/>
                </a:lnTo>
                <a:lnTo>
                  <a:pt x="531093" y="635570"/>
                </a:lnTo>
                <a:close/>
                <a:moveTo>
                  <a:pt x="565919" y="0"/>
                </a:moveTo>
                <a:lnTo>
                  <a:pt x="687809" y="100124"/>
                </a:lnTo>
                <a:cubicBezTo>
                  <a:pt x="609451" y="123341"/>
                  <a:pt x="525289" y="136401"/>
                  <a:pt x="435322" y="139303"/>
                </a:cubicBezTo>
                <a:cubicBezTo>
                  <a:pt x="435322" y="145107"/>
                  <a:pt x="433871" y="155265"/>
                  <a:pt x="430969" y="169775"/>
                </a:cubicBezTo>
                <a:cubicBezTo>
                  <a:pt x="428067" y="187188"/>
                  <a:pt x="425165" y="198797"/>
                  <a:pt x="422263" y="204601"/>
                </a:cubicBezTo>
                <a:lnTo>
                  <a:pt x="692163" y="204601"/>
                </a:lnTo>
                <a:lnTo>
                  <a:pt x="692163" y="282959"/>
                </a:lnTo>
                <a:lnTo>
                  <a:pt x="400497" y="282959"/>
                </a:lnTo>
                <a:cubicBezTo>
                  <a:pt x="397594" y="291666"/>
                  <a:pt x="391790" y="306176"/>
                  <a:pt x="383084" y="326491"/>
                </a:cubicBezTo>
                <a:cubicBezTo>
                  <a:pt x="374377" y="349709"/>
                  <a:pt x="368573" y="365670"/>
                  <a:pt x="365671" y="374377"/>
                </a:cubicBezTo>
                <a:lnTo>
                  <a:pt x="757461" y="374377"/>
                </a:lnTo>
                <a:lnTo>
                  <a:pt x="757461" y="448382"/>
                </a:lnTo>
                <a:lnTo>
                  <a:pt x="326492" y="448382"/>
                </a:lnTo>
                <a:cubicBezTo>
                  <a:pt x="300372" y="489012"/>
                  <a:pt x="271351" y="526740"/>
                  <a:pt x="239427" y="561565"/>
                </a:cubicBezTo>
                <a:lnTo>
                  <a:pt x="522387" y="561565"/>
                </a:lnTo>
                <a:lnTo>
                  <a:pt x="557213" y="509327"/>
                </a:lnTo>
                <a:lnTo>
                  <a:pt x="692163" y="548506"/>
                </a:lnTo>
                <a:lnTo>
                  <a:pt x="657337" y="600744"/>
                </a:lnTo>
                <a:lnTo>
                  <a:pt x="657337" y="1057833"/>
                </a:lnTo>
                <a:lnTo>
                  <a:pt x="531093" y="1057833"/>
                </a:lnTo>
                <a:lnTo>
                  <a:pt x="531093" y="1009947"/>
                </a:lnTo>
                <a:lnTo>
                  <a:pt x="252487" y="1009947"/>
                </a:lnTo>
                <a:lnTo>
                  <a:pt x="252487" y="1057833"/>
                </a:lnTo>
                <a:lnTo>
                  <a:pt x="126244" y="1057833"/>
                </a:lnTo>
                <a:lnTo>
                  <a:pt x="126244" y="661690"/>
                </a:lnTo>
                <a:cubicBezTo>
                  <a:pt x="120439" y="664592"/>
                  <a:pt x="110282" y="670396"/>
                  <a:pt x="95771" y="679102"/>
                </a:cubicBezTo>
                <a:cubicBezTo>
                  <a:pt x="63847" y="699418"/>
                  <a:pt x="33375" y="716830"/>
                  <a:pt x="4353" y="731341"/>
                </a:cubicBezTo>
                <a:lnTo>
                  <a:pt x="0" y="722635"/>
                </a:lnTo>
                <a:cubicBezTo>
                  <a:pt x="84162" y="635570"/>
                  <a:pt x="149461" y="544153"/>
                  <a:pt x="195895" y="448382"/>
                </a:cubicBezTo>
                <a:lnTo>
                  <a:pt x="8707" y="448382"/>
                </a:lnTo>
                <a:lnTo>
                  <a:pt x="8707" y="374377"/>
                </a:lnTo>
                <a:lnTo>
                  <a:pt x="230721" y="374377"/>
                </a:lnTo>
                <a:cubicBezTo>
                  <a:pt x="242330" y="342453"/>
                  <a:pt x="253938" y="311981"/>
                  <a:pt x="265547" y="282959"/>
                </a:cubicBezTo>
                <a:lnTo>
                  <a:pt x="74005" y="282959"/>
                </a:lnTo>
                <a:lnTo>
                  <a:pt x="74005" y="204601"/>
                </a:lnTo>
                <a:lnTo>
                  <a:pt x="287313" y="204601"/>
                </a:lnTo>
                <a:cubicBezTo>
                  <a:pt x="287313" y="198797"/>
                  <a:pt x="290215" y="184286"/>
                  <a:pt x="296019" y="161069"/>
                </a:cubicBezTo>
                <a:cubicBezTo>
                  <a:pt x="298921" y="152363"/>
                  <a:pt x="300372" y="145107"/>
                  <a:pt x="300372" y="139303"/>
                </a:cubicBezTo>
                <a:cubicBezTo>
                  <a:pt x="236525" y="136401"/>
                  <a:pt x="153814" y="124792"/>
                  <a:pt x="52239" y="104477"/>
                </a:cubicBezTo>
                <a:lnTo>
                  <a:pt x="52239" y="91417"/>
                </a:lnTo>
                <a:cubicBezTo>
                  <a:pt x="240878" y="82711"/>
                  <a:pt x="412105" y="52238"/>
                  <a:pt x="565919"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11207</TotalTime>
  <Words>4566</Words>
  <Application>Microsoft Office PowerPoint</Application>
  <PresentationFormat>宽屏</PresentationFormat>
  <Paragraphs>323</Paragraphs>
  <Slides>44</Slides>
  <Notes>40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44</vt:i4>
      </vt:variant>
    </vt:vector>
  </HeadingPairs>
  <TitlesOfParts>
    <vt:vector size="61" baseType="lpstr">
      <vt:lpstr>-apple-system</vt:lpstr>
      <vt:lpstr>Inter</vt:lpstr>
      <vt:lpstr>方正美黑简体</vt:lpstr>
      <vt:lpstr>方正颜宋简体_大</vt:lpstr>
      <vt:lpstr>方正颜宋简体_中</vt:lpstr>
      <vt:lpstr>华文楷体</vt:lpstr>
      <vt:lpstr>华文中宋</vt:lpstr>
      <vt:lpstr>楷体</vt:lpstr>
      <vt:lpstr>微软雅黑</vt:lpstr>
      <vt:lpstr>Arial</vt:lpstr>
      <vt:lpstr>Bauhaus 93</vt:lpstr>
      <vt:lpstr>Calibri</vt:lpstr>
      <vt:lpstr>Cambria Math</vt:lpstr>
      <vt:lpstr>Times New Roman</vt:lpstr>
      <vt:lpstr>Wingdings</vt:lpstr>
      <vt:lpstr>Office 主题</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dell</cp:lastModifiedBy>
  <cp:revision>1149</cp:revision>
  <dcterms:created xsi:type="dcterms:W3CDTF">2023-07-27T09:00:19Z</dcterms:created>
  <dcterms:modified xsi:type="dcterms:W3CDTF">2026-07-15T10:46:47Z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99C1EA3A909EDAC79730C264AE7BE5BF_42</vt:lpwstr>
  </property>
  <property fmtid="{D5CDD505-2E9C-101B-9397-08002B2CF9AE}" pid="3" name="KSOProductBuildVer">
    <vt:lpwstr>2052-5.4.0.7910</vt:lpwstr>
  </property>
</Properties>
</file>