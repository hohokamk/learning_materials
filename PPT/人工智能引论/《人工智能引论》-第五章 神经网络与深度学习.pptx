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0"/>
  </p:notesMasterIdLst>
  <p:sldIdLst>
    <p:sldId id="256" r:id="rId2"/>
    <p:sldId id="257" r:id="rId3"/>
    <p:sldId id="263" r:id="rId4"/>
    <p:sldId id="2076139155" r:id="rId5"/>
    <p:sldId id="2076139156" r:id="rId6"/>
    <p:sldId id="258" r:id="rId7"/>
    <p:sldId id="273" r:id="rId8"/>
    <p:sldId id="2076139102" r:id="rId9"/>
    <p:sldId id="2076139011" r:id="rId10"/>
    <p:sldId id="2076139103" r:id="rId11"/>
    <p:sldId id="2076139104" r:id="rId12"/>
    <p:sldId id="2076139105" r:id="rId13"/>
    <p:sldId id="2076139106" r:id="rId14"/>
    <p:sldId id="2076139107" r:id="rId15"/>
    <p:sldId id="2076139108" r:id="rId16"/>
    <p:sldId id="2076139109" r:id="rId17"/>
    <p:sldId id="2076139110" r:id="rId18"/>
    <p:sldId id="2076139111" r:id="rId19"/>
    <p:sldId id="2076139112" r:id="rId20"/>
    <p:sldId id="2076139113" r:id="rId21"/>
    <p:sldId id="2076139114" r:id="rId22"/>
    <p:sldId id="2076139115" r:id="rId23"/>
    <p:sldId id="2076139116" r:id="rId24"/>
    <p:sldId id="2076139117" r:id="rId25"/>
    <p:sldId id="2076139118" r:id="rId26"/>
    <p:sldId id="2076139119" r:id="rId27"/>
    <p:sldId id="2076139120" r:id="rId28"/>
    <p:sldId id="2076139121" r:id="rId29"/>
    <p:sldId id="2076139026" r:id="rId30"/>
    <p:sldId id="2076139122" r:id="rId31"/>
    <p:sldId id="2076139123" r:id="rId32"/>
    <p:sldId id="2076139124" r:id="rId33"/>
    <p:sldId id="2076139125" r:id="rId34"/>
    <p:sldId id="2076139127" r:id="rId35"/>
    <p:sldId id="2076139157" r:id="rId36"/>
    <p:sldId id="2076139165" r:id="rId37"/>
    <p:sldId id="2076139166" r:id="rId38"/>
    <p:sldId id="2076139027" r:id="rId39"/>
    <p:sldId id="2076139128" r:id="rId40"/>
    <p:sldId id="2076139129" r:id="rId41"/>
    <p:sldId id="2076139130" r:id="rId42"/>
    <p:sldId id="2076139131" r:id="rId43"/>
    <p:sldId id="2076139132" r:id="rId44"/>
    <p:sldId id="2076139133" r:id="rId45"/>
    <p:sldId id="2076139134" r:id="rId46"/>
    <p:sldId id="2076139135" r:id="rId47"/>
    <p:sldId id="2076139136" r:id="rId48"/>
    <p:sldId id="2076139137" r:id="rId49"/>
    <p:sldId id="2076139138" r:id="rId50"/>
    <p:sldId id="2076139139" r:id="rId51"/>
    <p:sldId id="2076139140" r:id="rId52"/>
    <p:sldId id="2076139141" r:id="rId53"/>
    <p:sldId id="2076139142" r:id="rId54"/>
    <p:sldId id="2076139143" r:id="rId55"/>
    <p:sldId id="2076139144" r:id="rId56"/>
    <p:sldId id="2076139145" r:id="rId57"/>
    <p:sldId id="2076139174" r:id="rId58"/>
    <p:sldId id="2076139178" r:id="rId59"/>
    <p:sldId id="2076139173" r:id="rId60"/>
    <p:sldId id="2076139171" r:id="rId61"/>
    <p:sldId id="2076139176" r:id="rId62"/>
    <p:sldId id="2076139146" r:id="rId63"/>
    <p:sldId id="2076139147" r:id="rId64"/>
    <p:sldId id="2076139159" r:id="rId65"/>
    <p:sldId id="2076139170" r:id="rId66"/>
    <p:sldId id="2076139167" r:id="rId67"/>
    <p:sldId id="2076139168" r:id="rId68"/>
    <p:sldId id="2076139169" r:id="rId69"/>
    <p:sldId id="2076139160" r:id="rId70"/>
    <p:sldId id="2076139162" r:id="rId71"/>
    <p:sldId id="2076139163" r:id="rId72"/>
    <p:sldId id="2076139148" r:id="rId73"/>
    <p:sldId id="2076139149" r:id="rId74"/>
    <p:sldId id="2076139154" r:id="rId75"/>
    <p:sldId id="2076139060" r:id="rId76"/>
    <p:sldId id="264" r:id="rId77"/>
    <p:sldId id="269" r:id="rId78"/>
    <p:sldId id="270" r:id="rId7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7480"/>
    <a:srgbClr val="01717E"/>
    <a:srgbClr val="017C84"/>
    <a:srgbClr val="51ADB7"/>
    <a:srgbClr val="014D53"/>
    <a:srgbClr val="007684"/>
    <a:srgbClr val="222222"/>
    <a:srgbClr val="EEF7F8"/>
    <a:srgbClr val="F7FBFB"/>
    <a:srgbClr val="F2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238" autoAdjust="0"/>
  </p:normalViewPr>
  <p:slideViewPr>
    <p:cSldViewPr snapToGrid="0">
      <p:cViewPr varScale="1">
        <p:scale>
          <a:sx n="110" d="100"/>
          <a:sy n="110" d="100"/>
        </p:scale>
        <p:origin x="684" y="138"/>
      </p:cViewPr>
      <p:guideLst/>
    </p:cSldViewPr>
  </p:slideViewPr>
  <p:outlineViewPr>
    <p:cViewPr>
      <p:scale>
        <a:sx n="33" d="100"/>
        <a:sy n="33" d="100"/>
      </p:scale>
      <p:origin x="0" y="-752"/>
    </p:cViewPr>
  </p:outlineViewPr>
  <p:notesTextViewPr>
    <p:cViewPr>
      <p:scale>
        <a:sx n="1" d="1"/>
        <a:sy n="1" d="1"/>
      </p:scale>
      <p:origin x="0" y="0"/>
    </p:cViewPr>
  </p:notesTextViewPr>
  <p:sorterViewPr>
    <p:cViewPr varScale="1">
      <p:scale>
        <a:sx n="100" d="100"/>
        <a:sy n="100" d="100"/>
      </p:scale>
      <p:origin x="0" y="-4167"/>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5224A5-F0C5-4B72-8135-2FAC1AE300C9}" type="datetimeFigureOut">
              <a:rPr lang="zh-CN" altLang="en-US" smtClean="0"/>
              <a:t>2026/7/15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8AECDA-B852-4CA6-98F9-FDA299AD4FD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封面</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章节页</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知识卡片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目录</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a:t>
            </a:fld>
            <a:endParaRPr lang="zh-CN" altLang="en-US"/>
          </a:p>
        </p:txBody>
      </p:sp>
    </p:spTree>
    <p:extLst>
      <p:ext uri="{BB962C8B-B14F-4D97-AF65-F5344CB8AC3E}">
        <p14:creationId xmlns:p14="http://schemas.microsoft.com/office/powerpoint/2010/main" val="1566013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8</a:t>
            </a:fld>
            <a:endParaRPr lang="zh-CN" altLang="en-US"/>
          </a:p>
        </p:txBody>
      </p:sp>
    </p:spTree>
    <p:extLst>
      <p:ext uri="{BB962C8B-B14F-4D97-AF65-F5344CB8AC3E}">
        <p14:creationId xmlns:p14="http://schemas.microsoft.com/office/powerpoint/2010/main" val="1418561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9</a:t>
            </a:fld>
            <a:endParaRPr lang="zh-CN" altLang="en-US"/>
          </a:p>
        </p:txBody>
      </p:sp>
    </p:spTree>
    <p:extLst>
      <p:ext uri="{BB962C8B-B14F-4D97-AF65-F5344CB8AC3E}">
        <p14:creationId xmlns:p14="http://schemas.microsoft.com/office/powerpoint/2010/main" val="20171812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10</a:t>
            </a:fld>
            <a:endParaRPr lang="zh-CN" altLang="en-US"/>
          </a:p>
        </p:txBody>
      </p:sp>
    </p:spTree>
    <p:extLst>
      <p:ext uri="{BB962C8B-B14F-4D97-AF65-F5344CB8AC3E}">
        <p14:creationId xmlns:p14="http://schemas.microsoft.com/office/powerpoint/2010/main" val="596693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11</a:t>
            </a:fld>
            <a:endParaRPr lang="zh-CN" altLang="en-US"/>
          </a:p>
        </p:txBody>
      </p:sp>
    </p:spTree>
    <p:extLst>
      <p:ext uri="{BB962C8B-B14F-4D97-AF65-F5344CB8AC3E}">
        <p14:creationId xmlns:p14="http://schemas.microsoft.com/office/powerpoint/2010/main" val="35496880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12</a:t>
            </a:fld>
            <a:endParaRPr lang="zh-CN" altLang="en-US"/>
          </a:p>
        </p:txBody>
      </p:sp>
    </p:spTree>
    <p:extLst>
      <p:ext uri="{BB962C8B-B14F-4D97-AF65-F5344CB8AC3E}">
        <p14:creationId xmlns:p14="http://schemas.microsoft.com/office/powerpoint/2010/main" val="33384682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13</a:t>
            </a:fld>
            <a:endParaRPr lang="zh-CN" altLang="en-US"/>
          </a:p>
        </p:txBody>
      </p:sp>
    </p:spTree>
    <p:extLst>
      <p:ext uri="{BB962C8B-B14F-4D97-AF65-F5344CB8AC3E}">
        <p14:creationId xmlns:p14="http://schemas.microsoft.com/office/powerpoint/2010/main" val="36313162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14</a:t>
            </a:fld>
            <a:endParaRPr lang="zh-CN" altLang="en-US"/>
          </a:p>
        </p:txBody>
      </p:sp>
    </p:spTree>
    <p:extLst>
      <p:ext uri="{BB962C8B-B14F-4D97-AF65-F5344CB8AC3E}">
        <p14:creationId xmlns:p14="http://schemas.microsoft.com/office/powerpoint/2010/main" val="23395666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15</a:t>
            </a:fld>
            <a:endParaRPr lang="zh-CN" altLang="en-US"/>
          </a:p>
        </p:txBody>
      </p:sp>
    </p:spTree>
    <p:extLst>
      <p:ext uri="{BB962C8B-B14F-4D97-AF65-F5344CB8AC3E}">
        <p14:creationId xmlns:p14="http://schemas.microsoft.com/office/powerpoint/2010/main" val="1803015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16</a:t>
            </a:fld>
            <a:endParaRPr lang="zh-CN" altLang="en-US"/>
          </a:p>
        </p:txBody>
      </p:sp>
    </p:spTree>
    <p:extLst>
      <p:ext uri="{BB962C8B-B14F-4D97-AF65-F5344CB8AC3E}">
        <p14:creationId xmlns:p14="http://schemas.microsoft.com/office/powerpoint/2010/main" val="4810118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17</a:t>
            </a:fld>
            <a:endParaRPr lang="zh-CN" altLang="en-US"/>
          </a:p>
        </p:txBody>
      </p:sp>
    </p:spTree>
    <p:extLst>
      <p:ext uri="{BB962C8B-B14F-4D97-AF65-F5344CB8AC3E}">
        <p14:creationId xmlns:p14="http://schemas.microsoft.com/office/powerpoint/2010/main" val="39798643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18</a:t>
            </a:fld>
            <a:endParaRPr lang="zh-CN" altLang="en-US"/>
          </a:p>
        </p:txBody>
      </p:sp>
    </p:spTree>
    <p:extLst>
      <p:ext uri="{BB962C8B-B14F-4D97-AF65-F5344CB8AC3E}">
        <p14:creationId xmlns:p14="http://schemas.microsoft.com/office/powerpoint/2010/main" val="7048109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19</a:t>
            </a:fld>
            <a:endParaRPr lang="zh-CN" altLang="en-US"/>
          </a:p>
        </p:txBody>
      </p:sp>
    </p:spTree>
    <p:extLst>
      <p:ext uri="{BB962C8B-B14F-4D97-AF65-F5344CB8AC3E}">
        <p14:creationId xmlns:p14="http://schemas.microsoft.com/office/powerpoint/2010/main" val="40824428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20</a:t>
            </a:fld>
            <a:endParaRPr lang="zh-CN" altLang="en-US"/>
          </a:p>
        </p:txBody>
      </p:sp>
    </p:spTree>
    <p:extLst>
      <p:ext uri="{BB962C8B-B14F-4D97-AF65-F5344CB8AC3E}">
        <p14:creationId xmlns:p14="http://schemas.microsoft.com/office/powerpoint/2010/main" val="24978687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21</a:t>
            </a:fld>
            <a:endParaRPr lang="zh-CN" altLang="en-US"/>
          </a:p>
        </p:txBody>
      </p:sp>
    </p:spTree>
    <p:extLst>
      <p:ext uri="{BB962C8B-B14F-4D97-AF65-F5344CB8AC3E}">
        <p14:creationId xmlns:p14="http://schemas.microsoft.com/office/powerpoint/2010/main" val="13903507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22</a:t>
            </a:fld>
            <a:endParaRPr lang="zh-CN" altLang="en-US"/>
          </a:p>
        </p:txBody>
      </p:sp>
    </p:spTree>
    <p:extLst>
      <p:ext uri="{BB962C8B-B14F-4D97-AF65-F5344CB8AC3E}">
        <p14:creationId xmlns:p14="http://schemas.microsoft.com/office/powerpoint/2010/main" val="19598931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23</a:t>
            </a:fld>
            <a:endParaRPr lang="zh-CN" altLang="en-US"/>
          </a:p>
        </p:txBody>
      </p:sp>
    </p:spTree>
    <p:extLst>
      <p:ext uri="{BB962C8B-B14F-4D97-AF65-F5344CB8AC3E}">
        <p14:creationId xmlns:p14="http://schemas.microsoft.com/office/powerpoint/2010/main" val="38389567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24</a:t>
            </a:fld>
            <a:endParaRPr lang="zh-CN" altLang="en-US"/>
          </a:p>
        </p:txBody>
      </p:sp>
    </p:spTree>
    <p:extLst>
      <p:ext uri="{BB962C8B-B14F-4D97-AF65-F5344CB8AC3E}">
        <p14:creationId xmlns:p14="http://schemas.microsoft.com/office/powerpoint/2010/main" val="5169650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25</a:t>
            </a:fld>
            <a:endParaRPr lang="zh-CN" altLang="en-US"/>
          </a:p>
        </p:txBody>
      </p:sp>
    </p:spTree>
    <p:extLst>
      <p:ext uri="{BB962C8B-B14F-4D97-AF65-F5344CB8AC3E}">
        <p14:creationId xmlns:p14="http://schemas.microsoft.com/office/powerpoint/2010/main" val="25873503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26</a:t>
            </a:fld>
            <a:endParaRPr lang="zh-CN" altLang="en-US"/>
          </a:p>
        </p:txBody>
      </p:sp>
    </p:spTree>
    <p:extLst>
      <p:ext uri="{BB962C8B-B14F-4D97-AF65-F5344CB8AC3E}">
        <p14:creationId xmlns:p14="http://schemas.microsoft.com/office/powerpoint/2010/main" val="30206840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27</a:t>
            </a:fld>
            <a:endParaRPr lang="zh-CN" altLang="en-US"/>
          </a:p>
        </p:txBody>
      </p:sp>
    </p:spTree>
    <p:extLst>
      <p:ext uri="{BB962C8B-B14F-4D97-AF65-F5344CB8AC3E}">
        <p14:creationId xmlns:p14="http://schemas.microsoft.com/office/powerpoint/2010/main" val="28979648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28</a:t>
            </a:fld>
            <a:endParaRPr lang="zh-CN" altLang="en-US"/>
          </a:p>
        </p:txBody>
      </p:sp>
    </p:spTree>
    <p:extLst>
      <p:ext uri="{BB962C8B-B14F-4D97-AF65-F5344CB8AC3E}">
        <p14:creationId xmlns:p14="http://schemas.microsoft.com/office/powerpoint/2010/main" val="34393468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29</a:t>
            </a:fld>
            <a:endParaRPr lang="zh-CN" altLang="en-US"/>
          </a:p>
        </p:txBody>
      </p:sp>
    </p:spTree>
    <p:extLst>
      <p:ext uri="{BB962C8B-B14F-4D97-AF65-F5344CB8AC3E}">
        <p14:creationId xmlns:p14="http://schemas.microsoft.com/office/powerpoint/2010/main" val="24278109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30</a:t>
            </a:fld>
            <a:endParaRPr lang="zh-CN" altLang="en-US"/>
          </a:p>
        </p:txBody>
      </p:sp>
    </p:spTree>
    <p:extLst>
      <p:ext uri="{BB962C8B-B14F-4D97-AF65-F5344CB8AC3E}">
        <p14:creationId xmlns:p14="http://schemas.microsoft.com/office/powerpoint/2010/main" val="17676625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31</a:t>
            </a:fld>
            <a:endParaRPr lang="zh-CN" altLang="en-US"/>
          </a:p>
        </p:txBody>
      </p:sp>
    </p:spTree>
    <p:extLst>
      <p:ext uri="{BB962C8B-B14F-4D97-AF65-F5344CB8AC3E}">
        <p14:creationId xmlns:p14="http://schemas.microsoft.com/office/powerpoint/2010/main" val="29912120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32</a:t>
            </a:fld>
            <a:endParaRPr lang="zh-CN" altLang="en-US"/>
          </a:p>
        </p:txBody>
      </p:sp>
    </p:spTree>
    <p:extLst>
      <p:ext uri="{BB962C8B-B14F-4D97-AF65-F5344CB8AC3E}">
        <p14:creationId xmlns:p14="http://schemas.microsoft.com/office/powerpoint/2010/main" val="15494419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33</a:t>
            </a:fld>
            <a:endParaRPr lang="zh-CN" altLang="en-US"/>
          </a:p>
        </p:txBody>
      </p:sp>
    </p:spTree>
    <p:extLst>
      <p:ext uri="{BB962C8B-B14F-4D97-AF65-F5344CB8AC3E}">
        <p14:creationId xmlns:p14="http://schemas.microsoft.com/office/powerpoint/2010/main" val="27172679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34</a:t>
            </a:fld>
            <a:endParaRPr lang="zh-CN" altLang="en-US"/>
          </a:p>
        </p:txBody>
      </p:sp>
    </p:spTree>
    <p:extLst>
      <p:ext uri="{BB962C8B-B14F-4D97-AF65-F5344CB8AC3E}">
        <p14:creationId xmlns:p14="http://schemas.microsoft.com/office/powerpoint/2010/main" val="6354728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35</a:t>
            </a:fld>
            <a:endParaRPr lang="zh-CN" altLang="en-US"/>
          </a:p>
        </p:txBody>
      </p:sp>
    </p:spTree>
    <p:extLst>
      <p:ext uri="{BB962C8B-B14F-4D97-AF65-F5344CB8AC3E}">
        <p14:creationId xmlns:p14="http://schemas.microsoft.com/office/powerpoint/2010/main" val="39731652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36</a:t>
            </a:fld>
            <a:endParaRPr lang="zh-CN" altLang="en-US"/>
          </a:p>
        </p:txBody>
      </p:sp>
    </p:spTree>
    <p:extLst>
      <p:ext uri="{BB962C8B-B14F-4D97-AF65-F5344CB8AC3E}">
        <p14:creationId xmlns:p14="http://schemas.microsoft.com/office/powerpoint/2010/main" val="39654415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38</a:t>
            </a:fld>
            <a:endParaRPr lang="zh-CN" altLang="en-US"/>
          </a:p>
        </p:txBody>
      </p:sp>
    </p:spTree>
    <p:extLst>
      <p:ext uri="{BB962C8B-B14F-4D97-AF65-F5344CB8AC3E}">
        <p14:creationId xmlns:p14="http://schemas.microsoft.com/office/powerpoint/2010/main" val="9818627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39</a:t>
            </a:fld>
            <a:endParaRPr lang="zh-CN" altLang="en-US"/>
          </a:p>
        </p:txBody>
      </p:sp>
    </p:spTree>
    <p:extLst>
      <p:ext uri="{BB962C8B-B14F-4D97-AF65-F5344CB8AC3E}">
        <p14:creationId xmlns:p14="http://schemas.microsoft.com/office/powerpoint/2010/main" val="11417482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40</a:t>
            </a:fld>
            <a:endParaRPr lang="zh-CN" altLang="en-US"/>
          </a:p>
        </p:txBody>
      </p:sp>
    </p:spTree>
    <p:extLst>
      <p:ext uri="{BB962C8B-B14F-4D97-AF65-F5344CB8AC3E}">
        <p14:creationId xmlns:p14="http://schemas.microsoft.com/office/powerpoint/2010/main" val="683366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41</a:t>
            </a:fld>
            <a:endParaRPr lang="zh-CN" altLang="en-US"/>
          </a:p>
        </p:txBody>
      </p:sp>
    </p:spTree>
    <p:extLst>
      <p:ext uri="{BB962C8B-B14F-4D97-AF65-F5344CB8AC3E}">
        <p14:creationId xmlns:p14="http://schemas.microsoft.com/office/powerpoint/2010/main" val="41639304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42</a:t>
            </a:fld>
            <a:endParaRPr lang="zh-CN" altLang="en-US"/>
          </a:p>
        </p:txBody>
      </p:sp>
    </p:spTree>
    <p:extLst>
      <p:ext uri="{BB962C8B-B14F-4D97-AF65-F5344CB8AC3E}">
        <p14:creationId xmlns:p14="http://schemas.microsoft.com/office/powerpoint/2010/main" val="30494267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43</a:t>
            </a:fld>
            <a:endParaRPr lang="zh-CN" altLang="en-US"/>
          </a:p>
        </p:txBody>
      </p:sp>
    </p:spTree>
    <p:extLst>
      <p:ext uri="{BB962C8B-B14F-4D97-AF65-F5344CB8AC3E}">
        <p14:creationId xmlns:p14="http://schemas.microsoft.com/office/powerpoint/2010/main" val="10415569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44</a:t>
            </a:fld>
            <a:endParaRPr lang="zh-CN" altLang="en-US"/>
          </a:p>
        </p:txBody>
      </p:sp>
    </p:spTree>
    <p:extLst>
      <p:ext uri="{BB962C8B-B14F-4D97-AF65-F5344CB8AC3E}">
        <p14:creationId xmlns:p14="http://schemas.microsoft.com/office/powerpoint/2010/main" val="15893144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45</a:t>
            </a:fld>
            <a:endParaRPr lang="zh-CN" altLang="en-US"/>
          </a:p>
        </p:txBody>
      </p:sp>
    </p:spTree>
    <p:extLst>
      <p:ext uri="{BB962C8B-B14F-4D97-AF65-F5344CB8AC3E}">
        <p14:creationId xmlns:p14="http://schemas.microsoft.com/office/powerpoint/2010/main" val="19112178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46</a:t>
            </a:fld>
            <a:endParaRPr lang="zh-CN" altLang="en-US"/>
          </a:p>
        </p:txBody>
      </p:sp>
    </p:spTree>
    <p:extLst>
      <p:ext uri="{BB962C8B-B14F-4D97-AF65-F5344CB8AC3E}">
        <p14:creationId xmlns:p14="http://schemas.microsoft.com/office/powerpoint/2010/main" val="39015712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47</a:t>
            </a:fld>
            <a:endParaRPr lang="zh-CN" altLang="en-US"/>
          </a:p>
        </p:txBody>
      </p:sp>
    </p:spTree>
    <p:extLst>
      <p:ext uri="{BB962C8B-B14F-4D97-AF65-F5344CB8AC3E}">
        <p14:creationId xmlns:p14="http://schemas.microsoft.com/office/powerpoint/2010/main" val="6277169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48</a:t>
            </a:fld>
            <a:endParaRPr lang="zh-CN" altLang="en-US"/>
          </a:p>
        </p:txBody>
      </p:sp>
    </p:spTree>
    <p:extLst>
      <p:ext uri="{BB962C8B-B14F-4D97-AF65-F5344CB8AC3E}">
        <p14:creationId xmlns:p14="http://schemas.microsoft.com/office/powerpoint/2010/main" val="22263885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49</a:t>
            </a:fld>
            <a:endParaRPr lang="zh-CN" altLang="en-US"/>
          </a:p>
        </p:txBody>
      </p:sp>
    </p:spTree>
    <p:extLst>
      <p:ext uri="{BB962C8B-B14F-4D97-AF65-F5344CB8AC3E}">
        <p14:creationId xmlns:p14="http://schemas.microsoft.com/office/powerpoint/2010/main" val="29454501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50</a:t>
            </a:fld>
            <a:endParaRPr lang="zh-CN" altLang="en-US"/>
          </a:p>
        </p:txBody>
      </p:sp>
    </p:spTree>
    <p:extLst>
      <p:ext uri="{BB962C8B-B14F-4D97-AF65-F5344CB8AC3E}">
        <p14:creationId xmlns:p14="http://schemas.microsoft.com/office/powerpoint/2010/main" val="33575455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51</a:t>
            </a:fld>
            <a:endParaRPr lang="zh-CN" altLang="en-US"/>
          </a:p>
        </p:txBody>
      </p:sp>
    </p:spTree>
    <p:extLst>
      <p:ext uri="{BB962C8B-B14F-4D97-AF65-F5344CB8AC3E}">
        <p14:creationId xmlns:p14="http://schemas.microsoft.com/office/powerpoint/2010/main" val="12200012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52</a:t>
            </a:fld>
            <a:endParaRPr lang="zh-CN" altLang="en-US"/>
          </a:p>
        </p:txBody>
      </p:sp>
    </p:spTree>
    <p:extLst>
      <p:ext uri="{BB962C8B-B14F-4D97-AF65-F5344CB8AC3E}">
        <p14:creationId xmlns:p14="http://schemas.microsoft.com/office/powerpoint/2010/main" val="213265921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53</a:t>
            </a:fld>
            <a:endParaRPr lang="zh-CN" altLang="en-US"/>
          </a:p>
        </p:txBody>
      </p:sp>
    </p:spTree>
    <p:extLst>
      <p:ext uri="{BB962C8B-B14F-4D97-AF65-F5344CB8AC3E}">
        <p14:creationId xmlns:p14="http://schemas.microsoft.com/office/powerpoint/2010/main" val="265397079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54</a:t>
            </a:fld>
            <a:endParaRPr lang="zh-CN" altLang="en-US"/>
          </a:p>
        </p:txBody>
      </p:sp>
    </p:spTree>
    <p:extLst>
      <p:ext uri="{BB962C8B-B14F-4D97-AF65-F5344CB8AC3E}">
        <p14:creationId xmlns:p14="http://schemas.microsoft.com/office/powerpoint/2010/main" val="30032143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55</a:t>
            </a:fld>
            <a:endParaRPr lang="zh-CN" altLang="en-US"/>
          </a:p>
        </p:txBody>
      </p:sp>
    </p:spTree>
    <p:extLst>
      <p:ext uri="{BB962C8B-B14F-4D97-AF65-F5344CB8AC3E}">
        <p14:creationId xmlns:p14="http://schemas.microsoft.com/office/powerpoint/2010/main" val="301775447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56</a:t>
            </a:fld>
            <a:endParaRPr lang="zh-CN" altLang="en-US"/>
          </a:p>
        </p:txBody>
      </p:sp>
    </p:spTree>
    <p:extLst>
      <p:ext uri="{BB962C8B-B14F-4D97-AF65-F5344CB8AC3E}">
        <p14:creationId xmlns:p14="http://schemas.microsoft.com/office/powerpoint/2010/main" val="232190838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62</a:t>
            </a:fld>
            <a:endParaRPr lang="zh-CN" altLang="en-US"/>
          </a:p>
        </p:txBody>
      </p:sp>
    </p:spTree>
    <p:extLst>
      <p:ext uri="{BB962C8B-B14F-4D97-AF65-F5344CB8AC3E}">
        <p14:creationId xmlns:p14="http://schemas.microsoft.com/office/powerpoint/2010/main" val="202397174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63</a:t>
            </a:fld>
            <a:endParaRPr lang="zh-CN" altLang="en-US"/>
          </a:p>
        </p:txBody>
      </p:sp>
    </p:spTree>
    <p:extLst>
      <p:ext uri="{BB962C8B-B14F-4D97-AF65-F5344CB8AC3E}">
        <p14:creationId xmlns:p14="http://schemas.microsoft.com/office/powerpoint/2010/main" val="249724662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64</a:t>
            </a:fld>
            <a:endParaRPr lang="zh-CN" altLang="en-US"/>
          </a:p>
        </p:txBody>
      </p:sp>
    </p:spTree>
    <p:extLst>
      <p:ext uri="{BB962C8B-B14F-4D97-AF65-F5344CB8AC3E}">
        <p14:creationId xmlns:p14="http://schemas.microsoft.com/office/powerpoint/2010/main" val="386697017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69</a:t>
            </a:fld>
            <a:endParaRPr lang="zh-CN" altLang="en-US"/>
          </a:p>
        </p:txBody>
      </p:sp>
    </p:spTree>
    <p:extLst>
      <p:ext uri="{BB962C8B-B14F-4D97-AF65-F5344CB8AC3E}">
        <p14:creationId xmlns:p14="http://schemas.microsoft.com/office/powerpoint/2010/main" val="354445399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70</a:t>
            </a:fld>
            <a:endParaRPr lang="zh-CN" altLang="en-US"/>
          </a:p>
        </p:txBody>
      </p:sp>
    </p:spTree>
    <p:extLst>
      <p:ext uri="{BB962C8B-B14F-4D97-AF65-F5344CB8AC3E}">
        <p14:creationId xmlns:p14="http://schemas.microsoft.com/office/powerpoint/2010/main" val="349727299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72</a:t>
            </a:fld>
            <a:endParaRPr lang="zh-CN" altLang="en-US"/>
          </a:p>
        </p:txBody>
      </p:sp>
    </p:spTree>
    <p:extLst>
      <p:ext uri="{BB962C8B-B14F-4D97-AF65-F5344CB8AC3E}">
        <p14:creationId xmlns:p14="http://schemas.microsoft.com/office/powerpoint/2010/main" val="151886604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73</a:t>
            </a:fld>
            <a:endParaRPr lang="zh-CN" altLang="en-US"/>
          </a:p>
        </p:txBody>
      </p:sp>
    </p:spTree>
    <p:extLst>
      <p:ext uri="{BB962C8B-B14F-4D97-AF65-F5344CB8AC3E}">
        <p14:creationId xmlns:p14="http://schemas.microsoft.com/office/powerpoint/2010/main" val="345861951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74</a:t>
            </a:fld>
            <a:endParaRPr lang="zh-CN" altLang="en-US"/>
          </a:p>
        </p:txBody>
      </p:sp>
    </p:spTree>
    <p:extLst>
      <p:ext uri="{BB962C8B-B14F-4D97-AF65-F5344CB8AC3E}">
        <p14:creationId xmlns:p14="http://schemas.microsoft.com/office/powerpoint/2010/main" val="2318678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75</a:t>
            </a:fld>
            <a:endParaRPr lang="zh-CN" altLang="en-US"/>
          </a:p>
        </p:txBody>
      </p:sp>
    </p:spTree>
    <p:extLst>
      <p:ext uri="{BB962C8B-B14F-4D97-AF65-F5344CB8AC3E}">
        <p14:creationId xmlns:p14="http://schemas.microsoft.com/office/powerpoint/2010/main" val="258170507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延伸阅读</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76</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本章小结</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77</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结语</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78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结语">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一">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97.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20.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44.png"/><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44.png"/><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44.png"/><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44.png"/><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33.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31.png"/><Relationship Id="rId7" Type="http://schemas.openxmlformats.org/officeDocument/2006/relationships/image" Target="../media/image55.png"/><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54.png"/><Relationship Id="rId5" Type="http://schemas.openxmlformats.org/officeDocument/2006/relationships/image" Target="../media/image52.png"/><Relationship Id="rId10" Type="http://schemas.openxmlformats.org/officeDocument/2006/relationships/image" Target="../media/image50.png"/><Relationship Id="rId4" Type="http://schemas.openxmlformats.org/officeDocument/2006/relationships/image" Target="../media/image53.png"/><Relationship Id="rId9" Type="http://schemas.openxmlformats.org/officeDocument/2006/relationships/image" Target="../media/image48.png"/></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image" Target="../media/image570.png"/><Relationship Id="rId5" Type="http://schemas.openxmlformats.org/officeDocument/2006/relationships/image" Target="../media/image560.png"/><Relationship Id="rId4" Type="http://schemas.openxmlformats.org/officeDocument/2006/relationships/image" Target="../media/image550.png"/></Relationships>
</file>

<file path=ppt/slides/_rels/slide35.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31.png"/><Relationship Id="rId7" Type="http://schemas.openxmlformats.org/officeDocument/2006/relationships/image" Target="../media/image60.pn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59.png"/><Relationship Id="rId5" Type="http://schemas.openxmlformats.org/officeDocument/2006/relationships/image" Target="../media/image580.png"/><Relationship Id="rId4" Type="http://schemas.openxmlformats.org/officeDocument/2006/relationships/image" Target="../media/image510.png"/></Relationships>
</file>

<file path=ppt/slides/_rels/slide3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3.png"/><Relationship Id="rId7" Type="http://schemas.openxmlformats.org/officeDocument/2006/relationships/image" Target="../media/image41.png"/><Relationship Id="rId12" Type="http://schemas.openxmlformats.org/officeDocument/2006/relationships/image" Target="../media/image71.png"/><Relationship Id="rId2" Type="http://schemas.openxmlformats.org/officeDocument/2006/relationships/image" Target="../media/image31.png"/><Relationship Id="rId1" Type="http://schemas.openxmlformats.org/officeDocument/2006/relationships/slideLayout" Target="../slideLayouts/slideLayout3.xml"/><Relationship Id="rId6" Type="http://schemas.openxmlformats.org/officeDocument/2006/relationships/image" Target="../media/image66.png"/><Relationship Id="rId11" Type="http://schemas.openxmlformats.org/officeDocument/2006/relationships/image" Target="../media/image70.png"/><Relationship Id="rId5" Type="http://schemas.openxmlformats.org/officeDocument/2006/relationships/image" Target="../media/image65.png"/><Relationship Id="rId10" Type="http://schemas.openxmlformats.org/officeDocument/2006/relationships/image" Target="../media/image69.png"/><Relationship Id="rId4" Type="http://schemas.openxmlformats.org/officeDocument/2006/relationships/image" Target="../media/image64.png"/><Relationship Id="rId9" Type="http://schemas.openxmlformats.org/officeDocument/2006/relationships/image" Target="../media/image6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73.png"/></Relationships>
</file>

<file path=ppt/slides/_rels/slide4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74.png"/></Relationships>
</file>

<file path=ppt/slides/_rels/slide41.xml.rels><?xml version="1.0" encoding="UTF-8" standalone="yes"?>
<Relationships xmlns="http://schemas.openxmlformats.org/package/2006/relationships"><Relationship Id="rId3" Type="http://schemas.openxmlformats.org/officeDocument/2006/relationships/image" Target="../media/image75.png"/><Relationship Id="rId7" Type="http://schemas.openxmlformats.org/officeDocument/2006/relationships/image" Target="../media/image77.png"/><Relationship Id="rId2" Type="http://schemas.openxmlformats.org/officeDocument/2006/relationships/notesSlide" Target="../notesSlides/notesSlide38.xml"/><Relationship Id="rId1" Type="http://schemas.openxmlformats.org/officeDocument/2006/relationships/slideLayout" Target="../slideLayouts/slideLayout3.xml"/><Relationship Id="rId6" Type="http://schemas.openxmlformats.org/officeDocument/2006/relationships/image" Target="../media/image76.png"/><Relationship Id="rId5" Type="http://schemas.openxmlformats.org/officeDocument/2006/relationships/image" Target="../media/image72.png"/><Relationship Id="rId4" Type="http://schemas.openxmlformats.org/officeDocument/2006/relationships/image" Target="../media/image58.png"/></Relationships>
</file>

<file path=ppt/slides/_rels/slide4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79.png"/></Relationships>
</file>

<file path=ppt/slides/_rels/slide4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3.xml"/><Relationship Id="rId1" Type="http://schemas.openxmlformats.org/officeDocument/2006/relationships/slideLayout" Target="../slideLayouts/slideLayout3.xml"/><Relationship Id="rId5" Type="http://schemas.openxmlformats.org/officeDocument/2006/relationships/image" Target="../media/image700.png"/></Relationships>
</file>

<file path=ppt/slides/_rels/slide47.xml.rels><?xml version="1.0" encoding="UTF-8" standalone="yes"?>
<Relationships xmlns="http://schemas.openxmlformats.org/package/2006/relationships"><Relationship Id="rId3" Type="http://schemas.openxmlformats.org/officeDocument/2006/relationships/image" Target="../media/image83.png"/><Relationship Id="rId7" Type="http://schemas.openxmlformats.org/officeDocument/2006/relationships/image" Target="../media/image89.png"/><Relationship Id="rId2" Type="http://schemas.openxmlformats.org/officeDocument/2006/relationships/notesSlide" Target="../notesSlides/notesSlide44.xml"/><Relationship Id="rId1" Type="http://schemas.openxmlformats.org/officeDocument/2006/relationships/slideLayout" Target="../slideLayouts/slideLayout3.xml"/><Relationship Id="rId6" Type="http://schemas.openxmlformats.org/officeDocument/2006/relationships/image" Target="../media/image85.png"/><Relationship Id="rId5" Type="http://schemas.openxmlformats.org/officeDocument/2006/relationships/image" Target="../media/image87.png"/><Relationship Id="rId4" Type="http://schemas.openxmlformats.org/officeDocument/2006/relationships/image" Target="../media/image84.png"/></Relationships>
</file>

<file path=ppt/slides/_rels/slide4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7.xml"/><Relationship Id="rId1" Type="http://schemas.openxmlformats.org/officeDocument/2006/relationships/slideLayout" Target="../slideLayouts/slideLayout3.xml"/><Relationship Id="rId5" Type="http://schemas.openxmlformats.org/officeDocument/2006/relationships/image" Target="../media/image91.png"/><Relationship Id="rId4" Type="http://schemas.openxmlformats.org/officeDocument/2006/relationships/image" Target="../media/image93.png"/></Relationships>
</file>

<file path=ppt/slides/_rels/slide5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90.png"/></Relationships>
</file>

<file path=ppt/slides/_rels/slide52.xml.rels><?xml version="1.0" encoding="UTF-8" standalone="yes"?>
<Relationships xmlns="http://schemas.openxmlformats.org/package/2006/relationships"><Relationship Id="rId3" Type="http://schemas.openxmlformats.org/officeDocument/2006/relationships/image" Target="../media/image950.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50.xml"/><Relationship Id="rId1" Type="http://schemas.openxmlformats.org/officeDocument/2006/relationships/slideLayout" Target="../slideLayouts/slideLayout3.xml"/><Relationship Id="rId5" Type="http://schemas.openxmlformats.org/officeDocument/2006/relationships/image" Target="../media/image860.png"/><Relationship Id="rId4" Type="http://schemas.openxmlformats.org/officeDocument/2006/relationships/image" Target="../media/image94.png"/></Relationships>
</file>

<file path=ppt/slides/_rels/slide5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2.xml"/><Relationship Id="rId1" Type="http://schemas.openxmlformats.org/officeDocument/2006/relationships/slideLayout" Target="../slideLayouts/slideLayout3.xml"/><Relationship Id="rId4" Type="http://schemas.openxmlformats.org/officeDocument/2006/relationships/image" Target="../media/image96.png"/></Relationships>
</file>

<file path=ppt/slides/_rels/slide5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53.xml"/><Relationship Id="rId1" Type="http://schemas.openxmlformats.org/officeDocument/2006/relationships/slideLayout" Target="../slideLayouts/slideLayout3.xml"/><Relationship Id="rId4" Type="http://schemas.openxmlformats.org/officeDocument/2006/relationships/image" Target="../media/image101.png"/></Relationships>
</file>

<file path=ppt/slides/_rels/slide57.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8.png"/><Relationship Id="rId1" Type="http://schemas.openxmlformats.org/officeDocument/2006/relationships/slideLayout" Target="../slideLayouts/slideLayout3.xml"/><Relationship Id="rId4" Type="http://schemas.openxmlformats.org/officeDocument/2006/relationships/image" Target="../media/image94.png"/></Relationships>
</file>

<file path=ppt/slides/_rels/slide5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92.png"/><Relationship Id="rId1" Type="http://schemas.openxmlformats.org/officeDocument/2006/relationships/slideLayout" Target="../slideLayouts/slideLayout3.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_rels/slide60.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54.xml"/><Relationship Id="rId1" Type="http://schemas.openxmlformats.org/officeDocument/2006/relationships/slideLayout" Target="../slideLayouts/slideLayout3.xml"/><Relationship Id="rId4" Type="http://schemas.openxmlformats.org/officeDocument/2006/relationships/image" Target="../media/image1050.png"/></Relationships>
</file>

<file path=ppt/slides/_rels/slide6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55.xml"/><Relationship Id="rId1" Type="http://schemas.openxmlformats.org/officeDocument/2006/relationships/slideLayout" Target="../slideLayouts/slideLayout3.xml"/><Relationship Id="rId4" Type="http://schemas.openxmlformats.org/officeDocument/2006/relationships/image" Target="../media/image104.png"/></Relationships>
</file>

<file path=ppt/slides/_rels/slide64.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109.png"/><Relationship Id="rId7" Type="http://schemas.openxmlformats.org/officeDocument/2006/relationships/image" Target="../media/image113.png"/><Relationship Id="rId2" Type="http://schemas.openxmlformats.org/officeDocument/2006/relationships/notesSlide" Target="../notesSlides/notesSlide56.xml"/><Relationship Id="rId1" Type="http://schemas.openxmlformats.org/officeDocument/2006/relationships/slideLayout" Target="../slideLayouts/slideLayout3.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s>
</file>

<file path=ppt/slides/_rels/slide65.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3.xml"/><Relationship Id="rId4" Type="http://schemas.openxmlformats.org/officeDocument/2006/relationships/image" Target="../media/image121.png"/></Relationships>
</file>

<file path=ppt/slides/_rels/slide68.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123.png"/><Relationship Id="rId7" Type="http://schemas.openxmlformats.org/officeDocument/2006/relationships/image" Target="../media/image127.png"/><Relationship Id="rId2" Type="http://schemas.openxmlformats.org/officeDocument/2006/relationships/notesSlide" Target="../notesSlides/notesSlide57.xml"/><Relationship Id="rId1" Type="http://schemas.openxmlformats.org/officeDocument/2006/relationships/slideLayout" Target="../slideLayouts/slideLayout3.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70.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58.xml"/><Relationship Id="rId1" Type="http://schemas.openxmlformats.org/officeDocument/2006/relationships/slideLayout" Target="../slideLayouts/slideLayout3.xml"/><Relationship Id="rId5" Type="http://schemas.openxmlformats.org/officeDocument/2006/relationships/image" Target="../media/image131.png"/><Relationship Id="rId4" Type="http://schemas.openxmlformats.org/officeDocument/2006/relationships/image" Target="../media/image129.png"/></Relationships>
</file>

<file path=ppt/slides/_rels/slide71.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59.xml"/><Relationship Id="rId1" Type="http://schemas.openxmlformats.org/officeDocument/2006/relationships/slideLayout" Target="../slideLayouts/slideLayout3.xml"/><Relationship Id="rId4" Type="http://schemas.openxmlformats.org/officeDocument/2006/relationships/image" Target="../media/image134.png"/></Relationships>
</file>

<file path=ppt/slides/_rels/slide73.xml.rels><?xml version="1.0" encoding="UTF-8" standalone="yes"?>
<Relationships xmlns="http://schemas.openxmlformats.org/package/2006/relationships"><Relationship Id="rId3" Type="http://schemas.openxmlformats.org/officeDocument/2006/relationships/image" Target="../media/image1320.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hyperlink" Target="mailto:23020251154393@stu.xmu.edu.cn" TargetMode="External"/><Relationship Id="rId2" Type="http://schemas.openxmlformats.org/officeDocument/2006/relationships/notesSlide" Target="../notesSlides/notesSlide62.xml"/><Relationship Id="rId1" Type="http://schemas.openxmlformats.org/officeDocument/2006/relationships/slideLayout" Target="../slideLayouts/slideLayout3.xml"/><Relationship Id="rId4" Type="http://schemas.openxmlformats.org/officeDocument/2006/relationships/image" Target="../media/image136.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137.png"/></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image" Target="../media/image138.png"/><Relationship Id="rId5" Type="http://schemas.openxmlformats.org/officeDocument/2006/relationships/image" Target="../media/image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7684"/>
        </a:solidFill>
        <a:effectLst/>
      </p:bgPr>
    </p:bg>
    <p:spTree>
      <p:nvGrpSpPr>
        <p:cNvPr id="1" name=""/>
        <p:cNvGrpSpPr/>
        <p:nvPr/>
      </p:nvGrpSpPr>
      <p:grpSpPr>
        <a:xfrm>
          <a:off x="0" y="0"/>
          <a:ext cx="0" cy="0"/>
          <a:chOff x="0" y="0"/>
          <a:chExt cx="0" cy="0"/>
        </a:xfrm>
      </p:grpSpPr>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 y="-46319"/>
            <a:ext cx="12192000" cy="5716503"/>
          </a:xfrm>
          <a:prstGeom prst="rect">
            <a:avLst/>
          </a:prstGeom>
        </p:spPr>
      </p:pic>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7288" t="60187" r="62545" b="13687"/>
          <a:stretch>
            <a:fillRect/>
          </a:stretch>
        </p:blipFill>
        <p:spPr>
          <a:xfrm flipH="1" flipV="1">
            <a:off x="8544560" y="5394960"/>
            <a:ext cx="3677920" cy="1493520"/>
          </a:xfrm>
          <a:prstGeom prst="rect">
            <a:avLst/>
          </a:prstGeom>
        </p:spPr>
      </p:pic>
      <p:pic>
        <p:nvPicPr>
          <p:cNvPr id="15" name="图片 14"/>
          <p:cNvPicPr>
            <a:picLocks noChangeAspect="1"/>
          </p:cNvPicPr>
          <p:nvPr/>
        </p:nvPicPr>
        <p:blipFill rotWithShape="1">
          <a:blip r:embed="rId3" cstate="print">
            <a:extLst>
              <a:ext uri="{28A0092B-C50C-407E-A947-70E740481C1C}">
                <a14:useLocalDpi xmlns:a14="http://schemas.microsoft.com/office/drawing/2010/main" val="0"/>
              </a:ext>
            </a:extLst>
          </a:blip>
          <a:srcRect l="24826" b="55447"/>
          <a:stretch>
            <a:fillRect/>
          </a:stretch>
        </p:blipFill>
        <p:spPr>
          <a:xfrm>
            <a:off x="-132080" y="4453337"/>
            <a:ext cx="9165288" cy="2546903"/>
          </a:xfrm>
          <a:prstGeom prst="rect">
            <a:avLst/>
          </a:prstGeom>
        </p:spPr>
      </p:pic>
      <p:grpSp>
        <p:nvGrpSpPr>
          <p:cNvPr id="12" name="组合 11"/>
          <p:cNvGrpSpPr/>
          <p:nvPr/>
        </p:nvGrpSpPr>
        <p:grpSpPr>
          <a:xfrm>
            <a:off x="-905689" y="342255"/>
            <a:ext cx="14873910" cy="7227071"/>
            <a:chOff x="2275139" y="1708487"/>
            <a:chExt cx="7788686" cy="3784438"/>
          </a:xfrm>
        </p:grpSpPr>
        <p:sp>
          <p:nvSpPr>
            <p:cNvPr id="9" name="六边形 8"/>
            <p:cNvSpPr/>
            <p:nvPr/>
          </p:nvSpPr>
          <p:spPr>
            <a:xfrm rot="5400000">
              <a:off x="5811401" y="1880190"/>
              <a:ext cx="3784438"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单圆角矩形 10"/>
            <p:cNvSpPr/>
            <p:nvPr/>
          </p:nvSpPr>
          <p:spPr>
            <a:xfrm>
              <a:off x="2275139" y="3590090"/>
              <a:ext cx="5733603" cy="45719"/>
            </a:xfrm>
            <a:prstGeom prst="round1Rect">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p:cNvSpPr txBox="1"/>
          <p:nvPr/>
        </p:nvSpPr>
        <p:spPr>
          <a:xfrm>
            <a:off x="2727158" y="2057400"/>
            <a:ext cx="6737684" cy="1015663"/>
          </a:xfrm>
          <a:prstGeom prst="rect">
            <a:avLst/>
          </a:prstGeom>
          <a:noFill/>
        </p:spPr>
        <p:txBody>
          <a:bodyPr wrap="square" rtlCol="0">
            <a:spAutoFit/>
          </a:bodyPr>
          <a:lstStyle/>
          <a:p>
            <a:pPr algn="ctr"/>
            <a:r>
              <a:rPr lang="zh-CN" altLang="en-US" sz="60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人工智能引论</a:t>
            </a:r>
          </a:p>
        </p:txBody>
      </p:sp>
      <p:sp>
        <p:nvSpPr>
          <p:cNvPr id="19" name="文本框 18"/>
          <p:cNvSpPr txBox="1"/>
          <p:nvPr/>
        </p:nvSpPr>
        <p:spPr>
          <a:xfrm rot="1849986">
            <a:off x="8195789" y="4908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99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9900" b="1" dirty="0">
              <a:gradFill>
                <a:gsLst>
                  <a:gs pos="30000">
                    <a:srgbClr val="007684"/>
                  </a:gs>
                  <a:gs pos="83000">
                    <a:srgbClr val="016773"/>
                  </a:gs>
                </a:gsLst>
                <a:lin ang="5400000" scaled="0"/>
              </a:gradFill>
              <a:latin typeface="Bauhaus 93" panose="04030905020B02020C02" pitchFamily="82" charset="0"/>
            </a:endParaRPr>
          </a:p>
        </p:txBody>
      </p:sp>
      <p:sp>
        <p:nvSpPr>
          <p:cNvPr id="2" name="文本框 1">
            <a:extLst>
              <a:ext uri="{FF2B5EF4-FFF2-40B4-BE49-F238E27FC236}">
                <a16:creationId xmlns:a16="http://schemas.microsoft.com/office/drawing/2014/main" id="{DFC26008-4017-4ECE-9DAF-0287E81E8FAB}"/>
              </a:ext>
            </a:extLst>
          </p:cNvPr>
          <p:cNvSpPr txBox="1"/>
          <p:nvPr/>
        </p:nvSpPr>
        <p:spPr>
          <a:xfrm>
            <a:off x="5269479" y="4299065"/>
            <a:ext cx="1653043" cy="430374"/>
          </a:xfrm>
          <a:prstGeom prst="rect">
            <a:avLst/>
          </a:prstGeom>
          <a:noFill/>
        </p:spPr>
        <p:txBody>
          <a:bodyPr wrap="square" rtlCol="0">
            <a:spAutoFit/>
          </a:bodyPr>
          <a:lstStyle/>
          <a:p>
            <a:pPr marL="0" lvl="1" algn="ctr">
              <a:lnSpc>
                <a:spcPct val="120000"/>
              </a:lnSpc>
            </a:pPr>
            <a:r>
              <a:rPr lang="zh-CN" altLang="en-US" sz="200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高俊龙</a:t>
            </a:r>
          </a:p>
        </p:txBody>
      </p:sp>
      <p:sp>
        <p:nvSpPr>
          <p:cNvPr id="3" name="文本框 2">
            <a:extLst>
              <a:ext uri="{FF2B5EF4-FFF2-40B4-BE49-F238E27FC236}">
                <a16:creationId xmlns:a16="http://schemas.microsoft.com/office/drawing/2014/main" id="{4521BB0E-8DBD-7CCB-3A1E-7AE96C64B05D}"/>
              </a:ext>
            </a:extLst>
          </p:cNvPr>
          <p:cNvSpPr txBox="1"/>
          <p:nvPr/>
        </p:nvSpPr>
        <p:spPr>
          <a:xfrm>
            <a:off x="3546133" y="4941202"/>
            <a:ext cx="5099734" cy="396583"/>
          </a:xfrm>
          <a:prstGeom prst="rect">
            <a:avLst/>
          </a:prstGeom>
          <a:noFill/>
        </p:spPr>
        <p:txBody>
          <a:bodyPr wrap="square" rtlCol="0">
            <a:spAutoFit/>
          </a:bodyPr>
          <a:lstStyle/>
          <a:p>
            <a:pPr marL="0" lvl="1" algn="ctr">
              <a:lnSpc>
                <a:spcPct val="120000"/>
              </a:lnSpc>
            </a:pPr>
            <a:r>
              <a:rPr lang="zh-CN" altLang="en-US"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厦门大学信息学院</a:t>
            </a:r>
            <a:endParaRPr lang="en-US" altLang="zh-CN"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130" name="图片 129"/>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128" name="图片 127"/>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92" name="图片 91"/>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8" name="组合 17"/>
          <p:cNvGrpSpPr/>
          <p:nvPr/>
        </p:nvGrpSpPr>
        <p:grpSpPr>
          <a:xfrm>
            <a:off x="10001700" y="2854959"/>
            <a:ext cx="2268815" cy="2101347"/>
            <a:chOff x="6175344" y="342254"/>
            <a:chExt cx="7803037" cy="7227071"/>
          </a:xfrm>
        </p:grpSpPr>
        <p:sp>
          <p:nvSpPr>
            <p:cNvPr id="19" name="六边形 18"/>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9863825" y="4346576"/>
            <a:ext cx="2963878" cy="2745105"/>
            <a:chOff x="6175344" y="342254"/>
            <a:chExt cx="7803037"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3489170" y="3439840"/>
            <a:ext cx="5262979" cy="769441"/>
          </a:xfrm>
          <a:prstGeom prst="rect">
            <a:avLst/>
          </a:prstGeom>
        </p:spPr>
        <p:txBody>
          <a:bodyPr wrap="none">
            <a:spAutoFit/>
          </a:bodyPr>
          <a:lstStyle/>
          <a:p>
            <a:pPr algn="ctr"/>
            <a:r>
              <a:rPr lang="zh-CN" altLang="en-US" sz="4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神经网络与深度学习</a:t>
            </a:r>
            <a:endParaRPr lang="zh-CN" altLang="zh-CN" sz="4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8" name="矩形 7"/>
          <p:cNvSpPr/>
          <p:nvPr/>
        </p:nvSpPr>
        <p:spPr>
          <a:xfrm>
            <a:off x="5311170" y="2445722"/>
            <a:ext cx="1569660" cy="646331"/>
          </a:xfrm>
          <a:prstGeom prst="rect">
            <a:avLst/>
          </a:prstGeom>
        </p:spPr>
        <p:txBody>
          <a:bodyPr wrap="none">
            <a:spAutoFit/>
          </a:bodyPr>
          <a:lstStyle/>
          <a:p>
            <a:pPr algn="ctr"/>
            <a:r>
              <a:rPr lang="zh-CN" altLang="en-US" sz="36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第五章</a:t>
            </a: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cxnSp>
        <p:nvCxnSpPr>
          <p:cNvPr id="9" name="直接连接符 8"/>
          <p:cNvCxnSpPr/>
          <p:nvPr/>
        </p:nvCxnSpPr>
        <p:spPr>
          <a:xfrm>
            <a:off x="3024554" y="3265946"/>
            <a:ext cx="6116350" cy="0"/>
          </a:xfrm>
          <a:prstGeom prst="line">
            <a:avLst/>
          </a:prstGeom>
          <a:ln w="22225">
            <a:solidFill>
              <a:schemeClr val="bg1"/>
            </a:solidFill>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32" name="组合 31"/>
          <p:cNvGrpSpPr/>
          <p:nvPr/>
        </p:nvGrpSpPr>
        <p:grpSpPr>
          <a:xfrm>
            <a:off x="2221671" y="2179434"/>
            <a:ext cx="7748658" cy="2397279"/>
            <a:chOff x="2221671" y="2179434"/>
            <a:chExt cx="7748658" cy="2397279"/>
          </a:xfrm>
        </p:grpSpPr>
        <p:sp>
          <p:nvSpPr>
            <p:cNvPr id="6" name="标题 9801"/>
            <p:cNvSpPr txBox="1"/>
            <p:nvPr/>
          </p:nvSpPr>
          <p:spPr>
            <a:xfrm rot="16200000">
              <a:off x="8719085" y="3325468"/>
              <a:ext cx="2397277" cy="105210"/>
            </a:xfrm>
            <a:prstGeom prst="parallelogram">
              <a:avLst>
                <a:gd name="adj" fmla="val 98875"/>
              </a:avLst>
            </a:prstGeom>
            <a:gradFill flip="none" rotWithShape="1">
              <a:gsLst>
                <a:gs pos="100000">
                  <a:srgbClr val="016773"/>
                </a:gs>
                <a:gs pos="0">
                  <a:srgbClr val="00ABA5"/>
                </a:gs>
              </a:gsLst>
              <a:lin ang="6000000" scaled="0"/>
              <a:tileRect/>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10" name="标题 9801"/>
            <p:cNvSpPr txBox="1"/>
            <p:nvPr/>
          </p:nvSpPr>
          <p:spPr>
            <a:xfrm flipH="1">
              <a:off x="2221671" y="4468236"/>
              <a:ext cx="7748657" cy="108477"/>
            </a:xfrm>
            <a:prstGeom prst="parallelogram">
              <a:avLst>
                <a:gd name="adj" fmla="val 102209"/>
              </a:avLst>
            </a:prstGeom>
            <a:gradFill>
              <a:gsLst>
                <a:gs pos="55000">
                  <a:srgbClr val="016773"/>
                </a:gs>
                <a:gs pos="0">
                  <a:srgbClr val="00ABA5"/>
                </a:gs>
                <a:gs pos="100000">
                  <a:srgbClr val="00ABA5"/>
                </a:gs>
              </a:gsLst>
              <a:lin ang="6000000" scaled="0"/>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cxnSp>
          <p:nvCxnSpPr>
            <p:cNvPr id="11" name="直接连接符 10"/>
            <p:cNvCxnSpPr/>
            <p:nvPr/>
          </p:nvCxnSpPr>
          <p:spPr>
            <a:xfrm flipH="1">
              <a:off x="2221671" y="2179434"/>
              <a:ext cx="76428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flipH="1">
              <a:off x="10768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2222317" y="4468236"/>
              <a:ext cx="7642800" cy="0"/>
            </a:xfrm>
            <a:prstGeom prst="line">
              <a:avLst/>
            </a:prstGeom>
            <a:ln w="15875" cap="rnd">
              <a:gradFill>
                <a:gsLst>
                  <a:gs pos="0">
                    <a:schemeClr val="bg1">
                      <a:alpha val="0"/>
                    </a:schemeClr>
                  </a:gs>
                  <a:gs pos="100000">
                    <a:schemeClr val="bg1"/>
                  </a:gs>
                </a:gsLst>
                <a:lin ang="3600000" scaled="0"/>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5400000" flipH="1">
              <a:off x="87196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8933514" y="5200219"/>
            <a:ext cx="1549536" cy="1435160"/>
            <a:chOff x="6175344" y="342254"/>
            <a:chExt cx="7803037" cy="7227071"/>
          </a:xfrm>
        </p:grpSpPr>
        <p:sp>
          <p:nvSpPr>
            <p:cNvPr id="22" name="六边形 2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875295" y="-875664"/>
            <a:ext cx="2974038" cy="2745105"/>
            <a:chOff x="6175344" y="342254"/>
            <a:chExt cx="7829785" cy="7227071"/>
          </a:xfrm>
        </p:grpSpPr>
        <p:sp>
          <p:nvSpPr>
            <p:cNvPr id="25" name="六边形 2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平行四边形 2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1259840" y="635784"/>
            <a:ext cx="823697" cy="760292"/>
            <a:chOff x="6175344" y="342254"/>
            <a:chExt cx="7829785" cy="7227071"/>
          </a:xfrm>
        </p:grpSpPr>
        <p:sp>
          <p:nvSpPr>
            <p:cNvPr id="28" name="六边形 2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0" y="2500444"/>
            <a:ext cx="12192000" cy="4357556"/>
          </a:xfrm>
          <a:prstGeom prst="rect">
            <a:avLst/>
          </a:prstGeom>
          <a:pattFill prst="dashUpDiag">
            <a:fgClr>
              <a:schemeClr val="bg1">
                <a:lumMod val="95000"/>
              </a:schemeClr>
            </a:fgClr>
            <a:bgClr>
              <a:schemeClr val="bg1"/>
            </a:bgClr>
          </a:pattFill>
          <a:ln>
            <a:noFill/>
          </a:ln>
          <a:effectLst>
            <a:innerShdw blurRad="279400" dist="25400">
              <a:prstClr val="black">
                <a:alpha val="3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1327129" y="3867301"/>
            <a:ext cx="9709192" cy="2481715"/>
            <a:chOff x="1241404" y="3150817"/>
            <a:chExt cx="9709192" cy="2481715"/>
          </a:xfrm>
        </p:grpSpPr>
        <p:grpSp>
          <p:nvGrpSpPr>
            <p:cNvPr id="9" name="组合 8"/>
            <p:cNvGrpSpPr/>
            <p:nvPr/>
          </p:nvGrpSpPr>
          <p:grpSpPr>
            <a:xfrm>
              <a:off x="1241404" y="3150817"/>
              <a:ext cx="9709192" cy="2481715"/>
              <a:chOff x="1685472" y="920193"/>
              <a:chExt cx="9759953" cy="4937875"/>
            </a:xfrm>
          </p:grpSpPr>
          <p:sp>
            <p:nvSpPr>
              <p:cNvPr id="11" name="矩形: 圆顶角 38"/>
              <p:cNvSpPr/>
              <p:nvPr/>
            </p:nvSpPr>
            <p:spPr>
              <a:xfrm rot="16200000">
                <a:off x="4361101" y="-1226256"/>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圆顶角 39"/>
              <p:cNvSpPr/>
              <p:nvPr/>
            </p:nvSpPr>
            <p:spPr>
              <a:xfrm rot="16200000">
                <a:off x="4265598" y="-1381975"/>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矩形: 圆顶角 40"/>
              <p:cNvSpPr/>
              <p:nvPr/>
            </p:nvSpPr>
            <p:spPr>
              <a:xfrm rot="16200000">
                <a:off x="4154777" y="-1549112"/>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cxnSp>
          <p:nvCxnSpPr>
            <p:cNvPr id="10" name="直接连接符 9"/>
            <p:cNvCxnSpPr/>
            <p:nvPr/>
          </p:nvCxnSpPr>
          <p:spPr>
            <a:xfrm flipV="1">
              <a:off x="1305272" y="3499098"/>
              <a:ext cx="0" cy="1579796"/>
            </a:xfrm>
            <a:prstGeom prst="line">
              <a:avLst/>
            </a:prstGeom>
            <a:ln w="152400">
              <a:solidFill>
                <a:srgbClr val="007684"/>
              </a:solidFill>
            </a:ln>
            <a:effectLst>
              <a:outerShdw blurRad="635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3" name="矩形 2"/>
          <p:cNvSpPr/>
          <p:nvPr/>
        </p:nvSpPr>
        <p:spPr>
          <a:xfrm>
            <a:off x="1327129" y="1331721"/>
            <a:ext cx="7924801" cy="2032211"/>
          </a:xfrm>
          <a:prstGeom prst="rect">
            <a:avLst/>
          </a:prstGeom>
          <a:gradFill>
            <a:gsLst>
              <a:gs pos="0">
                <a:srgbClr val="0093A2"/>
              </a:gs>
              <a:gs pos="100000">
                <a:srgbClr val="222222">
                  <a:alpha val="0"/>
                </a:srgbClr>
              </a:gs>
              <a:gs pos="96000">
                <a:srgbClr val="222222"/>
              </a:gs>
              <a:gs pos="36000">
                <a:srgbClr val="01717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582141" y="1518829"/>
            <a:ext cx="7136366" cy="1082604"/>
          </a:xfrm>
          <a:prstGeom prst="rect">
            <a:avLst/>
          </a:prstGeom>
        </p:spPr>
        <p:txBody>
          <a:bodyPr wrap="square">
            <a:spAutoFit/>
          </a:bodyPr>
          <a:lstStyle/>
          <a:p>
            <a:pPr indent="575945" algn="just">
              <a:lnSpc>
                <a:spcPct val="130000"/>
              </a:lnSpc>
              <a:spcBef>
                <a:spcPts val="600"/>
              </a:spcBef>
            </a:pPr>
            <a:r>
              <a:rPr lang="en-US" altLang="zh-CN" sz="2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Neurons that fire together, wire together</a:t>
            </a:r>
          </a:p>
          <a:p>
            <a:pPr indent="575945" algn="just">
              <a:lnSpc>
                <a:spcPct val="130000"/>
              </a:lnSpc>
              <a:spcBef>
                <a:spcPts val="600"/>
              </a:spcBef>
            </a:pPr>
            <a:r>
              <a:rPr lang="en-US" altLang="zh-CN" sz="2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                                      </a:t>
            </a:r>
            <a:r>
              <a:rPr lang="en-US" altLang="zh-CN" b="1" dirty="0">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a:t>
            </a:r>
            <a:r>
              <a:rPr lang="en-US" altLang="zh-CN" b="1" dirty="0">
                <a:solidFill>
                  <a:schemeClr val="bg1"/>
                </a:solidFill>
              </a:rPr>
              <a:t>Donald Hebb</a:t>
            </a:r>
            <a:endParaRPr lang="zh-CN" altLang="en-US"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6" name="矩形 5"/>
          <p:cNvSpPr/>
          <p:nvPr/>
        </p:nvSpPr>
        <p:spPr>
          <a:xfrm>
            <a:off x="1504507" y="3940814"/>
            <a:ext cx="9360364" cy="1895391"/>
          </a:xfrm>
          <a:prstGeom prst="rect">
            <a:avLst/>
          </a:prstGeom>
        </p:spPr>
        <p:txBody>
          <a:bodyPr wrap="square">
            <a:spAutoFit/>
          </a:bodyPr>
          <a:lstStyle/>
          <a:p>
            <a:pPr>
              <a:lnSpc>
                <a:spcPct val="150000"/>
              </a:lnSpc>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深度学习模型受到了神经系统层次化结构特性的启发，以</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层层递进、逐层抽象</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机制来完成特定任务。 </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1949</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年心理学家唐纳德</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赫布提出了有名的赫布理论</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(Hebbian theory</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神经元</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之间持续重复经验刺激可导致突触传递效能增加</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(Neurons that fire together, wire together)</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，即学习和记忆的本质是大脑结构在后期经验刺激下改变神经元之间强弱联结的权重的结果。</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a:extLst>
              <a:ext uri="{FF2B5EF4-FFF2-40B4-BE49-F238E27FC236}">
                <a16:creationId xmlns:a16="http://schemas.microsoft.com/office/drawing/2014/main" id="{880B037A-65A7-4011-8412-D0E93A3FC552}"/>
              </a:ext>
            </a:extLst>
          </p:cNvPr>
          <p:cNvPicPr>
            <a:picLocks noChangeAspect="1"/>
          </p:cNvPicPr>
          <p:nvPr/>
        </p:nvPicPr>
        <p:blipFill>
          <a:blip r:embed="rId3"/>
          <a:stretch>
            <a:fillRect/>
          </a:stretch>
        </p:blipFill>
        <p:spPr>
          <a:xfrm>
            <a:off x="9214180" y="1342207"/>
            <a:ext cx="1937171" cy="203221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3E73718C-AD17-D87C-0F63-6DB4E75F34AB}"/>
              </a:ext>
            </a:extLst>
          </p:cNvPr>
          <p:cNvPicPr>
            <a:picLocks noChangeAspect="1"/>
          </p:cNvPicPr>
          <p:nvPr/>
        </p:nvPicPr>
        <p:blipFill>
          <a:blip r:embed="rId2"/>
          <a:stretch>
            <a:fillRect/>
          </a:stretch>
        </p:blipFill>
        <p:spPr>
          <a:xfrm>
            <a:off x="5817326" y="1135921"/>
            <a:ext cx="3509556" cy="2028381"/>
          </a:xfrm>
          <a:prstGeom prst="rect">
            <a:avLst/>
          </a:prstGeom>
        </p:spPr>
      </p:pic>
      <p:pic>
        <p:nvPicPr>
          <p:cNvPr id="8" name="图片 7">
            <a:extLst>
              <a:ext uri="{FF2B5EF4-FFF2-40B4-BE49-F238E27FC236}">
                <a16:creationId xmlns:a16="http://schemas.microsoft.com/office/drawing/2014/main" id="{CB3D3D5E-69B8-14B2-C4AC-7CF775CD7773}"/>
              </a:ext>
            </a:extLst>
          </p:cNvPr>
          <p:cNvPicPr>
            <a:picLocks noChangeAspect="1"/>
          </p:cNvPicPr>
          <p:nvPr/>
        </p:nvPicPr>
        <p:blipFill>
          <a:blip r:embed="rId3"/>
          <a:stretch>
            <a:fillRect/>
          </a:stretch>
        </p:blipFill>
        <p:spPr>
          <a:xfrm>
            <a:off x="1286531" y="908810"/>
            <a:ext cx="3581879" cy="4828903"/>
          </a:xfrm>
          <a:prstGeom prst="rect">
            <a:avLst/>
          </a:prstGeom>
        </p:spPr>
      </p:pic>
      <p:pic>
        <p:nvPicPr>
          <p:cNvPr id="10" name="图片 9">
            <a:extLst>
              <a:ext uri="{FF2B5EF4-FFF2-40B4-BE49-F238E27FC236}">
                <a16:creationId xmlns:a16="http://schemas.microsoft.com/office/drawing/2014/main" id="{F00CEAA5-4CFC-7DBD-34E9-7ED403C29D2A}"/>
              </a:ext>
            </a:extLst>
          </p:cNvPr>
          <p:cNvPicPr>
            <a:picLocks noChangeAspect="1"/>
          </p:cNvPicPr>
          <p:nvPr/>
        </p:nvPicPr>
        <p:blipFill>
          <a:blip r:embed="rId4"/>
          <a:stretch>
            <a:fillRect/>
          </a:stretch>
        </p:blipFill>
        <p:spPr>
          <a:xfrm>
            <a:off x="5572960" y="3391413"/>
            <a:ext cx="4311794" cy="2174585"/>
          </a:xfrm>
          <a:prstGeom prst="rect">
            <a:avLst/>
          </a:prstGeom>
        </p:spPr>
      </p:pic>
      <p:sp>
        <p:nvSpPr>
          <p:cNvPr id="11" name="文本框 10">
            <a:extLst>
              <a:ext uri="{FF2B5EF4-FFF2-40B4-BE49-F238E27FC236}">
                <a16:creationId xmlns:a16="http://schemas.microsoft.com/office/drawing/2014/main" id="{21F031C8-26AD-EFFC-F7CA-1447807CBB43}"/>
              </a:ext>
            </a:extLst>
          </p:cNvPr>
          <p:cNvSpPr txBox="1"/>
          <p:nvPr/>
        </p:nvSpPr>
        <p:spPr>
          <a:xfrm>
            <a:off x="7132320" y="951255"/>
            <a:ext cx="1193074" cy="369332"/>
          </a:xfrm>
          <a:prstGeom prst="rect">
            <a:avLst/>
          </a:prstGeom>
          <a:noFill/>
        </p:spPr>
        <p:txBody>
          <a:bodyPr wrap="square" rtlCol="0">
            <a:spAutoFit/>
          </a:bodyPr>
          <a:lstStyle/>
          <a:p>
            <a:r>
              <a:rPr lang="zh-CN" altLang="en-US" b="1" dirty="0"/>
              <a:t>神经网络</a:t>
            </a:r>
          </a:p>
        </p:txBody>
      </p:sp>
      <p:sp>
        <p:nvSpPr>
          <p:cNvPr id="12" name="文本框 11">
            <a:extLst>
              <a:ext uri="{FF2B5EF4-FFF2-40B4-BE49-F238E27FC236}">
                <a16:creationId xmlns:a16="http://schemas.microsoft.com/office/drawing/2014/main" id="{03BE04D9-A7A7-0521-1842-1932BCB27D48}"/>
              </a:ext>
            </a:extLst>
          </p:cNvPr>
          <p:cNvSpPr txBox="1"/>
          <p:nvPr/>
        </p:nvSpPr>
        <p:spPr>
          <a:xfrm>
            <a:off x="93457" y="1965445"/>
            <a:ext cx="1193074" cy="369332"/>
          </a:xfrm>
          <a:prstGeom prst="rect">
            <a:avLst/>
          </a:prstGeom>
          <a:noFill/>
        </p:spPr>
        <p:txBody>
          <a:bodyPr wrap="square" rtlCol="0">
            <a:spAutoFit/>
          </a:bodyPr>
          <a:lstStyle/>
          <a:p>
            <a:r>
              <a:rPr lang="zh-CN" altLang="en-US" b="1" dirty="0"/>
              <a:t>生理学</a:t>
            </a:r>
          </a:p>
        </p:txBody>
      </p:sp>
      <p:sp>
        <p:nvSpPr>
          <p:cNvPr id="13" name="文本框 12">
            <a:extLst>
              <a:ext uri="{FF2B5EF4-FFF2-40B4-BE49-F238E27FC236}">
                <a16:creationId xmlns:a16="http://schemas.microsoft.com/office/drawing/2014/main" id="{C010A6EF-738B-7931-2A07-7E2E0BEF6324}"/>
              </a:ext>
            </a:extLst>
          </p:cNvPr>
          <p:cNvSpPr txBox="1"/>
          <p:nvPr/>
        </p:nvSpPr>
        <p:spPr>
          <a:xfrm>
            <a:off x="117245" y="4294039"/>
            <a:ext cx="1415464" cy="369332"/>
          </a:xfrm>
          <a:prstGeom prst="rect">
            <a:avLst/>
          </a:prstGeom>
          <a:noFill/>
        </p:spPr>
        <p:txBody>
          <a:bodyPr wrap="square" rtlCol="0">
            <a:spAutoFit/>
          </a:bodyPr>
          <a:lstStyle/>
          <a:p>
            <a:r>
              <a:rPr lang="zh-CN" altLang="en-US" b="1" dirty="0"/>
              <a:t>人工智能</a:t>
            </a:r>
          </a:p>
        </p:txBody>
      </p:sp>
    </p:spTree>
    <p:extLst>
      <p:ext uri="{BB962C8B-B14F-4D97-AF65-F5344CB8AC3E}">
        <p14:creationId xmlns:p14="http://schemas.microsoft.com/office/powerpoint/2010/main" val="4012449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D6FBCF9-6BA6-6103-9E0B-4367320D4AF9}"/>
              </a:ext>
            </a:extLst>
          </p:cNvPr>
          <p:cNvPicPr>
            <a:picLocks noChangeAspect="1"/>
          </p:cNvPicPr>
          <p:nvPr/>
        </p:nvPicPr>
        <p:blipFill>
          <a:blip r:embed="rId2"/>
          <a:stretch>
            <a:fillRect/>
          </a:stretch>
        </p:blipFill>
        <p:spPr>
          <a:xfrm>
            <a:off x="2159727" y="353070"/>
            <a:ext cx="7292578" cy="4691308"/>
          </a:xfrm>
          <a:prstGeom prst="rect">
            <a:avLst/>
          </a:prstGeom>
        </p:spPr>
      </p:pic>
      <p:sp>
        <p:nvSpPr>
          <p:cNvPr id="7" name="文本框 6">
            <a:extLst>
              <a:ext uri="{FF2B5EF4-FFF2-40B4-BE49-F238E27FC236}">
                <a16:creationId xmlns:a16="http://schemas.microsoft.com/office/drawing/2014/main" id="{74635719-016B-AC93-7A15-F5E9CF6FE4E0}"/>
              </a:ext>
            </a:extLst>
          </p:cNvPr>
          <p:cNvSpPr txBox="1"/>
          <p:nvPr/>
        </p:nvSpPr>
        <p:spPr>
          <a:xfrm>
            <a:off x="1051136" y="5366044"/>
            <a:ext cx="9509760" cy="923330"/>
          </a:xfrm>
          <a:prstGeom prst="rect">
            <a:avLst/>
          </a:prstGeom>
          <a:noFill/>
        </p:spPr>
        <p:txBody>
          <a:bodyPr wrap="square">
            <a:spAutoFit/>
          </a:bodyPr>
          <a:lstStyle/>
          <a:p>
            <a:r>
              <a:rPr lang="zh-CN" altLang="en-US" dirty="0"/>
              <a:t>赫布理论（英语：</a:t>
            </a:r>
            <a:r>
              <a:rPr lang="en-US" altLang="zh-CN" dirty="0"/>
              <a:t>Hebbian theory</a:t>
            </a:r>
            <a:r>
              <a:rPr lang="zh-CN" altLang="en-US" dirty="0"/>
              <a:t>）是一个神经科学理论，解释了在学习的过程中脑中的神经元所发生的变化。赫布理论描述了突触可塑性的基本原理，即突触前神经元向突触后神经元的持续重复的刺激，可以导致突触传递效能的增加。</a:t>
            </a:r>
          </a:p>
        </p:txBody>
      </p:sp>
    </p:spTree>
    <p:extLst>
      <p:ext uri="{BB962C8B-B14F-4D97-AF65-F5344CB8AC3E}">
        <p14:creationId xmlns:p14="http://schemas.microsoft.com/office/powerpoint/2010/main" val="2479456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sp>
        <p:nvSpPr>
          <p:cNvPr id="2" name="标题 9801"/>
          <p:cNvSpPr txBox="1"/>
          <p:nvPr/>
        </p:nvSpPr>
        <p:spPr>
          <a:xfrm flipV="1">
            <a:off x="0" y="729000"/>
            <a:ext cx="11615165" cy="5400000"/>
          </a:xfrm>
          <a:prstGeom prst="cube">
            <a:avLst>
              <a:gd name="adj" fmla="val 1804"/>
            </a:avLst>
          </a:prstGeom>
          <a:pattFill prst="ltHorz">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5" name="六边形 4"/>
          <p:cNvSpPr/>
          <p:nvPr/>
        </p:nvSpPr>
        <p:spPr>
          <a:xfrm rot="5400000">
            <a:off x="-5678865" y="-723361"/>
            <a:ext cx="9564253" cy="8696378"/>
          </a:xfrm>
          <a:prstGeom prst="hexagon">
            <a:avLst>
              <a:gd name="adj" fmla="val 30493"/>
              <a:gd name="vf" fmla="val 115470"/>
            </a:avLst>
          </a:prstGeom>
          <a:gradFill>
            <a:gsLst>
              <a:gs pos="77000">
                <a:srgbClr val="016773"/>
              </a:gs>
              <a:gs pos="100000">
                <a:srgbClr val="007684"/>
              </a:gs>
            </a:gsLst>
            <a:lin ang="5400000" scaled="0"/>
          </a:gradFill>
          <a:ln>
            <a:noFill/>
          </a:ln>
          <a:effectLst>
            <a:outerShdw blurRad="698500" dist="165100" algn="l" rotWithShape="0">
              <a:srgbClr val="013F4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p:cNvSpPr/>
          <p:nvPr/>
        </p:nvSpPr>
        <p:spPr>
          <a:xfrm rot="19714174">
            <a:off x="-2503449" y="2643987"/>
            <a:ext cx="7581286" cy="4086054"/>
          </a:xfrm>
          <a:prstGeom prst="parallelogram">
            <a:avLst>
              <a:gd name="adj" fmla="val 61032"/>
            </a:avLst>
          </a:prstGeom>
          <a:solidFill>
            <a:srgbClr val="00ABA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320891" y="2740372"/>
            <a:ext cx="540023" cy="1384403"/>
          </a:xfrm>
          <a:custGeom>
            <a:avLst/>
            <a:gdLst/>
            <a:ahLst/>
            <a:cxnLst/>
            <a:rect l="l" t="t" r="r" b="b"/>
            <a:pathLst>
              <a:path w="540023" h="1384403">
                <a:moveTo>
                  <a:pt x="195374" y="1232620"/>
                </a:moveTo>
                <a:lnTo>
                  <a:pt x="204155" y="1247987"/>
                </a:lnTo>
                <a:cubicBezTo>
                  <a:pt x="132445" y="1288964"/>
                  <a:pt x="80491" y="1317502"/>
                  <a:pt x="48295" y="1333600"/>
                </a:cubicBezTo>
                <a:cubicBezTo>
                  <a:pt x="42441" y="1337991"/>
                  <a:pt x="37319" y="1336527"/>
                  <a:pt x="32928" y="1329210"/>
                </a:cubicBezTo>
                <a:cubicBezTo>
                  <a:pt x="27074" y="1321892"/>
                  <a:pt x="16830" y="1305062"/>
                  <a:pt x="2195" y="1278720"/>
                </a:cubicBezTo>
                <a:cubicBezTo>
                  <a:pt x="732" y="1277256"/>
                  <a:pt x="0" y="1275793"/>
                  <a:pt x="0" y="1274329"/>
                </a:cubicBezTo>
                <a:close/>
                <a:moveTo>
                  <a:pt x="458800" y="863824"/>
                </a:moveTo>
                <a:cubicBezTo>
                  <a:pt x="460264" y="862361"/>
                  <a:pt x="463190" y="863092"/>
                  <a:pt x="467581" y="866019"/>
                </a:cubicBezTo>
                <a:cubicBezTo>
                  <a:pt x="470508" y="867483"/>
                  <a:pt x="474167" y="870410"/>
                  <a:pt x="478557" y="874800"/>
                </a:cubicBezTo>
                <a:cubicBezTo>
                  <a:pt x="500509" y="892362"/>
                  <a:pt x="515144" y="903338"/>
                  <a:pt x="522461" y="907728"/>
                </a:cubicBezTo>
                <a:cubicBezTo>
                  <a:pt x="528315" y="912119"/>
                  <a:pt x="530510" y="915778"/>
                  <a:pt x="529047" y="918705"/>
                </a:cubicBezTo>
                <a:cubicBezTo>
                  <a:pt x="529047" y="920168"/>
                  <a:pt x="526120" y="922363"/>
                  <a:pt x="520266" y="925290"/>
                </a:cubicBezTo>
                <a:cubicBezTo>
                  <a:pt x="511485" y="928217"/>
                  <a:pt x="507826" y="934071"/>
                  <a:pt x="509290" y="942852"/>
                </a:cubicBezTo>
                <a:cubicBezTo>
                  <a:pt x="509290" y="1112615"/>
                  <a:pt x="508558" y="1223839"/>
                  <a:pt x="507095" y="1276525"/>
                </a:cubicBezTo>
                <a:cubicBezTo>
                  <a:pt x="507095" y="1314575"/>
                  <a:pt x="500509" y="1336527"/>
                  <a:pt x="487338" y="1342381"/>
                </a:cubicBezTo>
                <a:cubicBezTo>
                  <a:pt x="477093" y="1351162"/>
                  <a:pt x="467581" y="1361406"/>
                  <a:pt x="458800" y="1373114"/>
                </a:cubicBezTo>
                <a:cubicBezTo>
                  <a:pt x="450019" y="1381895"/>
                  <a:pt x="442702" y="1385554"/>
                  <a:pt x="436848" y="1384090"/>
                </a:cubicBezTo>
                <a:cubicBezTo>
                  <a:pt x="432457" y="1381163"/>
                  <a:pt x="430994" y="1373846"/>
                  <a:pt x="432457" y="1362138"/>
                </a:cubicBezTo>
                <a:cubicBezTo>
                  <a:pt x="436848" y="1347503"/>
                  <a:pt x="433921" y="1337259"/>
                  <a:pt x="423677" y="1331405"/>
                </a:cubicBezTo>
                <a:cubicBezTo>
                  <a:pt x="413432" y="1321161"/>
                  <a:pt x="392212" y="1307989"/>
                  <a:pt x="360015" y="1291891"/>
                </a:cubicBezTo>
                <a:lnTo>
                  <a:pt x="366601" y="1278720"/>
                </a:lnTo>
                <a:lnTo>
                  <a:pt x="443434" y="1294086"/>
                </a:lnTo>
                <a:cubicBezTo>
                  <a:pt x="447824" y="1276525"/>
                  <a:pt x="450019" y="1152861"/>
                  <a:pt x="450019" y="923095"/>
                </a:cubicBezTo>
                <a:lnTo>
                  <a:pt x="278792" y="929681"/>
                </a:lnTo>
                <a:lnTo>
                  <a:pt x="274402" y="1221644"/>
                </a:lnTo>
                <a:cubicBezTo>
                  <a:pt x="302208" y="1173349"/>
                  <a:pt x="323428" y="1130177"/>
                  <a:pt x="338063" y="1092127"/>
                </a:cubicBezTo>
                <a:cubicBezTo>
                  <a:pt x="323428" y="1061394"/>
                  <a:pt x="305135" y="1027002"/>
                  <a:pt x="283183" y="988951"/>
                </a:cubicBezTo>
                <a:lnTo>
                  <a:pt x="296354" y="980171"/>
                </a:lnTo>
                <a:cubicBezTo>
                  <a:pt x="318306" y="1005050"/>
                  <a:pt x="337332" y="1028465"/>
                  <a:pt x="353430" y="1050417"/>
                </a:cubicBezTo>
                <a:cubicBezTo>
                  <a:pt x="357820" y="1038710"/>
                  <a:pt x="362211" y="1026270"/>
                  <a:pt x="366601" y="1013099"/>
                </a:cubicBezTo>
                <a:cubicBezTo>
                  <a:pt x="373918" y="986756"/>
                  <a:pt x="378309" y="966999"/>
                  <a:pt x="379772" y="953828"/>
                </a:cubicBezTo>
                <a:cubicBezTo>
                  <a:pt x="379772" y="947974"/>
                  <a:pt x="384163" y="947242"/>
                  <a:pt x="392944" y="951633"/>
                </a:cubicBezTo>
                <a:cubicBezTo>
                  <a:pt x="397334" y="956023"/>
                  <a:pt x="406847" y="961877"/>
                  <a:pt x="421481" y="969194"/>
                </a:cubicBezTo>
                <a:cubicBezTo>
                  <a:pt x="427335" y="972121"/>
                  <a:pt x="430994" y="974317"/>
                  <a:pt x="432457" y="975780"/>
                </a:cubicBezTo>
                <a:cubicBezTo>
                  <a:pt x="436848" y="977244"/>
                  <a:pt x="436848" y="983098"/>
                  <a:pt x="432457" y="993342"/>
                </a:cubicBezTo>
                <a:cubicBezTo>
                  <a:pt x="430994" y="997732"/>
                  <a:pt x="428067" y="1004318"/>
                  <a:pt x="423677" y="1013099"/>
                </a:cubicBezTo>
                <a:cubicBezTo>
                  <a:pt x="420750" y="1021880"/>
                  <a:pt x="417823" y="1028465"/>
                  <a:pt x="414896" y="1032856"/>
                </a:cubicBezTo>
                <a:cubicBezTo>
                  <a:pt x="406115" y="1054808"/>
                  <a:pt x="397334" y="1075297"/>
                  <a:pt x="388553" y="1094322"/>
                </a:cubicBezTo>
                <a:cubicBezTo>
                  <a:pt x="413432" y="1127982"/>
                  <a:pt x="430994" y="1153593"/>
                  <a:pt x="441238" y="1171154"/>
                </a:cubicBezTo>
                <a:cubicBezTo>
                  <a:pt x="448556" y="1182862"/>
                  <a:pt x="448556" y="1193838"/>
                  <a:pt x="441238" y="1204082"/>
                </a:cubicBezTo>
                <a:cubicBezTo>
                  <a:pt x="429531" y="1224571"/>
                  <a:pt x="417823" y="1239206"/>
                  <a:pt x="406115" y="1247987"/>
                </a:cubicBezTo>
                <a:cubicBezTo>
                  <a:pt x="391480" y="1211400"/>
                  <a:pt x="376845" y="1175545"/>
                  <a:pt x="362211" y="1140421"/>
                </a:cubicBezTo>
                <a:cubicBezTo>
                  <a:pt x="338795" y="1179935"/>
                  <a:pt x="308794" y="1216522"/>
                  <a:pt x="272207" y="1250182"/>
                </a:cubicBezTo>
                <a:lnTo>
                  <a:pt x="272207" y="1337991"/>
                </a:lnTo>
                <a:cubicBezTo>
                  <a:pt x="272207" y="1346771"/>
                  <a:pt x="269280" y="1351894"/>
                  <a:pt x="263426" y="1353357"/>
                </a:cubicBezTo>
                <a:cubicBezTo>
                  <a:pt x="248791" y="1363602"/>
                  <a:pt x="234156" y="1370919"/>
                  <a:pt x="219522" y="1375309"/>
                </a:cubicBezTo>
                <a:cubicBezTo>
                  <a:pt x="212204" y="1376773"/>
                  <a:pt x="209277" y="1373846"/>
                  <a:pt x="210741" y="1366528"/>
                </a:cubicBezTo>
                <a:cubicBezTo>
                  <a:pt x="213668" y="1307989"/>
                  <a:pt x="216595" y="1202619"/>
                  <a:pt x="219522" y="1050417"/>
                </a:cubicBezTo>
                <a:cubicBezTo>
                  <a:pt x="220985" y="1005050"/>
                  <a:pt x="221717" y="975048"/>
                  <a:pt x="221717" y="960414"/>
                </a:cubicBezTo>
                <a:cubicBezTo>
                  <a:pt x="221717" y="932608"/>
                  <a:pt x="221717" y="906265"/>
                  <a:pt x="221717" y="881386"/>
                </a:cubicBezTo>
                <a:cubicBezTo>
                  <a:pt x="221717" y="876995"/>
                  <a:pt x="222449" y="874800"/>
                  <a:pt x="223912" y="874800"/>
                </a:cubicBezTo>
                <a:cubicBezTo>
                  <a:pt x="223912" y="873337"/>
                  <a:pt x="226107" y="873337"/>
                  <a:pt x="230498" y="874800"/>
                </a:cubicBezTo>
                <a:cubicBezTo>
                  <a:pt x="242206" y="879191"/>
                  <a:pt x="259035" y="887972"/>
                  <a:pt x="280988" y="901143"/>
                </a:cubicBezTo>
                <a:lnTo>
                  <a:pt x="434653" y="894557"/>
                </a:lnTo>
                <a:cubicBezTo>
                  <a:pt x="434653" y="894557"/>
                  <a:pt x="435384" y="894557"/>
                  <a:pt x="436848" y="894557"/>
                </a:cubicBezTo>
                <a:cubicBezTo>
                  <a:pt x="445629" y="893094"/>
                  <a:pt x="450019" y="890167"/>
                  <a:pt x="450019" y="885776"/>
                </a:cubicBezTo>
                <a:cubicBezTo>
                  <a:pt x="452946" y="882849"/>
                  <a:pt x="454410" y="878459"/>
                  <a:pt x="454410" y="872605"/>
                </a:cubicBezTo>
                <a:cubicBezTo>
                  <a:pt x="455873" y="866751"/>
                  <a:pt x="457337" y="863824"/>
                  <a:pt x="458800" y="863824"/>
                </a:cubicBezTo>
                <a:close/>
                <a:moveTo>
                  <a:pt x="111956" y="857239"/>
                </a:moveTo>
                <a:cubicBezTo>
                  <a:pt x="113420" y="855775"/>
                  <a:pt x="115615" y="856507"/>
                  <a:pt x="118542" y="859434"/>
                </a:cubicBezTo>
                <a:cubicBezTo>
                  <a:pt x="120005" y="860897"/>
                  <a:pt x="123664" y="863092"/>
                  <a:pt x="129518" y="866019"/>
                </a:cubicBezTo>
                <a:cubicBezTo>
                  <a:pt x="155860" y="880654"/>
                  <a:pt x="170495" y="889435"/>
                  <a:pt x="173422" y="892362"/>
                </a:cubicBezTo>
                <a:cubicBezTo>
                  <a:pt x="177813" y="895289"/>
                  <a:pt x="177081" y="899679"/>
                  <a:pt x="171227" y="905533"/>
                </a:cubicBezTo>
                <a:cubicBezTo>
                  <a:pt x="166836" y="909924"/>
                  <a:pt x="158787" y="919436"/>
                  <a:pt x="147080" y="934071"/>
                </a:cubicBezTo>
                <a:cubicBezTo>
                  <a:pt x="110493" y="980902"/>
                  <a:pt x="81223" y="1013099"/>
                  <a:pt x="59271" y="1030660"/>
                </a:cubicBezTo>
                <a:lnTo>
                  <a:pt x="131713" y="1021880"/>
                </a:lnTo>
                <a:cubicBezTo>
                  <a:pt x="136103" y="1014562"/>
                  <a:pt x="139762" y="1007977"/>
                  <a:pt x="142689" y="1002123"/>
                </a:cubicBezTo>
                <a:cubicBezTo>
                  <a:pt x="150006" y="988951"/>
                  <a:pt x="155860" y="975048"/>
                  <a:pt x="160251" y="960414"/>
                </a:cubicBezTo>
                <a:cubicBezTo>
                  <a:pt x="161714" y="957487"/>
                  <a:pt x="163178" y="956023"/>
                  <a:pt x="164641" y="956023"/>
                </a:cubicBezTo>
                <a:cubicBezTo>
                  <a:pt x="164641" y="954560"/>
                  <a:pt x="166105" y="955292"/>
                  <a:pt x="169032" y="958218"/>
                </a:cubicBezTo>
                <a:cubicBezTo>
                  <a:pt x="193911" y="974317"/>
                  <a:pt x="209277" y="986024"/>
                  <a:pt x="215131" y="993342"/>
                </a:cubicBezTo>
                <a:cubicBezTo>
                  <a:pt x="217326" y="994074"/>
                  <a:pt x="218424" y="995537"/>
                  <a:pt x="218424" y="997732"/>
                </a:cubicBezTo>
                <a:cubicBezTo>
                  <a:pt x="218424" y="999927"/>
                  <a:pt x="217326" y="1002854"/>
                  <a:pt x="215131" y="1006513"/>
                </a:cubicBezTo>
                <a:cubicBezTo>
                  <a:pt x="212204" y="1009440"/>
                  <a:pt x="207814" y="1014562"/>
                  <a:pt x="201960" y="1021880"/>
                </a:cubicBezTo>
                <a:cubicBezTo>
                  <a:pt x="194643" y="1029197"/>
                  <a:pt x="189520" y="1035051"/>
                  <a:pt x="186593" y="1039441"/>
                </a:cubicBezTo>
                <a:cubicBezTo>
                  <a:pt x="154397" y="1084809"/>
                  <a:pt x="121469" y="1123591"/>
                  <a:pt x="87809" y="1155788"/>
                </a:cubicBezTo>
                <a:lnTo>
                  <a:pt x="190984" y="1140421"/>
                </a:lnTo>
                <a:lnTo>
                  <a:pt x="199765" y="1160178"/>
                </a:lnTo>
                <a:lnTo>
                  <a:pt x="87809" y="1199692"/>
                </a:lnTo>
                <a:cubicBezTo>
                  <a:pt x="67320" y="1208473"/>
                  <a:pt x="54149" y="1215790"/>
                  <a:pt x="48295" y="1221644"/>
                </a:cubicBezTo>
                <a:lnTo>
                  <a:pt x="15367" y="1162373"/>
                </a:lnTo>
                <a:cubicBezTo>
                  <a:pt x="34392" y="1159447"/>
                  <a:pt x="48295" y="1150666"/>
                  <a:pt x="57076" y="1136031"/>
                </a:cubicBezTo>
                <a:cubicBezTo>
                  <a:pt x="76101" y="1109688"/>
                  <a:pt x="94394" y="1083346"/>
                  <a:pt x="111956" y="1057003"/>
                </a:cubicBezTo>
                <a:lnTo>
                  <a:pt x="68052" y="1070174"/>
                </a:lnTo>
                <a:cubicBezTo>
                  <a:pt x="51954" y="1076028"/>
                  <a:pt x="39514" y="1082614"/>
                  <a:pt x="30733" y="1089931"/>
                </a:cubicBezTo>
                <a:lnTo>
                  <a:pt x="0" y="1037246"/>
                </a:lnTo>
                <a:cubicBezTo>
                  <a:pt x="13171" y="1032856"/>
                  <a:pt x="23416" y="1026270"/>
                  <a:pt x="30733" y="1017489"/>
                </a:cubicBezTo>
                <a:cubicBezTo>
                  <a:pt x="61466" y="967731"/>
                  <a:pt x="82687" y="928949"/>
                  <a:pt x="94394" y="901143"/>
                </a:cubicBezTo>
                <a:cubicBezTo>
                  <a:pt x="101712" y="885045"/>
                  <a:pt x="106834" y="871873"/>
                  <a:pt x="109761" y="861629"/>
                </a:cubicBezTo>
                <a:cubicBezTo>
                  <a:pt x="111224" y="858702"/>
                  <a:pt x="111956" y="857239"/>
                  <a:pt x="111956" y="857239"/>
                </a:cubicBezTo>
                <a:close/>
                <a:moveTo>
                  <a:pt x="498314" y="233425"/>
                </a:moveTo>
                <a:cubicBezTo>
                  <a:pt x="501241" y="236352"/>
                  <a:pt x="504900" y="240011"/>
                  <a:pt x="509290" y="244402"/>
                </a:cubicBezTo>
                <a:cubicBezTo>
                  <a:pt x="518071" y="254646"/>
                  <a:pt x="524656" y="261231"/>
                  <a:pt x="529047" y="264158"/>
                </a:cubicBezTo>
                <a:cubicBezTo>
                  <a:pt x="531974" y="267085"/>
                  <a:pt x="532706" y="270012"/>
                  <a:pt x="531242" y="272939"/>
                </a:cubicBezTo>
                <a:cubicBezTo>
                  <a:pt x="529779" y="274403"/>
                  <a:pt x="526852" y="275135"/>
                  <a:pt x="522461" y="275135"/>
                </a:cubicBezTo>
                <a:cubicBezTo>
                  <a:pt x="510753" y="273671"/>
                  <a:pt x="490997" y="273671"/>
                  <a:pt x="463190" y="275135"/>
                </a:cubicBezTo>
                <a:cubicBezTo>
                  <a:pt x="445629" y="275135"/>
                  <a:pt x="431726" y="275135"/>
                  <a:pt x="421481" y="275135"/>
                </a:cubicBezTo>
                <a:lnTo>
                  <a:pt x="381968" y="277330"/>
                </a:lnTo>
                <a:cubicBezTo>
                  <a:pt x="387821" y="278793"/>
                  <a:pt x="390017" y="280988"/>
                  <a:pt x="388553" y="283915"/>
                </a:cubicBezTo>
                <a:lnTo>
                  <a:pt x="388553" y="336601"/>
                </a:lnTo>
                <a:lnTo>
                  <a:pt x="436848" y="334405"/>
                </a:lnTo>
                <a:cubicBezTo>
                  <a:pt x="442702" y="332942"/>
                  <a:pt x="452214" y="331478"/>
                  <a:pt x="465386" y="330015"/>
                </a:cubicBezTo>
                <a:cubicBezTo>
                  <a:pt x="478557" y="328551"/>
                  <a:pt x="487338" y="327820"/>
                  <a:pt x="491728" y="327820"/>
                </a:cubicBezTo>
                <a:cubicBezTo>
                  <a:pt x="500509" y="336601"/>
                  <a:pt x="508558" y="344650"/>
                  <a:pt x="515876" y="351967"/>
                </a:cubicBezTo>
                <a:cubicBezTo>
                  <a:pt x="518803" y="354894"/>
                  <a:pt x="520266" y="357089"/>
                  <a:pt x="520266" y="358553"/>
                </a:cubicBezTo>
                <a:cubicBezTo>
                  <a:pt x="518803" y="360016"/>
                  <a:pt x="515876" y="360748"/>
                  <a:pt x="511485" y="360748"/>
                </a:cubicBezTo>
                <a:cubicBezTo>
                  <a:pt x="492460" y="360748"/>
                  <a:pt x="475630" y="361480"/>
                  <a:pt x="460995" y="362943"/>
                </a:cubicBezTo>
                <a:lnTo>
                  <a:pt x="388553" y="367334"/>
                </a:lnTo>
                <a:lnTo>
                  <a:pt x="388553" y="446361"/>
                </a:lnTo>
                <a:cubicBezTo>
                  <a:pt x="426604" y="452215"/>
                  <a:pt x="477093" y="452947"/>
                  <a:pt x="540023" y="448556"/>
                </a:cubicBezTo>
                <a:lnTo>
                  <a:pt x="537828" y="463923"/>
                </a:lnTo>
                <a:cubicBezTo>
                  <a:pt x="523193" y="472704"/>
                  <a:pt x="507095" y="487339"/>
                  <a:pt x="489533" y="507827"/>
                </a:cubicBezTo>
                <a:cubicBezTo>
                  <a:pt x="485143" y="518072"/>
                  <a:pt x="475630" y="521730"/>
                  <a:pt x="460995" y="518803"/>
                </a:cubicBezTo>
                <a:cubicBezTo>
                  <a:pt x="358552" y="518803"/>
                  <a:pt x="289769" y="483680"/>
                  <a:pt x="254645" y="413433"/>
                </a:cubicBezTo>
                <a:cubicBezTo>
                  <a:pt x="235620" y="463191"/>
                  <a:pt x="200496" y="503437"/>
                  <a:pt x="149275" y="534170"/>
                </a:cubicBezTo>
                <a:lnTo>
                  <a:pt x="140494" y="525389"/>
                </a:lnTo>
                <a:cubicBezTo>
                  <a:pt x="172690" y="477094"/>
                  <a:pt x="193911" y="425141"/>
                  <a:pt x="204155" y="369529"/>
                </a:cubicBezTo>
                <a:cubicBezTo>
                  <a:pt x="208546" y="346113"/>
                  <a:pt x="210741" y="325624"/>
                  <a:pt x="210741" y="308063"/>
                </a:cubicBezTo>
                <a:cubicBezTo>
                  <a:pt x="210741" y="303672"/>
                  <a:pt x="211473" y="301477"/>
                  <a:pt x="212936" y="301477"/>
                </a:cubicBezTo>
                <a:cubicBezTo>
                  <a:pt x="214399" y="300014"/>
                  <a:pt x="217326" y="300014"/>
                  <a:pt x="221717" y="301477"/>
                </a:cubicBezTo>
                <a:cubicBezTo>
                  <a:pt x="239279" y="307331"/>
                  <a:pt x="256840" y="313185"/>
                  <a:pt x="274402" y="319039"/>
                </a:cubicBezTo>
                <a:cubicBezTo>
                  <a:pt x="278792" y="323429"/>
                  <a:pt x="280256" y="327820"/>
                  <a:pt x="278792" y="332210"/>
                </a:cubicBezTo>
                <a:cubicBezTo>
                  <a:pt x="278792" y="335137"/>
                  <a:pt x="276597" y="342454"/>
                  <a:pt x="272207" y="354162"/>
                </a:cubicBezTo>
                <a:cubicBezTo>
                  <a:pt x="267816" y="367334"/>
                  <a:pt x="264889" y="376846"/>
                  <a:pt x="263426" y="382700"/>
                </a:cubicBezTo>
                <a:cubicBezTo>
                  <a:pt x="280988" y="401725"/>
                  <a:pt x="300745" y="416360"/>
                  <a:pt x="322697" y="426604"/>
                </a:cubicBezTo>
                <a:lnTo>
                  <a:pt x="322697" y="279525"/>
                </a:lnTo>
                <a:lnTo>
                  <a:pt x="285378" y="279525"/>
                </a:lnTo>
                <a:cubicBezTo>
                  <a:pt x="266353" y="279525"/>
                  <a:pt x="238547" y="280988"/>
                  <a:pt x="201960" y="283915"/>
                </a:cubicBezTo>
                <a:lnTo>
                  <a:pt x="180008" y="250987"/>
                </a:lnTo>
                <a:cubicBezTo>
                  <a:pt x="194643" y="250987"/>
                  <a:pt x="218790" y="250255"/>
                  <a:pt x="252450" y="248792"/>
                </a:cubicBezTo>
                <a:cubicBezTo>
                  <a:pt x="265621" y="248792"/>
                  <a:pt x="273670" y="248792"/>
                  <a:pt x="276597" y="248792"/>
                </a:cubicBezTo>
                <a:lnTo>
                  <a:pt x="406115" y="244402"/>
                </a:lnTo>
                <a:cubicBezTo>
                  <a:pt x="409042" y="244402"/>
                  <a:pt x="413432" y="244402"/>
                  <a:pt x="419286" y="244402"/>
                </a:cubicBezTo>
                <a:cubicBezTo>
                  <a:pt x="457337" y="241475"/>
                  <a:pt x="483679" y="237816"/>
                  <a:pt x="498314" y="233425"/>
                </a:cubicBezTo>
                <a:close/>
                <a:moveTo>
                  <a:pt x="377577" y="136836"/>
                </a:moveTo>
                <a:lnTo>
                  <a:pt x="289769" y="141226"/>
                </a:lnTo>
                <a:lnTo>
                  <a:pt x="289769" y="178545"/>
                </a:lnTo>
                <a:lnTo>
                  <a:pt x="384163" y="174155"/>
                </a:lnTo>
                <a:cubicBezTo>
                  <a:pt x="395871" y="174155"/>
                  <a:pt x="406115" y="173423"/>
                  <a:pt x="414896" y="171959"/>
                </a:cubicBezTo>
                <a:lnTo>
                  <a:pt x="414896" y="136836"/>
                </a:lnTo>
                <a:cubicBezTo>
                  <a:pt x="406115" y="136836"/>
                  <a:pt x="393675" y="136836"/>
                  <a:pt x="377577" y="136836"/>
                </a:cubicBezTo>
                <a:close/>
                <a:moveTo>
                  <a:pt x="417091" y="68784"/>
                </a:moveTo>
                <a:lnTo>
                  <a:pt x="289769" y="73175"/>
                </a:lnTo>
                <a:lnTo>
                  <a:pt x="289769" y="112689"/>
                </a:lnTo>
                <a:lnTo>
                  <a:pt x="370991" y="108298"/>
                </a:lnTo>
                <a:cubicBezTo>
                  <a:pt x="375382" y="108298"/>
                  <a:pt x="381968" y="107566"/>
                  <a:pt x="390748" y="106103"/>
                </a:cubicBezTo>
                <a:cubicBezTo>
                  <a:pt x="398066" y="106103"/>
                  <a:pt x="403188" y="106103"/>
                  <a:pt x="406115" y="106103"/>
                </a:cubicBezTo>
                <a:cubicBezTo>
                  <a:pt x="409042" y="110493"/>
                  <a:pt x="412701" y="114884"/>
                  <a:pt x="417091" y="119274"/>
                </a:cubicBezTo>
                <a:close/>
                <a:moveTo>
                  <a:pt x="423677" y="11709"/>
                </a:moveTo>
                <a:cubicBezTo>
                  <a:pt x="425140" y="10245"/>
                  <a:pt x="428067" y="10977"/>
                  <a:pt x="432457" y="13904"/>
                </a:cubicBezTo>
                <a:cubicBezTo>
                  <a:pt x="439775" y="19758"/>
                  <a:pt x="451483" y="28539"/>
                  <a:pt x="467581" y="40247"/>
                </a:cubicBezTo>
                <a:cubicBezTo>
                  <a:pt x="480752" y="47564"/>
                  <a:pt x="488801" y="52686"/>
                  <a:pt x="491728" y="55613"/>
                </a:cubicBezTo>
                <a:cubicBezTo>
                  <a:pt x="497582" y="60003"/>
                  <a:pt x="500509" y="63662"/>
                  <a:pt x="500509" y="66589"/>
                </a:cubicBezTo>
                <a:cubicBezTo>
                  <a:pt x="500509" y="69516"/>
                  <a:pt x="497582" y="71711"/>
                  <a:pt x="491728" y="73175"/>
                </a:cubicBezTo>
                <a:cubicBezTo>
                  <a:pt x="482947" y="76102"/>
                  <a:pt x="479289" y="81956"/>
                  <a:pt x="480752" y="90736"/>
                </a:cubicBezTo>
                <a:cubicBezTo>
                  <a:pt x="479289" y="106835"/>
                  <a:pt x="478557" y="141226"/>
                  <a:pt x="478557" y="193912"/>
                </a:cubicBezTo>
                <a:cubicBezTo>
                  <a:pt x="478557" y="198302"/>
                  <a:pt x="477825" y="201229"/>
                  <a:pt x="476362" y="202692"/>
                </a:cubicBezTo>
                <a:cubicBezTo>
                  <a:pt x="467581" y="207083"/>
                  <a:pt x="450019" y="212937"/>
                  <a:pt x="423677" y="220254"/>
                </a:cubicBezTo>
                <a:cubicBezTo>
                  <a:pt x="416359" y="221718"/>
                  <a:pt x="413432" y="219522"/>
                  <a:pt x="414896" y="213668"/>
                </a:cubicBezTo>
                <a:lnTo>
                  <a:pt x="414896" y="202692"/>
                </a:lnTo>
                <a:cubicBezTo>
                  <a:pt x="407578" y="202692"/>
                  <a:pt x="399529" y="202692"/>
                  <a:pt x="390748" y="202692"/>
                </a:cubicBezTo>
                <a:lnTo>
                  <a:pt x="289769" y="207083"/>
                </a:lnTo>
                <a:cubicBezTo>
                  <a:pt x="289769" y="212937"/>
                  <a:pt x="288305" y="216595"/>
                  <a:pt x="285378" y="218059"/>
                </a:cubicBezTo>
                <a:cubicBezTo>
                  <a:pt x="266353" y="225376"/>
                  <a:pt x="248791" y="230498"/>
                  <a:pt x="232693" y="233425"/>
                </a:cubicBezTo>
                <a:cubicBezTo>
                  <a:pt x="229766" y="234889"/>
                  <a:pt x="227571" y="234889"/>
                  <a:pt x="226107" y="233425"/>
                </a:cubicBezTo>
                <a:cubicBezTo>
                  <a:pt x="226107" y="233425"/>
                  <a:pt x="226107" y="231962"/>
                  <a:pt x="226107" y="229035"/>
                </a:cubicBezTo>
                <a:cubicBezTo>
                  <a:pt x="226107" y="218791"/>
                  <a:pt x="226107" y="196839"/>
                  <a:pt x="226107" y="163179"/>
                </a:cubicBezTo>
                <a:cubicBezTo>
                  <a:pt x="227571" y="123665"/>
                  <a:pt x="228302" y="95859"/>
                  <a:pt x="228302" y="79760"/>
                </a:cubicBezTo>
                <a:cubicBezTo>
                  <a:pt x="228302" y="63662"/>
                  <a:pt x="228302" y="47564"/>
                  <a:pt x="228302" y="31466"/>
                </a:cubicBezTo>
                <a:cubicBezTo>
                  <a:pt x="226839" y="27075"/>
                  <a:pt x="226839" y="24148"/>
                  <a:pt x="228302" y="22685"/>
                </a:cubicBezTo>
                <a:cubicBezTo>
                  <a:pt x="229766" y="21221"/>
                  <a:pt x="231961" y="21221"/>
                  <a:pt x="234888" y="22685"/>
                </a:cubicBezTo>
                <a:cubicBezTo>
                  <a:pt x="243669" y="25612"/>
                  <a:pt x="258304" y="31466"/>
                  <a:pt x="278792" y="40247"/>
                </a:cubicBezTo>
                <a:cubicBezTo>
                  <a:pt x="283183" y="41710"/>
                  <a:pt x="286842" y="43173"/>
                  <a:pt x="289769" y="44637"/>
                </a:cubicBezTo>
                <a:lnTo>
                  <a:pt x="406115" y="40247"/>
                </a:lnTo>
                <a:cubicBezTo>
                  <a:pt x="410505" y="40247"/>
                  <a:pt x="414164" y="38051"/>
                  <a:pt x="417091" y="33661"/>
                </a:cubicBezTo>
                <a:cubicBezTo>
                  <a:pt x="420018" y="29270"/>
                  <a:pt x="421481" y="24148"/>
                  <a:pt x="421481" y="18294"/>
                </a:cubicBezTo>
                <a:cubicBezTo>
                  <a:pt x="422945" y="13904"/>
                  <a:pt x="423677" y="11709"/>
                  <a:pt x="423677" y="11709"/>
                </a:cubicBezTo>
                <a:close/>
                <a:moveTo>
                  <a:pt x="83418" y="733"/>
                </a:moveTo>
                <a:cubicBezTo>
                  <a:pt x="84882" y="-731"/>
                  <a:pt x="88540" y="1"/>
                  <a:pt x="94394" y="2928"/>
                </a:cubicBezTo>
                <a:cubicBezTo>
                  <a:pt x="114883" y="8782"/>
                  <a:pt x="132445" y="16099"/>
                  <a:pt x="147080" y="24880"/>
                </a:cubicBezTo>
                <a:cubicBezTo>
                  <a:pt x="151470" y="26343"/>
                  <a:pt x="153665" y="30002"/>
                  <a:pt x="153665" y="35856"/>
                </a:cubicBezTo>
                <a:cubicBezTo>
                  <a:pt x="152202" y="46100"/>
                  <a:pt x="151470" y="65857"/>
                  <a:pt x="151470" y="95127"/>
                </a:cubicBezTo>
                <a:lnTo>
                  <a:pt x="151470" y="123665"/>
                </a:lnTo>
                <a:cubicBezTo>
                  <a:pt x="166105" y="120738"/>
                  <a:pt x="180008" y="118543"/>
                  <a:pt x="193179" y="117079"/>
                </a:cubicBezTo>
                <a:cubicBezTo>
                  <a:pt x="201960" y="127323"/>
                  <a:pt x="210009" y="136104"/>
                  <a:pt x="217326" y="143422"/>
                </a:cubicBezTo>
                <a:cubicBezTo>
                  <a:pt x="218790" y="146349"/>
                  <a:pt x="219522" y="148544"/>
                  <a:pt x="219522" y="150007"/>
                </a:cubicBezTo>
                <a:cubicBezTo>
                  <a:pt x="218058" y="151471"/>
                  <a:pt x="215131" y="152202"/>
                  <a:pt x="210741" y="152202"/>
                </a:cubicBezTo>
                <a:cubicBezTo>
                  <a:pt x="187325" y="152202"/>
                  <a:pt x="168300" y="152934"/>
                  <a:pt x="153665" y="154398"/>
                </a:cubicBezTo>
                <a:lnTo>
                  <a:pt x="151470" y="154398"/>
                </a:lnTo>
                <a:cubicBezTo>
                  <a:pt x="151470" y="179277"/>
                  <a:pt x="151470" y="204888"/>
                  <a:pt x="151470" y="231230"/>
                </a:cubicBezTo>
                <a:lnTo>
                  <a:pt x="206350" y="211473"/>
                </a:lnTo>
                <a:lnTo>
                  <a:pt x="212936" y="222449"/>
                </a:lnTo>
                <a:cubicBezTo>
                  <a:pt x="195374" y="235621"/>
                  <a:pt x="174886" y="250255"/>
                  <a:pt x="151470" y="266354"/>
                </a:cubicBezTo>
                <a:cubicBezTo>
                  <a:pt x="151470" y="279525"/>
                  <a:pt x="151470" y="291965"/>
                  <a:pt x="151470" y="303672"/>
                </a:cubicBezTo>
                <a:cubicBezTo>
                  <a:pt x="150006" y="375383"/>
                  <a:pt x="145616" y="419287"/>
                  <a:pt x="138299" y="435385"/>
                </a:cubicBezTo>
                <a:cubicBezTo>
                  <a:pt x="128054" y="467582"/>
                  <a:pt x="110493" y="496119"/>
                  <a:pt x="85614" y="520999"/>
                </a:cubicBezTo>
                <a:cubicBezTo>
                  <a:pt x="73906" y="531243"/>
                  <a:pt x="65857" y="534902"/>
                  <a:pt x="61466" y="531975"/>
                </a:cubicBezTo>
                <a:cubicBezTo>
                  <a:pt x="57076" y="529048"/>
                  <a:pt x="57076" y="520267"/>
                  <a:pt x="61466" y="505632"/>
                </a:cubicBezTo>
                <a:cubicBezTo>
                  <a:pt x="64393" y="490997"/>
                  <a:pt x="62198" y="480021"/>
                  <a:pt x="54881" y="472704"/>
                </a:cubicBezTo>
                <a:cubicBezTo>
                  <a:pt x="46100" y="460996"/>
                  <a:pt x="29270" y="444898"/>
                  <a:pt x="4391" y="424409"/>
                </a:cubicBezTo>
                <a:lnTo>
                  <a:pt x="13171" y="413433"/>
                </a:lnTo>
                <a:lnTo>
                  <a:pt x="74637" y="435385"/>
                </a:lnTo>
                <a:cubicBezTo>
                  <a:pt x="79028" y="410506"/>
                  <a:pt x="82687" y="370260"/>
                  <a:pt x="85614" y="314648"/>
                </a:cubicBezTo>
                <a:cubicBezTo>
                  <a:pt x="82687" y="316112"/>
                  <a:pt x="78296" y="319039"/>
                  <a:pt x="72442" y="323429"/>
                </a:cubicBezTo>
                <a:cubicBezTo>
                  <a:pt x="63661" y="329283"/>
                  <a:pt x="57076" y="333674"/>
                  <a:pt x="52685" y="336601"/>
                </a:cubicBezTo>
                <a:cubicBezTo>
                  <a:pt x="48295" y="339527"/>
                  <a:pt x="44636" y="339527"/>
                  <a:pt x="41709" y="336601"/>
                </a:cubicBezTo>
                <a:cubicBezTo>
                  <a:pt x="41709" y="338064"/>
                  <a:pt x="40977" y="338064"/>
                  <a:pt x="39514" y="336601"/>
                </a:cubicBezTo>
                <a:cubicBezTo>
                  <a:pt x="38051" y="333674"/>
                  <a:pt x="35124" y="330015"/>
                  <a:pt x="30733" y="325624"/>
                </a:cubicBezTo>
                <a:cubicBezTo>
                  <a:pt x="17562" y="308063"/>
                  <a:pt x="8781" y="293428"/>
                  <a:pt x="4391" y="281720"/>
                </a:cubicBezTo>
                <a:lnTo>
                  <a:pt x="85614" y="253182"/>
                </a:lnTo>
                <a:cubicBezTo>
                  <a:pt x="85614" y="222449"/>
                  <a:pt x="85614" y="190985"/>
                  <a:pt x="85614" y="158788"/>
                </a:cubicBezTo>
                <a:lnTo>
                  <a:pt x="74637" y="158788"/>
                </a:lnTo>
                <a:cubicBezTo>
                  <a:pt x="57076" y="161715"/>
                  <a:pt x="40977" y="163179"/>
                  <a:pt x="26343" y="163179"/>
                </a:cubicBezTo>
                <a:lnTo>
                  <a:pt x="6586" y="132446"/>
                </a:lnTo>
                <a:cubicBezTo>
                  <a:pt x="15367" y="132446"/>
                  <a:pt x="27806" y="131714"/>
                  <a:pt x="43904" y="130250"/>
                </a:cubicBezTo>
                <a:cubicBezTo>
                  <a:pt x="54149" y="130250"/>
                  <a:pt x="61466" y="130250"/>
                  <a:pt x="65857" y="130250"/>
                </a:cubicBezTo>
                <a:lnTo>
                  <a:pt x="85614" y="128055"/>
                </a:lnTo>
                <a:lnTo>
                  <a:pt x="85614" y="95127"/>
                </a:lnTo>
                <a:cubicBezTo>
                  <a:pt x="85614" y="55613"/>
                  <a:pt x="84882" y="27807"/>
                  <a:pt x="83418" y="11709"/>
                </a:cubicBezTo>
                <a:cubicBezTo>
                  <a:pt x="81955" y="5855"/>
                  <a:pt x="81955" y="2196"/>
                  <a:pt x="83418" y="733"/>
                </a:cubicBezTo>
                <a:close/>
              </a:path>
            </a:pathLst>
          </a:custGeom>
          <a:solidFill>
            <a:schemeClr val="bg1"/>
          </a:solidFill>
          <a:ln>
            <a:noFill/>
          </a:ln>
          <a:effectLst>
            <a:outerShdw blurRad="38100" dist="38100" dir="2700000" algn="tl">
              <a:srgbClr val="000000">
                <a:alpha val="43137"/>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4400" dirty="0">
              <a:solidFill>
                <a:schemeClr val="bg1"/>
              </a:solidFill>
              <a:effectLst>
                <a:outerShdw blurRad="38100" dist="38100" dir="2700000" algn="tl">
                  <a:srgbClr val="000000">
                    <a:alpha val="43137"/>
                  </a:srgbClr>
                </a:outerShdw>
              </a:effectLst>
              <a:latin typeface="方正颜宋简体_中" panose="02000000000000000000" pitchFamily="2" charset="-122"/>
              <a:ea typeface="方正颜宋简体_中" panose="02000000000000000000" pitchFamily="2" charset="-122"/>
              <a:cs typeface="方正颜宋简体_中" panose="02000000000000000000" pitchFamily="2" charset="-122"/>
            </a:endParaRPr>
          </a:p>
        </p:txBody>
      </p:sp>
      <p:sp>
        <p:nvSpPr>
          <p:cNvPr id="9" name="文本框 8"/>
          <p:cNvSpPr txBox="1"/>
          <p:nvPr/>
        </p:nvSpPr>
        <p:spPr>
          <a:xfrm>
            <a:off x="4006680" y="1638547"/>
            <a:ext cx="6533560" cy="3972562"/>
          </a:xfrm>
          <a:prstGeom prst="rect">
            <a:avLst/>
          </a:prstGeom>
          <a:noFill/>
        </p:spPr>
        <p:txBody>
          <a:bodyPr wrap="square" rtlCol="0">
            <a:spAutoFit/>
          </a:bodyPr>
          <a:lstStyle/>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一、前馈神经网络与参数优化</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二、卷积神经网络</a:t>
            </a:r>
            <a:endPar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三、循环神经网络</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四、注意力机制与正则化</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五、自然语言和计算机视觉应用</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人工神经网络概述</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sp>
        <p:nvSpPr>
          <p:cNvPr id="24" name="矩形: 圆角 6">
            <a:extLst>
              <a:ext uri="{FF2B5EF4-FFF2-40B4-BE49-F238E27FC236}">
                <a16:creationId xmlns:a16="http://schemas.microsoft.com/office/drawing/2014/main" id="{15B72201-1606-4C88-8F91-839FBCDACE0A}"/>
              </a:ext>
            </a:extLst>
          </p:cNvPr>
          <p:cNvSpPr/>
          <p:nvPr/>
        </p:nvSpPr>
        <p:spPr>
          <a:xfrm>
            <a:off x="101588" y="2317005"/>
            <a:ext cx="3774987" cy="2804953"/>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EABA8736-7A3C-423C-AE5A-BDA9E8807C56}"/>
              </a:ext>
            </a:extLst>
          </p:cNvPr>
          <p:cNvSpPr/>
          <p:nvPr/>
        </p:nvSpPr>
        <p:spPr>
          <a:xfrm>
            <a:off x="193570" y="2317005"/>
            <a:ext cx="3683006" cy="2954655"/>
          </a:xfrm>
          <a:prstGeom prst="rect">
            <a:avLst/>
          </a:prstGeom>
        </p:spPr>
        <p:txBody>
          <a:bodyPr wrap="square">
            <a:spAutoFit/>
          </a:bodyPr>
          <a:lstStyle/>
          <a:p>
            <a:endParaRPr lang="zh-CN" altLang="en-US" dirty="0"/>
          </a:p>
          <a:p>
            <a:pPr algn="just"/>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1943 </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年， 神经科学家瓦伦</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麦卡洛克（</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Warren McCulloch</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和逻辑学家沃尔特</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皮茨（</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Walter Pitts</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）合作提出了“</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McCulloch–Pitts</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MCP</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neuron</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的思想。</a:t>
            </a:r>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历史意义</a:t>
            </a:r>
            <a:r>
              <a:rPr lang="zh-CN" altLang="en-US"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我们在科学史上第一次知道了我们是怎么知道的</a:t>
            </a:r>
            <a:r>
              <a:rPr lang="zh-CN" altLang="en-US"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for the first time in the history of science, we know how we know)”</a:t>
            </a:r>
            <a:endParaRPr lang="zh-CN" altLang="en-US"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a:extLst>
              <a:ext uri="{FF2B5EF4-FFF2-40B4-BE49-F238E27FC236}">
                <a16:creationId xmlns:a16="http://schemas.microsoft.com/office/drawing/2014/main" id="{CE10E8B9-1D95-4CE9-92EF-F002D7192B96}"/>
              </a:ext>
            </a:extLst>
          </p:cNvPr>
          <p:cNvSpPr/>
          <p:nvPr/>
        </p:nvSpPr>
        <p:spPr>
          <a:xfrm>
            <a:off x="1001122" y="5271660"/>
            <a:ext cx="1826141" cy="584775"/>
          </a:xfrm>
          <a:prstGeom prst="rect">
            <a:avLst/>
          </a:prstGeom>
        </p:spPr>
        <p:txBody>
          <a:bodyPr wrap="none">
            <a:spAutoFit/>
          </a:bodyPr>
          <a:lstStyle/>
          <a:p>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神经网络基本单元</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MCP</a:t>
            </a:r>
            <a:r>
              <a:rPr lang="zh-CN" altLang="en-US"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神经元</a:t>
            </a:r>
            <a:endParaRPr lang="zh-CN" altLang="en-US" sz="1600" b="1" dirty="0">
              <a:solidFill>
                <a:srgbClr val="C00000"/>
              </a:solidFill>
            </a:endParaRPr>
          </a:p>
        </p:txBody>
      </p:sp>
      <p:sp>
        <p:nvSpPr>
          <p:cNvPr id="10" name="矩形: 圆角 6">
            <a:extLst>
              <a:ext uri="{FF2B5EF4-FFF2-40B4-BE49-F238E27FC236}">
                <a16:creationId xmlns:a16="http://schemas.microsoft.com/office/drawing/2014/main" id="{C5C9A995-29B6-45F3-91B5-3A50D7488E4C}"/>
              </a:ext>
            </a:extLst>
          </p:cNvPr>
          <p:cNvSpPr/>
          <p:nvPr/>
        </p:nvSpPr>
        <p:spPr>
          <a:xfrm>
            <a:off x="4167319" y="2317005"/>
            <a:ext cx="3774987" cy="2804953"/>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70AE04E0-06AB-42B5-8929-06C89E6852F3}"/>
              </a:ext>
            </a:extLst>
          </p:cNvPr>
          <p:cNvSpPr/>
          <p:nvPr/>
        </p:nvSpPr>
        <p:spPr>
          <a:xfrm>
            <a:off x="4259301" y="2317005"/>
            <a:ext cx="3683006" cy="2923877"/>
          </a:xfrm>
          <a:prstGeom prst="rect">
            <a:avLst/>
          </a:prstGeom>
        </p:spPr>
        <p:txBody>
          <a:bodyPr wrap="square">
            <a:spAutoFit/>
          </a:bodyPr>
          <a:lstStyle/>
          <a:p>
            <a:endParaRPr lang="zh-CN" altLang="en-US" dirty="0"/>
          </a:p>
          <a:p>
            <a:pPr algn="just"/>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1949</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年，心理学家唐纳德</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赫布（</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Donald Hebb</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）提出了赫布理论</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(Hebbian theory</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神经元之间持续</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重复经验刺激</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可导致突触传递效能增加</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(Neurons that fire together, wire together)”</a:t>
            </a:r>
          </a:p>
          <a:p>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历史意义</a:t>
            </a:r>
            <a:r>
              <a:rPr lang="zh-CN" altLang="en-US"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神经元之间突触的强弱变化是学习与记忆的生理学基础</a:t>
            </a:r>
            <a:endParaRPr lang="zh-CN" altLang="en-US"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a:extLst>
              <a:ext uri="{FF2B5EF4-FFF2-40B4-BE49-F238E27FC236}">
                <a16:creationId xmlns:a16="http://schemas.microsoft.com/office/drawing/2014/main" id="{58B2FF70-A6F6-4750-BA57-8AE143FD163A}"/>
              </a:ext>
            </a:extLst>
          </p:cNvPr>
          <p:cNvSpPr/>
          <p:nvPr/>
        </p:nvSpPr>
        <p:spPr>
          <a:xfrm>
            <a:off x="5285521" y="5271660"/>
            <a:ext cx="1620957" cy="584775"/>
          </a:xfrm>
          <a:prstGeom prst="rect">
            <a:avLst/>
          </a:prstGeom>
        </p:spPr>
        <p:txBody>
          <a:bodyPr wrap="none">
            <a:spAutoFit/>
          </a:bodyPr>
          <a:lstStyle/>
          <a:p>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神经元因何链接</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赫布理论</a:t>
            </a:r>
            <a:endParaRPr lang="zh-CN" altLang="en-US"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矩形: 圆角 6">
            <a:extLst>
              <a:ext uri="{FF2B5EF4-FFF2-40B4-BE49-F238E27FC236}">
                <a16:creationId xmlns:a16="http://schemas.microsoft.com/office/drawing/2014/main" id="{6D813CDE-7AFD-4EA5-A3E8-770E7B0444CC}"/>
              </a:ext>
            </a:extLst>
          </p:cNvPr>
          <p:cNvSpPr/>
          <p:nvPr/>
        </p:nvSpPr>
        <p:spPr>
          <a:xfrm>
            <a:off x="8223444" y="2317005"/>
            <a:ext cx="3774987" cy="2804953"/>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67CADDAC-08B5-42A5-B93D-63BCCCDDB285}"/>
              </a:ext>
            </a:extLst>
          </p:cNvPr>
          <p:cNvSpPr/>
          <p:nvPr/>
        </p:nvSpPr>
        <p:spPr>
          <a:xfrm>
            <a:off x="8315426" y="2317005"/>
            <a:ext cx="3615060" cy="2923877"/>
          </a:xfrm>
          <a:prstGeom prst="rect">
            <a:avLst/>
          </a:prstGeom>
        </p:spPr>
        <p:txBody>
          <a:bodyPr wrap="square">
            <a:spAutoFit/>
          </a:bodyPr>
          <a:lstStyle/>
          <a:p>
            <a:endParaRPr lang="zh-CN" altLang="en-US" dirty="0"/>
          </a:p>
          <a:p>
            <a:pPr algn="just"/>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20</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世纪</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50</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年代弗朗克</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罗森布拉特（</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Frank Rosenblatt</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提出</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感知机</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perceptron</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模型</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，其</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是一个仅包含输入层和输出层的两层神经网络</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，可完成</a:t>
            </a:r>
            <a:r>
              <a:rPr lang="zh-CN"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两类</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问题的线性分类。</a:t>
            </a:r>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just"/>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历史意义</a:t>
            </a:r>
            <a:r>
              <a:rPr lang="zh-CN" altLang="en-US"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：感知机模型被誉为 </a:t>
            </a:r>
            <a:r>
              <a:rPr lang="en-US" altLang="zh-CN"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“Electronic 'Brain' Teaches Itself</a:t>
            </a:r>
            <a:r>
              <a:rPr lang="zh-CN" altLang="en-US"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（能自学的电脑）”</a:t>
            </a: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id="{798320FE-472E-4E4B-9ED7-FA6DE45B0EC8}"/>
              </a:ext>
            </a:extLst>
          </p:cNvPr>
          <p:cNvSpPr/>
          <p:nvPr/>
        </p:nvSpPr>
        <p:spPr>
          <a:xfrm>
            <a:off x="9006456" y="5271660"/>
            <a:ext cx="2082621" cy="584775"/>
          </a:xfrm>
          <a:prstGeom prst="rect">
            <a:avLst/>
          </a:prstGeom>
        </p:spPr>
        <p:txBody>
          <a:bodyPr wrap="none">
            <a:spAutoFit/>
          </a:bodyPr>
          <a:lstStyle/>
          <a:p>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神经元链接成“网” </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感知机</a:t>
            </a:r>
          </a:p>
        </p:txBody>
      </p:sp>
    </p:spTree>
    <p:extLst>
      <p:ext uri="{BB962C8B-B14F-4D97-AF65-F5344CB8AC3E}">
        <p14:creationId xmlns:p14="http://schemas.microsoft.com/office/powerpoint/2010/main" val="2068928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人工神经网络概述</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sp>
        <p:nvSpPr>
          <p:cNvPr id="24" name="矩形: 圆角 6">
            <a:extLst>
              <a:ext uri="{FF2B5EF4-FFF2-40B4-BE49-F238E27FC236}">
                <a16:creationId xmlns:a16="http://schemas.microsoft.com/office/drawing/2014/main" id="{15B72201-1606-4C88-8F91-839FBCDACE0A}"/>
              </a:ext>
            </a:extLst>
          </p:cNvPr>
          <p:cNvSpPr/>
          <p:nvPr/>
        </p:nvSpPr>
        <p:spPr>
          <a:xfrm>
            <a:off x="101588" y="2317005"/>
            <a:ext cx="3774987" cy="2804953"/>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EABA8736-7A3C-423C-AE5A-BDA9E8807C56}"/>
              </a:ext>
            </a:extLst>
          </p:cNvPr>
          <p:cNvSpPr/>
          <p:nvPr/>
        </p:nvSpPr>
        <p:spPr>
          <a:xfrm>
            <a:off x="193570" y="2317005"/>
            <a:ext cx="3683006" cy="2708434"/>
          </a:xfrm>
          <a:prstGeom prst="rect">
            <a:avLst/>
          </a:prstGeom>
        </p:spPr>
        <p:txBody>
          <a:bodyPr wrap="square">
            <a:spAutoFit/>
          </a:bodyPr>
          <a:lstStyle/>
          <a:p>
            <a:endParaRPr lang="zh-CN" altLang="en-US" dirty="0"/>
          </a:p>
          <a:p>
            <a:pPr algn="just"/>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1974 </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年</a:t>
            </a:r>
            <a:r>
              <a:rPr lang="en-US" altLang="zh-CN" dirty="0" err="1">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Werbos</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在博士论文中提出</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误差后向传播</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算法，后由鲁梅尔哈特（</a:t>
            </a:r>
            <a:r>
              <a:rPr lang="en-US" altLang="zh-CN" dirty="0" err="1">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Rumelhart</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）和辛顿（</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Hinton</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）等人（</a:t>
            </a:r>
            <a:r>
              <a:rPr lang="en-US" altLang="zh-CN" dirty="0" err="1">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Rumelhart</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etal</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1986</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）完善，解决了多层感知机中参数优化这一难题。</a:t>
            </a:r>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历史意义</a:t>
            </a:r>
            <a:r>
              <a:rPr lang="zh-CN" altLang="en-US"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：以数据驱动方式来根据输出误差自动优化神经网络参数成为可能</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a:extLst>
              <a:ext uri="{FF2B5EF4-FFF2-40B4-BE49-F238E27FC236}">
                <a16:creationId xmlns:a16="http://schemas.microsoft.com/office/drawing/2014/main" id="{CE10E8B9-1D95-4CE9-92EF-F002D7192B96}"/>
              </a:ext>
            </a:extLst>
          </p:cNvPr>
          <p:cNvSpPr/>
          <p:nvPr/>
        </p:nvSpPr>
        <p:spPr>
          <a:xfrm>
            <a:off x="449236" y="5271660"/>
            <a:ext cx="3057247" cy="584775"/>
          </a:xfrm>
          <a:prstGeom prst="rect">
            <a:avLst/>
          </a:prstGeom>
        </p:spPr>
        <p:txBody>
          <a:bodyPr wrap="none">
            <a:spAutoFit/>
          </a:bodyPr>
          <a:lstStyle/>
          <a:p>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神经元之间刺激可层层递进学习</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误差后向传播</a:t>
            </a:r>
            <a:endParaRPr lang="zh-CN" altLang="en-US" sz="1600" b="1" dirty="0">
              <a:solidFill>
                <a:srgbClr val="C00000"/>
              </a:solidFill>
            </a:endParaRPr>
          </a:p>
        </p:txBody>
      </p:sp>
      <p:sp>
        <p:nvSpPr>
          <p:cNvPr id="10" name="矩形: 圆角 6">
            <a:extLst>
              <a:ext uri="{FF2B5EF4-FFF2-40B4-BE49-F238E27FC236}">
                <a16:creationId xmlns:a16="http://schemas.microsoft.com/office/drawing/2014/main" id="{C5C9A995-29B6-45F3-91B5-3A50D7488E4C}"/>
              </a:ext>
            </a:extLst>
          </p:cNvPr>
          <p:cNvSpPr/>
          <p:nvPr/>
        </p:nvSpPr>
        <p:spPr>
          <a:xfrm>
            <a:off x="4167319" y="2317005"/>
            <a:ext cx="3774987" cy="2804953"/>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70AE04E0-06AB-42B5-8929-06C89E6852F3}"/>
              </a:ext>
            </a:extLst>
          </p:cNvPr>
          <p:cNvSpPr/>
          <p:nvPr/>
        </p:nvSpPr>
        <p:spPr>
          <a:xfrm>
            <a:off x="4259301" y="2317005"/>
            <a:ext cx="3683006" cy="2985433"/>
          </a:xfrm>
          <a:prstGeom prst="rect">
            <a:avLst/>
          </a:prstGeom>
        </p:spPr>
        <p:txBody>
          <a:bodyPr wrap="square">
            <a:spAutoFit/>
          </a:bodyPr>
          <a:lstStyle/>
          <a:p>
            <a:endParaRPr lang="zh-CN" altLang="en-US" dirty="0"/>
          </a:p>
          <a:p>
            <a:pPr algn="just"/>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2006</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年，辛顿在</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Science</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等期刊上发表论文，首次提出“深度信念网络（</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deep belief network</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）”模型（</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Hinton </a:t>
            </a:r>
            <a:r>
              <a:rPr lang="en-US" altLang="zh-CN" dirty="0" err="1">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etal</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2006</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），在相关分类任务中可取得性能超过传统浅层学习模型（如支持向量机）的结果。</a:t>
            </a:r>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历史意义</a:t>
            </a:r>
            <a:r>
              <a:rPr lang="zh-CN" altLang="en-US"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：有别于分段式学习，端到端</a:t>
            </a:r>
            <a:r>
              <a:rPr lang="en-US" altLang="zh-CN"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(end to end)</a:t>
            </a:r>
            <a:r>
              <a:rPr lang="zh-CN" altLang="en-US"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的深度学习框架建立</a:t>
            </a: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a:extLst>
              <a:ext uri="{FF2B5EF4-FFF2-40B4-BE49-F238E27FC236}">
                <a16:creationId xmlns:a16="http://schemas.microsoft.com/office/drawing/2014/main" id="{58B2FF70-A6F6-4750-BA57-8AE143FD163A}"/>
              </a:ext>
            </a:extLst>
          </p:cNvPr>
          <p:cNvSpPr/>
          <p:nvPr/>
        </p:nvSpPr>
        <p:spPr>
          <a:xfrm>
            <a:off x="5080337" y="5271659"/>
            <a:ext cx="2031325" cy="584775"/>
          </a:xfrm>
          <a:prstGeom prst="rect">
            <a:avLst/>
          </a:prstGeom>
        </p:spPr>
        <p:txBody>
          <a:bodyPr wrap="none">
            <a:spAutoFit/>
          </a:bodyPr>
          <a:lstStyle/>
          <a:p>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逐层抽象、层层递进</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深度学习</a:t>
            </a:r>
          </a:p>
        </p:txBody>
      </p:sp>
      <p:sp>
        <p:nvSpPr>
          <p:cNvPr id="13" name="矩形: 圆角 6">
            <a:extLst>
              <a:ext uri="{FF2B5EF4-FFF2-40B4-BE49-F238E27FC236}">
                <a16:creationId xmlns:a16="http://schemas.microsoft.com/office/drawing/2014/main" id="{6D813CDE-7AFD-4EA5-A3E8-770E7B0444CC}"/>
              </a:ext>
            </a:extLst>
          </p:cNvPr>
          <p:cNvSpPr/>
          <p:nvPr/>
        </p:nvSpPr>
        <p:spPr>
          <a:xfrm>
            <a:off x="8223444" y="2317005"/>
            <a:ext cx="3774987" cy="2804953"/>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67CADDAC-08B5-42A5-B93D-63BCCCDDB285}"/>
              </a:ext>
            </a:extLst>
          </p:cNvPr>
          <p:cNvSpPr/>
          <p:nvPr/>
        </p:nvSpPr>
        <p:spPr>
          <a:xfrm>
            <a:off x="8315425" y="2317005"/>
            <a:ext cx="3774987" cy="2400657"/>
          </a:xfrm>
          <a:prstGeom prst="rect">
            <a:avLst/>
          </a:prstGeom>
        </p:spPr>
        <p:txBody>
          <a:bodyPr wrap="square">
            <a:spAutoFit/>
          </a:bodyPr>
          <a:lstStyle/>
          <a:p>
            <a:endParaRPr lang="zh-CN" altLang="en-US" dirty="0"/>
          </a:p>
          <a:p>
            <a:pPr marL="285750" indent="-285750" algn="just">
              <a:buFont typeface="Wingdings" panose="05000000000000000000" pitchFamily="2" charset="2"/>
              <a:buChar char="l"/>
            </a:pP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RNN</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LSTM</a:t>
            </a:r>
          </a:p>
          <a:p>
            <a:pPr marL="285750" indent="-285750" algn="just">
              <a:buFont typeface="Wingdings" panose="05000000000000000000" pitchFamily="2" charset="2"/>
              <a:buChar char="l"/>
            </a:pP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CNN</a:t>
            </a:r>
          </a:p>
          <a:p>
            <a:pPr marL="285750" indent="-285750" algn="just">
              <a:buFont typeface="Wingdings" panose="05000000000000000000" pitchFamily="2" charset="2"/>
              <a:buChar char="l"/>
            </a:pP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Word2vec</a:t>
            </a:r>
          </a:p>
          <a:p>
            <a:pPr marL="285750" indent="-285750" algn="just">
              <a:buFont typeface="Wingdings" panose="05000000000000000000" pitchFamily="2" charset="2"/>
              <a:buChar char="l"/>
            </a:pP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BERT</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Transformer</a:t>
            </a:r>
            <a:r>
              <a:rPr lang="zh-CN" altLang="en-US"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LLM</a:t>
            </a:r>
          </a:p>
          <a:p>
            <a:pPr algn="just"/>
            <a:endParaRPr lang="en-US" altLang="zh-CN"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历史意义</a:t>
            </a:r>
            <a:r>
              <a:rPr lang="zh-CN" altLang="en-US" sz="14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：从造人和造脑到更通用人工智能</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id="{798320FE-472E-4E4B-9ED7-FA6DE45B0EC8}"/>
              </a:ext>
            </a:extLst>
          </p:cNvPr>
          <p:cNvSpPr/>
          <p:nvPr/>
        </p:nvSpPr>
        <p:spPr>
          <a:xfrm>
            <a:off x="8781887" y="5252126"/>
            <a:ext cx="1947136" cy="584775"/>
          </a:xfrm>
          <a:prstGeom prst="rect">
            <a:avLst/>
          </a:prstGeom>
        </p:spPr>
        <p:txBody>
          <a:bodyPr wrap="none">
            <a:spAutoFit/>
          </a:bodyPr>
          <a:lstStyle/>
          <a:p>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引发</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AI</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第三次崛起</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语言大模型</a:t>
            </a:r>
          </a:p>
        </p:txBody>
      </p:sp>
    </p:spTree>
    <p:extLst>
      <p:ext uri="{BB962C8B-B14F-4D97-AF65-F5344CB8AC3E}">
        <p14:creationId xmlns:p14="http://schemas.microsoft.com/office/powerpoint/2010/main" val="2913465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前馈神经网络：神经元</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3AA15EDD-17E8-41A2-8438-9BF013800155}"/>
                  </a:ext>
                </a:extLst>
              </p:cNvPr>
              <p:cNvSpPr/>
              <p:nvPr/>
            </p:nvSpPr>
            <p:spPr>
              <a:xfrm>
                <a:off x="283040" y="1611240"/>
                <a:ext cx="6409936" cy="4292201"/>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在生物学中，神经元细胞有</a:t>
                </a:r>
                <a:r>
                  <a:rPr lang="zh-CN" altLang="en-US"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兴奋与抑制</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两种状态。大多数神经元细胞在正常情况下处于抑制状态，一旦某个神经元受到刺激并且电位超过一定的阈值后，这个神经元细胞就被激活，处于兴奋状态，并向其他神经元传递信息。</a:t>
                </a:r>
                <a:endPar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基于神经元细胞的结构特性与信息传递方式，神经科学家瓦伦</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麦卡洛克和逻辑学家沃尔特</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皮茨合作提出了</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MCP</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模型。在人工神经网络中，</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MCP</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模型成为最基本的结构</a:t>
                </a:r>
                <a:endPar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从图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5. 1</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可见，给定</a:t>
                </a:r>
                <a14:m>
                  <m:oMath xmlns:m="http://schemas.openxmlformats.org/officeDocument/2006/math">
                    <m:r>
                      <a:rPr lang="en-US" altLang="zh-CN" i="1">
                        <a:latin typeface="Cambria Math" panose="02040503050406030204" pitchFamily="18" charset="0"/>
                      </a:rPr>
                      <m:t>𝑛</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个二值化（</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或</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）的输入数据</a:t>
                </a:r>
                <a14:m>
                  <m:oMath xmlns:m="http://schemas.openxmlformats.org/officeDocument/2006/math">
                    <m:r>
                      <a:rPr lang="zh-CN" altLang="zh-CN" i="1">
                        <a:latin typeface="Cambria Math" panose="02040503050406030204" pitchFamily="18" charset="0"/>
                      </a:rPr>
                      <m:t> </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d>
                      <m:dPr>
                        <m:ctrlPr>
                          <a:rPr lang="zh-CN" altLang="zh-CN" i="1">
                            <a:latin typeface="Cambria Math" panose="02040503050406030204" pitchFamily="18" charset="0"/>
                          </a:rPr>
                        </m:ctrlPr>
                      </m:dPr>
                      <m:e>
                        <m:r>
                          <a:rPr lang="en-US" altLang="zh-CN" i="1">
                            <a:latin typeface="Cambria Math" panose="02040503050406030204" pitchFamily="18" charset="0"/>
                          </a:rPr>
                          <m:t>1≤</m:t>
                        </m:r>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𝑛</m:t>
                        </m:r>
                      </m:e>
                    </m:d>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与连接参数</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𝑖</m:t>
                        </m:r>
                      </m:sub>
                    </m:sSub>
                    <m:d>
                      <m:dPr>
                        <m:ctrlPr>
                          <a:rPr lang="zh-CN" altLang="zh-CN" i="1">
                            <a:latin typeface="Cambria Math" panose="02040503050406030204" pitchFamily="18" charset="0"/>
                          </a:rPr>
                        </m:ctrlPr>
                      </m:dPr>
                      <m:e>
                        <m:r>
                          <a:rPr lang="en-US" altLang="zh-CN" i="1">
                            <a:latin typeface="Cambria Math" panose="02040503050406030204" pitchFamily="18" charset="0"/>
                          </a:rPr>
                          <m:t>1≤</m:t>
                        </m:r>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𝑛</m:t>
                        </m:r>
                      </m:e>
                    </m:d>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MCP</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神经元模型对输入数据线性加权求和，然后使用函数</a:t>
                </a:r>
                <a14:m>
                  <m:oMath xmlns:m="http://schemas.openxmlformats.org/officeDocument/2006/math">
                    <m:r>
                      <a:rPr lang="en-US" altLang="zh-CN" b="1" i="1">
                        <a:latin typeface="Cambria Math" panose="02040503050406030204" pitchFamily="18" charset="0"/>
                      </a:rPr>
                      <m:t>𝛟</m:t>
                    </m:r>
                    <m:r>
                      <a:rPr lang="en-US" altLang="zh-CN" b="1">
                        <a:latin typeface="Cambria Math" panose="02040503050406030204" pitchFamily="18" charset="0"/>
                      </a:rPr>
                      <m:t>(⋅)</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将加权累加结果映射为</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或</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，以完成两类分类任务。</a:t>
                </a:r>
                <a:endPar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3AA15EDD-17E8-41A2-8438-9BF013800155}"/>
                  </a:ext>
                </a:extLst>
              </p:cNvPr>
              <p:cNvSpPr>
                <a:spLocks noRot="1" noChangeAspect="1" noMove="1" noResize="1" noEditPoints="1" noAdjustHandles="1" noChangeArrowheads="1" noChangeShapeType="1" noTextEdit="1"/>
              </p:cNvSpPr>
              <p:nvPr/>
            </p:nvSpPr>
            <p:spPr>
              <a:xfrm>
                <a:off x="283040" y="1611240"/>
                <a:ext cx="6409936" cy="4292201"/>
              </a:xfrm>
              <a:prstGeom prst="rect">
                <a:avLst/>
              </a:prstGeom>
              <a:blipFill>
                <a:blip r:embed="rId3"/>
                <a:stretch>
                  <a:fillRect l="-570" r="-760" b="-1278"/>
                </a:stretch>
              </a:blipFill>
            </p:spPr>
            <p:txBody>
              <a:bodyPr/>
              <a:lstStyle/>
              <a:p>
                <a:r>
                  <a:rPr lang="zh-CN" altLang="en-US">
                    <a:noFill/>
                  </a:rPr>
                  <a:t> </a:t>
                </a:r>
              </a:p>
            </p:txBody>
          </p:sp>
        </mc:Fallback>
      </mc:AlternateContent>
      <p:sp>
        <p:nvSpPr>
          <p:cNvPr id="25" name="矩形 24">
            <a:extLst>
              <a:ext uri="{FF2B5EF4-FFF2-40B4-BE49-F238E27FC236}">
                <a16:creationId xmlns:a16="http://schemas.microsoft.com/office/drawing/2014/main" id="{FA7E4C39-58FC-4583-BCF8-B462E31C569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pic>
        <p:nvPicPr>
          <p:cNvPr id="2" name="图片 1">
            <a:extLst>
              <a:ext uri="{FF2B5EF4-FFF2-40B4-BE49-F238E27FC236}">
                <a16:creationId xmlns:a16="http://schemas.microsoft.com/office/drawing/2014/main" id="{B352D5CE-1D19-4BEC-AA72-F9E10551611F}"/>
              </a:ext>
            </a:extLst>
          </p:cNvPr>
          <p:cNvPicPr>
            <a:picLocks noChangeAspect="1"/>
          </p:cNvPicPr>
          <p:nvPr/>
        </p:nvPicPr>
        <p:blipFill>
          <a:blip r:embed="rId4"/>
          <a:stretch>
            <a:fillRect/>
          </a:stretch>
        </p:blipFill>
        <p:spPr>
          <a:xfrm>
            <a:off x="7381807" y="1611240"/>
            <a:ext cx="3934502" cy="2798414"/>
          </a:xfrm>
          <a:prstGeom prst="rect">
            <a:avLst/>
          </a:prstGeom>
        </p:spPr>
      </p:pic>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20A81B79-C4F1-4565-9245-8D0712C8610F}"/>
                  </a:ext>
                </a:extLst>
              </p:cNvPr>
              <p:cNvSpPr/>
              <p:nvPr/>
            </p:nvSpPr>
            <p:spPr>
              <a:xfrm>
                <a:off x="7342252" y="4158475"/>
                <a:ext cx="3974057" cy="894860"/>
              </a:xfrm>
              <a:prstGeom prst="rect">
                <a:avLst/>
              </a:prstGeom>
            </p:spPr>
            <p:txBody>
              <a:bodyPr wrap="square">
                <a:spAutoFit/>
              </a:bodyPr>
              <a:lstStyle/>
              <a:p>
                <a:pPr indent="266700" algn="just">
                  <a:lnSpc>
                    <a:spcPct val="150000"/>
                  </a:lnSpc>
                  <a:spcAft>
                    <a:spcPts val="600"/>
                  </a:spcAft>
                </a:pPr>
                <a14:m>
                  <m:oMathPara xmlns:m="http://schemas.openxmlformats.org/officeDocument/2006/math">
                    <m:oMathParaPr>
                      <m:jc m:val="centerGroup"/>
                    </m:oMathParaPr>
                    <m:oMath xmlns:m="http://schemas.openxmlformats.org/officeDocument/2006/math">
                      <m:r>
                        <m:rPr>
                          <m:sty m:val="p"/>
                        </m:rPr>
                        <a:rPr lang="en-US" altLang="zh-CN" sz="1600" kern="100">
                          <a:latin typeface="Cambria Math" panose="02040503050406030204" pitchFamily="18" charset="0"/>
                          <a:ea typeface="华文楷体" panose="02010600040101010101" pitchFamily="2" charset="-122"/>
                          <a:cs typeface="Times New Roman" panose="02020603050405020304" pitchFamily="18" charset="0"/>
                        </a:rPr>
                        <m:t>y</m:t>
                      </m:r>
                      <m:r>
                        <a:rPr lang="en-US" altLang="zh-CN" sz="1600"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b="1" i="1" kern="100">
                          <a:latin typeface="Cambria Math" panose="02040503050406030204" pitchFamily="18" charset="0"/>
                          <a:ea typeface="华文楷体" panose="02010600040101010101" pitchFamily="2" charset="-122"/>
                          <a:cs typeface="Times New Roman" panose="02020603050405020304" pitchFamily="18" charset="0"/>
                        </a:rPr>
                        <m:t>𝚽</m:t>
                      </m:r>
                      <m:r>
                        <a:rPr lang="en-US" altLang="zh-CN" sz="1600" kern="100">
                          <a:latin typeface="Cambria Math" panose="02040503050406030204" pitchFamily="18" charset="0"/>
                          <a:ea typeface="华文楷体" panose="02010600040101010101" pitchFamily="2" charset="-122"/>
                          <a:cs typeface="Times New Roman" panose="02020603050405020304" pitchFamily="18" charset="0"/>
                        </a:rPr>
                        <m:t>(</m:t>
                      </m:r>
                      <m:nary>
                        <m:naryPr>
                          <m:chr m:val="∑"/>
                          <m:limLoc m:val="subSup"/>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𝑛</m:t>
                          </m:r>
                        </m:sup>
                        <m:e>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𝑤</m:t>
                              </m:r>
                            </m:e>
                            <m:sub>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𝑖</m:t>
                              </m:r>
                            </m:sub>
                          </m:sSub>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𝑥</m:t>
                              </m:r>
                            </m:e>
                            <m:sub>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𝑖</m:t>
                              </m:r>
                            </m:sub>
                          </m:sSub>
                        </m:e>
                      </m:nary>
                      <m:r>
                        <a:rPr lang="en-US" altLang="zh-CN" sz="1600" kern="100">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20A81B79-C4F1-4565-9245-8D0712C8610F}"/>
                  </a:ext>
                </a:extLst>
              </p:cNvPr>
              <p:cNvSpPr>
                <a:spLocks noRot="1" noChangeAspect="1" noMove="1" noResize="1" noEditPoints="1" noAdjustHandles="1" noChangeArrowheads="1" noChangeShapeType="1" noTextEdit="1"/>
              </p:cNvSpPr>
              <p:nvPr/>
            </p:nvSpPr>
            <p:spPr>
              <a:xfrm>
                <a:off x="7342252" y="4158475"/>
                <a:ext cx="3974057" cy="89486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6EA4690F-7232-4289-A4B4-CECC8F9BAC5C}"/>
                  </a:ext>
                </a:extLst>
              </p:cNvPr>
              <p:cNvSpPr/>
              <p:nvPr/>
            </p:nvSpPr>
            <p:spPr>
              <a:xfrm>
                <a:off x="7255800" y="5053335"/>
                <a:ext cx="4653160" cy="1323439"/>
              </a:xfrm>
              <a:prstGeom prst="rect">
                <a:avLst/>
              </a:prstGeom>
            </p:spPr>
            <p:txBody>
              <a:bodyPr wrap="square">
                <a:spAutoFit/>
              </a:bodyPr>
              <a:lstStyle/>
              <a:p>
                <a:r>
                  <a:rPr lang="zh-CN" altLang="zh-CN" sz="1600" kern="0" dirty="0">
                    <a:solidFill>
                      <a:srgbClr val="000000"/>
                    </a:solidFill>
                    <a:latin typeface="Times New Roman" panose="02020603050405020304" pitchFamily="18" charset="0"/>
                    <a:ea typeface="楷体_GB2312"/>
                  </a:rPr>
                  <a:t>其中</a:t>
                </a:r>
                <a14:m>
                  <m:oMath xmlns:m="http://schemas.openxmlformats.org/officeDocument/2006/math">
                    <m:sSub>
                      <m:sSubPr>
                        <m:ctrlPr>
                          <a:rPr lang="zh-CN" altLang="zh-CN" sz="1600" i="1" kern="0" smtClean="0">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0">
                            <a:solidFill>
                              <a:schemeClr val="accent2"/>
                            </a:solidFill>
                            <a:latin typeface="Cambria Math" panose="02040503050406030204" pitchFamily="18" charset="0"/>
                            <a:ea typeface="楷体_GB2312"/>
                          </a:rPr>
                          <m:t>𝑤</m:t>
                        </m:r>
                      </m:e>
                      <m:sub>
                        <m:r>
                          <a:rPr lang="en-US" altLang="zh-CN" sz="1600" i="1" kern="0">
                            <a:solidFill>
                              <a:schemeClr val="accent2"/>
                            </a:solidFill>
                            <a:latin typeface="Cambria Math" panose="02040503050406030204" pitchFamily="18" charset="0"/>
                            <a:ea typeface="楷体_GB2312"/>
                          </a:rPr>
                          <m:t>𝑖</m:t>
                        </m:r>
                      </m:sub>
                    </m:sSub>
                  </m:oMath>
                </a14:m>
                <a:r>
                  <a:rPr lang="zh-CN" altLang="zh-CN" sz="1600" kern="0" dirty="0">
                    <a:solidFill>
                      <a:schemeClr val="accent2"/>
                    </a:solidFill>
                    <a:latin typeface="Times New Roman" panose="02020603050405020304" pitchFamily="18" charset="0"/>
                    <a:ea typeface="楷体_GB2312"/>
                  </a:rPr>
                  <a:t>为预先设定的连接权重值（一般在</a:t>
                </a:r>
                <a:r>
                  <a:rPr lang="en-US" altLang="zh-CN" sz="1600" kern="0" dirty="0">
                    <a:solidFill>
                      <a:schemeClr val="accent2"/>
                    </a:solidFill>
                    <a:latin typeface="Times New Roman" panose="02020603050405020304" pitchFamily="18" charset="0"/>
                    <a:ea typeface="楷体_GB2312"/>
                  </a:rPr>
                  <a:t>0</a:t>
                </a:r>
                <a:r>
                  <a:rPr lang="zh-CN" altLang="zh-CN" sz="1600" kern="0" dirty="0">
                    <a:solidFill>
                      <a:schemeClr val="accent2"/>
                    </a:solidFill>
                    <a:latin typeface="Times New Roman" panose="02020603050405020304" pitchFamily="18" charset="0"/>
                    <a:ea typeface="楷体_GB2312"/>
                  </a:rPr>
                  <a:t>和</a:t>
                </a:r>
                <a:r>
                  <a:rPr lang="en-US" altLang="zh-CN" sz="1600" kern="0" dirty="0">
                    <a:solidFill>
                      <a:schemeClr val="accent2"/>
                    </a:solidFill>
                    <a:latin typeface="Times New Roman" panose="02020603050405020304" pitchFamily="18" charset="0"/>
                    <a:ea typeface="楷体_GB2312"/>
                  </a:rPr>
                  <a:t>1</a:t>
                </a:r>
                <a:r>
                  <a:rPr lang="zh-CN" altLang="zh-CN" sz="1600" kern="0" dirty="0">
                    <a:solidFill>
                      <a:schemeClr val="accent2"/>
                    </a:solidFill>
                    <a:latin typeface="Times New Roman" panose="02020603050405020304" pitchFamily="18" charset="0"/>
                    <a:ea typeface="楷体_GB2312"/>
                  </a:rPr>
                  <a:t>中一个值或者</a:t>
                </a:r>
                <a:r>
                  <a:rPr lang="en-US" altLang="zh-CN" sz="1600" kern="0" dirty="0">
                    <a:solidFill>
                      <a:schemeClr val="accent2"/>
                    </a:solidFill>
                    <a:latin typeface="Times New Roman" panose="02020603050405020304" pitchFamily="18" charset="0"/>
                    <a:ea typeface="楷体_GB2312"/>
                  </a:rPr>
                  <a:t>1</a:t>
                </a:r>
                <a:r>
                  <a:rPr lang="zh-CN" altLang="zh-CN" sz="1600" kern="0" dirty="0">
                    <a:solidFill>
                      <a:schemeClr val="accent2"/>
                    </a:solidFill>
                    <a:latin typeface="Times New Roman" panose="02020603050405020304" pitchFamily="18" charset="0"/>
                    <a:ea typeface="楷体_GB2312"/>
                  </a:rPr>
                  <a:t>和</a:t>
                </a:r>
                <a:r>
                  <a:rPr lang="en-US" altLang="zh-CN" sz="1600" kern="0" dirty="0">
                    <a:solidFill>
                      <a:schemeClr val="accent2"/>
                    </a:solidFill>
                    <a:latin typeface="Times New Roman" panose="02020603050405020304" pitchFamily="18" charset="0"/>
                    <a:ea typeface="楷体_GB2312"/>
                  </a:rPr>
                  <a:t>-1</a:t>
                </a:r>
                <a:r>
                  <a:rPr lang="zh-CN" altLang="zh-CN" sz="1600" kern="0" dirty="0">
                    <a:solidFill>
                      <a:schemeClr val="accent2"/>
                    </a:solidFill>
                    <a:latin typeface="Times New Roman" panose="02020603050405020304" pitchFamily="18" charset="0"/>
                    <a:ea typeface="楷体_GB2312"/>
                  </a:rPr>
                  <a:t>中取一个值），用来表示其所对应输入数据对输出结果的影响（即权重）</a:t>
                </a:r>
                <a:r>
                  <a:rPr lang="zh-CN" altLang="zh-CN" sz="1600" kern="0" dirty="0">
                    <a:solidFill>
                      <a:srgbClr val="000000"/>
                    </a:solidFill>
                    <a:latin typeface="Times New Roman" panose="02020603050405020304" pitchFamily="18" charset="0"/>
                    <a:ea typeface="楷体_GB2312"/>
                  </a:rPr>
                  <a:t>。</a:t>
                </a:r>
                <a14:m>
                  <m:oMath xmlns:m="http://schemas.openxmlformats.org/officeDocument/2006/math">
                    <m:r>
                      <m:rPr>
                        <m:sty m:val="p"/>
                      </m:rPr>
                      <a:rPr lang="en-US" altLang="zh-CN" sz="1600" kern="0">
                        <a:solidFill>
                          <a:srgbClr val="000000"/>
                        </a:solidFill>
                        <a:latin typeface="Cambria Math" panose="02040503050406030204" pitchFamily="18" charset="0"/>
                        <a:ea typeface="楷体_GB2312"/>
                      </a:rPr>
                      <m:t>Φ</m:t>
                    </m:r>
                    <m:d>
                      <m:dPr>
                        <m:ctrlPr>
                          <a:rPr lang="zh-CN" altLang="zh-CN" sz="1600" i="1" ker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0">
                            <a:solidFill>
                              <a:srgbClr val="000000"/>
                            </a:solidFill>
                            <a:latin typeface="Cambria Math" panose="02040503050406030204" pitchFamily="18" charset="0"/>
                            <a:ea typeface="楷体_GB2312"/>
                          </a:rPr>
                          <m:t>∙</m:t>
                        </m:r>
                      </m:e>
                    </m:d>
                  </m:oMath>
                </a14:m>
                <a:r>
                  <a:rPr lang="zh-CN" altLang="zh-CN" sz="1600" kern="0" dirty="0">
                    <a:solidFill>
                      <a:srgbClr val="000000"/>
                    </a:solidFill>
                    <a:latin typeface="Times New Roman" panose="02020603050405020304" pitchFamily="18" charset="0"/>
                    <a:ea typeface="楷体_GB2312"/>
                  </a:rPr>
                  <a:t>将输入端数据与连接权重所得线性加权累加结果与预先设定阈值</a:t>
                </a:r>
                <a14:m>
                  <m:oMath xmlns:m="http://schemas.openxmlformats.org/officeDocument/2006/math">
                    <m:r>
                      <m:rPr>
                        <m:sty m:val="p"/>
                      </m:rPr>
                      <a:rPr lang="en-US" altLang="zh-CN" sz="1600" kern="0">
                        <a:solidFill>
                          <a:srgbClr val="000000"/>
                        </a:solidFill>
                        <a:latin typeface="Cambria Math" panose="02040503050406030204" pitchFamily="18" charset="0"/>
                        <a:ea typeface="楷体_GB2312"/>
                      </a:rPr>
                      <m:t>θ</m:t>
                    </m:r>
                  </m:oMath>
                </a14:m>
                <a:r>
                  <a:rPr lang="zh-CN" altLang="zh-CN" sz="1600" kern="0" dirty="0">
                    <a:solidFill>
                      <a:srgbClr val="000000"/>
                    </a:solidFill>
                    <a:latin typeface="Times New Roman" panose="02020603050405020304" pitchFamily="18" charset="0"/>
                    <a:ea typeface="楷体_GB2312"/>
                  </a:rPr>
                  <a:t>进行比较，根据比较结果输出</a:t>
                </a:r>
                <a:r>
                  <a:rPr lang="en-US" altLang="zh-CN" sz="1600" kern="0" dirty="0">
                    <a:solidFill>
                      <a:srgbClr val="000000"/>
                    </a:solidFill>
                    <a:latin typeface="Times New Roman" panose="02020603050405020304" pitchFamily="18" charset="0"/>
                    <a:ea typeface="楷体_GB2312"/>
                  </a:rPr>
                  <a:t>1</a:t>
                </a:r>
                <a:r>
                  <a:rPr lang="zh-CN" altLang="zh-CN" sz="1600" kern="0" dirty="0">
                    <a:solidFill>
                      <a:srgbClr val="000000"/>
                    </a:solidFill>
                    <a:latin typeface="Times New Roman" panose="02020603050405020304" pitchFamily="18" charset="0"/>
                    <a:ea typeface="楷体_GB2312"/>
                  </a:rPr>
                  <a:t>或</a:t>
                </a:r>
                <a:r>
                  <a:rPr lang="en-US" altLang="zh-CN" sz="1600" kern="0" dirty="0">
                    <a:solidFill>
                      <a:srgbClr val="000000"/>
                    </a:solidFill>
                    <a:latin typeface="Times New Roman" panose="02020603050405020304" pitchFamily="18" charset="0"/>
                    <a:ea typeface="楷体_GB2312"/>
                  </a:rPr>
                  <a:t>0</a:t>
                </a:r>
                <a:endParaRPr lang="zh-CN" altLang="en-US" sz="1600" dirty="0"/>
              </a:p>
            </p:txBody>
          </p:sp>
        </mc:Choice>
        <mc:Fallback xmlns="">
          <p:sp>
            <p:nvSpPr>
              <p:cNvPr id="9" name="矩形 8">
                <a:extLst>
                  <a:ext uri="{FF2B5EF4-FFF2-40B4-BE49-F238E27FC236}">
                    <a16:creationId xmlns:a16="http://schemas.microsoft.com/office/drawing/2014/main" id="{6EA4690F-7232-4289-A4B4-CECC8F9BAC5C}"/>
                  </a:ext>
                </a:extLst>
              </p:cNvPr>
              <p:cNvSpPr>
                <a:spLocks noRot="1" noChangeAspect="1" noMove="1" noResize="1" noEditPoints="1" noAdjustHandles="1" noChangeArrowheads="1" noChangeShapeType="1" noTextEdit="1"/>
              </p:cNvSpPr>
              <p:nvPr/>
            </p:nvSpPr>
            <p:spPr>
              <a:xfrm>
                <a:off x="7255800" y="5053335"/>
                <a:ext cx="4653160" cy="1323439"/>
              </a:xfrm>
              <a:prstGeom prst="rect">
                <a:avLst/>
              </a:prstGeom>
              <a:blipFill>
                <a:blip r:embed="rId6"/>
                <a:stretch>
                  <a:fillRect l="-654" t="-1382" b="-460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19873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前馈神经网络：神经元</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3AA15EDD-17E8-41A2-8438-9BF013800155}"/>
                  </a:ext>
                </a:extLst>
              </p:cNvPr>
              <p:cNvSpPr/>
              <p:nvPr/>
            </p:nvSpPr>
            <p:spPr>
              <a:xfrm>
                <a:off x="155448" y="2291387"/>
                <a:ext cx="7098176" cy="4110741"/>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从另外一个角度来看，对于任何输入数据</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𝑖</m:t>
                        </m:r>
                      </m:sub>
                    </m:sSub>
                    <m:d>
                      <m:dPr>
                        <m:ctrlPr>
                          <a:rPr lang="zh-CN" altLang="zh-CN" sz="1600" i="1">
                            <a:latin typeface="Cambria Math" panose="02040503050406030204" pitchFamily="18" charset="0"/>
                          </a:rPr>
                        </m:ctrlPr>
                      </m:dPr>
                      <m:e>
                        <m:r>
                          <a:rPr lang="en-US" altLang="zh-CN" sz="1600" i="1">
                            <a:latin typeface="Cambria Math" panose="02040503050406030204" pitchFamily="18" charset="0"/>
                          </a:rPr>
                          <m:t>1≤</m:t>
                        </m:r>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𝑛</m:t>
                        </m:r>
                      </m:e>
                    </m:d>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MCP</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模型可得到</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或</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这样的输出结果，也就是实现了将输入数据分类到</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或</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两个类别中，解决了二分类问题。</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Warren McCulloch</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于</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1954</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年在《英国科学哲学期刊》发表的一篇题为《走出形而上学的洞穴》（</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Through the Den of the Metaphysician</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）文章中激动骄傲写道，</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在科学史上第一次，我们知道了我们是怎么知道的（</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For the first time in the history of science we know how we know and hence are able to state it clearly</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，认为可通过如上计算方式来模拟神经元对输入信号进行抑制和兴奋的机制。若干个</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MCP</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神经元前后相连就构成了最早神经网络雏形。</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MCP</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神经元模型虽简单，却开启了建立神经网络大厦地基的征途。</a:t>
                </a:r>
              </a:p>
              <a:p>
                <a:pPr algn="just">
                  <a:lnSpc>
                    <a:spcPct val="150000"/>
                  </a:lnSpc>
                  <a:spcAft>
                    <a:spcPts val="0"/>
                  </a:spcAft>
                </a:pPr>
                <a:endPar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3AA15EDD-17E8-41A2-8438-9BF013800155}"/>
                  </a:ext>
                </a:extLst>
              </p:cNvPr>
              <p:cNvSpPr>
                <a:spLocks noRot="1" noChangeAspect="1" noMove="1" noResize="1" noEditPoints="1" noAdjustHandles="1" noChangeArrowheads="1" noChangeShapeType="1" noTextEdit="1"/>
              </p:cNvSpPr>
              <p:nvPr/>
            </p:nvSpPr>
            <p:spPr>
              <a:xfrm>
                <a:off x="155448" y="2291387"/>
                <a:ext cx="7098176" cy="4110741"/>
              </a:xfrm>
              <a:prstGeom prst="rect">
                <a:avLst/>
              </a:prstGeom>
              <a:blipFill>
                <a:blip r:embed="rId3"/>
                <a:stretch>
                  <a:fillRect l="-344" r="-430"/>
                </a:stretch>
              </a:blipFill>
            </p:spPr>
            <p:txBody>
              <a:bodyPr/>
              <a:lstStyle/>
              <a:p>
                <a:r>
                  <a:rPr lang="zh-CN" altLang="en-US">
                    <a:noFill/>
                  </a:rPr>
                  <a:t> </a:t>
                </a:r>
              </a:p>
            </p:txBody>
          </p:sp>
        </mc:Fallback>
      </mc:AlternateContent>
      <p:sp>
        <p:nvSpPr>
          <p:cNvPr id="25" name="矩形 24">
            <a:extLst>
              <a:ext uri="{FF2B5EF4-FFF2-40B4-BE49-F238E27FC236}">
                <a16:creationId xmlns:a16="http://schemas.microsoft.com/office/drawing/2014/main" id="{FA7E4C39-58FC-4583-BCF8-B462E31C569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pic>
        <p:nvPicPr>
          <p:cNvPr id="2" name="图片 1">
            <a:extLst>
              <a:ext uri="{FF2B5EF4-FFF2-40B4-BE49-F238E27FC236}">
                <a16:creationId xmlns:a16="http://schemas.microsoft.com/office/drawing/2014/main" id="{B352D5CE-1D19-4BEC-AA72-F9E10551611F}"/>
              </a:ext>
            </a:extLst>
          </p:cNvPr>
          <p:cNvPicPr>
            <a:picLocks noChangeAspect="1"/>
          </p:cNvPicPr>
          <p:nvPr/>
        </p:nvPicPr>
        <p:blipFill>
          <a:blip r:embed="rId4"/>
          <a:stretch>
            <a:fillRect/>
          </a:stretch>
        </p:blipFill>
        <p:spPr>
          <a:xfrm>
            <a:off x="7511663" y="2585157"/>
            <a:ext cx="3934502" cy="2798414"/>
          </a:xfrm>
          <a:prstGeom prst="rect">
            <a:avLst/>
          </a:prstGeom>
        </p:spPr>
      </p:pic>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20A81B79-C4F1-4565-9245-8D0712C8610F}"/>
                  </a:ext>
                </a:extLst>
              </p:cNvPr>
              <p:cNvSpPr/>
              <p:nvPr/>
            </p:nvSpPr>
            <p:spPr>
              <a:xfrm>
                <a:off x="7472108" y="5132392"/>
                <a:ext cx="3974057" cy="894860"/>
              </a:xfrm>
              <a:prstGeom prst="rect">
                <a:avLst/>
              </a:prstGeom>
            </p:spPr>
            <p:txBody>
              <a:bodyPr wrap="square">
                <a:spAutoFit/>
              </a:bodyPr>
              <a:lstStyle/>
              <a:p>
                <a:pPr indent="266700" algn="just">
                  <a:lnSpc>
                    <a:spcPct val="150000"/>
                  </a:lnSpc>
                  <a:spcAft>
                    <a:spcPts val="600"/>
                  </a:spcAft>
                </a:pPr>
                <a14:m>
                  <m:oMathPara xmlns:m="http://schemas.openxmlformats.org/officeDocument/2006/math">
                    <m:oMathParaPr>
                      <m:jc m:val="centerGroup"/>
                    </m:oMathParaPr>
                    <m:oMath xmlns:m="http://schemas.openxmlformats.org/officeDocument/2006/math">
                      <m:r>
                        <m:rPr>
                          <m:sty m:val="p"/>
                        </m:rPr>
                        <a:rPr lang="en-US" altLang="zh-CN" sz="1600" kern="100">
                          <a:latin typeface="Cambria Math" panose="02040503050406030204" pitchFamily="18" charset="0"/>
                          <a:ea typeface="华文楷体" panose="02010600040101010101" pitchFamily="2" charset="-122"/>
                          <a:cs typeface="Times New Roman" panose="02020603050405020304" pitchFamily="18" charset="0"/>
                        </a:rPr>
                        <m:t>y</m:t>
                      </m:r>
                      <m:r>
                        <a:rPr lang="en-US" altLang="zh-CN" sz="1600"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b="1" i="1" kern="100">
                          <a:latin typeface="Cambria Math" panose="02040503050406030204" pitchFamily="18" charset="0"/>
                          <a:ea typeface="华文楷体" panose="02010600040101010101" pitchFamily="2" charset="-122"/>
                          <a:cs typeface="Times New Roman" panose="02020603050405020304" pitchFamily="18" charset="0"/>
                        </a:rPr>
                        <m:t>𝚽</m:t>
                      </m:r>
                      <m:r>
                        <a:rPr lang="en-US" altLang="zh-CN" sz="1600" kern="100">
                          <a:latin typeface="Cambria Math" panose="02040503050406030204" pitchFamily="18" charset="0"/>
                          <a:ea typeface="华文楷体" panose="02010600040101010101" pitchFamily="2" charset="-122"/>
                          <a:cs typeface="Times New Roman" panose="02020603050405020304" pitchFamily="18" charset="0"/>
                        </a:rPr>
                        <m:t>(</m:t>
                      </m:r>
                      <m:nary>
                        <m:naryPr>
                          <m:chr m:val="∑"/>
                          <m:limLoc m:val="subSup"/>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𝑛</m:t>
                          </m:r>
                        </m:sup>
                        <m:e>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𝑤</m:t>
                              </m:r>
                            </m:e>
                            <m:sub>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𝑖</m:t>
                              </m:r>
                            </m:sub>
                          </m:sSub>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𝑥</m:t>
                              </m:r>
                            </m:e>
                            <m:sub>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𝑖</m:t>
                              </m:r>
                            </m:sub>
                          </m:sSub>
                        </m:e>
                      </m:nary>
                      <m:r>
                        <a:rPr lang="en-US" altLang="zh-CN" sz="1600" kern="100">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20A81B79-C4F1-4565-9245-8D0712C8610F}"/>
                  </a:ext>
                </a:extLst>
              </p:cNvPr>
              <p:cNvSpPr>
                <a:spLocks noRot="1" noChangeAspect="1" noMove="1" noResize="1" noEditPoints="1" noAdjustHandles="1" noChangeArrowheads="1" noChangeShapeType="1" noTextEdit="1"/>
              </p:cNvSpPr>
              <p:nvPr/>
            </p:nvSpPr>
            <p:spPr>
              <a:xfrm>
                <a:off x="7472108" y="5132392"/>
                <a:ext cx="3974057" cy="894860"/>
              </a:xfrm>
              <a:prstGeom prst="rect">
                <a:avLst/>
              </a:prstGeom>
              <a:blipFill>
                <a:blip r:embed="rId5"/>
                <a:stretch>
                  <a:fillRect/>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806BE8D3-3B49-4CC1-9FF5-16ABDD6EA123}"/>
              </a:ext>
            </a:extLst>
          </p:cNvPr>
          <p:cNvSpPr/>
          <p:nvPr/>
        </p:nvSpPr>
        <p:spPr>
          <a:xfrm>
            <a:off x="1211987" y="1597948"/>
            <a:ext cx="9436174" cy="584775"/>
          </a:xfrm>
          <a:prstGeom prst="rect">
            <a:avLst/>
          </a:prstGeom>
        </p:spPr>
        <p:txBody>
          <a:bodyPr wrap="square">
            <a:spAutoFit/>
          </a:bodyPr>
          <a:lstStyle/>
          <a:p>
            <a:pPr algn="ctr"/>
            <a:r>
              <a:rPr lang="zh-CN"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在科学史上第一次，我们知道了我们是怎么知道的</a:t>
            </a:r>
            <a:endParaRPr lang="en-US"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For the first time in the history of science we know how we know and hence are able to state it clearly</a:t>
            </a:r>
            <a:r>
              <a:rPr lang="zh-CN"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743630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前馈神经网络：感知机</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3AA15EDD-17E8-41A2-8438-9BF013800155}"/>
                  </a:ext>
                </a:extLst>
              </p:cNvPr>
              <p:cNvSpPr/>
              <p:nvPr/>
            </p:nvSpPr>
            <p:spPr>
              <a:xfrm>
                <a:off x="70339" y="1484266"/>
                <a:ext cx="7494860" cy="5680401"/>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早期的感知机结构和</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MCP</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模型相似，由一个输入层和一个输出层构成，因此也被称为</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单层感知机</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。感知机的输入层负责接收实数值的输入向量，输出层则能输出</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或</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两个值。单层感知机可作为一种两类线性分类模型</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，如图</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5.2</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所示。</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对于具有</a:t>
                </a:r>
                <a14:m>
                  <m:oMath xmlns:m="http://schemas.openxmlformats.org/officeDocument/2006/math">
                    <m:r>
                      <a:rPr lang="en-US" altLang="zh-CN" sz="1600">
                        <a:latin typeface="Cambria Math" panose="02040503050406030204" pitchFamily="18" charset="0"/>
                      </a:rPr>
                      <m:t>𝑛</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个输入以及对应连接权重系数为</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𝑤</m:t>
                        </m:r>
                      </m:e>
                      <m:sub>
                        <m:r>
                          <a:rPr lang="en-US" altLang="zh-CN" sz="1600">
                            <a:latin typeface="Cambria Math" panose="02040503050406030204" pitchFamily="18" charset="0"/>
                          </a:rPr>
                          <m:t>𝑖</m:t>
                        </m:r>
                      </m:sub>
                    </m:sSub>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的感知机，首先通过线性加权得到输入数据的累加结果</a:t>
                </a:r>
                <a14:m>
                  <m:oMath xmlns:m="http://schemas.openxmlformats.org/officeDocument/2006/math">
                    <m:r>
                      <m:rPr>
                        <m:sty m:val="p"/>
                      </m:rPr>
                      <a:rPr lang="en-US" altLang="zh-CN" sz="1600">
                        <a:latin typeface="Cambria Math" panose="02040503050406030204" pitchFamily="18" charset="0"/>
                      </a:rPr>
                      <m:t>z</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m:rPr>
                        <m:sty m:val="p"/>
                      </m:rPr>
                      <a:rPr lang="en-US" altLang="zh-CN" sz="1600">
                        <a:latin typeface="Cambria Math" panose="02040503050406030204" pitchFamily="18" charset="0"/>
                      </a:rPr>
                      <m:t>z</m:t>
                    </m:r>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𝑤</m:t>
                        </m:r>
                      </m:e>
                      <m:sub>
                        <m:r>
                          <a:rPr lang="en-US" altLang="zh-CN" sz="1600">
                            <a:latin typeface="Cambria Math" panose="02040503050406030204" pitchFamily="18" charset="0"/>
                          </a:rPr>
                          <m:t>1</m:t>
                        </m:r>
                      </m:sub>
                    </m:sSub>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𝑥</m:t>
                        </m:r>
                      </m:e>
                      <m:sub>
                        <m:r>
                          <a:rPr lang="en-US" altLang="zh-CN" sz="1600">
                            <a:latin typeface="Cambria Math" panose="02040503050406030204" pitchFamily="18" charset="0"/>
                          </a:rPr>
                          <m:t>1</m:t>
                        </m:r>
                      </m:sub>
                    </m:sSub>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𝑤</m:t>
                        </m:r>
                      </m:e>
                      <m:sub>
                        <m:r>
                          <a:rPr lang="en-US" altLang="zh-CN" sz="1600">
                            <a:latin typeface="Cambria Math" panose="02040503050406030204" pitchFamily="18" charset="0"/>
                          </a:rPr>
                          <m:t>2</m:t>
                        </m:r>
                      </m:sub>
                    </m:sSub>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𝑥</m:t>
                        </m:r>
                      </m:e>
                      <m:sub>
                        <m:r>
                          <a:rPr lang="en-US" altLang="zh-CN" sz="1600">
                            <a:latin typeface="Cambria Math" panose="02040503050406030204" pitchFamily="18" charset="0"/>
                          </a:rPr>
                          <m:t>2</m:t>
                        </m:r>
                      </m:sub>
                    </m:sSub>
                    <m:r>
                      <a:rPr lang="en-US" altLang="zh-CN" sz="1600">
                        <a:latin typeface="Cambria Math" panose="02040503050406030204" pitchFamily="18" charset="0"/>
                      </a:rPr>
                      <m:t>+…+</m:t>
                    </m:r>
                    <m:r>
                      <a:rPr lang="en-US" altLang="zh-CN" sz="1600">
                        <a:latin typeface="Cambria Math" panose="02040503050406030204" pitchFamily="18" charset="0"/>
                      </a:rPr>
                      <m:t>𝑏</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。这里</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𝑥</m:t>
                        </m:r>
                      </m:e>
                      <m:sub>
                        <m:r>
                          <a:rPr lang="en-US" altLang="zh-CN" sz="1600">
                            <a:latin typeface="Cambria Math" panose="02040503050406030204" pitchFamily="18" charset="0"/>
                          </a:rPr>
                          <m:t>1</m:t>
                        </m:r>
                      </m:sub>
                    </m:sSub>
                    <m:r>
                      <a:rPr lang="en-US" altLang="zh-CN" sz="1600">
                        <a:latin typeface="Cambria Math" panose="02040503050406030204" pitchFamily="18" charset="0"/>
                      </a:rPr>
                      <m:t>, </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𝑥</m:t>
                        </m:r>
                      </m:e>
                      <m:sub>
                        <m:r>
                          <a:rPr lang="en-US" altLang="zh-CN" sz="1600">
                            <a:latin typeface="Cambria Math" panose="02040503050406030204" pitchFamily="18" charset="0"/>
                          </a:rPr>
                          <m:t>2</m:t>
                        </m:r>
                      </m:sub>
                    </m:sSub>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𝑥</m:t>
                        </m:r>
                      </m:e>
                      <m:sub>
                        <m:r>
                          <a:rPr lang="en-US" altLang="zh-CN" sz="1600">
                            <a:latin typeface="Cambria Math" panose="02040503050406030204" pitchFamily="18" charset="0"/>
                          </a:rPr>
                          <m:t>𝑛</m:t>
                        </m:r>
                      </m:sub>
                    </m:sSub>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为感知机的输入，</a:t>
                </a:r>
                <a14:m>
                  <m:oMath xmlns:m="http://schemas.openxmlformats.org/officeDocument/2006/math">
                    <m:r>
                      <m:rPr>
                        <m:sty m:val="p"/>
                      </m:rPr>
                      <a:rPr lang="en-US" altLang="zh-CN" sz="1600">
                        <a:latin typeface="Cambria Math" panose="02040503050406030204" pitchFamily="18" charset="0"/>
                      </a:rPr>
                      <m:t>b</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为偏置项（</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bias</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）。然后将</a:t>
                </a:r>
                <a14:m>
                  <m:oMath xmlns:m="http://schemas.openxmlformats.org/officeDocument/2006/math">
                    <m:r>
                      <m:rPr>
                        <m:sty m:val="p"/>
                      </m:rPr>
                      <a:rPr lang="en-US" altLang="zh-CN" sz="1600">
                        <a:latin typeface="Cambria Math" panose="02040503050406030204" pitchFamily="18" charset="0"/>
                      </a:rPr>
                      <m:t>z</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作为激活函数</a:t>
                </a:r>
                <a14:m>
                  <m:oMath xmlns:m="http://schemas.openxmlformats.org/officeDocument/2006/math">
                    <m:r>
                      <a:rPr lang="en-US" altLang="zh-CN" sz="1600">
                        <a:latin typeface="Cambria Math" panose="02040503050406030204" pitchFamily="18" charset="0"/>
                      </a:rPr>
                      <m:t>𝛟</m:t>
                    </m:r>
                    <m:r>
                      <a:rPr lang="en-US" altLang="zh-CN" sz="1600">
                        <a:latin typeface="Cambria Math" panose="02040503050406030204" pitchFamily="18" charset="0"/>
                      </a:rPr>
                      <m:t>(∙)</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的输入，激活函数会将</a:t>
                </a:r>
                <a14:m>
                  <m:oMath xmlns:m="http://schemas.openxmlformats.org/officeDocument/2006/math">
                    <m:r>
                      <m:rPr>
                        <m:sty m:val="p"/>
                      </m:rPr>
                      <a:rPr lang="en-US" altLang="zh-CN" sz="1600">
                        <a:latin typeface="Cambria Math" panose="02040503050406030204" pitchFamily="18" charset="0"/>
                      </a:rPr>
                      <m:t>z</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与某一阈值（此例中，阈值为</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）进行比较，如果大于该阈值则感知器输出为</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，否则输出为</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。通过这样的操作，输入数据被分类为</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或</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这两个不同类别。</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buFont typeface="Wingdings" panose="05000000000000000000" pitchFamily="2" charset="2"/>
                  <a:buChar char="l"/>
                </a:pP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en-US" sz="1600" dirty="0">
                    <a:solidFill>
                      <a:schemeClr val="accent2"/>
                    </a:solidFill>
                    <a:latin typeface="微软雅黑" panose="020B0503020204020204" pitchFamily="34" charset="-122"/>
                    <a:ea typeface="微软雅黑" panose="020B0503020204020204" pitchFamily="34" charset="-122"/>
                  </a:rPr>
                  <a:t>感知机中的连接权重参数并不是预先设定好的，而是通过多次迭代训练得到的。</a:t>
                </a:r>
                <a:r>
                  <a:rPr lang="zh-CN" altLang="zh-CN" sz="1600" dirty="0">
                    <a:solidFill>
                      <a:schemeClr val="accent2"/>
                    </a:solidFill>
                    <a:latin typeface="微软雅黑" panose="020B0503020204020204" pitchFamily="34" charset="-122"/>
                    <a:ea typeface="微软雅黑" panose="020B0503020204020204" pitchFamily="34" charset="-122"/>
                  </a:rPr>
                  <a:t>具体而言，单层感知机构建损失函数，来计算模型预测值与数据真实值之间的</a:t>
                </a:r>
                <a:r>
                  <a:rPr lang="en-US" altLang="zh-CN" sz="1600" dirty="0">
                    <a:solidFill>
                      <a:schemeClr val="accent2"/>
                    </a:solidFill>
                    <a:latin typeface="微软雅黑" panose="020B0503020204020204" pitchFamily="34" charset="-122"/>
                    <a:ea typeface="微软雅黑" panose="020B0503020204020204" pitchFamily="34" charset="-122"/>
                  </a:rPr>
                  <a:t>“</a:t>
                </a:r>
                <a:r>
                  <a:rPr lang="zh-CN" altLang="zh-CN" sz="1600" dirty="0">
                    <a:solidFill>
                      <a:schemeClr val="accent2"/>
                    </a:solidFill>
                    <a:latin typeface="微软雅黑" panose="020B0503020204020204" pitchFamily="34" charset="-122"/>
                    <a:ea typeface="微软雅黑" panose="020B0503020204020204" pitchFamily="34" charset="-122"/>
                  </a:rPr>
                  <a:t>误差</a:t>
                </a:r>
                <a:r>
                  <a:rPr lang="en-US" altLang="zh-CN" sz="1600" dirty="0">
                    <a:solidFill>
                      <a:schemeClr val="accent2"/>
                    </a:solidFill>
                    <a:latin typeface="微软雅黑" panose="020B0503020204020204" pitchFamily="34" charset="-122"/>
                    <a:ea typeface="微软雅黑" panose="020B0503020204020204" pitchFamily="34" charset="-122"/>
                  </a:rPr>
                  <a:t>”</a:t>
                </a:r>
                <a:r>
                  <a:rPr lang="zh-CN" altLang="zh-CN" sz="1600" dirty="0">
                    <a:solidFill>
                      <a:schemeClr val="accent2"/>
                    </a:solidFill>
                    <a:latin typeface="微软雅黑" panose="020B0503020204020204" pitchFamily="34" charset="-122"/>
                    <a:ea typeface="微软雅黑" panose="020B0503020204020204" pitchFamily="34" charset="-122"/>
                  </a:rPr>
                  <a:t>，通过最小化损失函数取值，来优化模型参数。</a:t>
                </a:r>
              </a:p>
              <a:p>
                <a:pPr marL="285750" indent="-285750" algn="just">
                  <a:lnSpc>
                    <a:spcPct val="150000"/>
                  </a:lnSpc>
                  <a:buFont typeface="Wingdings" panose="05000000000000000000" pitchFamily="2" charset="2"/>
                  <a:buChar char="l"/>
                </a:pPr>
                <a:endParaRPr lang="zh-CN"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3AA15EDD-17E8-41A2-8438-9BF013800155}"/>
                  </a:ext>
                </a:extLst>
              </p:cNvPr>
              <p:cNvSpPr>
                <a:spLocks noRot="1" noChangeAspect="1" noMove="1" noResize="1" noEditPoints="1" noAdjustHandles="1" noChangeArrowheads="1" noChangeShapeType="1" noTextEdit="1"/>
              </p:cNvSpPr>
              <p:nvPr/>
            </p:nvSpPr>
            <p:spPr>
              <a:xfrm>
                <a:off x="70339" y="1484266"/>
                <a:ext cx="7494860" cy="5680401"/>
              </a:xfrm>
              <a:prstGeom prst="rect">
                <a:avLst/>
              </a:prstGeom>
              <a:blipFill>
                <a:blip r:embed="rId3"/>
                <a:stretch>
                  <a:fillRect l="-325" r="-3173"/>
                </a:stretch>
              </a:blipFill>
            </p:spPr>
            <p:txBody>
              <a:bodyPr/>
              <a:lstStyle/>
              <a:p>
                <a:r>
                  <a:rPr lang="zh-CN" altLang="en-US">
                    <a:noFill/>
                  </a:rPr>
                  <a:t> </a:t>
                </a:r>
              </a:p>
            </p:txBody>
          </p:sp>
        </mc:Fallback>
      </mc:AlternateContent>
      <p:sp>
        <p:nvSpPr>
          <p:cNvPr id="25" name="矩形 24">
            <a:extLst>
              <a:ext uri="{FF2B5EF4-FFF2-40B4-BE49-F238E27FC236}">
                <a16:creationId xmlns:a16="http://schemas.microsoft.com/office/drawing/2014/main" id="{FA7E4C39-58FC-4583-BCF8-B462E31C569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pic>
        <p:nvPicPr>
          <p:cNvPr id="9" name="图片 8">
            <a:extLst>
              <a:ext uri="{FF2B5EF4-FFF2-40B4-BE49-F238E27FC236}">
                <a16:creationId xmlns:a16="http://schemas.microsoft.com/office/drawing/2014/main" id="{E01A3989-5DB5-4D44-A58B-3DF101B2DC3E}"/>
              </a:ext>
            </a:extLst>
          </p:cNvPr>
          <p:cNvPicPr>
            <a:picLocks noChangeAspect="1"/>
          </p:cNvPicPr>
          <p:nvPr/>
        </p:nvPicPr>
        <p:blipFill>
          <a:blip r:embed="rId4"/>
          <a:stretch>
            <a:fillRect/>
          </a:stretch>
        </p:blipFill>
        <p:spPr>
          <a:xfrm>
            <a:off x="7732929" y="3002913"/>
            <a:ext cx="4083700" cy="2325986"/>
          </a:xfrm>
          <a:prstGeom prst="rect">
            <a:avLst/>
          </a:prstGeom>
        </p:spPr>
      </p:pic>
    </p:spTree>
    <p:extLst>
      <p:ext uri="{BB962C8B-B14F-4D97-AF65-F5344CB8AC3E}">
        <p14:creationId xmlns:p14="http://schemas.microsoft.com/office/powerpoint/2010/main" val="2525647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前馈神经网络：冰火两重天的感知机</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pic>
        <p:nvPicPr>
          <p:cNvPr id="1026" name="Picture 2" descr="Image">
            <a:extLst>
              <a:ext uri="{FF2B5EF4-FFF2-40B4-BE49-F238E27FC236}">
                <a16:creationId xmlns:a16="http://schemas.microsoft.com/office/drawing/2014/main" id="{65B061CD-EF13-4326-A25B-26151A6987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473" y="2248488"/>
            <a:ext cx="4000867" cy="3167715"/>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B632C31B-EBFF-4579-85EA-173C84068AAC}"/>
              </a:ext>
            </a:extLst>
          </p:cNvPr>
          <p:cNvSpPr/>
          <p:nvPr/>
        </p:nvSpPr>
        <p:spPr>
          <a:xfrm>
            <a:off x="1108678" y="5700722"/>
            <a:ext cx="3488455" cy="338554"/>
          </a:xfrm>
          <a:prstGeom prst="rect">
            <a:avLst/>
          </a:prstGeom>
        </p:spPr>
        <p:txBody>
          <a:bodyPr wrap="none">
            <a:spAutoFit/>
          </a:bodyPr>
          <a:lstStyle/>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1958</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年</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7</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月</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13</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日罗森布拉特所写文章</a:t>
            </a:r>
          </a:p>
        </p:txBody>
      </p:sp>
      <p:pic>
        <p:nvPicPr>
          <p:cNvPr id="7" name="图片 6">
            <a:extLst>
              <a:ext uri="{FF2B5EF4-FFF2-40B4-BE49-F238E27FC236}">
                <a16:creationId xmlns:a16="http://schemas.microsoft.com/office/drawing/2014/main" id="{0EEB2314-AA01-4F7C-A6FD-33ACC1E9FCF3}"/>
              </a:ext>
            </a:extLst>
          </p:cNvPr>
          <p:cNvPicPr>
            <a:picLocks noChangeAspect="1"/>
          </p:cNvPicPr>
          <p:nvPr/>
        </p:nvPicPr>
        <p:blipFill>
          <a:blip r:embed="rId4"/>
          <a:stretch>
            <a:fillRect/>
          </a:stretch>
        </p:blipFill>
        <p:spPr>
          <a:xfrm>
            <a:off x="5671823" y="2894208"/>
            <a:ext cx="4873875" cy="2045715"/>
          </a:xfrm>
          <a:prstGeom prst="rect">
            <a:avLst/>
          </a:prstGeom>
        </p:spPr>
      </p:pic>
      <p:sp>
        <p:nvSpPr>
          <p:cNvPr id="10" name="矩形 9">
            <a:extLst>
              <a:ext uri="{FF2B5EF4-FFF2-40B4-BE49-F238E27FC236}">
                <a16:creationId xmlns:a16="http://schemas.microsoft.com/office/drawing/2014/main" id="{3AB59479-A371-40C4-9BEE-C0E6B76AD279}"/>
              </a:ext>
            </a:extLst>
          </p:cNvPr>
          <p:cNvSpPr/>
          <p:nvPr/>
        </p:nvSpPr>
        <p:spPr>
          <a:xfrm>
            <a:off x="5470168" y="5230413"/>
            <a:ext cx="6471139" cy="830997"/>
          </a:xfrm>
          <a:prstGeom prst="rect">
            <a:avLst/>
          </a:prstGeom>
        </p:spPr>
        <p:txBody>
          <a:bodyPr wrap="square">
            <a:spAutoFit/>
          </a:bodyPr>
          <a:lstStyle/>
          <a:p>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感知机可模拟</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逻辑与</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(AND)</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、逻辑与非</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(NAND)</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和逻辑或</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(OR)</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等</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线性可分函数，但是</a:t>
            </a:r>
            <a:r>
              <a:rPr lang="zh-CN" altLang="en-US"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无法完成</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逻辑异或（</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XOR</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这一</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非线性可分逻辑函数</a:t>
            </a:r>
            <a:r>
              <a:rPr lang="zh-CN" altLang="en-US"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任务</a:t>
            </a:r>
          </a:p>
        </p:txBody>
      </p:sp>
    </p:spTree>
    <p:extLst>
      <p:ext uri="{BB962C8B-B14F-4D97-AF65-F5344CB8AC3E}">
        <p14:creationId xmlns:p14="http://schemas.microsoft.com/office/powerpoint/2010/main" val="66002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前馈神经网络</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pic>
        <p:nvPicPr>
          <p:cNvPr id="8" name="图片 7">
            <a:extLst>
              <a:ext uri="{FF2B5EF4-FFF2-40B4-BE49-F238E27FC236}">
                <a16:creationId xmlns:a16="http://schemas.microsoft.com/office/drawing/2014/main" id="{2F9EB5A4-D5A1-43FD-8D13-88A81F02C38F}"/>
              </a:ext>
            </a:extLst>
          </p:cNvPr>
          <p:cNvPicPr>
            <a:picLocks noChangeAspect="1"/>
          </p:cNvPicPr>
          <p:nvPr/>
        </p:nvPicPr>
        <p:blipFill>
          <a:blip r:embed="rId3"/>
          <a:stretch>
            <a:fillRect/>
          </a:stretch>
        </p:blipFill>
        <p:spPr>
          <a:xfrm>
            <a:off x="6146472" y="2592210"/>
            <a:ext cx="5324107" cy="2758922"/>
          </a:xfrm>
          <a:prstGeom prst="rect">
            <a:avLst/>
          </a:prstGeom>
        </p:spPr>
      </p:pic>
      <p:sp>
        <p:nvSpPr>
          <p:cNvPr id="9" name="矩形 8">
            <a:extLst>
              <a:ext uri="{FF2B5EF4-FFF2-40B4-BE49-F238E27FC236}">
                <a16:creationId xmlns:a16="http://schemas.microsoft.com/office/drawing/2014/main" id="{72DCCAD8-DEEE-467E-B1F3-33EF7B098F06}"/>
              </a:ext>
            </a:extLst>
          </p:cNvPr>
          <p:cNvSpPr/>
          <p:nvPr/>
        </p:nvSpPr>
        <p:spPr>
          <a:xfrm>
            <a:off x="86793" y="1546648"/>
            <a:ext cx="5670362" cy="4850046"/>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在感知机模型中增加若干隐藏层，增强神经网络的非线性表达能力，就会让神经网络具有更强的拟合能力。因此，</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由多个隐藏层构成的多层感知机被提出，这也被称为前馈神经网络</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p>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5.4</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所示，</a:t>
            </a:r>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前馈神经网络由输入层、输出层和若干隐藏层构成</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。网络中各个隐藏层中神经元可接收相邻前序隐藏层中所有神经元传递而来的信息，经过加工处理后将信息输出给相邻后续隐藏层中所有神经元。</a:t>
            </a:r>
          </a:p>
          <a:p>
            <a:pPr marL="285750" indent="-285750" algn="just">
              <a:lnSpc>
                <a:spcPct val="150000"/>
              </a:lnSpc>
              <a:spcAft>
                <a:spcPts val="0"/>
              </a:spcAft>
              <a:buFont typeface="Wingdings" panose="05000000000000000000" pitchFamily="2" charset="2"/>
              <a:buChar char="l"/>
            </a:pPr>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前馈神经网络中相邻层所包含的神经元之间通常使用</a:t>
            </a:r>
            <a:r>
              <a:rPr lang="en-US"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全连接</a:t>
            </a:r>
            <a:r>
              <a:rPr lang="en-US"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方式进行连接。所谓</a:t>
            </a:r>
            <a:r>
              <a:rPr lang="en-US"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全连接</a:t>
            </a:r>
            <a:r>
              <a:rPr lang="en-US"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是指两个相邻层之间的神经元相互成对连接，但同一层内神经元之间没有连接。</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前馈神经网络可以模拟复杂非线性函数功能，所模拟函数的复杂性取决于网络隐藏层数目和各层中神经元数目。</a:t>
            </a:r>
          </a:p>
        </p:txBody>
      </p:sp>
    </p:spTree>
    <p:extLst>
      <p:ext uri="{BB962C8B-B14F-4D97-AF65-F5344CB8AC3E}">
        <p14:creationId xmlns:p14="http://schemas.microsoft.com/office/powerpoint/2010/main" val="2075465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前馈神经网络</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sp>
        <p:nvSpPr>
          <p:cNvPr id="9" name="矩形 8">
            <a:extLst>
              <a:ext uri="{FF2B5EF4-FFF2-40B4-BE49-F238E27FC236}">
                <a16:creationId xmlns:a16="http://schemas.microsoft.com/office/drawing/2014/main" id="{72DCCAD8-DEEE-467E-B1F3-33EF7B098F06}"/>
              </a:ext>
            </a:extLst>
          </p:cNvPr>
          <p:cNvSpPr/>
          <p:nvPr/>
        </p:nvSpPr>
        <p:spPr>
          <a:xfrm>
            <a:off x="0" y="1546584"/>
            <a:ext cx="6162731" cy="4850174"/>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1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层层递进、逐层抽象</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：明暗幅度的像素点被映射为高层语义对象的概率值</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en-US" sz="1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非线性映射</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恩利克</a:t>
            </a: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费米（</a:t>
            </a: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Enrico Fermi</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）曾经说过，</a:t>
            </a: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圣经中并没有说过一切大自然的定律都可以用线性方程来表示</a:t>
            </a: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亿万个神经元所组成的神经网络就可实现将输入数据将神经网络用于分类任务，将输入数据（如图像、文本和听觉等信息）从一个空间（如像素点空间）映射到另外一个空间（如文本单词空间等），这一过程就是一个复杂的非线性变换。</a:t>
            </a:r>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en-US" sz="1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误差反馈调优：</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误差后向传播算法会将误差（由损失函数定义）由输出端由后向前传播，逐层去更新神经元链接权重和非线性映射函数等参数，使得神经网络模型拟合数据（</a:t>
            </a: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data fitting</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让神经元之间记住这种刺激或者强化信息流通路，打通</a:t>
            </a: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任督二脉</a:t>
            </a: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，从而在输入数据和输出结果之间建立关联。</a:t>
            </a:r>
          </a:p>
        </p:txBody>
      </p:sp>
      <p:pic>
        <p:nvPicPr>
          <p:cNvPr id="10" name="图片 9">
            <a:extLst>
              <a:ext uri="{FF2B5EF4-FFF2-40B4-BE49-F238E27FC236}">
                <a16:creationId xmlns:a16="http://schemas.microsoft.com/office/drawing/2014/main" id="{A8594561-2D56-41D5-A93D-5674B0EF25DE}"/>
              </a:ext>
            </a:extLst>
          </p:cNvPr>
          <p:cNvPicPr>
            <a:picLocks noChangeAspect="1"/>
          </p:cNvPicPr>
          <p:nvPr/>
        </p:nvPicPr>
        <p:blipFill>
          <a:blip r:embed="rId3"/>
          <a:stretch>
            <a:fillRect/>
          </a:stretch>
        </p:blipFill>
        <p:spPr>
          <a:xfrm>
            <a:off x="6481261" y="2592210"/>
            <a:ext cx="5157048" cy="2672353"/>
          </a:xfrm>
          <a:prstGeom prst="rect">
            <a:avLst/>
          </a:prstGeom>
        </p:spPr>
      </p:pic>
    </p:spTree>
    <p:extLst>
      <p:ext uri="{BB962C8B-B14F-4D97-AF65-F5344CB8AC3E}">
        <p14:creationId xmlns:p14="http://schemas.microsoft.com/office/powerpoint/2010/main" val="2962945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前馈神经网络：执行非线性映射的激活函数</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sp>
        <p:nvSpPr>
          <p:cNvPr id="7" name="矩形 6">
            <a:extLst>
              <a:ext uri="{FF2B5EF4-FFF2-40B4-BE49-F238E27FC236}">
                <a16:creationId xmlns:a16="http://schemas.microsoft.com/office/drawing/2014/main" id="{07AA08C2-64DA-46C3-8D52-03A7B0581850}"/>
              </a:ext>
            </a:extLst>
          </p:cNvPr>
          <p:cNvSpPr/>
          <p:nvPr/>
        </p:nvSpPr>
        <p:spPr>
          <a:xfrm>
            <a:off x="3221141" y="1254816"/>
            <a:ext cx="1707962" cy="800219"/>
          </a:xfrm>
          <a:prstGeom prst="rect">
            <a:avLst/>
          </a:prstGeom>
        </p:spPr>
        <p:txBody>
          <a:bodyPr wrap="square">
            <a:spAutoFit/>
          </a:bodyPr>
          <a:lstStyle/>
          <a:p>
            <a:endParaRPr lang="zh-CN" altLang="en-US" sz="2800" dirty="0">
              <a:solidFill>
                <a:srgbClr val="000000"/>
              </a:solidFill>
              <a:latin typeface="Helvetica Light"/>
            </a:endParaRPr>
          </a:p>
          <a:p>
            <a:pPr algn="just"/>
            <a:r>
              <a:rPr lang="en-US" altLang="zh-CN" b="1" dirty="0">
                <a:solidFill>
                  <a:srgbClr val="C00000"/>
                </a:solidFill>
                <a:latin typeface="Times New Roman" panose="02020603050405020304" pitchFamily="18" charset="0"/>
                <a:cs typeface="Times New Roman" panose="02020603050405020304" pitchFamily="18" charset="0"/>
              </a:rPr>
              <a:t>sigmoid</a:t>
            </a:r>
            <a:r>
              <a:rPr lang="zh-CN" altLang="en-US" b="1" dirty="0">
                <a:solidFill>
                  <a:srgbClr val="C00000"/>
                </a:solidFill>
                <a:latin typeface="Times New Roman" panose="02020603050405020304" pitchFamily="18" charset="0"/>
                <a:cs typeface="Times New Roman" panose="02020603050405020304" pitchFamily="18" charset="0"/>
              </a:rPr>
              <a:t>函数</a:t>
            </a: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C2E184CE-95CF-4F20-98AA-D518FE8EEEF6}"/>
                  </a:ext>
                </a:extLst>
              </p:cNvPr>
              <p:cNvSpPr/>
              <p:nvPr/>
            </p:nvSpPr>
            <p:spPr>
              <a:xfrm>
                <a:off x="977699" y="1747051"/>
                <a:ext cx="10610144" cy="4725781"/>
              </a:xfrm>
              <a:prstGeom prst="rect">
                <a:avLst/>
              </a:prstGeom>
            </p:spPr>
            <p:txBody>
              <a:bodyPr wrap="square">
                <a:spAutoFit/>
              </a:bodyPr>
              <a:lstStyle/>
              <a:p>
                <a:pPr algn="just">
                  <a:lnSpc>
                    <a:spcPct val="150000"/>
                  </a:lnSpc>
                  <a:spcAft>
                    <a:spcPts val="600"/>
                  </a:spcAft>
                </a:pP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优点：</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1</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）概率形式输出。</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sigmoid</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函数值域为</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1)</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，因此</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Sigmoid</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函数的输出可视为概率值；</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2</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）单调递增。</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Sigmoid</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函数对输入</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取值范围没有限制，但当</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大于一定值后，函数输出无限趋近于</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1</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，而小于一定数值后，函数输出无限趋近于</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。特别地，当</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oMath>
                </a14:m>
                <a:r>
                  <a:rPr lang="en-US" altLang="zh-CN" sz="1600" dirty="0">
                    <a:solidFill>
                      <a:srgbClr val="000000"/>
                    </a:solidFill>
                    <a:latin typeface="Times New Roman" panose="02020603050405020304" pitchFamily="18" charset="0"/>
                    <a:ea typeface="楷体_GB2312"/>
                    <a:cs typeface="Times New Roman" panose="02020603050405020304" pitchFamily="18" charset="0"/>
                  </a:rPr>
                  <a:t>=0 </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时，函数输出为</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0.5</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3</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）非线性变化。</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取值在</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附近时，函数输出值的变化幅度比较大（函数值变化陡峭），意味着函数在</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附近容易被激活且是非线性变化。当</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取值很大或很小时，函数输出值几乎不变，这是基于概率的一种认识与需要。</a:t>
                </a:r>
              </a:p>
              <a:p>
                <a:pPr indent="266700" algn="just">
                  <a:lnSpc>
                    <a:spcPct val="150000"/>
                  </a:lnSpc>
                  <a:spcAft>
                    <a:spcPts val="0"/>
                  </a:spcAft>
                </a:pPr>
                <a:r>
                  <a:rPr lang="en-US" altLang="zh-CN" sz="1600" dirty="0">
                    <a:solidFill>
                      <a:srgbClr val="000000"/>
                    </a:solidFill>
                    <a:latin typeface="Times New Roman" panose="02020603050405020304" pitchFamily="18" charset="0"/>
                    <a:ea typeface="楷体_GB2312"/>
                    <a:cs typeface="Times New Roman" panose="02020603050405020304" pitchFamily="18" charset="0"/>
                  </a:rPr>
                  <a:t>Sigmoid</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函数的导数可以通过如下方式推导得到：</a:t>
                </a:r>
              </a:p>
              <a:p>
                <a:pPr indent="266700" algn="just">
                  <a:lnSpc>
                    <a:spcPct val="150000"/>
                  </a:lnSpc>
                  <a:spcAft>
                    <a:spcPts val="600"/>
                  </a:spcAft>
                </a:pPr>
                <a14:m>
                  <m:oMathPara xmlns:m="http://schemas.openxmlformats.org/officeDocument/2006/math">
                    <m:oMathParaPr>
                      <m:jc m:val="centerGroup"/>
                    </m:oMathParaPr>
                    <m:oMath xmlns:m="http://schemas.openxmlformats.org/officeDocument/2006/math">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𝑓</m:t>
                          </m:r>
                        </m:e>
                        <m:sup>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sup>
                      </m:sSup>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𝑥</m:t>
                          </m:r>
                        </m:e>
                      </m:d>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1+</m:t>
                              </m:r>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𝑒</m:t>
                                  </m:r>
                                </m:e>
                                <m:sup>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𝑥</m:t>
                                  </m:r>
                                </m:sup>
                              </m:sSup>
                            </m:den>
                          </m:f>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e>
                        <m:sup>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sup>
                      </m:sSup>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𝑒</m:t>
                              </m:r>
                            </m:e>
                            <m:sup>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𝑥</m:t>
                              </m:r>
                            </m:sup>
                          </m:sSup>
                        </m:num>
                        <m:den>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(1+</m:t>
                              </m:r>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𝑒</m:t>
                                  </m:r>
                                </m:e>
                                <m:sup>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𝑥</m:t>
                                  </m:r>
                                </m:sup>
                              </m:sSup>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e>
                            <m:sup>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2</m:t>
                              </m:r>
                            </m:sup>
                          </m:sSup>
                        </m:den>
                      </m:f>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1+</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𝑒</m:t>
                              </m:r>
                            </m:e>
                            <m:sup>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𝑥</m:t>
                              </m:r>
                            </m:sup>
                          </m:sSup>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−1</m:t>
                          </m:r>
                        </m:num>
                        <m:den>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(1+</m:t>
                              </m:r>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𝑒</m:t>
                                  </m:r>
                                </m:e>
                                <m:sup>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𝑥</m:t>
                                  </m:r>
                                </m:sup>
                              </m:sSup>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e>
                            <m:sup>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2</m:t>
                              </m:r>
                            </m:sup>
                          </m:sSup>
                        </m:den>
                      </m:f>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1</m:t>
                          </m:r>
                        </m:num>
                        <m:den>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1+</m:t>
                              </m:r>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𝑒</m:t>
                                  </m:r>
                                </m:e>
                                <m:sup>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𝑥</m:t>
                                  </m:r>
                                </m:sup>
                              </m:sSup>
                            </m:e>
                          </m:d>
                        </m:den>
                      </m:f>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1−</m:t>
                          </m:r>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1</m:t>
                              </m:r>
                            </m:num>
                            <m:den>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1+</m:t>
                                  </m:r>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𝑒</m:t>
                                      </m:r>
                                    </m:e>
                                    <m:sup>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𝑥</m:t>
                                      </m:r>
                                    </m:sup>
                                  </m:sSup>
                                </m:e>
                              </m:d>
                            </m:den>
                          </m:f>
                        </m:e>
                      </m:d>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𝑓</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𝑥</m:t>
                          </m:r>
                        </m:e>
                      </m:d>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(1−</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𝑓</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𝑥</m:t>
                          </m:r>
                        </m:e>
                      </m:d>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由于</a:t>
                </a:r>
                <a14:m>
                  <m:oMath xmlns:m="http://schemas.openxmlformats.org/officeDocument/2006/math">
                    <m:r>
                      <a:rPr lang="en-US" altLang="zh-CN" sz="1600">
                        <a:solidFill>
                          <a:schemeClr val="accent2"/>
                        </a:solidFill>
                        <a:latin typeface="Cambria Math" panose="02040503050406030204" pitchFamily="18" charset="0"/>
                        <a:ea typeface="楷体_GB2312"/>
                        <a:cs typeface="Times New Roman" panose="02020603050405020304" pitchFamily="18" charset="0"/>
                      </a:rPr>
                      <m:t>0&lt;</m:t>
                    </m:r>
                    <m:r>
                      <a:rPr lang="en-US" altLang="zh-CN" sz="1600" i="1">
                        <a:solidFill>
                          <a:schemeClr val="accent2"/>
                        </a:solidFill>
                        <a:latin typeface="Cambria Math" panose="02040503050406030204" pitchFamily="18" charset="0"/>
                        <a:ea typeface="楷体_GB2312"/>
                        <a:cs typeface="Times New Roman" panose="02020603050405020304" pitchFamily="18" charset="0"/>
                      </a:rPr>
                      <m:t>𝑓</m:t>
                    </m:r>
                    <m:d>
                      <m:dPr>
                        <m:ctrlPr>
                          <a:rPr lang="zh-CN"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chemeClr val="accent2"/>
                            </a:solidFill>
                            <a:latin typeface="Cambria Math" panose="02040503050406030204" pitchFamily="18" charset="0"/>
                            <a:ea typeface="楷体_GB2312"/>
                            <a:cs typeface="Times New Roman" panose="02020603050405020304" pitchFamily="18" charset="0"/>
                          </a:rPr>
                          <m:t>𝑥</m:t>
                        </m:r>
                      </m:e>
                    </m:d>
                    <m:r>
                      <a:rPr lang="en-US" altLang="zh-CN" sz="1600" i="1">
                        <a:solidFill>
                          <a:schemeClr val="accent2"/>
                        </a:solidFill>
                        <a:latin typeface="Cambria Math" panose="02040503050406030204" pitchFamily="18" charset="0"/>
                        <a:ea typeface="楷体_GB2312"/>
                        <a:cs typeface="Times New Roman" panose="02020603050405020304" pitchFamily="18" charset="0"/>
                      </a:rPr>
                      <m:t>&lt;1</m:t>
                    </m:r>
                  </m:oMath>
                </a14:m>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r>
                      <a:rPr lang="en-US" altLang="zh-CN" sz="1600">
                        <a:solidFill>
                          <a:schemeClr val="accent2"/>
                        </a:solidFill>
                        <a:latin typeface="Cambria Math" panose="02040503050406030204" pitchFamily="18" charset="0"/>
                        <a:ea typeface="楷体_GB2312"/>
                        <a:cs typeface="Times New Roman" panose="02020603050405020304" pitchFamily="18" charset="0"/>
                      </a:rPr>
                      <m:t>0&lt;1</m:t>
                    </m:r>
                    <m:r>
                      <a:rPr lang="en-US" altLang="zh-CN" sz="1600" i="1">
                        <a:solidFill>
                          <a:schemeClr val="accent2"/>
                        </a:solidFill>
                        <a:latin typeface="Cambria Math" panose="02040503050406030204" pitchFamily="18" charset="0"/>
                        <a:ea typeface="楷体_GB2312"/>
                        <a:cs typeface="Times New Roman" panose="02020603050405020304" pitchFamily="18" charset="0"/>
                      </a:rPr>
                      <m:t>−</m:t>
                    </m:r>
                    <m:r>
                      <a:rPr lang="en-US" altLang="zh-CN" sz="1600" i="1">
                        <a:solidFill>
                          <a:schemeClr val="accent2"/>
                        </a:solidFill>
                        <a:latin typeface="Cambria Math" panose="02040503050406030204" pitchFamily="18" charset="0"/>
                        <a:ea typeface="楷体_GB2312"/>
                        <a:cs typeface="Times New Roman" panose="02020603050405020304" pitchFamily="18" charset="0"/>
                      </a:rPr>
                      <m:t>𝑓</m:t>
                    </m:r>
                    <m:d>
                      <m:dPr>
                        <m:ctrlPr>
                          <a:rPr lang="zh-CN"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chemeClr val="accent2"/>
                            </a:solidFill>
                            <a:latin typeface="Cambria Math" panose="02040503050406030204" pitchFamily="18" charset="0"/>
                            <a:ea typeface="楷体_GB2312"/>
                            <a:cs typeface="Times New Roman" panose="02020603050405020304" pitchFamily="18" charset="0"/>
                          </a:rPr>
                          <m:t>𝑥</m:t>
                        </m:r>
                      </m:e>
                    </m:d>
                    <m:r>
                      <a:rPr lang="en-US" altLang="zh-CN" sz="1600" i="1">
                        <a:solidFill>
                          <a:schemeClr val="accent2"/>
                        </a:solidFill>
                        <a:latin typeface="Cambria Math" panose="02040503050406030204" pitchFamily="18" charset="0"/>
                        <a:ea typeface="楷体_GB2312"/>
                        <a:cs typeface="Times New Roman" panose="02020603050405020304" pitchFamily="18" charset="0"/>
                      </a:rPr>
                      <m:t>&lt;1</m:t>
                    </m:r>
                  </m:oMath>
                </a14:m>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，因此</a:t>
                </a:r>
                <a:r>
                  <a:rPr lang="en-US" altLang="zh-CN" sz="1600" dirty="0">
                    <a:solidFill>
                      <a:schemeClr val="accent2"/>
                    </a:solidFill>
                    <a:latin typeface="Times New Roman" panose="02020603050405020304" pitchFamily="18" charset="0"/>
                    <a:ea typeface="楷体_GB2312"/>
                    <a:cs typeface="Times New Roman" panose="02020603050405020304" pitchFamily="18" charset="0"/>
                  </a:rPr>
                  <a:t>Sigmoid</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函数的导数</a:t>
                </a:r>
                <a14:m>
                  <m:oMath xmlns:m="http://schemas.openxmlformats.org/officeDocument/2006/math">
                    <m:r>
                      <a:rPr lang="en-US" altLang="zh-CN" sz="1600" i="1">
                        <a:solidFill>
                          <a:schemeClr val="accent2"/>
                        </a:solidFill>
                        <a:latin typeface="Cambria Math" panose="02040503050406030204" pitchFamily="18" charset="0"/>
                        <a:ea typeface="楷体_GB2312"/>
                        <a:cs typeface="Times New Roman" panose="02020603050405020304" pitchFamily="18" charset="0"/>
                      </a:rPr>
                      <m:t>𝑓</m:t>
                    </m:r>
                    <m:d>
                      <m:dPr>
                        <m:ctrlPr>
                          <a:rPr lang="zh-CN"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chemeClr val="accent2"/>
                            </a:solidFill>
                            <a:latin typeface="Cambria Math" panose="02040503050406030204" pitchFamily="18" charset="0"/>
                            <a:ea typeface="楷体_GB2312"/>
                            <a:cs typeface="Times New Roman" panose="02020603050405020304" pitchFamily="18" charset="0"/>
                          </a:rPr>
                          <m:t>𝑥</m:t>
                        </m:r>
                      </m:e>
                    </m:d>
                    <m:r>
                      <a:rPr lang="en-US" altLang="zh-CN" sz="1600" i="1">
                        <a:solidFill>
                          <a:schemeClr val="accent2"/>
                        </a:solidFill>
                        <a:latin typeface="Cambria Math" panose="02040503050406030204" pitchFamily="18" charset="0"/>
                        <a:ea typeface="楷体_GB2312"/>
                        <a:cs typeface="Times New Roman" panose="02020603050405020304" pitchFamily="18" charset="0"/>
                      </a:rPr>
                      <m:t>(1−</m:t>
                    </m:r>
                    <m:r>
                      <a:rPr lang="en-US" altLang="zh-CN" sz="1600" i="1">
                        <a:solidFill>
                          <a:schemeClr val="accent2"/>
                        </a:solidFill>
                        <a:latin typeface="Cambria Math" panose="02040503050406030204" pitchFamily="18" charset="0"/>
                        <a:ea typeface="楷体_GB2312"/>
                        <a:cs typeface="Times New Roman" panose="02020603050405020304" pitchFamily="18" charset="0"/>
                      </a:rPr>
                      <m:t>𝑓</m:t>
                    </m:r>
                    <m:d>
                      <m:dPr>
                        <m:ctrlPr>
                          <a:rPr lang="zh-CN"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chemeClr val="accent2"/>
                            </a:solidFill>
                            <a:latin typeface="Cambria Math" panose="02040503050406030204" pitchFamily="18" charset="0"/>
                            <a:ea typeface="楷体_GB2312"/>
                            <a:cs typeface="Times New Roman" panose="02020603050405020304" pitchFamily="18" charset="0"/>
                          </a:rPr>
                          <m:t>𝑥</m:t>
                        </m:r>
                      </m:e>
                    </m:d>
                    <m:r>
                      <a:rPr lang="en-US" altLang="zh-CN" sz="1600" i="1">
                        <a:solidFill>
                          <a:schemeClr val="accent2"/>
                        </a:solidFill>
                        <a:latin typeface="Cambria Math" panose="02040503050406030204" pitchFamily="18" charset="0"/>
                        <a:ea typeface="楷体_GB2312"/>
                        <a:cs typeface="Times New Roman" panose="02020603050405020304" pitchFamily="18" charset="0"/>
                      </a:rPr>
                      <m:t>)</m:t>
                    </m:r>
                  </m:oMath>
                </a14:m>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小于</a:t>
                </a:r>
                <a:r>
                  <a:rPr lang="en-US" altLang="zh-CN" sz="1600" dirty="0">
                    <a:solidFill>
                      <a:schemeClr val="accent2"/>
                    </a:solidFill>
                    <a:latin typeface="Times New Roman" panose="02020603050405020304" pitchFamily="18" charset="0"/>
                    <a:ea typeface="楷体_GB2312"/>
                    <a:cs typeface="Times New Roman" panose="02020603050405020304" pitchFamily="18" charset="0"/>
                  </a:rPr>
                  <a:t>1</a:t>
                </a:r>
                <a:r>
                  <a:rPr lang="zh-CN" altLang="en-US" sz="1600" dirty="0">
                    <a:solidFill>
                      <a:schemeClr val="accent2"/>
                    </a:solidFill>
                    <a:latin typeface="Times New Roman" panose="02020603050405020304" pitchFamily="18" charset="0"/>
                    <a:ea typeface="楷体_GB2312"/>
                    <a:cs typeface="Times New Roman" panose="02020603050405020304" pitchFamily="18" charset="0"/>
                  </a:rPr>
                  <a:t>，</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在使用反向传播算法更新参数过程中易出现导数过于接近于</a:t>
                </a:r>
                <a:r>
                  <a:rPr lang="en-US" altLang="zh-CN" sz="1600" dirty="0">
                    <a:solidFill>
                      <a:schemeClr val="accent2"/>
                    </a:solidFill>
                    <a:latin typeface="Times New Roman" panose="02020603050405020304" pitchFamily="18" charset="0"/>
                    <a:ea typeface="楷体_GB2312"/>
                    <a:cs typeface="Times New Roman" panose="02020603050405020304" pitchFamily="18" charset="0"/>
                  </a:rPr>
                  <a:t>0</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的情况，即梯度消失（</a:t>
                </a:r>
                <a:r>
                  <a:rPr lang="en-US" altLang="zh-CN" sz="1600" dirty="0">
                    <a:solidFill>
                      <a:schemeClr val="accent2"/>
                    </a:solidFill>
                    <a:latin typeface="Times New Roman" panose="02020603050405020304" pitchFamily="18" charset="0"/>
                    <a:ea typeface="楷体_GB2312"/>
                    <a:cs typeface="Times New Roman" panose="02020603050405020304" pitchFamily="18" charset="0"/>
                  </a:rPr>
                  <a:t>vanishing gradient</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）的问题，并且这个问题会随着网络的深度增加而变得愈发严重。</a:t>
                </a:r>
              </a:p>
            </p:txBody>
          </p:sp>
        </mc:Choice>
        <mc:Fallback xmlns="">
          <p:sp>
            <p:nvSpPr>
              <p:cNvPr id="8" name="矩形 7">
                <a:extLst>
                  <a:ext uri="{FF2B5EF4-FFF2-40B4-BE49-F238E27FC236}">
                    <a16:creationId xmlns:a16="http://schemas.microsoft.com/office/drawing/2014/main" id="{C2E184CE-95CF-4F20-98AA-D518FE8EEEF6}"/>
                  </a:ext>
                </a:extLst>
              </p:cNvPr>
              <p:cNvSpPr>
                <a:spLocks noRot="1" noChangeAspect="1" noMove="1" noResize="1" noEditPoints="1" noAdjustHandles="1" noChangeArrowheads="1" noChangeShapeType="1" noTextEdit="1"/>
              </p:cNvSpPr>
              <p:nvPr/>
            </p:nvSpPr>
            <p:spPr>
              <a:xfrm>
                <a:off x="977699" y="1747051"/>
                <a:ext cx="10610144" cy="4725781"/>
              </a:xfrm>
              <a:prstGeom prst="rect">
                <a:avLst/>
              </a:prstGeom>
              <a:blipFill>
                <a:blip r:embed="rId3"/>
                <a:stretch>
                  <a:fillRect l="-287" r="-22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09BCBB10-E3AB-4833-973E-1D77A2C29E20}"/>
                  </a:ext>
                </a:extLst>
              </p:cNvPr>
              <p:cNvSpPr/>
              <p:nvPr/>
            </p:nvSpPr>
            <p:spPr>
              <a:xfrm>
                <a:off x="5457079" y="1514127"/>
                <a:ext cx="1759712"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𝑓</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𝑥</m:t>
                          </m:r>
                        </m:e>
                      </m:d>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𝑒</m:t>
                              </m:r>
                            </m:e>
                            <m:sup>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𝑥</m:t>
                              </m:r>
                            </m:sup>
                          </m:sSup>
                        </m:den>
                      </m:f>
                    </m:oMath>
                  </m:oMathPara>
                </a14:m>
                <a:endParaRPr lang="zh-CN" altLang="en-US" dirty="0"/>
              </a:p>
            </p:txBody>
          </p:sp>
        </mc:Choice>
        <mc:Fallback xmlns="">
          <p:sp>
            <p:nvSpPr>
              <p:cNvPr id="11" name="矩形 10">
                <a:extLst>
                  <a:ext uri="{FF2B5EF4-FFF2-40B4-BE49-F238E27FC236}">
                    <a16:creationId xmlns:a16="http://schemas.microsoft.com/office/drawing/2014/main" id="{09BCBB10-E3AB-4833-973E-1D77A2C29E20}"/>
                  </a:ext>
                </a:extLst>
              </p:cNvPr>
              <p:cNvSpPr>
                <a:spLocks noRot="1" noChangeAspect="1" noMove="1" noResize="1" noEditPoints="1" noAdjustHandles="1" noChangeArrowheads="1" noChangeShapeType="1" noTextEdit="1"/>
              </p:cNvSpPr>
              <p:nvPr/>
            </p:nvSpPr>
            <p:spPr>
              <a:xfrm>
                <a:off x="5457079" y="1514127"/>
                <a:ext cx="1759712" cy="617348"/>
              </a:xfrm>
              <a:prstGeom prst="rect">
                <a:avLst/>
              </a:prstGeom>
              <a:blipFill>
                <a:blip r:embed="rId4"/>
                <a:stretch>
                  <a:fillRect/>
                </a:stretch>
              </a:blipFill>
            </p:spPr>
            <p:txBody>
              <a:bodyPr/>
              <a:lstStyle/>
              <a:p>
                <a:r>
                  <a:rPr lang="zh-CN" altLang="en-US">
                    <a:noFill/>
                  </a:rPr>
                  <a:t> </a:t>
                </a:r>
              </a:p>
            </p:txBody>
          </p:sp>
        </mc:Fallback>
      </mc:AlternateContent>
      <p:pic>
        <p:nvPicPr>
          <p:cNvPr id="1026" name="Picture 2">
            <a:extLst>
              <a:ext uri="{FF2B5EF4-FFF2-40B4-BE49-F238E27FC236}">
                <a16:creationId xmlns:a16="http://schemas.microsoft.com/office/drawing/2014/main" id="{8B580D71-4B0A-D28C-3068-F940A278FCD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083040" y="181953"/>
            <a:ext cx="2935181" cy="19567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5731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前馈神经网络：执行非线性映射的激活函数</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sp>
        <p:nvSpPr>
          <p:cNvPr id="7" name="矩形 6">
            <a:extLst>
              <a:ext uri="{FF2B5EF4-FFF2-40B4-BE49-F238E27FC236}">
                <a16:creationId xmlns:a16="http://schemas.microsoft.com/office/drawing/2014/main" id="{07AA08C2-64DA-46C3-8D52-03A7B0581850}"/>
              </a:ext>
            </a:extLst>
          </p:cNvPr>
          <p:cNvSpPr/>
          <p:nvPr/>
        </p:nvSpPr>
        <p:spPr>
          <a:xfrm>
            <a:off x="3221141" y="1254816"/>
            <a:ext cx="1707962" cy="800219"/>
          </a:xfrm>
          <a:prstGeom prst="rect">
            <a:avLst/>
          </a:prstGeom>
        </p:spPr>
        <p:txBody>
          <a:bodyPr wrap="square">
            <a:spAutoFit/>
          </a:bodyPr>
          <a:lstStyle/>
          <a:p>
            <a:endParaRPr lang="zh-CN" altLang="en-US" sz="2800" dirty="0">
              <a:solidFill>
                <a:srgbClr val="000000"/>
              </a:solidFill>
              <a:latin typeface="Helvetica Light"/>
            </a:endParaRPr>
          </a:p>
          <a:p>
            <a:pPr algn="just"/>
            <a:r>
              <a:rPr lang="en-US" altLang="zh-CN" b="1" dirty="0" err="1">
                <a:solidFill>
                  <a:srgbClr val="C00000"/>
                </a:solidFill>
                <a:latin typeface="Times New Roman" panose="02020603050405020304" pitchFamily="18" charset="0"/>
                <a:cs typeface="Times New Roman" panose="02020603050405020304" pitchFamily="18" charset="0"/>
              </a:rPr>
              <a:t>ReLU</a:t>
            </a:r>
            <a:r>
              <a:rPr lang="zh-CN" altLang="zh-CN" b="1" dirty="0">
                <a:solidFill>
                  <a:srgbClr val="C00000"/>
                </a:solidFill>
                <a:latin typeface="Times New Roman" panose="02020603050405020304" pitchFamily="18" charset="0"/>
                <a:cs typeface="Times New Roman" panose="02020603050405020304" pitchFamily="18" charset="0"/>
              </a:rPr>
              <a:t>函数</a:t>
            </a:r>
            <a:endParaRPr lang="zh-CN" altLang="en-US" b="1" dirty="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F1C07977-F466-4E62-94A5-0DED93C63908}"/>
                  </a:ext>
                </a:extLst>
              </p:cNvPr>
              <p:cNvSpPr/>
              <p:nvPr/>
            </p:nvSpPr>
            <p:spPr>
              <a:xfrm>
                <a:off x="4581982" y="1254816"/>
                <a:ext cx="4575483" cy="941925"/>
              </a:xfrm>
              <a:prstGeom prst="rect">
                <a:avLst/>
              </a:prstGeom>
            </p:spPr>
            <p:txBody>
              <a:bodyPr wrap="none">
                <a:spAutoFit/>
              </a:bodyPr>
              <a:lstStyle/>
              <a:p>
                <a:pPr algn="ctr">
                  <a:lnSpc>
                    <a:spcPct val="150000"/>
                  </a:lnSpc>
                  <a:spcAft>
                    <a:spcPts val="600"/>
                  </a:spcAft>
                </a:pPr>
                <a14:m>
                  <m:oMath xmlns:m="http://schemas.openxmlformats.org/officeDocument/2006/math">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𝑓</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𝑥</m:t>
                        </m:r>
                      </m:e>
                    </m:d>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d>
                      <m:dPr>
                        <m:begChr m:val="{"/>
                        <m:endChr m:val=""/>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eqArr>
                          <m:eqArr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0, </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𝑓𝑜𝑟</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𝑥</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&lt;0</m:t>
                            </m:r>
                          </m:e>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𝑥</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𝑓𝑜𝑟</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𝑥</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≥0</m:t>
                            </m:r>
                          </m:e>
                        </m:eqArr>
                      </m:e>
                    </m:d>
                  </m:oMath>
                </a14:m>
                <a:r>
                  <a:rPr lang="en-US" altLang="zh-CN" sz="2400" kern="100" dirty="0">
                    <a:effectLst/>
                    <a:latin typeface="Times New Roman" panose="02020603050405020304" pitchFamily="18" charset="0"/>
                    <a:ea typeface="华文楷体" panose="02010600040101010101" pitchFamily="2" charset="-122"/>
                    <a:cs typeface="Times New Roman" panose="02020603050405020304" pitchFamily="18" charset="0"/>
                  </a:rPr>
                  <a:t>  </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或者</a:t>
                </a:r>
                <a14:m>
                  <m:oMath xmlns:m="http://schemas.openxmlformats.org/officeDocument/2006/math">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𝑓</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𝑥</m:t>
                        </m:r>
                      </m:e>
                    </m:d>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m:rPr>
                        <m:sty m:val="p"/>
                      </m:rPr>
                      <a:rPr lang="en-US" altLang="zh-CN" kern="100">
                        <a:latin typeface="Cambria Math" panose="02040503050406030204" pitchFamily="18" charset="0"/>
                        <a:ea typeface="华文楷体" panose="02010600040101010101" pitchFamily="2" charset="-122"/>
                        <a:cs typeface="Times New Roman" panose="02020603050405020304" pitchFamily="18" charset="0"/>
                      </a:rPr>
                      <m:t>max</m:t>
                    </m:r>
                    <m:r>
                      <a:rPr lang="en-US" altLang="zh-CN"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(0,</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𝑥</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oMath>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F1C07977-F466-4E62-94A5-0DED93C63908}"/>
                  </a:ext>
                </a:extLst>
              </p:cNvPr>
              <p:cNvSpPr>
                <a:spLocks noRot="1" noChangeAspect="1" noMove="1" noResize="1" noEditPoints="1" noAdjustHandles="1" noChangeArrowheads="1" noChangeShapeType="1" noTextEdit="1"/>
              </p:cNvSpPr>
              <p:nvPr/>
            </p:nvSpPr>
            <p:spPr>
              <a:xfrm>
                <a:off x="4581982" y="1254816"/>
                <a:ext cx="4575483" cy="94192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71863D59-987D-426A-B6FF-D5C0BBE73298}"/>
                  </a:ext>
                </a:extLst>
              </p:cNvPr>
              <p:cNvSpPr/>
              <p:nvPr/>
            </p:nvSpPr>
            <p:spPr>
              <a:xfrm>
                <a:off x="1309377" y="2534017"/>
                <a:ext cx="10204488" cy="3124445"/>
              </a:xfrm>
              <a:prstGeom prst="rect">
                <a:avLst/>
              </a:prstGeom>
            </p:spPr>
            <p:txBody>
              <a:bodyPr wrap="square">
                <a:spAutoFit/>
              </a:bodyPr>
              <a:lstStyle/>
              <a:p>
                <a:pPr indent="266700" algn="just">
                  <a:lnSpc>
                    <a:spcPct val="150000"/>
                  </a:lnSpc>
                  <a:spcAft>
                    <a:spcPts val="600"/>
                  </a:spcAft>
                </a:pPr>
                <a:r>
                  <a:rPr lang="en-US" altLang="zh-CN" kern="100" dirty="0" err="1">
                    <a:latin typeface="Times New Roman" panose="02020603050405020304" pitchFamily="18" charset="0"/>
                    <a:ea typeface="华文楷体" panose="02010600040101010101" pitchFamily="2" charset="-122"/>
                    <a:cs typeface="Times New Roman" panose="02020603050405020304" pitchFamily="18" charset="0"/>
                  </a:rPr>
                  <a:t>ReLU</a:t>
                </a:r>
                <a:r>
                  <a:rPr lang="zh-CN" altLang="zh-CN" kern="100" dirty="0">
                    <a:latin typeface="Times New Roman" panose="02020603050405020304" pitchFamily="18" charset="0"/>
                    <a:ea typeface="楷体_GB2312"/>
                    <a:cs typeface="Times New Roman" panose="02020603050405020304" pitchFamily="18" charset="0"/>
                  </a:rPr>
                  <a:t>函数的导数为：</a:t>
                </a:r>
                <a14:m>
                  <m:oMath xmlns:m="http://schemas.openxmlformats.org/officeDocument/2006/math">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𝑓</m:t>
                        </m:r>
                      </m:e>
                      <m:sup>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sup>
                    </m:sSup>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𝑥</m:t>
                        </m:r>
                      </m:e>
                    </m:d>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d>
                      <m:dPr>
                        <m:begChr m:val="{"/>
                        <m:endChr m:val=""/>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eqArr>
                          <m:eqArr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eqArr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0, </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𝑓𝑜𝑟</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𝑥</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&lt;0</m:t>
                            </m:r>
                          </m:e>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1, </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𝑓𝑜𝑟</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𝑥</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≥0</m:t>
                            </m:r>
                          </m:e>
                        </m:eqArr>
                      </m:e>
                    </m:d>
                  </m:oMath>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当输入</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≥0</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时，</a:t>
                </a:r>
                <a:r>
                  <a:rPr lang="en-US" altLang="zh-CN" dirty="0" err="1">
                    <a:solidFill>
                      <a:srgbClr val="000000"/>
                    </a:solidFill>
                    <a:latin typeface="Times New Roman" panose="02020603050405020304" pitchFamily="18" charset="0"/>
                    <a:ea typeface="楷体_GB2312"/>
                    <a:cs typeface="Times New Roman" panose="02020603050405020304" pitchFamily="18" charset="0"/>
                  </a:rPr>
                  <a:t>ReLU</a:t>
                </a:r>
                <a:r>
                  <a:rPr lang="zh-CN" altLang="zh-CN" dirty="0">
                    <a:solidFill>
                      <a:srgbClr val="000000"/>
                    </a:solidFill>
                    <a:latin typeface="Times New Roman" panose="02020603050405020304" pitchFamily="18" charset="0"/>
                    <a:ea typeface="楷体_GB2312"/>
                    <a:cs typeface="Times New Roman" panose="02020603050405020304" pitchFamily="18" charset="0"/>
                  </a:rPr>
                  <a:t>的导数为常数，这样可有效缓解梯度消失这一问题。当</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&lt;0</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时， </a:t>
                </a:r>
                <a:r>
                  <a:rPr lang="en-US" altLang="zh-CN" dirty="0" err="1">
                    <a:solidFill>
                      <a:srgbClr val="000000"/>
                    </a:solidFill>
                    <a:latin typeface="Times New Roman" panose="02020603050405020304" pitchFamily="18" charset="0"/>
                    <a:ea typeface="楷体_GB2312"/>
                    <a:cs typeface="Times New Roman" panose="02020603050405020304" pitchFamily="18" charset="0"/>
                  </a:rPr>
                  <a:t>ReLU</a:t>
                </a:r>
                <a:r>
                  <a:rPr lang="zh-CN" altLang="zh-CN" dirty="0">
                    <a:solidFill>
                      <a:srgbClr val="000000"/>
                    </a:solidFill>
                    <a:latin typeface="Times New Roman" panose="02020603050405020304" pitchFamily="18" charset="0"/>
                    <a:ea typeface="楷体_GB2312"/>
                    <a:cs typeface="Times New Roman" panose="02020603050405020304" pitchFamily="18" charset="0"/>
                  </a:rPr>
                  <a:t>的梯度总是</a:t>
                </a:r>
                <a:r>
                  <a:rPr lang="en-US" altLang="zh-CN" dirty="0">
                    <a:solidFill>
                      <a:srgbClr val="000000"/>
                    </a:solidFill>
                    <a:latin typeface="Times New Roman" panose="02020603050405020304" pitchFamily="18" charset="0"/>
                    <a:ea typeface="楷体_GB2312"/>
                    <a:cs typeface="Times New Roman" panose="02020603050405020304" pitchFamily="18" charset="0"/>
                  </a:rPr>
                  <a:t>0</a:t>
                </a:r>
                <a:r>
                  <a:rPr lang="zh-CN" altLang="zh-CN" dirty="0">
                    <a:solidFill>
                      <a:srgbClr val="000000"/>
                    </a:solidFill>
                    <a:latin typeface="Times New Roman" panose="02020603050405020304" pitchFamily="18" charset="0"/>
                    <a:ea typeface="楷体_GB2312"/>
                    <a:cs typeface="Times New Roman" panose="02020603050405020304" pitchFamily="18" charset="0"/>
                  </a:rPr>
                  <a:t>，导致神经网络中若干参数激活值为</a:t>
                </a:r>
                <a:r>
                  <a:rPr lang="en-US" altLang="zh-CN" dirty="0">
                    <a:solidFill>
                      <a:srgbClr val="000000"/>
                    </a:solidFill>
                    <a:latin typeface="Times New Roman" panose="02020603050405020304" pitchFamily="18" charset="0"/>
                    <a:ea typeface="楷体_GB2312"/>
                    <a:cs typeface="Times New Roman" panose="02020603050405020304" pitchFamily="18" charset="0"/>
                  </a:rPr>
                  <a:t>0</a:t>
                </a:r>
                <a:r>
                  <a:rPr lang="zh-CN" altLang="zh-CN" dirty="0">
                    <a:solidFill>
                      <a:srgbClr val="000000"/>
                    </a:solidFill>
                    <a:latin typeface="Times New Roman" panose="02020603050405020304" pitchFamily="18" charset="0"/>
                    <a:ea typeface="楷体_GB2312"/>
                    <a:cs typeface="Times New Roman" panose="02020603050405020304" pitchFamily="18" charset="0"/>
                  </a:rPr>
                  <a:t>，即参与分类等任务神经元数目稀缺，这种稀疏性可以在一定程度上克服机器学习中经常出现的过拟合现象。然而，当</a:t>
                </a:r>
                <a:r>
                  <a:rPr lang="en-US" altLang="zh-CN" dirty="0">
                    <a:solidFill>
                      <a:srgbClr val="000000"/>
                    </a:solidFill>
                    <a:latin typeface="Times New Roman" panose="02020603050405020304" pitchFamily="18" charset="0"/>
                    <a:ea typeface="楷体_GB2312"/>
                    <a:cs typeface="Times New Roman" panose="02020603050405020304" pitchFamily="18" charset="0"/>
                  </a:rPr>
                  <a:t> x &lt; 0 </a:t>
                </a:r>
                <a:r>
                  <a:rPr lang="zh-CN" altLang="zh-CN" dirty="0">
                    <a:solidFill>
                      <a:srgbClr val="000000"/>
                    </a:solidFill>
                    <a:latin typeface="Times New Roman" panose="02020603050405020304" pitchFamily="18" charset="0"/>
                    <a:ea typeface="楷体_GB2312"/>
                    <a:cs typeface="Times New Roman" panose="02020603050405020304" pitchFamily="18" charset="0"/>
                  </a:rPr>
                  <a:t>时，</a:t>
                </a:r>
                <a:r>
                  <a:rPr lang="en-US" altLang="zh-CN" dirty="0" err="1">
                    <a:solidFill>
                      <a:srgbClr val="000000"/>
                    </a:solidFill>
                    <a:latin typeface="Times New Roman" panose="02020603050405020304" pitchFamily="18" charset="0"/>
                    <a:ea typeface="楷体_GB2312"/>
                    <a:cs typeface="Times New Roman" panose="02020603050405020304" pitchFamily="18" charset="0"/>
                  </a:rPr>
                  <a:t>ReLU</a:t>
                </a:r>
                <a:r>
                  <a:rPr lang="zh-CN" altLang="zh-CN" dirty="0">
                    <a:solidFill>
                      <a:srgbClr val="000000"/>
                    </a:solidFill>
                    <a:latin typeface="Times New Roman" panose="02020603050405020304" pitchFamily="18" charset="0"/>
                    <a:ea typeface="楷体_GB2312"/>
                    <a:cs typeface="Times New Roman" panose="02020603050405020304" pitchFamily="18" charset="0"/>
                  </a:rPr>
                  <a:t>梯度为</a:t>
                </a:r>
                <a:r>
                  <a:rPr lang="en-US" altLang="zh-CN" dirty="0">
                    <a:solidFill>
                      <a:srgbClr val="000000"/>
                    </a:solidFill>
                    <a:latin typeface="Times New Roman" panose="02020603050405020304" pitchFamily="18" charset="0"/>
                    <a:ea typeface="楷体_GB2312"/>
                    <a:cs typeface="Times New Roman" panose="02020603050405020304" pitchFamily="18" charset="0"/>
                  </a:rPr>
                  <a:t>0</a:t>
                </a:r>
                <a:r>
                  <a:rPr lang="zh-CN" altLang="zh-CN" dirty="0">
                    <a:solidFill>
                      <a:srgbClr val="000000"/>
                    </a:solidFill>
                    <a:latin typeface="Times New Roman" panose="02020603050405020304" pitchFamily="18" charset="0"/>
                    <a:ea typeface="楷体_GB2312"/>
                    <a:cs typeface="Times New Roman" panose="02020603050405020304" pitchFamily="18" charset="0"/>
                  </a:rPr>
                  <a:t>也导致神经元</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死亡</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，即神经元对应权重永远不会更新。为了解决这个问题，可以使用其他激活函数，如</a:t>
                </a:r>
                <a:r>
                  <a:rPr lang="en-US" altLang="zh-CN" dirty="0">
                    <a:solidFill>
                      <a:srgbClr val="000000"/>
                    </a:solidFill>
                    <a:latin typeface="Times New Roman" panose="02020603050405020304" pitchFamily="18" charset="0"/>
                    <a:ea typeface="楷体_GB2312"/>
                    <a:cs typeface="Times New Roman" panose="02020603050405020304" pitchFamily="18" charset="0"/>
                  </a:rPr>
                  <a:t> Leaky </a:t>
                </a:r>
                <a:r>
                  <a:rPr lang="en-US" altLang="zh-CN" dirty="0" err="1">
                    <a:solidFill>
                      <a:srgbClr val="000000"/>
                    </a:solidFill>
                    <a:latin typeface="Times New Roman" panose="02020603050405020304" pitchFamily="18" charset="0"/>
                    <a:ea typeface="楷体_GB2312"/>
                    <a:cs typeface="Times New Roman" panose="02020603050405020304" pitchFamily="18" charset="0"/>
                  </a:rPr>
                  <a:t>ReLU</a:t>
                </a:r>
                <a:r>
                  <a:rPr lang="en-US" altLang="zh-CN" dirty="0">
                    <a:solidFill>
                      <a:srgbClr val="000000"/>
                    </a:solidFill>
                    <a:latin typeface="Times New Roman" panose="02020603050405020304" pitchFamily="18" charset="0"/>
                    <a:ea typeface="楷体_GB2312"/>
                    <a:cs typeface="Times New Roman" panose="02020603050405020304" pitchFamily="18" charset="0"/>
                  </a:rPr>
                  <a:t> </a:t>
                </a:r>
                <a:r>
                  <a:rPr lang="zh-CN" altLang="zh-CN" dirty="0">
                    <a:solidFill>
                      <a:srgbClr val="000000"/>
                    </a:solidFill>
                    <a:latin typeface="Times New Roman" panose="02020603050405020304" pitchFamily="18" charset="0"/>
                    <a:ea typeface="楷体_GB2312"/>
                    <a:cs typeface="Times New Roman" panose="02020603050405020304" pitchFamily="18" charset="0"/>
                  </a:rPr>
                  <a:t>或</a:t>
                </a:r>
                <a:r>
                  <a:rPr lang="en-US" altLang="zh-CN" dirty="0">
                    <a:solidFill>
                      <a:srgbClr val="000000"/>
                    </a:solidFill>
                    <a:latin typeface="Times New Roman" panose="02020603050405020304" pitchFamily="18" charset="0"/>
                    <a:ea typeface="楷体_GB2312"/>
                    <a:cs typeface="Times New Roman" panose="02020603050405020304" pitchFamily="18" charset="0"/>
                  </a:rPr>
                  <a:t>Parametric </a:t>
                </a:r>
                <a:r>
                  <a:rPr lang="en-US" altLang="zh-CN" dirty="0" err="1">
                    <a:solidFill>
                      <a:srgbClr val="000000"/>
                    </a:solidFill>
                    <a:latin typeface="Times New Roman" panose="02020603050405020304" pitchFamily="18" charset="0"/>
                    <a:ea typeface="楷体_GB2312"/>
                    <a:cs typeface="Times New Roman" panose="02020603050405020304" pitchFamily="18" charset="0"/>
                  </a:rPr>
                  <a:t>ReLU</a:t>
                </a:r>
                <a:r>
                  <a:rPr lang="zh-CN" altLang="zh-CN" dirty="0">
                    <a:solidFill>
                      <a:srgbClr val="000000"/>
                    </a:solidFill>
                    <a:latin typeface="Times New Roman" panose="02020603050405020304" pitchFamily="18" charset="0"/>
                    <a:ea typeface="楷体_GB2312"/>
                    <a:cs typeface="Times New Roman" panose="02020603050405020304" pitchFamily="18" charset="0"/>
                  </a:rPr>
                  <a:t>，它们在</a:t>
                </a:r>
                <a:r>
                  <a:rPr lang="en-US" altLang="zh-CN" dirty="0">
                    <a:solidFill>
                      <a:srgbClr val="000000"/>
                    </a:solidFill>
                    <a:latin typeface="Times New Roman" panose="02020603050405020304" pitchFamily="18" charset="0"/>
                    <a:ea typeface="楷体_GB2312"/>
                    <a:cs typeface="Times New Roman" panose="02020603050405020304" pitchFamily="18" charset="0"/>
                  </a:rPr>
                  <a:t>x &lt; 0</a:t>
                </a:r>
                <a:r>
                  <a:rPr lang="zh-CN" altLang="zh-CN" dirty="0">
                    <a:solidFill>
                      <a:srgbClr val="000000"/>
                    </a:solidFill>
                    <a:latin typeface="Times New Roman" panose="02020603050405020304" pitchFamily="18" charset="0"/>
                    <a:ea typeface="楷体_GB2312"/>
                    <a:cs typeface="Times New Roman" panose="02020603050405020304" pitchFamily="18" charset="0"/>
                  </a:rPr>
                  <a:t>时梯度取值非零。</a:t>
                </a:r>
              </a:p>
            </p:txBody>
          </p:sp>
        </mc:Choice>
        <mc:Fallback xmlns="">
          <p:sp>
            <p:nvSpPr>
              <p:cNvPr id="9" name="矩形 8">
                <a:extLst>
                  <a:ext uri="{FF2B5EF4-FFF2-40B4-BE49-F238E27FC236}">
                    <a16:creationId xmlns:a16="http://schemas.microsoft.com/office/drawing/2014/main" id="{71863D59-987D-426A-B6FF-D5C0BBE73298}"/>
                  </a:ext>
                </a:extLst>
              </p:cNvPr>
              <p:cNvSpPr>
                <a:spLocks noRot="1" noChangeAspect="1" noMove="1" noResize="1" noEditPoints="1" noAdjustHandles="1" noChangeArrowheads="1" noChangeShapeType="1" noTextEdit="1"/>
              </p:cNvSpPr>
              <p:nvPr/>
            </p:nvSpPr>
            <p:spPr>
              <a:xfrm>
                <a:off x="1309377" y="2534017"/>
                <a:ext cx="10204488" cy="3124445"/>
              </a:xfrm>
              <a:prstGeom prst="rect">
                <a:avLst/>
              </a:prstGeom>
              <a:blipFill>
                <a:blip r:embed="rId4"/>
                <a:stretch>
                  <a:fillRect l="-538" r="-478" b="-23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99082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前馈神经网络：执行非线性映射的激活函数</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sp>
        <p:nvSpPr>
          <p:cNvPr id="7" name="矩形 6">
            <a:extLst>
              <a:ext uri="{FF2B5EF4-FFF2-40B4-BE49-F238E27FC236}">
                <a16:creationId xmlns:a16="http://schemas.microsoft.com/office/drawing/2014/main" id="{07AA08C2-64DA-46C3-8D52-03A7B0581850}"/>
              </a:ext>
            </a:extLst>
          </p:cNvPr>
          <p:cNvSpPr/>
          <p:nvPr/>
        </p:nvSpPr>
        <p:spPr>
          <a:xfrm>
            <a:off x="3336612" y="1118109"/>
            <a:ext cx="2586291" cy="800219"/>
          </a:xfrm>
          <a:prstGeom prst="rect">
            <a:avLst/>
          </a:prstGeom>
        </p:spPr>
        <p:txBody>
          <a:bodyPr wrap="square">
            <a:spAutoFit/>
          </a:bodyPr>
          <a:lstStyle/>
          <a:p>
            <a:endParaRPr lang="zh-CN" altLang="en-US" sz="2800" dirty="0">
              <a:solidFill>
                <a:srgbClr val="000000"/>
              </a:solidFill>
              <a:latin typeface="Helvetica Light"/>
            </a:endParaRPr>
          </a:p>
          <a:p>
            <a:pPr algn="just"/>
            <a:r>
              <a:rPr lang="en-US" altLang="zh-CN" b="1" dirty="0" err="1">
                <a:solidFill>
                  <a:srgbClr val="C00000"/>
                </a:solidFill>
                <a:latin typeface="Times New Roman" panose="02020603050405020304" pitchFamily="18" charset="0"/>
                <a:cs typeface="Times New Roman" panose="02020603050405020304" pitchFamily="18" charset="0"/>
              </a:rPr>
              <a:t>Softmax</a:t>
            </a:r>
            <a:r>
              <a:rPr lang="zh-CN" altLang="zh-CN" b="1" dirty="0">
                <a:solidFill>
                  <a:srgbClr val="C00000"/>
                </a:solidFill>
                <a:latin typeface="Times New Roman" panose="02020603050405020304" pitchFamily="18" charset="0"/>
                <a:cs typeface="Times New Roman" panose="02020603050405020304" pitchFamily="18" charset="0"/>
              </a:rPr>
              <a:t>激活函数</a:t>
            </a:r>
            <a:endParaRPr lang="zh-CN" altLang="en-US" b="1" dirty="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29EE2B80-0081-4515-8633-74BA45AF6844}"/>
                  </a:ext>
                </a:extLst>
              </p:cNvPr>
              <p:cNvSpPr/>
              <p:nvPr/>
            </p:nvSpPr>
            <p:spPr>
              <a:xfrm>
                <a:off x="5408314" y="1339607"/>
                <a:ext cx="3033010" cy="7378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1">
                              <a:latin typeface="Cambria Math" panose="02040503050406030204" pitchFamily="18" charset="0"/>
                            </a:rPr>
                            <m:t>𝑖</m:t>
                          </m:r>
                        </m:sub>
                      </m:sSub>
                      <m:r>
                        <a:rPr lang="zh-CN" altLang="en-US" i="0">
                          <a:latin typeface="Cambria Math" panose="02040503050406030204" pitchFamily="18" charset="0"/>
                        </a:rPr>
                        <m:t>=</m:t>
                      </m:r>
                      <m:r>
                        <m:rPr>
                          <m:sty m:val="p"/>
                        </m:rPr>
                        <a:rPr lang="zh-CN" altLang="en-US" i="0">
                          <a:latin typeface="Cambria Math" panose="02040503050406030204" pitchFamily="18" charset="0"/>
                        </a:rPr>
                        <m:t>softmax</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𝑖</m:t>
                              </m:r>
                            </m:sub>
                          </m:sSub>
                        </m:e>
                      </m:d>
                      <m:r>
                        <a:rPr lang="zh-CN" altLang="en-US" i="0">
                          <a:latin typeface="Cambria Math" panose="02040503050406030204" pitchFamily="18" charset="0"/>
                        </a:rPr>
                        <m:t>=</m:t>
                      </m:r>
                      <m:f>
                        <m:fPr>
                          <m:ctrlPr>
                            <a:rPr lang="zh-CN" altLang="en-US" i="1">
                              <a:latin typeface="Cambria Math" panose="02040503050406030204" pitchFamily="18" charset="0"/>
                            </a:rPr>
                          </m:ctrlPr>
                        </m:fPr>
                        <m:num>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𝑖</m:t>
                                  </m:r>
                                </m:sub>
                              </m:sSub>
                            </m:sup>
                          </m:sSup>
                        </m:num>
                        <m:den>
                          <m:nary>
                            <m:naryPr>
                              <m:chr m:val="∑"/>
                              <m:limLoc m:val="subSup"/>
                              <m:ctrlPr>
                                <a:rPr lang="zh-CN" altLang="en-US" i="1">
                                  <a:latin typeface="Cambria Math" panose="02040503050406030204" pitchFamily="18" charset="0"/>
                                </a:rPr>
                              </m:ctrlPr>
                            </m:naryPr>
                            <m:sub>
                              <m:r>
                                <a:rPr lang="zh-CN" altLang="en-US" i="1">
                                  <a:latin typeface="Cambria Math" panose="02040503050406030204" pitchFamily="18" charset="0"/>
                                </a:rPr>
                                <m:t>𝑗</m:t>
                              </m:r>
                              <m:r>
                                <a:rPr lang="zh-CN" altLang="en-US" i="0">
                                  <a:latin typeface="Cambria Math" panose="02040503050406030204" pitchFamily="18" charset="0"/>
                                </a:rPr>
                                <m:t>=1</m:t>
                              </m:r>
                            </m:sub>
                            <m:sup>
                              <m:r>
                                <a:rPr lang="zh-CN" altLang="en-US" i="1">
                                  <a:latin typeface="Cambria Math" panose="02040503050406030204" pitchFamily="18" charset="0"/>
                                </a:rPr>
                                <m:t>𝑘</m:t>
                              </m:r>
                            </m:sup>
                            <m:e>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𝑗</m:t>
                                      </m:r>
                                    </m:sub>
                                  </m:sSub>
                                </m:sup>
                              </m:sSup>
                            </m:e>
                          </m:nary>
                        </m:den>
                      </m:f>
                    </m:oMath>
                  </m:oMathPara>
                </a14:m>
                <a:endParaRPr lang="zh-CN" altLang="en-US" dirty="0"/>
              </a:p>
            </p:txBody>
          </p:sp>
        </mc:Choice>
        <mc:Fallback xmlns="">
          <p:sp>
            <p:nvSpPr>
              <p:cNvPr id="8" name="矩形 7">
                <a:extLst>
                  <a:ext uri="{FF2B5EF4-FFF2-40B4-BE49-F238E27FC236}">
                    <a16:creationId xmlns:a16="http://schemas.microsoft.com/office/drawing/2014/main" id="{29EE2B80-0081-4515-8633-74BA45AF6844}"/>
                  </a:ext>
                </a:extLst>
              </p:cNvPr>
              <p:cNvSpPr>
                <a:spLocks noRot="1" noChangeAspect="1" noMove="1" noResize="1" noEditPoints="1" noAdjustHandles="1" noChangeArrowheads="1" noChangeShapeType="1" noTextEdit="1"/>
              </p:cNvSpPr>
              <p:nvPr/>
            </p:nvSpPr>
            <p:spPr>
              <a:xfrm>
                <a:off x="5408314" y="1339607"/>
                <a:ext cx="3033010" cy="737831"/>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EBCDC1FE-864A-4716-83F9-0501E6D86C1F}"/>
                  </a:ext>
                </a:extLst>
              </p:cNvPr>
              <p:cNvSpPr/>
              <p:nvPr/>
            </p:nvSpPr>
            <p:spPr>
              <a:xfrm>
                <a:off x="291638" y="2199289"/>
                <a:ext cx="6633181" cy="3416320"/>
              </a:xfrm>
              <a:prstGeom prst="rect">
                <a:avLst/>
              </a:prstGeom>
            </p:spPr>
            <p:txBody>
              <a:bodyPr wrap="square">
                <a:spAutoFit/>
              </a:bodyPr>
              <a:lstStyle/>
              <a:p>
                <a:pPr indent="266700" algn="just">
                  <a:lnSpc>
                    <a:spcPct val="150000"/>
                  </a:lnSpc>
                  <a:spcAft>
                    <a:spcPts val="0"/>
                  </a:spcAft>
                </a:pPr>
                <a:r>
                  <a:rPr lang="en-US" altLang="zh-CN" sz="1600" dirty="0" err="1">
                    <a:solidFill>
                      <a:srgbClr val="000000"/>
                    </a:solidFill>
                    <a:latin typeface="Times New Roman" panose="02020603050405020304" pitchFamily="18" charset="0"/>
                    <a:ea typeface="楷体_GB2312"/>
                    <a:cs typeface="Times New Roman" panose="02020603050405020304" pitchFamily="18" charset="0"/>
                  </a:rPr>
                  <a:t>Softmax</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函数一般用于多分类问题中，它是对逻辑斯蒂（</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logistic</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）回归的一种推广，也被称为多项逻辑斯蒂回归模型</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(multi-nominal logistic mode)</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。假设要实现</a:t>
                </a:r>
                <a14:m>
                  <m:oMath xmlns:m="http://schemas.openxmlformats.org/officeDocument/2006/math">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𝑘</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个类别的分类任务，</a:t>
                </a:r>
                <a:r>
                  <a:rPr lang="en-US" altLang="zh-CN" sz="1600" dirty="0" err="1">
                    <a:solidFill>
                      <a:srgbClr val="000000"/>
                    </a:solidFill>
                    <a:latin typeface="Times New Roman" panose="02020603050405020304" pitchFamily="18" charset="0"/>
                    <a:ea typeface="楷体_GB2312"/>
                    <a:cs typeface="Times New Roman" panose="02020603050405020304" pitchFamily="18" charset="0"/>
                  </a:rPr>
                  <a:t>Softmax</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函数将输入数据</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映射到第</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个类别的概率</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如下计算：</a:t>
                </a: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显然，</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0&lt;</m:t>
                        </m:r>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&lt;1</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。图</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5.5</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给出了三类分类问题的</a:t>
                </a:r>
                <a:r>
                  <a:rPr lang="en-US" altLang="zh-CN" sz="1600" dirty="0" err="1">
                    <a:solidFill>
                      <a:srgbClr val="000000"/>
                    </a:solidFill>
                    <a:latin typeface="Times New Roman" panose="02020603050405020304" pitchFamily="18" charset="0"/>
                    <a:ea typeface="楷体_GB2312"/>
                    <a:cs typeface="Times New Roman" panose="02020603050405020304" pitchFamily="18" charset="0"/>
                  </a:rPr>
                  <a:t>Softmax</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输出示意图。在图中，对于取值为</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4</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1</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和</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-4</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2</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3</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，通过</a:t>
                </a:r>
                <a:r>
                  <a:rPr lang="en-US" altLang="zh-CN" sz="1600" dirty="0" err="1">
                    <a:solidFill>
                      <a:srgbClr val="000000"/>
                    </a:solidFill>
                    <a:latin typeface="Times New Roman" panose="02020603050405020304" pitchFamily="18" charset="0"/>
                    <a:ea typeface="楷体_GB2312"/>
                    <a:cs typeface="Times New Roman" panose="02020603050405020304" pitchFamily="18" charset="0"/>
                  </a:rPr>
                  <a:t>softmax</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变换后，将其映射到</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(0,1)</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之间的概率值。</a:t>
                </a: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由于</a:t>
                </a:r>
                <a:r>
                  <a:rPr lang="en-US" altLang="zh-CN" sz="1600" dirty="0" err="1">
                    <a:solidFill>
                      <a:srgbClr val="000000"/>
                    </a:solidFill>
                    <a:latin typeface="Times New Roman" panose="02020603050405020304" pitchFamily="18" charset="0"/>
                    <a:ea typeface="楷体_GB2312"/>
                    <a:cs typeface="Times New Roman" panose="02020603050405020304" pitchFamily="18" charset="0"/>
                  </a:rPr>
                  <a:t>Softmax</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输出结果的值累加起来为</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1</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，因此可将输出概率最大的作为分类目标（图</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5.5</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中被分类为第一类）。</a:t>
                </a:r>
              </a:p>
            </p:txBody>
          </p:sp>
        </mc:Choice>
        <mc:Fallback xmlns="">
          <p:sp>
            <p:nvSpPr>
              <p:cNvPr id="11" name="矩形 10">
                <a:extLst>
                  <a:ext uri="{FF2B5EF4-FFF2-40B4-BE49-F238E27FC236}">
                    <a16:creationId xmlns:a16="http://schemas.microsoft.com/office/drawing/2014/main" id="{EBCDC1FE-864A-4716-83F9-0501E6D86C1F}"/>
                  </a:ext>
                </a:extLst>
              </p:cNvPr>
              <p:cNvSpPr>
                <a:spLocks noRot="1" noChangeAspect="1" noMove="1" noResize="1" noEditPoints="1" noAdjustHandles="1" noChangeArrowheads="1" noChangeShapeType="1" noTextEdit="1"/>
              </p:cNvSpPr>
              <p:nvPr/>
            </p:nvSpPr>
            <p:spPr>
              <a:xfrm>
                <a:off x="291638" y="2199289"/>
                <a:ext cx="6633181" cy="3416320"/>
              </a:xfrm>
              <a:prstGeom prst="rect">
                <a:avLst/>
              </a:prstGeom>
              <a:blipFill>
                <a:blip r:embed="rId4"/>
                <a:stretch>
                  <a:fillRect l="-551" r="-460" b="-179"/>
                </a:stretch>
              </a:blipFill>
            </p:spPr>
            <p:txBody>
              <a:bodyPr/>
              <a:lstStyle/>
              <a:p>
                <a:r>
                  <a:rPr lang="zh-CN" altLang="en-US">
                    <a:noFill/>
                  </a:rPr>
                  <a:t> </a:t>
                </a:r>
              </a:p>
            </p:txBody>
          </p:sp>
        </mc:Fallback>
      </mc:AlternateContent>
      <p:pic>
        <p:nvPicPr>
          <p:cNvPr id="12" name="图片 11">
            <a:extLst>
              <a:ext uri="{FF2B5EF4-FFF2-40B4-BE49-F238E27FC236}">
                <a16:creationId xmlns:a16="http://schemas.microsoft.com/office/drawing/2014/main" id="{747D83A9-4663-4929-AC0D-09F30CED8C14}"/>
              </a:ext>
            </a:extLst>
          </p:cNvPr>
          <p:cNvPicPr>
            <a:picLocks noChangeAspect="1"/>
          </p:cNvPicPr>
          <p:nvPr/>
        </p:nvPicPr>
        <p:blipFill>
          <a:blip r:embed="rId5"/>
          <a:stretch>
            <a:fillRect/>
          </a:stretch>
        </p:blipFill>
        <p:spPr>
          <a:xfrm>
            <a:off x="7689908" y="2686398"/>
            <a:ext cx="2747591" cy="2442103"/>
          </a:xfrm>
          <a:prstGeom prst="rect">
            <a:avLst/>
          </a:prstGeom>
        </p:spPr>
      </p:pic>
    </p:spTree>
    <p:extLst>
      <p:ext uri="{BB962C8B-B14F-4D97-AF65-F5344CB8AC3E}">
        <p14:creationId xmlns:p14="http://schemas.microsoft.com/office/powerpoint/2010/main" val="2619864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前馈神经网络：神经网络参数优化</a:t>
              </a: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75705535-D491-4DF3-A0AE-D4F44A91B4EC}"/>
                  </a:ext>
                </a:extLst>
              </p:cNvPr>
              <p:cNvSpPr/>
              <p:nvPr/>
            </p:nvSpPr>
            <p:spPr>
              <a:xfrm>
                <a:off x="427442" y="1685974"/>
                <a:ext cx="10934925" cy="3860159"/>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1500" dirty="0">
                    <a:solidFill>
                      <a:srgbClr val="000000"/>
                    </a:solidFill>
                    <a:latin typeface="Times New Roman" panose="02020603050405020304" pitchFamily="18" charset="0"/>
                    <a:ea typeface="楷体_GB2312"/>
                    <a:cs typeface="Times New Roman" panose="02020603050405020304" pitchFamily="18" charset="0"/>
                  </a:rPr>
                  <a:t>在设计完成一个多层神经网络的结构后（比如多少个隐藏层，每个隐藏层中包含的神经元数目以及神经元采用的非线性激活函数等），需要对神经网络中参数（如神经元之间连接权重系数以及激活函数系数等）进行优化学习，以使得神经网络能够将给定输入数据映射到所期望的输出语义空间（如将一幅像素点构成的图像数据映射为人脸），完成分类识别等任务。</a:t>
                </a:r>
                <a:endParaRPr lang="en-US" altLang="zh-CN" sz="15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zh-CN" altLang="zh-CN" sz="15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sz="1500" dirty="0">
                    <a:solidFill>
                      <a:srgbClr val="000000"/>
                    </a:solidFill>
                    <a:latin typeface="Times New Roman" panose="02020603050405020304" pitchFamily="18" charset="0"/>
                    <a:ea typeface="楷体_GB2312"/>
                    <a:cs typeface="Times New Roman" panose="02020603050405020304" pitchFamily="18" charset="0"/>
                  </a:rPr>
                  <a:t>神经网络参数优化是一个</a:t>
                </a:r>
                <a:r>
                  <a:rPr lang="zh-CN" altLang="zh-CN" sz="1500" dirty="0">
                    <a:solidFill>
                      <a:schemeClr val="accent2"/>
                    </a:solidFill>
                    <a:latin typeface="Times New Roman" panose="02020603050405020304" pitchFamily="18" charset="0"/>
                    <a:ea typeface="楷体_GB2312"/>
                    <a:cs typeface="Times New Roman" panose="02020603050405020304" pitchFamily="18" charset="0"/>
                  </a:rPr>
                  <a:t>监督学习</a:t>
                </a:r>
                <a:r>
                  <a:rPr lang="zh-CN" altLang="zh-CN" sz="1500" dirty="0">
                    <a:solidFill>
                      <a:srgbClr val="000000"/>
                    </a:solidFill>
                    <a:latin typeface="Times New Roman" panose="02020603050405020304" pitchFamily="18" charset="0"/>
                    <a:ea typeface="楷体_GB2312"/>
                    <a:cs typeface="Times New Roman" panose="02020603050405020304" pitchFamily="18" charset="0"/>
                  </a:rPr>
                  <a:t>的过程。给定</a:t>
                </a:r>
                <a14:m>
                  <m:oMath xmlns:m="http://schemas.openxmlformats.org/officeDocument/2006/math">
                    <m:r>
                      <a:rPr lang="en-US"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个标注样本数据</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a:solidFill>
                              <a:srgbClr val="000000"/>
                            </a:solidFill>
                            <a:latin typeface="Cambria Math" panose="02040503050406030204" pitchFamily="18" charset="0"/>
                            <a:ea typeface="楷体_GB2312"/>
                            <a:cs typeface="Times New Roman" panose="02020603050405020304" pitchFamily="18" charset="0"/>
                          </a:rPr>
                          <m:t>(</m:t>
                        </m:r>
                        <m:r>
                          <a:rPr lang="en-US" altLang="zh-CN" sz="15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5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5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，这里</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是输入数据、</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是</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的类别等标注信息。假设输入数据</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经过神经网络处理后所得输出预测值为</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500"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，则可通过损失函数来计算模型预测值</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500"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与真实值</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之间误差或损失，利用其来优化模型参数，以便让神经网络按照</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的真实信息</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输出，即让神经网络对数据进行</a:t>
                </a:r>
                <a:r>
                  <a:rPr lang="zh-CN" altLang="zh-CN" sz="1500" dirty="0">
                    <a:solidFill>
                      <a:schemeClr val="accent2"/>
                    </a:solidFill>
                    <a:latin typeface="Times New Roman" panose="02020603050405020304" pitchFamily="18" charset="0"/>
                    <a:ea typeface="楷体_GB2312"/>
                    <a:cs typeface="Times New Roman" panose="02020603050405020304" pitchFamily="18" charset="0"/>
                  </a:rPr>
                  <a:t>拟合（</a:t>
                </a:r>
                <a:r>
                  <a:rPr lang="en-US" altLang="zh-CN" sz="1500" dirty="0">
                    <a:solidFill>
                      <a:schemeClr val="accent2"/>
                    </a:solidFill>
                    <a:latin typeface="Times New Roman" panose="02020603050405020304" pitchFamily="18" charset="0"/>
                    <a:ea typeface="楷体_GB2312"/>
                    <a:cs typeface="Times New Roman" panose="02020603050405020304" pitchFamily="18" charset="0"/>
                  </a:rPr>
                  <a:t>data fitting</a:t>
                </a:r>
                <a:r>
                  <a:rPr lang="zh-CN" altLang="zh-CN" sz="1500" dirty="0">
                    <a:solidFill>
                      <a:schemeClr val="accent2"/>
                    </a:solidFill>
                    <a:latin typeface="Times New Roman" panose="02020603050405020304" pitchFamily="18" charset="0"/>
                    <a:ea typeface="楷体_GB2312"/>
                    <a:cs typeface="Times New Roman" panose="02020603050405020304" pitchFamily="18" charset="0"/>
                  </a:rPr>
                  <a:t>）</a:t>
                </a:r>
                <a:r>
                  <a:rPr lang="zh-CN" altLang="zh-CN" sz="1500" dirty="0">
                    <a:solidFill>
                      <a:srgbClr val="000000"/>
                    </a:solidFill>
                    <a:latin typeface="Times New Roman" panose="02020603050405020304" pitchFamily="18" charset="0"/>
                    <a:ea typeface="楷体_GB2312"/>
                    <a:cs typeface="Times New Roman" panose="02020603050405020304" pitchFamily="18" charset="0"/>
                  </a:rPr>
                  <a:t>。</a:t>
                </a:r>
              </a:p>
              <a:p>
                <a:pPr marL="285750" indent="-285750" algn="just">
                  <a:lnSpc>
                    <a:spcPct val="150000"/>
                  </a:lnSpc>
                  <a:spcAft>
                    <a:spcPts val="0"/>
                  </a:spcAft>
                  <a:buFont typeface="Wingdings" panose="05000000000000000000" pitchFamily="2" charset="2"/>
                  <a:buChar char="l"/>
                </a:pPr>
                <a:endParaRPr lang="en-US" altLang="zh-CN" sz="15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sz="1500" dirty="0">
                    <a:solidFill>
                      <a:srgbClr val="000000"/>
                    </a:solidFill>
                    <a:latin typeface="Times New Roman" panose="02020603050405020304" pitchFamily="18" charset="0"/>
                    <a:ea typeface="楷体_GB2312"/>
                    <a:cs typeface="Times New Roman" panose="02020603050405020304" pitchFamily="18" charset="0"/>
                  </a:rPr>
                  <a:t>具体而言，模型会利用</a:t>
                </a:r>
                <a:r>
                  <a:rPr lang="zh-CN" altLang="zh-CN" sz="1500" dirty="0">
                    <a:solidFill>
                      <a:schemeClr val="accent2"/>
                    </a:solidFill>
                    <a:latin typeface="Times New Roman" panose="02020603050405020304" pitchFamily="18" charset="0"/>
                    <a:ea typeface="楷体_GB2312"/>
                    <a:cs typeface="Times New Roman" panose="02020603050405020304" pitchFamily="18" charset="0"/>
                  </a:rPr>
                  <a:t>反向传播算法</a:t>
                </a:r>
                <a:r>
                  <a:rPr lang="zh-CN" altLang="zh-CN" sz="1500" dirty="0">
                    <a:solidFill>
                      <a:srgbClr val="000000"/>
                    </a:solidFill>
                    <a:latin typeface="Times New Roman" panose="02020603050405020304" pitchFamily="18" charset="0"/>
                    <a:ea typeface="楷体_GB2312"/>
                    <a:cs typeface="Times New Roman" panose="02020603050405020304" pitchFamily="18" charset="0"/>
                  </a:rPr>
                  <a:t>将损失函数计算所得误差从输出端出发、由后向前传递给神经网络中每个单元，然后通过梯度下降算法对神经网络中参数进行更新。随着迭代的进行，模型预测所得</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1500"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与真实值</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之间的误差逐步缩小，模型预测准确率得以提升，预测的能力得以增强，当迭代达到一定轮次或准确率达到一定水平时，则可认为模型参数已被优化完毕。</a:t>
                </a:r>
              </a:p>
            </p:txBody>
          </p:sp>
        </mc:Choice>
        <mc:Fallback xmlns="">
          <p:sp>
            <p:nvSpPr>
              <p:cNvPr id="2" name="矩形 1">
                <a:extLst>
                  <a:ext uri="{FF2B5EF4-FFF2-40B4-BE49-F238E27FC236}">
                    <a16:creationId xmlns:a16="http://schemas.microsoft.com/office/drawing/2014/main" id="{75705535-D491-4DF3-A0AE-D4F44A91B4EC}"/>
                  </a:ext>
                </a:extLst>
              </p:cNvPr>
              <p:cNvSpPr>
                <a:spLocks noRot="1" noChangeAspect="1" noMove="1" noResize="1" noEditPoints="1" noAdjustHandles="1" noChangeArrowheads="1" noChangeShapeType="1" noTextEdit="1"/>
              </p:cNvSpPr>
              <p:nvPr/>
            </p:nvSpPr>
            <p:spPr>
              <a:xfrm>
                <a:off x="427442" y="1685974"/>
                <a:ext cx="10934925" cy="3860159"/>
              </a:xfrm>
              <a:prstGeom prst="rect">
                <a:avLst/>
              </a:prstGeom>
              <a:blipFill>
                <a:blip r:embed="rId3"/>
                <a:stretch>
                  <a:fillRect l="-167" r="-223" b="-7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35809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神经网络参数优化：损失函数</a:t>
              </a: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sp>
        <p:nvSpPr>
          <p:cNvPr id="7" name="矩形 6">
            <a:extLst>
              <a:ext uri="{FF2B5EF4-FFF2-40B4-BE49-F238E27FC236}">
                <a16:creationId xmlns:a16="http://schemas.microsoft.com/office/drawing/2014/main" id="{E15CC129-5086-4774-84D7-68BD1FC82AFB}"/>
              </a:ext>
            </a:extLst>
          </p:cNvPr>
          <p:cNvSpPr/>
          <p:nvPr/>
        </p:nvSpPr>
        <p:spPr>
          <a:xfrm>
            <a:off x="275943" y="1727168"/>
            <a:ext cx="5275508" cy="4013535"/>
          </a:xfrm>
          <a:prstGeom prst="rect">
            <a:avLst/>
          </a:prstGeom>
        </p:spPr>
        <p:txBody>
          <a:bodyPr wrap="square">
            <a:spAutoFit/>
          </a:bodyPr>
          <a:lstStyle/>
          <a:p>
            <a:pPr>
              <a:lnSpc>
                <a:spcPct val="150000"/>
              </a:lnSpc>
            </a:pPr>
            <a:endParaRPr lang="zh-CN" altLang="en-US" sz="2800" dirty="0">
              <a:solidFill>
                <a:srgbClr val="000000"/>
              </a:solidFill>
              <a:latin typeface="汉仪玄宋.."/>
            </a:endParaRPr>
          </a:p>
          <a:p>
            <a:pPr marL="285750" indent="-285750" algn="just">
              <a:lnSpc>
                <a:spcPct val="150000"/>
              </a:lnSpc>
              <a:buFont typeface="Wingdings" panose="05000000000000000000" pitchFamily="2" charset="2"/>
              <a:buChar char="l"/>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损失函数（</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loss function</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）又称为代价函数（</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cost function</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用来计算模型预测值与真实值之间的误差。损失函数是神经网络设计中的一个重要组成部分。通过定义与任务相关的良好损失函数，在训练过程中可根据损失函数来计算神经网络的误差大小，进而优化神经网络参数。</a:t>
            </a:r>
          </a:p>
          <a:p>
            <a:pPr marL="285750" indent="-285750" algn="just">
              <a:lnSpc>
                <a:spcPct val="150000"/>
              </a:lnSpc>
              <a:buFont typeface="Wingdings" panose="05000000000000000000" pitchFamily="2" charset="2"/>
              <a:buChar char="l"/>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两种最常用的损失函数：</a:t>
            </a:r>
            <a:r>
              <a:rPr lang="zh-CN" altLang="en-US"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均方误差损失函数和交叉熵损失函数</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2402B3B0-5B29-4777-AC79-EC087C528FD9}"/>
                  </a:ext>
                </a:extLst>
              </p:cNvPr>
              <p:cNvSpPr/>
              <p:nvPr/>
            </p:nvSpPr>
            <p:spPr>
              <a:xfrm>
                <a:off x="6096001" y="3282685"/>
                <a:ext cx="5554136" cy="2543132"/>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均方误差损失函数通过计算预测值和实际值之间距离（即误差）的平方来衡量模型优劣。假设有</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𝑛</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个训练数据</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，每个训练数据</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的真实输出为</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，模型对</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的预测值为</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。该模型在</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𝑛</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个训练数据下所产生的均方误差损失可定义</a:t>
                </a:r>
                <a:r>
                  <a:rPr lang="zh-CN" altLang="en-US" dirty="0">
                    <a:solidFill>
                      <a:srgbClr val="000000"/>
                    </a:solidFill>
                    <a:latin typeface="Times New Roman" panose="02020603050405020304" pitchFamily="18" charset="0"/>
                    <a:ea typeface="楷体_GB2312"/>
                    <a:cs typeface="Times New Roman" panose="02020603050405020304" pitchFamily="18" charset="0"/>
                  </a:rPr>
                  <a:t>如上。</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600"/>
                  </a:spcAft>
                </a:pP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2402B3B0-5B29-4777-AC79-EC087C528FD9}"/>
                  </a:ext>
                </a:extLst>
              </p:cNvPr>
              <p:cNvSpPr>
                <a:spLocks noRot="1" noChangeAspect="1" noMove="1" noResize="1" noEditPoints="1" noAdjustHandles="1" noChangeArrowheads="1" noChangeShapeType="1" noTextEdit="1"/>
              </p:cNvSpPr>
              <p:nvPr/>
            </p:nvSpPr>
            <p:spPr>
              <a:xfrm>
                <a:off x="6096001" y="3282685"/>
                <a:ext cx="5554136" cy="2543132"/>
              </a:xfrm>
              <a:prstGeom prst="rect">
                <a:avLst/>
              </a:prstGeom>
              <a:blipFill>
                <a:blip r:embed="rId3"/>
                <a:stretch>
                  <a:fillRect l="-878" r="-8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CE37E31E-537A-4D33-A02A-C37C636B8B4B}"/>
                  </a:ext>
                </a:extLst>
              </p:cNvPr>
              <p:cNvSpPr/>
              <p:nvPr/>
            </p:nvSpPr>
            <p:spPr>
              <a:xfrm>
                <a:off x="7272255" y="2374243"/>
                <a:ext cx="2709908" cy="6486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kern="100">
                          <a:latin typeface="Cambria Math" panose="02040503050406030204" pitchFamily="18" charset="0"/>
                          <a:ea typeface="华文楷体" panose="02010600040101010101" pitchFamily="2" charset="-122"/>
                          <a:cs typeface="Times New Roman" panose="02020603050405020304" pitchFamily="18" charset="0"/>
                        </a:rPr>
                        <m:t>MSE</m:t>
                      </m:r>
                      <m:r>
                        <a:rPr lang="en-US" altLang="zh-CN"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𝑛</m:t>
                          </m:r>
                        </m:den>
                      </m:f>
                      <m:nary>
                        <m:naryPr>
                          <m:chr m:val="∑"/>
                          <m:limLoc m:val="subSup"/>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𝑛</m:t>
                          </m:r>
                        </m:sup>
                        <m:e>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acc>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e>
                            <m:sup>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2</m:t>
                              </m:r>
                            </m:sup>
                          </m:sSup>
                        </m:e>
                      </m:nary>
                    </m:oMath>
                  </m:oMathPara>
                </a14:m>
                <a:endParaRPr lang="zh-CN" altLang="en-US" dirty="0"/>
              </a:p>
            </p:txBody>
          </p:sp>
        </mc:Choice>
        <mc:Fallback xmlns="">
          <p:sp>
            <p:nvSpPr>
              <p:cNvPr id="9" name="矩形 8">
                <a:extLst>
                  <a:ext uri="{FF2B5EF4-FFF2-40B4-BE49-F238E27FC236}">
                    <a16:creationId xmlns:a16="http://schemas.microsoft.com/office/drawing/2014/main" id="{CE37E31E-537A-4D33-A02A-C37C636B8B4B}"/>
                  </a:ext>
                </a:extLst>
              </p:cNvPr>
              <p:cNvSpPr>
                <a:spLocks noRot="1" noChangeAspect="1" noMove="1" noResize="1" noEditPoints="1" noAdjustHandles="1" noChangeArrowheads="1" noChangeShapeType="1" noTextEdit="1"/>
              </p:cNvSpPr>
              <p:nvPr/>
            </p:nvSpPr>
            <p:spPr>
              <a:xfrm>
                <a:off x="7272255" y="2374243"/>
                <a:ext cx="2709908" cy="648639"/>
              </a:xfrm>
              <a:prstGeom prst="rect">
                <a:avLst/>
              </a:prstGeom>
              <a:blipFill>
                <a:blip r:embed="rId4"/>
                <a:stretch>
                  <a:fillRect/>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4A0A42BB-7C58-475D-B372-484EEAD11064}"/>
              </a:ext>
            </a:extLst>
          </p:cNvPr>
          <p:cNvSpPr/>
          <p:nvPr/>
        </p:nvSpPr>
        <p:spPr>
          <a:xfrm>
            <a:off x="7440108" y="1854517"/>
            <a:ext cx="2031325" cy="369332"/>
          </a:xfrm>
          <a:prstGeom prst="rect">
            <a:avLst/>
          </a:prstGeom>
        </p:spPr>
        <p:txBody>
          <a:bodyPr wrap="none">
            <a:spAutoFit/>
          </a:bodyPr>
          <a:lstStyle/>
          <a:p>
            <a:r>
              <a:rPr lang="zh-CN" altLang="en-US"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均方误差损失函数</a:t>
            </a:r>
            <a:endParaRPr lang="zh-CN" altLang="en-US" b="1" dirty="0">
              <a:solidFill>
                <a:srgbClr val="C00000"/>
              </a:solidFill>
            </a:endParaRPr>
          </a:p>
        </p:txBody>
      </p:sp>
    </p:spTree>
    <p:extLst>
      <p:ext uri="{BB962C8B-B14F-4D97-AF65-F5344CB8AC3E}">
        <p14:creationId xmlns:p14="http://schemas.microsoft.com/office/powerpoint/2010/main" val="42907902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神经网络参数优化：损失函数</a:t>
              </a: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E15CC129-5086-4774-84D7-68BD1FC82AFB}"/>
                  </a:ext>
                </a:extLst>
              </p:cNvPr>
              <p:cNvSpPr/>
              <p:nvPr/>
            </p:nvSpPr>
            <p:spPr>
              <a:xfrm>
                <a:off x="302996" y="2419731"/>
                <a:ext cx="6114036" cy="4217052"/>
              </a:xfrm>
              <a:prstGeom prst="rect">
                <a:avLst/>
              </a:prstGeom>
            </p:spPr>
            <p:txBody>
              <a:bodyPr wrap="square">
                <a:spAutoFit/>
              </a:bodyPr>
              <a:lstStyle/>
              <a:p>
                <a:pPr marL="285750" indent="-285750">
                  <a:lnSpc>
                    <a:spcPct val="150000"/>
                  </a:lnSpc>
                  <a:buFont typeface="Wingdings" panose="05000000000000000000" pitchFamily="2" charset="2"/>
                  <a:buChar char="l"/>
                </a:pP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熵</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被用来表示热力学系统所呈现的无序程度。香农将这一概念引入信息论领域，提出了</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信息熵</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概念，通过对数函数来测量信息的不确定性。</a:t>
                </a:r>
              </a:p>
              <a:p>
                <a:pPr marL="285750" indent="-285750">
                  <a:lnSpc>
                    <a:spcPct val="150000"/>
                  </a:lnSpc>
                  <a:buFont typeface="Wingdings" panose="05000000000000000000" pitchFamily="2" charset="2"/>
                  <a:buChar char="l"/>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交叉熵（</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cross entropy</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）是信息论中的重要概念，主要用来度量两个概率分布间的差异。</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𝑦</m:t>
                        </m:r>
                      </m:e>
                      <m:sub>
                        <m:r>
                          <a:rPr lang="en-US" altLang="zh-CN" sz="1600" i="1">
                            <a:latin typeface="Cambria Math" panose="02040503050406030204" pitchFamily="18" charset="0"/>
                          </a:rPr>
                          <m:t>𝑖</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𝑗</m:t>
                        </m:r>
                      </m:sub>
                    </m:sSub>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是样本</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𝑥</m:t>
                        </m:r>
                      </m:e>
                      <m:sub>
                        <m:r>
                          <a:rPr lang="en-US" altLang="zh-CN" sz="1600" i="1">
                            <a:latin typeface="Cambria Math" panose="02040503050406030204" pitchFamily="18" charset="0"/>
                          </a:rPr>
                          <m:t>𝑖</m:t>
                        </m:r>
                      </m:sub>
                    </m:sSub>
                  </m:oMath>
                </a14:m>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在类别</a:t>
                </a:r>
                <a14:m>
                  <m:oMath xmlns:m="http://schemas.openxmlformats.org/officeDocument/2006/math">
                    <m:r>
                      <m:rPr>
                        <m:brk m:alnAt="1"/>
                      </m:rPr>
                      <a:rPr lang="en-US" altLang="zh-CN" sz="1600" i="1" kern="100">
                        <a:latin typeface="Cambria Math" panose="02040503050406030204" pitchFamily="18" charset="0"/>
                        <a:ea typeface="Cambria Math" panose="02040503050406030204" pitchFamily="18" charset="0"/>
                        <a:cs typeface="Times New Roman" panose="02020603050405020304" pitchFamily="18" charset="0"/>
                      </a:rPr>
                      <m:t>𝑗</m:t>
                    </m:r>
                  </m:oMath>
                </a14:m>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上</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的真实概率、</a:t>
                </a:r>
                <a14:m>
                  <m:oMath xmlns:m="http://schemas.openxmlformats.org/officeDocument/2006/math">
                    <m:sSub>
                      <m:sSubPr>
                        <m:ctrlPr>
                          <a:rPr lang="zh-CN" altLang="zh-CN" sz="1600" i="1">
                            <a:latin typeface="Cambria Math" panose="02040503050406030204" pitchFamily="18" charset="0"/>
                          </a:rPr>
                        </m:ctrlPr>
                      </m:sSubPr>
                      <m:e>
                        <m:acc>
                          <m:accPr>
                            <m:chr m:val="̂"/>
                            <m:ctrlPr>
                              <a:rPr lang="zh-CN" altLang="zh-CN" sz="1600" i="1">
                                <a:latin typeface="Cambria Math" panose="02040503050406030204" pitchFamily="18" charset="0"/>
                              </a:rPr>
                            </m:ctrlPr>
                          </m:accPr>
                          <m:e>
                            <m:r>
                              <a:rPr lang="en-US" altLang="zh-CN" sz="1600" i="1">
                                <a:latin typeface="Cambria Math" panose="02040503050406030204" pitchFamily="18" charset="0"/>
                              </a:rPr>
                              <m:t>𝑦</m:t>
                            </m:r>
                          </m:e>
                        </m:acc>
                      </m:e>
                      <m:sub>
                        <m:r>
                          <a:rPr lang="en-US" altLang="zh-CN" sz="1600" i="1">
                            <a:latin typeface="Cambria Math" panose="02040503050406030204" pitchFamily="18" charset="0"/>
                          </a:rPr>
                          <m:t>𝑖</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𝑗</m:t>
                        </m:r>
                      </m:sub>
                    </m:sSub>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是模型</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在类别</a:t>
                </a:r>
                <a14:m>
                  <m:oMath xmlns:m="http://schemas.openxmlformats.org/officeDocument/2006/math">
                    <m:r>
                      <m:rPr>
                        <m:brk m:alnAt="1"/>
                      </m:rPr>
                      <a:rPr lang="en-US" altLang="zh-CN" sz="1600" i="1" kern="100">
                        <a:latin typeface="Cambria Math" panose="02040503050406030204" pitchFamily="18" charset="0"/>
                        <a:ea typeface="Cambria Math" panose="02040503050406030204" pitchFamily="18" charset="0"/>
                        <a:cs typeface="Times New Roman" panose="02020603050405020304" pitchFamily="18" charset="0"/>
                      </a:rPr>
                      <m:t>𝑗</m:t>
                    </m:r>
                  </m:oMath>
                </a14:m>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上</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的预测概率，通过</a:t>
                </a:r>
                <a14:m>
                  <m:oMath xmlns:m="http://schemas.openxmlformats.org/officeDocument/2006/math">
                    <m:sSub>
                      <m:sSubPr>
                        <m:ctrlPr>
                          <a:rPr lang="zh-CN" altLang="zh-CN" sz="1600" i="1">
                            <a:latin typeface="Cambria Math" panose="02040503050406030204" pitchFamily="18" charset="0"/>
                          </a:rPr>
                        </m:ctrlPr>
                      </m:sSubPr>
                      <m:e>
                        <m:acc>
                          <m:accPr>
                            <m:chr m:val="̂"/>
                            <m:ctrlPr>
                              <a:rPr lang="zh-CN" altLang="zh-CN" sz="1600" i="1">
                                <a:latin typeface="Cambria Math" panose="02040503050406030204" pitchFamily="18" charset="0"/>
                              </a:rPr>
                            </m:ctrlPr>
                          </m:accPr>
                          <m:e>
                            <m:r>
                              <a:rPr lang="en-US" altLang="zh-CN" sz="1600" i="1">
                                <a:latin typeface="Cambria Math" panose="02040503050406030204" pitchFamily="18" charset="0"/>
                              </a:rPr>
                              <m:t>𝑦</m:t>
                            </m:r>
                          </m:e>
                        </m:acc>
                      </m:e>
                      <m:sub>
                        <m:r>
                          <a:rPr lang="en-US" altLang="zh-CN" sz="1600" i="1">
                            <a:latin typeface="Cambria Math" panose="02040503050406030204" pitchFamily="18" charset="0"/>
                          </a:rPr>
                          <m:t>𝑖</m:t>
                        </m:r>
                      </m:sub>
                    </m:sSub>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来表示</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𝑦</m:t>
                        </m:r>
                      </m:e>
                      <m:sub>
                        <m:r>
                          <a:rPr lang="en-US" altLang="zh-CN" sz="1600" i="1">
                            <a:latin typeface="Cambria Math" panose="02040503050406030204" pitchFamily="18" charset="0"/>
                          </a:rPr>
                          <m:t>𝑖</m:t>
                        </m:r>
                      </m:sub>
                    </m:sSub>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的交叉熵可如</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上</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计算</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。总共有</a:t>
                </a:r>
                <a14:m>
                  <m:oMath xmlns:m="http://schemas.openxmlformats.org/officeDocument/2006/math">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𝑛</m:t>
                    </m:r>
                  </m:oMath>
                </a14:m>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个样本，</a:t>
                </a:r>
                <a:r>
                  <a:rPr lang="en-US" altLang="zh-CN" sz="1600" kern="100" dirty="0">
                    <a:ea typeface="华文楷体" panose="02010600040101010101" pitchFamily="2" charset="-122"/>
                    <a:cs typeface="Times New Roman" panose="02020603050405020304" pitchFamily="18" charset="0"/>
                  </a:rPr>
                  <a:t> </a:t>
                </a:r>
                <a14:m>
                  <m:oMath xmlns:m="http://schemas.openxmlformats.org/officeDocument/2006/math">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𝑚</m:t>
                    </m:r>
                  </m:oMath>
                </a14:m>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个类别。</a:t>
                </a:r>
                <a:endParaRPr lang="zh-CN"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交叉熵刻画了两个概率分布之间的距离，旨在描绘通过概率分布</a:t>
                </a:r>
                <a14:m>
                  <m:oMath xmlns:m="http://schemas.openxmlformats.org/officeDocument/2006/math">
                    <m:sSub>
                      <m:sSubPr>
                        <m:ctrlPr>
                          <a:rPr lang="zh-CN" altLang="zh-CN" sz="1600" i="1">
                            <a:solidFill>
                              <a:schemeClr val="accent2"/>
                            </a:solidFill>
                            <a:latin typeface="Cambria Math" panose="02040503050406030204" pitchFamily="18" charset="0"/>
                          </a:rPr>
                        </m:ctrlPr>
                      </m:sSubPr>
                      <m:e>
                        <m:acc>
                          <m:accPr>
                            <m:chr m:val="̂"/>
                            <m:ctrlPr>
                              <a:rPr lang="zh-CN" altLang="zh-CN" sz="1600" i="1">
                                <a:solidFill>
                                  <a:schemeClr val="accent2"/>
                                </a:solidFill>
                                <a:latin typeface="Cambria Math" panose="02040503050406030204" pitchFamily="18" charset="0"/>
                              </a:rPr>
                            </m:ctrlPr>
                          </m:accPr>
                          <m:e>
                            <m:r>
                              <a:rPr lang="en-US" altLang="zh-CN" sz="1600" i="1">
                                <a:solidFill>
                                  <a:schemeClr val="accent2"/>
                                </a:solidFill>
                                <a:latin typeface="Cambria Math" panose="02040503050406030204" pitchFamily="18" charset="0"/>
                              </a:rPr>
                              <m:t>𝑦</m:t>
                            </m:r>
                          </m:e>
                        </m:acc>
                      </m:e>
                      <m:sub>
                        <m:r>
                          <a:rPr lang="en-US" altLang="zh-CN" sz="1600" i="1">
                            <a:solidFill>
                              <a:schemeClr val="accent2"/>
                            </a:solidFill>
                            <a:latin typeface="Cambria Math" panose="02040503050406030204" pitchFamily="18" charset="0"/>
                          </a:rPr>
                          <m:t>𝑖</m:t>
                        </m:r>
                      </m:sub>
                    </m:sSub>
                  </m:oMath>
                </a14:m>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来表达概率分布</a:t>
                </a:r>
                <a14:m>
                  <m:oMath xmlns:m="http://schemas.openxmlformats.org/officeDocument/2006/math">
                    <m:sSub>
                      <m:sSubPr>
                        <m:ctrlPr>
                          <a:rPr lang="zh-CN" altLang="zh-CN" sz="1600" i="1">
                            <a:solidFill>
                              <a:schemeClr val="accent2"/>
                            </a:solidFill>
                            <a:latin typeface="Cambria Math" panose="02040503050406030204" pitchFamily="18" charset="0"/>
                          </a:rPr>
                        </m:ctrlPr>
                      </m:sSubPr>
                      <m:e>
                        <m:r>
                          <a:rPr lang="en-US" altLang="zh-CN" sz="1600" i="1">
                            <a:solidFill>
                              <a:schemeClr val="accent2"/>
                            </a:solidFill>
                            <a:latin typeface="Cambria Math" panose="02040503050406030204" pitchFamily="18" charset="0"/>
                          </a:rPr>
                          <m:t>𝑦</m:t>
                        </m:r>
                      </m:e>
                      <m:sub>
                        <m:r>
                          <a:rPr lang="en-US" altLang="zh-CN" sz="1600" i="1">
                            <a:solidFill>
                              <a:schemeClr val="accent2"/>
                            </a:solidFill>
                            <a:latin typeface="Cambria Math" panose="02040503050406030204" pitchFamily="18" charset="0"/>
                          </a:rPr>
                          <m:t>𝑖</m:t>
                        </m:r>
                      </m:sub>
                    </m:sSub>
                  </m:oMath>
                </a14:m>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的困难程度。</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根据公式不难理解，两个概率分布</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𝑦</m:t>
                        </m:r>
                      </m:e>
                      <m:sub>
                        <m:r>
                          <a:rPr lang="en-US" altLang="zh-CN" sz="1600" i="1">
                            <a:latin typeface="Cambria Math" panose="02040503050406030204" pitchFamily="18" charset="0"/>
                          </a:rPr>
                          <m:t>𝑖</m:t>
                        </m:r>
                      </m:sub>
                    </m:sSub>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sSub>
                      <m:sSubPr>
                        <m:ctrlPr>
                          <a:rPr lang="zh-CN" altLang="zh-CN" sz="1600" i="1">
                            <a:latin typeface="Cambria Math" panose="02040503050406030204" pitchFamily="18" charset="0"/>
                          </a:rPr>
                        </m:ctrlPr>
                      </m:sSubPr>
                      <m:e>
                        <m:acc>
                          <m:accPr>
                            <m:chr m:val="̂"/>
                            <m:ctrlPr>
                              <a:rPr lang="zh-CN" altLang="zh-CN" sz="1600" i="1">
                                <a:latin typeface="Cambria Math" panose="02040503050406030204" pitchFamily="18" charset="0"/>
                              </a:rPr>
                            </m:ctrlPr>
                          </m:accPr>
                          <m:e>
                            <m:r>
                              <a:rPr lang="en-US" altLang="zh-CN" sz="1600" i="1">
                                <a:latin typeface="Cambria Math" panose="02040503050406030204" pitchFamily="18" charset="0"/>
                              </a:rPr>
                              <m:t>𝑦</m:t>
                            </m:r>
                          </m:e>
                        </m:acc>
                      </m:e>
                      <m:sub>
                        <m:r>
                          <a:rPr lang="en-US" altLang="zh-CN" sz="1600" i="1">
                            <a:latin typeface="Cambria Math" panose="02040503050406030204" pitchFamily="18" charset="0"/>
                          </a:rPr>
                          <m:t>𝑖</m:t>
                        </m:r>
                      </m:sub>
                    </m:sSub>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越接近，交叉熵越小。也就是说，预测类别分布概率与实际类别分布概率之间的差距越小，交叉熵就越小。</a:t>
                </a:r>
              </a:p>
            </p:txBody>
          </p:sp>
        </mc:Choice>
        <mc:Fallback xmlns="">
          <p:sp>
            <p:nvSpPr>
              <p:cNvPr id="7" name="矩形 6">
                <a:extLst>
                  <a:ext uri="{FF2B5EF4-FFF2-40B4-BE49-F238E27FC236}">
                    <a16:creationId xmlns:a16="http://schemas.microsoft.com/office/drawing/2014/main" id="{E15CC129-5086-4774-84D7-68BD1FC82AFB}"/>
                  </a:ext>
                </a:extLst>
              </p:cNvPr>
              <p:cNvSpPr>
                <a:spLocks noRot="1" noChangeAspect="1" noMove="1" noResize="1" noEditPoints="1" noAdjustHandles="1" noChangeArrowheads="1" noChangeShapeType="1" noTextEdit="1"/>
              </p:cNvSpPr>
              <p:nvPr/>
            </p:nvSpPr>
            <p:spPr>
              <a:xfrm>
                <a:off x="302996" y="2419731"/>
                <a:ext cx="6114036" cy="4217052"/>
              </a:xfrm>
              <a:prstGeom prst="rect">
                <a:avLst/>
              </a:prstGeom>
              <a:blipFill>
                <a:blip r:embed="rId3"/>
                <a:stretch>
                  <a:fillRect l="-399"/>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C2B9FEA3-3F1C-4017-9FA1-98627DF08645}"/>
              </a:ext>
            </a:extLst>
          </p:cNvPr>
          <p:cNvPicPr>
            <a:picLocks noChangeAspect="1"/>
          </p:cNvPicPr>
          <p:nvPr/>
        </p:nvPicPr>
        <p:blipFill>
          <a:blip r:embed="rId4"/>
          <a:stretch>
            <a:fillRect/>
          </a:stretch>
        </p:blipFill>
        <p:spPr>
          <a:xfrm>
            <a:off x="6963454" y="2087862"/>
            <a:ext cx="4692891" cy="4184865"/>
          </a:xfrm>
          <a:prstGeom prst="rect">
            <a:avLst/>
          </a:prstGeom>
        </p:spPr>
      </p:pic>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37E100FF-3842-4754-AAF8-3772C92FD9F0}"/>
                  </a:ext>
                </a:extLst>
              </p:cNvPr>
              <p:cNvSpPr/>
              <p:nvPr/>
            </p:nvSpPr>
            <p:spPr>
              <a:xfrm>
                <a:off x="3118116" y="1578876"/>
                <a:ext cx="4224938" cy="6799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smtClean="0">
                          <a:latin typeface="Cambria Math" panose="02040503050406030204" pitchFamily="18" charset="0"/>
                        </a:rPr>
                        <m:t>H</m:t>
                      </m:r>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smtClean="0">
                                  <a:latin typeface="Cambria Math" panose="02040503050406030204" pitchFamily="18" charset="0"/>
                                </a:rPr>
                                <m:t>𝑖</m:t>
                              </m:r>
                            </m:sub>
                          </m:sSub>
                          <m:r>
                            <a:rPr lang="en-US" altLang="zh-CN">
                              <a:latin typeface="Cambria Math" panose="02040503050406030204" pitchFamily="18" charset="0"/>
                            </a:rPr>
                            <m:t>, </m:t>
                          </m:r>
                          <m:sSub>
                            <m:sSubPr>
                              <m:ctrlPr>
                                <a:rPr lang="zh-CN" altLang="zh-CN" i="1">
                                  <a:latin typeface="Cambria Math" panose="02040503050406030204" pitchFamily="18" charset="0"/>
                                </a:rPr>
                              </m:ctrlPr>
                            </m:sSubPr>
                            <m:e>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𝑦</m:t>
                                  </m:r>
                                </m:e>
                              </m:acc>
                            </m:e>
                            <m:sub>
                              <m:r>
                                <a:rPr lang="en-US" altLang="zh-CN" i="1">
                                  <a:latin typeface="Cambria Math" panose="02040503050406030204" pitchFamily="18" charset="0"/>
                                </a:rPr>
                                <m:t>𝑖</m:t>
                              </m:r>
                            </m:sub>
                          </m:sSub>
                        </m:e>
                      </m:d>
                      <m:r>
                        <a:rPr lang="en-US" altLang="zh-CN">
                          <a:latin typeface="Cambria Math" panose="02040503050406030204" pitchFamily="18" charset="0"/>
                        </a:rPr>
                        <m:t>=</m:t>
                      </m:r>
                      <m:r>
                        <a:rPr lang="en-US" altLang="zh-CN" i="1">
                          <a:latin typeface="Cambria Math" panose="02040503050406030204" pitchFamily="18" charset="0"/>
                        </a:rPr>
                        <m:t>−</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𝑛</m:t>
                          </m:r>
                        </m:den>
                      </m:f>
                      <m:nary>
                        <m:naryPr>
                          <m:chr m:val="∑"/>
                          <m:limLoc m:val="subSup"/>
                          <m:ctrlPr>
                            <a:rPr lang="en-US" altLang="zh-CN" i="1" kern="100" smtClean="0">
                              <a:latin typeface="Cambria Math" panose="02040503050406030204" pitchFamily="18" charset="0"/>
                              <a:ea typeface="华文楷体" panose="02010600040101010101" pitchFamily="2" charset="-122"/>
                              <a:cs typeface="Times New Roman" panose="02020603050405020304" pitchFamily="18" charset="0"/>
                            </a:rPr>
                          </m:ctrlPr>
                        </m:naryPr>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𝑛</m:t>
                          </m:r>
                        </m:sup>
                        <m:e>
                          <m:nary>
                            <m:naryPr>
                              <m:chr m:val="∑"/>
                              <m:limLoc m:val="subSup"/>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naryPr>
                            <m:sub>
                              <m:r>
                                <m:rPr>
                                  <m:brk m:alnAt="1"/>
                                </m:rPr>
                                <a:rPr lang="en-US" altLang="zh-CN" b="0" i="1" kern="100" smtClean="0">
                                  <a:latin typeface="Cambria Math" panose="02040503050406030204" pitchFamily="18" charset="0"/>
                                  <a:ea typeface="Cambria Math" panose="02040503050406030204" pitchFamily="18" charset="0"/>
                                  <a:cs typeface="Times New Roman" panose="02020603050405020304" pitchFamily="18" charset="0"/>
                                </a:rPr>
                                <m:t>𝑗</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b="0" i="1" kern="100" smtClean="0">
                                  <a:latin typeface="Cambria Math" panose="02040503050406030204" pitchFamily="18" charset="0"/>
                                  <a:ea typeface="华文楷体" panose="02010600040101010101" pitchFamily="2" charset="-122"/>
                                  <a:cs typeface="Times New Roman" panose="02020603050405020304" pitchFamily="18" charset="0"/>
                                </a:rPr>
                                <m:t>𝑚</m:t>
                              </m:r>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sub>
                              </m:sSub>
                              <m:r>
                                <a:rPr lang="en-US" altLang="zh-CN" i="1">
                                  <a:latin typeface="Cambria Math" panose="02040503050406030204" pitchFamily="18" charset="0"/>
                                </a:rPr>
                                <m:t>∗</m:t>
                              </m:r>
                              <m:r>
                                <a:rPr lang="en-US" altLang="zh-CN" i="1">
                                  <a:latin typeface="Cambria Math" panose="02040503050406030204" pitchFamily="18" charset="0"/>
                                </a:rPr>
                                <m:t>𝑙𝑜𝑔</m:t>
                              </m:r>
                              <m:sSub>
                                <m:sSubPr>
                                  <m:ctrlPr>
                                    <a:rPr lang="zh-CN" altLang="zh-CN" i="1">
                                      <a:latin typeface="Cambria Math" panose="02040503050406030204" pitchFamily="18" charset="0"/>
                                    </a:rPr>
                                  </m:ctrlPr>
                                </m:sSubPr>
                                <m:e>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𝑦</m:t>
                                      </m:r>
                                    </m:e>
                                  </m:acc>
                                </m:e>
                                <m:sub>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sub>
                              </m:sSub>
                            </m:e>
                          </m:nary>
                        </m:e>
                      </m:nary>
                    </m:oMath>
                  </m:oMathPara>
                </a14:m>
                <a:endParaRPr lang="zh-CN" altLang="en-US" dirty="0"/>
              </a:p>
            </p:txBody>
          </p:sp>
        </mc:Choice>
        <mc:Fallback xmlns="">
          <p:sp>
            <p:nvSpPr>
              <p:cNvPr id="11" name="矩形 10">
                <a:extLst>
                  <a:ext uri="{FF2B5EF4-FFF2-40B4-BE49-F238E27FC236}">
                    <a16:creationId xmlns:a16="http://schemas.microsoft.com/office/drawing/2014/main" id="{37E100FF-3842-4754-AAF8-3772C92FD9F0}"/>
                  </a:ext>
                </a:extLst>
              </p:cNvPr>
              <p:cNvSpPr>
                <a:spLocks noRot="1" noChangeAspect="1" noMove="1" noResize="1" noEditPoints="1" noAdjustHandles="1" noChangeArrowheads="1" noChangeShapeType="1" noTextEdit="1"/>
              </p:cNvSpPr>
              <p:nvPr/>
            </p:nvSpPr>
            <p:spPr>
              <a:xfrm>
                <a:off x="3118116" y="1578876"/>
                <a:ext cx="4224938" cy="679930"/>
              </a:xfrm>
              <a:prstGeom prst="rect">
                <a:avLst/>
              </a:prstGeom>
              <a:blipFill>
                <a:blip r:embed="rId5"/>
                <a:stretch>
                  <a:fillRect/>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3717B4BB-9F00-4E05-8674-F55C75CADA00}"/>
              </a:ext>
            </a:extLst>
          </p:cNvPr>
          <p:cNvSpPr/>
          <p:nvPr/>
        </p:nvSpPr>
        <p:spPr>
          <a:xfrm>
            <a:off x="1271966" y="1718530"/>
            <a:ext cx="1800493" cy="369332"/>
          </a:xfrm>
          <a:prstGeom prst="rect">
            <a:avLst/>
          </a:prstGeom>
        </p:spPr>
        <p:txBody>
          <a:bodyPr wrap="none">
            <a:spAutoFit/>
          </a:bodyPr>
          <a:lstStyle/>
          <a:p>
            <a:r>
              <a:rPr lang="zh-CN" altLang="en-US"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交叉熵损失函数</a:t>
            </a:r>
            <a:endParaRPr lang="zh-CN" altLang="en-US" b="1" dirty="0">
              <a:solidFill>
                <a:srgbClr val="C00000"/>
              </a:solidFill>
            </a:endParaRPr>
          </a:p>
        </p:txBody>
      </p:sp>
    </p:spTree>
    <p:extLst>
      <p:ext uri="{BB962C8B-B14F-4D97-AF65-F5344CB8AC3E}">
        <p14:creationId xmlns:p14="http://schemas.microsoft.com/office/powerpoint/2010/main" val="7015941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神经网络参数优化：梯度下降</a:t>
              </a: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1C60F69D-AF20-4F07-818C-DA9395BBB02C}"/>
                  </a:ext>
                </a:extLst>
              </p:cNvPr>
              <p:cNvSpPr/>
              <p:nvPr/>
            </p:nvSpPr>
            <p:spPr>
              <a:xfrm>
                <a:off x="427441" y="1470399"/>
                <a:ext cx="10491251" cy="1156727"/>
              </a:xfrm>
              <a:prstGeom prst="rect">
                <a:avLst/>
              </a:prstGeom>
            </p:spPr>
            <p:txBody>
              <a:bodyPr wrap="square">
                <a:spAutoFit/>
              </a:bodyPr>
              <a:lstStyle/>
              <a:p>
                <a:pPr>
                  <a:lnSpc>
                    <a:spcPct val="150000"/>
                  </a:lnSpc>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梯度下降（</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gradient descent</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算法是机器学习中对模型参数进行优化时所采用的常用方法。为了让模型预测结果与真实结果之间的损失误差最小，利用梯度下降法来逐步迭代优化模型参数。当损失误差最小时，此时学习得到的模型参数即为模型的最优参数。梯度下降</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是一种使</a:t>
                </a:r>
                <a:r>
                  <a:rPr lang="zh-CN"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损失函数</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最小化的方法。一元变量所构成函数</a:t>
                </a:r>
                <a14:m>
                  <m:oMath xmlns:m="http://schemas.openxmlformats.org/officeDocument/2006/math">
                    <m:r>
                      <a:rPr lang="en-US" altLang="zh-CN" sz="1600" b="1" i="1">
                        <a:latin typeface="Cambria Math" panose="02040503050406030204" pitchFamily="18" charset="0"/>
                        <a:ea typeface="黑体" pitchFamily="49" charset="-122"/>
                      </a:rPr>
                      <m:t>𝒇</m:t>
                    </m:r>
                  </m:oMath>
                </a14:m>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在</a:t>
                </a:r>
                <a14:m>
                  <m:oMath xmlns:m="http://schemas.openxmlformats.org/officeDocument/2006/math">
                    <m:r>
                      <a:rPr lang="en-US" altLang="zh-CN" sz="1600" b="1" i="1" smtClean="0">
                        <a:latin typeface="Cambria Math" panose="02040503050406030204" pitchFamily="18" charset="0"/>
                        <a:ea typeface="黑体" panose="02010609060101010101" pitchFamily="49" charset="-122"/>
                        <a:cs typeface="Times New Roman" panose="02020603050405020304" pitchFamily="18" charset="0"/>
                      </a:rPr>
                      <m:t>𝒙</m:t>
                    </m:r>
                  </m:oMath>
                </a14:m>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处梯度为：</a:t>
                </a:r>
              </a:p>
            </p:txBody>
          </p:sp>
        </mc:Choice>
        <mc:Fallback xmlns="">
          <p:sp>
            <p:nvSpPr>
              <p:cNvPr id="12" name="矩形 11">
                <a:extLst>
                  <a:ext uri="{FF2B5EF4-FFF2-40B4-BE49-F238E27FC236}">
                    <a16:creationId xmlns:a16="http://schemas.microsoft.com/office/drawing/2014/main" id="{1C60F69D-AF20-4F07-818C-DA9395BBB02C}"/>
                  </a:ext>
                </a:extLst>
              </p:cNvPr>
              <p:cNvSpPr>
                <a:spLocks noRot="1" noChangeAspect="1" noMove="1" noResize="1" noEditPoints="1" noAdjustHandles="1" noChangeArrowheads="1" noChangeShapeType="1" noTextEdit="1"/>
              </p:cNvSpPr>
              <p:nvPr/>
            </p:nvSpPr>
            <p:spPr>
              <a:xfrm>
                <a:off x="427441" y="1470399"/>
                <a:ext cx="10491251" cy="1156727"/>
              </a:xfrm>
              <a:prstGeom prst="rect">
                <a:avLst/>
              </a:prstGeom>
              <a:blipFill>
                <a:blip r:embed="rId3"/>
                <a:stretch>
                  <a:fillRect l="-291" b="-57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CD05161C-3AA6-4B6E-8664-34D127BD319C}"/>
                  </a:ext>
                </a:extLst>
              </p:cNvPr>
              <p:cNvSpPr txBox="1"/>
              <p:nvPr/>
            </p:nvSpPr>
            <p:spPr>
              <a:xfrm>
                <a:off x="2583380" y="3673563"/>
                <a:ext cx="2929263" cy="5375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ea typeface="黑体" pitchFamily="49" charset="-122"/>
                            </a:rPr>
                          </m:ctrlPr>
                        </m:fPr>
                        <m:num>
                          <m:r>
                            <a:rPr lang="en-US" altLang="zh-CN" b="0" i="1" smtClean="0">
                              <a:latin typeface="Cambria Math" panose="02040503050406030204" pitchFamily="18" charset="0"/>
                              <a:ea typeface="黑体" pitchFamily="49" charset="-122"/>
                            </a:rPr>
                            <m:t>𝑑𝑓</m:t>
                          </m:r>
                          <m:r>
                            <a:rPr lang="en-US" altLang="zh-CN" b="0" i="1" smtClean="0">
                              <a:latin typeface="Cambria Math" panose="02040503050406030204" pitchFamily="18" charset="0"/>
                              <a:ea typeface="黑体" pitchFamily="49" charset="-122"/>
                            </a:rPr>
                            <m:t>(</m:t>
                          </m:r>
                          <m:r>
                            <a:rPr lang="en-US" altLang="zh-CN" b="0" i="1" smtClean="0">
                              <a:latin typeface="Cambria Math" panose="02040503050406030204" pitchFamily="18" charset="0"/>
                              <a:ea typeface="黑体" pitchFamily="49" charset="-122"/>
                            </a:rPr>
                            <m:t>𝑥</m:t>
                          </m:r>
                          <m:r>
                            <a:rPr lang="en-US" altLang="zh-CN" b="0" i="1" smtClean="0">
                              <a:latin typeface="Cambria Math" panose="02040503050406030204" pitchFamily="18" charset="0"/>
                              <a:ea typeface="黑体" pitchFamily="49" charset="-122"/>
                            </a:rPr>
                            <m:t>)</m:t>
                          </m:r>
                        </m:num>
                        <m:den>
                          <m:r>
                            <a:rPr lang="en-US" altLang="zh-CN" b="0" i="1" smtClean="0">
                              <a:latin typeface="Cambria Math" panose="02040503050406030204" pitchFamily="18" charset="0"/>
                              <a:ea typeface="黑体" pitchFamily="49" charset="-122"/>
                            </a:rPr>
                            <m:t>𝑑𝑥</m:t>
                          </m:r>
                        </m:den>
                      </m:f>
                      <m:r>
                        <a:rPr lang="en-US" altLang="zh-CN" b="0" i="1" smtClean="0">
                          <a:latin typeface="Cambria Math" panose="02040503050406030204" pitchFamily="18" charset="0"/>
                          <a:ea typeface="黑体" pitchFamily="49" charset="-122"/>
                        </a:rPr>
                        <m:t>=</m:t>
                      </m:r>
                      <m:func>
                        <m:funcPr>
                          <m:ctrlPr>
                            <a:rPr lang="pt-BR" altLang="zh-CN" b="0" i="1" smtClean="0">
                              <a:latin typeface="Cambria Math" panose="02040503050406030204" pitchFamily="18" charset="0"/>
                              <a:ea typeface="黑体" pitchFamily="49" charset="-122"/>
                            </a:rPr>
                          </m:ctrlPr>
                        </m:funcPr>
                        <m:fName>
                          <m:limLow>
                            <m:limLowPr>
                              <m:ctrlPr>
                                <a:rPr lang="pt-BR" altLang="zh-CN" b="0" i="1" smtClean="0">
                                  <a:latin typeface="Cambria Math" panose="02040503050406030204" pitchFamily="18" charset="0"/>
                                  <a:ea typeface="黑体" pitchFamily="49" charset="-122"/>
                                </a:rPr>
                              </m:ctrlPr>
                            </m:limLowPr>
                            <m:e>
                              <m:r>
                                <m:rPr>
                                  <m:sty m:val="p"/>
                                </m:rPr>
                                <a:rPr lang="pt-BR" altLang="zh-CN" b="0" i="0" smtClean="0">
                                  <a:latin typeface="Cambria Math" panose="02040503050406030204" pitchFamily="18" charset="0"/>
                                  <a:ea typeface="黑体" pitchFamily="49" charset="-122"/>
                                </a:rPr>
                                <m:t>lim</m:t>
                              </m:r>
                            </m:e>
                            <m:lim>
                              <m:r>
                                <a:rPr lang="en-US" altLang="zh-CN" b="0" i="1" smtClean="0">
                                  <a:latin typeface="Cambria Math" panose="02040503050406030204" pitchFamily="18" charset="0"/>
                                  <a:ea typeface="黑体" pitchFamily="49" charset="-122"/>
                                </a:rPr>
                                <m:t>h</m:t>
                              </m:r>
                              <m:r>
                                <a:rPr lang="pt-BR" altLang="zh-CN" b="0" i="1" smtClean="0">
                                  <a:latin typeface="Cambria Math" panose="02040503050406030204" pitchFamily="18" charset="0"/>
                                  <a:ea typeface="黑体" pitchFamily="49" charset="-122"/>
                                </a:rPr>
                                <m:t>→</m:t>
                              </m:r>
                              <m:r>
                                <a:rPr lang="en-US" altLang="zh-CN" b="0" i="1" smtClean="0">
                                  <a:latin typeface="Cambria Math" panose="02040503050406030204" pitchFamily="18" charset="0"/>
                                  <a:ea typeface="黑体" pitchFamily="49" charset="-122"/>
                                </a:rPr>
                                <m:t>0</m:t>
                              </m:r>
                            </m:lim>
                          </m:limLow>
                        </m:fName>
                        <m:e>
                          <m:f>
                            <m:fPr>
                              <m:ctrlPr>
                                <a:rPr lang="pt-BR" altLang="zh-CN" b="0" i="1" smtClean="0">
                                  <a:latin typeface="Cambria Math" panose="02040503050406030204" pitchFamily="18" charset="0"/>
                                  <a:ea typeface="黑体" pitchFamily="49" charset="-122"/>
                                </a:rPr>
                              </m:ctrlPr>
                            </m:fPr>
                            <m:num>
                              <m:r>
                                <a:rPr lang="en-US" altLang="zh-CN" b="0" i="1" smtClean="0">
                                  <a:latin typeface="Cambria Math" panose="02040503050406030204" pitchFamily="18" charset="0"/>
                                  <a:ea typeface="黑体" pitchFamily="49" charset="-122"/>
                                </a:rPr>
                                <m:t>𝑓</m:t>
                              </m:r>
                              <m:d>
                                <m:dPr>
                                  <m:ctrlPr>
                                    <a:rPr lang="en-US" altLang="zh-CN" b="0" i="1" smtClean="0">
                                      <a:latin typeface="Cambria Math" panose="02040503050406030204" pitchFamily="18" charset="0"/>
                                      <a:ea typeface="黑体" pitchFamily="49" charset="-122"/>
                                    </a:rPr>
                                  </m:ctrlPr>
                                </m:dPr>
                                <m:e>
                                  <m:r>
                                    <a:rPr lang="en-US" altLang="zh-CN" b="0" i="1" smtClean="0">
                                      <a:latin typeface="Cambria Math" panose="02040503050406030204" pitchFamily="18" charset="0"/>
                                      <a:ea typeface="黑体" pitchFamily="49" charset="-122"/>
                                    </a:rPr>
                                    <m:t>𝑥</m:t>
                                  </m:r>
                                  <m:r>
                                    <a:rPr lang="en-US" altLang="zh-CN" b="0" i="1" smtClean="0">
                                      <a:latin typeface="Cambria Math" panose="02040503050406030204" pitchFamily="18" charset="0"/>
                                      <a:ea typeface="黑体" pitchFamily="49" charset="-122"/>
                                    </a:rPr>
                                    <m:t>+</m:t>
                                  </m:r>
                                  <m:r>
                                    <a:rPr lang="en-US" altLang="zh-CN" b="0" i="1" smtClean="0">
                                      <a:latin typeface="Cambria Math" panose="02040503050406030204" pitchFamily="18" charset="0"/>
                                      <a:ea typeface="黑体" pitchFamily="49" charset="-122"/>
                                    </a:rPr>
                                    <m:t>h</m:t>
                                  </m:r>
                                </m:e>
                              </m:d>
                              <m:r>
                                <a:rPr lang="en-US" altLang="zh-CN" b="0" i="1" smtClean="0">
                                  <a:latin typeface="Cambria Math" panose="02040503050406030204" pitchFamily="18" charset="0"/>
                                  <a:ea typeface="黑体" pitchFamily="49" charset="-122"/>
                                </a:rPr>
                                <m:t>−</m:t>
                              </m:r>
                              <m:r>
                                <a:rPr lang="en-US" altLang="zh-CN" b="0" i="1" smtClean="0">
                                  <a:latin typeface="Cambria Math" panose="02040503050406030204" pitchFamily="18" charset="0"/>
                                  <a:ea typeface="黑体" pitchFamily="49" charset="-122"/>
                                </a:rPr>
                                <m:t>𝑓</m:t>
                              </m:r>
                              <m:r>
                                <a:rPr lang="en-US" altLang="zh-CN" b="0" i="1" smtClean="0">
                                  <a:latin typeface="Cambria Math" panose="02040503050406030204" pitchFamily="18" charset="0"/>
                                  <a:ea typeface="黑体" pitchFamily="49" charset="-122"/>
                                </a:rPr>
                                <m:t>(</m:t>
                              </m:r>
                              <m:r>
                                <a:rPr lang="en-US" altLang="zh-CN" b="0" i="1" smtClean="0">
                                  <a:latin typeface="Cambria Math" panose="02040503050406030204" pitchFamily="18" charset="0"/>
                                  <a:ea typeface="黑体" pitchFamily="49" charset="-122"/>
                                </a:rPr>
                                <m:t>𝑥</m:t>
                              </m:r>
                              <m:r>
                                <a:rPr lang="en-US" altLang="zh-CN" b="0" i="1" smtClean="0">
                                  <a:latin typeface="Cambria Math" panose="02040503050406030204" pitchFamily="18" charset="0"/>
                                  <a:ea typeface="黑体" pitchFamily="49" charset="-122"/>
                                </a:rPr>
                                <m:t>)</m:t>
                              </m:r>
                            </m:num>
                            <m:den>
                              <m:r>
                                <a:rPr lang="en-US" altLang="zh-CN" b="0" i="1" smtClean="0">
                                  <a:latin typeface="Cambria Math" panose="02040503050406030204" pitchFamily="18" charset="0"/>
                                  <a:ea typeface="黑体" pitchFamily="49" charset="-122"/>
                                </a:rPr>
                                <m:t>h</m:t>
                              </m:r>
                            </m:den>
                          </m:f>
                        </m:e>
                      </m:func>
                    </m:oMath>
                  </m:oMathPara>
                </a14:m>
                <a:endParaRPr lang="zh-CN" altLang="en-US" dirty="0">
                  <a:ea typeface="黑体" pitchFamily="49" charset="-122"/>
                </a:endParaRPr>
              </a:p>
            </p:txBody>
          </p:sp>
        </mc:Choice>
        <mc:Fallback xmlns="">
          <p:sp>
            <p:nvSpPr>
              <p:cNvPr id="14" name="文本框 13">
                <a:extLst>
                  <a:ext uri="{FF2B5EF4-FFF2-40B4-BE49-F238E27FC236}">
                    <a16:creationId xmlns:a16="http://schemas.microsoft.com/office/drawing/2014/main" id="{CD05161C-3AA6-4B6E-8664-34D127BD319C}"/>
                  </a:ext>
                </a:extLst>
              </p:cNvPr>
              <p:cNvSpPr txBox="1">
                <a:spLocks noRot="1" noChangeAspect="1" noMove="1" noResize="1" noEditPoints="1" noAdjustHandles="1" noChangeArrowheads="1" noChangeShapeType="1" noTextEdit="1"/>
              </p:cNvSpPr>
              <p:nvPr/>
            </p:nvSpPr>
            <p:spPr>
              <a:xfrm>
                <a:off x="2583380" y="3673563"/>
                <a:ext cx="2929263" cy="537519"/>
              </a:xfrm>
              <a:prstGeom prst="rect">
                <a:avLst/>
              </a:prstGeom>
              <a:blipFill>
                <a:blip r:embed="rId4"/>
                <a:stretch>
                  <a:fillRect/>
                </a:stretch>
              </a:blipFill>
            </p:spPr>
            <p:txBody>
              <a:bodyPr/>
              <a:lstStyle/>
              <a:p>
                <a:r>
                  <a:rPr lang="zh-CN" altLang="en-US">
                    <a:noFill/>
                  </a:rPr>
                  <a:t> </a:t>
                </a:r>
              </a:p>
            </p:txBody>
          </p:sp>
        </mc:Fallback>
      </mc:AlternateContent>
      <p:sp>
        <p:nvSpPr>
          <p:cNvPr id="15" name="矩形 14">
            <a:extLst>
              <a:ext uri="{FF2B5EF4-FFF2-40B4-BE49-F238E27FC236}">
                <a16:creationId xmlns:a16="http://schemas.microsoft.com/office/drawing/2014/main" id="{F2EA14EE-85EA-40C6-A882-E5DB9A47D7A3}"/>
              </a:ext>
            </a:extLst>
          </p:cNvPr>
          <p:cNvSpPr/>
          <p:nvPr/>
        </p:nvSpPr>
        <p:spPr>
          <a:xfrm>
            <a:off x="1271812" y="5257517"/>
            <a:ext cx="8618370" cy="923330"/>
          </a:xfrm>
          <a:prstGeom prst="rect">
            <a:avLst/>
          </a:prstGeom>
        </p:spPr>
        <p:txBody>
          <a:bodyPr wrap="square">
            <a:spAutoFit/>
          </a:bodyPr>
          <a:lstStyle/>
          <a:p>
            <a:pPr marL="285750" indent="-285750">
              <a:buFont typeface="Arial" panose="020B0604020202020204" pitchFamily="34" charset="0"/>
              <a:buChar char="•"/>
            </a:pPr>
            <a:r>
              <a:rPr lang="zh-CN" altLang="en-US" b="1" dirty="0">
                <a:latin typeface="Times New Roman" panose="02020603050405020304" pitchFamily="18" charset="0"/>
                <a:ea typeface="楷体" panose="02010609060101010101" pitchFamily="49" charset="-122"/>
                <a:cs typeface="Times New Roman" panose="02020603050405020304" pitchFamily="18" charset="0"/>
              </a:rPr>
              <a:t>在多元函数中，梯度是对每一变量所求导数组成的向量</a:t>
            </a: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Arial" panose="020B0604020202020204" pitchFamily="34" charset="0"/>
              <a:buChar char="•"/>
            </a:pPr>
            <a:endParaRPr lang="en-US" altLang="zh-CN" b="1"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Arial" panose="020B0604020202020204" pitchFamily="34" charset="0"/>
              <a:buChar char="•"/>
            </a:pPr>
            <a:r>
              <a:rPr lang="zh-CN" altLang="en-US" b="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梯度的反方向是函数值下降最快的方向，因此是损失函数求解的方向</a:t>
            </a:r>
          </a:p>
        </p:txBody>
      </p:sp>
      <p:pic>
        <p:nvPicPr>
          <p:cNvPr id="16" name="图片 15">
            <a:extLst>
              <a:ext uri="{FF2B5EF4-FFF2-40B4-BE49-F238E27FC236}">
                <a16:creationId xmlns:a16="http://schemas.microsoft.com/office/drawing/2014/main" id="{46B579CF-89D0-448B-ABE6-91F3179EA55C}"/>
              </a:ext>
            </a:extLst>
          </p:cNvPr>
          <p:cNvPicPr>
            <a:picLocks noChangeAspect="1"/>
          </p:cNvPicPr>
          <p:nvPr/>
        </p:nvPicPr>
        <p:blipFill>
          <a:blip r:embed="rId5"/>
          <a:stretch>
            <a:fillRect/>
          </a:stretch>
        </p:blipFill>
        <p:spPr>
          <a:xfrm>
            <a:off x="6815016" y="2947202"/>
            <a:ext cx="2232246" cy="1990239"/>
          </a:xfrm>
          <a:prstGeom prst="rect">
            <a:avLst/>
          </a:prstGeom>
        </p:spPr>
      </p:pic>
    </p:spTree>
    <p:extLst>
      <p:ext uri="{BB962C8B-B14F-4D97-AF65-F5344CB8AC3E}">
        <p14:creationId xmlns:p14="http://schemas.microsoft.com/office/powerpoint/2010/main" val="16268564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神经网络参数优化：梯度下降</a:t>
              </a: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63748E4B-5B21-4F45-9E56-3BB59D9066F7}"/>
                  </a:ext>
                </a:extLst>
              </p:cNvPr>
              <p:cNvSpPr/>
              <p:nvPr/>
            </p:nvSpPr>
            <p:spPr>
              <a:xfrm>
                <a:off x="846944" y="2007645"/>
                <a:ext cx="10063811" cy="872931"/>
              </a:xfrm>
              <a:prstGeom prst="rect">
                <a:avLst/>
              </a:prstGeom>
            </p:spPr>
            <p:txBody>
              <a:bodyPr wrap="square">
                <a:spAutoFit/>
              </a:bodyPr>
              <a:lstStyle/>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a:solidFill>
                                <a:srgbClr val="000000"/>
                              </a:solidFill>
                              <a:latin typeface="Cambria Math" panose="02040503050406030204" pitchFamily="18" charset="0"/>
                              <a:ea typeface="楷体_GB2312"/>
                              <a:cs typeface="Times New Roman" panose="02020603050405020304" pitchFamily="18" charset="0"/>
                            </a:rPr>
                            <m:t>𝒙</m:t>
                          </m:r>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d>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d>
                      <m:r>
                        <a:rPr lang="en-US" altLang="zh-CN">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𝑓</m:t>
                          </m:r>
                        </m:e>
                        <m:sup>
                          <m:r>
                            <a:rPr lang="en-US" altLang="zh-CN" i="1">
                              <a:solidFill>
                                <a:srgbClr val="000000"/>
                              </a:solidFill>
                              <a:latin typeface="Cambria Math" panose="02040503050406030204" pitchFamily="18" charset="0"/>
                              <a:ea typeface="楷体_GB2312"/>
                              <a:cs typeface="Times New Roman" panose="02020603050405020304" pitchFamily="18" charset="0"/>
                            </a:rPr>
                            <m:t>′</m:t>
                          </m:r>
                        </m:sup>
                      </m:sSup>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d>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b="1" i="1">
                          <a:solidFill>
                            <a:srgbClr val="000000"/>
                          </a:solidFill>
                          <a:latin typeface="Cambria Math" panose="02040503050406030204" pitchFamily="18" charset="0"/>
                          <a:ea typeface="楷体_GB2312"/>
                          <a:cs typeface="Times New Roman" panose="02020603050405020304" pitchFamily="18" charset="0"/>
                        </a:rPr>
                        <m:t>𝒙</m:t>
                      </m:r>
                      <m:r>
                        <a:rPr lang="en-US" altLang="zh-CN">
                          <a:solidFill>
                            <a:srgbClr val="000000"/>
                          </a:solidFill>
                          <a:latin typeface="Cambria Math" panose="02040503050406030204" pitchFamily="18" charset="0"/>
                          <a:ea typeface="楷体_GB2312"/>
                          <a:cs typeface="Times New Roman" panose="02020603050405020304" pitchFamily="18" charset="0"/>
                        </a:rPr>
                        <m:t>+</m:t>
                      </m:r>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latin typeface="Cambria Math" panose="02040503050406030204" pitchFamily="18" charset="0"/>
                              <a:ea typeface="楷体_GB2312"/>
                              <a:cs typeface="Times New Roman" panose="02020603050405020304" pitchFamily="18" charset="0"/>
                            </a:rPr>
                            <m:t>1</m:t>
                          </m:r>
                        </m:num>
                        <m:den>
                          <m:r>
                            <a:rPr lang="en-US" altLang="zh-CN">
                              <a:solidFill>
                                <a:srgbClr val="000000"/>
                              </a:solidFill>
                              <a:latin typeface="Cambria Math" panose="02040503050406030204" pitchFamily="18" charset="0"/>
                              <a:ea typeface="楷体_GB2312"/>
                              <a:cs typeface="Times New Roman" panose="02020603050405020304" pitchFamily="18" charset="0"/>
                            </a:rPr>
                            <m:t>2</m:t>
                          </m:r>
                        </m:den>
                      </m:f>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𝑓</m:t>
                          </m:r>
                        </m:e>
                        <m:sup>
                          <m:r>
                            <a:rPr lang="en-US" altLang="zh-CN" i="1">
                              <a:solidFill>
                                <a:srgbClr val="000000"/>
                              </a:solidFill>
                              <a:latin typeface="Cambria Math" panose="02040503050406030204" pitchFamily="18" charset="0"/>
                              <a:ea typeface="楷体_GB2312"/>
                              <a:cs typeface="Times New Roman" panose="02020603050405020304" pitchFamily="18" charset="0"/>
                            </a:rPr>
                            <m:t>′′</m:t>
                          </m:r>
                        </m:sup>
                      </m:sSup>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d>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d>
                        </m:e>
                        <m:sup>
                          <m:r>
                            <a:rPr lang="en-US" altLang="zh-CN">
                              <a:solidFill>
                                <a:srgbClr val="000000"/>
                              </a:solidFill>
                              <a:latin typeface="Cambria Math" panose="02040503050406030204" pitchFamily="18" charset="0"/>
                              <a:ea typeface="楷体_GB2312"/>
                              <a:cs typeface="Times New Roman" panose="02020603050405020304" pitchFamily="18" charset="0"/>
                            </a:rPr>
                            <m:t>2</m:t>
                          </m:r>
                        </m:sup>
                      </m:sSup>
                      <m:r>
                        <a:rPr lang="en-US" altLang="zh-CN">
                          <a:solidFill>
                            <a:srgbClr val="000000"/>
                          </a:solidFill>
                          <a:latin typeface="Cambria Math" panose="02040503050406030204" pitchFamily="18" charset="0"/>
                          <a:ea typeface="楷体_GB2312"/>
                          <a:cs typeface="Times New Roman" panose="02020603050405020304" pitchFamily="18" charset="0"/>
                        </a:rPr>
                        <m:t>+…+</m:t>
                      </m:r>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latin typeface="Cambria Math" panose="02040503050406030204" pitchFamily="18" charset="0"/>
                              <a:ea typeface="楷体_GB2312"/>
                              <a:cs typeface="Times New Roman" panose="02020603050405020304" pitchFamily="18" charset="0"/>
                            </a:rPr>
                            <m:t>1</m:t>
                          </m:r>
                        </m:num>
                        <m:den>
                          <m:r>
                            <a:rPr lang="en-US" altLang="zh-CN" i="1">
                              <a:solidFill>
                                <a:srgbClr val="000000"/>
                              </a:solidFill>
                              <a:latin typeface="Cambria Math" panose="02040503050406030204" pitchFamily="18" charset="0"/>
                              <a:ea typeface="楷体_GB2312"/>
                              <a:cs typeface="Times New Roman" panose="02020603050405020304" pitchFamily="18" charset="0"/>
                            </a:rPr>
                            <m:t>𝑛</m:t>
                          </m:r>
                          <m:r>
                            <a:rPr lang="en-US" altLang="zh-CN">
                              <a:solidFill>
                                <a:srgbClr val="000000"/>
                              </a:solidFill>
                              <a:latin typeface="Cambria Math" panose="02040503050406030204" pitchFamily="18" charset="0"/>
                              <a:ea typeface="楷体_GB2312"/>
                              <a:cs typeface="Times New Roman" panose="02020603050405020304" pitchFamily="18" charset="0"/>
                            </a:rPr>
                            <m:t>!</m:t>
                          </m:r>
                        </m:den>
                      </m:f>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𝑓</m:t>
                          </m:r>
                        </m:e>
                        <m:sup>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𝑛</m:t>
                              </m:r>
                            </m:e>
                          </m:d>
                        </m:sup>
                      </m:sSup>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b="1" i="1">
                          <a:solidFill>
                            <a:srgbClr val="000000"/>
                          </a:solidFill>
                          <a:latin typeface="Cambria Math" panose="02040503050406030204" pitchFamily="18" charset="0"/>
                          <a:ea typeface="楷体_GB2312"/>
                          <a:cs typeface="Times New Roman" panose="02020603050405020304" pitchFamily="18" charset="0"/>
                        </a:rPr>
                        <m:t>𝒙</m:t>
                      </m:r>
                      <m:r>
                        <a:rPr lang="en-US" altLang="zh-CN">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b="1" i="1">
                              <a:solidFill>
                                <a:srgbClr val="000000"/>
                              </a:solidFill>
                              <a:latin typeface="Cambria Math" panose="02040503050406030204" pitchFamily="18" charset="0"/>
                              <a:ea typeface="楷体_GB2312"/>
                              <a:cs typeface="Times New Roman" panose="02020603050405020304" pitchFamily="18" charset="0"/>
                            </a:rPr>
                            <m:t>𝒙</m:t>
                          </m:r>
                          <m:r>
                            <a:rPr lang="en-US" altLang="zh-CN">
                              <a:solidFill>
                                <a:srgbClr val="000000"/>
                              </a:solidFill>
                              <a:latin typeface="Cambria Math" panose="02040503050406030204" pitchFamily="18" charset="0"/>
                              <a:ea typeface="楷体_GB2312"/>
                              <a:cs typeface="Times New Roman" panose="02020603050405020304" pitchFamily="18" charset="0"/>
                            </a:rPr>
                            <m:t>)</m:t>
                          </m:r>
                        </m:e>
                        <m:sup>
                          <m:r>
                            <a:rPr lang="en-US" altLang="zh-CN" i="1">
                              <a:solidFill>
                                <a:srgbClr val="000000"/>
                              </a:solidFill>
                              <a:latin typeface="Cambria Math" panose="02040503050406030204" pitchFamily="18" charset="0"/>
                              <a:ea typeface="楷体_GB2312"/>
                              <a:cs typeface="Times New Roman" panose="02020603050405020304" pitchFamily="18" charset="0"/>
                            </a:rPr>
                            <m:t>𝑛</m:t>
                          </m:r>
                        </m:sup>
                      </m:sSup>
                    </m:oMath>
                  </m:oMathPara>
                </a14:m>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63748E4B-5B21-4F45-9E56-3BB59D9066F7}"/>
                  </a:ext>
                </a:extLst>
              </p:cNvPr>
              <p:cNvSpPr>
                <a:spLocks noRot="1" noChangeAspect="1" noMove="1" noResize="1" noEditPoints="1" noAdjustHandles="1" noChangeArrowheads="1" noChangeShapeType="1" noTextEdit="1"/>
              </p:cNvSpPr>
              <p:nvPr/>
            </p:nvSpPr>
            <p:spPr>
              <a:xfrm>
                <a:off x="846944" y="2007645"/>
                <a:ext cx="10063811" cy="872931"/>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2E948367-A73D-4DE1-95F9-95EA3825A699}"/>
                  </a:ext>
                </a:extLst>
              </p:cNvPr>
              <p:cNvSpPr/>
              <p:nvPr/>
            </p:nvSpPr>
            <p:spPr>
              <a:xfrm>
                <a:off x="1200701" y="1603300"/>
                <a:ext cx="8574078" cy="507831"/>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假设损失函数</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d>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是连续可微的多元变量函数，其泰勒展开如下：</a:t>
                </a:r>
              </a:p>
            </p:txBody>
          </p:sp>
        </mc:Choice>
        <mc:Fallback xmlns="">
          <p:sp>
            <p:nvSpPr>
              <p:cNvPr id="7" name="矩形 6">
                <a:extLst>
                  <a:ext uri="{FF2B5EF4-FFF2-40B4-BE49-F238E27FC236}">
                    <a16:creationId xmlns:a16="http://schemas.microsoft.com/office/drawing/2014/main" id="{2E948367-A73D-4DE1-95F9-95EA3825A699}"/>
                  </a:ext>
                </a:extLst>
              </p:cNvPr>
              <p:cNvSpPr>
                <a:spLocks noRot="1" noChangeAspect="1" noMove="1" noResize="1" noEditPoints="1" noAdjustHandles="1" noChangeArrowheads="1" noChangeShapeType="1" noTextEdit="1"/>
              </p:cNvSpPr>
              <p:nvPr/>
            </p:nvSpPr>
            <p:spPr>
              <a:xfrm>
                <a:off x="1200701" y="1603300"/>
                <a:ext cx="8574078" cy="507831"/>
              </a:xfrm>
              <a:prstGeom prst="rect">
                <a:avLst/>
              </a:prstGeom>
              <a:blipFill>
                <a:blip r:embed="rId4"/>
                <a:stretch>
                  <a:fillRect b="-60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6EEFAF8-09AE-4315-B851-E2F08C1EBAF0}"/>
                  </a:ext>
                </a:extLst>
              </p:cNvPr>
              <p:cNvSpPr/>
              <p:nvPr/>
            </p:nvSpPr>
            <p:spPr>
              <a:xfrm>
                <a:off x="927025" y="4392281"/>
                <a:ext cx="10337950" cy="1704826"/>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假设参数变量当前取值为</a:t>
                </a:r>
                <a14:m>
                  <m:oMath xmlns:m="http://schemas.openxmlformats.org/officeDocument/2006/math">
                    <m:r>
                      <a:rPr lang="en-US" altLang="zh-CN" b="1" i="1">
                        <a:solidFill>
                          <a:srgbClr val="000000"/>
                        </a:solidFill>
                        <a:latin typeface="Cambria Math" panose="02040503050406030204" pitchFamily="18" charset="0"/>
                        <a:ea typeface="楷体_GB2312"/>
                        <a:cs typeface="Times New Roman" panose="02020603050405020304" pitchFamily="18" charset="0"/>
                      </a:rPr>
                      <m:t>𝒙</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，其对应的损失误差数值为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d>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。在不断促使损失误差减少的下一步迭代时，</a:t>
                </a:r>
                <a14:m>
                  <m:oMath xmlns:m="http://schemas.openxmlformats.org/officeDocument/2006/math">
                    <m:r>
                      <a:rPr lang="en-US" altLang="zh-CN" b="1" i="1">
                        <a:solidFill>
                          <a:srgbClr val="000000"/>
                        </a:solidFill>
                        <a:latin typeface="Cambria Math" panose="02040503050406030204" pitchFamily="18" charset="0"/>
                        <a:ea typeface="楷体_GB2312"/>
                        <a:cs typeface="Times New Roman" panose="02020603050405020304" pitchFamily="18" charset="0"/>
                      </a:rPr>
                      <m:t>𝒙</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取值变化为</a:t>
                </a:r>
                <a14:m>
                  <m:oMath xmlns:m="http://schemas.openxmlformats.org/officeDocument/2006/math">
                    <m:r>
                      <a:rPr lang="en-US" altLang="zh-CN" b="1" i="1">
                        <a:solidFill>
                          <a:srgbClr val="000000"/>
                        </a:solidFill>
                        <a:latin typeface="Cambria Math" panose="02040503050406030204" pitchFamily="18" charset="0"/>
                        <a:ea typeface="楷体_GB2312"/>
                        <a:cs typeface="Times New Roman" panose="02020603050405020304" pitchFamily="18" charset="0"/>
                      </a:rPr>
                      <m:t>𝒙</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b="1" i="1">
                        <a:solidFill>
                          <a:srgbClr val="000000"/>
                        </a:solidFill>
                        <a:latin typeface="Cambria Math" panose="02040503050406030204" pitchFamily="18" charset="0"/>
                        <a:ea typeface="楷体_GB2312"/>
                        <a:cs typeface="Times New Roman" panose="02020603050405020304" pitchFamily="18" charset="0"/>
                      </a:rPr>
                      <m:t>𝒙</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，则损失误差数值相应地变为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a:solidFill>
                              <a:srgbClr val="000000"/>
                            </a:solidFill>
                            <a:latin typeface="Cambria Math" panose="02040503050406030204" pitchFamily="18" charset="0"/>
                            <a:ea typeface="楷体_GB2312"/>
                            <a:cs typeface="Times New Roman" panose="02020603050405020304" pitchFamily="18" charset="0"/>
                          </a:rPr>
                          <m:t>𝒙</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d>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a:t>
                </a:r>
              </a:p>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由于</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d>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是损失函数，因此在迭代中希望</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a:solidFill>
                              <a:srgbClr val="000000"/>
                            </a:solidFill>
                            <a:latin typeface="Cambria Math" panose="02040503050406030204" pitchFamily="18" charset="0"/>
                            <a:ea typeface="楷体_GB2312"/>
                            <a:cs typeface="Times New Roman" panose="02020603050405020304" pitchFamily="18" charset="0"/>
                          </a:rPr>
                          <m:t>𝒙</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d>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取值小于</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d>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，即损失误差随着模型参数被优化而逐渐减少，使得</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a:solidFill>
                              <a:srgbClr val="000000"/>
                            </a:solidFill>
                            <a:latin typeface="Cambria Math" panose="02040503050406030204" pitchFamily="18" charset="0"/>
                            <a:ea typeface="楷体_GB2312"/>
                            <a:cs typeface="Times New Roman" panose="02020603050405020304" pitchFamily="18" charset="0"/>
                          </a:rPr>
                          <m:t>𝒙</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d>
                    <m:r>
                      <a:rPr lang="en-US" altLang="zh-CN" i="1">
                        <a:solidFill>
                          <a:srgbClr val="000000"/>
                        </a:solidFill>
                        <a:latin typeface="Cambria Math" panose="02040503050406030204" pitchFamily="18" charset="0"/>
                        <a:ea typeface="楷体_GB2312"/>
                        <a:cs typeface="Times New Roman" panose="02020603050405020304" pitchFamily="18" charset="0"/>
                      </a:rPr>
                      <m:t>&lt;</m:t>
                    </m:r>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d>
                    <m:r>
                      <a:rPr lang="en-US" altLang="zh-CN" i="1">
                        <a:solidFill>
                          <a:srgbClr val="000000"/>
                        </a:solidFill>
                        <a:latin typeface="Cambria Math" panose="02040503050406030204" pitchFamily="18" charset="0"/>
                        <a:ea typeface="楷体_GB2312"/>
                        <a:cs typeface="Times New Roman" panose="02020603050405020304" pitchFamily="18" charset="0"/>
                      </a:rPr>
                      <m:t> </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，于是 </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𝑓</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b="1" i="1">
                            <a:solidFill>
                              <a:srgbClr val="000000"/>
                            </a:solidFill>
                            <a:latin typeface="Cambria Math" panose="02040503050406030204" pitchFamily="18" charset="0"/>
                            <a:ea typeface="楷体_GB2312"/>
                            <a:cs typeface="Times New Roman" panose="02020603050405020304" pitchFamily="18" charset="0"/>
                          </a:rPr>
                          <m:t>𝒙</m:t>
                        </m:r>
                        <m:r>
                          <a:rPr lang="en-US" altLang="zh-CN" i="1">
                            <a:solidFill>
                              <a:srgbClr val="000000"/>
                            </a:solidFill>
                            <a:latin typeface="Cambria Math" panose="02040503050406030204" pitchFamily="18" charset="0"/>
                            <a:ea typeface="楷体_GB2312"/>
                            <a:cs typeface="Times New Roman" panose="02020603050405020304" pitchFamily="18" charset="0"/>
                          </a:rPr>
                          <m:t>))</m:t>
                        </m:r>
                      </m:e>
                      <m:sup>
                        <m:r>
                          <a:rPr lang="en-US" altLang="zh-CN" i="1">
                            <a:solidFill>
                              <a:srgbClr val="000000"/>
                            </a:solidFill>
                            <a:latin typeface="Cambria Math" panose="02040503050406030204" pitchFamily="18" charset="0"/>
                            <a:ea typeface="楷体_GB2312"/>
                            <a:cs typeface="Times New Roman" panose="02020603050405020304" pitchFamily="18" charset="0"/>
                          </a:rPr>
                          <m:t>𝑇</m:t>
                        </m:r>
                      </m:sup>
                    </m:sSup>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b="1" i="1">
                        <a:solidFill>
                          <a:srgbClr val="000000"/>
                        </a:solidFill>
                        <a:latin typeface="Cambria Math" panose="02040503050406030204" pitchFamily="18" charset="0"/>
                        <a:ea typeface="楷体_GB2312"/>
                        <a:cs typeface="Times New Roman" panose="02020603050405020304" pitchFamily="18" charset="0"/>
                      </a:rPr>
                      <m:t>𝒙</m:t>
                    </m:r>
                    <m:r>
                      <a:rPr lang="en-US" altLang="zh-CN" i="1">
                        <a:solidFill>
                          <a:srgbClr val="000000"/>
                        </a:solidFill>
                        <a:latin typeface="Cambria Math" panose="02040503050406030204" pitchFamily="18" charset="0"/>
                        <a:ea typeface="楷体_GB2312"/>
                        <a:cs typeface="Times New Roman" panose="02020603050405020304" pitchFamily="18" charset="0"/>
                      </a:rPr>
                      <m:t>&lt;0</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a:t>
                </a:r>
              </a:p>
            </p:txBody>
          </p:sp>
        </mc:Choice>
        <mc:Fallback xmlns="">
          <p:sp>
            <p:nvSpPr>
              <p:cNvPr id="8" name="矩形 7">
                <a:extLst>
                  <a:ext uri="{FF2B5EF4-FFF2-40B4-BE49-F238E27FC236}">
                    <a16:creationId xmlns:a16="http://schemas.microsoft.com/office/drawing/2014/main" id="{16EEFAF8-09AE-4315-B851-E2F08C1EBAF0}"/>
                  </a:ext>
                </a:extLst>
              </p:cNvPr>
              <p:cNvSpPr>
                <a:spLocks noRot="1" noChangeAspect="1" noMove="1" noResize="1" noEditPoints="1" noAdjustHandles="1" noChangeArrowheads="1" noChangeShapeType="1" noTextEdit="1"/>
              </p:cNvSpPr>
              <p:nvPr/>
            </p:nvSpPr>
            <p:spPr>
              <a:xfrm>
                <a:off x="927025" y="4392281"/>
                <a:ext cx="10337950" cy="1704826"/>
              </a:xfrm>
              <a:prstGeom prst="rect">
                <a:avLst/>
              </a:prstGeom>
              <a:blipFill>
                <a:blip r:embed="rId5"/>
                <a:stretch>
                  <a:fillRect l="-472" r="-531" b="-5018"/>
                </a:stretch>
              </a:blipFill>
            </p:spPr>
            <p:txBody>
              <a:bodyPr/>
              <a:lstStyle/>
              <a:p>
                <a:r>
                  <a:rPr lang="zh-CN" altLang="en-US">
                    <a:noFill/>
                  </a:rPr>
                  <a:t> </a:t>
                </a:r>
              </a:p>
            </p:txBody>
          </p:sp>
        </mc:Fallback>
      </mc:AlternateContent>
      <p:grpSp>
        <p:nvGrpSpPr>
          <p:cNvPr id="22" name="组合 21">
            <a:extLst>
              <a:ext uri="{FF2B5EF4-FFF2-40B4-BE49-F238E27FC236}">
                <a16:creationId xmlns:a16="http://schemas.microsoft.com/office/drawing/2014/main" id="{C0387702-1A90-4482-8436-A0E42D4D1A4E}"/>
              </a:ext>
            </a:extLst>
          </p:cNvPr>
          <p:cNvGrpSpPr/>
          <p:nvPr/>
        </p:nvGrpSpPr>
        <p:grpSpPr>
          <a:xfrm>
            <a:off x="3304825" y="3036061"/>
            <a:ext cx="4576613" cy="1020897"/>
            <a:chOff x="3304825" y="3036061"/>
            <a:chExt cx="4576613" cy="1020897"/>
          </a:xfrm>
        </p:grpSpPr>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CC72E2AC-E1F6-4872-83BE-1EAAC117A2BD}"/>
                    </a:ext>
                  </a:extLst>
                </p:cNvPr>
                <p:cNvSpPr/>
                <p:nvPr/>
              </p:nvSpPr>
              <p:spPr>
                <a:xfrm>
                  <a:off x="3304825" y="3036061"/>
                  <a:ext cx="4576613" cy="507831"/>
                </a:xfrm>
                <a:prstGeom prst="rect">
                  <a:avLst/>
                </a:prstGeom>
              </p:spPr>
              <p:txBody>
                <a:bodyPr wrap="square">
                  <a:spAutoFit/>
                </a:bodyPr>
                <a:lstStyle/>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a:solidFill>
                                  <a:srgbClr val="000000"/>
                                </a:solidFill>
                                <a:latin typeface="Cambria Math" panose="02040503050406030204" pitchFamily="18" charset="0"/>
                                <a:ea typeface="楷体_GB2312"/>
                                <a:cs typeface="Times New Roman" panose="02020603050405020304" pitchFamily="18" charset="0"/>
                              </a:rPr>
                              <m:t>𝒙</m:t>
                            </m:r>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d>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d>
                        <m:r>
                          <a:rPr lang="en-US" altLang="zh-CN">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𝑓</m:t>
                            </m:r>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b="1" i="1">
                                <a:solidFill>
                                  <a:srgbClr val="000000"/>
                                </a:solidFill>
                                <a:latin typeface="Cambria Math" panose="02040503050406030204" pitchFamily="18" charset="0"/>
                                <a:ea typeface="楷体_GB2312"/>
                                <a:cs typeface="Times New Roman" panose="02020603050405020304" pitchFamily="18" charset="0"/>
                              </a:rPr>
                              <m:t>𝒙</m:t>
                            </m:r>
                            <m:r>
                              <a:rPr lang="en-US" altLang="zh-CN">
                                <a:solidFill>
                                  <a:srgbClr val="000000"/>
                                </a:solidFill>
                                <a:latin typeface="Cambria Math" panose="02040503050406030204" pitchFamily="18" charset="0"/>
                                <a:ea typeface="楷体_GB2312"/>
                                <a:cs typeface="Times New Roman" panose="02020603050405020304" pitchFamily="18" charset="0"/>
                              </a:rPr>
                              <m:t>))</m:t>
                            </m:r>
                          </m:e>
                          <m:sup>
                            <m:r>
                              <a:rPr lang="en-US" altLang="zh-CN" i="1">
                                <a:solidFill>
                                  <a:srgbClr val="000000"/>
                                </a:solidFill>
                                <a:latin typeface="Cambria Math" panose="02040503050406030204" pitchFamily="18" charset="0"/>
                                <a:ea typeface="楷体_GB2312"/>
                                <a:cs typeface="Times New Roman" panose="02020603050405020304" pitchFamily="18" charset="0"/>
                              </a:rPr>
                              <m:t>𝑇</m:t>
                            </m:r>
                          </m:sup>
                        </m:sSup>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b="1" i="1">
                            <a:solidFill>
                              <a:srgbClr val="000000"/>
                            </a:solidFill>
                            <a:latin typeface="Cambria Math" panose="02040503050406030204" pitchFamily="18" charset="0"/>
                            <a:ea typeface="楷体_GB2312"/>
                            <a:cs typeface="Times New Roman" panose="02020603050405020304" pitchFamily="18" charset="0"/>
                          </a:rPr>
                          <m:t>𝒙</m:t>
                        </m:r>
                      </m:oMath>
                    </m:oMathPara>
                  </a14:m>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CC72E2AC-E1F6-4872-83BE-1EAAC117A2BD}"/>
                    </a:ext>
                  </a:extLst>
                </p:cNvPr>
                <p:cNvSpPr>
                  <a:spLocks noRot="1" noChangeAspect="1" noMove="1" noResize="1" noEditPoints="1" noAdjustHandles="1" noChangeArrowheads="1" noChangeShapeType="1" noTextEdit="1"/>
                </p:cNvSpPr>
                <p:nvPr/>
              </p:nvSpPr>
              <p:spPr>
                <a:xfrm>
                  <a:off x="3304825" y="3036061"/>
                  <a:ext cx="4576613" cy="507831"/>
                </a:xfrm>
                <a:prstGeom prst="rect">
                  <a:avLst/>
                </a:prstGeom>
                <a:blipFill>
                  <a:blip r:embed="rId6"/>
                  <a:stretch>
                    <a:fillRect/>
                  </a:stretch>
                </a:blipFill>
              </p:spPr>
              <p:txBody>
                <a:bodyPr/>
                <a:lstStyle/>
                <a:p>
                  <a:r>
                    <a:rPr lang="zh-CN" altLang="en-US">
                      <a:noFill/>
                    </a:rPr>
                    <a:t> </a:t>
                  </a:r>
                </a:p>
              </p:txBody>
            </p:sp>
          </mc:Fallback>
        </mc:AlternateContent>
        <p:cxnSp>
          <p:nvCxnSpPr>
            <p:cNvPr id="11" name="直接连接符 10">
              <a:extLst>
                <a:ext uri="{FF2B5EF4-FFF2-40B4-BE49-F238E27FC236}">
                  <a16:creationId xmlns:a16="http://schemas.microsoft.com/office/drawing/2014/main" id="{DFDB9398-16BF-43DC-A19B-D0A1B82CADFD}"/>
                </a:ext>
              </a:extLst>
            </p:cNvPr>
            <p:cNvCxnSpPr>
              <a:cxnSpLocks/>
            </p:cNvCxnSpPr>
            <p:nvPr/>
          </p:nvCxnSpPr>
          <p:spPr>
            <a:xfrm>
              <a:off x="3828860" y="3602096"/>
              <a:ext cx="970119" cy="0"/>
            </a:xfrm>
            <a:prstGeom prst="line">
              <a:avLst/>
            </a:prstGeom>
            <a:ln w="412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C3ACD785-1017-407D-8961-49772A544752}"/>
                </a:ext>
              </a:extLst>
            </p:cNvPr>
            <p:cNvCxnSpPr>
              <a:cxnSpLocks/>
            </p:cNvCxnSpPr>
            <p:nvPr/>
          </p:nvCxnSpPr>
          <p:spPr>
            <a:xfrm>
              <a:off x="5047787" y="3602096"/>
              <a:ext cx="545344" cy="0"/>
            </a:xfrm>
            <a:prstGeom prst="line">
              <a:avLst/>
            </a:prstGeom>
            <a:ln w="412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E691E01B-4B2E-48F0-8D5F-BDCEC4567AFC}"/>
                </a:ext>
              </a:extLst>
            </p:cNvPr>
            <p:cNvCxnSpPr>
              <a:cxnSpLocks/>
            </p:cNvCxnSpPr>
            <p:nvPr/>
          </p:nvCxnSpPr>
          <p:spPr>
            <a:xfrm>
              <a:off x="6042822" y="3602096"/>
              <a:ext cx="1058369" cy="0"/>
            </a:xfrm>
            <a:prstGeom prst="line">
              <a:avLst/>
            </a:prstGeom>
            <a:ln w="41275">
              <a:solidFill>
                <a:srgbClr val="C00000"/>
              </a:solidFill>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439FFA68-9E3D-4E8D-9E04-C1EC43416484}"/>
                </a:ext>
              </a:extLst>
            </p:cNvPr>
            <p:cNvSpPr/>
            <p:nvPr/>
          </p:nvSpPr>
          <p:spPr>
            <a:xfrm>
              <a:off x="3772745" y="3749181"/>
              <a:ext cx="1082348" cy="307777"/>
            </a:xfrm>
            <a:prstGeom prst="rect">
              <a:avLst/>
            </a:prstGeom>
          </p:spPr>
          <p:txBody>
            <a:bodyPr wrap="none">
              <a:spAutoFit/>
            </a:bodyPr>
            <a:lstStyle/>
            <a:p>
              <a:r>
                <a:rPr lang="zh-CN" altLang="en-US" sz="1400" b="1" dirty="0">
                  <a:solidFill>
                    <a:srgbClr val="000000"/>
                  </a:solidFill>
                  <a:latin typeface="Times New Roman" panose="02020603050405020304" pitchFamily="18" charset="0"/>
                  <a:ea typeface="楷体_GB2312"/>
                  <a:cs typeface="Times New Roman" panose="02020603050405020304" pitchFamily="18" charset="0"/>
                </a:rPr>
                <a:t>参数优化后</a:t>
              </a:r>
              <a:endParaRPr lang="zh-CN" altLang="en-US" sz="1400" b="1" dirty="0"/>
            </a:p>
          </p:txBody>
        </p:sp>
        <p:sp>
          <p:nvSpPr>
            <p:cNvPr id="23" name="矩形 22">
              <a:extLst>
                <a:ext uri="{FF2B5EF4-FFF2-40B4-BE49-F238E27FC236}">
                  <a16:creationId xmlns:a16="http://schemas.microsoft.com/office/drawing/2014/main" id="{A0CF8A65-9641-46C9-A346-5A8284C1094C}"/>
                </a:ext>
              </a:extLst>
            </p:cNvPr>
            <p:cNvSpPr/>
            <p:nvPr/>
          </p:nvSpPr>
          <p:spPr>
            <a:xfrm>
              <a:off x="4855093" y="3749181"/>
              <a:ext cx="1082348" cy="307777"/>
            </a:xfrm>
            <a:prstGeom prst="rect">
              <a:avLst/>
            </a:prstGeom>
          </p:spPr>
          <p:txBody>
            <a:bodyPr wrap="none">
              <a:spAutoFit/>
            </a:bodyPr>
            <a:lstStyle/>
            <a:p>
              <a:r>
                <a:rPr lang="zh-CN" altLang="en-US" sz="1400" b="1" dirty="0">
                  <a:solidFill>
                    <a:srgbClr val="000000"/>
                  </a:solidFill>
                  <a:latin typeface="Times New Roman" panose="02020603050405020304" pitchFamily="18" charset="0"/>
                  <a:ea typeface="楷体_GB2312"/>
                  <a:cs typeface="Times New Roman" panose="02020603050405020304" pitchFamily="18" charset="0"/>
                </a:rPr>
                <a:t>参数优化前</a:t>
              </a:r>
              <a:endParaRPr lang="zh-CN" altLang="en-US" sz="1400" b="1" dirty="0"/>
            </a:p>
          </p:txBody>
        </p:sp>
        <p:sp>
          <p:nvSpPr>
            <p:cNvPr id="24" name="矩形 23">
              <a:extLst>
                <a:ext uri="{FF2B5EF4-FFF2-40B4-BE49-F238E27FC236}">
                  <a16:creationId xmlns:a16="http://schemas.microsoft.com/office/drawing/2014/main" id="{163CE358-017A-4851-A4A1-0E00C89EFB46}"/>
                </a:ext>
              </a:extLst>
            </p:cNvPr>
            <p:cNvSpPr/>
            <p:nvPr/>
          </p:nvSpPr>
          <p:spPr>
            <a:xfrm>
              <a:off x="6018843" y="3737904"/>
              <a:ext cx="1082348" cy="307777"/>
            </a:xfrm>
            <a:prstGeom prst="rect">
              <a:avLst/>
            </a:prstGeom>
          </p:spPr>
          <p:txBody>
            <a:bodyPr wrap="none">
              <a:spAutoFit/>
            </a:bodyPr>
            <a:lstStyle/>
            <a:p>
              <a:r>
                <a:rPr lang="zh-CN" altLang="en-US" sz="1400" b="1" dirty="0">
                  <a:solidFill>
                    <a:srgbClr val="000000"/>
                  </a:solidFill>
                  <a:latin typeface="Times New Roman" panose="02020603050405020304" pitchFamily="18" charset="0"/>
                  <a:ea typeface="楷体_GB2312"/>
                  <a:cs typeface="Times New Roman" panose="02020603050405020304" pitchFamily="18" charset="0"/>
                </a:rPr>
                <a:t>误差减少量</a:t>
              </a:r>
              <a:endParaRPr lang="zh-CN" altLang="en-US" sz="1400" b="1" dirty="0"/>
            </a:p>
          </p:txBody>
        </p:sp>
      </p:grpSp>
    </p:spTree>
    <p:extLst>
      <p:ext uri="{BB962C8B-B14F-4D97-AF65-F5344CB8AC3E}">
        <p14:creationId xmlns:p14="http://schemas.microsoft.com/office/powerpoint/2010/main" val="1917025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神经网络参数优化：梯度下降</a:t>
              </a: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grpSp>
        <p:nvGrpSpPr>
          <p:cNvPr id="22" name="组合 21">
            <a:extLst>
              <a:ext uri="{FF2B5EF4-FFF2-40B4-BE49-F238E27FC236}">
                <a16:creationId xmlns:a16="http://schemas.microsoft.com/office/drawing/2014/main" id="{C0387702-1A90-4482-8436-A0E42D4D1A4E}"/>
              </a:ext>
            </a:extLst>
          </p:cNvPr>
          <p:cNvGrpSpPr/>
          <p:nvPr/>
        </p:nvGrpSpPr>
        <p:grpSpPr>
          <a:xfrm>
            <a:off x="3363191" y="1540815"/>
            <a:ext cx="7398783" cy="1020897"/>
            <a:chOff x="3304825" y="3036061"/>
            <a:chExt cx="7398783" cy="1020897"/>
          </a:xfrm>
        </p:grpSpPr>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CC72E2AC-E1F6-4872-83BE-1EAAC117A2BD}"/>
                    </a:ext>
                  </a:extLst>
                </p:cNvPr>
                <p:cNvSpPr/>
                <p:nvPr/>
              </p:nvSpPr>
              <p:spPr>
                <a:xfrm>
                  <a:off x="3304825" y="3036061"/>
                  <a:ext cx="7398783" cy="507831"/>
                </a:xfrm>
                <a:prstGeom prst="rect">
                  <a:avLst/>
                </a:prstGeom>
              </p:spPr>
              <p:txBody>
                <a:bodyPr wrap="square">
                  <a:spAutoFit/>
                </a:bodyPr>
                <a:lstStyle/>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a:solidFill>
                                  <a:srgbClr val="000000"/>
                                </a:solidFill>
                                <a:latin typeface="Cambria Math" panose="02040503050406030204" pitchFamily="18" charset="0"/>
                                <a:ea typeface="楷体_GB2312"/>
                                <a:cs typeface="Times New Roman" panose="02020603050405020304" pitchFamily="18" charset="0"/>
                              </a:rPr>
                              <m:t>𝒙</m:t>
                            </m:r>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d>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d>
                        <m:r>
                          <a:rPr lang="en-US" altLang="zh-CN" i="1">
                            <a:solidFill>
                              <a:srgbClr val="000000"/>
                            </a:solidFill>
                            <a:latin typeface="Cambria Math" panose="02040503050406030204" pitchFamily="18" charset="0"/>
                            <a:ea typeface="楷体_GB2312"/>
                            <a:cs typeface="Times New Roman" panose="02020603050405020304" pitchFamily="18" charset="0"/>
                          </a:rPr>
                          <m:t>=</m:t>
                        </m:r>
                        <m:d>
                          <m:dPr>
                            <m:begChr m:val="‖"/>
                            <m:end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𝑓</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b="1" i="1">
                                <a:solidFill>
                                  <a:srgbClr val="000000"/>
                                </a:solidFill>
                                <a:latin typeface="Cambria Math" panose="02040503050406030204" pitchFamily="18" charset="0"/>
                                <a:ea typeface="楷体_GB2312"/>
                                <a:cs typeface="Times New Roman" panose="02020603050405020304" pitchFamily="18" charset="0"/>
                              </a:rPr>
                              <m:t>𝒙</m:t>
                            </m:r>
                            <m:r>
                              <a:rPr lang="en-US" altLang="zh-CN" i="1">
                                <a:solidFill>
                                  <a:srgbClr val="000000"/>
                                </a:solidFill>
                                <a:latin typeface="Cambria Math" panose="02040503050406030204" pitchFamily="18" charset="0"/>
                                <a:ea typeface="楷体_GB2312"/>
                                <a:cs typeface="Times New Roman" panose="02020603050405020304" pitchFamily="18" charset="0"/>
                              </a:rPr>
                              <m:t>)</m:t>
                            </m:r>
                          </m:e>
                        </m:d>
                        <m:d>
                          <m:dPr>
                            <m:begChr m:val="‖"/>
                            <m:end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d>
                        <m:func>
                          <m:func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a:solidFill>
                                  <a:srgbClr val="000000"/>
                                </a:solidFill>
                                <a:latin typeface="Cambria Math" panose="02040503050406030204" pitchFamily="18" charset="0"/>
                                <a:ea typeface="楷体_GB2312"/>
                                <a:cs typeface="Times New Roman" panose="02020603050405020304" pitchFamily="18" charset="0"/>
                              </a:rPr>
                              <m:t>cos</m:t>
                            </m:r>
                          </m:fName>
                          <m:e>
                            <m:r>
                              <m:rPr>
                                <m:sty m:val="p"/>
                              </m:rPr>
                              <a:rPr lang="en-US" altLang="zh-CN">
                                <a:solidFill>
                                  <a:srgbClr val="000000"/>
                                </a:solidFill>
                                <a:latin typeface="Cambria Math" panose="02040503050406030204" pitchFamily="18" charset="0"/>
                                <a:ea typeface="楷体_GB2312"/>
                                <a:cs typeface="Times New Roman" panose="02020603050405020304" pitchFamily="18" charset="0"/>
                              </a:rPr>
                              <m:t>θ</m:t>
                            </m:r>
                          </m:e>
                        </m:func>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m:t>
                        </m:r>
                        <m:d>
                          <m:dPr>
                            <m:begChr m:val="‖"/>
                            <m:end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b="1" i="1">
                                <a:solidFill>
                                  <a:srgbClr val="000000"/>
                                </a:solidFill>
                                <a:latin typeface="Cambria Math" panose="02040503050406030204" pitchFamily="18" charset="0"/>
                                <a:ea typeface="楷体_GB2312"/>
                                <a:cs typeface="Times New Roman" panose="02020603050405020304" pitchFamily="18" charset="0"/>
                              </a:rPr>
                              <m:t>𝒙</m:t>
                            </m:r>
                          </m:e>
                        </m:d>
                        <m:d>
                          <m:dPr>
                            <m:begChr m:val="‖"/>
                            <m:end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𝑓</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b="1" i="1">
                                <a:solidFill>
                                  <a:srgbClr val="000000"/>
                                </a:solidFill>
                                <a:latin typeface="Cambria Math" panose="02040503050406030204" pitchFamily="18" charset="0"/>
                                <a:ea typeface="楷体_GB2312"/>
                                <a:cs typeface="Times New Roman" panose="02020603050405020304" pitchFamily="18" charset="0"/>
                              </a:rPr>
                              <m:t>𝒙</m:t>
                            </m:r>
                            <m:r>
                              <a:rPr lang="en-US" altLang="zh-CN" i="1">
                                <a:solidFill>
                                  <a:srgbClr val="000000"/>
                                </a:solidFill>
                                <a:latin typeface="Cambria Math" panose="02040503050406030204" pitchFamily="18" charset="0"/>
                                <a:ea typeface="楷体_GB2312"/>
                                <a:cs typeface="Times New Roman" panose="02020603050405020304" pitchFamily="18" charset="0"/>
                              </a:rPr>
                              <m:t>)</m:t>
                            </m:r>
                          </m:e>
                        </m:d>
                      </m:oMath>
                    </m:oMathPara>
                  </a14:m>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CC72E2AC-E1F6-4872-83BE-1EAAC117A2BD}"/>
                    </a:ext>
                  </a:extLst>
                </p:cNvPr>
                <p:cNvSpPr>
                  <a:spLocks noRot="1" noChangeAspect="1" noMove="1" noResize="1" noEditPoints="1" noAdjustHandles="1" noChangeArrowheads="1" noChangeShapeType="1" noTextEdit="1"/>
                </p:cNvSpPr>
                <p:nvPr/>
              </p:nvSpPr>
              <p:spPr>
                <a:xfrm>
                  <a:off x="3304825" y="3036061"/>
                  <a:ext cx="7398783" cy="507831"/>
                </a:xfrm>
                <a:prstGeom prst="rect">
                  <a:avLst/>
                </a:prstGeom>
                <a:blipFill>
                  <a:blip r:embed="rId3"/>
                  <a:stretch>
                    <a:fillRect/>
                  </a:stretch>
                </a:blipFill>
              </p:spPr>
              <p:txBody>
                <a:bodyPr/>
                <a:lstStyle/>
                <a:p>
                  <a:r>
                    <a:rPr lang="zh-CN" altLang="en-US">
                      <a:noFill/>
                    </a:rPr>
                    <a:t> </a:t>
                  </a:r>
                </a:p>
              </p:txBody>
            </p:sp>
          </mc:Fallback>
        </mc:AlternateContent>
        <p:cxnSp>
          <p:nvCxnSpPr>
            <p:cNvPr id="11" name="直接连接符 10">
              <a:extLst>
                <a:ext uri="{FF2B5EF4-FFF2-40B4-BE49-F238E27FC236}">
                  <a16:creationId xmlns:a16="http://schemas.microsoft.com/office/drawing/2014/main" id="{DFDB9398-16BF-43DC-A19B-D0A1B82CADFD}"/>
                </a:ext>
              </a:extLst>
            </p:cNvPr>
            <p:cNvCxnSpPr>
              <a:cxnSpLocks/>
            </p:cNvCxnSpPr>
            <p:nvPr/>
          </p:nvCxnSpPr>
          <p:spPr>
            <a:xfrm>
              <a:off x="3828860" y="3602096"/>
              <a:ext cx="970119" cy="0"/>
            </a:xfrm>
            <a:prstGeom prst="line">
              <a:avLst/>
            </a:prstGeom>
            <a:ln w="412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C3ACD785-1017-407D-8961-49772A544752}"/>
                </a:ext>
              </a:extLst>
            </p:cNvPr>
            <p:cNvCxnSpPr>
              <a:cxnSpLocks/>
            </p:cNvCxnSpPr>
            <p:nvPr/>
          </p:nvCxnSpPr>
          <p:spPr>
            <a:xfrm>
              <a:off x="5047787" y="3602096"/>
              <a:ext cx="545344" cy="0"/>
            </a:xfrm>
            <a:prstGeom prst="line">
              <a:avLst/>
            </a:prstGeom>
            <a:ln w="412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E691E01B-4B2E-48F0-8D5F-BDCEC4567AFC}"/>
                </a:ext>
              </a:extLst>
            </p:cNvPr>
            <p:cNvCxnSpPr>
              <a:cxnSpLocks/>
            </p:cNvCxnSpPr>
            <p:nvPr/>
          </p:nvCxnSpPr>
          <p:spPr>
            <a:xfrm>
              <a:off x="6399503" y="3607772"/>
              <a:ext cx="1058369" cy="0"/>
            </a:xfrm>
            <a:prstGeom prst="line">
              <a:avLst/>
            </a:prstGeom>
            <a:ln w="41275">
              <a:solidFill>
                <a:srgbClr val="C00000"/>
              </a:solidFill>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439FFA68-9E3D-4E8D-9E04-C1EC43416484}"/>
                </a:ext>
              </a:extLst>
            </p:cNvPr>
            <p:cNvSpPr/>
            <p:nvPr/>
          </p:nvSpPr>
          <p:spPr>
            <a:xfrm>
              <a:off x="3772745" y="3749181"/>
              <a:ext cx="1082348" cy="307777"/>
            </a:xfrm>
            <a:prstGeom prst="rect">
              <a:avLst/>
            </a:prstGeom>
          </p:spPr>
          <p:txBody>
            <a:bodyPr wrap="none">
              <a:spAutoFit/>
            </a:bodyPr>
            <a:lstStyle/>
            <a:p>
              <a:r>
                <a:rPr lang="zh-CN" altLang="en-US" sz="1400" b="1" dirty="0">
                  <a:solidFill>
                    <a:srgbClr val="000000"/>
                  </a:solidFill>
                  <a:latin typeface="Times New Roman" panose="02020603050405020304" pitchFamily="18" charset="0"/>
                  <a:ea typeface="楷体_GB2312"/>
                  <a:cs typeface="Times New Roman" panose="02020603050405020304" pitchFamily="18" charset="0"/>
                </a:rPr>
                <a:t>参数优化后</a:t>
              </a:r>
              <a:endParaRPr lang="zh-CN" altLang="en-US" sz="1400" b="1" dirty="0"/>
            </a:p>
          </p:txBody>
        </p:sp>
        <p:sp>
          <p:nvSpPr>
            <p:cNvPr id="23" name="矩形 22">
              <a:extLst>
                <a:ext uri="{FF2B5EF4-FFF2-40B4-BE49-F238E27FC236}">
                  <a16:creationId xmlns:a16="http://schemas.microsoft.com/office/drawing/2014/main" id="{A0CF8A65-9641-46C9-A346-5A8284C1094C}"/>
                </a:ext>
              </a:extLst>
            </p:cNvPr>
            <p:cNvSpPr/>
            <p:nvPr/>
          </p:nvSpPr>
          <p:spPr>
            <a:xfrm>
              <a:off x="4855093" y="3749181"/>
              <a:ext cx="1082348" cy="307777"/>
            </a:xfrm>
            <a:prstGeom prst="rect">
              <a:avLst/>
            </a:prstGeom>
          </p:spPr>
          <p:txBody>
            <a:bodyPr wrap="none">
              <a:spAutoFit/>
            </a:bodyPr>
            <a:lstStyle/>
            <a:p>
              <a:r>
                <a:rPr lang="zh-CN" altLang="en-US" sz="1400" b="1" dirty="0">
                  <a:solidFill>
                    <a:srgbClr val="000000"/>
                  </a:solidFill>
                  <a:latin typeface="Times New Roman" panose="02020603050405020304" pitchFamily="18" charset="0"/>
                  <a:ea typeface="楷体_GB2312"/>
                  <a:cs typeface="Times New Roman" panose="02020603050405020304" pitchFamily="18" charset="0"/>
                </a:rPr>
                <a:t>参数优化前</a:t>
              </a:r>
              <a:endParaRPr lang="zh-CN" altLang="en-US" sz="1400" b="1" dirty="0"/>
            </a:p>
          </p:txBody>
        </p:sp>
        <p:sp>
          <p:nvSpPr>
            <p:cNvPr id="24" name="矩形 23">
              <a:extLst>
                <a:ext uri="{FF2B5EF4-FFF2-40B4-BE49-F238E27FC236}">
                  <a16:creationId xmlns:a16="http://schemas.microsoft.com/office/drawing/2014/main" id="{163CE358-017A-4851-A4A1-0E00C89EFB46}"/>
                </a:ext>
              </a:extLst>
            </p:cNvPr>
            <p:cNvSpPr/>
            <p:nvPr/>
          </p:nvSpPr>
          <p:spPr>
            <a:xfrm>
              <a:off x="6375524" y="3718670"/>
              <a:ext cx="1082348" cy="307777"/>
            </a:xfrm>
            <a:prstGeom prst="rect">
              <a:avLst/>
            </a:prstGeom>
          </p:spPr>
          <p:txBody>
            <a:bodyPr wrap="none">
              <a:spAutoFit/>
            </a:bodyPr>
            <a:lstStyle/>
            <a:p>
              <a:r>
                <a:rPr lang="zh-CN" altLang="en-US" sz="1400" b="1" dirty="0">
                  <a:solidFill>
                    <a:srgbClr val="000000"/>
                  </a:solidFill>
                  <a:latin typeface="Times New Roman" panose="02020603050405020304" pitchFamily="18" charset="0"/>
                  <a:ea typeface="楷体_GB2312"/>
                  <a:cs typeface="Times New Roman" panose="02020603050405020304" pitchFamily="18" charset="0"/>
                </a:rPr>
                <a:t>误差减少量</a:t>
              </a:r>
              <a:endParaRPr lang="zh-CN" altLang="en-US" sz="1400" b="1" dirty="0"/>
            </a:p>
          </p:txBody>
        </p:sp>
      </p:gr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D734EAC3-12AD-4347-A7CA-8726B3B954A9}"/>
                  </a:ext>
                </a:extLst>
              </p:cNvPr>
              <p:cNvSpPr/>
              <p:nvPr/>
            </p:nvSpPr>
            <p:spPr>
              <a:xfrm>
                <a:off x="323025" y="2813323"/>
                <a:ext cx="11498094" cy="3416320"/>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 </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𝑇</m:t>
                        </m:r>
                      </m:sup>
                    </m:s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r>
                      <a:rPr lang="en-US" altLang="zh-CN" sz="1600">
                        <a:solidFill>
                          <a:srgbClr val="000000"/>
                        </a:solidFill>
                        <a:latin typeface="Cambria Math" panose="02040503050406030204" pitchFamily="18" charset="0"/>
                        <a:ea typeface="楷体_GB2312"/>
                        <a:cs typeface="Times New Roman" panose="02020603050405020304" pitchFamily="18" charset="0"/>
                      </a:rPr>
                      <m:t>=</m:t>
                    </m:r>
                    <m:d>
                      <m:dPr>
                        <m:begChr m:val="‖"/>
                        <m:endChr m:val="‖"/>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e>
                    </m:d>
                    <m:d>
                      <m:dPr>
                        <m:begChr m:val="‖"/>
                        <m:endChr m:val="‖"/>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e>
                    </m:d>
                    <m:func>
                      <m:func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cos</m:t>
                        </m:r>
                      </m:fName>
                      <m:e>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θ</m:t>
                        </m:r>
                      </m:e>
                    </m:func>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a:t>
                </a:r>
                <a14:m>
                  <m:oMath xmlns:m="http://schemas.openxmlformats.org/officeDocument/2006/math">
                    <m:d>
                      <m:dPr>
                        <m:begChr m:val="‖"/>
                        <m:endChr m:val="‖"/>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e>
                    </m:d>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d>
                      <m:dPr>
                        <m:begChr m:val="‖"/>
                        <m:endChr m:val="‖"/>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e>
                    </m:d>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分别为损失函数梯度的模和下一轮迭代中</a:t>
                </a:r>
                <a14:m>
                  <m:oMath xmlns:m="http://schemas.openxmlformats.org/officeDocument/2006/math">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取值增量的模，两者均为正数。为了保证损失误差减少，只要保证</a:t>
                </a:r>
                <a14:m>
                  <m:oMath xmlns:m="http://schemas.openxmlformats.org/officeDocument/2006/math">
                    <m:func>
                      <m:func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cos</m:t>
                        </m:r>
                      </m:fName>
                      <m:e>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θ</m:t>
                        </m:r>
                      </m:e>
                    </m:func>
                    <m:r>
                      <a:rPr lang="en-US" altLang="zh-CN" sz="1600" i="1">
                        <a:solidFill>
                          <a:srgbClr val="000000"/>
                        </a:solidFill>
                        <a:latin typeface="Cambria Math" panose="02040503050406030204" pitchFamily="18" charset="0"/>
                        <a:ea typeface="楷体_GB2312"/>
                        <a:cs typeface="Times New Roman" panose="02020603050405020304" pitchFamily="18" charset="0"/>
                      </a:rPr>
                      <m:t>&lt;0</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当</a:t>
                </a:r>
                <a14:m>
                  <m:oMath xmlns:m="http://schemas.openxmlformats.org/officeDocument/2006/math">
                    <m:r>
                      <m:rPr>
                        <m:sty m:val="p"/>
                      </m:rPr>
                      <a:rPr lang="en-US" altLang="zh-CN" sz="1600">
                        <a:solidFill>
                          <a:schemeClr val="accent2"/>
                        </a:solidFill>
                        <a:latin typeface="Cambria Math" panose="02040503050406030204" pitchFamily="18" charset="0"/>
                        <a:ea typeface="楷体_GB2312"/>
                        <a:cs typeface="Times New Roman" panose="02020603050405020304" pitchFamily="18" charset="0"/>
                      </a:rPr>
                      <m:t>θ</m:t>
                    </m:r>
                    <m:r>
                      <a:rPr lang="en-US" altLang="zh-CN" sz="1600">
                        <a:solidFill>
                          <a:schemeClr val="accent2"/>
                        </a:solidFill>
                        <a:latin typeface="Cambria Math" panose="02040503050406030204" pitchFamily="18" charset="0"/>
                        <a:ea typeface="楷体_GB2312"/>
                        <a:cs typeface="Times New Roman" panose="02020603050405020304" pitchFamily="18" charset="0"/>
                      </a:rPr>
                      <m:t>=</m:t>
                    </m:r>
                    <m:sSup>
                      <m:sSupPr>
                        <m:ctrlPr>
                          <a:rPr lang="zh-CN"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chemeClr val="accent2"/>
                            </a:solidFill>
                            <a:latin typeface="Cambria Math" panose="02040503050406030204" pitchFamily="18" charset="0"/>
                            <a:ea typeface="楷体_GB2312"/>
                            <a:cs typeface="Times New Roman" panose="02020603050405020304" pitchFamily="18" charset="0"/>
                          </a:rPr>
                          <m:t>180</m:t>
                        </m:r>
                      </m:e>
                      <m:sup>
                        <m:r>
                          <a:rPr lang="en-US" altLang="zh-CN" sz="1600" i="1">
                            <a:solidFill>
                              <a:schemeClr val="accent2"/>
                            </a:solidFill>
                            <a:latin typeface="Cambria Math" panose="02040503050406030204" pitchFamily="18" charset="0"/>
                            <a:ea typeface="楷体_GB2312"/>
                            <a:cs typeface="Times New Roman" panose="02020603050405020304" pitchFamily="18" charset="0"/>
                          </a:rPr>
                          <m:t>∘</m:t>
                        </m:r>
                      </m:sup>
                    </m:sSup>
                  </m:oMath>
                </a14:m>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时，</a:t>
                </a:r>
                <a14:m>
                  <m:oMath xmlns:m="http://schemas.openxmlformats.org/officeDocument/2006/math">
                    <m:r>
                      <a:rPr lang="zh-CN" altLang="zh-CN" sz="1600">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t> </m:t>
                    </m:r>
                    <m:func>
                      <m:funcPr>
                        <m:ctrlPr>
                          <a:rPr lang="zh-CN"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600">
                            <a:solidFill>
                              <a:schemeClr val="accent2"/>
                            </a:solidFill>
                            <a:latin typeface="Cambria Math" panose="02040503050406030204" pitchFamily="18" charset="0"/>
                            <a:ea typeface="楷体_GB2312"/>
                            <a:cs typeface="Times New Roman" panose="02020603050405020304" pitchFamily="18" charset="0"/>
                          </a:rPr>
                          <m:t>cos</m:t>
                        </m:r>
                      </m:fName>
                      <m:e>
                        <m:r>
                          <m:rPr>
                            <m:sty m:val="p"/>
                          </m:rPr>
                          <a:rPr lang="en-US" altLang="zh-CN" sz="1600">
                            <a:solidFill>
                              <a:schemeClr val="accent2"/>
                            </a:solidFill>
                            <a:latin typeface="Cambria Math" panose="02040503050406030204" pitchFamily="18" charset="0"/>
                            <a:ea typeface="楷体_GB2312"/>
                            <a:cs typeface="Times New Roman" panose="02020603050405020304" pitchFamily="18" charset="0"/>
                          </a:rPr>
                          <m:t>θ</m:t>
                        </m:r>
                        <m:r>
                          <a:rPr lang="en-US" altLang="zh-CN" sz="1600">
                            <a:solidFill>
                              <a:schemeClr val="accent2"/>
                            </a:solidFill>
                            <a:latin typeface="Cambria Math" panose="02040503050406030204" pitchFamily="18" charset="0"/>
                            <a:ea typeface="楷体_GB2312"/>
                            <a:cs typeface="Times New Roman" panose="02020603050405020304" pitchFamily="18" charset="0"/>
                          </a:rPr>
                          <m:t>=</m:t>
                        </m:r>
                        <m:r>
                          <a:rPr lang="en-US" altLang="zh-CN" sz="1600" i="1">
                            <a:solidFill>
                              <a:schemeClr val="accent2"/>
                            </a:solidFill>
                            <a:latin typeface="Cambria Math" panose="02040503050406030204" pitchFamily="18" charset="0"/>
                            <a:ea typeface="楷体_GB2312"/>
                            <a:cs typeface="Times New Roman" panose="02020603050405020304" pitchFamily="18" charset="0"/>
                          </a:rPr>
                          <m:t>−</m:t>
                        </m:r>
                        <m:r>
                          <a:rPr lang="en-US" altLang="zh-CN" sz="1600">
                            <a:solidFill>
                              <a:schemeClr val="accent2"/>
                            </a:solidFill>
                            <a:latin typeface="Cambria Math" panose="02040503050406030204" pitchFamily="18" charset="0"/>
                            <a:ea typeface="楷体_GB2312"/>
                            <a:cs typeface="Times New Roman" panose="02020603050405020304" pitchFamily="18" charset="0"/>
                          </a:rPr>
                          <m:t>1</m:t>
                        </m:r>
                      </m:e>
                    </m:func>
                  </m:oMath>
                </a14:m>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，这时损失函数减少的幅度值</a:t>
                </a:r>
                <a14:m>
                  <m:oMath xmlns:m="http://schemas.openxmlformats.org/officeDocument/2006/math">
                    <m:r>
                      <a:rPr lang="en-US" altLang="zh-CN" sz="1600" i="1">
                        <a:solidFill>
                          <a:schemeClr val="accent2"/>
                        </a:solidFill>
                        <a:latin typeface="Cambria Math" panose="02040503050406030204" pitchFamily="18" charset="0"/>
                        <a:ea typeface="楷体_GB2312"/>
                        <a:cs typeface="Times New Roman" panose="02020603050405020304" pitchFamily="18" charset="0"/>
                      </a:rPr>
                      <m:t>(</m:t>
                    </m:r>
                    <m:sSup>
                      <m:sSupPr>
                        <m:ctrlPr>
                          <a:rPr lang="zh-CN"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a:solidFill>
                              <a:schemeClr val="accent2"/>
                            </a:solidFill>
                            <a:latin typeface="Cambria Math" panose="02040503050406030204" pitchFamily="18" charset="0"/>
                            <a:ea typeface="楷体_GB2312"/>
                            <a:cs typeface="Times New Roman" panose="02020603050405020304" pitchFamily="18" charset="0"/>
                          </a:rPr>
                          <m:t>𝛻</m:t>
                        </m:r>
                        <m:r>
                          <a:rPr lang="en-US" altLang="zh-CN" sz="1600" i="1">
                            <a:solidFill>
                              <a:schemeClr val="accent2"/>
                            </a:solidFill>
                            <a:latin typeface="Cambria Math" panose="02040503050406030204" pitchFamily="18" charset="0"/>
                            <a:ea typeface="楷体_GB2312"/>
                            <a:cs typeface="Times New Roman" panose="02020603050405020304" pitchFamily="18" charset="0"/>
                          </a:rPr>
                          <m:t>𝑓</m:t>
                        </m:r>
                        <m:r>
                          <a:rPr lang="en-US" altLang="zh-CN" sz="1600" i="1">
                            <a:solidFill>
                              <a:schemeClr val="accent2"/>
                            </a:solidFill>
                            <a:latin typeface="Cambria Math" panose="02040503050406030204" pitchFamily="18" charset="0"/>
                            <a:ea typeface="楷体_GB2312"/>
                            <a:cs typeface="Times New Roman" panose="02020603050405020304" pitchFamily="18" charset="0"/>
                          </a:rPr>
                          <m:t>(</m:t>
                        </m:r>
                        <m:r>
                          <a:rPr lang="en-US" altLang="zh-CN" sz="1600" b="1" i="1">
                            <a:solidFill>
                              <a:schemeClr val="accent2"/>
                            </a:solidFill>
                            <a:latin typeface="Cambria Math" panose="02040503050406030204" pitchFamily="18" charset="0"/>
                            <a:ea typeface="楷体_GB2312"/>
                            <a:cs typeface="Times New Roman" panose="02020603050405020304" pitchFamily="18" charset="0"/>
                          </a:rPr>
                          <m:t>𝒙</m:t>
                        </m:r>
                        <m:r>
                          <a:rPr lang="en-US" altLang="zh-CN" sz="1600" i="1">
                            <a:solidFill>
                              <a:schemeClr val="accent2"/>
                            </a:solidFill>
                            <a:latin typeface="Cambria Math" panose="02040503050406030204" pitchFamily="18" charset="0"/>
                            <a:ea typeface="楷体_GB2312"/>
                            <a:cs typeface="Times New Roman" panose="02020603050405020304" pitchFamily="18" charset="0"/>
                          </a:rPr>
                          <m:t>))</m:t>
                        </m:r>
                      </m:e>
                      <m:sup>
                        <m:r>
                          <a:rPr lang="en-US" altLang="zh-CN" sz="1600" i="1">
                            <a:solidFill>
                              <a:schemeClr val="accent2"/>
                            </a:solidFill>
                            <a:latin typeface="Cambria Math" panose="02040503050406030204" pitchFamily="18" charset="0"/>
                            <a:ea typeface="楷体_GB2312"/>
                            <a:cs typeface="Times New Roman" panose="02020603050405020304" pitchFamily="18" charset="0"/>
                          </a:rPr>
                          <m:t>𝑇</m:t>
                        </m:r>
                      </m:sup>
                    </m:sSup>
                    <m:r>
                      <a:rPr lang="en-US" altLang="zh-CN" sz="1600" i="1">
                        <a:solidFill>
                          <a:schemeClr val="accent2"/>
                        </a:solidFill>
                        <a:latin typeface="Cambria Math" panose="02040503050406030204" pitchFamily="18" charset="0"/>
                        <a:ea typeface="楷体_GB2312"/>
                        <a:cs typeface="Times New Roman" panose="02020603050405020304" pitchFamily="18" charset="0"/>
                      </a:rPr>
                      <m:t>∆</m:t>
                    </m:r>
                    <m:r>
                      <a:rPr lang="en-US" altLang="zh-CN" sz="1600" b="1" i="1">
                        <a:solidFill>
                          <a:schemeClr val="accent2"/>
                        </a:solidFill>
                        <a:latin typeface="Cambria Math" panose="02040503050406030204" pitchFamily="18" charset="0"/>
                        <a:ea typeface="楷体_GB2312"/>
                        <a:cs typeface="Times New Roman" panose="02020603050405020304" pitchFamily="18" charset="0"/>
                      </a:rPr>
                      <m:t>𝒙</m:t>
                    </m:r>
                  </m:oMath>
                </a14:m>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取到最小。</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可见，当损失函数梯度</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取值增量</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之间夹角为</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180</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度时，损失误差减少最多。于是，在迭代过程中为了最小化损失误差，每次迭代时可沿着损失函数梯度的反方向</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14:m>
                  <m:oMath xmlns:m="http://schemas.openxmlformats.org/officeDocument/2006/math">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θ</m:t>
                    </m:r>
                    <m:r>
                      <a:rPr lang="en-US" altLang="zh-CN" sz="1600">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180</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oMath>
                </a14:m>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幅度来改变</a:t>
                </a:r>
                <a14:m>
                  <m:oMath xmlns:m="http://schemas.openxmlformats.org/officeDocument/2006/math">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取值，这样会保证</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e>
                    </m:d>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e>
                    </m:d>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之间的差值最大（即损失误差下降最快）。</a:t>
                </a:r>
              </a:p>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于是，当</a:t>
                </a:r>
                <a14:m>
                  <m:oMath xmlns:m="http://schemas.openxmlformats.org/officeDocument/2006/math">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θ</m:t>
                    </m:r>
                    <m:r>
                      <a:rPr lang="en-US" altLang="zh-CN" sz="1600">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180</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e>
                    </m:d>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e>
                    </m:d>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之间的差值为：</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e>
                    </m:d>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e>
                    </m:d>
                    <m:r>
                      <a:rPr lang="en-US" altLang="zh-CN" sz="1600" i="1">
                        <a:solidFill>
                          <a:srgbClr val="000000"/>
                        </a:solidFill>
                        <a:latin typeface="Cambria Math" panose="02040503050406030204" pitchFamily="18" charset="0"/>
                        <a:ea typeface="楷体_GB2312"/>
                        <a:cs typeface="Times New Roman" panose="02020603050405020304" pitchFamily="18" charset="0"/>
                      </a:rPr>
                      <m:t>=</m:t>
                    </m:r>
                    <m:d>
                      <m:dPr>
                        <m:begChr m:val="‖"/>
                        <m:endChr m:val="‖"/>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e>
                    </m:d>
                    <m:d>
                      <m:dPr>
                        <m:begChr m:val="‖"/>
                        <m:endChr m:val="‖"/>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e>
                    </m:d>
                    <m:func>
                      <m:func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cos</m:t>
                        </m:r>
                      </m:fName>
                      <m:e>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θ</m:t>
                        </m:r>
                      </m:e>
                    </m:func>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d>
                      <m:dPr>
                        <m:begChr m:val="‖"/>
                        <m:endChr m:val="‖"/>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e>
                    </m:d>
                    <m:d>
                      <m:dPr>
                        <m:begChr m:val="‖"/>
                        <m:endChr m:val="‖"/>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e>
                    </m:d>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。这说明只要沿着损失函数梯度的反方向选取</a:t>
                </a:r>
                <a14:m>
                  <m:oMath xmlns:m="http://schemas.openxmlformats.org/officeDocument/2006/math">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的增量</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𝒙</m:t>
                    </m:r>
                  </m:oMath>
                </a14:m>
                <a:r>
                  <a:rPr lang="zh-CN" altLang="zh-CN" sz="16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就会保证损失误差下降最多、下降最快，犹如从山峰处沿着最陡峭路径可快速走到山谷。</a:t>
                </a:r>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在前面的推导中忽略了损失函数的二阶导数以及其高阶导数的取值，因此在实际中引入步长</a:t>
                </a:r>
                <a14:m>
                  <m:oMath xmlns:m="http://schemas.openxmlformats.org/officeDocument/2006/math">
                    <m:r>
                      <m:rPr>
                        <m:sty m:val="p"/>
                      </m:rPr>
                      <a:rPr lang="en-US" altLang="zh-CN" sz="1600">
                        <a:solidFill>
                          <a:schemeClr val="accent2"/>
                        </a:solidFill>
                        <a:latin typeface="Cambria Math" panose="02040503050406030204" pitchFamily="18" charset="0"/>
                        <a:ea typeface="楷体_GB2312"/>
                        <a:cs typeface="Times New Roman" panose="02020603050405020304" pitchFamily="18" charset="0"/>
                      </a:rPr>
                      <m:t>η</m:t>
                    </m:r>
                  </m:oMath>
                </a14:m>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，用</a:t>
                </a:r>
                <a14:m>
                  <m:oMath xmlns:m="http://schemas.openxmlformats.org/officeDocument/2006/math">
                    <m:r>
                      <a:rPr lang="en-US" altLang="zh-CN" sz="1600" b="1" i="1">
                        <a:solidFill>
                          <a:schemeClr val="accent2"/>
                        </a:solidFill>
                        <a:latin typeface="Cambria Math" panose="02040503050406030204" pitchFamily="18" charset="0"/>
                        <a:ea typeface="楷体_GB2312"/>
                        <a:cs typeface="Times New Roman" panose="02020603050405020304" pitchFamily="18" charset="0"/>
                      </a:rPr>
                      <m:t>𝒙</m:t>
                    </m:r>
                    <m:r>
                      <a:rPr lang="en-US" altLang="zh-CN" sz="1600" b="1" i="1">
                        <a:solidFill>
                          <a:schemeClr val="accent2"/>
                        </a:solidFill>
                        <a:latin typeface="Cambria Math" panose="02040503050406030204" pitchFamily="18" charset="0"/>
                        <a:ea typeface="楷体_GB2312"/>
                        <a:cs typeface="Times New Roman" panose="02020603050405020304" pitchFamily="18" charset="0"/>
                      </a:rPr>
                      <m:t>−</m:t>
                    </m:r>
                    <m:r>
                      <m:rPr>
                        <m:sty m:val="p"/>
                      </m:rPr>
                      <a:rPr lang="en-US" altLang="zh-CN" sz="1600">
                        <a:solidFill>
                          <a:schemeClr val="accent2"/>
                        </a:solidFill>
                        <a:latin typeface="Cambria Math" panose="02040503050406030204" pitchFamily="18" charset="0"/>
                        <a:ea typeface="楷体_GB2312"/>
                        <a:cs typeface="Times New Roman" panose="02020603050405020304" pitchFamily="18" charset="0"/>
                      </a:rPr>
                      <m:t>η</m:t>
                    </m:r>
                    <m:r>
                      <a:rPr lang="en-US" altLang="zh-CN" sz="1600">
                        <a:solidFill>
                          <a:schemeClr val="accent2"/>
                        </a:solidFill>
                        <a:latin typeface="Cambria Math" panose="02040503050406030204" pitchFamily="18" charset="0"/>
                        <a:ea typeface="楷体_GB2312"/>
                        <a:cs typeface="Times New Roman" panose="02020603050405020304" pitchFamily="18" charset="0"/>
                      </a:rPr>
                      <m:t>𝛻</m:t>
                    </m:r>
                    <m:r>
                      <a:rPr lang="en-US" altLang="zh-CN" sz="1600" i="1">
                        <a:solidFill>
                          <a:schemeClr val="accent2"/>
                        </a:solidFill>
                        <a:latin typeface="Cambria Math" panose="02040503050406030204" pitchFamily="18" charset="0"/>
                        <a:ea typeface="楷体_GB2312"/>
                        <a:cs typeface="Times New Roman" panose="02020603050405020304" pitchFamily="18" charset="0"/>
                      </a:rPr>
                      <m:t>𝑓</m:t>
                    </m:r>
                    <m:r>
                      <a:rPr lang="en-US" altLang="zh-CN" sz="1600" i="1">
                        <a:solidFill>
                          <a:schemeClr val="accent2"/>
                        </a:solidFill>
                        <a:latin typeface="Cambria Math" panose="02040503050406030204" pitchFamily="18" charset="0"/>
                        <a:ea typeface="楷体_GB2312"/>
                        <a:cs typeface="Times New Roman" panose="02020603050405020304" pitchFamily="18" charset="0"/>
                      </a:rPr>
                      <m:t>(</m:t>
                    </m:r>
                    <m:r>
                      <a:rPr lang="en-US" altLang="zh-CN" sz="1600" b="1" i="1">
                        <a:solidFill>
                          <a:schemeClr val="accent2"/>
                        </a:solidFill>
                        <a:latin typeface="Cambria Math" panose="02040503050406030204" pitchFamily="18" charset="0"/>
                        <a:ea typeface="楷体_GB2312"/>
                        <a:cs typeface="Times New Roman" panose="02020603050405020304" pitchFamily="18" charset="0"/>
                      </a:rPr>
                      <m:t>𝒙</m:t>
                    </m:r>
                    <m:r>
                      <a:rPr lang="en-US" altLang="zh-CN" sz="1600" i="1">
                        <a:solidFill>
                          <a:schemeClr val="accent2"/>
                        </a:solidFill>
                        <a:latin typeface="Cambria Math" panose="02040503050406030204" pitchFamily="18" charset="0"/>
                        <a:ea typeface="楷体_GB2312"/>
                        <a:cs typeface="Times New Roman" panose="02020603050405020304" pitchFamily="18" charset="0"/>
                      </a:rPr>
                      <m:t>)</m:t>
                    </m:r>
                  </m:oMath>
                </a14:m>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来更新</a:t>
                </a:r>
                <a14:m>
                  <m:oMath xmlns:m="http://schemas.openxmlformats.org/officeDocument/2006/math">
                    <m:r>
                      <a:rPr lang="en-US" altLang="zh-CN" sz="1600" b="1" i="1">
                        <a:solidFill>
                          <a:schemeClr val="accent2"/>
                        </a:solidFill>
                        <a:latin typeface="Cambria Math" panose="02040503050406030204" pitchFamily="18" charset="0"/>
                        <a:ea typeface="楷体_GB2312"/>
                        <a:cs typeface="Times New Roman" panose="02020603050405020304" pitchFamily="18" charset="0"/>
                      </a:rPr>
                      <m:t>𝒙</m:t>
                    </m:r>
                  </m:oMath>
                </a14:m>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（在具体实现时</a:t>
                </a:r>
                <a14:m>
                  <m:oMath xmlns:m="http://schemas.openxmlformats.org/officeDocument/2006/math">
                    <m:r>
                      <m:rPr>
                        <m:sty m:val="p"/>
                      </m:rPr>
                      <a:rPr lang="en-US" altLang="zh-CN" sz="1600">
                        <a:solidFill>
                          <a:schemeClr val="accent2"/>
                        </a:solidFill>
                        <a:latin typeface="Cambria Math" panose="02040503050406030204" pitchFamily="18" charset="0"/>
                        <a:ea typeface="楷体_GB2312"/>
                        <a:cs typeface="Times New Roman" panose="02020603050405020304" pitchFamily="18" charset="0"/>
                      </a:rPr>
                      <m:t>η</m:t>
                    </m:r>
                  </m:oMath>
                </a14:m>
                <a:r>
                  <a:rPr lang="zh-CN" altLang="zh-CN" sz="1600"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可取一个定值）。</a:t>
                </a:r>
                <a:endPar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D734EAC3-12AD-4347-A7CA-8726B3B954A9}"/>
                  </a:ext>
                </a:extLst>
              </p:cNvPr>
              <p:cNvSpPr>
                <a:spLocks noRot="1" noChangeAspect="1" noMove="1" noResize="1" noEditPoints="1" noAdjustHandles="1" noChangeArrowheads="1" noChangeShapeType="1" noTextEdit="1"/>
              </p:cNvSpPr>
              <p:nvPr/>
            </p:nvSpPr>
            <p:spPr>
              <a:xfrm>
                <a:off x="323025" y="2813323"/>
                <a:ext cx="11498094" cy="3416320"/>
              </a:xfrm>
              <a:prstGeom prst="rect">
                <a:avLst/>
              </a:prstGeom>
              <a:blipFill>
                <a:blip r:embed="rId4"/>
                <a:stretch>
                  <a:fillRect l="-212" r="-26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91452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神经网络参数优化：误差反向传播</a:t>
              </a: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D734EAC3-12AD-4347-A7CA-8726B3B954A9}"/>
                  </a:ext>
                </a:extLst>
              </p:cNvPr>
              <p:cNvSpPr/>
              <p:nvPr/>
            </p:nvSpPr>
            <p:spPr>
              <a:xfrm>
                <a:off x="214480" y="1401178"/>
                <a:ext cx="6192805" cy="5018682"/>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误差反向传播算法（</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error back propagation</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）主要利用损失函数来计算模型预测结果与真实结果之间误差以优化调整模型参数，这一优化调整机制是从输出端向输入端，由后向前递进进行。</a:t>
                </a:r>
                <a:endPar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损失函数梯度反方向是损失误差下降最快方向。在求取损失函数梯度时需要对各个变量求偏导，这一求取偏导过程要用到链式法则（</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chain rule</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在图</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5.6</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中，</a:t>
                </a:r>
                <a14:m>
                  <m:oMath xmlns:m="http://schemas.openxmlformats.org/officeDocument/2006/math">
                    <m:r>
                      <a:rPr lang="en-US" altLang="zh-CN" sz="1600">
                        <a:solidFill>
                          <a:srgbClr val="000000"/>
                        </a:solidFill>
                        <a:latin typeface="Cambria Math" panose="02040503050406030204" pitchFamily="18" charset="0"/>
                      </a:rPr>
                      <m:t>𝑜𝑢𝑡</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是一个神经单元，其在神经网络中完成两个任务：</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将相邻前序神经元传递而来的信息线性加权累加，得到结果</a:t>
                </a:r>
                <a14:m>
                  <m:oMath xmlns:m="http://schemas.openxmlformats.org/officeDocument/2006/math">
                    <m:r>
                      <a:rPr lang="en-US" altLang="zh-CN" sz="1600">
                        <a:solidFill>
                          <a:srgbClr val="000000"/>
                        </a:solidFill>
                        <a:latin typeface="Cambria Math" panose="02040503050406030204" pitchFamily="18" charset="0"/>
                      </a:rPr>
                      <m:t>𝒳</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，即</a:t>
                </a:r>
                <a14:m>
                  <m:oMath xmlns:m="http://schemas.openxmlformats.org/officeDocument/2006/math">
                    <m:r>
                      <a:rPr lang="en-US" altLang="zh-CN" sz="1600">
                        <a:solidFill>
                          <a:srgbClr val="000000"/>
                        </a:solidFill>
                        <a:latin typeface="Cambria Math" panose="02040503050406030204" pitchFamily="18" charset="0"/>
                      </a:rPr>
                      <m:t>𝒳</m:t>
                    </m:r>
                    <m:r>
                      <a:rPr lang="en-US" altLang="zh-CN" sz="1600">
                        <a:solidFill>
                          <a:srgbClr val="000000"/>
                        </a:solidFill>
                        <a:latin typeface="Cambria Math" panose="02040503050406030204" pitchFamily="18" charset="0"/>
                      </a:rPr>
                      <m:t>=</m:t>
                    </m:r>
                    <m:nary>
                      <m:naryPr>
                        <m:chr m:val="∑"/>
                        <m:limLoc m:val="subSup"/>
                        <m:supHide m:val="on"/>
                        <m:ctrlPr>
                          <a:rPr lang="zh-CN" altLang="zh-CN" sz="1600" i="1">
                            <a:solidFill>
                              <a:srgbClr val="000000"/>
                            </a:solidFill>
                            <a:latin typeface="Cambria Math" panose="02040503050406030204" pitchFamily="18" charset="0"/>
                          </a:rPr>
                        </m:ctrlPr>
                      </m:naryPr>
                      <m:sub>
                        <m:r>
                          <a:rPr lang="en-US" altLang="zh-CN" sz="1600">
                            <a:solidFill>
                              <a:srgbClr val="000000"/>
                            </a:solidFill>
                            <a:latin typeface="Cambria Math" panose="02040503050406030204" pitchFamily="18" charset="0"/>
                          </a:rPr>
                          <m:t>𝑖</m:t>
                        </m:r>
                      </m:sub>
                      <m:sup/>
                      <m:e>
                        <m:sSub>
                          <m:sSubPr>
                            <m:ctrlPr>
                              <a:rPr lang="zh-CN" altLang="zh-CN" sz="1600" i="1">
                                <a:solidFill>
                                  <a:srgbClr val="000000"/>
                                </a:solidFill>
                                <a:latin typeface="Cambria Math" panose="02040503050406030204" pitchFamily="18" charset="0"/>
                              </a:rPr>
                            </m:ctrlPr>
                          </m:sSubPr>
                          <m:e>
                            <m:r>
                              <a:rPr lang="en-US" altLang="zh-CN" sz="1600">
                                <a:solidFill>
                                  <a:srgbClr val="000000"/>
                                </a:solidFill>
                                <a:latin typeface="Cambria Math" panose="02040503050406030204" pitchFamily="18" charset="0"/>
                              </a:rPr>
                              <m:t>𝑤</m:t>
                            </m:r>
                          </m:e>
                          <m:sub>
                            <m:r>
                              <a:rPr lang="en-US" altLang="zh-CN" sz="1600">
                                <a:solidFill>
                                  <a:srgbClr val="000000"/>
                                </a:solidFill>
                                <a:latin typeface="Cambria Math" panose="02040503050406030204" pitchFamily="18" charset="0"/>
                              </a:rPr>
                              <m:t>𝑖</m:t>
                            </m:r>
                          </m:sub>
                        </m:sSub>
                        <m:r>
                          <a:rPr lang="en-US" altLang="zh-CN" sz="1600">
                            <a:solidFill>
                              <a:srgbClr val="000000"/>
                            </a:solidFill>
                            <a:latin typeface="Cambria Math" panose="02040503050406030204" pitchFamily="18" charset="0"/>
                          </a:rPr>
                          <m:t>×</m:t>
                        </m:r>
                        <m:sSub>
                          <m:sSubPr>
                            <m:ctrlPr>
                              <a:rPr lang="zh-CN" altLang="zh-CN" sz="1600" i="1">
                                <a:solidFill>
                                  <a:srgbClr val="000000"/>
                                </a:solidFill>
                                <a:latin typeface="Cambria Math" panose="02040503050406030204" pitchFamily="18" charset="0"/>
                              </a:rPr>
                            </m:ctrlPr>
                          </m:sSubPr>
                          <m:e>
                            <m:r>
                              <a:rPr lang="en-US" altLang="zh-CN" sz="1600">
                                <a:solidFill>
                                  <a:srgbClr val="000000"/>
                                </a:solidFill>
                                <a:latin typeface="Cambria Math" panose="02040503050406030204" pitchFamily="18" charset="0"/>
                              </a:rPr>
                              <m:t>𝑜𝑢𝑡</m:t>
                            </m:r>
                          </m:e>
                          <m:sub>
                            <m:r>
                              <a:rPr lang="en-US" altLang="zh-CN" sz="1600">
                                <a:solidFill>
                                  <a:srgbClr val="000000"/>
                                </a:solidFill>
                                <a:latin typeface="Cambria Math" panose="02040503050406030204" pitchFamily="18" charset="0"/>
                              </a:rPr>
                              <m:t>𝑖</m:t>
                            </m:r>
                          </m:sub>
                        </m:sSub>
                        <m:r>
                          <a:rPr lang="en-US" altLang="zh-CN" sz="1600">
                            <a:solidFill>
                              <a:srgbClr val="000000"/>
                            </a:solidFill>
                            <a:latin typeface="Cambria Math" panose="02040503050406030204" pitchFamily="18" charset="0"/>
                          </a:rPr>
                          <m:t>(1≤</m:t>
                        </m:r>
                        <m:r>
                          <a:rPr lang="en-US" altLang="zh-CN" sz="1600">
                            <a:solidFill>
                              <a:srgbClr val="000000"/>
                            </a:solidFill>
                            <a:latin typeface="Cambria Math" panose="02040503050406030204" pitchFamily="18" charset="0"/>
                          </a:rPr>
                          <m:t>𝑖</m:t>
                        </m:r>
                        <m:r>
                          <a:rPr lang="en-US" altLang="zh-CN" sz="1600">
                            <a:solidFill>
                              <a:srgbClr val="000000"/>
                            </a:solidFill>
                            <a:latin typeface="Cambria Math" panose="02040503050406030204" pitchFamily="18" charset="0"/>
                          </a:rPr>
                          <m:t>≤3)</m:t>
                        </m:r>
                      </m:e>
                    </m:nary>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。这里</a:t>
                </a:r>
                <a14:m>
                  <m:oMath xmlns:m="http://schemas.openxmlformats.org/officeDocument/2006/math">
                    <m:sSub>
                      <m:sSubPr>
                        <m:ctrlPr>
                          <a:rPr lang="zh-CN" altLang="zh-CN" sz="1600" i="1">
                            <a:solidFill>
                              <a:srgbClr val="000000"/>
                            </a:solidFill>
                            <a:latin typeface="Cambria Math" panose="02040503050406030204" pitchFamily="18" charset="0"/>
                          </a:rPr>
                        </m:ctrlPr>
                      </m:sSubPr>
                      <m:e>
                        <m:r>
                          <a:rPr lang="en-US" altLang="zh-CN" sz="1600">
                            <a:solidFill>
                              <a:srgbClr val="000000"/>
                            </a:solidFill>
                            <a:latin typeface="Cambria Math" panose="02040503050406030204" pitchFamily="18" charset="0"/>
                          </a:rPr>
                          <m:t>𝑜𝑢𝑡</m:t>
                        </m:r>
                      </m:e>
                      <m:sub>
                        <m:r>
                          <a:rPr lang="en-US" altLang="zh-CN" sz="1600">
                            <a:solidFill>
                              <a:srgbClr val="000000"/>
                            </a:solidFill>
                            <a:latin typeface="Cambria Math" panose="02040503050406030204" pitchFamily="18" charset="0"/>
                          </a:rPr>
                          <m:t>𝑖</m:t>
                        </m:r>
                      </m:sub>
                    </m:sSub>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sSub>
                      <m:sSubPr>
                        <m:ctrlPr>
                          <a:rPr lang="zh-CN" altLang="zh-CN" sz="1600" i="1">
                            <a:solidFill>
                              <a:srgbClr val="000000"/>
                            </a:solidFill>
                            <a:latin typeface="Cambria Math" panose="02040503050406030204" pitchFamily="18" charset="0"/>
                          </a:rPr>
                        </m:ctrlPr>
                      </m:sSubPr>
                      <m:e>
                        <m:r>
                          <a:rPr lang="en-US" altLang="zh-CN" sz="1600">
                            <a:solidFill>
                              <a:srgbClr val="000000"/>
                            </a:solidFill>
                            <a:latin typeface="Cambria Math" panose="02040503050406030204" pitchFamily="18" charset="0"/>
                          </a:rPr>
                          <m:t>𝑤</m:t>
                        </m:r>
                      </m:e>
                      <m:sub>
                        <m:r>
                          <a:rPr lang="en-US" altLang="zh-CN" sz="1600">
                            <a:solidFill>
                              <a:srgbClr val="000000"/>
                            </a:solidFill>
                            <a:latin typeface="Cambria Math" panose="02040503050406030204" pitchFamily="18" charset="0"/>
                          </a:rPr>
                          <m:t>𝑖</m:t>
                        </m:r>
                      </m:sub>
                    </m:sSub>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分别是与</a:t>
                </a:r>
                <a14:m>
                  <m:oMath xmlns:m="http://schemas.openxmlformats.org/officeDocument/2006/math">
                    <m:r>
                      <a:rPr lang="en-US" altLang="zh-CN" sz="1600">
                        <a:solidFill>
                          <a:srgbClr val="000000"/>
                        </a:solidFill>
                        <a:latin typeface="Cambria Math" panose="02040503050406030204" pitchFamily="18" charset="0"/>
                      </a:rPr>
                      <m:t>𝑜𝑢𝑡</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前序相连的第</a:t>
                </a:r>
                <a14:m>
                  <m:oMath xmlns:m="http://schemas.openxmlformats.org/officeDocument/2006/math">
                    <m:r>
                      <a:rPr lang="en-US" altLang="zh-CN" sz="1600">
                        <a:solidFill>
                          <a:srgbClr val="000000"/>
                        </a:solidFill>
                        <a:latin typeface="Cambria Math" panose="02040503050406030204" pitchFamily="18" charset="0"/>
                      </a:rPr>
                      <m:t>𝑖</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个神经元后向输递信息及第</a:t>
                </a:r>
                <a14:m>
                  <m:oMath xmlns:m="http://schemas.openxmlformats.org/officeDocument/2006/math">
                    <m:r>
                      <a:rPr lang="en-US" altLang="zh-CN" sz="1600">
                        <a:solidFill>
                          <a:srgbClr val="000000"/>
                        </a:solidFill>
                        <a:latin typeface="Cambria Math" panose="02040503050406030204" pitchFamily="18" charset="0"/>
                      </a:rPr>
                      <m:t>𝑖</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个神经元与</a:t>
                </a:r>
                <a14:m>
                  <m:oMath xmlns:m="http://schemas.openxmlformats.org/officeDocument/2006/math">
                    <m:r>
                      <a:rPr lang="en-US" altLang="zh-CN" sz="1600">
                        <a:solidFill>
                          <a:srgbClr val="000000"/>
                        </a:solidFill>
                        <a:latin typeface="Cambria Math" panose="02040503050406030204" pitchFamily="18" charset="0"/>
                      </a:rPr>
                      <m:t>𝑜𝑢𝑡</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之间的连接权重系数；</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）使用激活函数对加权累加结果进行非线性变换。图中使用的激活函数为</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sigmoid</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，即</a:t>
                </a:r>
                <a14:m>
                  <m:oMath xmlns:m="http://schemas.openxmlformats.org/officeDocument/2006/math">
                    <m:r>
                      <a:rPr lang="en-US" altLang="zh-CN" sz="1600">
                        <a:solidFill>
                          <a:srgbClr val="000000"/>
                        </a:solidFill>
                        <a:latin typeface="Cambria Math" panose="02040503050406030204" pitchFamily="18" charset="0"/>
                      </a:rPr>
                      <m:t>𝒪</m:t>
                    </m:r>
                    <m:r>
                      <a:rPr lang="en-US" altLang="zh-CN" sz="1600">
                        <a:solidFill>
                          <a:srgbClr val="000000"/>
                        </a:solidFill>
                        <a:latin typeface="Cambria Math" panose="02040503050406030204" pitchFamily="18" charset="0"/>
                      </a:rPr>
                      <m:t>=</m:t>
                    </m:r>
                    <m:f>
                      <m:fPr>
                        <m:ctrlPr>
                          <a:rPr lang="zh-CN" altLang="zh-CN" sz="1600" i="1">
                            <a:solidFill>
                              <a:srgbClr val="000000"/>
                            </a:solidFill>
                            <a:latin typeface="Cambria Math" panose="02040503050406030204" pitchFamily="18" charset="0"/>
                          </a:rPr>
                        </m:ctrlPr>
                      </m:fPr>
                      <m:num>
                        <m:r>
                          <a:rPr lang="en-US" altLang="zh-CN" sz="1600">
                            <a:solidFill>
                              <a:srgbClr val="000000"/>
                            </a:solidFill>
                            <a:latin typeface="Cambria Math" panose="02040503050406030204" pitchFamily="18" charset="0"/>
                          </a:rPr>
                          <m:t>1</m:t>
                        </m:r>
                      </m:num>
                      <m:den>
                        <m:r>
                          <a:rPr lang="en-US" altLang="zh-CN" sz="1600">
                            <a:solidFill>
                              <a:srgbClr val="000000"/>
                            </a:solidFill>
                            <a:latin typeface="Cambria Math" panose="02040503050406030204" pitchFamily="18" charset="0"/>
                          </a:rPr>
                          <m:t>1+</m:t>
                        </m:r>
                        <m:sSup>
                          <m:sSupPr>
                            <m:ctrlPr>
                              <a:rPr lang="zh-CN" altLang="zh-CN" sz="1600" i="1">
                                <a:solidFill>
                                  <a:srgbClr val="000000"/>
                                </a:solidFill>
                                <a:latin typeface="Cambria Math" panose="02040503050406030204" pitchFamily="18" charset="0"/>
                              </a:rPr>
                            </m:ctrlPr>
                          </m:sSupPr>
                          <m:e>
                            <m:r>
                              <a:rPr lang="en-US" altLang="zh-CN" sz="1600">
                                <a:solidFill>
                                  <a:srgbClr val="000000"/>
                                </a:solidFill>
                                <a:latin typeface="Cambria Math" panose="02040503050406030204" pitchFamily="18" charset="0"/>
                              </a:rPr>
                              <m:t>𝑒</m:t>
                            </m:r>
                          </m:e>
                          <m:sup>
                            <m:r>
                              <a:rPr lang="en-US" altLang="zh-CN" sz="1600">
                                <a:solidFill>
                                  <a:srgbClr val="000000"/>
                                </a:solidFill>
                                <a:latin typeface="Cambria Math" panose="02040503050406030204" pitchFamily="18" charset="0"/>
                              </a:rPr>
                              <m:t>−</m:t>
                            </m:r>
                            <m:r>
                              <a:rPr lang="en-US" altLang="zh-CN" sz="1600">
                                <a:solidFill>
                                  <a:srgbClr val="000000"/>
                                </a:solidFill>
                                <a:latin typeface="Cambria Math" panose="02040503050406030204" pitchFamily="18" charset="0"/>
                              </a:rPr>
                              <m:t>𝒳</m:t>
                            </m:r>
                          </m:sup>
                        </m:sSup>
                      </m:den>
                    </m:f>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。可见，</a:t>
                </a:r>
                <a14:m>
                  <m:oMath xmlns:m="http://schemas.openxmlformats.org/officeDocument/2006/math">
                    <m:r>
                      <a:rPr lang="en-US" altLang="zh-CN" sz="1600">
                        <a:solidFill>
                          <a:srgbClr val="000000"/>
                        </a:solidFill>
                        <a:latin typeface="Cambria Math" panose="02040503050406030204" pitchFamily="18" charset="0"/>
                      </a:rPr>
                      <m:t>𝒪</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的大小就是神经网络对输入样本数据的预测输出。</a:t>
                </a:r>
              </a:p>
            </p:txBody>
          </p:sp>
        </mc:Choice>
        <mc:Fallback xmlns="">
          <p:sp>
            <p:nvSpPr>
              <p:cNvPr id="10" name="矩形 9">
                <a:extLst>
                  <a:ext uri="{FF2B5EF4-FFF2-40B4-BE49-F238E27FC236}">
                    <a16:creationId xmlns:a16="http://schemas.microsoft.com/office/drawing/2014/main" id="{D734EAC3-12AD-4347-A7CA-8726B3B954A9}"/>
                  </a:ext>
                </a:extLst>
              </p:cNvPr>
              <p:cNvSpPr>
                <a:spLocks noRot="1" noChangeAspect="1" noMove="1" noResize="1" noEditPoints="1" noAdjustHandles="1" noChangeArrowheads="1" noChangeShapeType="1" noTextEdit="1"/>
              </p:cNvSpPr>
              <p:nvPr/>
            </p:nvSpPr>
            <p:spPr>
              <a:xfrm>
                <a:off x="214480" y="1401178"/>
                <a:ext cx="6192805" cy="5018682"/>
              </a:xfrm>
              <a:prstGeom prst="rect">
                <a:avLst/>
              </a:prstGeom>
              <a:blipFill>
                <a:blip r:embed="rId3"/>
                <a:stretch>
                  <a:fillRect l="-394" r="-3937" b="-365"/>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4FE59071-F10B-4F38-BB91-6D335FD13FB6}"/>
              </a:ext>
            </a:extLst>
          </p:cNvPr>
          <p:cNvPicPr>
            <a:picLocks noChangeAspect="1"/>
          </p:cNvPicPr>
          <p:nvPr/>
        </p:nvPicPr>
        <p:blipFill>
          <a:blip r:embed="rId4"/>
          <a:stretch>
            <a:fillRect/>
          </a:stretch>
        </p:blipFill>
        <p:spPr>
          <a:xfrm>
            <a:off x="6663120" y="2594042"/>
            <a:ext cx="5528880" cy="2632954"/>
          </a:xfrm>
          <a:prstGeom prst="rect">
            <a:avLst/>
          </a:prstGeom>
        </p:spPr>
      </p:pic>
    </p:spTree>
    <p:extLst>
      <p:ext uri="{BB962C8B-B14F-4D97-AF65-F5344CB8AC3E}">
        <p14:creationId xmlns:p14="http://schemas.microsoft.com/office/powerpoint/2010/main" val="18320846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神经网络参数优化：误差反向传播</a:t>
              </a: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pic>
        <p:nvPicPr>
          <p:cNvPr id="8" name="图片 7">
            <a:extLst>
              <a:ext uri="{FF2B5EF4-FFF2-40B4-BE49-F238E27FC236}">
                <a16:creationId xmlns:a16="http://schemas.microsoft.com/office/drawing/2014/main" id="{4FE59071-F10B-4F38-BB91-6D335FD13FB6}"/>
              </a:ext>
            </a:extLst>
          </p:cNvPr>
          <p:cNvPicPr>
            <a:picLocks noChangeAspect="1"/>
          </p:cNvPicPr>
          <p:nvPr/>
        </p:nvPicPr>
        <p:blipFill>
          <a:blip r:embed="rId3"/>
          <a:stretch>
            <a:fillRect/>
          </a:stretch>
        </p:blipFill>
        <p:spPr>
          <a:xfrm>
            <a:off x="6721831" y="2730230"/>
            <a:ext cx="5088541" cy="2423256"/>
          </a:xfrm>
          <a:prstGeom prst="rect">
            <a:avLst/>
          </a:prstGeom>
        </p:spPr>
      </p:pic>
      <p:sp>
        <p:nvSpPr>
          <p:cNvPr id="9" name="矩形: 圆角 6">
            <a:extLst>
              <a:ext uri="{FF2B5EF4-FFF2-40B4-BE49-F238E27FC236}">
                <a16:creationId xmlns:a16="http://schemas.microsoft.com/office/drawing/2014/main" id="{A2B98877-44E5-46D0-BB7B-257A1D851CA1}"/>
              </a:ext>
            </a:extLst>
          </p:cNvPr>
          <p:cNvSpPr/>
          <p:nvPr/>
        </p:nvSpPr>
        <p:spPr>
          <a:xfrm>
            <a:off x="166688" y="2451359"/>
            <a:ext cx="6376783" cy="3891075"/>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53401E96-C60D-4A69-B521-ADB13B72E9CF}"/>
                  </a:ext>
                </a:extLst>
              </p:cNvPr>
              <p:cNvSpPr/>
              <p:nvPr/>
            </p:nvSpPr>
            <p:spPr>
              <a:xfrm>
                <a:off x="166689" y="2680261"/>
                <a:ext cx="6253566" cy="3795013"/>
              </a:xfrm>
              <a:prstGeom prst="rect">
                <a:avLst/>
              </a:prstGeom>
            </p:spPr>
            <p:txBody>
              <a:bodyPr wrap="square">
                <a:spAutoFit/>
              </a:bodyPr>
              <a:lstStyle/>
              <a:p>
                <a:pPr algn="ctr">
                  <a:buClr>
                    <a:schemeClr val="bg1"/>
                  </a:buClr>
                  <a:buSzPct val="80000"/>
                </a:pP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如何调整</a:t>
                </a:r>
                <a14:m>
                  <m:oMath xmlns:m="http://schemas.openxmlformats.org/officeDocument/2006/math">
                    <m:sSub>
                      <m:sSubPr>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oMath>
                </a14:m>
                <a:endPar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Clr>
                    <a:schemeClr val="bg1"/>
                  </a:buClr>
                  <a:buSzPct val="80000"/>
                </a:pP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为了使损失函数</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ℒ</m:t>
                    </m:r>
                  </m:oMath>
                </a14:m>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取值减少（从而保证模型预测结果与实际结果之间的差距越来越小），需要求取损失函数</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ℒ</m:t>
                    </m:r>
                  </m:oMath>
                </a14:m>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相对于</a:t>
                </a:r>
                <a14:m>
                  <m:oMath xmlns:m="http://schemas.openxmlformats.org/officeDocument/2006/math">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oMath>
                </a14:m>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的偏导，然后按照损失函数梯度的反方向选取一个微小的增量，来调整</a:t>
                </a:r>
                <a14:m>
                  <m:oMath xmlns:m="http://schemas.openxmlformats.org/officeDocument/2006/math">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oMath>
                </a14:m>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的取值，就能够保证损失函数取值减少。即将</a:t>
                </a:r>
                <a14:m>
                  <m:oMath xmlns:m="http://schemas.openxmlformats.org/officeDocument/2006/math">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oMath>
                </a14:m>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变为</a:t>
                </a:r>
                <a14:m>
                  <m:oMath xmlns:m="http://schemas.openxmlformats.org/officeDocument/2006/math">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η</m:t>
                    </m:r>
                    <m:f>
                      <m:f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𝑑</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ℒ</m:t>
                        </m:r>
                      </m:num>
                      <m:den>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𝑑</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den>
                    </m:f>
                  </m:oMath>
                </a14:m>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后，能使得损失误差减少。这里</a:t>
                </a:r>
                <a14:m>
                  <m:oMath xmlns:m="http://schemas.openxmlformats.org/officeDocument/2006/math">
                    <m:f>
                      <m:f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𝑑</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ℒ</m:t>
                        </m:r>
                      </m:num>
                      <m:den>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𝑑</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den>
                    </m:f>
                  </m:oMath>
                </a14:m>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为损失函数</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ℒ</m:t>
                    </m:r>
                  </m:oMath>
                </a14:m>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对</a:t>
                </a:r>
                <a14:m>
                  <m:oMath xmlns:m="http://schemas.openxmlformats.org/officeDocument/2006/math">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oMath>
                </a14:m>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的偏导。于是，需要求取损失函数</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ℒ</m:t>
                    </m:r>
                  </m:oMath>
                </a14:m>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对变量参数</a:t>
                </a:r>
                <a14:m>
                  <m:oMath xmlns:m="http://schemas.openxmlformats.org/officeDocument/2006/math">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oMath>
                </a14:m>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的偏导。</a:t>
                </a:r>
              </a:p>
              <a:p>
                <a:pPr>
                  <a:buClr>
                    <a:schemeClr val="bg1"/>
                  </a:buClr>
                  <a:buSzPct val="80000"/>
                </a:pP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53401E96-C60D-4A69-B521-ADB13B72E9CF}"/>
                  </a:ext>
                </a:extLst>
              </p:cNvPr>
              <p:cNvSpPr>
                <a:spLocks noRot="1" noChangeAspect="1" noMove="1" noResize="1" noEditPoints="1" noAdjustHandles="1" noChangeArrowheads="1" noChangeShapeType="1" noTextEdit="1"/>
              </p:cNvSpPr>
              <p:nvPr/>
            </p:nvSpPr>
            <p:spPr>
              <a:xfrm>
                <a:off x="166689" y="2680261"/>
                <a:ext cx="6253566" cy="3795013"/>
              </a:xfrm>
              <a:prstGeom prst="rect">
                <a:avLst/>
              </a:prstGeom>
              <a:blipFill>
                <a:blip r:embed="rId4"/>
                <a:stretch>
                  <a:fillRect l="-877" t="-1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7965CB01-92A3-443E-A48D-9A76D23A2AB1}"/>
                  </a:ext>
                </a:extLst>
              </p:cNvPr>
              <p:cNvSpPr/>
              <p:nvPr/>
            </p:nvSpPr>
            <p:spPr>
              <a:xfrm>
                <a:off x="590145" y="1429392"/>
                <a:ext cx="10765275" cy="787523"/>
              </a:xfrm>
              <a:prstGeom prst="rect">
                <a:avLst/>
              </a:prstGeom>
            </p:spPr>
            <p:txBody>
              <a:bodyPr wrap="square">
                <a:spAutoFit/>
              </a:bodyPr>
              <a:lstStyle/>
              <a:p>
                <a:pPr algn="ctr">
                  <a:lnSpc>
                    <a:spcPct val="150000"/>
                  </a:lnSpc>
                </a:pPr>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模型预测结果</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𝒪</m:t>
                    </m:r>
                  </m:oMath>
                </a14:m>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与真实结果之间的损失误差</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𝑙𝑜𝑠𝑠</m:t>
                    </m:r>
                  </m:oMath>
                </a14:m>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由所定义的损失函数</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ℒ</m:t>
                    </m:r>
                  </m:oMath>
                </a14:m>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计算得到。现在的问题是如何根据这个误差来优化调整连接权重系数</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𝑤</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（未出现的神经网络其它参数</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调整雷同</a:t>
                </a:r>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），使得训练得到的模型尽可能输出预期结果。</a:t>
                </a:r>
                <a:endParaRPr lang="zh-CN" altLang="en-US" sz="1600" dirty="0">
                  <a:latin typeface="微软雅黑" panose="020B0503020204020204" pitchFamily="34" charset="-122"/>
                  <a:ea typeface="微软雅黑" panose="020B0503020204020204" pitchFamily="34" charset="-122"/>
                </a:endParaRPr>
              </a:p>
            </p:txBody>
          </p:sp>
        </mc:Choice>
        <mc:Fallback xmlns="">
          <p:sp>
            <p:nvSpPr>
              <p:cNvPr id="2" name="矩形 1">
                <a:extLst>
                  <a:ext uri="{FF2B5EF4-FFF2-40B4-BE49-F238E27FC236}">
                    <a16:creationId xmlns:a16="http://schemas.microsoft.com/office/drawing/2014/main" id="{7965CB01-92A3-443E-A48D-9A76D23A2AB1}"/>
                  </a:ext>
                </a:extLst>
              </p:cNvPr>
              <p:cNvSpPr>
                <a:spLocks noRot="1" noChangeAspect="1" noMove="1" noResize="1" noEditPoints="1" noAdjustHandles="1" noChangeArrowheads="1" noChangeShapeType="1" noTextEdit="1"/>
              </p:cNvSpPr>
              <p:nvPr/>
            </p:nvSpPr>
            <p:spPr>
              <a:xfrm>
                <a:off x="590145" y="1429392"/>
                <a:ext cx="10765275" cy="787523"/>
              </a:xfrm>
              <a:prstGeom prst="rect">
                <a:avLst/>
              </a:prstGeom>
              <a:blipFill>
                <a:blip r:embed="rId5"/>
                <a:stretch>
                  <a:fillRect b="-84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488067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神经网络参数优化：误差反向传播</a:t>
              </a: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pic>
        <p:nvPicPr>
          <p:cNvPr id="8" name="图片 7">
            <a:extLst>
              <a:ext uri="{FF2B5EF4-FFF2-40B4-BE49-F238E27FC236}">
                <a16:creationId xmlns:a16="http://schemas.microsoft.com/office/drawing/2014/main" id="{4FE59071-F10B-4F38-BB91-6D335FD13FB6}"/>
              </a:ext>
            </a:extLst>
          </p:cNvPr>
          <p:cNvPicPr>
            <a:picLocks noChangeAspect="1"/>
          </p:cNvPicPr>
          <p:nvPr/>
        </p:nvPicPr>
        <p:blipFill>
          <a:blip r:embed="rId3"/>
          <a:stretch>
            <a:fillRect/>
          </a:stretch>
        </p:blipFill>
        <p:spPr>
          <a:xfrm>
            <a:off x="6721831" y="2730230"/>
            <a:ext cx="5088541" cy="2423256"/>
          </a:xfrm>
          <a:prstGeom prst="rect">
            <a:avLst/>
          </a:prstGeom>
        </p:spPr>
      </p:pic>
      <p:sp>
        <p:nvSpPr>
          <p:cNvPr id="9" name="矩形: 圆角 6">
            <a:extLst>
              <a:ext uri="{FF2B5EF4-FFF2-40B4-BE49-F238E27FC236}">
                <a16:creationId xmlns:a16="http://schemas.microsoft.com/office/drawing/2014/main" id="{A2B98877-44E5-46D0-BB7B-257A1D851CA1}"/>
              </a:ext>
            </a:extLst>
          </p:cNvPr>
          <p:cNvSpPr/>
          <p:nvPr/>
        </p:nvSpPr>
        <p:spPr>
          <a:xfrm>
            <a:off x="166688" y="2451359"/>
            <a:ext cx="6376783" cy="3891075"/>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53401E96-C60D-4A69-B521-ADB13B72E9CF}"/>
                  </a:ext>
                </a:extLst>
              </p:cNvPr>
              <p:cNvSpPr/>
              <p:nvPr/>
            </p:nvSpPr>
            <p:spPr>
              <a:xfrm>
                <a:off x="228295" y="2816448"/>
                <a:ext cx="6315175" cy="3721403"/>
              </a:xfrm>
              <a:prstGeom prst="rect">
                <a:avLst/>
              </a:prstGeom>
            </p:spPr>
            <p:txBody>
              <a:bodyPr wrap="square">
                <a:spAutoFit/>
              </a:bodyPr>
              <a:lstStyle/>
              <a:p>
                <a:pPr algn="ctr">
                  <a:buClr>
                    <a:schemeClr val="bg1"/>
                  </a:buClr>
                  <a:buSzPct val="80000"/>
                </a:pP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如何调整</a:t>
                </a:r>
                <a14:m>
                  <m:oMath xmlns:m="http://schemas.openxmlformats.org/officeDocument/2006/math">
                    <m:sSub>
                      <m:sSubPr>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oMath>
                </a14:m>
                <a:endPar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zh-CN" b="1"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由于</a:t>
                </a:r>
                <a14:m>
                  <m:oMath xmlns:m="http://schemas.openxmlformats.org/officeDocument/2006/math">
                    <m:sSub>
                      <m:sSub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1</m:t>
                        </m:r>
                      </m:sub>
                    </m:sSub>
                  </m:oMath>
                </a14:m>
                <a:r>
                  <a:rPr lang="zh-CN" altLang="zh-CN" b="1"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与加权累加函数</a:t>
                </a:r>
                <a14:m>
                  <m:oMath xmlns:m="http://schemas.openxmlformats.org/officeDocument/2006/math">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𝒳</m:t>
                    </m:r>
                  </m:oMath>
                </a14:m>
                <a:r>
                  <a:rPr lang="zh-CN" altLang="zh-CN" b="1"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b="1"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sigmoid</a:t>
                </a:r>
                <a:r>
                  <a:rPr lang="zh-CN" altLang="zh-CN" b="1"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函数均有关，因此</a:t>
                </a:r>
                <a14:m>
                  <m:oMath xmlns:m="http://schemas.openxmlformats.org/officeDocument/2006/math">
                    <m:f>
                      <m:f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𝑑</m:t>
                        </m:r>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ℒ</m:t>
                        </m:r>
                      </m:num>
                      <m:den>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𝑑</m:t>
                        </m:r>
                        <m:sSub>
                          <m:sSub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1</m:t>
                            </m:r>
                          </m:sub>
                        </m:sSub>
                      </m:den>
                    </m:f>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f>
                      <m:f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𝑑</m:t>
                        </m:r>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ℒ</m:t>
                        </m:r>
                      </m:num>
                      <m:den>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𝑑</m:t>
                        </m:r>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𝒪</m:t>
                        </m:r>
                      </m:den>
                    </m:f>
                    <m:f>
                      <m:f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𝑑</m:t>
                        </m:r>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𝒪</m:t>
                        </m:r>
                      </m:num>
                      <m:den>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𝑑</m:t>
                        </m:r>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𝒳</m:t>
                        </m:r>
                      </m:den>
                    </m:f>
                    <m:f>
                      <m:f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𝑑</m:t>
                        </m:r>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𝒳</m:t>
                        </m:r>
                      </m:num>
                      <m:den>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𝑑</m:t>
                        </m:r>
                        <m:sSub>
                          <m:sSub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1</m:t>
                            </m:r>
                          </m:sub>
                        </m:sSub>
                      </m:den>
                    </m:f>
                  </m:oMath>
                </a14:m>
                <a:r>
                  <a:rPr lang="zh-CN" altLang="zh-CN" b="1"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。在这个链式求导中：</a:t>
                </a:r>
                <a14:m>
                  <m:oMath xmlns:m="http://schemas.openxmlformats.org/officeDocument/2006/math">
                    <m:f>
                      <m:f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𝑑</m:t>
                        </m:r>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ℒ</m:t>
                        </m:r>
                      </m:num>
                      <m:den>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𝑑</m:t>
                        </m:r>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𝒪</m:t>
                        </m:r>
                      </m:den>
                    </m:f>
                  </m:oMath>
                </a14:m>
                <a:r>
                  <a:rPr lang="zh-CN" altLang="zh-CN" b="1"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与损失函数的定义有关；</a:t>
                </a:r>
                <a14:m>
                  <m:oMath xmlns:m="http://schemas.openxmlformats.org/officeDocument/2006/math">
                    <m:f>
                      <m:f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𝑑</m:t>
                        </m:r>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𝒪</m:t>
                        </m:r>
                      </m:num>
                      <m:den>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𝑑</m:t>
                        </m:r>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𝒳</m:t>
                        </m:r>
                      </m:den>
                    </m:f>
                  </m:oMath>
                </a14:m>
                <a:r>
                  <a:rPr lang="zh-CN" altLang="zh-CN" b="1"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是对</a:t>
                </a:r>
                <a:r>
                  <a:rPr lang="en-US" altLang="zh-CN" b="1"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sigmoid</a:t>
                </a:r>
                <a:r>
                  <a:rPr lang="zh-CN" altLang="zh-CN" b="1"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函数求导，结果为</a:t>
                </a:r>
                <a14:m>
                  <m:oMath xmlns:m="http://schemas.openxmlformats.org/officeDocument/2006/math">
                    <m:f>
                      <m:f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1</m:t>
                        </m:r>
                      </m:num>
                      <m:den>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1+</m:t>
                        </m:r>
                        <m:sSup>
                          <m:sSup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𝑒</m:t>
                            </m:r>
                          </m:e>
                          <m:sup>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𝒳</m:t>
                            </m:r>
                          </m:sup>
                        </m:sSup>
                      </m:den>
                    </m:f>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×(1−</m:t>
                    </m:r>
                    <m:f>
                      <m:f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1</m:t>
                        </m:r>
                      </m:num>
                      <m:den>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1+</m:t>
                        </m:r>
                        <m:sSup>
                          <m:sSup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𝑒</m:t>
                            </m:r>
                          </m:e>
                          <m:sup>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𝒳</m:t>
                            </m:r>
                          </m:sup>
                        </m:sSup>
                      </m:den>
                    </m:f>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zh-CN" b="1"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f>
                      <m:f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𝑑</m:t>
                        </m:r>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𝒳</m:t>
                        </m:r>
                      </m:num>
                      <m:den>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𝑑</m:t>
                        </m:r>
                        <m:sSub>
                          <m:sSub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1</m:t>
                            </m:r>
                          </m:sub>
                        </m:sSub>
                      </m:den>
                    </m:f>
                  </m:oMath>
                </a14:m>
                <a:r>
                  <a:rPr lang="zh-CN" altLang="zh-CN" b="1"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是加权累加函数</a:t>
                </a:r>
                <a14:m>
                  <m:oMath xmlns:m="http://schemas.openxmlformats.org/officeDocument/2006/math">
                    <m:sSub>
                      <m:sSub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𝑜𝑢𝑡</m:t>
                        </m:r>
                      </m:e>
                      <m:sub>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𝑜𝑢𝑡</m:t>
                        </m:r>
                      </m:e>
                      <m:sub>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3</m:t>
                        </m:r>
                      </m:sub>
                    </m:sSub>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𝑜𝑢𝑡</m:t>
                        </m:r>
                      </m:e>
                      <m:sub>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3</m:t>
                        </m:r>
                      </m:sub>
                    </m:sSub>
                  </m:oMath>
                </a14:m>
                <a:r>
                  <a:rPr lang="zh-CN" altLang="zh-CN" b="1"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对</a:t>
                </a:r>
                <a14:m>
                  <m:oMath xmlns:m="http://schemas.openxmlformats.org/officeDocument/2006/math">
                    <m:sSub>
                      <m:sSub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1</m:t>
                        </m:r>
                      </m:sub>
                    </m:sSub>
                  </m:oMath>
                </a14:m>
                <a:r>
                  <a:rPr lang="zh-CN" altLang="zh-CN" b="1"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求导，结果为</a:t>
                </a:r>
                <a14:m>
                  <m:oMath xmlns:m="http://schemas.openxmlformats.org/officeDocument/2006/math">
                    <m:sSub>
                      <m:sSubPr>
                        <m:ctrlPr>
                          <a:rPr lang="zh-CN" altLang="zh-CN" b="1" i="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𝑜𝑢𝑡</m:t>
                        </m:r>
                      </m:e>
                      <m:sub>
                        <m:r>
                          <a:rPr lang="en-US" altLang="zh-CN" b="1">
                            <a:solidFill>
                              <a:schemeClr val="bg1"/>
                            </a:solidFill>
                            <a:effectLst/>
                            <a:latin typeface="Cambria Math" panose="02040503050406030204" pitchFamily="18" charset="0"/>
                            <a:ea typeface="微软雅黑" panose="020B0503020204020204" pitchFamily="34" charset="-122"/>
                            <a:cs typeface="Times New Roman" panose="02020603050405020304" pitchFamily="18" charset="0"/>
                          </a:rPr>
                          <m:t>1</m:t>
                        </m:r>
                      </m:sub>
                    </m:sSub>
                  </m:oMath>
                </a14:m>
                <a:r>
                  <a:rPr lang="zh-CN" altLang="zh-CN" b="1"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a:t>
                </a:r>
              </a:p>
              <a:p>
                <a:pPr>
                  <a:buClr>
                    <a:schemeClr val="bg1"/>
                  </a:buClr>
                  <a:buSzPct val="80000"/>
                </a:pP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buClr>
                    <a:schemeClr val="bg1"/>
                  </a:buClr>
                  <a:buSzPct val="80000"/>
                </a:pP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53401E96-C60D-4A69-B521-ADB13B72E9CF}"/>
                  </a:ext>
                </a:extLst>
              </p:cNvPr>
              <p:cNvSpPr>
                <a:spLocks noRot="1" noChangeAspect="1" noMove="1" noResize="1" noEditPoints="1" noAdjustHandles="1" noChangeArrowheads="1" noChangeShapeType="1" noTextEdit="1"/>
              </p:cNvSpPr>
              <p:nvPr/>
            </p:nvSpPr>
            <p:spPr>
              <a:xfrm>
                <a:off x="228295" y="2816448"/>
                <a:ext cx="6315175" cy="3721403"/>
              </a:xfrm>
              <a:prstGeom prst="rect">
                <a:avLst/>
              </a:prstGeom>
              <a:blipFill>
                <a:blip r:embed="rId4"/>
                <a:stretch>
                  <a:fillRect l="-772" t="-98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7965CB01-92A3-443E-A48D-9A76D23A2AB1}"/>
                  </a:ext>
                </a:extLst>
              </p:cNvPr>
              <p:cNvSpPr/>
              <p:nvPr/>
            </p:nvSpPr>
            <p:spPr>
              <a:xfrm>
                <a:off x="590145" y="1429392"/>
                <a:ext cx="10765275" cy="787523"/>
              </a:xfrm>
              <a:prstGeom prst="rect">
                <a:avLst/>
              </a:prstGeom>
            </p:spPr>
            <p:txBody>
              <a:bodyPr wrap="square">
                <a:spAutoFit/>
              </a:bodyPr>
              <a:lstStyle/>
              <a:p>
                <a:pPr algn="ctr">
                  <a:lnSpc>
                    <a:spcPct val="150000"/>
                  </a:lnSpc>
                </a:pPr>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模型预测结果</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𝒪</m:t>
                    </m:r>
                  </m:oMath>
                </a14:m>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与真实结果之间的损失误差</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𝑙𝑜𝑠𝑠</m:t>
                    </m:r>
                  </m:oMath>
                </a14:m>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由所定义的损失函数</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ℒ</m:t>
                    </m:r>
                  </m:oMath>
                </a14:m>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计算得到。现在的问题是如何根据这个误差来优化调整连接权重系数</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𝑤</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（未出现的神经网络其它参数</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调整雷同</a:t>
                </a:r>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），使得训练得到的模型尽可能输出预期结果。</a:t>
                </a:r>
                <a:endParaRPr lang="zh-CN" altLang="en-US" sz="1600" dirty="0">
                  <a:latin typeface="微软雅黑" panose="020B0503020204020204" pitchFamily="34" charset="-122"/>
                  <a:ea typeface="微软雅黑" panose="020B0503020204020204" pitchFamily="34" charset="-122"/>
                </a:endParaRPr>
              </a:p>
            </p:txBody>
          </p:sp>
        </mc:Choice>
        <mc:Fallback xmlns="">
          <p:sp>
            <p:nvSpPr>
              <p:cNvPr id="2" name="矩形 1">
                <a:extLst>
                  <a:ext uri="{FF2B5EF4-FFF2-40B4-BE49-F238E27FC236}">
                    <a16:creationId xmlns:a16="http://schemas.microsoft.com/office/drawing/2014/main" id="{7965CB01-92A3-443E-A48D-9A76D23A2AB1}"/>
                  </a:ext>
                </a:extLst>
              </p:cNvPr>
              <p:cNvSpPr>
                <a:spLocks noRot="1" noChangeAspect="1" noMove="1" noResize="1" noEditPoints="1" noAdjustHandles="1" noChangeArrowheads="1" noChangeShapeType="1" noTextEdit="1"/>
              </p:cNvSpPr>
              <p:nvPr/>
            </p:nvSpPr>
            <p:spPr>
              <a:xfrm>
                <a:off x="590145" y="1429392"/>
                <a:ext cx="10765275" cy="787523"/>
              </a:xfrm>
              <a:prstGeom prst="rect">
                <a:avLst/>
              </a:prstGeom>
              <a:blipFill>
                <a:blip r:embed="rId5"/>
                <a:stretch>
                  <a:fillRect b="-84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273344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神经网络参数优化：误差反向传播</a:t>
              </a: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pic>
        <p:nvPicPr>
          <p:cNvPr id="8" name="图片 7">
            <a:extLst>
              <a:ext uri="{FF2B5EF4-FFF2-40B4-BE49-F238E27FC236}">
                <a16:creationId xmlns:a16="http://schemas.microsoft.com/office/drawing/2014/main" id="{4FE59071-F10B-4F38-BB91-6D335FD13FB6}"/>
              </a:ext>
            </a:extLst>
          </p:cNvPr>
          <p:cNvPicPr>
            <a:picLocks noChangeAspect="1"/>
          </p:cNvPicPr>
          <p:nvPr/>
        </p:nvPicPr>
        <p:blipFill>
          <a:blip r:embed="rId3"/>
          <a:stretch>
            <a:fillRect/>
          </a:stretch>
        </p:blipFill>
        <p:spPr>
          <a:xfrm>
            <a:off x="6721831" y="2730230"/>
            <a:ext cx="5088541" cy="2423256"/>
          </a:xfrm>
          <a:prstGeom prst="rect">
            <a:avLst/>
          </a:prstGeom>
        </p:spPr>
      </p:pic>
      <p:sp>
        <p:nvSpPr>
          <p:cNvPr id="9" name="矩形: 圆角 6">
            <a:extLst>
              <a:ext uri="{FF2B5EF4-FFF2-40B4-BE49-F238E27FC236}">
                <a16:creationId xmlns:a16="http://schemas.microsoft.com/office/drawing/2014/main" id="{A2B98877-44E5-46D0-BB7B-257A1D851CA1}"/>
              </a:ext>
            </a:extLst>
          </p:cNvPr>
          <p:cNvSpPr/>
          <p:nvPr/>
        </p:nvSpPr>
        <p:spPr>
          <a:xfrm>
            <a:off x="166688" y="2451359"/>
            <a:ext cx="6376783" cy="3891075"/>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53401E96-C60D-4A69-B521-ADB13B72E9CF}"/>
                  </a:ext>
                </a:extLst>
              </p:cNvPr>
              <p:cNvSpPr/>
              <p:nvPr/>
            </p:nvSpPr>
            <p:spPr>
              <a:xfrm>
                <a:off x="148773" y="2531104"/>
                <a:ext cx="6315175" cy="3970318"/>
              </a:xfrm>
              <a:prstGeom prst="rect">
                <a:avLst/>
              </a:prstGeom>
            </p:spPr>
            <p:txBody>
              <a:bodyPr wrap="square">
                <a:spAutoFit/>
              </a:bodyPr>
              <a:lstStyle/>
              <a:p>
                <a:pPr algn="ctr">
                  <a:buClr>
                    <a:schemeClr val="bg1"/>
                  </a:buClr>
                  <a:buSzPct val="80000"/>
                </a:pP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链式求导</a:t>
                </a:r>
                <a:endPar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buFont typeface="Wingdings" panose="05000000000000000000" pitchFamily="2" charset="2"/>
                  <a:buChar char="l"/>
                </a:pPr>
                <a:r>
                  <a:rPr lang="zh-CN" altLang="zh-CN" dirty="0">
                    <a:solidFill>
                      <a:schemeClr val="bg1"/>
                    </a:solidFill>
                    <a:latin typeface="微软雅黑" panose="020B0503020204020204" pitchFamily="34" charset="-122"/>
                    <a:ea typeface="微软雅黑" panose="020B0503020204020204" pitchFamily="34" charset="-122"/>
                  </a:rPr>
                  <a:t>链式求导实现了损失函数对某个自变量求偏导，好比将损失误差从输出端向输入端逐层传播，通过这个传播过程来更新该自变量取值。梯度下降法告诉我们，只要沿着损失函数梯度的反方向来更新参数，就可使得损失函数下降最快。</a:t>
                </a:r>
              </a:p>
              <a:p>
                <a:pPr marL="285750" indent="-285750">
                  <a:buFont typeface="Wingdings" panose="05000000000000000000" pitchFamily="2" charset="2"/>
                  <a:buChar char="l"/>
                </a:pPr>
                <a:r>
                  <a:rPr lang="zh-CN" altLang="zh-CN" dirty="0">
                    <a:solidFill>
                      <a:schemeClr val="bg1"/>
                    </a:solidFill>
                    <a:latin typeface="微软雅黑" panose="020B0503020204020204" pitchFamily="34" charset="-122"/>
                    <a:ea typeface="微软雅黑" panose="020B0503020204020204" pitchFamily="34" charset="-122"/>
                  </a:rPr>
                  <a:t>因此，假设损失函数</a:t>
                </a:r>
                <a14:m>
                  <m:oMath xmlns:m="http://schemas.openxmlformats.org/officeDocument/2006/math">
                    <m:r>
                      <a:rPr lang="en-US" altLang="zh-CN" i="1">
                        <a:solidFill>
                          <a:schemeClr val="bg1"/>
                        </a:solidFill>
                        <a:latin typeface="Cambria Math" panose="02040503050406030204" pitchFamily="18" charset="0"/>
                      </a:rPr>
                      <m:t>ℒ</m:t>
                    </m:r>
                    <m:d>
                      <m:dPr>
                        <m:ctrlPr>
                          <a:rPr lang="zh-CN" altLang="zh-CN" i="1">
                            <a:solidFill>
                              <a:schemeClr val="bg1"/>
                            </a:solidFill>
                            <a:latin typeface="Cambria Math" panose="02040503050406030204" pitchFamily="18" charset="0"/>
                          </a:rPr>
                        </m:ctrlPr>
                      </m:dPr>
                      <m:e>
                        <m:r>
                          <m:rPr>
                            <m:sty m:val="p"/>
                          </m:rPr>
                          <a:rPr lang="en-US" altLang="zh-CN">
                            <a:solidFill>
                              <a:schemeClr val="bg1"/>
                            </a:solidFill>
                            <a:latin typeface="Cambria Math" panose="02040503050406030204" pitchFamily="18" charset="0"/>
                          </a:rPr>
                          <m:t>θ</m:t>
                        </m:r>
                      </m:e>
                    </m:d>
                  </m:oMath>
                </a14:m>
                <a:r>
                  <a:rPr lang="zh-CN" altLang="zh-CN" dirty="0">
                    <a:solidFill>
                      <a:schemeClr val="bg1"/>
                    </a:solidFill>
                    <a:latin typeface="微软雅黑" panose="020B0503020204020204" pitchFamily="34" charset="-122"/>
                    <a:ea typeface="微软雅黑" panose="020B0503020204020204" pitchFamily="34" charset="-122"/>
                  </a:rPr>
                  <a:t>（</a:t>
                </a:r>
                <a14:m>
                  <m:oMath xmlns:m="http://schemas.openxmlformats.org/officeDocument/2006/math">
                    <m:r>
                      <m:rPr>
                        <m:sty m:val="p"/>
                      </m:rPr>
                      <a:rPr lang="en-US" altLang="zh-CN">
                        <a:solidFill>
                          <a:schemeClr val="bg1"/>
                        </a:solidFill>
                        <a:latin typeface="Cambria Math" panose="02040503050406030204" pitchFamily="18" charset="0"/>
                      </a:rPr>
                      <m:t>θ</m:t>
                    </m:r>
                  </m:oMath>
                </a14:m>
                <a:r>
                  <a:rPr lang="zh-CN" altLang="zh-CN" dirty="0">
                    <a:solidFill>
                      <a:schemeClr val="bg1"/>
                    </a:solidFill>
                    <a:latin typeface="微软雅黑" panose="020B0503020204020204" pitchFamily="34" charset="-122"/>
                    <a:ea typeface="微软雅黑" panose="020B0503020204020204" pitchFamily="34" charset="-122"/>
                  </a:rPr>
                  <a:t>为参数），可使用如下梯度下降算法对参数</a:t>
                </a:r>
                <a14:m>
                  <m:oMath xmlns:m="http://schemas.openxmlformats.org/officeDocument/2006/math">
                    <m:r>
                      <m:rPr>
                        <m:sty m:val="p"/>
                      </m:rPr>
                      <a:rPr lang="en-US" altLang="zh-CN">
                        <a:solidFill>
                          <a:schemeClr val="bg1"/>
                        </a:solidFill>
                        <a:latin typeface="Cambria Math" panose="02040503050406030204" pitchFamily="18" charset="0"/>
                      </a:rPr>
                      <m:t>θ</m:t>
                    </m:r>
                  </m:oMath>
                </a14:m>
                <a:r>
                  <a:rPr lang="zh-CN" altLang="zh-CN" dirty="0">
                    <a:solidFill>
                      <a:schemeClr val="bg1"/>
                    </a:solidFill>
                    <a:latin typeface="微软雅黑" panose="020B0503020204020204" pitchFamily="34" charset="-122"/>
                    <a:ea typeface="微软雅黑" panose="020B0503020204020204" pitchFamily="34" charset="-122"/>
                  </a:rPr>
                  <a:t>进行更新：</a:t>
                </a:r>
                <a14:m>
                  <m:oMath xmlns:m="http://schemas.openxmlformats.org/officeDocument/2006/math">
                    <m:sSup>
                      <m:sSupPr>
                        <m:ctrlPr>
                          <a:rPr lang="zh-CN" altLang="zh-CN" i="1">
                            <a:solidFill>
                              <a:schemeClr val="bg1"/>
                            </a:solidFill>
                            <a:latin typeface="Cambria Math" panose="02040503050406030204" pitchFamily="18" charset="0"/>
                          </a:rPr>
                        </m:ctrlPr>
                      </m:sSupPr>
                      <m:e>
                        <m:r>
                          <m:rPr>
                            <m:sty m:val="p"/>
                          </m:rPr>
                          <a:rPr lang="en-US" altLang="zh-CN">
                            <a:solidFill>
                              <a:schemeClr val="bg1"/>
                            </a:solidFill>
                            <a:latin typeface="Cambria Math" panose="02040503050406030204" pitchFamily="18" charset="0"/>
                          </a:rPr>
                          <m:t>θ</m:t>
                        </m:r>
                      </m:e>
                      <m:sup>
                        <m:r>
                          <a:rPr lang="en-US" altLang="zh-CN" i="1">
                            <a:solidFill>
                              <a:schemeClr val="bg1"/>
                            </a:solidFill>
                            <a:latin typeface="Cambria Math" panose="02040503050406030204" pitchFamily="18" charset="0"/>
                          </a:rPr>
                          <m:t>𝑛𝑒𝑤</m:t>
                        </m:r>
                      </m:sup>
                    </m:sSup>
                    <m:r>
                      <a:rPr lang="en-US" altLang="zh-CN">
                        <a:solidFill>
                          <a:schemeClr val="bg1"/>
                        </a:solidFill>
                        <a:latin typeface="Cambria Math" panose="02040503050406030204" pitchFamily="18" charset="0"/>
                      </a:rPr>
                      <m:t>=</m:t>
                    </m:r>
                    <m:r>
                      <m:rPr>
                        <m:sty m:val="p"/>
                      </m:rPr>
                      <a:rPr lang="en-US" altLang="zh-CN">
                        <a:solidFill>
                          <a:schemeClr val="bg1"/>
                        </a:solidFill>
                        <a:latin typeface="Cambria Math" panose="02040503050406030204" pitchFamily="18" charset="0"/>
                      </a:rPr>
                      <m:t>θ</m:t>
                    </m:r>
                    <m:r>
                      <a:rPr lang="en-US" altLang="zh-CN" i="1">
                        <a:solidFill>
                          <a:schemeClr val="bg1"/>
                        </a:solidFill>
                        <a:latin typeface="Cambria Math" panose="02040503050406030204" pitchFamily="18" charset="0"/>
                      </a:rPr>
                      <m:t>−</m:t>
                    </m:r>
                    <m:r>
                      <m:rPr>
                        <m:sty m:val="p"/>
                      </m:rPr>
                      <a:rPr lang="en-US" altLang="zh-CN">
                        <a:solidFill>
                          <a:schemeClr val="bg1"/>
                        </a:solidFill>
                        <a:latin typeface="Cambria Math" panose="02040503050406030204" pitchFamily="18" charset="0"/>
                      </a:rPr>
                      <m:t>η</m:t>
                    </m:r>
                    <m:r>
                      <a:rPr lang="en-US" altLang="zh-CN">
                        <a:solidFill>
                          <a:schemeClr val="bg1"/>
                        </a:solidFill>
                        <a:latin typeface="Cambria Math" panose="02040503050406030204" pitchFamily="18" charset="0"/>
                      </a:rPr>
                      <m:t>×</m:t>
                    </m:r>
                    <m:sSub>
                      <m:sSubPr>
                        <m:ctrlPr>
                          <a:rPr lang="zh-CN" altLang="zh-CN" i="1">
                            <a:solidFill>
                              <a:schemeClr val="bg1"/>
                            </a:solidFill>
                            <a:latin typeface="Cambria Math" panose="02040503050406030204" pitchFamily="18" charset="0"/>
                          </a:rPr>
                        </m:ctrlPr>
                      </m:sSubPr>
                      <m:e>
                        <m:r>
                          <a:rPr lang="en-US" altLang="zh-CN">
                            <a:solidFill>
                              <a:schemeClr val="bg1"/>
                            </a:solidFill>
                            <a:latin typeface="Cambria Math" panose="02040503050406030204" pitchFamily="18" charset="0"/>
                          </a:rPr>
                          <m:t>𝛻</m:t>
                        </m:r>
                      </m:e>
                      <m:sub>
                        <m:r>
                          <m:rPr>
                            <m:sty m:val="p"/>
                          </m:rPr>
                          <a:rPr lang="en-US" altLang="zh-CN">
                            <a:solidFill>
                              <a:schemeClr val="bg1"/>
                            </a:solidFill>
                            <a:latin typeface="Cambria Math" panose="02040503050406030204" pitchFamily="18" charset="0"/>
                          </a:rPr>
                          <m:t>θ</m:t>
                        </m:r>
                      </m:sub>
                    </m:sSub>
                    <m:r>
                      <a:rPr lang="en-US" altLang="zh-CN" i="1">
                        <a:solidFill>
                          <a:schemeClr val="bg1"/>
                        </a:solidFill>
                        <a:latin typeface="Cambria Math" panose="02040503050406030204" pitchFamily="18" charset="0"/>
                      </a:rPr>
                      <m:t>ℒ</m:t>
                    </m:r>
                    <m:d>
                      <m:dPr>
                        <m:ctrlPr>
                          <a:rPr lang="zh-CN" altLang="zh-CN" i="1">
                            <a:solidFill>
                              <a:schemeClr val="bg1"/>
                            </a:solidFill>
                            <a:latin typeface="Cambria Math" panose="02040503050406030204" pitchFamily="18" charset="0"/>
                          </a:rPr>
                        </m:ctrlPr>
                      </m:dPr>
                      <m:e>
                        <m:r>
                          <m:rPr>
                            <m:sty m:val="p"/>
                          </m:rPr>
                          <a:rPr lang="en-US" altLang="zh-CN">
                            <a:solidFill>
                              <a:schemeClr val="bg1"/>
                            </a:solidFill>
                            <a:latin typeface="Cambria Math" panose="02040503050406030204" pitchFamily="18" charset="0"/>
                          </a:rPr>
                          <m:t>θ</m:t>
                        </m:r>
                      </m:e>
                    </m:d>
                  </m:oMath>
                </a14:m>
                <a:r>
                  <a:rPr lang="zh-CN" altLang="zh-CN" dirty="0">
                    <a:solidFill>
                      <a:schemeClr val="bg1"/>
                    </a:solidFill>
                    <a:latin typeface="微软雅黑" panose="020B0503020204020204" pitchFamily="34" charset="-122"/>
                    <a:ea typeface="微软雅黑" panose="020B0503020204020204" pitchFamily="34" charset="-122"/>
                  </a:rPr>
                  <a:t>。其中</a:t>
                </a:r>
                <a14:m>
                  <m:oMath xmlns:m="http://schemas.openxmlformats.org/officeDocument/2006/math">
                    <m:r>
                      <m:rPr>
                        <m:sty m:val="p"/>
                      </m:rPr>
                      <a:rPr lang="en-US" altLang="zh-CN">
                        <a:solidFill>
                          <a:schemeClr val="bg1"/>
                        </a:solidFill>
                        <a:latin typeface="Cambria Math" panose="02040503050406030204" pitchFamily="18" charset="0"/>
                      </a:rPr>
                      <m:t>η</m:t>
                    </m:r>
                  </m:oMath>
                </a14:m>
                <a:r>
                  <a:rPr lang="zh-CN" altLang="zh-CN" dirty="0">
                    <a:solidFill>
                      <a:schemeClr val="bg1"/>
                    </a:solidFill>
                    <a:latin typeface="微软雅黑" panose="020B0503020204020204" pitchFamily="34" charset="-122"/>
                    <a:ea typeface="微软雅黑" panose="020B0503020204020204" pitchFamily="34" charset="-122"/>
                  </a:rPr>
                  <a:t>也被称学习速率（</a:t>
                </a:r>
                <a:r>
                  <a:rPr lang="en-US" altLang="zh-CN" dirty="0">
                    <a:solidFill>
                      <a:schemeClr val="bg1"/>
                    </a:solidFill>
                    <a:latin typeface="微软雅黑" panose="020B0503020204020204" pitchFamily="34" charset="-122"/>
                    <a:ea typeface="微软雅黑" panose="020B0503020204020204" pitchFamily="34" charset="-122"/>
                  </a:rPr>
                  <a:t>learning rate</a:t>
                </a:r>
                <a:r>
                  <a:rPr lang="zh-CN" altLang="zh-CN" dirty="0">
                    <a:solidFill>
                      <a:schemeClr val="bg1"/>
                    </a:solidFill>
                    <a:latin typeface="微软雅黑" panose="020B0503020204020204" pitchFamily="34" charset="-122"/>
                    <a:ea typeface="微软雅黑" panose="020B0503020204020204" pitchFamily="34" charset="-122"/>
                  </a:rPr>
                  <a:t>），其大小会影响模型参数收敛速度，</a:t>
                </a:r>
                <a14:m>
                  <m:oMath xmlns:m="http://schemas.openxmlformats.org/officeDocument/2006/math">
                    <m:sSub>
                      <m:sSubPr>
                        <m:ctrlPr>
                          <a:rPr lang="zh-CN" altLang="zh-CN" i="1">
                            <a:solidFill>
                              <a:schemeClr val="bg1"/>
                            </a:solidFill>
                            <a:latin typeface="Cambria Math" panose="02040503050406030204" pitchFamily="18" charset="0"/>
                          </a:rPr>
                        </m:ctrlPr>
                      </m:sSubPr>
                      <m:e>
                        <m:r>
                          <a:rPr lang="en-US" altLang="zh-CN">
                            <a:solidFill>
                              <a:schemeClr val="bg1"/>
                            </a:solidFill>
                            <a:latin typeface="Cambria Math" panose="02040503050406030204" pitchFamily="18" charset="0"/>
                          </a:rPr>
                          <m:t>𝛻</m:t>
                        </m:r>
                      </m:e>
                      <m:sub>
                        <m:r>
                          <m:rPr>
                            <m:sty m:val="p"/>
                          </m:rPr>
                          <a:rPr lang="en-US" altLang="zh-CN">
                            <a:solidFill>
                              <a:schemeClr val="bg1"/>
                            </a:solidFill>
                            <a:latin typeface="Cambria Math" panose="02040503050406030204" pitchFamily="18" charset="0"/>
                          </a:rPr>
                          <m:t>θ</m:t>
                        </m:r>
                      </m:sub>
                    </m:sSub>
                    <m:r>
                      <a:rPr lang="en-US" altLang="zh-CN" i="1">
                        <a:solidFill>
                          <a:schemeClr val="bg1"/>
                        </a:solidFill>
                        <a:latin typeface="Cambria Math" panose="02040503050406030204" pitchFamily="18" charset="0"/>
                      </a:rPr>
                      <m:t>ℒ</m:t>
                    </m:r>
                    <m:d>
                      <m:dPr>
                        <m:ctrlPr>
                          <a:rPr lang="zh-CN" altLang="zh-CN" i="1">
                            <a:solidFill>
                              <a:schemeClr val="bg1"/>
                            </a:solidFill>
                            <a:latin typeface="Cambria Math" panose="02040503050406030204" pitchFamily="18" charset="0"/>
                          </a:rPr>
                        </m:ctrlPr>
                      </m:dPr>
                      <m:e>
                        <m:r>
                          <m:rPr>
                            <m:sty m:val="p"/>
                          </m:rPr>
                          <a:rPr lang="en-US" altLang="zh-CN">
                            <a:solidFill>
                              <a:schemeClr val="bg1"/>
                            </a:solidFill>
                            <a:latin typeface="Cambria Math" panose="02040503050406030204" pitchFamily="18" charset="0"/>
                          </a:rPr>
                          <m:t>θ</m:t>
                        </m:r>
                      </m:e>
                    </m:d>
                  </m:oMath>
                </a14:m>
                <a:r>
                  <a:rPr lang="zh-CN" altLang="zh-CN" dirty="0">
                    <a:solidFill>
                      <a:schemeClr val="bg1"/>
                    </a:solidFill>
                    <a:latin typeface="微软雅黑" panose="020B0503020204020204" pitchFamily="34" charset="-122"/>
                    <a:ea typeface="微软雅黑" panose="020B0503020204020204" pitchFamily="34" charset="-122"/>
                  </a:rPr>
                  <a:t>是损失函数对参数</a:t>
                </a:r>
                <a14:m>
                  <m:oMath xmlns:m="http://schemas.openxmlformats.org/officeDocument/2006/math">
                    <m:r>
                      <m:rPr>
                        <m:sty m:val="p"/>
                      </m:rPr>
                      <a:rPr lang="en-US" altLang="zh-CN">
                        <a:solidFill>
                          <a:schemeClr val="bg1"/>
                        </a:solidFill>
                        <a:latin typeface="Cambria Math" panose="02040503050406030204" pitchFamily="18" charset="0"/>
                      </a:rPr>
                      <m:t>θ</m:t>
                    </m:r>
                  </m:oMath>
                </a14:m>
                <a:r>
                  <a:rPr lang="zh-CN" altLang="zh-CN" dirty="0">
                    <a:solidFill>
                      <a:schemeClr val="bg1"/>
                    </a:solidFill>
                    <a:latin typeface="微软雅黑" panose="020B0503020204020204" pitchFamily="34" charset="-122"/>
                    <a:ea typeface="微软雅黑" panose="020B0503020204020204" pitchFamily="34" charset="-122"/>
                  </a:rPr>
                  <a:t>求偏导结果。神经网络中任意一个参数相对于损失函数的导数都可通过链式求导得到（这一求导过程可视为误差后向传播过程）。</a:t>
                </a:r>
              </a:p>
              <a:p>
                <a:pPr>
                  <a:buClr>
                    <a:schemeClr val="bg1"/>
                  </a:buClr>
                  <a:buSzPct val="80000"/>
                </a:pP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buClr>
                    <a:schemeClr val="bg1"/>
                  </a:buClr>
                  <a:buSzPct val="80000"/>
                </a:pP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53401E96-C60D-4A69-B521-ADB13B72E9CF}"/>
                  </a:ext>
                </a:extLst>
              </p:cNvPr>
              <p:cNvSpPr>
                <a:spLocks noRot="1" noChangeAspect="1" noMove="1" noResize="1" noEditPoints="1" noAdjustHandles="1" noChangeArrowheads="1" noChangeShapeType="1" noTextEdit="1"/>
              </p:cNvSpPr>
              <p:nvPr/>
            </p:nvSpPr>
            <p:spPr>
              <a:xfrm>
                <a:off x="148773" y="2531104"/>
                <a:ext cx="6315175" cy="3970318"/>
              </a:xfrm>
              <a:prstGeom prst="rect">
                <a:avLst/>
              </a:prstGeom>
              <a:blipFill>
                <a:blip r:embed="rId4"/>
                <a:stretch>
                  <a:fillRect l="-579" t="-920" r="-8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7965CB01-92A3-443E-A48D-9A76D23A2AB1}"/>
                  </a:ext>
                </a:extLst>
              </p:cNvPr>
              <p:cNvSpPr/>
              <p:nvPr/>
            </p:nvSpPr>
            <p:spPr>
              <a:xfrm>
                <a:off x="590145" y="1429392"/>
                <a:ext cx="10765275" cy="787523"/>
              </a:xfrm>
              <a:prstGeom prst="rect">
                <a:avLst/>
              </a:prstGeom>
            </p:spPr>
            <p:txBody>
              <a:bodyPr wrap="square">
                <a:spAutoFit/>
              </a:bodyPr>
              <a:lstStyle/>
              <a:p>
                <a:pPr algn="ctr">
                  <a:lnSpc>
                    <a:spcPct val="150000"/>
                  </a:lnSpc>
                </a:pPr>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模型预测结果</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𝒪</m:t>
                    </m:r>
                  </m:oMath>
                </a14:m>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与真实结果之间的损失误差</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𝑙𝑜𝑠𝑠</m:t>
                    </m:r>
                  </m:oMath>
                </a14:m>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由所定义的损失函数</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ℒ</m:t>
                    </m:r>
                  </m:oMath>
                </a14:m>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计算得到。现在的问题是如何根据这个误差来优化调整连接权重系数</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𝑤</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（未出现的神经网络其它参数</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调整雷同</a:t>
                </a:r>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），使得训练得到的模型尽可能输出预期结果。</a:t>
                </a:r>
                <a:endParaRPr lang="zh-CN" altLang="en-US" sz="1600" dirty="0">
                  <a:latin typeface="微软雅黑" panose="020B0503020204020204" pitchFamily="34" charset="-122"/>
                  <a:ea typeface="微软雅黑" panose="020B0503020204020204" pitchFamily="34" charset="-122"/>
                </a:endParaRPr>
              </a:p>
            </p:txBody>
          </p:sp>
        </mc:Choice>
        <mc:Fallback xmlns="">
          <p:sp>
            <p:nvSpPr>
              <p:cNvPr id="2" name="矩形 1">
                <a:extLst>
                  <a:ext uri="{FF2B5EF4-FFF2-40B4-BE49-F238E27FC236}">
                    <a16:creationId xmlns:a16="http://schemas.microsoft.com/office/drawing/2014/main" id="{7965CB01-92A3-443E-A48D-9A76D23A2AB1}"/>
                  </a:ext>
                </a:extLst>
              </p:cNvPr>
              <p:cNvSpPr>
                <a:spLocks noRot="1" noChangeAspect="1" noMove="1" noResize="1" noEditPoints="1" noAdjustHandles="1" noChangeArrowheads="1" noChangeShapeType="1" noTextEdit="1"/>
              </p:cNvSpPr>
              <p:nvPr/>
            </p:nvSpPr>
            <p:spPr>
              <a:xfrm>
                <a:off x="590145" y="1429392"/>
                <a:ext cx="10765275" cy="787523"/>
              </a:xfrm>
              <a:prstGeom prst="rect">
                <a:avLst/>
              </a:prstGeom>
              <a:blipFill>
                <a:blip r:embed="rId5"/>
                <a:stretch>
                  <a:fillRect b="-84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2434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神经网络参数优化：误差反向传播</a:t>
              </a: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pic>
        <p:nvPicPr>
          <p:cNvPr id="8" name="图片 7">
            <a:extLst>
              <a:ext uri="{FF2B5EF4-FFF2-40B4-BE49-F238E27FC236}">
                <a16:creationId xmlns:a16="http://schemas.microsoft.com/office/drawing/2014/main" id="{4FE59071-F10B-4F38-BB91-6D335FD13FB6}"/>
              </a:ext>
            </a:extLst>
          </p:cNvPr>
          <p:cNvPicPr>
            <a:picLocks noChangeAspect="1"/>
          </p:cNvPicPr>
          <p:nvPr/>
        </p:nvPicPr>
        <p:blipFill>
          <a:blip r:embed="rId3"/>
          <a:stretch>
            <a:fillRect/>
          </a:stretch>
        </p:blipFill>
        <p:spPr>
          <a:xfrm>
            <a:off x="6721831" y="2730230"/>
            <a:ext cx="5088541" cy="2423256"/>
          </a:xfrm>
          <a:prstGeom prst="rect">
            <a:avLst/>
          </a:prstGeom>
        </p:spPr>
      </p:pic>
      <p:sp>
        <p:nvSpPr>
          <p:cNvPr id="9" name="矩形: 圆角 6">
            <a:extLst>
              <a:ext uri="{FF2B5EF4-FFF2-40B4-BE49-F238E27FC236}">
                <a16:creationId xmlns:a16="http://schemas.microsoft.com/office/drawing/2014/main" id="{A2B98877-44E5-46D0-BB7B-257A1D851CA1}"/>
              </a:ext>
            </a:extLst>
          </p:cNvPr>
          <p:cNvSpPr/>
          <p:nvPr/>
        </p:nvSpPr>
        <p:spPr>
          <a:xfrm>
            <a:off x="166688" y="2451359"/>
            <a:ext cx="6376783" cy="3891075"/>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53401E96-C60D-4A69-B521-ADB13B72E9CF}"/>
                  </a:ext>
                </a:extLst>
              </p:cNvPr>
              <p:cNvSpPr/>
              <p:nvPr/>
            </p:nvSpPr>
            <p:spPr>
              <a:xfrm>
                <a:off x="148773" y="2531104"/>
                <a:ext cx="6315175" cy="3979872"/>
              </a:xfrm>
              <a:prstGeom prst="rect">
                <a:avLst/>
              </a:prstGeom>
            </p:spPr>
            <p:txBody>
              <a:bodyPr wrap="square">
                <a:spAutoFit/>
              </a:bodyPr>
              <a:lstStyle/>
              <a:p>
                <a:pPr algn="ctr">
                  <a:buClr>
                    <a:schemeClr val="bg1"/>
                  </a:buClr>
                  <a:buSzPct val="80000"/>
                </a:pP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通过链式求导调整</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调整</a:t>
                </a:r>
                <a14:m>
                  <m:oMath xmlns:m="http://schemas.openxmlformats.org/officeDocument/2006/math">
                    <m:sSub>
                      <m:sSubPr>
                        <m:ctrlPr>
                          <a:rPr lang="zh-CN" altLang="zh-CN"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oMath>
                </a14:m>
                <a:endPar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endParaRPr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buFont typeface="Wingdings" panose="05000000000000000000" pitchFamily="2" charset="2"/>
                  <a:buChar char="l"/>
                </a:pPr>
                <a:r>
                  <a:rPr lang="zh-CN"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在图</a:t>
                </a:r>
                <a:r>
                  <a:rPr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5.6</a:t>
                </a:r>
                <a:r>
                  <a:rPr lang="zh-CN"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中，参数</a:t>
                </a:r>
                <a14:m>
                  <m:oMath xmlns:m="http://schemas.openxmlformats.org/officeDocument/2006/math">
                    <m:sSub>
                      <m:sSubPr>
                        <m:ctrlPr>
                          <a:rPr lang="zh-CN" altLang="zh-CN" i="1">
                            <a:solidFill>
                              <a:schemeClr val="bg1"/>
                            </a:solidFill>
                            <a:latin typeface="Cambria Math" panose="02040503050406030204" pitchFamily="18" charset="0"/>
                            <a:ea typeface="微软雅黑" panose="020B0503020204020204" pitchFamily="34" charset="-122"/>
                          </a:rPr>
                        </m:ctrlPr>
                      </m:sSubPr>
                      <m:e>
                        <m:r>
                          <a:rPr lang="en-US" altLang="zh-CN">
                            <a:solidFill>
                              <a:schemeClr val="bg1"/>
                            </a:solidFill>
                            <a:latin typeface="Cambria Math" panose="02040503050406030204" pitchFamily="18" charset="0"/>
                            <a:ea typeface="微软雅黑" panose="020B0503020204020204" pitchFamily="34" charset="-122"/>
                          </a:rPr>
                          <m:t>𝑤</m:t>
                        </m:r>
                      </m:e>
                      <m:sub>
                        <m:r>
                          <a:rPr lang="en-US" altLang="zh-CN">
                            <a:solidFill>
                              <a:schemeClr val="bg1"/>
                            </a:solidFill>
                            <a:latin typeface="Cambria Math" panose="02040503050406030204" pitchFamily="18" charset="0"/>
                            <a:ea typeface="微软雅黑" panose="020B0503020204020204" pitchFamily="34" charset="-122"/>
                          </a:rPr>
                          <m:t>1</m:t>
                        </m:r>
                      </m:sub>
                    </m:sSub>
                  </m:oMath>
                </a14:m>
                <a:r>
                  <a:rPr lang="zh-CN"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在下一轮迭代中的取值被调整为：</a:t>
                </a:r>
                <a14:m>
                  <m:oMath xmlns:m="http://schemas.openxmlformats.org/officeDocument/2006/math">
                    <m:sSubSup>
                      <m:sSubSupPr>
                        <m:ctrlPr>
                          <a:rPr lang="zh-CN" altLang="zh-CN" i="1">
                            <a:solidFill>
                              <a:schemeClr val="bg1"/>
                            </a:solidFill>
                            <a:latin typeface="Cambria Math" panose="02040503050406030204" pitchFamily="18" charset="0"/>
                            <a:ea typeface="微软雅黑" panose="020B0503020204020204" pitchFamily="34" charset="-122"/>
                          </a:rPr>
                        </m:ctrlPr>
                      </m:sSubSupPr>
                      <m:e>
                        <m:r>
                          <a:rPr lang="en-US" altLang="zh-CN">
                            <a:solidFill>
                              <a:schemeClr val="bg1"/>
                            </a:solidFill>
                            <a:latin typeface="Cambria Math" panose="02040503050406030204" pitchFamily="18" charset="0"/>
                            <a:ea typeface="微软雅黑" panose="020B0503020204020204" pitchFamily="34" charset="-122"/>
                          </a:rPr>
                          <m:t>𝑤</m:t>
                        </m:r>
                      </m:e>
                      <m:sub>
                        <m:r>
                          <a:rPr lang="en-US" altLang="zh-CN">
                            <a:solidFill>
                              <a:schemeClr val="bg1"/>
                            </a:solidFill>
                            <a:latin typeface="Cambria Math" panose="02040503050406030204" pitchFamily="18" charset="0"/>
                            <a:ea typeface="微软雅黑" panose="020B0503020204020204" pitchFamily="34" charset="-122"/>
                          </a:rPr>
                          <m:t>1</m:t>
                        </m:r>
                      </m:sub>
                      <m:sup>
                        <m:r>
                          <a:rPr lang="en-US" altLang="zh-CN">
                            <a:solidFill>
                              <a:schemeClr val="bg1"/>
                            </a:solidFill>
                            <a:latin typeface="Cambria Math" panose="02040503050406030204" pitchFamily="18" charset="0"/>
                            <a:ea typeface="微软雅黑" panose="020B0503020204020204" pitchFamily="34" charset="-122"/>
                          </a:rPr>
                          <m:t>𝑛𝑒𝑤</m:t>
                        </m:r>
                      </m:sup>
                    </m:sSubSup>
                    <m:r>
                      <a:rPr lang="en-US" altLang="zh-CN">
                        <a:solidFill>
                          <a:schemeClr val="bg1"/>
                        </a:solidFill>
                        <a:latin typeface="Cambria Math" panose="02040503050406030204" pitchFamily="18" charset="0"/>
                        <a:ea typeface="微软雅黑" panose="020B0503020204020204" pitchFamily="34" charset="-122"/>
                      </a:rPr>
                      <m:t>=</m:t>
                    </m:r>
                    <m:sSub>
                      <m:sSubPr>
                        <m:ctrlPr>
                          <a:rPr lang="zh-CN" altLang="zh-CN" i="1">
                            <a:solidFill>
                              <a:schemeClr val="bg1"/>
                            </a:solidFill>
                            <a:latin typeface="Cambria Math" panose="02040503050406030204" pitchFamily="18" charset="0"/>
                            <a:ea typeface="微软雅黑" panose="020B0503020204020204" pitchFamily="34" charset="-122"/>
                          </a:rPr>
                        </m:ctrlPr>
                      </m:sSubPr>
                      <m:e>
                        <m:r>
                          <a:rPr lang="en-US" altLang="zh-CN">
                            <a:solidFill>
                              <a:schemeClr val="bg1"/>
                            </a:solidFill>
                            <a:latin typeface="Cambria Math" panose="02040503050406030204" pitchFamily="18" charset="0"/>
                            <a:ea typeface="微软雅黑" panose="020B0503020204020204" pitchFamily="34" charset="-122"/>
                          </a:rPr>
                          <m:t>𝑤</m:t>
                        </m:r>
                      </m:e>
                      <m:sub>
                        <m:r>
                          <a:rPr lang="en-US" altLang="zh-CN">
                            <a:solidFill>
                              <a:schemeClr val="bg1"/>
                            </a:solidFill>
                            <a:latin typeface="Cambria Math" panose="02040503050406030204" pitchFamily="18" charset="0"/>
                            <a:ea typeface="微软雅黑" panose="020B0503020204020204" pitchFamily="34" charset="-122"/>
                          </a:rPr>
                          <m:t>1</m:t>
                        </m:r>
                      </m:sub>
                    </m:sSub>
                    <m:r>
                      <a:rPr lang="en-US" altLang="zh-CN">
                        <a:solidFill>
                          <a:schemeClr val="bg1"/>
                        </a:solidFill>
                        <a:latin typeface="Cambria Math" panose="02040503050406030204" pitchFamily="18" charset="0"/>
                        <a:ea typeface="微软雅黑" panose="020B0503020204020204" pitchFamily="34" charset="-122"/>
                      </a:rPr>
                      <m:t>−</m:t>
                    </m:r>
                    <m:r>
                      <m:rPr>
                        <m:sty m:val="p"/>
                      </m:rPr>
                      <a:rPr lang="en-US" altLang="zh-CN">
                        <a:solidFill>
                          <a:schemeClr val="bg1"/>
                        </a:solidFill>
                        <a:latin typeface="Cambria Math" panose="02040503050406030204" pitchFamily="18" charset="0"/>
                        <a:ea typeface="微软雅黑" panose="020B0503020204020204" pitchFamily="34" charset="-122"/>
                      </a:rPr>
                      <m:t>η</m:t>
                    </m:r>
                    <m:r>
                      <a:rPr lang="en-US" altLang="zh-CN">
                        <a:solidFill>
                          <a:schemeClr val="bg1"/>
                        </a:solidFill>
                        <a:latin typeface="Cambria Math" panose="02040503050406030204" pitchFamily="18" charset="0"/>
                        <a:ea typeface="微软雅黑" panose="020B0503020204020204" pitchFamily="34" charset="-122"/>
                      </a:rPr>
                      <m:t>×</m:t>
                    </m:r>
                    <m:f>
                      <m:fPr>
                        <m:ctrlPr>
                          <a:rPr lang="zh-CN" altLang="zh-CN" i="1">
                            <a:solidFill>
                              <a:schemeClr val="bg1"/>
                            </a:solidFill>
                            <a:latin typeface="Cambria Math" panose="02040503050406030204" pitchFamily="18" charset="0"/>
                            <a:ea typeface="微软雅黑" panose="020B0503020204020204" pitchFamily="34" charset="-122"/>
                          </a:rPr>
                        </m:ctrlPr>
                      </m:fPr>
                      <m:num>
                        <m:r>
                          <a:rPr lang="en-US" altLang="zh-CN">
                            <a:solidFill>
                              <a:schemeClr val="bg1"/>
                            </a:solidFill>
                            <a:latin typeface="Cambria Math" panose="02040503050406030204" pitchFamily="18" charset="0"/>
                            <a:ea typeface="微软雅黑" panose="020B0503020204020204" pitchFamily="34" charset="-122"/>
                          </a:rPr>
                          <m:t>𝑑</m:t>
                        </m:r>
                        <m:r>
                          <a:rPr lang="en-US" altLang="zh-CN">
                            <a:solidFill>
                              <a:schemeClr val="bg1"/>
                            </a:solidFill>
                            <a:latin typeface="Cambria Math" panose="02040503050406030204" pitchFamily="18" charset="0"/>
                            <a:ea typeface="微软雅黑" panose="020B0503020204020204" pitchFamily="34" charset="-122"/>
                          </a:rPr>
                          <m:t>ℒ</m:t>
                        </m:r>
                      </m:num>
                      <m:den>
                        <m:r>
                          <a:rPr lang="en-US" altLang="zh-CN">
                            <a:solidFill>
                              <a:schemeClr val="bg1"/>
                            </a:solidFill>
                            <a:latin typeface="Cambria Math" panose="02040503050406030204" pitchFamily="18" charset="0"/>
                            <a:ea typeface="微软雅黑" panose="020B0503020204020204" pitchFamily="34" charset="-122"/>
                          </a:rPr>
                          <m:t>𝑑</m:t>
                        </m:r>
                        <m:sSub>
                          <m:sSubPr>
                            <m:ctrlPr>
                              <a:rPr lang="zh-CN" altLang="zh-CN" i="1">
                                <a:solidFill>
                                  <a:schemeClr val="bg1"/>
                                </a:solidFill>
                                <a:latin typeface="Cambria Math" panose="02040503050406030204" pitchFamily="18" charset="0"/>
                                <a:ea typeface="微软雅黑" panose="020B0503020204020204" pitchFamily="34" charset="-122"/>
                              </a:rPr>
                            </m:ctrlPr>
                          </m:sSubPr>
                          <m:e>
                            <m:r>
                              <a:rPr lang="en-US" altLang="zh-CN">
                                <a:solidFill>
                                  <a:schemeClr val="bg1"/>
                                </a:solidFill>
                                <a:latin typeface="Cambria Math" panose="02040503050406030204" pitchFamily="18" charset="0"/>
                                <a:ea typeface="微软雅黑" panose="020B0503020204020204" pitchFamily="34" charset="-122"/>
                              </a:rPr>
                              <m:t>𝑤</m:t>
                            </m:r>
                          </m:e>
                          <m:sub>
                            <m:r>
                              <a:rPr lang="en-US" altLang="zh-CN">
                                <a:solidFill>
                                  <a:schemeClr val="bg1"/>
                                </a:solidFill>
                                <a:latin typeface="Cambria Math" panose="02040503050406030204" pitchFamily="18" charset="0"/>
                                <a:ea typeface="微软雅黑" panose="020B0503020204020204" pitchFamily="34" charset="-122"/>
                              </a:rPr>
                              <m:t>1</m:t>
                            </m:r>
                          </m:sub>
                        </m:sSub>
                      </m:den>
                    </m:f>
                    <m:r>
                      <a:rPr lang="en-US" altLang="zh-CN">
                        <a:solidFill>
                          <a:schemeClr val="bg1"/>
                        </a:solidFill>
                        <a:latin typeface="Cambria Math" panose="02040503050406030204" pitchFamily="18" charset="0"/>
                        <a:ea typeface="微软雅黑" panose="020B0503020204020204" pitchFamily="34" charset="-122"/>
                      </a:rPr>
                      <m:t>=</m:t>
                    </m:r>
                    <m:sSub>
                      <m:sSubPr>
                        <m:ctrlPr>
                          <a:rPr lang="zh-CN" altLang="zh-CN" i="1">
                            <a:solidFill>
                              <a:schemeClr val="bg1"/>
                            </a:solidFill>
                            <a:latin typeface="Cambria Math" panose="02040503050406030204" pitchFamily="18" charset="0"/>
                            <a:ea typeface="微软雅黑" panose="020B0503020204020204" pitchFamily="34" charset="-122"/>
                          </a:rPr>
                        </m:ctrlPr>
                      </m:sSubPr>
                      <m:e>
                        <m:r>
                          <a:rPr lang="en-US" altLang="zh-CN">
                            <a:solidFill>
                              <a:schemeClr val="bg1"/>
                            </a:solidFill>
                            <a:latin typeface="Cambria Math" panose="02040503050406030204" pitchFamily="18" charset="0"/>
                            <a:ea typeface="微软雅黑" panose="020B0503020204020204" pitchFamily="34" charset="-122"/>
                          </a:rPr>
                          <m:t>𝑤</m:t>
                        </m:r>
                      </m:e>
                      <m:sub>
                        <m:r>
                          <a:rPr lang="en-US" altLang="zh-CN">
                            <a:solidFill>
                              <a:schemeClr val="bg1"/>
                            </a:solidFill>
                            <a:latin typeface="Cambria Math" panose="02040503050406030204" pitchFamily="18" charset="0"/>
                            <a:ea typeface="微软雅黑" panose="020B0503020204020204" pitchFamily="34" charset="-122"/>
                          </a:rPr>
                          <m:t>1</m:t>
                        </m:r>
                      </m:sub>
                    </m:sSub>
                    <m:r>
                      <a:rPr lang="en-US" altLang="zh-CN">
                        <a:solidFill>
                          <a:schemeClr val="bg1"/>
                        </a:solidFill>
                        <a:latin typeface="Cambria Math" panose="02040503050406030204" pitchFamily="18" charset="0"/>
                        <a:ea typeface="微软雅黑" panose="020B0503020204020204" pitchFamily="34" charset="-122"/>
                      </a:rPr>
                      <m:t>−</m:t>
                    </m:r>
                    <m:r>
                      <m:rPr>
                        <m:sty m:val="p"/>
                      </m:rPr>
                      <a:rPr lang="en-US" altLang="zh-CN">
                        <a:solidFill>
                          <a:schemeClr val="bg1"/>
                        </a:solidFill>
                        <a:latin typeface="Cambria Math" panose="02040503050406030204" pitchFamily="18" charset="0"/>
                        <a:ea typeface="微软雅黑" panose="020B0503020204020204" pitchFamily="34" charset="-122"/>
                      </a:rPr>
                      <m:t>η</m:t>
                    </m:r>
                    <m:r>
                      <a:rPr lang="en-US" altLang="zh-CN">
                        <a:solidFill>
                          <a:schemeClr val="bg1"/>
                        </a:solidFill>
                        <a:latin typeface="Cambria Math" panose="02040503050406030204" pitchFamily="18" charset="0"/>
                        <a:ea typeface="微软雅黑" panose="020B0503020204020204" pitchFamily="34" charset="-122"/>
                      </a:rPr>
                      <m:t>×</m:t>
                    </m:r>
                    <m:f>
                      <m:fPr>
                        <m:ctrlPr>
                          <a:rPr lang="zh-CN" altLang="zh-CN" i="1">
                            <a:solidFill>
                              <a:schemeClr val="bg1"/>
                            </a:solidFill>
                            <a:latin typeface="Cambria Math" panose="02040503050406030204" pitchFamily="18" charset="0"/>
                            <a:ea typeface="微软雅黑" panose="020B0503020204020204" pitchFamily="34" charset="-122"/>
                          </a:rPr>
                        </m:ctrlPr>
                      </m:fPr>
                      <m:num>
                        <m:r>
                          <a:rPr lang="en-US" altLang="zh-CN">
                            <a:solidFill>
                              <a:schemeClr val="bg1"/>
                            </a:solidFill>
                            <a:latin typeface="Cambria Math" panose="02040503050406030204" pitchFamily="18" charset="0"/>
                            <a:ea typeface="微软雅黑" panose="020B0503020204020204" pitchFamily="34" charset="-122"/>
                          </a:rPr>
                          <m:t>𝑑</m:t>
                        </m:r>
                        <m:r>
                          <a:rPr lang="en-US" altLang="zh-CN">
                            <a:solidFill>
                              <a:schemeClr val="bg1"/>
                            </a:solidFill>
                            <a:latin typeface="Cambria Math" panose="02040503050406030204" pitchFamily="18" charset="0"/>
                            <a:ea typeface="微软雅黑" panose="020B0503020204020204" pitchFamily="34" charset="-122"/>
                          </a:rPr>
                          <m:t>ℒ</m:t>
                        </m:r>
                      </m:num>
                      <m:den>
                        <m:r>
                          <a:rPr lang="en-US" altLang="zh-CN">
                            <a:solidFill>
                              <a:schemeClr val="bg1"/>
                            </a:solidFill>
                            <a:latin typeface="Cambria Math" panose="02040503050406030204" pitchFamily="18" charset="0"/>
                            <a:ea typeface="微软雅黑" panose="020B0503020204020204" pitchFamily="34" charset="-122"/>
                          </a:rPr>
                          <m:t>𝑑</m:t>
                        </m:r>
                        <m:r>
                          <a:rPr lang="en-US" altLang="zh-CN">
                            <a:solidFill>
                              <a:schemeClr val="bg1"/>
                            </a:solidFill>
                            <a:latin typeface="Cambria Math" panose="02040503050406030204" pitchFamily="18" charset="0"/>
                            <a:ea typeface="微软雅黑" panose="020B0503020204020204" pitchFamily="34" charset="-122"/>
                          </a:rPr>
                          <m:t>𝒪</m:t>
                        </m:r>
                      </m:den>
                    </m:f>
                    <m:f>
                      <m:fPr>
                        <m:ctrlPr>
                          <a:rPr lang="zh-CN" altLang="zh-CN" i="1">
                            <a:solidFill>
                              <a:schemeClr val="bg1"/>
                            </a:solidFill>
                            <a:latin typeface="Cambria Math" panose="02040503050406030204" pitchFamily="18" charset="0"/>
                            <a:ea typeface="微软雅黑" panose="020B0503020204020204" pitchFamily="34" charset="-122"/>
                          </a:rPr>
                        </m:ctrlPr>
                      </m:fPr>
                      <m:num>
                        <m:r>
                          <a:rPr lang="en-US" altLang="zh-CN">
                            <a:solidFill>
                              <a:schemeClr val="bg1"/>
                            </a:solidFill>
                            <a:latin typeface="Cambria Math" panose="02040503050406030204" pitchFamily="18" charset="0"/>
                            <a:ea typeface="微软雅黑" panose="020B0503020204020204" pitchFamily="34" charset="-122"/>
                          </a:rPr>
                          <m:t>𝑑</m:t>
                        </m:r>
                        <m:r>
                          <a:rPr lang="en-US" altLang="zh-CN">
                            <a:solidFill>
                              <a:schemeClr val="bg1"/>
                            </a:solidFill>
                            <a:latin typeface="Cambria Math" panose="02040503050406030204" pitchFamily="18" charset="0"/>
                            <a:ea typeface="微软雅黑" panose="020B0503020204020204" pitchFamily="34" charset="-122"/>
                          </a:rPr>
                          <m:t>𝒪</m:t>
                        </m:r>
                      </m:num>
                      <m:den>
                        <m:r>
                          <a:rPr lang="en-US" altLang="zh-CN">
                            <a:solidFill>
                              <a:schemeClr val="bg1"/>
                            </a:solidFill>
                            <a:latin typeface="Cambria Math" panose="02040503050406030204" pitchFamily="18" charset="0"/>
                            <a:ea typeface="微软雅黑" panose="020B0503020204020204" pitchFamily="34" charset="-122"/>
                          </a:rPr>
                          <m:t>𝑑</m:t>
                        </m:r>
                        <m:r>
                          <a:rPr lang="en-US" altLang="zh-CN">
                            <a:solidFill>
                              <a:schemeClr val="bg1"/>
                            </a:solidFill>
                            <a:latin typeface="Cambria Math" panose="02040503050406030204" pitchFamily="18" charset="0"/>
                            <a:ea typeface="微软雅黑" panose="020B0503020204020204" pitchFamily="34" charset="-122"/>
                          </a:rPr>
                          <m:t>𝒳</m:t>
                        </m:r>
                      </m:den>
                    </m:f>
                    <m:f>
                      <m:fPr>
                        <m:ctrlPr>
                          <a:rPr lang="zh-CN" altLang="zh-CN" i="1">
                            <a:solidFill>
                              <a:schemeClr val="bg1"/>
                            </a:solidFill>
                            <a:latin typeface="Cambria Math" panose="02040503050406030204" pitchFamily="18" charset="0"/>
                            <a:ea typeface="微软雅黑" panose="020B0503020204020204" pitchFamily="34" charset="-122"/>
                          </a:rPr>
                        </m:ctrlPr>
                      </m:fPr>
                      <m:num>
                        <m:r>
                          <a:rPr lang="en-US" altLang="zh-CN">
                            <a:solidFill>
                              <a:schemeClr val="bg1"/>
                            </a:solidFill>
                            <a:latin typeface="Cambria Math" panose="02040503050406030204" pitchFamily="18" charset="0"/>
                            <a:ea typeface="微软雅黑" panose="020B0503020204020204" pitchFamily="34" charset="-122"/>
                          </a:rPr>
                          <m:t>𝑑</m:t>
                        </m:r>
                        <m:r>
                          <a:rPr lang="en-US" altLang="zh-CN">
                            <a:solidFill>
                              <a:schemeClr val="bg1"/>
                            </a:solidFill>
                            <a:latin typeface="Cambria Math" panose="02040503050406030204" pitchFamily="18" charset="0"/>
                            <a:ea typeface="微软雅黑" panose="020B0503020204020204" pitchFamily="34" charset="-122"/>
                          </a:rPr>
                          <m:t>𝒳</m:t>
                        </m:r>
                      </m:num>
                      <m:den>
                        <m:r>
                          <a:rPr lang="en-US" altLang="zh-CN">
                            <a:solidFill>
                              <a:schemeClr val="bg1"/>
                            </a:solidFill>
                            <a:latin typeface="Cambria Math" panose="02040503050406030204" pitchFamily="18" charset="0"/>
                            <a:ea typeface="微软雅黑" panose="020B0503020204020204" pitchFamily="34" charset="-122"/>
                          </a:rPr>
                          <m:t>𝑑</m:t>
                        </m:r>
                        <m:sSub>
                          <m:sSubPr>
                            <m:ctrlPr>
                              <a:rPr lang="zh-CN" altLang="zh-CN" i="1">
                                <a:solidFill>
                                  <a:schemeClr val="bg1"/>
                                </a:solidFill>
                                <a:latin typeface="Cambria Math" panose="02040503050406030204" pitchFamily="18" charset="0"/>
                                <a:ea typeface="微软雅黑" panose="020B0503020204020204" pitchFamily="34" charset="-122"/>
                              </a:rPr>
                            </m:ctrlPr>
                          </m:sSubPr>
                          <m:e>
                            <m:r>
                              <a:rPr lang="en-US" altLang="zh-CN">
                                <a:solidFill>
                                  <a:schemeClr val="bg1"/>
                                </a:solidFill>
                                <a:latin typeface="Cambria Math" panose="02040503050406030204" pitchFamily="18" charset="0"/>
                                <a:ea typeface="微软雅黑" panose="020B0503020204020204" pitchFamily="34" charset="-122"/>
                              </a:rPr>
                              <m:t>𝑤</m:t>
                            </m:r>
                          </m:e>
                          <m:sub>
                            <m:r>
                              <a:rPr lang="en-US" altLang="zh-CN">
                                <a:solidFill>
                                  <a:schemeClr val="bg1"/>
                                </a:solidFill>
                                <a:latin typeface="Cambria Math" panose="02040503050406030204" pitchFamily="18" charset="0"/>
                                <a:ea typeface="微软雅黑" panose="020B0503020204020204" pitchFamily="34" charset="-122"/>
                              </a:rPr>
                              <m:t>1</m:t>
                            </m:r>
                          </m:sub>
                        </m:sSub>
                      </m:den>
                    </m:f>
                    <m:r>
                      <a:rPr lang="en-US" altLang="zh-CN">
                        <a:solidFill>
                          <a:schemeClr val="bg1"/>
                        </a:solidFill>
                        <a:latin typeface="Cambria Math" panose="02040503050406030204" pitchFamily="18" charset="0"/>
                        <a:ea typeface="微软雅黑" panose="020B0503020204020204" pitchFamily="34" charset="-122"/>
                      </a:rPr>
                      <m:t>=</m:t>
                    </m:r>
                    <m:sSub>
                      <m:sSubPr>
                        <m:ctrlPr>
                          <a:rPr lang="zh-CN" altLang="zh-CN" i="1">
                            <a:solidFill>
                              <a:schemeClr val="bg1"/>
                            </a:solidFill>
                            <a:latin typeface="Cambria Math" panose="02040503050406030204" pitchFamily="18" charset="0"/>
                            <a:ea typeface="微软雅黑" panose="020B0503020204020204" pitchFamily="34" charset="-122"/>
                          </a:rPr>
                        </m:ctrlPr>
                      </m:sSubPr>
                      <m:e>
                        <m:r>
                          <a:rPr lang="en-US" altLang="zh-CN">
                            <a:solidFill>
                              <a:schemeClr val="bg1"/>
                            </a:solidFill>
                            <a:latin typeface="Cambria Math" panose="02040503050406030204" pitchFamily="18" charset="0"/>
                            <a:ea typeface="微软雅黑" panose="020B0503020204020204" pitchFamily="34" charset="-122"/>
                          </a:rPr>
                          <m:t>𝑤</m:t>
                        </m:r>
                      </m:e>
                      <m:sub>
                        <m:r>
                          <a:rPr lang="en-US" altLang="zh-CN">
                            <a:solidFill>
                              <a:schemeClr val="bg1"/>
                            </a:solidFill>
                            <a:latin typeface="Cambria Math" panose="02040503050406030204" pitchFamily="18" charset="0"/>
                            <a:ea typeface="微软雅黑" panose="020B0503020204020204" pitchFamily="34" charset="-122"/>
                          </a:rPr>
                          <m:t>1</m:t>
                        </m:r>
                      </m:sub>
                    </m:sSub>
                    <m:r>
                      <a:rPr lang="en-US" altLang="zh-CN">
                        <a:solidFill>
                          <a:schemeClr val="bg1"/>
                        </a:solidFill>
                        <a:latin typeface="Cambria Math" panose="02040503050406030204" pitchFamily="18" charset="0"/>
                        <a:ea typeface="微软雅黑" panose="020B0503020204020204" pitchFamily="34" charset="-122"/>
                      </a:rPr>
                      <m:t>−</m:t>
                    </m:r>
                    <m:r>
                      <m:rPr>
                        <m:sty m:val="p"/>
                      </m:rPr>
                      <a:rPr lang="en-US" altLang="zh-CN">
                        <a:solidFill>
                          <a:schemeClr val="bg1"/>
                        </a:solidFill>
                        <a:latin typeface="Cambria Math" panose="02040503050406030204" pitchFamily="18" charset="0"/>
                        <a:ea typeface="微软雅黑" panose="020B0503020204020204" pitchFamily="34" charset="-122"/>
                      </a:rPr>
                      <m:t>η</m:t>
                    </m:r>
                    <m:r>
                      <a:rPr lang="en-US" altLang="zh-CN">
                        <a:solidFill>
                          <a:schemeClr val="bg1"/>
                        </a:solidFill>
                        <a:latin typeface="Cambria Math" panose="02040503050406030204" pitchFamily="18" charset="0"/>
                        <a:ea typeface="微软雅黑" panose="020B0503020204020204" pitchFamily="34" charset="-122"/>
                      </a:rPr>
                      <m:t>×</m:t>
                    </m:r>
                    <m:f>
                      <m:fPr>
                        <m:ctrlPr>
                          <a:rPr lang="zh-CN" altLang="zh-CN" i="1">
                            <a:solidFill>
                              <a:schemeClr val="bg1"/>
                            </a:solidFill>
                            <a:latin typeface="Cambria Math" panose="02040503050406030204" pitchFamily="18" charset="0"/>
                            <a:ea typeface="微软雅黑" panose="020B0503020204020204" pitchFamily="34" charset="-122"/>
                          </a:rPr>
                        </m:ctrlPr>
                      </m:fPr>
                      <m:num>
                        <m:r>
                          <a:rPr lang="en-US" altLang="zh-CN">
                            <a:solidFill>
                              <a:schemeClr val="bg1"/>
                            </a:solidFill>
                            <a:latin typeface="Cambria Math" panose="02040503050406030204" pitchFamily="18" charset="0"/>
                            <a:ea typeface="微软雅黑" panose="020B0503020204020204" pitchFamily="34" charset="-122"/>
                          </a:rPr>
                          <m:t>𝑑</m:t>
                        </m:r>
                        <m:r>
                          <a:rPr lang="en-US" altLang="zh-CN">
                            <a:solidFill>
                              <a:schemeClr val="bg1"/>
                            </a:solidFill>
                            <a:latin typeface="Cambria Math" panose="02040503050406030204" pitchFamily="18" charset="0"/>
                            <a:ea typeface="微软雅黑" panose="020B0503020204020204" pitchFamily="34" charset="-122"/>
                          </a:rPr>
                          <m:t>ℒ</m:t>
                        </m:r>
                      </m:num>
                      <m:den>
                        <m:r>
                          <a:rPr lang="en-US" altLang="zh-CN">
                            <a:solidFill>
                              <a:schemeClr val="bg1"/>
                            </a:solidFill>
                            <a:latin typeface="Cambria Math" panose="02040503050406030204" pitchFamily="18" charset="0"/>
                            <a:ea typeface="微软雅黑" panose="020B0503020204020204" pitchFamily="34" charset="-122"/>
                          </a:rPr>
                          <m:t>𝑑</m:t>
                        </m:r>
                        <m:r>
                          <a:rPr lang="en-US" altLang="zh-CN">
                            <a:solidFill>
                              <a:schemeClr val="bg1"/>
                            </a:solidFill>
                            <a:latin typeface="Cambria Math" panose="02040503050406030204" pitchFamily="18" charset="0"/>
                            <a:ea typeface="微软雅黑" panose="020B0503020204020204" pitchFamily="34" charset="-122"/>
                          </a:rPr>
                          <m:t>𝒪</m:t>
                        </m:r>
                      </m:den>
                    </m:f>
                    <m:r>
                      <a:rPr lang="en-US" altLang="zh-CN">
                        <a:solidFill>
                          <a:schemeClr val="bg1"/>
                        </a:solidFill>
                        <a:latin typeface="Cambria Math" panose="02040503050406030204" pitchFamily="18" charset="0"/>
                        <a:ea typeface="微软雅黑" panose="020B0503020204020204" pitchFamily="34" charset="-122"/>
                      </a:rPr>
                      <m:t>×</m:t>
                    </m:r>
                    <m:f>
                      <m:fPr>
                        <m:ctrlPr>
                          <a:rPr lang="zh-CN" altLang="zh-CN" i="1">
                            <a:solidFill>
                              <a:schemeClr val="bg1"/>
                            </a:solidFill>
                            <a:latin typeface="Cambria Math" panose="02040503050406030204" pitchFamily="18" charset="0"/>
                            <a:ea typeface="微软雅黑" panose="020B0503020204020204" pitchFamily="34" charset="-122"/>
                          </a:rPr>
                        </m:ctrlPr>
                      </m:fPr>
                      <m:num>
                        <m:r>
                          <a:rPr lang="en-US" altLang="zh-CN">
                            <a:solidFill>
                              <a:schemeClr val="bg1"/>
                            </a:solidFill>
                            <a:latin typeface="Cambria Math" panose="02040503050406030204" pitchFamily="18" charset="0"/>
                            <a:ea typeface="微软雅黑" panose="020B0503020204020204" pitchFamily="34" charset="-122"/>
                          </a:rPr>
                          <m:t>1</m:t>
                        </m:r>
                      </m:num>
                      <m:den>
                        <m:r>
                          <a:rPr lang="en-US" altLang="zh-CN">
                            <a:solidFill>
                              <a:schemeClr val="bg1"/>
                            </a:solidFill>
                            <a:latin typeface="Cambria Math" panose="02040503050406030204" pitchFamily="18" charset="0"/>
                            <a:ea typeface="微软雅黑" panose="020B0503020204020204" pitchFamily="34" charset="-122"/>
                          </a:rPr>
                          <m:t>1+</m:t>
                        </m:r>
                        <m:sSup>
                          <m:sSupPr>
                            <m:ctrlPr>
                              <a:rPr lang="zh-CN" altLang="zh-CN" i="1">
                                <a:solidFill>
                                  <a:schemeClr val="bg1"/>
                                </a:solidFill>
                                <a:latin typeface="Cambria Math" panose="02040503050406030204" pitchFamily="18" charset="0"/>
                                <a:ea typeface="微软雅黑" panose="020B0503020204020204" pitchFamily="34" charset="-122"/>
                              </a:rPr>
                            </m:ctrlPr>
                          </m:sSupPr>
                          <m:e>
                            <m:r>
                              <a:rPr lang="en-US" altLang="zh-CN">
                                <a:solidFill>
                                  <a:schemeClr val="bg1"/>
                                </a:solidFill>
                                <a:latin typeface="Cambria Math" panose="02040503050406030204" pitchFamily="18" charset="0"/>
                                <a:ea typeface="微软雅黑" panose="020B0503020204020204" pitchFamily="34" charset="-122"/>
                              </a:rPr>
                              <m:t>𝑒</m:t>
                            </m:r>
                          </m:e>
                          <m:sup>
                            <m:r>
                              <a:rPr lang="en-US" altLang="zh-CN">
                                <a:solidFill>
                                  <a:schemeClr val="bg1"/>
                                </a:solidFill>
                                <a:latin typeface="Cambria Math" panose="02040503050406030204" pitchFamily="18" charset="0"/>
                                <a:ea typeface="微软雅黑" panose="020B0503020204020204" pitchFamily="34" charset="-122"/>
                              </a:rPr>
                              <m:t>−</m:t>
                            </m:r>
                            <m:r>
                              <a:rPr lang="en-US" altLang="zh-CN">
                                <a:solidFill>
                                  <a:schemeClr val="bg1"/>
                                </a:solidFill>
                                <a:latin typeface="Cambria Math" panose="02040503050406030204" pitchFamily="18" charset="0"/>
                                <a:ea typeface="微软雅黑" panose="020B0503020204020204" pitchFamily="34" charset="-122"/>
                              </a:rPr>
                              <m:t>𝒳</m:t>
                            </m:r>
                          </m:sup>
                        </m:sSup>
                      </m:den>
                    </m:f>
                    <m:r>
                      <a:rPr lang="en-US" altLang="zh-CN">
                        <a:solidFill>
                          <a:schemeClr val="bg1"/>
                        </a:solidFill>
                        <a:latin typeface="Cambria Math" panose="02040503050406030204" pitchFamily="18" charset="0"/>
                        <a:ea typeface="微软雅黑" panose="020B0503020204020204" pitchFamily="34" charset="-122"/>
                      </a:rPr>
                      <m:t>×(1−</m:t>
                    </m:r>
                    <m:f>
                      <m:fPr>
                        <m:ctrlPr>
                          <a:rPr lang="zh-CN" altLang="zh-CN" i="1">
                            <a:solidFill>
                              <a:schemeClr val="bg1"/>
                            </a:solidFill>
                            <a:latin typeface="Cambria Math" panose="02040503050406030204" pitchFamily="18" charset="0"/>
                            <a:ea typeface="微软雅黑" panose="020B0503020204020204" pitchFamily="34" charset="-122"/>
                          </a:rPr>
                        </m:ctrlPr>
                      </m:fPr>
                      <m:num>
                        <m:r>
                          <a:rPr lang="en-US" altLang="zh-CN">
                            <a:solidFill>
                              <a:schemeClr val="bg1"/>
                            </a:solidFill>
                            <a:latin typeface="Cambria Math" panose="02040503050406030204" pitchFamily="18" charset="0"/>
                            <a:ea typeface="微软雅黑" panose="020B0503020204020204" pitchFamily="34" charset="-122"/>
                          </a:rPr>
                          <m:t>1</m:t>
                        </m:r>
                      </m:num>
                      <m:den>
                        <m:r>
                          <a:rPr lang="en-US" altLang="zh-CN">
                            <a:solidFill>
                              <a:schemeClr val="bg1"/>
                            </a:solidFill>
                            <a:latin typeface="Cambria Math" panose="02040503050406030204" pitchFamily="18" charset="0"/>
                            <a:ea typeface="微软雅黑" panose="020B0503020204020204" pitchFamily="34" charset="-122"/>
                          </a:rPr>
                          <m:t>1+</m:t>
                        </m:r>
                        <m:sSup>
                          <m:sSupPr>
                            <m:ctrlPr>
                              <a:rPr lang="zh-CN" altLang="zh-CN" i="1">
                                <a:solidFill>
                                  <a:schemeClr val="bg1"/>
                                </a:solidFill>
                                <a:latin typeface="Cambria Math" panose="02040503050406030204" pitchFamily="18" charset="0"/>
                                <a:ea typeface="微软雅黑" panose="020B0503020204020204" pitchFamily="34" charset="-122"/>
                              </a:rPr>
                            </m:ctrlPr>
                          </m:sSupPr>
                          <m:e>
                            <m:r>
                              <a:rPr lang="en-US" altLang="zh-CN">
                                <a:solidFill>
                                  <a:schemeClr val="bg1"/>
                                </a:solidFill>
                                <a:latin typeface="Cambria Math" panose="02040503050406030204" pitchFamily="18" charset="0"/>
                                <a:ea typeface="微软雅黑" panose="020B0503020204020204" pitchFamily="34" charset="-122"/>
                              </a:rPr>
                              <m:t>𝑒</m:t>
                            </m:r>
                          </m:e>
                          <m:sup>
                            <m:r>
                              <a:rPr lang="en-US" altLang="zh-CN">
                                <a:solidFill>
                                  <a:schemeClr val="bg1"/>
                                </a:solidFill>
                                <a:latin typeface="Cambria Math" panose="02040503050406030204" pitchFamily="18" charset="0"/>
                                <a:ea typeface="微软雅黑" panose="020B0503020204020204" pitchFamily="34" charset="-122"/>
                              </a:rPr>
                              <m:t>−</m:t>
                            </m:r>
                            <m:r>
                              <a:rPr lang="en-US" altLang="zh-CN">
                                <a:solidFill>
                                  <a:schemeClr val="bg1"/>
                                </a:solidFill>
                                <a:latin typeface="Cambria Math" panose="02040503050406030204" pitchFamily="18" charset="0"/>
                                <a:ea typeface="微软雅黑" panose="020B0503020204020204" pitchFamily="34" charset="-122"/>
                              </a:rPr>
                              <m:t>𝒳</m:t>
                            </m:r>
                          </m:sup>
                        </m:sSup>
                      </m:den>
                    </m:f>
                    <m:r>
                      <a:rPr lang="en-US" altLang="zh-CN">
                        <a:solidFill>
                          <a:schemeClr val="bg1"/>
                        </a:solidFill>
                        <a:latin typeface="Cambria Math" panose="02040503050406030204" pitchFamily="18" charset="0"/>
                        <a:ea typeface="微软雅黑" panose="020B0503020204020204" pitchFamily="34" charset="-122"/>
                      </a:rPr>
                      <m:t>)×</m:t>
                    </m:r>
                    <m:sSub>
                      <m:sSubPr>
                        <m:ctrlPr>
                          <a:rPr lang="zh-CN" altLang="zh-CN" i="1">
                            <a:solidFill>
                              <a:schemeClr val="bg1"/>
                            </a:solidFill>
                            <a:latin typeface="Cambria Math" panose="02040503050406030204" pitchFamily="18" charset="0"/>
                            <a:ea typeface="微软雅黑" panose="020B0503020204020204" pitchFamily="34" charset="-122"/>
                          </a:rPr>
                        </m:ctrlPr>
                      </m:sSubPr>
                      <m:e>
                        <m:r>
                          <a:rPr lang="en-US" altLang="zh-CN">
                            <a:solidFill>
                              <a:schemeClr val="bg1"/>
                            </a:solidFill>
                            <a:latin typeface="Cambria Math" panose="02040503050406030204" pitchFamily="18" charset="0"/>
                            <a:ea typeface="微软雅黑" panose="020B0503020204020204" pitchFamily="34" charset="-122"/>
                          </a:rPr>
                          <m:t>𝑜𝑢𝑡</m:t>
                        </m:r>
                      </m:e>
                      <m:sub>
                        <m:r>
                          <a:rPr lang="en-US" altLang="zh-CN">
                            <a:solidFill>
                              <a:schemeClr val="bg1"/>
                            </a:solidFill>
                            <a:latin typeface="Cambria Math" panose="02040503050406030204" pitchFamily="18" charset="0"/>
                            <a:ea typeface="微软雅黑" panose="020B0503020204020204" pitchFamily="34" charset="-122"/>
                          </a:rPr>
                          <m:t>1</m:t>
                        </m:r>
                      </m:sub>
                    </m:sSub>
                  </m:oMath>
                </a14:m>
                <a:r>
                  <a:rPr lang="zh-CN"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按照同样的方法，可调整</a:t>
                </a:r>
                <a14:m>
                  <m:oMath xmlns:m="http://schemas.openxmlformats.org/officeDocument/2006/math">
                    <m:sSub>
                      <m:sSubPr>
                        <m:ctrlPr>
                          <a:rPr lang="zh-CN" altLang="zh-CN" i="1">
                            <a:solidFill>
                              <a:schemeClr val="bg1"/>
                            </a:solidFill>
                            <a:latin typeface="Cambria Math" panose="02040503050406030204" pitchFamily="18" charset="0"/>
                            <a:ea typeface="微软雅黑" panose="020B0503020204020204" pitchFamily="34" charset="-122"/>
                          </a:rPr>
                        </m:ctrlPr>
                      </m:sSubPr>
                      <m:e>
                        <m:r>
                          <a:rPr lang="en-US" altLang="zh-CN">
                            <a:solidFill>
                              <a:schemeClr val="bg1"/>
                            </a:solidFill>
                            <a:latin typeface="Cambria Math" panose="02040503050406030204" pitchFamily="18" charset="0"/>
                            <a:ea typeface="微软雅黑" panose="020B0503020204020204" pitchFamily="34" charset="-122"/>
                          </a:rPr>
                          <m:t>𝑤</m:t>
                        </m:r>
                      </m:e>
                      <m:sub>
                        <m:r>
                          <a:rPr lang="en-US" altLang="zh-CN">
                            <a:solidFill>
                              <a:schemeClr val="bg1"/>
                            </a:solidFill>
                            <a:latin typeface="Cambria Math" panose="02040503050406030204" pitchFamily="18" charset="0"/>
                            <a:ea typeface="微软雅黑" panose="020B0503020204020204" pitchFamily="34" charset="-122"/>
                          </a:rPr>
                          <m:t>2</m:t>
                        </m:r>
                      </m:sub>
                    </m:sSub>
                  </m:oMath>
                </a14:m>
                <a:r>
                  <a:rPr lang="zh-CN"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i="1">
                            <a:solidFill>
                              <a:schemeClr val="bg1"/>
                            </a:solidFill>
                            <a:latin typeface="Cambria Math" panose="02040503050406030204" pitchFamily="18" charset="0"/>
                            <a:ea typeface="微软雅黑" panose="020B0503020204020204" pitchFamily="34" charset="-122"/>
                          </a:rPr>
                        </m:ctrlPr>
                      </m:sSubPr>
                      <m:e>
                        <m:r>
                          <a:rPr lang="en-US" altLang="zh-CN">
                            <a:solidFill>
                              <a:schemeClr val="bg1"/>
                            </a:solidFill>
                            <a:latin typeface="Cambria Math" panose="02040503050406030204" pitchFamily="18" charset="0"/>
                            <a:ea typeface="微软雅黑" panose="020B0503020204020204" pitchFamily="34" charset="-122"/>
                          </a:rPr>
                          <m:t>𝑤</m:t>
                        </m:r>
                      </m:e>
                      <m:sub>
                        <m:r>
                          <a:rPr lang="en-US" altLang="zh-CN">
                            <a:solidFill>
                              <a:schemeClr val="bg1"/>
                            </a:solidFill>
                            <a:latin typeface="Cambria Math" panose="02040503050406030204" pitchFamily="18" charset="0"/>
                            <a:ea typeface="微软雅黑" panose="020B0503020204020204" pitchFamily="34" charset="-122"/>
                          </a:rPr>
                          <m:t>3</m:t>
                        </m:r>
                      </m:sub>
                    </m:sSub>
                  </m:oMath>
                </a14:m>
                <a:r>
                  <a:rPr lang="zh-CN"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以及其它图中未显示参数的取值。经过这样的调整，在模型参数新的取值作用下，损失函数</a:t>
                </a:r>
                <a14:m>
                  <m:oMath xmlns:m="http://schemas.openxmlformats.org/officeDocument/2006/math">
                    <m:r>
                      <a:rPr lang="en-US" altLang="zh-CN">
                        <a:solidFill>
                          <a:schemeClr val="bg1"/>
                        </a:solidFill>
                        <a:latin typeface="Cambria Math" panose="02040503050406030204" pitchFamily="18" charset="0"/>
                        <a:ea typeface="微软雅黑" panose="020B0503020204020204" pitchFamily="34" charset="-122"/>
                      </a:rPr>
                      <m:t>ℒ</m:t>
                    </m:r>
                    <m:d>
                      <m:dPr>
                        <m:ctrlPr>
                          <a:rPr lang="zh-CN" altLang="zh-CN" i="1">
                            <a:solidFill>
                              <a:schemeClr val="bg1"/>
                            </a:solidFill>
                            <a:latin typeface="Cambria Math" panose="02040503050406030204" pitchFamily="18" charset="0"/>
                            <a:ea typeface="微软雅黑" panose="020B0503020204020204" pitchFamily="34" charset="-122"/>
                          </a:rPr>
                        </m:ctrlPr>
                      </m:dPr>
                      <m:e>
                        <m:r>
                          <m:rPr>
                            <m:sty m:val="p"/>
                          </m:rPr>
                          <a:rPr lang="en-US" altLang="zh-CN">
                            <a:solidFill>
                              <a:schemeClr val="bg1"/>
                            </a:solidFill>
                            <a:latin typeface="Cambria Math" panose="02040503050406030204" pitchFamily="18" charset="0"/>
                            <a:ea typeface="微软雅黑" panose="020B0503020204020204" pitchFamily="34" charset="-122"/>
                          </a:rPr>
                          <m:t>θ</m:t>
                        </m:r>
                      </m:e>
                    </m:d>
                  </m:oMath>
                </a14:m>
                <a:r>
                  <a:rPr lang="zh-CN"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会以最快下降方式逐渐减少，直至减少到最小值（即全局最小值）。</a:t>
                </a:r>
              </a:p>
              <a:p>
                <a:pPr marL="285750" indent="-285750">
                  <a:buFont typeface="Wingdings" panose="05000000000000000000" pitchFamily="2" charset="2"/>
                  <a:buChar char="l"/>
                </a:pPr>
                <a:endParaRPr lang="zh-CN" altLang="zh-CN" dirty="0">
                  <a:solidFill>
                    <a:schemeClr val="bg1"/>
                  </a:solidFill>
                  <a:latin typeface="微软雅黑" panose="020B0503020204020204" pitchFamily="34" charset="-122"/>
                  <a:ea typeface="微软雅黑" panose="020B0503020204020204" pitchFamily="34" charset="-122"/>
                </a:endParaRPr>
              </a:p>
              <a:p>
                <a:pPr>
                  <a:buClr>
                    <a:schemeClr val="bg1"/>
                  </a:buClr>
                  <a:buSzPct val="80000"/>
                </a:pP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53401E96-C60D-4A69-B521-ADB13B72E9CF}"/>
                  </a:ext>
                </a:extLst>
              </p:cNvPr>
              <p:cNvSpPr>
                <a:spLocks noRot="1" noChangeAspect="1" noMove="1" noResize="1" noEditPoints="1" noAdjustHandles="1" noChangeArrowheads="1" noChangeShapeType="1" noTextEdit="1"/>
              </p:cNvSpPr>
              <p:nvPr/>
            </p:nvSpPr>
            <p:spPr>
              <a:xfrm>
                <a:off x="148773" y="2531104"/>
                <a:ext cx="6315175" cy="3979872"/>
              </a:xfrm>
              <a:prstGeom prst="rect">
                <a:avLst/>
              </a:prstGeom>
              <a:blipFill>
                <a:blip r:embed="rId4"/>
                <a:stretch>
                  <a:fillRect l="-579" t="-919" r="-8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7965CB01-92A3-443E-A48D-9A76D23A2AB1}"/>
                  </a:ext>
                </a:extLst>
              </p:cNvPr>
              <p:cNvSpPr/>
              <p:nvPr/>
            </p:nvSpPr>
            <p:spPr>
              <a:xfrm>
                <a:off x="590145" y="1429392"/>
                <a:ext cx="10765275" cy="787523"/>
              </a:xfrm>
              <a:prstGeom prst="rect">
                <a:avLst/>
              </a:prstGeom>
            </p:spPr>
            <p:txBody>
              <a:bodyPr wrap="square">
                <a:spAutoFit/>
              </a:bodyPr>
              <a:lstStyle/>
              <a:p>
                <a:pPr algn="ctr">
                  <a:lnSpc>
                    <a:spcPct val="150000"/>
                  </a:lnSpc>
                </a:pPr>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模型预测结果</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𝒪</m:t>
                    </m:r>
                  </m:oMath>
                </a14:m>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与真实结果之间的损失误差</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𝑙𝑜𝑠𝑠</m:t>
                    </m:r>
                  </m:oMath>
                </a14:m>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由所定义的损失函数</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ℒ</m:t>
                    </m:r>
                  </m:oMath>
                </a14:m>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计算得到。现在的问题是如何根据这个误差来优化调整连接权重系数</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𝑤</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（未出现的神经网络其它参数</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调整雷同</a:t>
                </a:r>
                <a:r>
                  <a:rPr lang="zh-CN" altLang="zh-CN" sz="1600" dirty="0">
                    <a:latin typeface="微软雅黑" panose="020B0503020204020204" pitchFamily="34" charset="-122"/>
                    <a:ea typeface="微软雅黑" panose="020B0503020204020204" pitchFamily="34" charset="-122"/>
                    <a:cs typeface="Times New Roman" panose="02020603050405020304" pitchFamily="18" charset="0"/>
                  </a:rPr>
                  <a:t>），使得训练得到的模型尽可能输出预期结果。</a:t>
                </a:r>
                <a:endParaRPr lang="zh-CN" altLang="en-US" sz="1600" dirty="0">
                  <a:latin typeface="微软雅黑" panose="020B0503020204020204" pitchFamily="34" charset="-122"/>
                  <a:ea typeface="微软雅黑" panose="020B0503020204020204" pitchFamily="34" charset="-122"/>
                </a:endParaRPr>
              </a:p>
            </p:txBody>
          </p:sp>
        </mc:Choice>
        <mc:Fallback xmlns="">
          <p:sp>
            <p:nvSpPr>
              <p:cNvPr id="2" name="矩形 1">
                <a:extLst>
                  <a:ext uri="{FF2B5EF4-FFF2-40B4-BE49-F238E27FC236}">
                    <a16:creationId xmlns:a16="http://schemas.microsoft.com/office/drawing/2014/main" id="{7965CB01-92A3-443E-A48D-9A76D23A2AB1}"/>
                  </a:ext>
                </a:extLst>
              </p:cNvPr>
              <p:cNvSpPr>
                <a:spLocks noRot="1" noChangeAspect="1" noMove="1" noResize="1" noEditPoints="1" noAdjustHandles="1" noChangeArrowheads="1" noChangeShapeType="1" noTextEdit="1"/>
              </p:cNvSpPr>
              <p:nvPr/>
            </p:nvSpPr>
            <p:spPr>
              <a:xfrm>
                <a:off x="590145" y="1429392"/>
                <a:ext cx="10765275" cy="787523"/>
              </a:xfrm>
              <a:prstGeom prst="rect">
                <a:avLst/>
              </a:prstGeom>
              <a:blipFill>
                <a:blip r:embed="rId5"/>
                <a:stretch>
                  <a:fillRect b="-84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257783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神经网络参数优化：梯度下降的方法</a:t>
              </a:r>
            </a:p>
          </p:txBody>
        </p:sp>
      </p:grpSp>
      <p:sp>
        <p:nvSpPr>
          <p:cNvPr id="13" name="矩形: 圆角 6">
            <a:extLst>
              <a:ext uri="{FF2B5EF4-FFF2-40B4-BE49-F238E27FC236}">
                <a16:creationId xmlns:a16="http://schemas.microsoft.com/office/drawing/2014/main" id="{EE0079DB-5DC7-4765-8C90-8B3B42AC8D4B}"/>
              </a:ext>
            </a:extLst>
          </p:cNvPr>
          <p:cNvSpPr/>
          <p:nvPr/>
        </p:nvSpPr>
        <p:spPr>
          <a:xfrm>
            <a:off x="1108684" y="2244110"/>
            <a:ext cx="10341037" cy="4026987"/>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3D28EF23-9DF5-44CA-A275-2B793EE66407}"/>
                  </a:ext>
                </a:extLst>
              </p:cNvPr>
              <p:cNvSpPr/>
              <p:nvPr/>
            </p:nvSpPr>
            <p:spPr>
              <a:xfrm>
                <a:off x="1190016" y="2366253"/>
                <a:ext cx="10178375" cy="3782702"/>
              </a:xfrm>
              <a:prstGeom prst="rect">
                <a:avLst/>
              </a:prstGeom>
            </p:spPr>
            <p:txBody>
              <a:bodyPr wrap="square">
                <a:spAutoFit/>
              </a:bodyPr>
              <a:lstStyle/>
              <a:p>
                <a:pPr marL="342900" indent="-342900">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批量梯度下降</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在</a:t>
                </a:r>
                <a:r>
                  <a:rPr lang="zh-CN" altLang="zh-CN"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整个训练集</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上计算损失误差</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ℒ</m:t>
                    </m:r>
                    <m:d>
                      <m:d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r>
                          <m:rPr>
                            <m:sty m:val="p"/>
                          </m:rP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θ</m:t>
                        </m:r>
                      </m:e>
                    </m:d>
                  </m:oMath>
                </a14:m>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。如果数据集较大，则会因内存容量不足而无法完成梯度计算。</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buClr>
                    <a:schemeClr val="bg1"/>
                  </a:buClr>
                  <a:buSzPct val="80000"/>
                  <a:buFont typeface="Wingdings" panose="05000000000000000000" pitchFamily="2" charset="2"/>
                  <a:buChar char="u"/>
                </a:pP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随机梯度下降</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使用训练集中</a:t>
                </a:r>
                <a:r>
                  <a:rPr lang="zh-CN" altLang="zh-CN"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每个训练样本</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计算</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ℒ</m:t>
                    </m:r>
                    <m:d>
                      <m:d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r>
                          <m:rPr>
                            <m:sty m:val="p"/>
                          </m:rP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θ</m:t>
                        </m:r>
                      </m:e>
                    </m:d>
                  </m:oMath>
                </a14:m>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来分别更新参数。因为随机梯度下降每次迭代只使用一个样本，导致梯度方向具有很大的波动，因此其收敛速度通常较慢。尽管如此，随机梯度下降的随机性有助于跳出局部最优解，有时可能找到更好的解。</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小批量梯度下降</a:t>
                </a:r>
                <a:r>
                  <a:rPr lang="zh-CN" altLang="en-US"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选取训练集中</a:t>
                </a:r>
                <a:r>
                  <a:rPr lang="zh-CN" altLang="zh-CN"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小批量样本</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计算</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ℒ</m:t>
                    </m:r>
                    <m:d>
                      <m:d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r>
                          <m:rPr>
                            <m:sty m:val="p"/>
                          </m:rP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θ</m:t>
                        </m:r>
                      </m:e>
                    </m:d>
                  </m:oMath>
                </a14:m>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，根据每一批量样本所得到的累加误差来更新参数，这样可保证训练过程更稳定，而且采用批量训练方法也可利用矩阵计算优势，因此其成为目前最常用的梯度下降算法</a:t>
                </a:r>
              </a:p>
            </p:txBody>
          </p:sp>
        </mc:Choice>
        <mc:Fallback xmlns="">
          <p:sp>
            <p:nvSpPr>
              <p:cNvPr id="14" name="矩形 13">
                <a:extLst>
                  <a:ext uri="{FF2B5EF4-FFF2-40B4-BE49-F238E27FC236}">
                    <a16:creationId xmlns:a16="http://schemas.microsoft.com/office/drawing/2014/main" id="{3D28EF23-9DF5-44CA-A275-2B793EE66407}"/>
                  </a:ext>
                </a:extLst>
              </p:cNvPr>
              <p:cNvSpPr>
                <a:spLocks noRot="1" noChangeAspect="1" noMove="1" noResize="1" noEditPoints="1" noAdjustHandles="1" noChangeArrowheads="1" noChangeShapeType="1" noTextEdit="1"/>
              </p:cNvSpPr>
              <p:nvPr/>
            </p:nvSpPr>
            <p:spPr>
              <a:xfrm>
                <a:off x="1190016" y="2366253"/>
                <a:ext cx="10178375" cy="3782702"/>
              </a:xfrm>
              <a:prstGeom prst="rect">
                <a:avLst/>
              </a:prstGeom>
              <a:blipFill>
                <a:blip r:embed="rId3"/>
                <a:stretch>
                  <a:fillRect l="-419" t="-966" r="-778" b="-2415"/>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949C25A1-6039-4B1C-8F1F-BBF9D4CD71FD}"/>
              </a:ext>
            </a:extLst>
          </p:cNvPr>
          <p:cNvSpPr/>
          <p:nvPr/>
        </p:nvSpPr>
        <p:spPr>
          <a:xfrm>
            <a:off x="1404025" y="1529731"/>
            <a:ext cx="9383949" cy="584775"/>
          </a:xfrm>
          <a:prstGeom prst="rect">
            <a:avLst/>
          </a:prstGeom>
        </p:spPr>
        <p:txBody>
          <a:bodyPr wrap="square">
            <a:spAutoFit/>
          </a:bodyPr>
          <a:lstStyle/>
          <a:p>
            <a:pPr algn="ctr">
              <a:spcAft>
                <a:spcPts val="0"/>
              </a:spcAft>
            </a:pP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梯度下降算法可以分为</a:t>
            </a:r>
            <a:r>
              <a:rPr lang="zh-CN"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批量梯度下降算法</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batch gradient descent</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随机梯度下降算法</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stochastic gradient descent</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a:t>
            </a:r>
            <a:r>
              <a:rPr lang="zh-CN"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小批量梯度下降算法</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mini-batch gradient descent</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）等类型。</a:t>
            </a:r>
            <a:endPar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a:extLst>
              <a:ext uri="{FF2B5EF4-FFF2-40B4-BE49-F238E27FC236}">
                <a16:creationId xmlns:a16="http://schemas.microsoft.com/office/drawing/2014/main" id="{E2657679-6500-443D-8D7B-C7E26AD969D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spTree>
    <p:extLst>
      <p:ext uri="{BB962C8B-B14F-4D97-AF65-F5344CB8AC3E}">
        <p14:creationId xmlns:p14="http://schemas.microsoft.com/office/powerpoint/2010/main" val="40744358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神经网络参数优化：误差反向传播与参数更新例子</a:t>
              </a:r>
            </a:p>
          </p:txBody>
        </p:sp>
      </p:grpSp>
      <p:sp>
        <p:nvSpPr>
          <p:cNvPr id="10" name="矩形 9">
            <a:extLst>
              <a:ext uri="{FF2B5EF4-FFF2-40B4-BE49-F238E27FC236}">
                <a16:creationId xmlns:a16="http://schemas.microsoft.com/office/drawing/2014/main" id="{E2657679-6500-443D-8D7B-C7E26AD969D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sp>
        <p:nvSpPr>
          <p:cNvPr id="8" name="矩形 7">
            <a:extLst>
              <a:ext uri="{FF2B5EF4-FFF2-40B4-BE49-F238E27FC236}">
                <a16:creationId xmlns:a16="http://schemas.microsoft.com/office/drawing/2014/main" id="{30584048-6C12-46B0-93EE-121C9AD42ECE}"/>
              </a:ext>
            </a:extLst>
          </p:cNvPr>
          <p:cNvSpPr/>
          <p:nvPr/>
        </p:nvSpPr>
        <p:spPr>
          <a:xfrm>
            <a:off x="278236" y="2146570"/>
            <a:ext cx="6154989" cy="2051459"/>
          </a:xfrm>
          <a:prstGeom prst="rect">
            <a:avLst/>
          </a:prstGeom>
        </p:spPr>
        <p:txBody>
          <a:bodyPr wrap="square">
            <a:spAutoFit/>
          </a:bodyPr>
          <a:lstStyle/>
          <a:p>
            <a:pPr marL="285750" indent="-285750" algn="just">
              <a:lnSpc>
                <a:spcPts val="2200"/>
              </a:lnSpc>
              <a:spcAft>
                <a:spcPts val="0"/>
              </a:spcAft>
              <a:buFont typeface="Arial" panose="020B0604020202020204" pitchFamily="34" charset="0"/>
              <a:buChar char="•"/>
            </a:pPr>
            <a:r>
              <a:rPr lang="zh-CN" altLang="zh-CN" dirty="0">
                <a:solidFill>
                  <a:srgbClr val="000000"/>
                </a:solidFill>
                <a:latin typeface="Times New Roman" panose="02020603050405020304" pitchFamily="18" charset="0"/>
                <a:ea typeface="楷体_GB2312"/>
                <a:cs typeface="Times New Roman" panose="02020603050405020304" pitchFamily="18" charset="0"/>
              </a:rPr>
              <a:t>下面通过一个三类分类的具体例子来介绍神经网络中参数更新过程。</a:t>
            </a:r>
            <a:r>
              <a:rPr lang="zh-CN" altLang="zh-CN" dirty="0">
                <a:solidFill>
                  <a:schemeClr val="accent2"/>
                </a:solidFill>
                <a:latin typeface="Times New Roman" panose="02020603050405020304" pitchFamily="18" charset="0"/>
                <a:ea typeface="楷体_GB2312"/>
                <a:cs typeface="Times New Roman" panose="02020603050405020304" pitchFamily="18" charset="0"/>
              </a:rPr>
              <a:t>给定一个包含输入层、一层隐藏层和输出层的多层感知机（如图</a:t>
            </a:r>
            <a:r>
              <a:rPr lang="en-US" altLang="zh-CN" dirty="0">
                <a:solidFill>
                  <a:schemeClr val="accent2"/>
                </a:solidFill>
                <a:latin typeface="Times New Roman" panose="02020603050405020304" pitchFamily="18" charset="0"/>
                <a:ea typeface="楷体_GB2312"/>
                <a:cs typeface="Times New Roman" panose="02020603050405020304" pitchFamily="18" charset="0"/>
              </a:rPr>
              <a:t>5.7</a:t>
            </a:r>
            <a:r>
              <a:rPr lang="zh-CN" altLang="zh-CN" dirty="0">
                <a:solidFill>
                  <a:schemeClr val="accent2"/>
                </a:solidFill>
                <a:latin typeface="Times New Roman" panose="02020603050405020304" pitchFamily="18" charset="0"/>
                <a:ea typeface="楷体_GB2312"/>
                <a:cs typeface="Times New Roman" panose="02020603050405020304" pitchFamily="18" charset="0"/>
              </a:rPr>
              <a:t>所示），其中隐藏层由两个神经元构成。</a:t>
            </a:r>
            <a:r>
              <a:rPr lang="zh-CN" altLang="zh-CN" dirty="0">
                <a:solidFill>
                  <a:srgbClr val="000000"/>
                </a:solidFill>
                <a:latin typeface="Times New Roman" panose="02020603050405020304" pitchFamily="18" charset="0"/>
                <a:ea typeface="楷体_GB2312"/>
                <a:cs typeface="Times New Roman" panose="02020603050405020304" pitchFamily="18" charset="0"/>
              </a:rPr>
              <a:t>这里为了简化介绍过程，因此只使用了一层隐藏层。网络使用</a:t>
            </a:r>
            <a:r>
              <a:rPr lang="en-US" altLang="zh-CN" dirty="0">
                <a:solidFill>
                  <a:srgbClr val="000000"/>
                </a:solidFill>
                <a:latin typeface="Times New Roman" panose="02020603050405020304" pitchFamily="18" charset="0"/>
                <a:ea typeface="楷体_GB2312"/>
                <a:cs typeface="Times New Roman" panose="02020603050405020304" pitchFamily="18" charset="0"/>
              </a:rPr>
              <a:t>Sigmoid</a:t>
            </a:r>
            <a:r>
              <a:rPr lang="zh-CN" altLang="zh-CN" dirty="0">
                <a:solidFill>
                  <a:srgbClr val="000000"/>
                </a:solidFill>
                <a:latin typeface="Times New Roman" panose="02020603050405020304" pitchFamily="18" charset="0"/>
                <a:ea typeface="楷体_GB2312"/>
                <a:cs typeface="Times New Roman" panose="02020603050405020304" pitchFamily="18" charset="0"/>
              </a:rPr>
              <a:t>函数作为神经元的</a:t>
            </a:r>
            <a:r>
              <a:rPr lang="zh-CN" altLang="zh-CN" dirty="0">
                <a:solidFill>
                  <a:schemeClr val="accent2"/>
                </a:solidFill>
                <a:latin typeface="Times New Roman" panose="02020603050405020304" pitchFamily="18" charset="0"/>
                <a:ea typeface="楷体_GB2312"/>
                <a:cs typeface="Times New Roman" panose="02020603050405020304" pitchFamily="18" charset="0"/>
              </a:rPr>
              <a:t>激活函数</a:t>
            </a:r>
            <a:r>
              <a:rPr lang="zh-CN" altLang="zh-CN" dirty="0">
                <a:solidFill>
                  <a:srgbClr val="000000"/>
                </a:solidFill>
                <a:latin typeface="Times New Roman" panose="02020603050405020304" pitchFamily="18" charset="0"/>
                <a:ea typeface="楷体_GB2312"/>
                <a:cs typeface="Times New Roman" panose="02020603050405020304" pitchFamily="18" charset="0"/>
              </a:rPr>
              <a:t>，使用</a:t>
            </a:r>
            <a:r>
              <a:rPr lang="zh-CN" altLang="zh-CN" dirty="0">
                <a:solidFill>
                  <a:schemeClr val="accent2"/>
                </a:solidFill>
                <a:latin typeface="Times New Roman" panose="02020603050405020304" pitchFamily="18" charset="0"/>
                <a:ea typeface="楷体_GB2312"/>
                <a:cs typeface="Times New Roman" panose="02020603050405020304" pitchFamily="18" charset="0"/>
              </a:rPr>
              <a:t>均方损失函数</a:t>
            </a:r>
            <a:r>
              <a:rPr lang="zh-CN" altLang="zh-CN" dirty="0">
                <a:solidFill>
                  <a:srgbClr val="000000"/>
                </a:solidFill>
                <a:latin typeface="Times New Roman" panose="02020603050405020304" pitchFamily="18" charset="0"/>
                <a:ea typeface="楷体_GB2312"/>
                <a:cs typeface="Times New Roman" panose="02020603050405020304" pitchFamily="18" charset="0"/>
              </a:rPr>
              <a:t>来计算网络输出值与实际值之间的误差。</a:t>
            </a: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p:txBody>
      </p:sp>
      <p:grpSp>
        <p:nvGrpSpPr>
          <p:cNvPr id="18" name="组合 17">
            <a:extLst>
              <a:ext uri="{FF2B5EF4-FFF2-40B4-BE49-F238E27FC236}">
                <a16:creationId xmlns:a16="http://schemas.microsoft.com/office/drawing/2014/main" id="{299EACBF-5407-4C7B-BDBC-D1EAFFFC88C4}"/>
              </a:ext>
            </a:extLst>
          </p:cNvPr>
          <p:cNvGrpSpPr/>
          <p:nvPr/>
        </p:nvGrpSpPr>
        <p:grpSpPr>
          <a:xfrm>
            <a:off x="6705600" y="2256439"/>
            <a:ext cx="4882165" cy="3041892"/>
            <a:chOff x="6705600" y="2256439"/>
            <a:chExt cx="4882165" cy="3041892"/>
          </a:xfrm>
        </p:grpSpPr>
        <p:pic>
          <p:nvPicPr>
            <p:cNvPr id="6" name="图片 5">
              <a:extLst>
                <a:ext uri="{FF2B5EF4-FFF2-40B4-BE49-F238E27FC236}">
                  <a16:creationId xmlns:a16="http://schemas.microsoft.com/office/drawing/2014/main" id="{98D6148B-616B-45E0-A0EF-DDFC16B4EDD4}"/>
                </a:ext>
              </a:extLst>
            </p:cNvPr>
            <p:cNvPicPr>
              <a:picLocks noChangeAspect="1"/>
            </p:cNvPicPr>
            <p:nvPr/>
          </p:nvPicPr>
          <p:blipFill>
            <a:blip r:embed="rId3"/>
            <a:stretch>
              <a:fillRect/>
            </a:stretch>
          </p:blipFill>
          <p:spPr>
            <a:xfrm>
              <a:off x="6705600" y="2840476"/>
              <a:ext cx="4882165" cy="2457855"/>
            </a:xfrm>
            <a:prstGeom prst="rect">
              <a:avLst/>
            </a:prstGeom>
          </p:spPr>
        </p:pic>
        <p:cxnSp>
          <p:nvCxnSpPr>
            <p:cNvPr id="11" name="直接箭头连接符 10">
              <a:extLst>
                <a:ext uri="{FF2B5EF4-FFF2-40B4-BE49-F238E27FC236}">
                  <a16:creationId xmlns:a16="http://schemas.microsoft.com/office/drawing/2014/main" id="{D5E48028-0127-429B-A663-D8429FFB982F}"/>
                </a:ext>
              </a:extLst>
            </p:cNvPr>
            <p:cNvCxnSpPr/>
            <p:nvPr/>
          </p:nvCxnSpPr>
          <p:spPr>
            <a:xfrm>
              <a:off x="8151778" y="2810542"/>
              <a:ext cx="350196" cy="447472"/>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449CD250-C5A3-48A6-997A-BF6B0E11A54F}"/>
                </a:ext>
              </a:extLst>
            </p:cNvPr>
            <p:cNvSpPr/>
            <p:nvPr/>
          </p:nvSpPr>
          <p:spPr>
            <a:xfrm>
              <a:off x="7494019" y="2256439"/>
              <a:ext cx="1107996" cy="369332"/>
            </a:xfrm>
            <a:prstGeom prst="rect">
              <a:avLst/>
            </a:prstGeom>
          </p:spPr>
          <p:txBody>
            <a:bodyPr wrap="none">
              <a:spAutoFit/>
            </a:bodyPr>
            <a:lstStyle/>
            <a:p>
              <a:r>
                <a:rPr lang="zh-CN" altLang="zh-CN" dirty="0">
                  <a:solidFill>
                    <a:srgbClr val="000000"/>
                  </a:solidFill>
                  <a:latin typeface="Times New Roman" panose="02020603050405020304" pitchFamily="18" charset="0"/>
                  <a:ea typeface="楷体_GB2312"/>
                  <a:cs typeface="Times New Roman" panose="02020603050405020304" pitchFamily="18" charset="0"/>
                </a:rPr>
                <a:t>加权累加</a:t>
              </a:r>
              <a:endParaRPr lang="zh-CN" altLang="en-US" dirty="0"/>
            </a:p>
          </p:txBody>
        </p:sp>
        <p:cxnSp>
          <p:nvCxnSpPr>
            <p:cNvPr id="15" name="直接箭头连接符 14">
              <a:extLst>
                <a:ext uri="{FF2B5EF4-FFF2-40B4-BE49-F238E27FC236}">
                  <a16:creationId xmlns:a16="http://schemas.microsoft.com/office/drawing/2014/main" id="{AB23201D-0FAD-4599-9A39-4205939B8B19}"/>
                </a:ext>
              </a:extLst>
            </p:cNvPr>
            <p:cNvCxnSpPr>
              <a:cxnSpLocks/>
            </p:cNvCxnSpPr>
            <p:nvPr/>
          </p:nvCxnSpPr>
          <p:spPr>
            <a:xfrm flipH="1">
              <a:off x="9020223" y="2748987"/>
              <a:ext cx="252917" cy="468375"/>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F4D256C6-CBB6-4A6B-959C-31D458F3B79A}"/>
                </a:ext>
              </a:extLst>
            </p:cNvPr>
            <p:cNvSpPr/>
            <p:nvPr/>
          </p:nvSpPr>
          <p:spPr>
            <a:xfrm>
              <a:off x="8833193" y="2256439"/>
              <a:ext cx="1338828" cy="369332"/>
            </a:xfrm>
            <a:prstGeom prst="rect">
              <a:avLst/>
            </a:prstGeom>
          </p:spPr>
          <p:txBody>
            <a:bodyPr wrap="non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非线性激活</a:t>
              </a:r>
            </a:p>
          </p:txBody>
        </p:sp>
      </p:gr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0DD9907F-4B8B-5F9F-60C2-6E72EFA2F3CF}"/>
                  </a:ext>
                </a:extLst>
              </p:cNvPr>
              <p:cNvSpPr/>
              <p:nvPr/>
            </p:nvSpPr>
            <p:spPr>
              <a:xfrm>
                <a:off x="278235" y="4131858"/>
                <a:ext cx="6154989" cy="2332946"/>
              </a:xfrm>
              <a:prstGeom prst="rect">
                <a:avLst/>
              </a:prstGeom>
            </p:spPr>
            <p:txBody>
              <a:bodyPr wrap="square">
                <a:spAutoFit/>
              </a:bodyPr>
              <a:lstStyle/>
              <a:p>
                <a:pPr marL="285750" indent="-285750" algn="just">
                  <a:lnSpc>
                    <a:spcPts val="2200"/>
                  </a:lnSpc>
                  <a:spcAft>
                    <a:spcPts val="0"/>
                  </a:spcAft>
                  <a:buFont typeface="Arial" panose="020B0604020202020204" pitchFamily="34" charset="0"/>
                  <a:buChar char="•"/>
                </a:pP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ts val="2200"/>
                  </a:lnSpc>
                  <a:buFont typeface="Arial" panose="020B0604020202020204" pitchFamily="34" charset="0"/>
                  <a:buChar char="•"/>
                </a:pPr>
                <a:r>
                  <a:rPr lang="zh-CN" altLang="zh-CN" dirty="0">
                    <a:solidFill>
                      <a:srgbClr val="000000"/>
                    </a:solidFill>
                    <a:latin typeface="Times New Roman" panose="02020603050405020304" pitchFamily="18" charset="0"/>
                    <a:ea typeface="楷体_GB2312"/>
                    <a:cs typeface="Times New Roman" panose="02020603050405020304" pitchFamily="18" charset="0"/>
                  </a:rPr>
                  <a:t>在图</a:t>
                </a:r>
                <a:r>
                  <a:rPr lang="en-US" altLang="zh-CN" dirty="0">
                    <a:solidFill>
                      <a:srgbClr val="000000"/>
                    </a:solidFill>
                    <a:latin typeface="Times New Roman" panose="02020603050405020304" pitchFamily="18" charset="0"/>
                    <a:ea typeface="楷体_GB2312"/>
                    <a:cs typeface="Times New Roman" panose="02020603050405020304" pitchFamily="18" charset="0"/>
                  </a:rPr>
                  <a:t>5.7</a:t>
                </a:r>
                <a:r>
                  <a:rPr lang="zh-CN" altLang="zh-CN" dirty="0">
                    <a:solidFill>
                      <a:srgbClr val="000000"/>
                    </a:solidFill>
                    <a:latin typeface="Times New Roman" panose="02020603050405020304" pitchFamily="18" charset="0"/>
                    <a:ea typeface="楷体_GB2312"/>
                    <a:cs typeface="Times New Roman" panose="02020603050405020304" pitchFamily="18" charset="0"/>
                  </a:rPr>
                  <a:t>中，每个神经元完成如下两项任务：</a:t>
                </a:r>
                <a:r>
                  <a:rPr lang="en-US" altLang="zh-CN" dirty="0">
                    <a:solidFill>
                      <a:srgbClr val="000000"/>
                    </a:solidFill>
                    <a:latin typeface="Times New Roman" panose="02020603050405020304" pitchFamily="18" charset="0"/>
                    <a:ea typeface="楷体_GB2312"/>
                    <a:cs typeface="Times New Roman" panose="02020603050405020304" pitchFamily="18" charset="0"/>
                  </a:rPr>
                  <a:t>1</a:t>
                </a:r>
                <a:r>
                  <a:rPr lang="zh-CN" altLang="zh-CN" dirty="0">
                    <a:solidFill>
                      <a:srgbClr val="000000"/>
                    </a:solidFill>
                    <a:latin typeface="Times New Roman" panose="02020603050405020304" pitchFamily="18" charset="0"/>
                    <a:ea typeface="楷体_GB2312"/>
                    <a:cs typeface="Times New Roman" panose="02020603050405020304" pitchFamily="18" charset="0"/>
                  </a:rPr>
                  <a:t>）对相邻前序层所传递信息进行线性加权累加；</a:t>
                </a:r>
                <a:r>
                  <a:rPr lang="en-US" altLang="zh-CN" dirty="0">
                    <a:solidFill>
                      <a:srgbClr val="000000"/>
                    </a:solidFill>
                    <a:latin typeface="Times New Roman" panose="02020603050405020304" pitchFamily="18" charset="0"/>
                    <a:ea typeface="楷体_GB2312"/>
                    <a:cs typeface="Times New Roman" panose="02020603050405020304" pitchFamily="18" charset="0"/>
                  </a:rPr>
                  <a:t>2</a:t>
                </a:r>
                <a:r>
                  <a:rPr lang="zh-CN" altLang="zh-CN" dirty="0">
                    <a:solidFill>
                      <a:srgbClr val="000000"/>
                    </a:solidFill>
                    <a:latin typeface="Times New Roman" panose="02020603050405020304" pitchFamily="18" charset="0"/>
                    <a:ea typeface="楷体_GB2312"/>
                    <a:cs typeface="Times New Roman" panose="02020603050405020304" pitchFamily="18" charset="0"/>
                  </a:rPr>
                  <a:t>）对加权累加结果进行非线性变换。假设样本数据输入为</a:t>
                </a:r>
                <a14:m>
                  <m:oMath xmlns:m="http://schemas.openxmlformats.org/officeDocument/2006/math">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a:solidFill>
                              <a:srgbClr val="000000"/>
                            </a:solidFill>
                            <a:latin typeface="Cambria Math" panose="02040503050406030204" pitchFamily="18" charset="0"/>
                            <a:ea typeface="楷体_GB2312"/>
                            <a:cs typeface="Times New Roman" panose="02020603050405020304" pitchFamily="18" charset="0"/>
                          </a:rPr>
                          <m:t>𝑥</m:t>
                        </m:r>
                      </m:e>
                      <m:sub>
                        <m:r>
                          <a:rPr lang="en-US" altLang="zh-CN">
                            <a:solidFill>
                              <a:srgbClr val="000000"/>
                            </a:solidFill>
                            <a:latin typeface="Cambria Math" panose="02040503050406030204" pitchFamily="18" charset="0"/>
                            <a:ea typeface="楷体_GB2312"/>
                            <a:cs typeface="Times New Roman" panose="02020603050405020304" pitchFamily="18" charset="0"/>
                          </a:rPr>
                          <m:t>1</m:t>
                        </m:r>
                      </m:sub>
                    </m:sSub>
                    <m:r>
                      <a:rPr lang="en-US" altLang="zh-CN">
                        <a:solidFill>
                          <a:srgbClr val="000000"/>
                        </a:solidFill>
                        <a:latin typeface="Cambria Math" panose="02040503050406030204" pitchFamily="18" charset="0"/>
                        <a:ea typeface="楷体_GB2312"/>
                        <a:cs typeface="Times New Roman" panose="02020603050405020304" pitchFamily="18" charset="0"/>
                      </a:rPr>
                      <m:t>, </m:t>
                    </m:r>
                    <m:sSub>
                      <m:sSubPr>
                        <m:ctrlPr>
                          <a:rPr lang="zh-CN" altLang="zh-CN"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a:solidFill>
                              <a:srgbClr val="000000"/>
                            </a:solidFill>
                            <a:latin typeface="Cambria Math" panose="02040503050406030204" pitchFamily="18" charset="0"/>
                            <a:ea typeface="楷体_GB2312"/>
                            <a:cs typeface="Times New Roman" panose="02020603050405020304" pitchFamily="18" charset="0"/>
                          </a:rPr>
                          <m:t>𝑥</m:t>
                        </m:r>
                      </m:e>
                      <m:sub>
                        <m:r>
                          <a:rPr lang="en-US" altLang="zh-CN">
                            <a:solidFill>
                              <a:srgbClr val="000000"/>
                            </a:solidFill>
                            <a:latin typeface="Cambria Math" panose="02040503050406030204" pitchFamily="18" charset="0"/>
                            <a:ea typeface="楷体_GB2312"/>
                            <a:cs typeface="Times New Roman" panose="02020603050405020304" pitchFamily="18" charset="0"/>
                          </a:rPr>
                          <m:t>2</m:t>
                        </m:r>
                      </m:sub>
                    </m:sSub>
                    <m:r>
                      <a:rPr lang="en-US" altLang="zh-CN">
                        <a:solidFill>
                          <a:srgbClr val="000000"/>
                        </a:solidFill>
                        <a:latin typeface="Cambria Math" panose="02040503050406030204" pitchFamily="18" charset="0"/>
                        <a:ea typeface="楷体_GB2312"/>
                        <a:cs typeface="Times New Roman" panose="02020603050405020304" pitchFamily="18" charset="0"/>
                      </a:rPr>
                      <m:t>, </m:t>
                    </m:r>
                    <m:sSub>
                      <m:sSubPr>
                        <m:ctrlPr>
                          <a:rPr lang="zh-CN" altLang="zh-CN"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a:solidFill>
                              <a:srgbClr val="000000"/>
                            </a:solidFill>
                            <a:latin typeface="Cambria Math" panose="02040503050406030204" pitchFamily="18" charset="0"/>
                            <a:ea typeface="楷体_GB2312"/>
                            <a:cs typeface="Times New Roman" panose="02020603050405020304" pitchFamily="18" charset="0"/>
                          </a:rPr>
                          <m:t>𝑥</m:t>
                        </m:r>
                      </m:e>
                      <m:sub>
                        <m:r>
                          <a:rPr lang="en-US" altLang="zh-CN">
                            <a:solidFill>
                              <a:srgbClr val="000000"/>
                            </a:solidFill>
                            <a:latin typeface="Cambria Math" panose="02040503050406030204" pitchFamily="18" charset="0"/>
                            <a:ea typeface="楷体_GB2312"/>
                            <a:cs typeface="Times New Roman" panose="02020603050405020304" pitchFamily="18" charset="0"/>
                          </a:rPr>
                          <m:t>3</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，其标注信息为</a:t>
                </a:r>
                <a14:m>
                  <m:oMath xmlns:m="http://schemas.openxmlformats.org/officeDocument/2006/math">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a:solidFill>
                              <a:srgbClr val="000000"/>
                            </a:solidFill>
                            <a:latin typeface="Cambria Math" panose="02040503050406030204" pitchFamily="18" charset="0"/>
                            <a:ea typeface="楷体_GB2312"/>
                            <a:cs typeface="Times New Roman" panose="02020603050405020304" pitchFamily="18" charset="0"/>
                          </a:rPr>
                          <m:t>𝑦</m:t>
                        </m:r>
                      </m:e>
                      <m:sub>
                        <m:r>
                          <a:rPr lang="en-US" altLang="zh-CN">
                            <a:solidFill>
                              <a:srgbClr val="000000"/>
                            </a:solidFill>
                            <a:latin typeface="Cambria Math" panose="02040503050406030204" pitchFamily="18" charset="0"/>
                            <a:ea typeface="楷体_GB2312"/>
                            <a:cs typeface="Times New Roman" panose="02020603050405020304" pitchFamily="18" charset="0"/>
                          </a:rPr>
                          <m:t>1</m:t>
                        </m:r>
                      </m:sub>
                    </m:sSub>
                    <m:r>
                      <a:rPr lang="en-US" altLang="zh-CN">
                        <a:solidFill>
                          <a:srgbClr val="000000"/>
                        </a:solidFill>
                        <a:latin typeface="Cambria Math" panose="02040503050406030204" pitchFamily="18" charset="0"/>
                        <a:ea typeface="楷体_GB2312"/>
                        <a:cs typeface="Times New Roman" panose="02020603050405020304" pitchFamily="18" charset="0"/>
                      </a:rPr>
                      <m:t>, </m:t>
                    </m:r>
                    <m:sSub>
                      <m:sSubPr>
                        <m:ctrlPr>
                          <a:rPr lang="zh-CN" altLang="zh-CN"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a:solidFill>
                              <a:srgbClr val="000000"/>
                            </a:solidFill>
                            <a:latin typeface="Cambria Math" panose="02040503050406030204" pitchFamily="18" charset="0"/>
                            <a:ea typeface="楷体_GB2312"/>
                            <a:cs typeface="Times New Roman" panose="02020603050405020304" pitchFamily="18" charset="0"/>
                          </a:rPr>
                          <m:t>𝑦</m:t>
                        </m:r>
                      </m:e>
                      <m:sub>
                        <m:r>
                          <a:rPr lang="en-US" altLang="zh-CN">
                            <a:solidFill>
                              <a:srgbClr val="000000"/>
                            </a:solidFill>
                            <a:latin typeface="Cambria Math" panose="02040503050406030204" pitchFamily="18" charset="0"/>
                            <a:ea typeface="楷体_GB2312"/>
                            <a:cs typeface="Times New Roman" panose="02020603050405020304" pitchFamily="18" charset="0"/>
                          </a:rPr>
                          <m:t>2</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a:solidFill>
                              <a:srgbClr val="000000"/>
                            </a:solidFill>
                            <a:latin typeface="Cambria Math" panose="02040503050406030204" pitchFamily="18" charset="0"/>
                            <a:ea typeface="楷体_GB2312"/>
                            <a:cs typeface="Times New Roman" panose="02020603050405020304" pitchFamily="18" charset="0"/>
                          </a:rPr>
                          <m:t>𝑦</m:t>
                        </m:r>
                      </m:e>
                      <m:sub>
                        <m:r>
                          <a:rPr lang="en-US" altLang="zh-CN">
                            <a:solidFill>
                              <a:srgbClr val="000000"/>
                            </a:solidFill>
                            <a:latin typeface="Cambria Math" panose="02040503050406030204" pitchFamily="18" charset="0"/>
                            <a:ea typeface="楷体_GB2312"/>
                            <a:cs typeface="Times New Roman" panose="02020603050405020304" pitchFamily="18" charset="0"/>
                          </a:rPr>
                          <m:t>3</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。在三类分类问题中，对于输入数据</a:t>
                </a:r>
                <a14:m>
                  <m:oMath xmlns:m="http://schemas.openxmlformats.org/officeDocument/2006/math">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a:solidFill>
                              <a:srgbClr val="000000"/>
                            </a:solidFill>
                            <a:latin typeface="Cambria Math" panose="02040503050406030204" pitchFamily="18" charset="0"/>
                            <a:ea typeface="楷体_GB2312"/>
                            <a:cs typeface="Times New Roman" panose="02020603050405020304" pitchFamily="18" charset="0"/>
                          </a:rPr>
                          <m:t>𝑥</m:t>
                        </m:r>
                      </m:e>
                      <m:sub>
                        <m:r>
                          <a:rPr lang="en-US" altLang="zh-CN">
                            <a:solidFill>
                              <a:srgbClr val="000000"/>
                            </a:solidFill>
                            <a:latin typeface="Cambria Math" panose="02040503050406030204" pitchFamily="18" charset="0"/>
                            <a:ea typeface="楷体_GB2312"/>
                            <a:cs typeface="Times New Roman" panose="02020603050405020304" pitchFamily="18" charset="0"/>
                          </a:rPr>
                          <m:t>1</m:t>
                        </m:r>
                      </m:sub>
                    </m:sSub>
                    <m:r>
                      <a:rPr lang="en-US" altLang="zh-CN">
                        <a:solidFill>
                          <a:srgbClr val="000000"/>
                        </a:solidFill>
                        <a:latin typeface="Cambria Math" panose="02040503050406030204" pitchFamily="18" charset="0"/>
                        <a:ea typeface="楷体_GB2312"/>
                        <a:cs typeface="Times New Roman" panose="02020603050405020304" pitchFamily="18" charset="0"/>
                      </a:rPr>
                      <m:t>, </m:t>
                    </m:r>
                    <m:sSub>
                      <m:sSubPr>
                        <m:ctrlPr>
                          <a:rPr lang="zh-CN" altLang="zh-CN"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a:solidFill>
                              <a:srgbClr val="000000"/>
                            </a:solidFill>
                            <a:latin typeface="Cambria Math" panose="02040503050406030204" pitchFamily="18" charset="0"/>
                            <a:ea typeface="楷体_GB2312"/>
                            <a:cs typeface="Times New Roman" panose="02020603050405020304" pitchFamily="18" charset="0"/>
                          </a:rPr>
                          <m:t>𝑥</m:t>
                        </m:r>
                      </m:e>
                      <m:sub>
                        <m:r>
                          <a:rPr lang="en-US" altLang="zh-CN">
                            <a:solidFill>
                              <a:srgbClr val="000000"/>
                            </a:solidFill>
                            <a:latin typeface="Cambria Math" panose="02040503050406030204" pitchFamily="18" charset="0"/>
                            <a:ea typeface="楷体_GB2312"/>
                            <a:cs typeface="Times New Roman" panose="02020603050405020304" pitchFamily="18" charset="0"/>
                          </a:rPr>
                          <m:t>2</m:t>
                        </m:r>
                      </m:sub>
                    </m:sSub>
                    <m:r>
                      <a:rPr lang="en-US" altLang="zh-CN">
                        <a:solidFill>
                          <a:srgbClr val="000000"/>
                        </a:solidFill>
                        <a:latin typeface="Cambria Math" panose="02040503050406030204" pitchFamily="18" charset="0"/>
                        <a:ea typeface="楷体_GB2312"/>
                        <a:cs typeface="Times New Roman" panose="02020603050405020304" pitchFamily="18" charset="0"/>
                      </a:rPr>
                      <m:t>, </m:t>
                    </m:r>
                    <m:sSub>
                      <m:sSubPr>
                        <m:ctrlPr>
                          <a:rPr lang="zh-CN" altLang="zh-CN"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a:solidFill>
                              <a:srgbClr val="000000"/>
                            </a:solidFill>
                            <a:latin typeface="Cambria Math" panose="02040503050406030204" pitchFamily="18" charset="0"/>
                            <a:ea typeface="楷体_GB2312"/>
                            <a:cs typeface="Times New Roman" panose="02020603050405020304" pitchFamily="18" charset="0"/>
                          </a:rPr>
                          <m:t>𝑥</m:t>
                        </m:r>
                      </m:e>
                      <m:sub>
                        <m:r>
                          <a:rPr lang="en-US" altLang="zh-CN">
                            <a:solidFill>
                              <a:srgbClr val="000000"/>
                            </a:solidFill>
                            <a:latin typeface="Cambria Math" panose="02040503050406030204" pitchFamily="18" charset="0"/>
                            <a:ea typeface="楷体_GB2312"/>
                            <a:cs typeface="Times New Roman" panose="02020603050405020304" pitchFamily="18" charset="0"/>
                          </a:rPr>
                          <m:t>3</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b>
                      <m:sSubPr>
                        <m:ctrlPr>
                          <a:rPr lang="zh-CN" altLang="zh-CN"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a:solidFill>
                              <a:srgbClr val="000000"/>
                            </a:solidFill>
                            <a:latin typeface="Cambria Math" panose="02040503050406030204" pitchFamily="18" charset="0"/>
                            <a:ea typeface="楷体_GB2312"/>
                            <a:cs typeface="Times New Roman" panose="02020603050405020304" pitchFamily="18" charset="0"/>
                          </a:rPr>
                          <m:t>𝑦</m:t>
                        </m:r>
                      </m:e>
                      <m:sub>
                        <m:r>
                          <a:rPr lang="en-US" altLang="zh-CN">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b>
                      <m:sSubPr>
                        <m:ctrlPr>
                          <a:rPr lang="zh-CN" altLang="zh-CN"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a:solidFill>
                              <a:srgbClr val="000000"/>
                            </a:solidFill>
                            <a:latin typeface="Cambria Math" panose="02040503050406030204" pitchFamily="18" charset="0"/>
                            <a:ea typeface="楷体_GB2312"/>
                            <a:cs typeface="Times New Roman" panose="02020603050405020304" pitchFamily="18" charset="0"/>
                          </a:rPr>
                          <m:t>𝑦</m:t>
                        </m:r>
                      </m:e>
                      <m:sub>
                        <m:r>
                          <a:rPr lang="en-US" altLang="zh-CN">
                            <a:solidFill>
                              <a:srgbClr val="000000"/>
                            </a:solidFill>
                            <a:latin typeface="Cambria Math" panose="02040503050406030204" pitchFamily="18" charset="0"/>
                            <a:ea typeface="楷体_GB2312"/>
                            <a:cs typeface="Times New Roman" panose="02020603050405020304" pitchFamily="18" charset="0"/>
                          </a:rPr>
                          <m:t>2</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sSub>
                      <m:sSubPr>
                        <m:ctrlPr>
                          <a:rPr lang="zh-CN" altLang="zh-CN"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a:solidFill>
                              <a:srgbClr val="000000"/>
                            </a:solidFill>
                            <a:latin typeface="Cambria Math" panose="02040503050406030204" pitchFamily="18" charset="0"/>
                            <a:ea typeface="楷体_GB2312"/>
                            <a:cs typeface="Times New Roman" panose="02020603050405020304" pitchFamily="18" charset="0"/>
                          </a:rPr>
                          <m:t>𝑦</m:t>
                        </m:r>
                      </m:e>
                      <m:sub>
                        <m:r>
                          <a:rPr lang="en-US" altLang="zh-CN">
                            <a:solidFill>
                              <a:srgbClr val="000000"/>
                            </a:solidFill>
                            <a:latin typeface="Cambria Math" panose="02040503050406030204" pitchFamily="18" charset="0"/>
                            <a:ea typeface="楷体_GB2312"/>
                            <a:cs typeface="Times New Roman" panose="02020603050405020304" pitchFamily="18" charset="0"/>
                          </a:rPr>
                          <m:t>3</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中只有一个取值为</a:t>
                </a:r>
                <a:r>
                  <a:rPr lang="en-US" altLang="zh-CN" dirty="0">
                    <a:solidFill>
                      <a:srgbClr val="000000"/>
                    </a:solidFill>
                    <a:latin typeface="Times New Roman" panose="02020603050405020304" pitchFamily="18" charset="0"/>
                    <a:ea typeface="楷体_GB2312"/>
                    <a:cs typeface="Times New Roman" panose="02020603050405020304" pitchFamily="18" charset="0"/>
                  </a:rPr>
                  <a:t>1</a:t>
                </a:r>
                <a:r>
                  <a:rPr lang="zh-CN" altLang="zh-CN" dirty="0">
                    <a:solidFill>
                      <a:srgbClr val="000000"/>
                    </a:solidFill>
                    <a:latin typeface="Times New Roman" panose="02020603050405020304" pitchFamily="18" charset="0"/>
                    <a:ea typeface="楷体_GB2312"/>
                    <a:cs typeface="Times New Roman" panose="02020603050405020304" pitchFamily="18" charset="0"/>
                  </a:rPr>
                  <a:t>、其余两个取值为</a:t>
                </a:r>
                <a:r>
                  <a:rPr lang="en-US" altLang="zh-CN" dirty="0">
                    <a:solidFill>
                      <a:srgbClr val="000000"/>
                    </a:solidFill>
                    <a:latin typeface="Times New Roman" panose="02020603050405020304" pitchFamily="18" charset="0"/>
                    <a:ea typeface="楷体_GB2312"/>
                    <a:cs typeface="Times New Roman" panose="02020603050405020304" pitchFamily="18" charset="0"/>
                  </a:rPr>
                  <a:t>0</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p>
              <a:p>
                <a:pPr indent="266700" algn="just">
                  <a:lnSpc>
                    <a:spcPts val="2200"/>
                  </a:lnSpc>
                  <a:spcAft>
                    <a:spcPts val="0"/>
                  </a:spcAft>
                </a:pP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0DD9907F-4B8B-5F9F-60C2-6E72EFA2F3CF}"/>
                  </a:ext>
                </a:extLst>
              </p:cNvPr>
              <p:cNvSpPr>
                <a:spLocks noRot="1" noChangeAspect="1" noMove="1" noResize="1" noEditPoints="1" noAdjustHandles="1" noChangeArrowheads="1" noChangeShapeType="1" noTextEdit="1"/>
              </p:cNvSpPr>
              <p:nvPr/>
            </p:nvSpPr>
            <p:spPr>
              <a:xfrm>
                <a:off x="278235" y="4131858"/>
                <a:ext cx="6154989" cy="2332946"/>
              </a:xfrm>
              <a:prstGeom prst="rect">
                <a:avLst/>
              </a:prstGeom>
              <a:blipFill>
                <a:blip r:embed="rId4"/>
                <a:stretch>
                  <a:fillRect l="-694" r="-7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87960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神经网络参数优化：误差反向传播与参数更新例子</a:t>
              </a:r>
            </a:p>
          </p:txBody>
        </p:sp>
      </p:grpSp>
      <p:sp>
        <p:nvSpPr>
          <p:cNvPr id="10" name="矩形 9">
            <a:extLst>
              <a:ext uri="{FF2B5EF4-FFF2-40B4-BE49-F238E27FC236}">
                <a16:creationId xmlns:a16="http://schemas.microsoft.com/office/drawing/2014/main" id="{E2657679-6500-443D-8D7B-C7E26AD969D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grpSp>
        <p:nvGrpSpPr>
          <p:cNvPr id="18" name="组合 17">
            <a:extLst>
              <a:ext uri="{FF2B5EF4-FFF2-40B4-BE49-F238E27FC236}">
                <a16:creationId xmlns:a16="http://schemas.microsoft.com/office/drawing/2014/main" id="{299EACBF-5407-4C7B-BDBC-D1EAFFFC88C4}"/>
              </a:ext>
            </a:extLst>
          </p:cNvPr>
          <p:cNvGrpSpPr/>
          <p:nvPr/>
        </p:nvGrpSpPr>
        <p:grpSpPr>
          <a:xfrm>
            <a:off x="6705600" y="2256439"/>
            <a:ext cx="4882165" cy="3041892"/>
            <a:chOff x="6705600" y="2256439"/>
            <a:chExt cx="4882165" cy="3041892"/>
          </a:xfrm>
        </p:grpSpPr>
        <p:pic>
          <p:nvPicPr>
            <p:cNvPr id="6" name="图片 5">
              <a:extLst>
                <a:ext uri="{FF2B5EF4-FFF2-40B4-BE49-F238E27FC236}">
                  <a16:creationId xmlns:a16="http://schemas.microsoft.com/office/drawing/2014/main" id="{98D6148B-616B-45E0-A0EF-DDFC16B4EDD4}"/>
                </a:ext>
              </a:extLst>
            </p:cNvPr>
            <p:cNvPicPr>
              <a:picLocks noChangeAspect="1"/>
            </p:cNvPicPr>
            <p:nvPr/>
          </p:nvPicPr>
          <p:blipFill>
            <a:blip r:embed="rId3"/>
            <a:stretch>
              <a:fillRect/>
            </a:stretch>
          </p:blipFill>
          <p:spPr>
            <a:xfrm>
              <a:off x="6705600" y="2840476"/>
              <a:ext cx="4882165" cy="2457855"/>
            </a:xfrm>
            <a:prstGeom prst="rect">
              <a:avLst/>
            </a:prstGeom>
          </p:spPr>
        </p:pic>
        <p:cxnSp>
          <p:nvCxnSpPr>
            <p:cNvPr id="11" name="直接箭头连接符 10">
              <a:extLst>
                <a:ext uri="{FF2B5EF4-FFF2-40B4-BE49-F238E27FC236}">
                  <a16:creationId xmlns:a16="http://schemas.microsoft.com/office/drawing/2014/main" id="{D5E48028-0127-429B-A663-D8429FFB982F}"/>
                </a:ext>
              </a:extLst>
            </p:cNvPr>
            <p:cNvCxnSpPr/>
            <p:nvPr/>
          </p:nvCxnSpPr>
          <p:spPr>
            <a:xfrm>
              <a:off x="8151778" y="2810542"/>
              <a:ext cx="350196" cy="447472"/>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449CD250-C5A3-48A6-997A-BF6B0E11A54F}"/>
                </a:ext>
              </a:extLst>
            </p:cNvPr>
            <p:cNvSpPr/>
            <p:nvPr/>
          </p:nvSpPr>
          <p:spPr>
            <a:xfrm>
              <a:off x="7494019" y="2256439"/>
              <a:ext cx="1107996" cy="369332"/>
            </a:xfrm>
            <a:prstGeom prst="rect">
              <a:avLst/>
            </a:prstGeom>
          </p:spPr>
          <p:txBody>
            <a:bodyPr wrap="none">
              <a:spAutoFit/>
            </a:bodyPr>
            <a:lstStyle/>
            <a:p>
              <a:r>
                <a:rPr lang="zh-CN" altLang="zh-CN" dirty="0">
                  <a:solidFill>
                    <a:srgbClr val="000000"/>
                  </a:solidFill>
                  <a:latin typeface="Times New Roman" panose="02020603050405020304" pitchFamily="18" charset="0"/>
                  <a:ea typeface="楷体_GB2312"/>
                  <a:cs typeface="Times New Roman" panose="02020603050405020304" pitchFamily="18" charset="0"/>
                </a:rPr>
                <a:t>加权累加</a:t>
              </a:r>
              <a:endParaRPr lang="zh-CN" altLang="en-US" dirty="0"/>
            </a:p>
          </p:txBody>
        </p:sp>
        <p:cxnSp>
          <p:nvCxnSpPr>
            <p:cNvPr id="15" name="直接箭头连接符 14">
              <a:extLst>
                <a:ext uri="{FF2B5EF4-FFF2-40B4-BE49-F238E27FC236}">
                  <a16:creationId xmlns:a16="http://schemas.microsoft.com/office/drawing/2014/main" id="{AB23201D-0FAD-4599-9A39-4205939B8B19}"/>
                </a:ext>
              </a:extLst>
            </p:cNvPr>
            <p:cNvCxnSpPr>
              <a:cxnSpLocks/>
            </p:cNvCxnSpPr>
            <p:nvPr/>
          </p:nvCxnSpPr>
          <p:spPr>
            <a:xfrm flipH="1">
              <a:off x="9020223" y="2748987"/>
              <a:ext cx="252917" cy="468375"/>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F4D256C6-CBB6-4A6B-959C-31D458F3B79A}"/>
                </a:ext>
              </a:extLst>
            </p:cNvPr>
            <p:cNvSpPr/>
            <p:nvPr/>
          </p:nvSpPr>
          <p:spPr>
            <a:xfrm>
              <a:off x="8833193" y="2256439"/>
              <a:ext cx="1338828" cy="369332"/>
            </a:xfrm>
            <a:prstGeom prst="rect">
              <a:avLst/>
            </a:prstGeom>
          </p:spPr>
          <p:txBody>
            <a:bodyPr wrap="non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非线性激活</a:t>
              </a:r>
            </a:p>
          </p:txBody>
        </p:sp>
      </p:grpSp>
      <p:pic>
        <p:nvPicPr>
          <p:cNvPr id="7" name="图片 6">
            <a:extLst>
              <a:ext uri="{FF2B5EF4-FFF2-40B4-BE49-F238E27FC236}">
                <a16:creationId xmlns:a16="http://schemas.microsoft.com/office/drawing/2014/main" id="{02BC5ED8-2EDA-4789-9F54-CE8821D72800}"/>
              </a:ext>
            </a:extLst>
          </p:cNvPr>
          <p:cNvPicPr>
            <a:picLocks noChangeAspect="1"/>
          </p:cNvPicPr>
          <p:nvPr/>
        </p:nvPicPr>
        <p:blipFill>
          <a:blip r:embed="rId4"/>
          <a:stretch>
            <a:fillRect/>
          </a:stretch>
        </p:blipFill>
        <p:spPr>
          <a:xfrm>
            <a:off x="682588" y="2256439"/>
            <a:ext cx="5413411" cy="3256383"/>
          </a:xfrm>
          <a:prstGeom prst="rect">
            <a:avLst/>
          </a:prstGeom>
        </p:spPr>
      </p:pic>
    </p:spTree>
    <p:extLst>
      <p:ext uri="{BB962C8B-B14F-4D97-AF65-F5344CB8AC3E}">
        <p14:creationId xmlns:p14="http://schemas.microsoft.com/office/powerpoint/2010/main" val="495651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神经网络参数优化：误差反向传播与参数更新例子</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计算误差</a:t>
              </a:r>
            </a:p>
          </p:txBody>
        </p:sp>
      </p:grpSp>
      <p:sp>
        <p:nvSpPr>
          <p:cNvPr id="10" name="矩形 9">
            <a:extLst>
              <a:ext uri="{FF2B5EF4-FFF2-40B4-BE49-F238E27FC236}">
                <a16:creationId xmlns:a16="http://schemas.microsoft.com/office/drawing/2014/main" id="{E2657679-6500-443D-8D7B-C7E26AD969D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grpSp>
        <p:nvGrpSpPr>
          <p:cNvPr id="18" name="组合 17">
            <a:extLst>
              <a:ext uri="{FF2B5EF4-FFF2-40B4-BE49-F238E27FC236}">
                <a16:creationId xmlns:a16="http://schemas.microsoft.com/office/drawing/2014/main" id="{299EACBF-5407-4C7B-BDBC-D1EAFFFC88C4}"/>
              </a:ext>
            </a:extLst>
          </p:cNvPr>
          <p:cNvGrpSpPr/>
          <p:nvPr/>
        </p:nvGrpSpPr>
        <p:grpSpPr>
          <a:xfrm>
            <a:off x="6640749" y="2347230"/>
            <a:ext cx="4882165" cy="3041892"/>
            <a:chOff x="6705600" y="2256439"/>
            <a:chExt cx="4882165" cy="3041892"/>
          </a:xfrm>
        </p:grpSpPr>
        <p:pic>
          <p:nvPicPr>
            <p:cNvPr id="6" name="图片 5">
              <a:extLst>
                <a:ext uri="{FF2B5EF4-FFF2-40B4-BE49-F238E27FC236}">
                  <a16:creationId xmlns:a16="http://schemas.microsoft.com/office/drawing/2014/main" id="{98D6148B-616B-45E0-A0EF-DDFC16B4EDD4}"/>
                </a:ext>
              </a:extLst>
            </p:cNvPr>
            <p:cNvPicPr>
              <a:picLocks noChangeAspect="1"/>
            </p:cNvPicPr>
            <p:nvPr/>
          </p:nvPicPr>
          <p:blipFill>
            <a:blip r:embed="rId3"/>
            <a:stretch>
              <a:fillRect/>
            </a:stretch>
          </p:blipFill>
          <p:spPr>
            <a:xfrm>
              <a:off x="6705600" y="2840476"/>
              <a:ext cx="4882165" cy="2457855"/>
            </a:xfrm>
            <a:prstGeom prst="rect">
              <a:avLst/>
            </a:prstGeom>
          </p:spPr>
        </p:pic>
        <p:cxnSp>
          <p:nvCxnSpPr>
            <p:cNvPr id="11" name="直接箭头连接符 10">
              <a:extLst>
                <a:ext uri="{FF2B5EF4-FFF2-40B4-BE49-F238E27FC236}">
                  <a16:creationId xmlns:a16="http://schemas.microsoft.com/office/drawing/2014/main" id="{D5E48028-0127-429B-A663-D8429FFB982F}"/>
                </a:ext>
              </a:extLst>
            </p:cNvPr>
            <p:cNvCxnSpPr/>
            <p:nvPr/>
          </p:nvCxnSpPr>
          <p:spPr>
            <a:xfrm>
              <a:off x="8151778" y="2810542"/>
              <a:ext cx="350196" cy="447472"/>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449CD250-C5A3-48A6-997A-BF6B0E11A54F}"/>
                </a:ext>
              </a:extLst>
            </p:cNvPr>
            <p:cNvSpPr/>
            <p:nvPr/>
          </p:nvSpPr>
          <p:spPr>
            <a:xfrm>
              <a:off x="7494019" y="2256439"/>
              <a:ext cx="1107996" cy="369332"/>
            </a:xfrm>
            <a:prstGeom prst="rect">
              <a:avLst/>
            </a:prstGeom>
          </p:spPr>
          <p:txBody>
            <a:bodyPr wrap="none">
              <a:spAutoFit/>
            </a:bodyPr>
            <a:lstStyle/>
            <a:p>
              <a:r>
                <a:rPr lang="zh-CN" altLang="zh-CN" dirty="0">
                  <a:solidFill>
                    <a:srgbClr val="000000"/>
                  </a:solidFill>
                  <a:latin typeface="Times New Roman" panose="02020603050405020304" pitchFamily="18" charset="0"/>
                  <a:ea typeface="楷体_GB2312"/>
                  <a:cs typeface="Times New Roman" panose="02020603050405020304" pitchFamily="18" charset="0"/>
                </a:rPr>
                <a:t>加权累加</a:t>
              </a:r>
              <a:endParaRPr lang="zh-CN" altLang="en-US" dirty="0"/>
            </a:p>
          </p:txBody>
        </p:sp>
        <p:cxnSp>
          <p:nvCxnSpPr>
            <p:cNvPr id="15" name="直接箭头连接符 14">
              <a:extLst>
                <a:ext uri="{FF2B5EF4-FFF2-40B4-BE49-F238E27FC236}">
                  <a16:creationId xmlns:a16="http://schemas.microsoft.com/office/drawing/2014/main" id="{AB23201D-0FAD-4599-9A39-4205939B8B19}"/>
                </a:ext>
              </a:extLst>
            </p:cNvPr>
            <p:cNvCxnSpPr>
              <a:cxnSpLocks/>
            </p:cNvCxnSpPr>
            <p:nvPr/>
          </p:nvCxnSpPr>
          <p:spPr>
            <a:xfrm flipH="1">
              <a:off x="9020223" y="2748987"/>
              <a:ext cx="252917" cy="468375"/>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F4D256C6-CBB6-4A6B-959C-31D458F3B79A}"/>
                </a:ext>
              </a:extLst>
            </p:cNvPr>
            <p:cNvSpPr/>
            <p:nvPr/>
          </p:nvSpPr>
          <p:spPr>
            <a:xfrm>
              <a:off x="8833193" y="2256439"/>
              <a:ext cx="1338828" cy="369332"/>
            </a:xfrm>
            <a:prstGeom prst="rect">
              <a:avLst/>
            </a:prstGeom>
          </p:spPr>
          <p:txBody>
            <a:bodyPr wrap="non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非线性激活</a:t>
              </a:r>
            </a:p>
          </p:txBody>
        </p:sp>
      </p:gr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BAABF3EE-4163-49F1-9F79-267B77B0C893}"/>
                  </a:ext>
                </a:extLst>
              </p:cNvPr>
              <p:cNvSpPr/>
              <p:nvPr/>
            </p:nvSpPr>
            <p:spPr>
              <a:xfrm>
                <a:off x="201599" y="2105588"/>
                <a:ext cx="6096000" cy="2051908"/>
              </a:xfrm>
              <a:prstGeom prst="rect">
                <a:avLst/>
              </a:prstGeom>
            </p:spPr>
            <p:txBody>
              <a:bodyPr>
                <a:spAutoFit/>
              </a:bodyPr>
              <a:lstStyle/>
              <a:p>
                <a:pPr marL="285750" indent="-285750" algn="just">
                  <a:lnSpc>
                    <a:spcPct val="150000"/>
                  </a:lnSpc>
                  <a:spcAft>
                    <a:spcPts val="0"/>
                  </a:spcAft>
                  <a:buFont typeface="Wingdings" panose="05000000000000000000" pitchFamily="2" charset="2"/>
                  <a:buChar char="l"/>
                </a:pP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一旦神经网络在当前参数下给出了预测结果</a:t>
                </a:r>
                <a14:m>
                  <m:oMath xmlns:m="http://schemas.openxmlformats.org/officeDocument/2006/math">
                    <m:r>
                      <a:rPr lang="en-US" altLang="zh-CN">
                        <a:solidFill>
                          <a:srgbClr val="000000"/>
                        </a:solidFill>
                        <a:latin typeface="Cambria Math" panose="02040503050406030204" pitchFamily="18" charset="0"/>
                        <a:ea typeface="楷体_GB2312"/>
                        <a:cs typeface="Times New Roman" panose="02020603050405020304" pitchFamily="18" charset="0"/>
                      </a:rPr>
                      <m:t> (</m:t>
                    </m:r>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a:solidFill>
                                  <a:srgbClr val="000000"/>
                                </a:solidFill>
                                <a:latin typeface="Cambria Math" panose="02040503050406030204" pitchFamily="18" charset="0"/>
                                <a:ea typeface="楷体_GB2312"/>
                                <a:cs typeface="Times New Roman" panose="02020603050405020304" pitchFamily="18" charset="0"/>
                              </a:rPr>
                              <m:t>1</m:t>
                            </m:r>
                          </m:sub>
                        </m:sSub>
                      </m:e>
                    </m:acc>
                    <m:r>
                      <a:rPr lang="en-US" altLang="zh-CN">
                        <a:solidFill>
                          <a:srgbClr val="000000"/>
                        </a:solidFill>
                        <a:latin typeface="Cambria Math" panose="02040503050406030204" pitchFamily="18" charset="0"/>
                        <a:ea typeface="楷体_GB2312"/>
                        <a:cs typeface="Times New Roman" panose="02020603050405020304" pitchFamily="18" charset="0"/>
                      </a:rPr>
                      <m:t>,</m:t>
                    </m:r>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a:solidFill>
                                  <a:srgbClr val="000000"/>
                                </a:solidFill>
                                <a:latin typeface="Cambria Math" panose="02040503050406030204" pitchFamily="18" charset="0"/>
                                <a:ea typeface="楷体_GB2312"/>
                                <a:cs typeface="Times New Roman" panose="02020603050405020304" pitchFamily="18" charset="0"/>
                              </a:rPr>
                              <m:t>2</m:t>
                            </m:r>
                          </m:sub>
                        </m:sSub>
                      </m:e>
                    </m:acc>
                    <m:r>
                      <a:rPr lang="en-US" altLang="zh-CN">
                        <a:solidFill>
                          <a:srgbClr val="000000"/>
                        </a:solidFill>
                        <a:latin typeface="Cambria Math" panose="02040503050406030204" pitchFamily="18" charset="0"/>
                        <a:ea typeface="楷体_GB2312"/>
                        <a:cs typeface="Times New Roman" panose="02020603050405020304" pitchFamily="18" charset="0"/>
                      </a:rPr>
                      <m:t>,</m:t>
                    </m:r>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a:solidFill>
                                  <a:srgbClr val="000000"/>
                                </a:solidFill>
                                <a:latin typeface="Cambria Math" panose="02040503050406030204" pitchFamily="18" charset="0"/>
                                <a:ea typeface="楷体_GB2312"/>
                                <a:cs typeface="Times New Roman" panose="02020603050405020304" pitchFamily="18" charset="0"/>
                              </a:rPr>
                              <m:t>3</m:t>
                            </m:r>
                          </m:sub>
                        </m:sSub>
                      </m:e>
                    </m:acc>
                    <m:r>
                      <a:rPr lang="en-US" altLang="zh-CN">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后，通过均方误差损失函数来计算模型预测值与真实值</a:t>
                </a:r>
                <a14:m>
                  <m:oMath xmlns:m="http://schemas.openxmlformats.org/officeDocument/2006/math">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a:solidFill>
                              <a:srgbClr val="000000"/>
                            </a:solidFill>
                            <a:latin typeface="Cambria Math" panose="02040503050406030204" pitchFamily="18" charset="0"/>
                            <a:ea typeface="楷体_GB2312"/>
                            <a:cs typeface="Times New Roman" panose="02020603050405020304" pitchFamily="18" charset="0"/>
                          </a:rPr>
                          <m:t>1</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a:solidFill>
                              <a:srgbClr val="000000"/>
                            </a:solidFill>
                            <a:latin typeface="Cambria Math" panose="02040503050406030204" pitchFamily="18" charset="0"/>
                            <a:ea typeface="楷体_GB2312"/>
                            <a:cs typeface="Times New Roman" panose="02020603050405020304" pitchFamily="18" charset="0"/>
                          </a:rPr>
                          <m:t>2</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a:solidFill>
                              <a:srgbClr val="000000"/>
                            </a:solidFill>
                            <a:latin typeface="Cambria Math" panose="02040503050406030204" pitchFamily="18" charset="0"/>
                            <a:ea typeface="楷体_GB2312"/>
                            <a:cs typeface="Times New Roman" panose="02020603050405020304" pitchFamily="18" charset="0"/>
                          </a:rPr>
                          <m:t>3</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之间误差，记为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𝑙𝑜𝑠𝑠</m:t>
                    </m:r>
                    <m:r>
                      <a:rPr lang="en-US" altLang="zh-CN">
                        <a:solidFill>
                          <a:srgbClr val="000000"/>
                        </a:solidFill>
                        <a:latin typeface="Cambria Math" panose="02040503050406030204" pitchFamily="18" charset="0"/>
                        <a:ea typeface="楷体_GB2312"/>
                        <a:cs typeface="Times New Roman" panose="02020603050405020304" pitchFamily="18" charset="0"/>
                      </a:rPr>
                      <m:t>=</m:t>
                    </m:r>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latin typeface="Cambria Math" panose="02040503050406030204" pitchFamily="18" charset="0"/>
                            <a:ea typeface="楷体_GB2312"/>
                            <a:cs typeface="Times New Roman" panose="02020603050405020304" pitchFamily="18" charset="0"/>
                          </a:rPr>
                          <m:t>1</m:t>
                        </m:r>
                      </m:num>
                      <m:den>
                        <m:r>
                          <a:rPr lang="en-US" altLang="zh-CN">
                            <a:solidFill>
                              <a:srgbClr val="000000"/>
                            </a:solidFill>
                            <a:latin typeface="Cambria Math" panose="02040503050406030204" pitchFamily="18" charset="0"/>
                            <a:ea typeface="楷体_GB2312"/>
                            <a:cs typeface="Times New Roman" panose="02020603050405020304" pitchFamily="18" charset="0"/>
                          </a:rPr>
                          <m:t>3</m:t>
                        </m:r>
                      </m:den>
                    </m:f>
                    <m:nary>
                      <m:naryPr>
                        <m:chr m:val="∑"/>
                        <m:limLoc m:val="subSup"/>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solidFill>
                              <a:srgbClr val="000000"/>
                            </a:solidFill>
                            <a:latin typeface="Cambria Math" panose="02040503050406030204" pitchFamily="18" charset="0"/>
                            <a:ea typeface="楷体_GB2312"/>
                            <a:cs typeface="Times New Roman" panose="02020603050405020304" pitchFamily="18" charset="0"/>
                          </a:rPr>
                          <m:t>𝑖</m:t>
                        </m:r>
                        <m:r>
                          <a:rPr lang="en-US" altLang="zh-CN">
                            <a:solidFill>
                              <a:srgbClr val="000000"/>
                            </a:solidFill>
                            <a:latin typeface="Cambria Math" panose="02040503050406030204" pitchFamily="18" charset="0"/>
                            <a:ea typeface="楷体_GB2312"/>
                            <a:cs typeface="Times New Roman" panose="02020603050405020304" pitchFamily="18" charset="0"/>
                          </a:rPr>
                          <m:t>=1</m:t>
                        </m:r>
                      </m:sub>
                      <m:sup>
                        <m:r>
                          <a:rPr lang="en-US" altLang="zh-CN">
                            <a:solidFill>
                              <a:srgbClr val="000000"/>
                            </a:solidFill>
                            <a:latin typeface="Cambria Math" panose="02040503050406030204" pitchFamily="18" charset="0"/>
                            <a:ea typeface="楷体_GB2312"/>
                            <a:cs typeface="Times New Roman" panose="02020603050405020304" pitchFamily="18" charset="0"/>
                          </a:rPr>
                          <m:t>3</m:t>
                        </m:r>
                      </m:sup>
                      <m:e>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acc>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e>
                          <m:sup>
                            <m:r>
                              <a:rPr lang="en-US" altLang="zh-CN">
                                <a:solidFill>
                                  <a:srgbClr val="000000"/>
                                </a:solidFill>
                                <a:latin typeface="Cambria Math" panose="02040503050406030204" pitchFamily="18" charset="0"/>
                                <a:ea typeface="楷体_GB2312"/>
                                <a:cs typeface="Times New Roman" panose="02020603050405020304" pitchFamily="18" charset="0"/>
                              </a:rPr>
                              <m:t>2</m:t>
                            </m:r>
                          </m:sup>
                        </m:sSup>
                      </m:e>
                    </m:nary>
                  </m:oMath>
                </a14:m>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记损失函数为</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ℒ</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𝑤</m:t>
                    </m:r>
                    <m:r>
                      <a:rPr lang="en-US" altLang="zh-CN"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dirty="0">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ℒ</m:t>
                    </m:r>
                    <m:d>
                      <m:d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ea typeface="等线" panose="02010600030101010101" pitchFamily="2" charset="-122"/>
                            <a:cs typeface="Times New Roman" panose="02020603050405020304" pitchFamily="18" charset="0"/>
                          </a:rPr>
                          <m:t>𝑤</m:t>
                        </m:r>
                      </m:e>
                    </m:d>
                    <m:r>
                      <a:rPr lang="en-US" altLang="zh-CN" i="1">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i="1">
                            <a:latin typeface="Cambria Math" panose="02040503050406030204" pitchFamily="18" charset="0"/>
                            <a:ea typeface="等线" panose="02010600030101010101" pitchFamily="2" charset="-122"/>
                            <a:cs typeface="Times New Roman" panose="02020603050405020304" pitchFamily="18" charset="0"/>
                          </a:rPr>
                          <m:t>3</m:t>
                        </m:r>
                      </m:den>
                    </m:f>
                    <m:nary>
                      <m:naryPr>
                        <m:chr m:val="∑"/>
                        <m:limLoc m:val="subSup"/>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a:latin typeface="Cambria Math" panose="02040503050406030204" pitchFamily="18" charset="0"/>
                            <a:ea typeface="等线" panose="02010600030101010101" pitchFamily="2" charset="-122"/>
                            <a:cs typeface="Times New Roman" panose="02020603050405020304" pitchFamily="18" charset="0"/>
                          </a:rPr>
                          <m:t>𝑖</m:t>
                        </m:r>
                        <m:r>
                          <a:rPr lang="en-US" altLang="zh-CN" i="1">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i="1">
                            <a:latin typeface="Cambria Math" panose="02040503050406030204" pitchFamily="18" charset="0"/>
                            <a:ea typeface="等线" panose="02010600030101010101" pitchFamily="2" charset="-122"/>
                            <a:cs typeface="Times New Roman" panose="02020603050405020304" pitchFamily="18" charset="0"/>
                          </a:rPr>
                          <m:t>3</m:t>
                        </m:r>
                      </m:sup>
                      <m:e>
                        <m:sSup>
                          <m:sSup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a:latin typeface="Cambria Math" panose="02040503050406030204" pitchFamily="18" charset="0"/>
                                        <a:ea typeface="等线" panose="02010600030101010101" pitchFamily="2" charset="-122"/>
                                        <a:cs typeface="Times New Roman" panose="02020603050405020304" pitchFamily="18" charset="0"/>
                                      </a:rPr>
                                      <m:t>𝑦</m:t>
                                    </m:r>
                                  </m:e>
                                </m:acc>
                              </m:e>
                              <m:sub>
                                <m:r>
                                  <a:rPr lang="en-US" altLang="zh-CN" i="1">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i="1">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i="1">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i="1">
                                <a:latin typeface="Cambria Math" panose="02040503050406030204" pitchFamily="18" charset="0"/>
                                <a:ea typeface="等线" panose="02010600030101010101" pitchFamily="2" charset="-122"/>
                                <a:cs typeface="Times New Roman" panose="02020603050405020304" pitchFamily="18" charset="0"/>
                              </a:rPr>
                              <m:t>)</m:t>
                            </m:r>
                          </m:e>
                          <m:sup>
                            <m:r>
                              <a:rPr lang="en-US" altLang="zh-CN" i="1">
                                <a:latin typeface="Cambria Math" panose="02040503050406030204" pitchFamily="18" charset="0"/>
                                <a:ea typeface="等线" panose="02010600030101010101" pitchFamily="2" charset="-122"/>
                                <a:cs typeface="Times New Roman" panose="02020603050405020304" pitchFamily="18" charset="0"/>
                              </a:rPr>
                              <m:t>2</m:t>
                            </m:r>
                          </m:sup>
                        </m:sSup>
                      </m:e>
                    </m:nary>
                  </m:oMath>
                </a14:m>
                <a:r>
                  <a:rPr lang="zh-CN" altLang="zh-CN"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BAABF3EE-4163-49F1-9F79-267B77B0C893}"/>
                  </a:ext>
                </a:extLst>
              </p:cNvPr>
              <p:cNvSpPr>
                <a:spLocks noRot="1" noChangeAspect="1" noMove="1" noResize="1" noEditPoints="1" noAdjustHandles="1" noChangeArrowheads="1" noChangeShapeType="1" noTextEdit="1"/>
              </p:cNvSpPr>
              <p:nvPr/>
            </p:nvSpPr>
            <p:spPr>
              <a:xfrm>
                <a:off x="201599" y="2105588"/>
                <a:ext cx="6096000" cy="2051908"/>
              </a:xfrm>
              <a:prstGeom prst="rect">
                <a:avLst/>
              </a:prstGeom>
              <a:blipFill>
                <a:blip r:embed="rId4"/>
                <a:stretch>
                  <a:fillRect l="-600" r="-9200" b="-29674"/>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D7EF2EC7-5649-588A-9868-E3644BDDB8FC}"/>
              </a:ext>
            </a:extLst>
          </p:cNvPr>
          <p:cNvSpPr/>
          <p:nvPr/>
        </p:nvSpPr>
        <p:spPr>
          <a:xfrm>
            <a:off x="201599" y="4182038"/>
            <a:ext cx="6096000" cy="1289905"/>
          </a:xfrm>
          <a:prstGeom prst="rect">
            <a:avLst/>
          </a:prstGeom>
        </p:spPr>
        <p:txBody>
          <a:bodyPr>
            <a:spAutoFit/>
          </a:bodyPr>
          <a:lstStyle/>
          <a:p>
            <a:pPr marL="285750" indent="-285750" algn="just">
              <a:lnSpc>
                <a:spcPct val="150000"/>
              </a:lnSpc>
              <a:buFont typeface="Wingdings" panose="05000000000000000000" pitchFamily="2" charset="2"/>
              <a:buChar char="l"/>
            </a:pP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接下来通过梯度下降和误差反向传播方法，沿着损失函数梯度的反方向来更改参数变量取值，使得损失函数快速下降到其最小值。</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01823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神经网络参数优化：误差反向传播与参数更新例子</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计算误差</a:t>
              </a:r>
            </a:p>
          </p:txBody>
        </p:sp>
      </p:grpSp>
      <p:sp>
        <p:nvSpPr>
          <p:cNvPr id="10" name="矩形 9">
            <a:extLst>
              <a:ext uri="{FF2B5EF4-FFF2-40B4-BE49-F238E27FC236}">
                <a16:creationId xmlns:a16="http://schemas.microsoft.com/office/drawing/2014/main" id="{E2657679-6500-443D-8D7B-C7E26AD969D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grpSp>
        <p:nvGrpSpPr>
          <p:cNvPr id="18" name="组合 17">
            <a:extLst>
              <a:ext uri="{FF2B5EF4-FFF2-40B4-BE49-F238E27FC236}">
                <a16:creationId xmlns:a16="http://schemas.microsoft.com/office/drawing/2014/main" id="{299EACBF-5407-4C7B-BDBC-D1EAFFFC88C4}"/>
              </a:ext>
            </a:extLst>
          </p:cNvPr>
          <p:cNvGrpSpPr/>
          <p:nvPr/>
        </p:nvGrpSpPr>
        <p:grpSpPr>
          <a:xfrm>
            <a:off x="6516924" y="1830927"/>
            <a:ext cx="4882165" cy="3041892"/>
            <a:chOff x="6705600" y="2256439"/>
            <a:chExt cx="4882165" cy="3041892"/>
          </a:xfrm>
        </p:grpSpPr>
        <p:pic>
          <p:nvPicPr>
            <p:cNvPr id="6" name="图片 5">
              <a:extLst>
                <a:ext uri="{FF2B5EF4-FFF2-40B4-BE49-F238E27FC236}">
                  <a16:creationId xmlns:a16="http://schemas.microsoft.com/office/drawing/2014/main" id="{98D6148B-616B-45E0-A0EF-DDFC16B4EDD4}"/>
                </a:ext>
              </a:extLst>
            </p:cNvPr>
            <p:cNvPicPr>
              <a:picLocks noChangeAspect="1"/>
            </p:cNvPicPr>
            <p:nvPr/>
          </p:nvPicPr>
          <p:blipFill>
            <a:blip r:embed="rId3"/>
            <a:stretch>
              <a:fillRect/>
            </a:stretch>
          </p:blipFill>
          <p:spPr>
            <a:xfrm>
              <a:off x="6705600" y="2840476"/>
              <a:ext cx="4882165" cy="2457855"/>
            </a:xfrm>
            <a:prstGeom prst="rect">
              <a:avLst/>
            </a:prstGeom>
          </p:spPr>
        </p:pic>
        <p:cxnSp>
          <p:nvCxnSpPr>
            <p:cNvPr id="11" name="直接箭头连接符 10">
              <a:extLst>
                <a:ext uri="{FF2B5EF4-FFF2-40B4-BE49-F238E27FC236}">
                  <a16:creationId xmlns:a16="http://schemas.microsoft.com/office/drawing/2014/main" id="{D5E48028-0127-429B-A663-D8429FFB982F}"/>
                </a:ext>
              </a:extLst>
            </p:cNvPr>
            <p:cNvCxnSpPr/>
            <p:nvPr/>
          </p:nvCxnSpPr>
          <p:spPr>
            <a:xfrm>
              <a:off x="8151778" y="2810542"/>
              <a:ext cx="350196" cy="447472"/>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449CD250-C5A3-48A6-997A-BF6B0E11A54F}"/>
                </a:ext>
              </a:extLst>
            </p:cNvPr>
            <p:cNvSpPr/>
            <p:nvPr/>
          </p:nvSpPr>
          <p:spPr>
            <a:xfrm>
              <a:off x="7494019" y="2256439"/>
              <a:ext cx="1107996" cy="369332"/>
            </a:xfrm>
            <a:prstGeom prst="rect">
              <a:avLst/>
            </a:prstGeom>
          </p:spPr>
          <p:txBody>
            <a:bodyPr wrap="none">
              <a:spAutoFit/>
            </a:bodyPr>
            <a:lstStyle/>
            <a:p>
              <a:r>
                <a:rPr lang="zh-CN" altLang="zh-CN" dirty="0">
                  <a:solidFill>
                    <a:srgbClr val="000000"/>
                  </a:solidFill>
                  <a:latin typeface="Times New Roman" panose="02020603050405020304" pitchFamily="18" charset="0"/>
                  <a:ea typeface="楷体_GB2312"/>
                  <a:cs typeface="Times New Roman" panose="02020603050405020304" pitchFamily="18" charset="0"/>
                </a:rPr>
                <a:t>加权累加</a:t>
              </a:r>
              <a:endParaRPr lang="zh-CN" altLang="en-US" dirty="0"/>
            </a:p>
          </p:txBody>
        </p:sp>
        <p:cxnSp>
          <p:nvCxnSpPr>
            <p:cNvPr id="15" name="直接箭头连接符 14">
              <a:extLst>
                <a:ext uri="{FF2B5EF4-FFF2-40B4-BE49-F238E27FC236}">
                  <a16:creationId xmlns:a16="http://schemas.microsoft.com/office/drawing/2014/main" id="{AB23201D-0FAD-4599-9A39-4205939B8B19}"/>
                </a:ext>
              </a:extLst>
            </p:cNvPr>
            <p:cNvCxnSpPr>
              <a:cxnSpLocks/>
            </p:cNvCxnSpPr>
            <p:nvPr/>
          </p:nvCxnSpPr>
          <p:spPr>
            <a:xfrm flipH="1">
              <a:off x="9020223" y="2748987"/>
              <a:ext cx="252917" cy="468375"/>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F4D256C6-CBB6-4A6B-959C-31D458F3B79A}"/>
                </a:ext>
              </a:extLst>
            </p:cNvPr>
            <p:cNvSpPr/>
            <p:nvPr/>
          </p:nvSpPr>
          <p:spPr>
            <a:xfrm>
              <a:off x="8833193" y="2256439"/>
              <a:ext cx="1338828" cy="369332"/>
            </a:xfrm>
            <a:prstGeom prst="rect">
              <a:avLst/>
            </a:prstGeom>
          </p:spPr>
          <p:txBody>
            <a:bodyPr wrap="non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非线性激活</a:t>
              </a:r>
            </a:p>
          </p:txBody>
        </p:sp>
      </p:gr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C36B45BA-CAAC-4FCB-ABE8-8CDA73E17DDE}"/>
                  </a:ext>
                </a:extLst>
              </p:cNvPr>
              <p:cNvSpPr/>
              <p:nvPr/>
            </p:nvSpPr>
            <p:spPr>
              <a:xfrm>
                <a:off x="715912" y="1772019"/>
                <a:ext cx="4560416" cy="483722"/>
              </a:xfrm>
              <a:prstGeom prst="rect">
                <a:avLst/>
              </a:prstGeom>
            </p:spPr>
            <p:txBody>
              <a:bodyPr wrap="none">
                <a:spAutoFit/>
              </a:bodyPr>
              <a:lstStyle/>
              <a:p>
                <a:pPr indent="266700" algn="just">
                  <a:lnSpc>
                    <a:spcPts val="35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损失函数</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ℒ</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对参数</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i="1">
                            <a:solidFill>
                              <a:srgbClr val="000000"/>
                            </a:solidFill>
                            <a:latin typeface="Cambria Math" panose="02040503050406030204" pitchFamily="18" charset="0"/>
                            <a:ea typeface="楷体_GB2312"/>
                            <a:cs typeface="Times New Roman" panose="02020603050405020304" pitchFamily="18" charset="0"/>
                          </a:rPr>
                          <m:t>7</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的偏导可如下计算：</a:t>
                </a:r>
              </a:p>
            </p:txBody>
          </p:sp>
        </mc:Choice>
        <mc:Fallback xmlns="">
          <p:sp>
            <p:nvSpPr>
              <p:cNvPr id="7" name="矩形 6">
                <a:extLst>
                  <a:ext uri="{FF2B5EF4-FFF2-40B4-BE49-F238E27FC236}">
                    <a16:creationId xmlns:a16="http://schemas.microsoft.com/office/drawing/2014/main" id="{C36B45BA-CAAC-4FCB-ABE8-8CDA73E17DDE}"/>
                  </a:ext>
                </a:extLst>
              </p:cNvPr>
              <p:cNvSpPr>
                <a:spLocks noRot="1" noChangeAspect="1" noMove="1" noResize="1" noEditPoints="1" noAdjustHandles="1" noChangeArrowheads="1" noChangeShapeType="1" noTextEdit="1"/>
              </p:cNvSpPr>
              <p:nvPr/>
            </p:nvSpPr>
            <p:spPr>
              <a:xfrm>
                <a:off x="715912" y="1772019"/>
                <a:ext cx="4560416" cy="483722"/>
              </a:xfrm>
              <a:prstGeom prst="rect">
                <a:avLst/>
              </a:prstGeom>
              <a:blipFill>
                <a:blip r:embed="rId4"/>
                <a:stretch>
                  <a:fillRect r="-534" b="-202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31805863-0526-4412-B727-F7B5BE13D28A}"/>
                  </a:ext>
                </a:extLst>
              </p:cNvPr>
              <p:cNvSpPr/>
              <p:nvPr/>
            </p:nvSpPr>
            <p:spPr>
              <a:xfrm>
                <a:off x="110247" y="2152677"/>
                <a:ext cx="6096000" cy="1366208"/>
              </a:xfrm>
              <a:prstGeom prst="rect">
                <a:avLst/>
              </a:prstGeom>
            </p:spPr>
            <p:txBody>
              <a:bodyPr>
                <a:spAutoFit/>
              </a:bodyPr>
              <a:lstStyle/>
              <a:p>
                <a:pPr>
                  <a:lnSpc>
                    <a:spcPct val="150000"/>
                  </a:lnSpc>
                  <a:spcAft>
                    <a:spcPts val="600"/>
                  </a:spcAft>
                </a:pPr>
                <a14:m>
                  <m:oMathPara xmlns:m="http://schemas.openxmlformats.org/officeDocument/2006/math">
                    <m:oMathParaPr>
                      <m:jc m:val="centerGroup"/>
                    </m:oMathParaPr>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𝛿</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7</m:t>
                          </m:r>
                        </m:sub>
                      </m:s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ℒ</m:t>
                          </m:r>
                        </m:num>
                        <m:den>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𝑤</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7</m:t>
                              </m:r>
                            </m:sub>
                          </m:sSub>
                        </m:den>
                      </m:f>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ℒ</m:t>
                          </m:r>
                        </m:num>
                        <m:den>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den>
                      </m:f>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 </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num>
                        <m:den>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den>
                      </m:f>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 </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num>
                        <m:den>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𝑤</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7</m:t>
                              </m:r>
                            </m:sub>
                          </m:sSub>
                        </m:den>
                      </m:f>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31805863-0526-4412-B727-F7B5BE13D28A}"/>
                  </a:ext>
                </a:extLst>
              </p:cNvPr>
              <p:cNvSpPr>
                <a:spLocks noRot="1" noChangeAspect="1" noMove="1" noResize="1" noEditPoints="1" noAdjustHandles="1" noChangeArrowheads="1" noChangeShapeType="1" noTextEdit="1"/>
              </p:cNvSpPr>
              <p:nvPr/>
            </p:nvSpPr>
            <p:spPr>
              <a:xfrm>
                <a:off x="110247" y="2152677"/>
                <a:ext cx="6096000" cy="1366208"/>
              </a:xfrm>
              <a:prstGeom prst="rect">
                <a:avLst/>
              </a:prstGeom>
              <a:blipFill>
                <a:blip r:embed="rId5"/>
                <a:stretch>
                  <a:fillRect/>
                </a:stretch>
              </a:blipFill>
            </p:spPr>
            <p:txBody>
              <a:bodyPr/>
              <a:lstStyle/>
              <a:p>
                <a:r>
                  <a:rPr lang="zh-CN" altLang="en-US">
                    <a:noFill/>
                  </a:rPr>
                  <a:t> </a:t>
                </a:r>
              </a:p>
            </p:txBody>
          </p:sp>
        </mc:Fallback>
      </mc:AlternateContent>
      <p:sp>
        <p:nvSpPr>
          <p:cNvPr id="8" name="矩形 7">
            <a:extLst>
              <a:ext uri="{FF2B5EF4-FFF2-40B4-BE49-F238E27FC236}">
                <a16:creationId xmlns:a16="http://schemas.microsoft.com/office/drawing/2014/main" id="{EE5296AE-577D-74BC-C994-343830612407}"/>
              </a:ext>
            </a:extLst>
          </p:cNvPr>
          <p:cNvSpPr/>
          <p:nvPr/>
        </p:nvSpPr>
        <p:spPr>
          <a:xfrm>
            <a:off x="694145" y="2716562"/>
            <a:ext cx="6096000" cy="851130"/>
          </a:xfrm>
          <a:prstGeom prst="rect">
            <a:avLst/>
          </a:prstGeom>
        </p:spPr>
        <p:txBody>
          <a:bodyPr>
            <a:spAutoFit/>
          </a:bodyPr>
          <a:lstStyle/>
          <a:p>
            <a:pPr>
              <a:lnSpc>
                <a:spcPct val="150000"/>
              </a:lnSpc>
              <a:spcAft>
                <a:spcPts val="600"/>
              </a:spcAft>
            </a:pP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上述公式中每一项结果如下：</a:t>
            </a:r>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0BBEA051-1390-D3EA-2E2A-82E2BBD4D380}"/>
                  </a:ext>
                </a:extLst>
              </p:cNvPr>
              <p:cNvSpPr/>
              <p:nvPr/>
            </p:nvSpPr>
            <p:spPr>
              <a:xfrm>
                <a:off x="80120" y="3468790"/>
                <a:ext cx="6096000" cy="1030282"/>
              </a:xfrm>
              <a:prstGeom prst="rect">
                <a:avLst/>
              </a:prstGeom>
            </p:spPr>
            <p:txBody>
              <a:bodyPr>
                <a:spAutoFit/>
              </a:bodyPr>
              <a:lstStyle/>
              <a:p>
                <a:pPr>
                  <a:lnSpc>
                    <a:spcPct val="150000"/>
                  </a:lnSpc>
                  <a:spcAft>
                    <a:spcPts val="600"/>
                  </a:spcAft>
                </a:pPr>
                <a14:m>
                  <m:oMathPara xmlns:m="http://schemas.openxmlformats.org/officeDocument/2006/math">
                    <m:oMathParaPr>
                      <m:jc m:val="centerGroup"/>
                    </m:oMathParaPr>
                    <m:oMath xmlns:m="http://schemas.openxmlformats.org/officeDocument/2006/math">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ℒ</m:t>
                          </m:r>
                        </m:num>
                        <m:den>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den>
                      </m:f>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 </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3" name="矩形 12">
                <a:extLst>
                  <a:ext uri="{FF2B5EF4-FFF2-40B4-BE49-F238E27FC236}">
                    <a16:creationId xmlns:a16="http://schemas.microsoft.com/office/drawing/2014/main" id="{0BBEA051-1390-D3EA-2E2A-82E2BBD4D380}"/>
                  </a:ext>
                </a:extLst>
              </p:cNvPr>
              <p:cNvSpPr>
                <a:spLocks noRot="1" noChangeAspect="1" noMove="1" noResize="1" noEditPoints="1" noAdjustHandles="1" noChangeArrowheads="1" noChangeShapeType="1" noTextEdit="1"/>
              </p:cNvSpPr>
              <p:nvPr/>
            </p:nvSpPr>
            <p:spPr>
              <a:xfrm>
                <a:off x="80120" y="3468790"/>
                <a:ext cx="6096000" cy="103028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B0AD04FD-7893-2100-5404-071C9CF2B688}"/>
                  </a:ext>
                </a:extLst>
              </p:cNvPr>
              <p:cNvSpPr txBox="1"/>
              <p:nvPr/>
            </p:nvSpPr>
            <p:spPr>
              <a:xfrm>
                <a:off x="130164" y="4384319"/>
                <a:ext cx="6174376" cy="1080617"/>
              </a:xfrm>
              <a:prstGeom prst="rect">
                <a:avLst/>
              </a:prstGeom>
              <a:noFill/>
            </p:spPr>
            <p:txBody>
              <a:bodyPr wrap="square">
                <a:spAutoFit/>
              </a:bodyPr>
              <a:lstStyle/>
              <a:p>
                <a:pPr>
                  <a:lnSpc>
                    <a:spcPct val="150000"/>
                  </a:lnSpc>
                  <a:spcAft>
                    <a:spcPts val="600"/>
                  </a:spcAft>
                </a:pPr>
                <a14:m>
                  <m:oMathPara xmlns:m="http://schemas.openxmlformats.org/officeDocument/2006/math">
                    <m:oMathParaPr>
                      <m:jc m:val="centerGroup"/>
                    </m:oMathParaPr>
                    <m:oMath xmlns:m="http://schemas.openxmlformats.org/officeDocument/2006/math">
                      <m:f>
                        <m:fPr>
                          <m:ctrlPr>
                            <a:rPr lang="zh-CN" altLang="zh-CN" i="1" kern="100"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num>
                        <m:den>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den>
                      </m:f>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∗(1 −</m:t>
                      </m:r>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6" name="文本框 15">
                <a:extLst>
                  <a:ext uri="{FF2B5EF4-FFF2-40B4-BE49-F238E27FC236}">
                    <a16:creationId xmlns:a16="http://schemas.microsoft.com/office/drawing/2014/main" id="{B0AD04FD-7893-2100-5404-071C9CF2B688}"/>
                  </a:ext>
                </a:extLst>
              </p:cNvPr>
              <p:cNvSpPr txBox="1">
                <a:spLocks noRot="1" noChangeAspect="1" noMove="1" noResize="1" noEditPoints="1" noAdjustHandles="1" noChangeArrowheads="1" noChangeShapeType="1" noTextEdit="1"/>
              </p:cNvSpPr>
              <p:nvPr/>
            </p:nvSpPr>
            <p:spPr>
              <a:xfrm>
                <a:off x="130164" y="4384319"/>
                <a:ext cx="6174376" cy="108061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0E45F9E-4805-6547-C5CB-628706025441}"/>
                  </a:ext>
                </a:extLst>
              </p:cNvPr>
              <p:cNvSpPr txBox="1"/>
              <p:nvPr/>
            </p:nvSpPr>
            <p:spPr>
              <a:xfrm>
                <a:off x="55122" y="5614328"/>
                <a:ext cx="6096000" cy="6742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zh-CN" altLang="zh-CN" i="1" kern="100" smtClean="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num>
                        <m:den>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𝑤</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7</m:t>
                              </m:r>
                            </m:sub>
                          </m:sSub>
                        </m:den>
                      </m:f>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𝑂𝑢𝑡</m:t>
                          </m:r>
                        </m:e>
                        <m:sub>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oMath>
                  </m:oMathPara>
                </a14:m>
                <a:endParaRPr lang="zh-CN" altLang="en-US" dirty="0"/>
              </a:p>
            </p:txBody>
          </p:sp>
        </mc:Choice>
        <mc:Fallback xmlns="">
          <p:sp>
            <p:nvSpPr>
              <p:cNvPr id="20" name="文本框 19">
                <a:extLst>
                  <a:ext uri="{FF2B5EF4-FFF2-40B4-BE49-F238E27FC236}">
                    <a16:creationId xmlns:a16="http://schemas.microsoft.com/office/drawing/2014/main" id="{D0E45F9E-4805-6547-C5CB-628706025441}"/>
                  </a:ext>
                </a:extLst>
              </p:cNvPr>
              <p:cNvSpPr txBox="1">
                <a:spLocks noRot="1" noChangeAspect="1" noMove="1" noResize="1" noEditPoints="1" noAdjustHandles="1" noChangeArrowheads="1" noChangeShapeType="1" noTextEdit="1"/>
              </p:cNvSpPr>
              <p:nvPr/>
            </p:nvSpPr>
            <p:spPr>
              <a:xfrm>
                <a:off x="55122" y="5614328"/>
                <a:ext cx="6096000" cy="674224"/>
              </a:xfrm>
              <a:prstGeom prst="rect">
                <a:avLst/>
              </a:prstGeom>
              <a:blipFill>
                <a:blip r:embed="rId8"/>
                <a:stretch>
                  <a:fillRect/>
                </a:stretch>
              </a:blipFill>
            </p:spPr>
            <p:txBody>
              <a:bodyPr/>
              <a:lstStyle/>
              <a:p>
                <a:r>
                  <a:rPr lang="zh-CN" altLang="en-US">
                    <a:noFill/>
                  </a:rPr>
                  <a:t> </a:t>
                </a:r>
              </a:p>
            </p:txBody>
          </p:sp>
        </mc:Fallback>
      </mc:AlternateContent>
      <p:sp>
        <p:nvSpPr>
          <p:cNvPr id="22" name="文本框 21">
            <a:extLst>
              <a:ext uri="{FF2B5EF4-FFF2-40B4-BE49-F238E27FC236}">
                <a16:creationId xmlns:a16="http://schemas.microsoft.com/office/drawing/2014/main" id="{59B1B25A-342B-9171-0BAA-CA630DAB2A11}"/>
              </a:ext>
            </a:extLst>
          </p:cNvPr>
          <p:cNvSpPr txBox="1"/>
          <p:nvPr/>
        </p:nvSpPr>
        <p:spPr>
          <a:xfrm>
            <a:off x="5994105" y="4834998"/>
            <a:ext cx="6215062" cy="923330"/>
          </a:xfrm>
          <a:prstGeom prst="rect">
            <a:avLst/>
          </a:prstGeom>
          <a:noFill/>
        </p:spPr>
        <p:txBody>
          <a:bodyPr wrap="square">
            <a:spAutoFit/>
          </a:bodyPr>
          <a:lstStyle/>
          <a:p>
            <a:r>
              <a:rPr lang="zh-CN" altLang="en-US" b="0" i="0" dirty="0">
                <a:solidFill>
                  <a:srgbClr val="333333"/>
                </a:solidFill>
                <a:effectLst/>
                <a:latin typeface="Helvetica Neue"/>
              </a:rPr>
              <a:t>链式求导法则：复合函数的导数（偏导数）的法则。对于一个符合函数</a:t>
            </a:r>
            <a:r>
              <a:rPr lang="en-US" altLang="zh-CN" b="0" i="0" dirty="0">
                <a:solidFill>
                  <a:srgbClr val="333333"/>
                </a:solidFill>
                <a:effectLst/>
                <a:latin typeface="Helvetica Neue"/>
              </a:rPr>
              <a:t>g(f(x))</a:t>
            </a:r>
            <a:r>
              <a:rPr lang="zh-CN" altLang="en-US" b="0" i="0" dirty="0">
                <a:solidFill>
                  <a:srgbClr val="333333"/>
                </a:solidFill>
                <a:effectLst/>
                <a:latin typeface="Helvetica Neue"/>
              </a:rPr>
              <a:t>，求对</a:t>
            </a:r>
            <a:r>
              <a:rPr lang="en-US" altLang="zh-CN" b="0" i="0" dirty="0">
                <a:solidFill>
                  <a:srgbClr val="333333"/>
                </a:solidFill>
                <a:effectLst/>
                <a:latin typeface="Helvetica Neue"/>
              </a:rPr>
              <a:t>x</a:t>
            </a:r>
            <a:r>
              <a:rPr lang="zh-CN" altLang="en-US" b="0" i="0" dirty="0">
                <a:solidFill>
                  <a:srgbClr val="333333"/>
                </a:solidFill>
                <a:effectLst/>
                <a:latin typeface="Helvetica Neue"/>
              </a:rPr>
              <a:t>的导数。</a:t>
            </a:r>
            <a:endParaRPr lang="en-US" altLang="zh-CN" dirty="0">
              <a:solidFill>
                <a:srgbClr val="333333"/>
              </a:solidFill>
              <a:latin typeface="Helvetica Neue"/>
            </a:endParaRPr>
          </a:p>
          <a:p>
            <a:r>
              <a:rPr lang="zh-CN" altLang="en-US" dirty="0">
                <a:solidFill>
                  <a:srgbClr val="333333"/>
                </a:solidFill>
                <a:latin typeface="Helvetica Neue"/>
              </a:rPr>
              <a:t>若记                            ，则</a:t>
            </a:r>
            <a:r>
              <a:rPr lang="zh-CN" altLang="en-US" b="0" i="0" dirty="0">
                <a:solidFill>
                  <a:srgbClr val="333333"/>
                </a:solidFill>
                <a:effectLst/>
                <a:latin typeface="Helvetica Neue"/>
              </a:rPr>
              <a:t>导数</a:t>
            </a:r>
            <a:r>
              <a:rPr lang="zh-CN" altLang="en-US" dirty="0">
                <a:solidFill>
                  <a:srgbClr val="333333"/>
                </a:solidFill>
                <a:latin typeface="Helvetica Neue"/>
              </a:rPr>
              <a:t>为</a:t>
            </a:r>
            <a:endParaRPr lang="en-US" altLang="zh-CN" dirty="0">
              <a:solidFill>
                <a:srgbClr val="333333"/>
              </a:solidFill>
              <a:latin typeface="Helvetica Neue"/>
            </a:endParaRPr>
          </a:p>
        </p:txBody>
      </p:sp>
      <p:pic>
        <p:nvPicPr>
          <p:cNvPr id="26" name="图片 25">
            <a:extLst>
              <a:ext uri="{FF2B5EF4-FFF2-40B4-BE49-F238E27FC236}">
                <a16:creationId xmlns:a16="http://schemas.microsoft.com/office/drawing/2014/main" id="{DB380E96-B0B6-FB40-0BCE-3B537A4FF551}"/>
              </a:ext>
            </a:extLst>
          </p:cNvPr>
          <p:cNvPicPr>
            <a:picLocks noChangeAspect="1"/>
          </p:cNvPicPr>
          <p:nvPr/>
        </p:nvPicPr>
        <p:blipFill>
          <a:blip r:embed="rId9"/>
          <a:stretch>
            <a:fillRect/>
          </a:stretch>
        </p:blipFill>
        <p:spPr>
          <a:xfrm>
            <a:off x="6609403" y="5464936"/>
            <a:ext cx="1647825" cy="219075"/>
          </a:xfrm>
          <a:prstGeom prst="rect">
            <a:avLst/>
          </a:prstGeom>
        </p:spPr>
      </p:pic>
      <p:pic>
        <p:nvPicPr>
          <p:cNvPr id="28" name="图片 27">
            <a:extLst>
              <a:ext uri="{FF2B5EF4-FFF2-40B4-BE49-F238E27FC236}">
                <a16:creationId xmlns:a16="http://schemas.microsoft.com/office/drawing/2014/main" id="{1834439A-E84E-6091-38E1-4A823916A414}"/>
              </a:ext>
            </a:extLst>
          </p:cNvPr>
          <p:cNvPicPr>
            <a:picLocks noChangeAspect="1"/>
          </p:cNvPicPr>
          <p:nvPr/>
        </p:nvPicPr>
        <p:blipFill>
          <a:blip r:embed="rId10"/>
          <a:stretch>
            <a:fillRect/>
          </a:stretch>
        </p:blipFill>
        <p:spPr>
          <a:xfrm>
            <a:off x="8482511" y="5838414"/>
            <a:ext cx="1238250" cy="466725"/>
          </a:xfrm>
          <a:prstGeom prst="rect">
            <a:avLst/>
          </a:prstGeom>
        </p:spPr>
      </p:pic>
    </p:spTree>
    <p:extLst>
      <p:ext uri="{BB962C8B-B14F-4D97-AF65-F5344CB8AC3E}">
        <p14:creationId xmlns:p14="http://schemas.microsoft.com/office/powerpoint/2010/main" val="4109455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8" grpId="0"/>
      <p:bldP spid="13" grpId="0"/>
      <p:bldP spid="16" grpId="0"/>
      <p:bldP spid="20" grpId="0"/>
      <p:bldP spid="2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神经网络参数优化：误差反向传播与参数更新例子</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计算误差</a:t>
              </a:r>
            </a:p>
          </p:txBody>
        </p:sp>
      </p:grpSp>
      <p:sp>
        <p:nvSpPr>
          <p:cNvPr id="10" name="矩形 9">
            <a:extLst>
              <a:ext uri="{FF2B5EF4-FFF2-40B4-BE49-F238E27FC236}">
                <a16:creationId xmlns:a16="http://schemas.microsoft.com/office/drawing/2014/main" id="{E2657679-6500-443D-8D7B-C7E26AD969D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grpSp>
        <p:nvGrpSpPr>
          <p:cNvPr id="18" name="组合 17">
            <a:extLst>
              <a:ext uri="{FF2B5EF4-FFF2-40B4-BE49-F238E27FC236}">
                <a16:creationId xmlns:a16="http://schemas.microsoft.com/office/drawing/2014/main" id="{299EACBF-5407-4C7B-BDBC-D1EAFFFC88C4}"/>
              </a:ext>
            </a:extLst>
          </p:cNvPr>
          <p:cNvGrpSpPr/>
          <p:nvPr/>
        </p:nvGrpSpPr>
        <p:grpSpPr>
          <a:xfrm>
            <a:off x="6640749" y="2347230"/>
            <a:ext cx="4882165" cy="3041892"/>
            <a:chOff x="6705600" y="2256439"/>
            <a:chExt cx="4882165" cy="3041892"/>
          </a:xfrm>
        </p:grpSpPr>
        <p:pic>
          <p:nvPicPr>
            <p:cNvPr id="6" name="图片 5">
              <a:extLst>
                <a:ext uri="{FF2B5EF4-FFF2-40B4-BE49-F238E27FC236}">
                  <a16:creationId xmlns:a16="http://schemas.microsoft.com/office/drawing/2014/main" id="{98D6148B-616B-45E0-A0EF-DDFC16B4EDD4}"/>
                </a:ext>
              </a:extLst>
            </p:cNvPr>
            <p:cNvPicPr>
              <a:picLocks noChangeAspect="1"/>
            </p:cNvPicPr>
            <p:nvPr/>
          </p:nvPicPr>
          <p:blipFill>
            <a:blip r:embed="rId3"/>
            <a:stretch>
              <a:fillRect/>
            </a:stretch>
          </p:blipFill>
          <p:spPr>
            <a:xfrm>
              <a:off x="6705600" y="2840476"/>
              <a:ext cx="4882165" cy="2457855"/>
            </a:xfrm>
            <a:prstGeom prst="rect">
              <a:avLst/>
            </a:prstGeom>
          </p:spPr>
        </p:pic>
        <p:cxnSp>
          <p:nvCxnSpPr>
            <p:cNvPr id="11" name="直接箭头连接符 10">
              <a:extLst>
                <a:ext uri="{FF2B5EF4-FFF2-40B4-BE49-F238E27FC236}">
                  <a16:creationId xmlns:a16="http://schemas.microsoft.com/office/drawing/2014/main" id="{D5E48028-0127-429B-A663-D8429FFB982F}"/>
                </a:ext>
              </a:extLst>
            </p:cNvPr>
            <p:cNvCxnSpPr/>
            <p:nvPr/>
          </p:nvCxnSpPr>
          <p:spPr>
            <a:xfrm>
              <a:off x="8151778" y="2810542"/>
              <a:ext cx="350196" cy="447472"/>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449CD250-C5A3-48A6-997A-BF6B0E11A54F}"/>
                </a:ext>
              </a:extLst>
            </p:cNvPr>
            <p:cNvSpPr/>
            <p:nvPr/>
          </p:nvSpPr>
          <p:spPr>
            <a:xfrm>
              <a:off x="7494019" y="2256439"/>
              <a:ext cx="1107996" cy="369332"/>
            </a:xfrm>
            <a:prstGeom prst="rect">
              <a:avLst/>
            </a:prstGeom>
          </p:spPr>
          <p:txBody>
            <a:bodyPr wrap="none">
              <a:spAutoFit/>
            </a:bodyPr>
            <a:lstStyle/>
            <a:p>
              <a:r>
                <a:rPr lang="zh-CN" altLang="zh-CN" dirty="0">
                  <a:solidFill>
                    <a:srgbClr val="000000"/>
                  </a:solidFill>
                  <a:latin typeface="Times New Roman" panose="02020603050405020304" pitchFamily="18" charset="0"/>
                  <a:ea typeface="楷体_GB2312"/>
                  <a:cs typeface="Times New Roman" panose="02020603050405020304" pitchFamily="18" charset="0"/>
                </a:rPr>
                <a:t>加权累加</a:t>
              </a:r>
              <a:endParaRPr lang="zh-CN" altLang="en-US" dirty="0"/>
            </a:p>
          </p:txBody>
        </p:sp>
        <p:cxnSp>
          <p:nvCxnSpPr>
            <p:cNvPr id="15" name="直接箭头连接符 14">
              <a:extLst>
                <a:ext uri="{FF2B5EF4-FFF2-40B4-BE49-F238E27FC236}">
                  <a16:creationId xmlns:a16="http://schemas.microsoft.com/office/drawing/2014/main" id="{AB23201D-0FAD-4599-9A39-4205939B8B19}"/>
                </a:ext>
              </a:extLst>
            </p:cNvPr>
            <p:cNvCxnSpPr>
              <a:cxnSpLocks/>
            </p:cNvCxnSpPr>
            <p:nvPr/>
          </p:nvCxnSpPr>
          <p:spPr>
            <a:xfrm flipH="1">
              <a:off x="9020223" y="2748987"/>
              <a:ext cx="252917" cy="468375"/>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F4D256C6-CBB6-4A6B-959C-31D458F3B79A}"/>
                </a:ext>
              </a:extLst>
            </p:cNvPr>
            <p:cNvSpPr/>
            <p:nvPr/>
          </p:nvSpPr>
          <p:spPr>
            <a:xfrm>
              <a:off x="8833193" y="2256439"/>
              <a:ext cx="1338828" cy="369332"/>
            </a:xfrm>
            <a:prstGeom prst="rect">
              <a:avLst/>
            </a:prstGeom>
          </p:spPr>
          <p:txBody>
            <a:bodyPr wrap="non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非线性激活</a:t>
              </a:r>
            </a:p>
          </p:txBody>
        </p:sp>
      </p:gr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0ACA1FB6-86FC-4EA5-A3F3-B80753CDFF4F}"/>
                  </a:ext>
                </a:extLst>
              </p:cNvPr>
              <p:cNvSpPr/>
              <p:nvPr/>
            </p:nvSpPr>
            <p:spPr>
              <a:xfrm>
                <a:off x="1270782" y="1555359"/>
                <a:ext cx="10555458" cy="640816"/>
              </a:xfrm>
              <a:prstGeom prst="rect">
                <a:avLst/>
              </a:prstGeom>
            </p:spPr>
            <p:txBody>
              <a:bodyPr wrap="square">
                <a:spAutoFit/>
              </a:bodyPr>
              <a:lstStyle/>
              <a:p>
                <a:pPr indent="266700" algn="ctr">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在得到</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7</m:t>
                        </m:r>
                      </m:sub>
                    </m:sSub>
                  </m:oMath>
                </a14:m>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12</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相对于损失函数的偏导结果后，利用链式求导法则，可计算得到损失函数相对于</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oMath>
                </a14:m>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6</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的偏导结果。下面以</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为例介绍损失函数</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ℒ</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对</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的偏导</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𝛿</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p>
            </p:txBody>
          </p:sp>
        </mc:Choice>
        <mc:Fallback xmlns="">
          <p:sp>
            <p:nvSpPr>
              <p:cNvPr id="8" name="矩形 7">
                <a:extLst>
                  <a:ext uri="{FF2B5EF4-FFF2-40B4-BE49-F238E27FC236}">
                    <a16:creationId xmlns:a16="http://schemas.microsoft.com/office/drawing/2014/main" id="{0ACA1FB6-86FC-4EA5-A3F3-B80753CDFF4F}"/>
                  </a:ext>
                </a:extLst>
              </p:cNvPr>
              <p:cNvSpPr>
                <a:spLocks noRot="1" noChangeAspect="1" noMove="1" noResize="1" noEditPoints="1" noAdjustHandles="1" noChangeArrowheads="1" noChangeShapeType="1" noTextEdit="1"/>
              </p:cNvSpPr>
              <p:nvPr/>
            </p:nvSpPr>
            <p:spPr>
              <a:xfrm>
                <a:off x="1270782" y="1555359"/>
                <a:ext cx="10555458" cy="640816"/>
              </a:xfrm>
              <a:prstGeom prst="rect">
                <a:avLst/>
              </a:prstGeom>
              <a:blipFill>
                <a:blip r:embed="rId4"/>
                <a:stretch>
                  <a:fillRect t="-952" r="-1270" b="-104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A76CF0E8-AE13-4D5F-AF69-AD0A1277AE51}"/>
                  </a:ext>
                </a:extLst>
              </p:cNvPr>
              <p:cNvSpPr/>
              <p:nvPr/>
            </p:nvSpPr>
            <p:spPr>
              <a:xfrm>
                <a:off x="246186" y="2501797"/>
                <a:ext cx="6394561" cy="2773323"/>
              </a:xfrm>
              <a:prstGeom prst="rect">
                <a:avLst/>
              </a:prstGeom>
            </p:spPr>
            <p:txBody>
              <a:bodyPr wrap="square">
                <a:spAutoFit/>
              </a:bodyPr>
              <a:lstStyle/>
              <a:p>
                <a:pPr indent="266700" algn="just">
                  <a:spcAft>
                    <a:spcPts val="0"/>
                  </a:spcAft>
                </a:pPr>
                <a:r>
                  <a:rPr lang="en-US" altLang="zh-CN" sz="1200" dirty="0">
                    <a:solidFill>
                      <a:srgbClr val="000000"/>
                    </a:solidFill>
                    <a:latin typeface="Times New Roman" panose="02020603050405020304" pitchFamily="18" charset="0"/>
                    <a:ea typeface="楷体_GB2312"/>
                    <a:cs typeface="Times New Roman" panose="02020603050405020304" pitchFamily="18" charset="0"/>
                  </a:rPr>
                  <a:t> </a:t>
                </a:r>
                <a:endParaRPr lang="zh-CN" altLang="zh-CN" sz="1200" dirty="0">
                  <a:solidFill>
                    <a:srgbClr val="000000"/>
                  </a:solidFill>
                  <a:latin typeface="Times New Roman" panose="02020603050405020304" pitchFamily="18" charset="0"/>
                  <a:ea typeface="楷体_GB2312"/>
                  <a:cs typeface="Times New Roman" panose="02020603050405020304" pitchFamily="18" charset="0"/>
                </a:endParaRPr>
              </a:p>
              <a:p>
                <a:pPr>
                  <a:spcAft>
                    <a:spcPts val="600"/>
                  </a:spcAft>
                </a:pPr>
                <a14:m>
                  <m:oMathPara xmlns:m="http://schemas.openxmlformats.org/officeDocument/2006/math">
                    <m:oMathParaPr>
                      <m:jc m:val="centerGroup"/>
                    </m:oMathParaPr>
                    <m:oMath xmlns:m="http://schemas.openxmlformats.org/officeDocument/2006/math">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𝛿</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r>
                        <m:rPr>
                          <m:aln/>
                        </m:rP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ℒ</m:t>
                          </m:r>
                        </m:num>
                        <m:den>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𝑤</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den>
                      </m:f>
                    </m:oMath>
                    <m:oMath xmlns:m="http://schemas.openxmlformats.org/officeDocument/2006/math">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 </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ℒ</m:t>
                          </m:r>
                        </m:num>
                        <m:den>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e>
                          </m:acc>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e>
                          </m:acc>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𝑤</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den>
                      </m:f>
                      <m:r>
                        <a:rPr lang="en-US" altLang="zh-CN" sz="1200"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ℒ</m:t>
                          </m:r>
                        </m:num>
                        <m:den>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2</m:t>
                                  </m:r>
                                </m:sub>
                              </m:sSub>
                            </m:e>
                          </m:acc>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2</m:t>
                                  </m:r>
                                </m:sub>
                              </m:sSub>
                            </m:e>
                          </m:acc>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𝑤</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ℒ</m:t>
                          </m:r>
                        </m:num>
                        <m:den>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3</m:t>
                                  </m:r>
                                </m:sub>
                              </m:sSub>
                            </m:e>
                          </m:acc>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3</m:t>
                                  </m:r>
                                </m:sub>
                              </m:sSub>
                            </m:e>
                          </m:acc>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𝑤</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den>
                      </m:f>
                    </m:oMath>
                    <m:oMath xmlns:m="http://schemas.openxmlformats.org/officeDocument/2006/math">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ℒ</m:t>
                          </m:r>
                        </m:num>
                        <m:den>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e>
                          </m:acc>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e>
                          </m:acc>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𝑂𝑢𝑡</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den>
                      </m:f>
                      <m:r>
                        <a:rPr lang="en-US" altLang="zh-CN" sz="1200" i="1" kern="100">
                          <a:latin typeface="Cambria Math" panose="02040503050406030204" pitchFamily="18" charset="0"/>
                          <a:ea typeface="MS Gothic" panose="020B0609070205080204" pitchFamily="49" charset="-128"/>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𝑂𝑢𝑡</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𝑤</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ℒ</m:t>
                          </m:r>
                        </m:num>
                        <m:den>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2</m:t>
                                  </m:r>
                                </m:sub>
                              </m:sSub>
                            </m:e>
                          </m:acc>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2</m:t>
                                  </m:r>
                                </m:sub>
                              </m:sSub>
                            </m:e>
                          </m:acc>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2</m:t>
                                  </m:r>
                                </m:sub>
                              </m:sSub>
                            </m:sub>
                          </m:sSub>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2</m:t>
                                  </m:r>
                                </m:sub>
                              </m:sSub>
                            </m:sub>
                          </m:sSub>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𝑂𝑢𝑡</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den>
                      </m:f>
                      <m:r>
                        <a:rPr lang="en-US" altLang="zh-CN" sz="1200" i="1" kern="100">
                          <a:latin typeface="Cambria Math" panose="02040503050406030204" pitchFamily="18" charset="0"/>
                          <a:ea typeface="MS Gothic" panose="020B0609070205080204" pitchFamily="49" charset="-128"/>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𝑂𝑢𝑡</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𝑤</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ℒ</m:t>
                          </m:r>
                        </m:num>
                        <m:den>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3</m:t>
                                  </m:r>
                                </m:sub>
                              </m:sSub>
                            </m:e>
                          </m:acc>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200"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3</m:t>
                                  </m:r>
                                </m:sub>
                              </m:sSub>
                            </m:e>
                          </m:acc>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3</m:t>
                                  </m:r>
                                </m:sub>
                              </m:sSub>
                            </m:sub>
                          </m:sSub>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3</m:t>
                                  </m:r>
                                </m:sub>
                              </m:sSub>
                            </m:sub>
                          </m:sSub>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𝑂𝑢𝑡</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den>
                      </m:f>
                      <m:r>
                        <a:rPr lang="en-US" altLang="zh-CN" sz="1200" i="1" kern="100">
                          <a:latin typeface="Cambria Math" panose="02040503050406030204" pitchFamily="18" charset="0"/>
                          <a:ea typeface="MS Gothic" panose="020B0609070205080204" pitchFamily="49" charset="-128"/>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𝑂𝑢𝑡</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𝑤</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den>
                      </m:f>
                    </m:oMath>
                    <m:oMath xmlns:m="http://schemas.openxmlformats.org/officeDocument/2006/math">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d>
                        <m:d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ℒ</m:t>
                              </m:r>
                            </m:num>
                            <m:den>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e>
                              </m:acc>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e>
                              </m:acc>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𝑂𝑢𝑡</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ℒ</m:t>
                              </m:r>
                            </m:num>
                            <m:den>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2</m:t>
                                      </m:r>
                                    </m:sub>
                                  </m:sSub>
                                </m:e>
                              </m:acc>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2</m:t>
                                      </m:r>
                                    </m:sub>
                                  </m:sSub>
                                </m:e>
                              </m:acc>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2</m:t>
                                      </m:r>
                                    </m:sub>
                                  </m:sSub>
                                </m:sub>
                              </m:sSub>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2</m:t>
                                      </m:r>
                                    </m:sub>
                                  </m:sSub>
                                </m:sub>
                              </m:sSub>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𝑂𝑢𝑡</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ℒ</m:t>
                              </m:r>
                            </m:num>
                            <m:den>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3</m:t>
                                      </m:r>
                                    </m:sub>
                                  </m:sSub>
                                </m:e>
                              </m:acc>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3</m:t>
                                      </m:r>
                                    </m:sub>
                                  </m:sSub>
                                </m:e>
                              </m:acc>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3</m:t>
                                      </m:r>
                                    </m:sub>
                                  </m:sSub>
                                </m:sub>
                              </m:sSub>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3</m:t>
                                      </m:r>
                                    </m:sub>
                                  </m:sSub>
                                </m:sub>
                              </m:sSub>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𝑂𝑢𝑡</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den>
                          </m:f>
                        </m:e>
                      </m:d>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𝑂𝑢𝑡</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𝑤</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den>
                      </m:f>
                    </m:oMath>
                    <m:oMath xmlns:m="http://schemas.openxmlformats.org/officeDocument/2006/math">
                      <m:r>
                        <m:rPr>
                          <m:aln/>
                        </m:rP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𝛿</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7</m:t>
                          </m:r>
                        </m:sub>
                      </m:s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𝛿</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8</m:t>
                          </m:r>
                        </m:sub>
                      </m:s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𝛿</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9</m:t>
                          </m:r>
                        </m:sub>
                      </m:s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𝑂𝑢𝑡</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den>
                      </m:f>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num>
                        <m:den>
                          <m:sSub>
                            <m:sSubPr>
                              <m:ctrlPr>
                                <a:rPr lang="zh-CN" altLang="zh-CN"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𝑤</m:t>
                              </m:r>
                            </m:e>
                            <m:sub>
                              <m:r>
                                <a:rPr lang="en-US" altLang="zh-CN" sz="1200" i="1" kern="100">
                                  <a:latin typeface="Cambria Math" panose="02040503050406030204" pitchFamily="18" charset="0"/>
                                  <a:ea typeface="华文楷体" panose="02010600040101010101" pitchFamily="2" charset="-122"/>
                                  <a:cs typeface="Times New Roman" panose="02020603050405020304" pitchFamily="18" charset="0"/>
                                </a:rPr>
                                <m:t>1</m:t>
                              </m:r>
                            </m:sub>
                          </m:sSub>
                        </m:den>
                      </m:f>
                    </m:oMath>
                  </m:oMathPara>
                </a14:m>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3" name="矩形 12">
                <a:extLst>
                  <a:ext uri="{FF2B5EF4-FFF2-40B4-BE49-F238E27FC236}">
                    <a16:creationId xmlns:a16="http://schemas.microsoft.com/office/drawing/2014/main" id="{A76CF0E8-AE13-4D5F-AF69-AD0A1277AE51}"/>
                  </a:ext>
                </a:extLst>
              </p:cNvPr>
              <p:cNvSpPr>
                <a:spLocks noRot="1" noChangeAspect="1" noMove="1" noResize="1" noEditPoints="1" noAdjustHandles="1" noChangeArrowheads="1" noChangeShapeType="1" noTextEdit="1"/>
              </p:cNvSpPr>
              <p:nvPr/>
            </p:nvSpPr>
            <p:spPr>
              <a:xfrm>
                <a:off x="246186" y="2501797"/>
                <a:ext cx="6394561" cy="2773323"/>
              </a:xfrm>
              <a:prstGeom prst="rect">
                <a:avLst/>
              </a:prstGeom>
              <a:blipFill>
                <a:blip r:embed="rId5"/>
                <a:stretch>
                  <a:fillRect r="-51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D54A9D23-EBE7-48E2-8D2B-2C2C85103D69}"/>
                  </a:ext>
                </a:extLst>
              </p:cNvPr>
              <p:cNvSpPr/>
              <p:nvPr/>
            </p:nvSpPr>
            <p:spPr>
              <a:xfrm>
                <a:off x="983192" y="5674788"/>
                <a:ext cx="10658621" cy="640816"/>
              </a:xfrm>
              <a:prstGeom prst="rect">
                <a:avLst/>
              </a:prstGeom>
            </p:spPr>
            <p:txBody>
              <a:bodyPr wrap="square">
                <a:spAutoFit/>
              </a:bodyPr>
              <a:lstStyle/>
              <a:p>
                <a:pPr indent="266700" algn="ctr">
                  <a:lnSpc>
                    <a:spcPts val="22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在计算得到所有参数相对于损失函数</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ℒ</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的偏导结果后，利用梯度下降算法，通过</a:t>
                </a:r>
                <a14:m>
                  <m:oMath xmlns:m="http://schemas.openxmlformats.org/officeDocument/2006/math">
                    <m:sSubSup>
                      <m:sSubSup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4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sub>
                      <m:sup>
                        <m:r>
                          <a:rPr lang="en-US" altLang="zh-CN" sz="1400" i="1">
                            <a:solidFill>
                              <a:srgbClr val="000000"/>
                            </a:solidFill>
                            <a:latin typeface="Cambria Math" panose="02040503050406030204" pitchFamily="18" charset="0"/>
                            <a:ea typeface="楷体_GB2312"/>
                            <a:cs typeface="Times New Roman" panose="02020603050405020304" pitchFamily="18" charset="0"/>
                          </a:rPr>
                          <m:t>𝑛𝑒𝑤</m:t>
                        </m:r>
                      </m:sup>
                    </m:sSubSup>
                    <m:r>
                      <a:rPr lang="en-US" altLang="zh-CN" sz="1400" i="1">
                        <a:solidFill>
                          <a:srgbClr val="000000"/>
                        </a:solidFill>
                        <a:latin typeface="Cambria Math" panose="02040503050406030204" pitchFamily="18" charset="0"/>
                        <a:ea typeface="楷体_GB2312"/>
                        <a:cs typeface="Times New Roman" panose="02020603050405020304" pitchFamily="18" charset="0"/>
                      </a:rPr>
                      <m:t>= </m:t>
                    </m:r>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400" i="1">
                        <a:solidFill>
                          <a:srgbClr val="000000"/>
                        </a:solidFill>
                        <a:latin typeface="Cambria Math" panose="02040503050406030204" pitchFamily="18" charset="0"/>
                        <a:ea typeface="楷体_GB2312"/>
                        <a:cs typeface="Times New Roman" panose="02020603050405020304" pitchFamily="18" charset="0"/>
                      </a:rPr>
                      <m:t> − </m:t>
                    </m:r>
                    <m:r>
                      <a:rPr lang="en-US" altLang="zh-CN" sz="1400" i="1">
                        <a:solidFill>
                          <a:srgbClr val="000000"/>
                        </a:solidFill>
                        <a:latin typeface="Cambria Math" panose="02040503050406030204" pitchFamily="18" charset="0"/>
                        <a:ea typeface="楷体_GB2312"/>
                        <a:cs typeface="Times New Roman" panose="02020603050405020304" pitchFamily="18" charset="0"/>
                      </a:rPr>
                      <m:t>𝜂</m:t>
                    </m:r>
                    <m:r>
                      <a:rPr lang="en-US" altLang="zh-CN" sz="1400" i="1">
                        <a:solidFill>
                          <a:srgbClr val="000000"/>
                        </a:solidFill>
                        <a:latin typeface="Cambria Math" panose="02040503050406030204" pitchFamily="18" charset="0"/>
                        <a:ea typeface="楷体_GB2312"/>
                        <a:cs typeface="Times New Roman" panose="02020603050405020304" pitchFamily="18" charset="0"/>
                      </a:rPr>
                      <m:t> ∗ </m:t>
                    </m:r>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𝛿</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来更新参数取值。然后不断</a:t>
                </a:r>
                <a:endParaRPr lang="en-US" altLang="zh-CN" sz="1400" dirty="0">
                  <a:solidFill>
                    <a:srgbClr val="000000"/>
                  </a:solidFill>
                  <a:latin typeface="Times New Roman" panose="02020603050405020304" pitchFamily="18" charset="0"/>
                  <a:ea typeface="楷体_GB2312"/>
                  <a:cs typeface="Times New Roman" panose="02020603050405020304" pitchFamily="18" charset="0"/>
                </a:endParaRPr>
              </a:p>
              <a:p>
                <a:pPr indent="266700" algn="ctr">
                  <a:lnSpc>
                    <a:spcPts val="22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迭代，直至模型参数收敛，此时损失函数减少到其最小值。</a:t>
                </a:r>
              </a:p>
            </p:txBody>
          </p:sp>
        </mc:Choice>
        <mc:Fallback xmlns="">
          <p:sp>
            <p:nvSpPr>
              <p:cNvPr id="14" name="矩形 13">
                <a:extLst>
                  <a:ext uri="{FF2B5EF4-FFF2-40B4-BE49-F238E27FC236}">
                    <a16:creationId xmlns:a16="http://schemas.microsoft.com/office/drawing/2014/main" id="{D54A9D23-EBE7-48E2-8D2B-2C2C85103D69}"/>
                  </a:ext>
                </a:extLst>
              </p:cNvPr>
              <p:cNvSpPr>
                <a:spLocks noRot="1" noChangeAspect="1" noMove="1" noResize="1" noEditPoints="1" noAdjustHandles="1" noChangeArrowheads="1" noChangeShapeType="1" noTextEdit="1"/>
              </p:cNvSpPr>
              <p:nvPr/>
            </p:nvSpPr>
            <p:spPr>
              <a:xfrm>
                <a:off x="983192" y="5674788"/>
                <a:ext cx="10658621" cy="640816"/>
              </a:xfrm>
              <a:prstGeom prst="rect">
                <a:avLst/>
              </a:prstGeom>
              <a:blipFill>
                <a:blip r:embed="rId6"/>
                <a:stretch>
                  <a:fillRect b="-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385418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在分类任务上，可以用</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MSE</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损失函数吗？</a:t>
              </a:r>
            </a:p>
          </p:txBody>
        </p:sp>
      </p:grpSp>
      <p:sp>
        <p:nvSpPr>
          <p:cNvPr id="10" name="矩形 9">
            <a:extLst>
              <a:ext uri="{FF2B5EF4-FFF2-40B4-BE49-F238E27FC236}">
                <a16:creationId xmlns:a16="http://schemas.microsoft.com/office/drawing/2014/main" id="{E2657679-6500-443D-8D7B-C7E26AD969D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pic>
        <p:nvPicPr>
          <p:cNvPr id="6" name="图片 5">
            <a:extLst>
              <a:ext uri="{FF2B5EF4-FFF2-40B4-BE49-F238E27FC236}">
                <a16:creationId xmlns:a16="http://schemas.microsoft.com/office/drawing/2014/main" id="{98D6148B-616B-45E0-A0EF-DDFC16B4EDD4}"/>
              </a:ext>
            </a:extLst>
          </p:cNvPr>
          <p:cNvPicPr>
            <a:picLocks noChangeAspect="1"/>
          </p:cNvPicPr>
          <p:nvPr/>
        </p:nvPicPr>
        <p:blipFill>
          <a:blip r:embed="rId3"/>
          <a:stretch>
            <a:fillRect/>
          </a:stretch>
        </p:blipFill>
        <p:spPr>
          <a:xfrm>
            <a:off x="7309835" y="1505945"/>
            <a:ext cx="4882165" cy="2457855"/>
          </a:xfrm>
          <a:prstGeom prst="rect">
            <a:avLst/>
          </a:prstGeom>
        </p:spPr>
      </p:pic>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AB7148E9-CD38-66A3-C9A1-8B3A663228A2}"/>
                  </a:ext>
                </a:extLst>
              </p:cNvPr>
              <p:cNvSpPr txBox="1"/>
              <p:nvPr/>
            </p:nvSpPr>
            <p:spPr>
              <a:xfrm>
                <a:off x="201176" y="1763863"/>
                <a:ext cx="6096000" cy="70807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𝛿</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7</m:t>
                          </m:r>
                        </m:sub>
                      </m:s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ℒ</m:t>
                          </m:r>
                        </m:num>
                        <m:den>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𝑤</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7</m:t>
                              </m:r>
                            </m:sub>
                          </m:sSub>
                        </m:den>
                      </m:f>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ℒ</m:t>
                          </m:r>
                        </m:num>
                        <m:den>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den>
                      </m:f>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 </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num>
                        <m:den>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den>
                      </m:f>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 </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num>
                        <m:den>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𝑤</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7</m:t>
                              </m:r>
                            </m:sub>
                          </m:sSub>
                        </m:den>
                      </m:f>
                    </m:oMath>
                  </m:oMathPara>
                </a14:m>
                <a:endParaRPr lang="zh-CN" altLang="en-US" dirty="0"/>
              </a:p>
            </p:txBody>
          </p:sp>
        </mc:Choice>
        <mc:Fallback xmlns="">
          <p:sp>
            <p:nvSpPr>
              <p:cNvPr id="22" name="文本框 21">
                <a:extLst>
                  <a:ext uri="{FF2B5EF4-FFF2-40B4-BE49-F238E27FC236}">
                    <a16:creationId xmlns:a16="http://schemas.microsoft.com/office/drawing/2014/main" id="{AB7148E9-CD38-66A3-C9A1-8B3A663228A2}"/>
                  </a:ext>
                </a:extLst>
              </p:cNvPr>
              <p:cNvSpPr txBox="1">
                <a:spLocks noRot="1" noChangeAspect="1" noMove="1" noResize="1" noEditPoints="1" noAdjustHandles="1" noChangeArrowheads="1" noChangeShapeType="1" noTextEdit="1"/>
              </p:cNvSpPr>
              <p:nvPr/>
            </p:nvSpPr>
            <p:spPr>
              <a:xfrm>
                <a:off x="201176" y="1763863"/>
                <a:ext cx="6096000" cy="708079"/>
              </a:xfrm>
              <a:prstGeom prst="rect">
                <a:avLst/>
              </a:prstGeom>
              <a:blipFill>
                <a:blip r:embed="rId4"/>
                <a:stretch>
                  <a:fillRect/>
                </a:stretch>
              </a:blipFill>
            </p:spPr>
            <p:txBody>
              <a:bodyPr/>
              <a:lstStyle/>
              <a:p>
                <a:r>
                  <a:rPr lang="zh-CN" altLang="en-US">
                    <a:noFill/>
                  </a:rPr>
                  <a:t> </a:t>
                </a:r>
              </a:p>
            </p:txBody>
          </p:sp>
        </mc:Fallback>
      </mc:AlternateContent>
      <p:grpSp>
        <p:nvGrpSpPr>
          <p:cNvPr id="34" name="组合 33">
            <a:extLst>
              <a:ext uri="{FF2B5EF4-FFF2-40B4-BE49-F238E27FC236}">
                <a16:creationId xmlns:a16="http://schemas.microsoft.com/office/drawing/2014/main" id="{8C34B116-13A9-EE0C-5BDA-8751DDDAE07F}"/>
              </a:ext>
            </a:extLst>
          </p:cNvPr>
          <p:cNvGrpSpPr/>
          <p:nvPr/>
        </p:nvGrpSpPr>
        <p:grpSpPr>
          <a:xfrm>
            <a:off x="34833" y="2516249"/>
            <a:ext cx="3135963" cy="3953262"/>
            <a:chOff x="34833" y="2516249"/>
            <a:chExt cx="3135963" cy="3953262"/>
          </a:xfrm>
        </p:grpSpPr>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A232AD4F-C65C-77CC-3AD8-4631E6152216}"/>
                    </a:ext>
                  </a:extLst>
                </p:cNvPr>
                <p:cNvSpPr/>
                <p:nvPr/>
              </p:nvSpPr>
              <p:spPr>
                <a:xfrm>
                  <a:off x="34833" y="2516249"/>
                  <a:ext cx="3135963" cy="3953262"/>
                </a:xfrm>
                <a:prstGeom prst="rect">
                  <a:avLst/>
                </a:prstGeom>
                <a:ln>
                  <a:solidFill>
                    <a:srgbClr val="FF0000"/>
                  </a:solidFill>
                </a:ln>
              </p:spPr>
              <p:txBody>
                <a:bodyPr wrap="square">
                  <a:spAutoFit/>
                </a:bodyPr>
                <a:lstStyle/>
                <a:p>
                  <a:pPr algn="ctr">
                    <a:lnSpc>
                      <a:spcPct val="150000"/>
                    </a:lnSpc>
                    <a:spcAft>
                      <a:spcPts val="600"/>
                    </a:spcAft>
                  </a:pPr>
                  <a:r>
                    <a:rPr lang="zh-CN" altLang="en-US" dirty="0">
                      <a:solidFill>
                        <a:srgbClr val="000000"/>
                      </a:solidFill>
                      <a:latin typeface="Times New Roman" panose="02020603050405020304" pitchFamily="18" charset="0"/>
                      <a:ea typeface="楷体_GB2312"/>
                      <a:cs typeface="Times New Roman" panose="02020603050405020304" pitchFamily="18" charset="0"/>
                    </a:rPr>
                    <a:t>如果</a:t>
                  </a:r>
                  <a:r>
                    <a:rPr lang="en-US" altLang="zh-CN" dirty="0">
                      <a:solidFill>
                        <a:srgbClr val="000000"/>
                      </a:solidFill>
                      <a:latin typeface="Times New Roman" panose="02020603050405020304" pitchFamily="18" charset="0"/>
                      <a:ea typeface="楷体_GB2312"/>
                      <a:cs typeface="Times New Roman" panose="02020603050405020304" pitchFamily="18" charset="0"/>
                    </a:rPr>
                    <a:t>loss</a:t>
                  </a:r>
                  <a:r>
                    <a:rPr lang="zh-CN" altLang="en-US" dirty="0">
                      <a:solidFill>
                        <a:srgbClr val="000000"/>
                      </a:solidFill>
                      <a:latin typeface="Times New Roman" panose="02020603050405020304" pitchFamily="18" charset="0"/>
                      <a:ea typeface="楷体_GB2312"/>
                      <a:cs typeface="Times New Roman" panose="02020603050405020304" pitchFamily="18" charset="0"/>
                    </a:rPr>
                    <a:t>是</a:t>
                  </a:r>
                  <a:r>
                    <a:rPr lang="en-US" altLang="zh-CN" dirty="0">
                      <a:solidFill>
                        <a:srgbClr val="000000"/>
                      </a:solidFill>
                      <a:latin typeface="Times New Roman" panose="02020603050405020304" pitchFamily="18" charset="0"/>
                      <a:ea typeface="楷体_GB2312"/>
                      <a:cs typeface="Times New Roman" panose="02020603050405020304" pitchFamily="18" charset="0"/>
                    </a:rPr>
                    <a:t>MSE</a:t>
                  </a:r>
                </a:p>
                <a:p>
                  <a:pPr algn="ctr">
                    <a:lnSpc>
                      <a:spcPct val="150000"/>
                    </a:lnSpc>
                    <a:spcAft>
                      <a:spcPts val="600"/>
                    </a:spcAft>
                  </a:pP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a:lnSpc>
                      <a:spcPct val="150000"/>
                    </a:lnSpc>
                    <a:spcAft>
                      <a:spcPts val="600"/>
                    </a:spcAft>
                  </a:pPr>
                  <a14:m>
                    <m:oMathPara xmlns:m="http://schemas.openxmlformats.org/officeDocument/2006/math">
                      <m:oMathParaPr>
                        <m:jc m:val="centerGroup"/>
                      </m:oMathParaPr>
                      <m:oMath xmlns:m="http://schemas.openxmlformats.org/officeDocument/2006/math">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ℒ</m:t>
                            </m:r>
                          </m:num>
                          <m:den>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den>
                        </m:f>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 </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spcAft>
                      <a:spcPts val="600"/>
                    </a:spcAft>
                  </a:pPr>
                  <a14:m>
                    <m:oMathPara xmlns:m="http://schemas.openxmlformats.org/officeDocument/2006/math">
                      <m:oMathParaPr>
                        <m:jc m:val="centerGroup"/>
                      </m:oMathParaPr>
                      <m:oMath xmlns:m="http://schemas.openxmlformats.org/officeDocument/2006/math">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num>
                          <m:den>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den>
                        </m:f>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∗(1 −</m:t>
                        </m:r>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spcAft>
                      <a:spcPts val="600"/>
                    </a:spcAft>
                  </a:pPr>
                  <a14:m>
                    <m:oMathPara xmlns:m="http://schemas.openxmlformats.org/officeDocument/2006/math">
                      <m:oMathParaPr>
                        <m:jc m:val="centerGroup"/>
                      </m:oMathParaPr>
                      <m:oMath xmlns:m="http://schemas.openxmlformats.org/officeDocument/2006/math">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num>
                          <m:den>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𝑤</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7</m:t>
                                </m:r>
                              </m:sub>
                            </m:sSub>
                          </m:den>
                        </m:f>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𝑂𝑢𝑡</m:t>
                            </m:r>
                          </m:e>
                          <m:sub>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6" name="矩形 15">
                  <a:extLst>
                    <a:ext uri="{FF2B5EF4-FFF2-40B4-BE49-F238E27FC236}">
                      <a16:creationId xmlns:a16="http://schemas.microsoft.com/office/drawing/2014/main" id="{A232AD4F-C65C-77CC-3AD8-4631E6152216}"/>
                    </a:ext>
                  </a:extLst>
                </p:cNvPr>
                <p:cNvSpPr>
                  <a:spLocks noRot="1" noChangeAspect="1" noMove="1" noResize="1" noEditPoints="1" noAdjustHandles="1" noChangeArrowheads="1" noChangeShapeType="1" noTextEdit="1"/>
                </p:cNvSpPr>
                <p:nvPr/>
              </p:nvSpPr>
              <p:spPr>
                <a:xfrm>
                  <a:off x="34833" y="2516249"/>
                  <a:ext cx="3135963" cy="3953262"/>
                </a:xfrm>
                <a:prstGeom prst="rect">
                  <a:avLst/>
                </a:prstGeom>
                <a:blipFill>
                  <a:blip r:embed="rId5"/>
                  <a:stretch>
                    <a:fillRect/>
                  </a:stretch>
                </a:blipFill>
                <a:ln>
                  <a:solidFill>
                    <a:srgbClr val="FF0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43161ABE-4954-3662-3EE0-0D189A7E464A}"/>
                    </a:ext>
                  </a:extLst>
                </p:cNvPr>
                <p:cNvSpPr/>
                <p:nvPr/>
              </p:nvSpPr>
              <p:spPr>
                <a:xfrm>
                  <a:off x="393284" y="3068983"/>
                  <a:ext cx="2493631" cy="6591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kern="100" smtClean="0">
                            <a:latin typeface="Cambria Math" panose="02040503050406030204" pitchFamily="18" charset="0"/>
                            <a:ea typeface="华文楷体" panose="02010600040101010101" pitchFamily="2" charset="-122"/>
                            <a:cs typeface="Times New Roman" panose="02020603050405020304" pitchFamily="18" charset="0"/>
                          </a:rPr>
                          <m:t>ℒ</m:t>
                        </m:r>
                        <m:r>
                          <a:rPr lang="en-US" altLang="zh-CN"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b="0" i="1" kern="100" smtClean="0">
                                <a:latin typeface="Cambria Math" panose="02040503050406030204" pitchFamily="18" charset="0"/>
                                <a:ea typeface="华文楷体" panose="02010600040101010101" pitchFamily="2" charset="-122"/>
                                <a:cs typeface="Times New Roman" panose="02020603050405020304" pitchFamily="18" charset="0"/>
                              </a:rPr>
                              <m:t>3</m:t>
                            </m:r>
                          </m:den>
                        </m:f>
                        <m:nary>
                          <m:naryPr>
                            <m:chr m:val="∑"/>
                            <m:limLoc m:val="subSup"/>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b="0" i="1" kern="100" smtClean="0">
                                <a:latin typeface="Cambria Math" panose="02040503050406030204" pitchFamily="18" charset="0"/>
                                <a:ea typeface="华文楷体" panose="02010600040101010101" pitchFamily="2" charset="-122"/>
                                <a:cs typeface="Times New Roman" panose="02020603050405020304" pitchFamily="18" charset="0"/>
                              </a:rPr>
                              <m:t>3</m:t>
                            </m:r>
                          </m:sup>
                          <m:e>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acc>
                                      <m:accPr>
                                        <m:chr m:val="̂"/>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acc>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e>
                              <m:sup>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2</m:t>
                                </m:r>
                              </m:sup>
                            </m:sSup>
                          </m:e>
                        </m:nary>
                      </m:oMath>
                    </m:oMathPara>
                  </a14:m>
                  <a:endParaRPr lang="zh-CN" altLang="en-US" dirty="0"/>
                </a:p>
              </p:txBody>
            </p:sp>
          </mc:Choice>
          <mc:Fallback xmlns="">
            <p:sp>
              <p:nvSpPr>
                <p:cNvPr id="23" name="矩形 22">
                  <a:extLst>
                    <a:ext uri="{FF2B5EF4-FFF2-40B4-BE49-F238E27FC236}">
                      <a16:creationId xmlns:a16="http://schemas.microsoft.com/office/drawing/2014/main" id="{43161ABE-4954-3662-3EE0-0D189A7E464A}"/>
                    </a:ext>
                  </a:extLst>
                </p:cNvPr>
                <p:cNvSpPr>
                  <a:spLocks noRot="1" noChangeAspect="1" noMove="1" noResize="1" noEditPoints="1" noAdjustHandles="1" noChangeArrowheads="1" noChangeShapeType="1" noTextEdit="1"/>
                </p:cNvSpPr>
                <p:nvPr/>
              </p:nvSpPr>
              <p:spPr>
                <a:xfrm>
                  <a:off x="393284" y="3068983"/>
                  <a:ext cx="2493631" cy="659155"/>
                </a:xfrm>
                <a:prstGeom prst="rect">
                  <a:avLst/>
                </a:prstGeom>
                <a:blipFill>
                  <a:blip r:embed="rId6"/>
                  <a:stretch>
                    <a:fillRect/>
                  </a:stretch>
                </a:blipFill>
              </p:spPr>
              <p:txBody>
                <a:bodyPr/>
                <a:lstStyle/>
                <a:p>
                  <a:r>
                    <a:rPr lang="zh-CN" altLang="en-US">
                      <a:noFill/>
                    </a:rPr>
                    <a:t> </a:t>
                  </a:r>
                </a:p>
              </p:txBody>
            </p:sp>
          </mc:Fallback>
        </mc:AlternateContent>
        <p:cxnSp>
          <p:nvCxnSpPr>
            <p:cNvPr id="25" name="直接连接符 24">
              <a:extLst>
                <a:ext uri="{FF2B5EF4-FFF2-40B4-BE49-F238E27FC236}">
                  <a16:creationId xmlns:a16="http://schemas.microsoft.com/office/drawing/2014/main" id="{1E873305-94EF-3C0A-44EB-33EA52BF4760}"/>
                </a:ext>
              </a:extLst>
            </p:cNvPr>
            <p:cNvCxnSpPr/>
            <p:nvPr/>
          </p:nvCxnSpPr>
          <p:spPr>
            <a:xfrm>
              <a:off x="1408003" y="4242712"/>
              <a:ext cx="101019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12AFF37A-25C3-CFFA-9A8E-DDF9F29029EB}"/>
                </a:ext>
              </a:extLst>
            </p:cNvPr>
            <p:cNvCxnSpPr>
              <a:cxnSpLocks/>
            </p:cNvCxnSpPr>
            <p:nvPr/>
          </p:nvCxnSpPr>
          <p:spPr>
            <a:xfrm>
              <a:off x="1270782" y="5274679"/>
              <a:ext cx="139458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5" name="组合 34">
            <a:extLst>
              <a:ext uri="{FF2B5EF4-FFF2-40B4-BE49-F238E27FC236}">
                <a16:creationId xmlns:a16="http://schemas.microsoft.com/office/drawing/2014/main" id="{A36283F3-A8B3-4A83-E8C6-38FB46C9D3A6}"/>
              </a:ext>
            </a:extLst>
          </p:cNvPr>
          <p:cNvGrpSpPr/>
          <p:nvPr/>
        </p:nvGrpSpPr>
        <p:grpSpPr>
          <a:xfrm>
            <a:off x="3249176" y="2512656"/>
            <a:ext cx="4121981" cy="4096891"/>
            <a:chOff x="3214340" y="2512656"/>
            <a:chExt cx="4121981" cy="4096891"/>
          </a:xfrm>
        </p:grpSpPr>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FE2B1F5B-2224-45C9-7E94-CBBFB1243238}"/>
                    </a:ext>
                  </a:extLst>
                </p:cNvPr>
                <p:cNvSpPr/>
                <p:nvPr/>
              </p:nvSpPr>
              <p:spPr>
                <a:xfrm>
                  <a:off x="3214340" y="2512656"/>
                  <a:ext cx="4121981" cy="4096891"/>
                </a:xfrm>
                <a:prstGeom prst="rect">
                  <a:avLst/>
                </a:prstGeom>
                <a:ln>
                  <a:solidFill>
                    <a:srgbClr val="7030A0"/>
                  </a:solidFill>
                </a:ln>
              </p:spPr>
              <p:txBody>
                <a:bodyPr wrap="square">
                  <a:spAutoFit/>
                </a:bodyPr>
                <a:lstStyle/>
                <a:p>
                  <a:pPr indent="266700">
                    <a:lnSpc>
                      <a:spcPts val="2200"/>
                    </a:lnSpc>
                    <a:spcAft>
                      <a:spcPts val="0"/>
                    </a:spcAft>
                  </a:pPr>
                  <a:r>
                    <a:rPr lang="zh-CN" altLang="en-US" dirty="0">
                      <a:solidFill>
                        <a:srgbClr val="000000"/>
                      </a:solidFill>
                      <a:latin typeface="Times New Roman" panose="02020603050405020304" pitchFamily="18" charset="0"/>
                      <a:ea typeface="楷体_GB2312"/>
                      <a:cs typeface="Times New Roman" panose="02020603050405020304" pitchFamily="18" charset="0"/>
                    </a:rPr>
                    <a:t>           如果</a:t>
                  </a:r>
                  <a:r>
                    <a:rPr lang="en-US" altLang="zh-CN" dirty="0">
                      <a:solidFill>
                        <a:srgbClr val="000000"/>
                      </a:solidFill>
                      <a:latin typeface="Times New Roman" panose="02020603050405020304" pitchFamily="18" charset="0"/>
                      <a:ea typeface="楷体_GB2312"/>
                      <a:cs typeface="Times New Roman" panose="02020603050405020304" pitchFamily="18" charset="0"/>
                    </a:rPr>
                    <a:t>loss</a:t>
                  </a:r>
                  <a:r>
                    <a:rPr lang="zh-CN" altLang="en-US" dirty="0">
                      <a:solidFill>
                        <a:srgbClr val="000000"/>
                      </a:solidFill>
                      <a:latin typeface="Times New Roman" panose="02020603050405020304" pitchFamily="18" charset="0"/>
                      <a:ea typeface="楷体_GB2312"/>
                      <a:cs typeface="Times New Roman" panose="02020603050405020304" pitchFamily="18" charset="0"/>
                    </a:rPr>
                    <a:t>是交叉熵</a:t>
                  </a: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nSpc>
                      <a:spcPts val="2200"/>
                    </a:lnSpc>
                    <a:spcAft>
                      <a:spcPts val="0"/>
                    </a:spcAft>
                  </a:pP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nSpc>
                      <a:spcPts val="2200"/>
                    </a:lnSpc>
                    <a:spcAft>
                      <a:spcPts val="0"/>
                    </a:spcAft>
                  </a:pP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ctr">
                    <a:lnSpc>
                      <a:spcPts val="2200"/>
                    </a:lnSpc>
                    <a:spcAft>
                      <a:spcPts val="0"/>
                    </a:spcAft>
                  </a:pP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a:lnSpc>
                      <a:spcPct val="150000"/>
                    </a:lnSpc>
                    <a:spcAft>
                      <a:spcPts val="600"/>
                    </a:spcAft>
                  </a:pPr>
                  <a14:m>
                    <m:oMathPara xmlns:m="http://schemas.openxmlformats.org/officeDocument/2006/math">
                      <m:oMathParaPr>
                        <m:jc m:val="centerGroup"/>
                      </m:oMathParaPr>
                      <m:oMath xmlns:m="http://schemas.openxmlformats.org/officeDocument/2006/math">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ℒ</m:t>
                            </m:r>
                          </m:num>
                          <m:den>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den>
                        </m:f>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en-US" altLang="zh-CN" i="1" kern="100" smtClean="0">
                                <a:latin typeface="Cambria Math" panose="02040503050406030204" pitchFamily="18" charset="0"/>
                                <a:ea typeface="华文楷体" panose="02010600040101010101" pitchFamily="2" charset="-122"/>
                                <a:cs typeface="Times New Roman" panose="02020603050405020304" pitchFamily="18" charset="0"/>
                              </a:rPr>
                            </m:ctrlPr>
                          </m:fPr>
                          <m:num>
                            <m:sSub>
                              <m:sSubPr>
                                <m:ctrlPr>
                                  <a:rPr lang="zh-CN"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𝑖</m:t>
                                </m:r>
                              </m:sub>
                            </m:sSub>
                          </m:num>
                          <m:den>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den>
                        </m:f>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spcAft>
                      <a:spcPts val="600"/>
                    </a:spcAft>
                  </a:pPr>
                  <a14:m>
                    <m:oMathPara xmlns:m="http://schemas.openxmlformats.org/officeDocument/2006/math">
                      <m:oMathParaPr>
                        <m:jc m:val="centerGroup"/>
                      </m:oMathParaPr>
                      <m:oMath xmlns:m="http://schemas.openxmlformats.org/officeDocument/2006/math">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num>
                          <m:den>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den>
                        </m:f>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∗(1 −</m:t>
                        </m:r>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spcAft>
                      <a:spcPts val="600"/>
                    </a:spcAft>
                  </a:pPr>
                  <a14:m>
                    <m:oMathPara xmlns:m="http://schemas.openxmlformats.org/officeDocument/2006/math">
                      <m:oMathParaPr>
                        <m:jc m:val="centerGroup"/>
                      </m:oMathParaPr>
                      <m:oMath xmlns:m="http://schemas.openxmlformats.org/officeDocument/2006/math">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num>
                          <m:den>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𝑤</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7</m:t>
                                </m:r>
                              </m:sub>
                            </m:sSub>
                          </m:den>
                        </m:f>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𝑂𝑢𝑡</m:t>
                            </m:r>
                          </m:e>
                          <m:sub>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9" name="矩形 18">
                  <a:extLst>
                    <a:ext uri="{FF2B5EF4-FFF2-40B4-BE49-F238E27FC236}">
                      <a16:creationId xmlns:a16="http://schemas.microsoft.com/office/drawing/2014/main" id="{FE2B1F5B-2224-45C9-7E94-CBBFB1243238}"/>
                    </a:ext>
                  </a:extLst>
                </p:cNvPr>
                <p:cNvSpPr>
                  <a:spLocks noRot="1" noChangeAspect="1" noMove="1" noResize="1" noEditPoints="1" noAdjustHandles="1" noChangeArrowheads="1" noChangeShapeType="1" noTextEdit="1"/>
                </p:cNvSpPr>
                <p:nvPr/>
              </p:nvSpPr>
              <p:spPr>
                <a:xfrm>
                  <a:off x="3214340" y="2512656"/>
                  <a:ext cx="4121981" cy="4096891"/>
                </a:xfrm>
                <a:prstGeom prst="rect">
                  <a:avLst/>
                </a:prstGeom>
                <a:blipFill>
                  <a:blip r:embed="rId7"/>
                  <a:stretch>
                    <a:fillRect t="-890"/>
                  </a:stretch>
                </a:blipFill>
                <a:ln>
                  <a:solidFill>
                    <a:srgbClr val="7030A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62E0D600-2169-AA8B-FE16-0C51FD1D8D57}"/>
                    </a:ext>
                  </a:extLst>
                </p:cNvPr>
                <p:cNvSpPr/>
                <p:nvPr/>
              </p:nvSpPr>
              <p:spPr>
                <a:xfrm>
                  <a:off x="3987172" y="3032924"/>
                  <a:ext cx="2601866" cy="65915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kern="100" smtClean="0">
                            <a:latin typeface="Cambria Math" panose="02040503050406030204" pitchFamily="18" charset="0"/>
                            <a:ea typeface="华文楷体" panose="02010600040101010101" pitchFamily="2" charset="-122"/>
                            <a:cs typeface="Times New Roman" panose="02020603050405020304" pitchFamily="18" charset="0"/>
                          </a:rPr>
                          <m:t>ℒ</m:t>
                        </m:r>
                        <m:r>
                          <a:rPr lang="en-US" altLang="zh-CN">
                            <a:latin typeface="Cambria Math" panose="02040503050406030204" pitchFamily="18" charset="0"/>
                          </a:rPr>
                          <m:t>=</m:t>
                        </m:r>
                        <m:r>
                          <a:rPr lang="en-US" altLang="zh-CN" i="1">
                            <a:latin typeface="Cambria Math" panose="02040503050406030204" pitchFamily="18" charset="0"/>
                          </a:rPr>
                          <m:t>−</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b="0" i="1" kern="100" smtClean="0">
                                <a:latin typeface="Cambria Math" panose="02040503050406030204" pitchFamily="18" charset="0"/>
                                <a:ea typeface="华文楷体" panose="02010600040101010101" pitchFamily="2" charset="-122"/>
                                <a:cs typeface="Times New Roman" panose="02020603050405020304" pitchFamily="18" charset="0"/>
                              </a:rPr>
                              <m:t>3</m:t>
                            </m:r>
                          </m:den>
                        </m:f>
                        <m:nary>
                          <m:naryPr>
                            <m:chr m:val="∑"/>
                            <m:limLoc m:val="subSup"/>
                            <m:ctrlPr>
                              <a:rPr lang="en-US" altLang="zh-CN" i="1" kern="100" smtClean="0">
                                <a:latin typeface="Cambria Math" panose="02040503050406030204" pitchFamily="18" charset="0"/>
                                <a:ea typeface="华文楷体" panose="02010600040101010101" pitchFamily="2" charset="-122"/>
                                <a:cs typeface="Times New Roman" panose="02020603050405020304" pitchFamily="18" charset="0"/>
                              </a:rPr>
                            </m:ctrlPr>
                          </m:naryPr>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𝑖</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b="0" i="1" kern="100" smtClean="0">
                                <a:latin typeface="Cambria Math" panose="02040503050406030204" pitchFamily="18" charset="0"/>
                                <a:ea typeface="华文楷体" panose="02010600040101010101" pitchFamily="2" charset="-122"/>
                                <a:cs typeface="Times New Roman" panose="02020603050405020304" pitchFamily="18" charset="0"/>
                              </a:rPr>
                              <m:t>3</m:t>
                            </m:r>
                          </m:sup>
                          <m:e>
                            <m:sSub>
                              <m:sSubPr>
                                <m:ctrlPr>
                                  <a:rPr lang="zh-CN"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i="1">
                                <a:latin typeface="Cambria Math" panose="02040503050406030204" pitchFamily="18" charset="0"/>
                              </a:rPr>
                              <m:t>𝑙𝑜𝑔</m:t>
                            </m:r>
                            <m:sSub>
                              <m:sSubPr>
                                <m:ctrlPr>
                                  <a:rPr lang="zh-CN" altLang="zh-CN" i="1">
                                    <a:latin typeface="Cambria Math" panose="02040503050406030204" pitchFamily="18" charset="0"/>
                                  </a:rPr>
                                </m:ctrlPr>
                              </m:sSubPr>
                              <m:e>
                                <m:acc>
                                  <m:accPr>
                                    <m:chr m:val="̂"/>
                                    <m:ctrlPr>
                                      <a:rPr lang="zh-CN" altLang="zh-CN" i="1">
                                        <a:latin typeface="Cambria Math" panose="02040503050406030204" pitchFamily="18" charset="0"/>
                                      </a:rPr>
                                    </m:ctrlPr>
                                  </m:accPr>
                                  <m:e>
                                    <m:r>
                                      <a:rPr lang="en-US" altLang="zh-CN" i="1">
                                        <a:latin typeface="Cambria Math" panose="02040503050406030204" pitchFamily="18" charset="0"/>
                                      </a:rPr>
                                      <m:t>𝑦</m:t>
                                    </m:r>
                                  </m:e>
                                </m:acc>
                              </m:e>
                              <m:sub>
                                <m:r>
                                  <a:rPr lang="en-US" altLang="zh-CN" i="1">
                                    <a:latin typeface="Cambria Math" panose="02040503050406030204" pitchFamily="18" charset="0"/>
                                  </a:rPr>
                                  <m:t>𝑖</m:t>
                                </m:r>
                              </m:sub>
                            </m:sSub>
                          </m:e>
                        </m:nary>
                      </m:oMath>
                    </m:oMathPara>
                  </a14:m>
                  <a:endParaRPr lang="zh-CN" altLang="en-US" dirty="0"/>
                </a:p>
              </p:txBody>
            </p:sp>
          </mc:Choice>
          <mc:Fallback xmlns="">
            <p:sp>
              <p:nvSpPr>
                <p:cNvPr id="20" name="矩形 19">
                  <a:extLst>
                    <a:ext uri="{FF2B5EF4-FFF2-40B4-BE49-F238E27FC236}">
                      <a16:creationId xmlns:a16="http://schemas.microsoft.com/office/drawing/2014/main" id="{62E0D600-2169-AA8B-FE16-0C51FD1D8D57}"/>
                    </a:ext>
                  </a:extLst>
                </p:cNvPr>
                <p:cNvSpPr>
                  <a:spLocks noRot="1" noChangeAspect="1" noMove="1" noResize="1" noEditPoints="1" noAdjustHandles="1" noChangeArrowheads="1" noChangeShapeType="1" noTextEdit="1"/>
                </p:cNvSpPr>
                <p:nvPr/>
              </p:nvSpPr>
              <p:spPr>
                <a:xfrm>
                  <a:off x="3987172" y="3032924"/>
                  <a:ext cx="2601866" cy="659155"/>
                </a:xfrm>
                <a:prstGeom prst="rect">
                  <a:avLst/>
                </a:prstGeom>
                <a:blipFill>
                  <a:blip r:embed="rId8"/>
                  <a:stretch>
                    <a:fillRect/>
                  </a:stretch>
                </a:blipFill>
              </p:spPr>
              <p:txBody>
                <a:bodyPr/>
                <a:lstStyle/>
                <a:p>
                  <a:r>
                    <a:rPr lang="zh-CN" altLang="en-US">
                      <a:noFill/>
                    </a:rPr>
                    <a:t> </a:t>
                  </a:r>
                </a:p>
              </p:txBody>
            </p:sp>
          </mc:Fallback>
        </mc:AlternateContent>
        <p:cxnSp>
          <p:nvCxnSpPr>
            <p:cNvPr id="28" name="直接连接符 27">
              <a:extLst>
                <a:ext uri="{FF2B5EF4-FFF2-40B4-BE49-F238E27FC236}">
                  <a16:creationId xmlns:a16="http://schemas.microsoft.com/office/drawing/2014/main" id="{9727C93C-AAF0-C5D6-CD65-742863764D84}"/>
                </a:ext>
              </a:extLst>
            </p:cNvPr>
            <p:cNvCxnSpPr>
              <a:cxnSpLocks/>
            </p:cNvCxnSpPr>
            <p:nvPr/>
          </p:nvCxnSpPr>
          <p:spPr>
            <a:xfrm>
              <a:off x="5502443" y="4242712"/>
              <a:ext cx="331591" cy="27703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D375C599-D28C-6131-3B32-7411D73CB36F}"/>
                </a:ext>
              </a:extLst>
            </p:cNvPr>
            <p:cNvCxnSpPr>
              <a:cxnSpLocks/>
            </p:cNvCxnSpPr>
            <p:nvPr/>
          </p:nvCxnSpPr>
          <p:spPr>
            <a:xfrm>
              <a:off x="4960907" y="5032888"/>
              <a:ext cx="331591" cy="27703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3" name="矩形 32">
            <a:extLst>
              <a:ext uri="{FF2B5EF4-FFF2-40B4-BE49-F238E27FC236}">
                <a16:creationId xmlns:a16="http://schemas.microsoft.com/office/drawing/2014/main" id="{D6E19D60-E397-E909-5B0E-18331F8D0C18}"/>
              </a:ext>
            </a:extLst>
          </p:cNvPr>
          <p:cNvSpPr/>
          <p:nvPr/>
        </p:nvSpPr>
        <p:spPr>
          <a:xfrm>
            <a:off x="7673612" y="3793504"/>
            <a:ext cx="4280478" cy="1481175"/>
          </a:xfrm>
          <a:prstGeom prst="rect">
            <a:avLst/>
          </a:prstGeom>
          <a:ln w="38100"/>
        </p:spPr>
        <p:style>
          <a:lnRef idx="2">
            <a:schemeClr val="accent2"/>
          </a:lnRef>
          <a:fillRef idx="1">
            <a:schemeClr val="lt1"/>
          </a:fillRef>
          <a:effectRef idx="0">
            <a:schemeClr val="accent2"/>
          </a:effectRef>
          <a:fontRef idx="minor">
            <a:schemeClr val="dk1"/>
          </a:fontRef>
        </p:style>
        <p:txBody>
          <a:bodyPr wrap="square">
            <a:spAutoFit/>
          </a:bodyPr>
          <a:lstStyle/>
          <a:p>
            <a:pPr indent="266700" algn="ctr">
              <a:lnSpc>
                <a:spcPts val="2200"/>
              </a:lnSpc>
              <a:spcAft>
                <a:spcPts val="0"/>
              </a:spcAft>
            </a:pPr>
            <a:r>
              <a:rPr lang="zh-CN" altLang="en-US" sz="1600" dirty="0">
                <a:solidFill>
                  <a:srgbClr val="000000"/>
                </a:solidFill>
                <a:latin typeface="Times New Roman" panose="02020603050405020304" pitchFamily="18" charset="0"/>
                <a:ea typeface="楷体_GB2312"/>
                <a:cs typeface="Times New Roman" panose="02020603050405020304" pitchFamily="18" charset="0"/>
              </a:rPr>
              <a:t>（</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1</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）如果</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loss</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是</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MSE</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，那么倒数由多个小于</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1</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的数相乘所以很容易趋近于</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0</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a:t>
            </a:r>
            <a:r>
              <a:rPr lang="zh-CN" altLang="en-US" sz="1600" dirty="0">
                <a:solidFill>
                  <a:schemeClr val="accent2"/>
                </a:solidFill>
                <a:latin typeface="Times New Roman" panose="02020603050405020304" pitchFamily="18" charset="0"/>
                <a:ea typeface="楷体_GB2312"/>
                <a:cs typeface="Times New Roman" panose="02020603050405020304" pitchFamily="18" charset="0"/>
              </a:rPr>
              <a:t>容易导致梯度消失</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；而如果</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loss</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是交叉熵，那么倒数中两个小于</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1</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的数可以约掉，倒数中小于</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1</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的数减少了，所以</a:t>
            </a:r>
            <a:r>
              <a:rPr lang="zh-CN" altLang="en-US" sz="1600" dirty="0">
                <a:solidFill>
                  <a:schemeClr val="accent2"/>
                </a:solidFill>
                <a:latin typeface="Times New Roman" panose="02020603050405020304" pitchFamily="18" charset="0"/>
                <a:ea typeface="楷体_GB2312"/>
                <a:cs typeface="Times New Roman" panose="02020603050405020304" pitchFamily="18" charset="0"/>
              </a:rPr>
              <a:t>可缓解梯度消失</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的情况。</a:t>
            </a:r>
            <a:endParaRPr lang="zh-CN" altLang="zh-CN" sz="1600" dirty="0">
              <a:solidFill>
                <a:srgbClr val="000000"/>
              </a:solidFill>
              <a:latin typeface="Times New Roman" panose="02020603050405020304" pitchFamily="18" charset="0"/>
              <a:ea typeface="楷体_GB2312"/>
              <a:cs typeface="Times New Roman" panose="02020603050405020304" pitchFamily="18" charset="0"/>
            </a:endParaRPr>
          </a:p>
        </p:txBody>
      </p:sp>
      <p:sp>
        <p:nvSpPr>
          <p:cNvPr id="36" name="矩形 35">
            <a:extLst>
              <a:ext uri="{FF2B5EF4-FFF2-40B4-BE49-F238E27FC236}">
                <a16:creationId xmlns:a16="http://schemas.microsoft.com/office/drawing/2014/main" id="{83A7C59B-7A30-2CFD-0701-08F75ED30864}"/>
              </a:ext>
            </a:extLst>
          </p:cNvPr>
          <p:cNvSpPr/>
          <p:nvPr/>
        </p:nvSpPr>
        <p:spPr>
          <a:xfrm>
            <a:off x="7673612" y="5376825"/>
            <a:ext cx="4280478" cy="1199046"/>
          </a:xfrm>
          <a:prstGeom prst="rect">
            <a:avLst/>
          </a:prstGeom>
          <a:ln w="38100"/>
        </p:spPr>
        <p:style>
          <a:lnRef idx="2">
            <a:schemeClr val="accent2"/>
          </a:lnRef>
          <a:fillRef idx="1">
            <a:schemeClr val="lt1"/>
          </a:fillRef>
          <a:effectRef idx="0">
            <a:schemeClr val="accent2"/>
          </a:effectRef>
          <a:fontRef idx="minor">
            <a:schemeClr val="dk1"/>
          </a:fontRef>
        </p:style>
        <p:txBody>
          <a:bodyPr wrap="square">
            <a:spAutoFit/>
          </a:bodyPr>
          <a:lstStyle/>
          <a:p>
            <a:pPr indent="266700" algn="ctr">
              <a:lnSpc>
                <a:spcPts val="2200"/>
              </a:lnSpc>
              <a:spcAft>
                <a:spcPts val="0"/>
              </a:spcAft>
            </a:pPr>
            <a:r>
              <a:rPr lang="zh-CN" altLang="en-US" sz="1600" dirty="0">
                <a:solidFill>
                  <a:srgbClr val="000000"/>
                </a:solidFill>
                <a:latin typeface="Times New Roman" panose="02020603050405020304" pitchFamily="18" charset="0"/>
                <a:ea typeface="楷体_GB2312"/>
                <a:cs typeface="Times New Roman" panose="02020603050405020304" pitchFamily="18" charset="0"/>
              </a:rPr>
              <a:t>（</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2</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MSE</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作为损失函数假设其标签信息是连续型随机变量并符合</a:t>
            </a:r>
            <a:r>
              <a:rPr lang="zh-CN" altLang="en-US" sz="1600" dirty="0">
                <a:solidFill>
                  <a:schemeClr val="accent2"/>
                </a:solidFill>
                <a:latin typeface="Times New Roman" panose="02020603050405020304" pitchFamily="18" charset="0"/>
                <a:ea typeface="楷体_GB2312"/>
                <a:cs typeface="Times New Roman" panose="02020603050405020304" pitchFamily="18" charset="0"/>
              </a:rPr>
              <a:t>高斯分布</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，交叉熵假设其标签信息是离散型随机变量并符合</a:t>
            </a:r>
            <a:r>
              <a:rPr lang="zh-CN" altLang="en-US" sz="1600" dirty="0">
                <a:solidFill>
                  <a:schemeClr val="accent2"/>
                </a:solidFill>
                <a:latin typeface="Times New Roman" panose="02020603050405020304" pitchFamily="18" charset="0"/>
                <a:ea typeface="楷体_GB2312"/>
                <a:cs typeface="Times New Roman" panose="02020603050405020304" pitchFamily="18" charset="0"/>
              </a:rPr>
              <a:t>多项式分布</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，两个分布不同。</a:t>
            </a:r>
            <a:endParaRPr lang="zh-CN" altLang="zh-CN" sz="1600" dirty="0">
              <a:solidFill>
                <a:srgbClr val="000000"/>
              </a:solidFill>
              <a:latin typeface="Times New Roman" panose="02020603050405020304" pitchFamily="18" charset="0"/>
              <a:ea typeface="楷体_GB2312"/>
              <a:cs typeface="Times New Roman" panose="02020603050405020304" pitchFamily="18" charset="0"/>
            </a:endParaRPr>
          </a:p>
        </p:txBody>
      </p:sp>
    </p:spTree>
    <p:extLst>
      <p:ext uri="{BB962C8B-B14F-4D97-AF65-F5344CB8AC3E}">
        <p14:creationId xmlns:p14="http://schemas.microsoft.com/office/powerpoint/2010/main" val="118413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神经网络参数优化：误差反向传播与参数更新例子</a:t>
              </a:r>
            </a:p>
          </p:txBody>
        </p:sp>
      </p:grpSp>
      <p:sp>
        <p:nvSpPr>
          <p:cNvPr id="10" name="矩形 9">
            <a:extLst>
              <a:ext uri="{FF2B5EF4-FFF2-40B4-BE49-F238E27FC236}">
                <a16:creationId xmlns:a16="http://schemas.microsoft.com/office/drawing/2014/main" id="{E2657679-6500-443D-8D7B-C7E26AD969D9}"/>
              </a:ext>
            </a:extLst>
          </p:cNvPr>
          <p:cNvSpPr/>
          <p:nvPr/>
        </p:nvSpPr>
        <p:spPr>
          <a:xfrm>
            <a:off x="852473" y="129010"/>
            <a:ext cx="2852063"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a:t>
            </a:r>
            <a:r>
              <a:rPr lang="zh-CN" altLang="en-US" sz="1600" dirty="0">
                <a:solidFill>
                  <a:srgbClr val="000000"/>
                </a:solidFill>
                <a:latin typeface="Times New Roman" panose="02020603050405020304" pitchFamily="18" charset="0"/>
              </a:rPr>
              <a:t>前馈神经网络与参数优化</a:t>
            </a:r>
          </a:p>
        </p:txBody>
      </p:sp>
      <p:sp>
        <p:nvSpPr>
          <p:cNvPr id="8" name="矩形 7">
            <a:extLst>
              <a:ext uri="{FF2B5EF4-FFF2-40B4-BE49-F238E27FC236}">
                <a16:creationId xmlns:a16="http://schemas.microsoft.com/office/drawing/2014/main" id="{30584048-6C12-46B0-93EE-121C9AD42ECE}"/>
              </a:ext>
            </a:extLst>
          </p:cNvPr>
          <p:cNvSpPr/>
          <p:nvPr/>
        </p:nvSpPr>
        <p:spPr>
          <a:xfrm>
            <a:off x="2054784" y="1699957"/>
            <a:ext cx="9127021" cy="358688"/>
          </a:xfrm>
          <a:prstGeom prst="rect">
            <a:avLst/>
          </a:prstGeom>
        </p:spPr>
        <p:txBody>
          <a:bodyPr wrap="square">
            <a:spAutoFit/>
          </a:bodyPr>
          <a:lstStyle/>
          <a:p>
            <a:pPr marL="285750" indent="-285750" algn="just">
              <a:lnSpc>
                <a:spcPts val="2200"/>
              </a:lnSpc>
              <a:spcAft>
                <a:spcPts val="0"/>
              </a:spcAft>
              <a:buFont typeface="Arial" panose="020B0604020202020204" pitchFamily="34" charset="0"/>
              <a:buChar char="•"/>
            </a:pPr>
            <a:r>
              <a:rPr lang="zh-CN" altLang="zh-CN" dirty="0">
                <a:solidFill>
                  <a:srgbClr val="000000"/>
                </a:solidFill>
                <a:latin typeface="Times New Roman" panose="02020603050405020304" pitchFamily="18" charset="0"/>
                <a:ea typeface="楷体_GB2312"/>
                <a:cs typeface="Times New Roman" panose="02020603050405020304" pitchFamily="18" charset="0"/>
              </a:rPr>
              <a:t>下面通过一个三类分类的具体例子来介绍神经网络中参数更新过程。</a:t>
            </a: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166A1399-E7E8-C5AA-E605-C143A5B7B81E}"/>
                  </a:ext>
                </a:extLst>
              </p:cNvPr>
              <p:cNvGraphicFramePr>
                <a:graphicFrameLocks noGrp="1"/>
              </p:cNvGraphicFramePr>
              <p:nvPr>
                <p:extLst>
                  <p:ext uri="{D42A27DB-BD31-4B8C-83A1-F6EECF244321}">
                    <p14:modId xmlns:p14="http://schemas.microsoft.com/office/powerpoint/2010/main" val="2536021826"/>
                  </p:ext>
                </p:extLst>
              </p:nvPr>
            </p:nvGraphicFramePr>
            <p:xfrm>
              <a:off x="2054784" y="2252470"/>
              <a:ext cx="8128000" cy="2133966"/>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231418235"/>
                        </a:ext>
                      </a:extLst>
                    </a:gridCol>
                    <a:gridCol w="4064000">
                      <a:extLst>
                        <a:ext uri="{9D8B030D-6E8A-4147-A177-3AD203B41FA5}">
                          <a16:colId xmlns:a16="http://schemas.microsoft.com/office/drawing/2014/main" val="2818042780"/>
                        </a:ext>
                      </a:extLst>
                    </a:gridCol>
                  </a:tblGrid>
                  <a:tr h="525661">
                    <a:tc>
                      <a:txBody>
                        <a:bodyPr/>
                        <a:lstStyle/>
                        <a:p>
                          <a:pPr algn="ctr"/>
                          <a:r>
                            <a:rPr lang="zh-CN" altLang="zh-CN" b="0" dirty="0">
                              <a:solidFill>
                                <a:srgbClr val="000000"/>
                              </a:solidFill>
                              <a:latin typeface="Times New Roman" panose="02020603050405020304" pitchFamily="18" charset="0"/>
                              <a:ea typeface="楷体_GB2312"/>
                              <a:cs typeface="Times New Roman" panose="02020603050405020304" pitchFamily="18" charset="0"/>
                            </a:rPr>
                            <a:t>样本数据输入</a:t>
                          </a:r>
                          <a14:m>
                            <m:oMath xmlns:m="http://schemas.openxmlformats.org/officeDocument/2006/math">
                              <m:r>
                                <a:rPr lang="en-US" altLang="zh-CN" smtClean="0">
                                  <a:solidFill>
                                    <a:schemeClr val="tx1"/>
                                  </a:solidFill>
                                  <a:latin typeface="Cambria Math" panose="02040503050406030204" pitchFamily="18" charset="0"/>
                                  <a:ea typeface="楷体_GB2312"/>
                                  <a:cs typeface="Times New Roman" panose="02020603050405020304" pitchFamily="18" charset="0"/>
                                </a:rPr>
                                <m:t>(</m:t>
                              </m:r>
                              <m:sSub>
                                <m:sSubPr>
                                  <m:ctrlPr>
                                    <a:rPr lang="zh-CN" altLang="zh-CN" i="1">
                                      <a:solidFill>
                                        <a:schemeClr val="tx1"/>
                                      </a:solidFill>
                                      <a:latin typeface="Cambria Math" panose="02040503050406030204" pitchFamily="18" charset="0"/>
                                      <a:ea typeface="楷体_GB2312"/>
                                      <a:cs typeface="Times New Roman" panose="02020603050405020304" pitchFamily="18" charset="0"/>
                                    </a:rPr>
                                  </m:ctrlPr>
                                </m:sSubPr>
                                <m:e>
                                  <m:r>
                                    <a:rPr lang="en-US" altLang="zh-CN">
                                      <a:solidFill>
                                        <a:schemeClr val="tx1"/>
                                      </a:solidFill>
                                      <a:latin typeface="Cambria Math" panose="02040503050406030204" pitchFamily="18" charset="0"/>
                                      <a:ea typeface="楷体_GB2312"/>
                                      <a:cs typeface="Times New Roman" panose="02020603050405020304" pitchFamily="18" charset="0"/>
                                    </a:rPr>
                                    <m:t>𝑥</m:t>
                                  </m:r>
                                </m:e>
                                <m:sub>
                                  <m:r>
                                    <a:rPr lang="en-US" altLang="zh-CN">
                                      <a:solidFill>
                                        <a:schemeClr val="tx1"/>
                                      </a:solidFill>
                                      <a:latin typeface="Cambria Math" panose="02040503050406030204" pitchFamily="18" charset="0"/>
                                      <a:ea typeface="楷体_GB2312"/>
                                      <a:cs typeface="Times New Roman" panose="02020603050405020304" pitchFamily="18" charset="0"/>
                                    </a:rPr>
                                    <m:t>1</m:t>
                                  </m:r>
                                </m:sub>
                              </m:sSub>
                              <m:r>
                                <a:rPr lang="en-US" altLang="zh-CN">
                                  <a:solidFill>
                                    <a:schemeClr val="tx1"/>
                                  </a:solidFill>
                                  <a:latin typeface="Cambria Math" panose="02040503050406030204" pitchFamily="18" charset="0"/>
                                  <a:ea typeface="楷体_GB2312"/>
                                  <a:cs typeface="Times New Roman" panose="02020603050405020304" pitchFamily="18" charset="0"/>
                                </a:rPr>
                                <m:t>, </m:t>
                              </m:r>
                              <m:sSub>
                                <m:sSubPr>
                                  <m:ctrlPr>
                                    <a:rPr lang="zh-CN" altLang="zh-CN" i="1">
                                      <a:solidFill>
                                        <a:schemeClr val="tx1"/>
                                      </a:solidFill>
                                      <a:latin typeface="Cambria Math" panose="02040503050406030204" pitchFamily="18" charset="0"/>
                                      <a:ea typeface="楷体_GB2312"/>
                                      <a:cs typeface="Times New Roman" panose="02020603050405020304" pitchFamily="18" charset="0"/>
                                    </a:rPr>
                                  </m:ctrlPr>
                                </m:sSubPr>
                                <m:e>
                                  <m:r>
                                    <a:rPr lang="en-US" altLang="zh-CN">
                                      <a:solidFill>
                                        <a:schemeClr val="tx1"/>
                                      </a:solidFill>
                                      <a:latin typeface="Cambria Math" panose="02040503050406030204" pitchFamily="18" charset="0"/>
                                      <a:ea typeface="楷体_GB2312"/>
                                      <a:cs typeface="Times New Roman" panose="02020603050405020304" pitchFamily="18" charset="0"/>
                                    </a:rPr>
                                    <m:t>𝑥</m:t>
                                  </m:r>
                                </m:e>
                                <m:sub>
                                  <m:r>
                                    <a:rPr lang="en-US" altLang="zh-CN">
                                      <a:solidFill>
                                        <a:schemeClr val="tx1"/>
                                      </a:solidFill>
                                      <a:latin typeface="Cambria Math" panose="02040503050406030204" pitchFamily="18" charset="0"/>
                                      <a:ea typeface="楷体_GB2312"/>
                                      <a:cs typeface="Times New Roman" panose="02020603050405020304" pitchFamily="18" charset="0"/>
                                    </a:rPr>
                                    <m:t>2</m:t>
                                  </m:r>
                                </m:sub>
                              </m:sSub>
                              <m:r>
                                <a:rPr lang="en-US" altLang="zh-CN">
                                  <a:solidFill>
                                    <a:schemeClr val="tx1"/>
                                  </a:solidFill>
                                  <a:latin typeface="Cambria Math" panose="02040503050406030204" pitchFamily="18" charset="0"/>
                                  <a:ea typeface="楷体_GB2312"/>
                                  <a:cs typeface="Times New Roman" panose="02020603050405020304" pitchFamily="18" charset="0"/>
                                </a:rPr>
                                <m:t>, </m:t>
                              </m:r>
                              <m:sSub>
                                <m:sSubPr>
                                  <m:ctrlPr>
                                    <a:rPr lang="zh-CN" altLang="zh-CN" i="1">
                                      <a:solidFill>
                                        <a:schemeClr val="tx1"/>
                                      </a:solidFill>
                                      <a:latin typeface="Cambria Math" panose="02040503050406030204" pitchFamily="18" charset="0"/>
                                      <a:ea typeface="楷体_GB2312"/>
                                      <a:cs typeface="Times New Roman" panose="02020603050405020304" pitchFamily="18" charset="0"/>
                                    </a:rPr>
                                  </m:ctrlPr>
                                </m:sSubPr>
                                <m:e>
                                  <m:r>
                                    <a:rPr lang="en-US" altLang="zh-CN">
                                      <a:solidFill>
                                        <a:schemeClr val="tx1"/>
                                      </a:solidFill>
                                      <a:latin typeface="Cambria Math" panose="02040503050406030204" pitchFamily="18" charset="0"/>
                                      <a:ea typeface="楷体_GB2312"/>
                                      <a:cs typeface="Times New Roman" panose="02020603050405020304" pitchFamily="18" charset="0"/>
                                    </a:rPr>
                                    <m:t>𝑥</m:t>
                                  </m:r>
                                </m:e>
                                <m:sub>
                                  <m:r>
                                    <a:rPr lang="en-US" altLang="zh-CN">
                                      <a:solidFill>
                                        <a:schemeClr val="tx1"/>
                                      </a:solidFill>
                                      <a:latin typeface="Cambria Math" panose="02040503050406030204" pitchFamily="18" charset="0"/>
                                      <a:ea typeface="楷体_GB2312"/>
                                      <a:cs typeface="Times New Roman" panose="02020603050405020304" pitchFamily="18" charset="0"/>
                                    </a:rPr>
                                    <m:t>3</m:t>
                                  </m:r>
                                </m:sub>
                              </m:sSub>
                              <m:r>
                                <a:rPr lang="en-US" altLang="zh-CN">
                                  <a:solidFill>
                                    <a:schemeClr val="tx1"/>
                                  </a:solidFill>
                                  <a:latin typeface="Cambria Math" panose="02040503050406030204" pitchFamily="18" charset="0"/>
                                  <a:ea typeface="楷体_GB2312"/>
                                  <a:cs typeface="Times New Roman" panose="02020603050405020304" pitchFamily="18" charset="0"/>
                                </a:rPr>
                                <m:t>)</m:t>
                              </m:r>
                            </m:oMath>
                          </a14:m>
                          <a:endParaRPr lang="zh-CN" altLang="en-US" dirty="0">
                            <a:solidFill>
                              <a:schemeClr val="tx1"/>
                            </a:solidFill>
                          </a:endParaRPr>
                        </a:p>
                      </a:txBody>
                      <a:tcPr/>
                    </a:tc>
                    <a:tc>
                      <a:txBody>
                        <a:bodyPr/>
                        <a:lstStyle/>
                        <a:p>
                          <a:pPr algn="ctr"/>
                          <a:r>
                            <a:rPr lang="zh-CN" altLang="zh-CN" b="0" dirty="0">
                              <a:solidFill>
                                <a:srgbClr val="000000"/>
                              </a:solidFill>
                              <a:latin typeface="Times New Roman" panose="02020603050405020304" pitchFamily="18" charset="0"/>
                              <a:ea typeface="楷体_GB2312"/>
                              <a:cs typeface="Times New Roman" panose="02020603050405020304" pitchFamily="18" charset="0"/>
                            </a:rPr>
                            <a:t>标注信息</a:t>
                          </a:r>
                          <a14:m>
                            <m:oMath xmlns:m="http://schemas.openxmlformats.org/officeDocument/2006/math">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a:solidFill>
                                        <a:srgbClr val="000000"/>
                                      </a:solidFill>
                                      <a:latin typeface="Cambria Math" panose="02040503050406030204" pitchFamily="18" charset="0"/>
                                      <a:ea typeface="楷体_GB2312"/>
                                      <a:cs typeface="Times New Roman" panose="02020603050405020304" pitchFamily="18" charset="0"/>
                                    </a:rPr>
                                    <m:t>𝑦</m:t>
                                  </m:r>
                                </m:e>
                                <m:sub>
                                  <m:r>
                                    <a:rPr lang="en-US" altLang="zh-CN">
                                      <a:solidFill>
                                        <a:srgbClr val="000000"/>
                                      </a:solidFill>
                                      <a:latin typeface="Cambria Math" panose="02040503050406030204" pitchFamily="18" charset="0"/>
                                      <a:ea typeface="楷体_GB2312"/>
                                      <a:cs typeface="Times New Roman" panose="02020603050405020304" pitchFamily="18" charset="0"/>
                                    </a:rPr>
                                    <m:t>1</m:t>
                                  </m:r>
                                </m:sub>
                              </m:sSub>
                              <m:r>
                                <a:rPr lang="en-US" altLang="zh-CN">
                                  <a:solidFill>
                                    <a:srgbClr val="000000"/>
                                  </a:solidFill>
                                  <a:latin typeface="Cambria Math" panose="02040503050406030204" pitchFamily="18" charset="0"/>
                                  <a:ea typeface="楷体_GB2312"/>
                                  <a:cs typeface="Times New Roman" panose="02020603050405020304" pitchFamily="18" charset="0"/>
                                </a:rPr>
                                <m:t>, </m:t>
                              </m:r>
                              <m:sSub>
                                <m:sSubPr>
                                  <m:ctrlPr>
                                    <a:rPr lang="zh-CN" altLang="zh-CN"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a:solidFill>
                                        <a:srgbClr val="000000"/>
                                      </a:solidFill>
                                      <a:latin typeface="Cambria Math" panose="02040503050406030204" pitchFamily="18" charset="0"/>
                                      <a:ea typeface="楷体_GB2312"/>
                                      <a:cs typeface="Times New Roman" panose="02020603050405020304" pitchFamily="18" charset="0"/>
                                    </a:rPr>
                                    <m:t>𝑦</m:t>
                                  </m:r>
                                </m:e>
                                <m:sub>
                                  <m:r>
                                    <a:rPr lang="en-US" altLang="zh-CN">
                                      <a:solidFill>
                                        <a:srgbClr val="000000"/>
                                      </a:solidFill>
                                      <a:latin typeface="Cambria Math" panose="02040503050406030204" pitchFamily="18" charset="0"/>
                                      <a:ea typeface="楷体_GB2312"/>
                                      <a:cs typeface="Times New Roman" panose="02020603050405020304" pitchFamily="18" charset="0"/>
                                    </a:rPr>
                                    <m:t>2</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a:solidFill>
                                        <a:srgbClr val="000000"/>
                                      </a:solidFill>
                                      <a:latin typeface="Cambria Math" panose="02040503050406030204" pitchFamily="18" charset="0"/>
                                      <a:ea typeface="楷体_GB2312"/>
                                      <a:cs typeface="Times New Roman" panose="02020603050405020304" pitchFamily="18" charset="0"/>
                                    </a:rPr>
                                    <m:t>𝑦</m:t>
                                  </m:r>
                                </m:e>
                                <m:sub>
                                  <m:r>
                                    <a:rPr lang="en-US" altLang="zh-CN">
                                      <a:solidFill>
                                        <a:srgbClr val="000000"/>
                                      </a:solidFill>
                                      <a:latin typeface="Cambria Math" panose="02040503050406030204" pitchFamily="18" charset="0"/>
                                      <a:ea typeface="楷体_GB2312"/>
                                      <a:cs typeface="Times New Roman" panose="02020603050405020304" pitchFamily="18" charset="0"/>
                                    </a:rPr>
                                    <m:t>3</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oMath>
                          </a14:m>
                          <a:endParaRPr lang="zh-CN" altLang="en-US" dirty="0">
                            <a:solidFill>
                              <a:schemeClr val="tx1"/>
                            </a:solidFill>
                          </a:endParaRPr>
                        </a:p>
                      </a:txBody>
                      <a:tcPr/>
                    </a:tc>
                    <a:extLst>
                      <a:ext uri="{0D108BD9-81ED-4DB2-BD59-A6C34878D82A}">
                        <a16:rowId xmlns:a16="http://schemas.microsoft.com/office/drawing/2014/main" val="1381701618"/>
                      </a:ext>
                    </a:extLst>
                  </a:tr>
                  <a:tr h="1608305">
                    <a:tc>
                      <a:txBody>
                        <a:bodyPr/>
                        <a:lstStyle/>
                        <a:p>
                          <a:pPr algn="ctr"/>
                          <a14:m>
                            <m:oMathPara xmlns:m="http://schemas.openxmlformats.org/officeDocument/2006/math">
                              <m:oMathParaPr>
                                <m:jc m:val="centerGroup"/>
                              </m:oMathParaPr>
                              <m:oMath xmlns:m="http://schemas.openxmlformats.org/officeDocument/2006/math">
                                <m:r>
                                  <a:rPr lang="en-US" altLang="zh-CN" smtClean="0">
                                    <a:solidFill>
                                      <a:schemeClr val="tx1"/>
                                    </a:solidFill>
                                    <a:latin typeface="Cambria Math" panose="02040503050406030204" pitchFamily="18" charset="0"/>
                                    <a:ea typeface="楷体_GB2312"/>
                                    <a:cs typeface="Times New Roman" panose="02020603050405020304" pitchFamily="18" charset="0"/>
                                  </a:rPr>
                                  <m:t>(</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1</m:t>
                                </m:r>
                                <m:r>
                                  <a:rPr lang="en-US" altLang="zh-CN">
                                    <a:solidFill>
                                      <a:schemeClr val="tx1"/>
                                    </a:solidFill>
                                    <a:latin typeface="Cambria Math" panose="02040503050406030204" pitchFamily="18" charset="0"/>
                                    <a:ea typeface="楷体_GB2312"/>
                                    <a:cs typeface="Times New Roman" panose="02020603050405020304" pitchFamily="18" charset="0"/>
                                  </a:rPr>
                                  <m:t>, </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3</m:t>
                                </m:r>
                                <m:r>
                                  <a:rPr lang="en-US" altLang="zh-CN">
                                    <a:solidFill>
                                      <a:schemeClr val="tx1"/>
                                    </a:solidFill>
                                    <a:latin typeface="Cambria Math" panose="02040503050406030204" pitchFamily="18" charset="0"/>
                                    <a:ea typeface="楷体_GB2312"/>
                                    <a:cs typeface="Times New Roman" panose="02020603050405020304" pitchFamily="18" charset="0"/>
                                  </a:rPr>
                                  <m:t>, </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4</m:t>
                                </m:r>
                                <m:r>
                                  <a:rPr lang="en-US" altLang="zh-CN">
                                    <a:solidFill>
                                      <a:schemeClr val="tx1"/>
                                    </a:solidFill>
                                    <a:latin typeface="Cambria Math" panose="02040503050406030204" pitchFamily="18" charset="0"/>
                                    <a:ea typeface="楷体_GB2312"/>
                                    <a:cs typeface="Times New Roman" panose="02020603050405020304" pitchFamily="18" charset="0"/>
                                  </a:rPr>
                                  <m:t>)</m:t>
                                </m:r>
                              </m:oMath>
                            </m:oMathPara>
                          </a14:m>
                          <a:endParaRPr lang="en-US" altLang="zh-CN"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mtClean="0">
                                    <a:solidFill>
                                      <a:schemeClr val="tx1"/>
                                    </a:solidFill>
                                    <a:latin typeface="Cambria Math" panose="02040503050406030204" pitchFamily="18" charset="0"/>
                                    <a:ea typeface="楷体_GB2312"/>
                                    <a:cs typeface="Times New Roman" panose="02020603050405020304" pitchFamily="18" charset="0"/>
                                  </a:rPr>
                                  <m:t>(</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2</m:t>
                                </m:r>
                                <m:r>
                                  <a:rPr lang="en-US" altLang="zh-CN">
                                    <a:solidFill>
                                      <a:schemeClr val="tx1"/>
                                    </a:solidFill>
                                    <a:latin typeface="Cambria Math" panose="02040503050406030204" pitchFamily="18" charset="0"/>
                                    <a:ea typeface="楷体_GB2312"/>
                                    <a:cs typeface="Times New Roman" panose="02020603050405020304" pitchFamily="18" charset="0"/>
                                  </a:rPr>
                                  <m:t>, </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5</m:t>
                                </m:r>
                                <m:r>
                                  <a:rPr lang="en-US" altLang="zh-CN">
                                    <a:solidFill>
                                      <a:schemeClr val="tx1"/>
                                    </a:solidFill>
                                    <a:latin typeface="Cambria Math" panose="02040503050406030204" pitchFamily="18" charset="0"/>
                                    <a:ea typeface="楷体_GB2312"/>
                                    <a:cs typeface="Times New Roman" panose="02020603050405020304" pitchFamily="18" charset="0"/>
                                  </a:rPr>
                                  <m:t>, </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1</m:t>
                                </m:r>
                                <m:r>
                                  <a:rPr lang="en-US" altLang="zh-CN">
                                    <a:solidFill>
                                      <a:schemeClr val="tx1"/>
                                    </a:solidFill>
                                    <a:latin typeface="Cambria Math" panose="02040503050406030204" pitchFamily="18" charset="0"/>
                                    <a:ea typeface="楷体_GB2312"/>
                                    <a:cs typeface="Times New Roman" panose="02020603050405020304" pitchFamily="18" charset="0"/>
                                  </a:rPr>
                                  <m:t>)</m:t>
                                </m:r>
                              </m:oMath>
                            </m:oMathPara>
                          </a14:m>
                          <a:endParaRPr lang="zh-CN" altLang="en-US"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mtClean="0">
                                    <a:solidFill>
                                      <a:schemeClr val="tx1"/>
                                    </a:solidFill>
                                    <a:latin typeface="Cambria Math" panose="02040503050406030204" pitchFamily="18" charset="0"/>
                                    <a:ea typeface="楷体_GB2312"/>
                                    <a:cs typeface="Times New Roman" panose="02020603050405020304" pitchFamily="18" charset="0"/>
                                  </a:rPr>
                                  <m:t>(</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8</m:t>
                                </m:r>
                                <m:r>
                                  <a:rPr lang="en-US" altLang="zh-CN">
                                    <a:solidFill>
                                      <a:schemeClr val="tx1"/>
                                    </a:solidFill>
                                    <a:latin typeface="Cambria Math" panose="02040503050406030204" pitchFamily="18" charset="0"/>
                                    <a:ea typeface="楷体_GB2312"/>
                                    <a:cs typeface="Times New Roman" panose="02020603050405020304" pitchFamily="18" charset="0"/>
                                  </a:rPr>
                                  <m:t>, </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9</m:t>
                                </m:r>
                                <m:r>
                                  <a:rPr lang="en-US" altLang="zh-CN">
                                    <a:solidFill>
                                      <a:schemeClr val="tx1"/>
                                    </a:solidFill>
                                    <a:latin typeface="Cambria Math" panose="02040503050406030204" pitchFamily="18" charset="0"/>
                                    <a:ea typeface="楷体_GB2312"/>
                                    <a:cs typeface="Times New Roman" panose="02020603050405020304" pitchFamily="18" charset="0"/>
                                  </a:rPr>
                                  <m:t>, </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3</m:t>
                                </m:r>
                                <m:r>
                                  <a:rPr lang="en-US" altLang="zh-CN">
                                    <a:solidFill>
                                      <a:schemeClr val="tx1"/>
                                    </a:solidFill>
                                    <a:latin typeface="Cambria Math" panose="02040503050406030204" pitchFamily="18" charset="0"/>
                                    <a:ea typeface="楷体_GB2312"/>
                                    <a:cs typeface="Times New Roman" panose="02020603050405020304" pitchFamily="18" charset="0"/>
                                  </a:rPr>
                                  <m:t>)</m:t>
                                </m:r>
                              </m:oMath>
                            </m:oMathPara>
                          </a14:m>
                          <a:endParaRPr lang="zh-CN" altLang="en-US"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mtClean="0">
                                    <a:solidFill>
                                      <a:schemeClr val="tx1"/>
                                    </a:solidFill>
                                    <a:latin typeface="Cambria Math" panose="02040503050406030204" pitchFamily="18" charset="0"/>
                                    <a:ea typeface="楷体_GB2312"/>
                                    <a:cs typeface="Times New Roman" panose="02020603050405020304" pitchFamily="18" charset="0"/>
                                  </a:rPr>
                                  <m:t>(</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3</m:t>
                                </m:r>
                                <m:r>
                                  <a:rPr lang="en-US" altLang="zh-CN">
                                    <a:solidFill>
                                      <a:schemeClr val="tx1"/>
                                    </a:solidFill>
                                    <a:latin typeface="Cambria Math" panose="02040503050406030204" pitchFamily="18" charset="0"/>
                                    <a:ea typeface="楷体_GB2312"/>
                                    <a:cs typeface="Times New Roman" panose="02020603050405020304" pitchFamily="18" charset="0"/>
                                  </a:rPr>
                                  <m:t>, </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3</m:t>
                                </m:r>
                                <m:r>
                                  <a:rPr lang="en-US" altLang="zh-CN">
                                    <a:solidFill>
                                      <a:schemeClr val="tx1"/>
                                    </a:solidFill>
                                    <a:latin typeface="Cambria Math" panose="02040503050406030204" pitchFamily="18" charset="0"/>
                                    <a:ea typeface="楷体_GB2312"/>
                                    <a:cs typeface="Times New Roman" panose="02020603050405020304" pitchFamily="18" charset="0"/>
                                  </a:rPr>
                                  <m:t>, </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2</m:t>
                                </m:r>
                                <m:r>
                                  <a:rPr lang="en-US" altLang="zh-CN">
                                    <a:solidFill>
                                      <a:schemeClr val="tx1"/>
                                    </a:solidFill>
                                    <a:latin typeface="Cambria Math" panose="02040503050406030204" pitchFamily="18" charset="0"/>
                                    <a:ea typeface="楷体_GB2312"/>
                                    <a:cs typeface="Times New Roman" panose="02020603050405020304" pitchFamily="18" charset="0"/>
                                  </a:rPr>
                                  <m:t>)</m:t>
                                </m:r>
                              </m:oMath>
                            </m:oMathPara>
                          </a14:m>
                          <a:endParaRPr lang="zh-CN" altLang="en-US" dirty="0">
                            <a:solidFill>
                              <a:schemeClr val="tx1"/>
                            </a:solidFill>
                          </a:endParaRPr>
                        </a:p>
                        <a:p>
                          <a:pPr algn="ctr"/>
                          <a:r>
                            <a:rPr lang="en-US" altLang="zh-CN" dirty="0">
                              <a:solidFill>
                                <a:schemeClr val="tx1"/>
                              </a:solidFill>
                            </a:rPr>
                            <a:t>……</a:t>
                          </a:r>
                          <a:endParaRPr lang="zh-CN" altLang="en-US" dirty="0">
                            <a:solidFill>
                              <a:schemeClr val="tx1"/>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altLang="zh-CN" smtClean="0">
                                    <a:solidFill>
                                      <a:schemeClr val="tx1"/>
                                    </a:solidFill>
                                    <a:latin typeface="Cambria Math" panose="02040503050406030204" pitchFamily="18" charset="0"/>
                                    <a:ea typeface="楷体_GB2312"/>
                                    <a:cs typeface="Times New Roman" panose="02020603050405020304" pitchFamily="18" charset="0"/>
                                  </a:rPr>
                                  <m:t>(</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0,1,0</m:t>
                                </m:r>
                                <m:r>
                                  <a:rPr lang="en-US" altLang="zh-CN">
                                    <a:solidFill>
                                      <a:schemeClr val="tx1"/>
                                    </a:solidFill>
                                    <a:latin typeface="Cambria Math" panose="02040503050406030204" pitchFamily="18" charset="0"/>
                                    <a:ea typeface="楷体_GB2312"/>
                                    <a:cs typeface="Times New Roman" panose="02020603050405020304" pitchFamily="18" charset="0"/>
                                  </a:rPr>
                                  <m:t>)</m:t>
                                </m:r>
                              </m:oMath>
                            </m:oMathPara>
                          </a14:m>
                          <a:endParaRPr lang="en-US" altLang="zh-CN"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mtClean="0">
                                    <a:solidFill>
                                      <a:schemeClr val="tx1"/>
                                    </a:solidFill>
                                    <a:latin typeface="Cambria Math" panose="02040503050406030204" pitchFamily="18" charset="0"/>
                                    <a:ea typeface="楷体_GB2312"/>
                                    <a:cs typeface="Times New Roman" panose="02020603050405020304" pitchFamily="18" charset="0"/>
                                  </a:rPr>
                                  <m:t>(</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1,</m:t>
                                </m:r>
                                <m:r>
                                  <a:rPr lang="en-US" altLang="zh-CN">
                                    <a:solidFill>
                                      <a:schemeClr val="tx1"/>
                                    </a:solidFill>
                                    <a:latin typeface="Cambria Math" panose="02040503050406030204" pitchFamily="18" charset="0"/>
                                    <a:ea typeface="楷体_GB2312"/>
                                    <a:cs typeface="Times New Roman" panose="02020603050405020304" pitchFamily="18" charset="0"/>
                                  </a:rPr>
                                  <m:t> </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0</m:t>
                                </m:r>
                                <m:r>
                                  <a:rPr lang="en-US" altLang="zh-CN">
                                    <a:solidFill>
                                      <a:schemeClr val="tx1"/>
                                    </a:solidFill>
                                    <a:latin typeface="Cambria Math" panose="02040503050406030204" pitchFamily="18" charset="0"/>
                                    <a:ea typeface="楷体_GB2312"/>
                                    <a:cs typeface="Times New Roman" panose="02020603050405020304" pitchFamily="18" charset="0"/>
                                  </a:rPr>
                                  <m:t>, </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0</m:t>
                                </m:r>
                                <m:r>
                                  <a:rPr lang="en-US" altLang="zh-CN">
                                    <a:solidFill>
                                      <a:schemeClr val="tx1"/>
                                    </a:solidFill>
                                    <a:latin typeface="Cambria Math" panose="02040503050406030204" pitchFamily="18" charset="0"/>
                                    <a:ea typeface="楷体_GB2312"/>
                                    <a:cs typeface="Times New Roman" panose="02020603050405020304" pitchFamily="18" charset="0"/>
                                  </a:rPr>
                                  <m:t>)</m:t>
                                </m:r>
                              </m:oMath>
                            </m:oMathPara>
                          </a14:m>
                          <a:endParaRPr lang="zh-CN" altLang="en-US"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mtClean="0">
                                    <a:solidFill>
                                      <a:schemeClr val="tx1"/>
                                    </a:solidFill>
                                    <a:latin typeface="Cambria Math" panose="02040503050406030204" pitchFamily="18" charset="0"/>
                                    <a:ea typeface="楷体_GB2312"/>
                                    <a:cs typeface="Times New Roman" panose="02020603050405020304" pitchFamily="18" charset="0"/>
                                  </a:rPr>
                                  <m:t>(</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0</m:t>
                                </m:r>
                                <m:r>
                                  <a:rPr lang="en-US" altLang="zh-CN" b="0" i="0" smtClean="0">
                                    <a:solidFill>
                                      <a:schemeClr val="tx1"/>
                                    </a:solidFill>
                                    <a:latin typeface="Cambria Math" panose="02040503050406030204" pitchFamily="18" charset="0"/>
                                    <a:ea typeface="楷体_GB2312"/>
                                    <a:cs typeface="Times New Roman" panose="02020603050405020304" pitchFamily="18" charset="0"/>
                                  </a:rPr>
                                  <m:t>,1</m:t>
                                </m:r>
                                <m:r>
                                  <a:rPr lang="en-US" altLang="zh-CN">
                                    <a:solidFill>
                                      <a:schemeClr val="tx1"/>
                                    </a:solidFill>
                                    <a:latin typeface="Cambria Math" panose="02040503050406030204" pitchFamily="18" charset="0"/>
                                    <a:ea typeface="楷体_GB2312"/>
                                    <a:cs typeface="Times New Roman" panose="02020603050405020304" pitchFamily="18" charset="0"/>
                                  </a:rPr>
                                  <m:t>, </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0</m:t>
                                </m:r>
                                <m:r>
                                  <a:rPr lang="en-US" altLang="zh-CN">
                                    <a:solidFill>
                                      <a:schemeClr val="tx1"/>
                                    </a:solidFill>
                                    <a:latin typeface="Cambria Math" panose="02040503050406030204" pitchFamily="18" charset="0"/>
                                    <a:ea typeface="楷体_GB2312"/>
                                    <a:cs typeface="Times New Roman" panose="02020603050405020304" pitchFamily="18" charset="0"/>
                                  </a:rPr>
                                  <m:t>)</m:t>
                                </m:r>
                              </m:oMath>
                            </m:oMathPara>
                          </a14:m>
                          <a:endParaRPr lang="zh-CN" altLang="en-US"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mtClean="0">
                                    <a:solidFill>
                                      <a:schemeClr val="tx1"/>
                                    </a:solidFill>
                                    <a:latin typeface="Cambria Math" panose="02040503050406030204" pitchFamily="18" charset="0"/>
                                    <a:ea typeface="楷体_GB2312"/>
                                    <a:cs typeface="Times New Roman" panose="02020603050405020304" pitchFamily="18" charset="0"/>
                                  </a:rPr>
                                  <m:t>(</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0</m:t>
                                </m:r>
                                <m:r>
                                  <a:rPr lang="en-US" altLang="zh-CN">
                                    <a:solidFill>
                                      <a:schemeClr val="tx1"/>
                                    </a:solidFill>
                                    <a:latin typeface="Cambria Math" panose="02040503050406030204" pitchFamily="18" charset="0"/>
                                    <a:ea typeface="楷体_GB2312"/>
                                    <a:cs typeface="Times New Roman" panose="02020603050405020304" pitchFamily="18" charset="0"/>
                                  </a:rPr>
                                  <m:t>, </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0</m:t>
                                </m:r>
                                <m:r>
                                  <a:rPr lang="en-US" altLang="zh-CN">
                                    <a:solidFill>
                                      <a:schemeClr val="tx1"/>
                                    </a:solidFill>
                                    <a:latin typeface="Cambria Math" panose="02040503050406030204" pitchFamily="18" charset="0"/>
                                    <a:ea typeface="楷体_GB2312"/>
                                    <a:cs typeface="Times New Roman" panose="02020603050405020304" pitchFamily="18" charset="0"/>
                                  </a:rPr>
                                  <m:t>, </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1</m:t>
                                </m:r>
                                <m:r>
                                  <a:rPr lang="en-US" altLang="zh-CN">
                                    <a:solidFill>
                                      <a:schemeClr val="tx1"/>
                                    </a:solidFill>
                                    <a:latin typeface="Cambria Math" panose="02040503050406030204" pitchFamily="18" charset="0"/>
                                    <a:ea typeface="楷体_GB2312"/>
                                    <a:cs typeface="Times New Roman" panose="02020603050405020304" pitchFamily="18" charset="0"/>
                                  </a:rPr>
                                  <m:t>)</m:t>
                                </m:r>
                              </m:oMath>
                            </m:oMathPara>
                          </a14:m>
                          <a:endParaRPr lang="zh-CN" altLang="en-US" dirty="0">
                            <a:solidFill>
                              <a:schemeClr val="tx1"/>
                            </a:solidFill>
                          </a:endParaRPr>
                        </a:p>
                        <a:p>
                          <a:pPr algn="ctr"/>
                          <a:r>
                            <a:rPr lang="en-US" altLang="zh-CN" dirty="0">
                              <a:solidFill>
                                <a:schemeClr val="tx1"/>
                              </a:solidFill>
                            </a:rPr>
                            <a:t>……</a:t>
                          </a:r>
                          <a:endParaRPr lang="zh-CN" altLang="en-US" dirty="0">
                            <a:solidFill>
                              <a:schemeClr val="tx1"/>
                            </a:solidFill>
                          </a:endParaRPr>
                        </a:p>
                      </a:txBody>
                      <a:tcPr/>
                    </a:tc>
                    <a:extLst>
                      <a:ext uri="{0D108BD9-81ED-4DB2-BD59-A6C34878D82A}">
                        <a16:rowId xmlns:a16="http://schemas.microsoft.com/office/drawing/2014/main" val="3939703835"/>
                      </a:ext>
                    </a:extLst>
                  </a:tr>
                </a:tbl>
              </a:graphicData>
            </a:graphic>
          </p:graphicFrame>
        </mc:Choice>
        <mc:Fallback xmlns="">
          <p:graphicFrame>
            <p:nvGraphicFramePr>
              <p:cNvPr id="7" name="表格 6">
                <a:extLst>
                  <a:ext uri="{FF2B5EF4-FFF2-40B4-BE49-F238E27FC236}">
                    <a16:creationId xmlns:a16="http://schemas.microsoft.com/office/drawing/2014/main" id="{166A1399-E7E8-C5AA-E605-C143A5B7B81E}"/>
                  </a:ext>
                </a:extLst>
              </p:cNvPr>
              <p:cNvGraphicFramePr>
                <a:graphicFrameLocks noGrp="1"/>
              </p:cNvGraphicFramePr>
              <p:nvPr>
                <p:extLst>
                  <p:ext uri="{D42A27DB-BD31-4B8C-83A1-F6EECF244321}">
                    <p14:modId xmlns:p14="http://schemas.microsoft.com/office/powerpoint/2010/main" val="2536021826"/>
                  </p:ext>
                </p:extLst>
              </p:nvPr>
            </p:nvGraphicFramePr>
            <p:xfrm>
              <a:off x="2054784" y="2252470"/>
              <a:ext cx="8128000" cy="2133966"/>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231418235"/>
                        </a:ext>
                      </a:extLst>
                    </a:gridCol>
                    <a:gridCol w="4064000">
                      <a:extLst>
                        <a:ext uri="{9D8B030D-6E8A-4147-A177-3AD203B41FA5}">
                          <a16:colId xmlns:a16="http://schemas.microsoft.com/office/drawing/2014/main" val="2818042780"/>
                        </a:ext>
                      </a:extLst>
                    </a:gridCol>
                  </a:tblGrid>
                  <a:tr h="525661">
                    <a:tc>
                      <a:txBody>
                        <a:bodyPr/>
                        <a:lstStyle/>
                        <a:p>
                          <a:endParaRPr lang="zh-CN"/>
                        </a:p>
                      </a:txBody>
                      <a:tcPr>
                        <a:blipFill>
                          <a:blip r:embed="rId3"/>
                          <a:stretch>
                            <a:fillRect l="-150" t="-6977" r="-100600" b="-310465"/>
                          </a:stretch>
                        </a:blipFill>
                      </a:tcPr>
                    </a:tc>
                    <a:tc>
                      <a:txBody>
                        <a:bodyPr/>
                        <a:lstStyle/>
                        <a:p>
                          <a:endParaRPr lang="zh-CN"/>
                        </a:p>
                      </a:txBody>
                      <a:tcPr>
                        <a:blipFill>
                          <a:blip r:embed="rId3"/>
                          <a:stretch>
                            <a:fillRect l="-100150" t="-6977" r="-600" b="-310465"/>
                          </a:stretch>
                        </a:blipFill>
                      </a:tcPr>
                    </a:tc>
                    <a:extLst>
                      <a:ext uri="{0D108BD9-81ED-4DB2-BD59-A6C34878D82A}">
                        <a16:rowId xmlns:a16="http://schemas.microsoft.com/office/drawing/2014/main" val="1381701618"/>
                      </a:ext>
                    </a:extLst>
                  </a:tr>
                  <a:tr h="1608305">
                    <a:tc>
                      <a:txBody>
                        <a:bodyPr/>
                        <a:lstStyle/>
                        <a:p>
                          <a:endParaRPr lang="zh-CN"/>
                        </a:p>
                      </a:txBody>
                      <a:tcPr>
                        <a:blipFill>
                          <a:blip r:embed="rId3"/>
                          <a:stretch>
                            <a:fillRect l="-150" t="-34717" r="-100600" b="-755"/>
                          </a:stretch>
                        </a:blipFill>
                      </a:tcPr>
                    </a:tc>
                    <a:tc>
                      <a:txBody>
                        <a:bodyPr/>
                        <a:lstStyle/>
                        <a:p>
                          <a:endParaRPr lang="zh-CN"/>
                        </a:p>
                      </a:txBody>
                      <a:tcPr>
                        <a:blipFill>
                          <a:blip r:embed="rId3"/>
                          <a:stretch>
                            <a:fillRect l="-100150" t="-34717" r="-600" b="-755"/>
                          </a:stretch>
                        </a:blipFill>
                      </a:tcPr>
                    </a:tc>
                    <a:extLst>
                      <a:ext uri="{0D108BD9-81ED-4DB2-BD59-A6C34878D82A}">
                        <a16:rowId xmlns:a16="http://schemas.microsoft.com/office/drawing/2014/main" val="3939703835"/>
                      </a:ext>
                    </a:extLst>
                  </a:tr>
                </a:tbl>
              </a:graphicData>
            </a:graphic>
          </p:graphicFrame>
        </mc:Fallback>
      </mc:AlternateContent>
    </p:spTree>
    <p:extLst>
      <p:ext uri="{BB962C8B-B14F-4D97-AF65-F5344CB8AC3E}">
        <p14:creationId xmlns:p14="http://schemas.microsoft.com/office/powerpoint/2010/main" val="26397049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5F15FE7B-AF39-0237-8885-5402887D7C40}"/>
              </a:ext>
            </a:extLst>
          </p:cNvPr>
          <p:cNvGrpSpPr/>
          <p:nvPr/>
        </p:nvGrpSpPr>
        <p:grpSpPr>
          <a:xfrm>
            <a:off x="1504507" y="1008198"/>
            <a:ext cx="8846288" cy="497934"/>
            <a:chOff x="2228892" y="2819853"/>
            <a:chExt cx="4786506" cy="497934"/>
          </a:xfrm>
        </p:grpSpPr>
        <p:sp>
          <p:nvSpPr>
            <p:cNvPr id="4" name="平行四边形 3">
              <a:extLst>
                <a:ext uri="{FF2B5EF4-FFF2-40B4-BE49-F238E27FC236}">
                  <a16:creationId xmlns:a16="http://schemas.microsoft.com/office/drawing/2014/main" id="{7361F32D-C4B3-B1BA-A204-993ED11DEFA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a:extLst>
                <a:ext uri="{FF2B5EF4-FFF2-40B4-BE49-F238E27FC236}">
                  <a16:creationId xmlns:a16="http://schemas.microsoft.com/office/drawing/2014/main" id="{5F4A0EA2-B63F-65BF-D77F-402D541ED9D0}"/>
                </a:ext>
              </a:extLst>
            </p:cNvPr>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a:extLst>
                <a:ext uri="{FF2B5EF4-FFF2-40B4-BE49-F238E27FC236}">
                  <a16:creationId xmlns:a16="http://schemas.microsoft.com/office/drawing/2014/main" id="{E06F3BB4-23E2-A419-4D33-7D82147CB952}"/>
                </a:ext>
              </a:extLst>
            </p:cNvPr>
            <p:cNvSpPr/>
            <p:nvPr/>
          </p:nvSpPr>
          <p:spPr>
            <a:xfrm>
              <a:off x="2591332" y="2826188"/>
              <a:ext cx="4133539" cy="400110"/>
            </a:xfrm>
            <a:prstGeom prst="rect">
              <a:avLst/>
            </a:prstGeom>
          </p:spPr>
          <p:txBody>
            <a:bodyPr wrap="square">
              <a:spAutoFit/>
            </a:bodyPr>
            <a:lstStyle/>
            <a:p>
              <a:pPr algn="ct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神经网络参数优化：误差反向传播与参数更新例子</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计算误差</a:t>
              </a:r>
            </a:p>
          </p:txBody>
        </p:sp>
      </p:grpSp>
      <p:grpSp>
        <p:nvGrpSpPr>
          <p:cNvPr id="7" name="组合 6">
            <a:extLst>
              <a:ext uri="{FF2B5EF4-FFF2-40B4-BE49-F238E27FC236}">
                <a16:creationId xmlns:a16="http://schemas.microsoft.com/office/drawing/2014/main" id="{C18676B5-4C26-1544-83FD-6574E8D69E15}"/>
              </a:ext>
            </a:extLst>
          </p:cNvPr>
          <p:cNvGrpSpPr/>
          <p:nvPr/>
        </p:nvGrpSpPr>
        <p:grpSpPr>
          <a:xfrm>
            <a:off x="6784446" y="1529731"/>
            <a:ext cx="4435141" cy="2748647"/>
            <a:chOff x="6705600" y="2256439"/>
            <a:chExt cx="4882165" cy="3041892"/>
          </a:xfrm>
        </p:grpSpPr>
        <p:pic>
          <p:nvPicPr>
            <p:cNvPr id="8" name="图片 7">
              <a:extLst>
                <a:ext uri="{FF2B5EF4-FFF2-40B4-BE49-F238E27FC236}">
                  <a16:creationId xmlns:a16="http://schemas.microsoft.com/office/drawing/2014/main" id="{BB786B49-00EF-199B-F626-E72337FB519F}"/>
                </a:ext>
              </a:extLst>
            </p:cNvPr>
            <p:cNvPicPr>
              <a:picLocks noChangeAspect="1"/>
            </p:cNvPicPr>
            <p:nvPr/>
          </p:nvPicPr>
          <p:blipFill>
            <a:blip r:embed="rId2"/>
            <a:stretch>
              <a:fillRect/>
            </a:stretch>
          </p:blipFill>
          <p:spPr>
            <a:xfrm>
              <a:off x="6705600" y="2840476"/>
              <a:ext cx="4882165" cy="2457855"/>
            </a:xfrm>
            <a:prstGeom prst="rect">
              <a:avLst/>
            </a:prstGeom>
          </p:spPr>
        </p:pic>
        <p:cxnSp>
          <p:nvCxnSpPr>
            <p:cNvPr id="9" name="直接箭头连接符 8">
              <a:extLst>
                <a:ext uri="{FF2B5EF4-FFF2-40B4-BE49-F238E27FC236}">
                  <a16:creationId xmlns:a16="http://schemas.microsoft.com/office/drawing/2014/main" id="{79AB6E6E-76EB-0F85-9EA0-552E73BC85A5}"/>
                </a:ext>
              </a:extLst>
            </p:cNvPr>
            <p:cNvCxnSpPr/>
            <p:nvPr/>
          </p:nvCxnSpPr>
          <p:spPr>
            <a:xfrm>
              <a:off x="8151778" y="2810542"/>
              <a:ext cx="350196" cy="447472"/>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3DA1D25D-2930-6D92-E20C-5BB34958F131}"/>
                </a:ext>
              </a:extLst>
            </p:cNvPr>
            <p:cNvSpPr/>
            <p:nvPr/>
          </p:nvSpPr>
          <p:spPr>
            <a:xfrm>
              <a:off x="7494019" y="2256439"/>
              <a:ext cx="1107996" cy="369332"/>
            </a:xfrm>
            <a:prstGeom prst="rect">
              <a:avLst/>
            </a:prstGeom>
          </p:spPr>
          <p:txBody>
            <a:bodyPr wrap="none">
              <a:spAutoFit/>
            </a:bodyPr>
            <a:lstStyle/>
            <a:p>
              <a:r>
                <a:rPr lang="zh-CN" altLang="zh-CN" dirty="0">
                  <a:solidFill>
                    <a:srgbClr val="000000"/>
                  </a:solidFill>
                  <a:latin typeface="Times New Roman" panose="02020603050405020304" pitchFamily="18" charset="0"/>
                  <a:ea typeface="楷体_GB2312"/>
                  <a:cs typeface="Times New Roman" panose="02020603050405020304" pitchFamily="18" charset="0"/>
                </a:rPr>
                <a:t>加权累加</a:t>
              </a:r>
              <a:endParaRPr lang="zh-CN" altLang="en-US" dirty="0"/>
            </a:p>
          </p:txBody>
        </p:sp>
        <p:cxnSp>
          <p:nvCxnSpPr>
            <p:cNvPr id="11" name="直接箭头连接符 10">
              <a:extLst>
                <a:ext uri="{FF2B5EF4-FFF2-40B4-BE49-F238E27FC236}">
                  <a16:creationId xmlns:a16="http://schemas.microsoft.com/office/drawing/2014/main" id="{C9A95C03-BDAC-9B9C-9783-B8702510AFD4}"/>
                </a:ext>
              </a:extLst>
            </p:cNvPr>
            <p:cNvCxnSpPr>
              <a:cxnSpLocks/>
            </p:cNvCxnSpPr>
            <p:nvPr/>
          </p:nvCxnSpPr>
          <p:spPr>
            <a:xfrm flipH="1">
              <a:off x="9020223" y="2748987"/>
              <a:ext cx="252917" cy="468375"/>
            </a:xfrm>
            <a:prstGeom prst="straightConnector1">
              <a:avLst/>
            </a:prstGeom>
            <a:ln w="2222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CAD41A49-C46A-01B8-23BA-770B9C877AC0}"/>
                </a:ext>
              </a:extLst>
            </p:cNvPr>
            <p:cNvSpPr/>
            <p:nvPr/>
          </p:nvSpPr>
          <p:spPr>
            <a:xfrm>
              <a:off x="8833193" y="2256439"/>
              <a:ext cx="1338828" cy="369332"/>
            </a:xfrm>
            <a:prstGeom prst="rect">
              <a:avLst/>
            </a:prstGeom>
          </p:spPr>
          <p:txBody>
            <a:bodyPr wrap="non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非线性激活</a:t>
              </a:r>
            </a:p>
          </p:txBody>
        </p:sp>
      </p:gr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3BE17EC8-C46B-130E-AB5A-53CBB0A8816D}"/>
                  </a:ext>
                </a:extLst>
              </p:cNvPr>
              <p:cNvSpPr txBox="1"/>
              <p:nvPr/>
            </p:nvSpPr>
            <p:spPr>
              <a:xfrm>
                <a:off x="466264" y="2783742"/>
                <a:ext cx="4754880" cy="646331"/>
              </a:xfrm>
              <a:prstGeom prst="rect">
                <a:avLst/>
              </a:prstGeom>
              <a:noFill/>
            </p:spPr>
            <p:txBody>
              <a:bodyPr wrap="square">
                <a:spAutoFit/>
              </a:bodyPr>
              <a:lstStyle/>
              <a:p>
                <a:r>
                  <a:rPr lang="en-US" altLang="zh-CN" dirty="0">
                    <a:latin typeface="Cambria Math" panose="02040503050406030204" pitchFamily="18" charset="0"/>
                    <a:ea typeface="楷体_GB2312"/>
                    <a:cs typeface="Times New Roman" panose="02020603050405020304" pitchFamily="18" charset="0"/>
                  </a:rPr>
                  <a:t>2. </a:t>
                </a:r>
                <a:r>
                  <a:rPr lang="zh-CN" altLang="en-US" dirty="0">
                    <a:latin typeface="Cambria Math" panose="02040503050406030204" pitchFamily="18" charset="0"/>
                    <a:ea typeface="楷体_GB2312"/>
                    <a:cs typeface="Times New Roman" panose="02020603050405020304" pitchFamily="18" charset="0"/>
                  </a:rPr>
                  <a:t>选择训练样本，进行前向传播，计算损失值</a:t>
                </a:r>
                <a:endParaRPr lang="en-US" altLang="zh-CN" dirty="0">
                  <a:latin typeface="Cambria Math" panose="02040503050406030204" pitchFamily="18" charset="0"/>
                  <a:ea typeface="楷体_GB2312"/>
                  <a:cs typeface="Times New Roman" panose="02020603050405020304" pitchFamily="18" charset="0"/>
                </a:endParaRPr>
              </a:p>
              <a:p>
                <a:pPr algn="ctr"/>
                <a14:m>
                  <m:oMathPara xmlns:m="http://schemas.openxmlformats.org/officeDocument/2006/math">
                    <m:oMathParaPr>
                      <m:jc m:val="left"/>
                    </m:oMathParaPr>
                    <m:oMath xmlns:m="http://schemas.openxmlformats.org/officeDocument/2006/math">
                      <m:d>
                        <m:dPr>
                          <m:ctrlPr>
                            <a:rPr lang="en-US" altLang="zh-CN" i="1" smtClean="0">
                              <a:latin typeface="Cambria Math" panose="02040503050406030204" pitchFamily="18" charset="0"/>
                              <a:ea typeface="楷体_GB2312"/>
                              <a:cs typeface="Times New Roman" panose="02020603050405020304" pitchFamily="18" charset="0"/>
                            </a:rPr>
                          </m:ctrlPr>
                        </m:dPr>
                        <m:e>
                          <m:sSub>
                            <m:sSubPr>
                              <m:ctrlPr>
                                <a:rPr lang="zh-CN" altLang="zh-CN" i="1">
                                  <a:latin typeface="Cambria Math" panose="02040503050406030204" pitchFamily="18" charset="0"/>
                                  <a:ea typeface="楷体_GB2312"/>
                                  <a:cs typeface="Times New Roman" panose="02020603050405020304" pitchFamily="18" charset="0"/>
                                </a:rPr>
                              </m:ctrlPr>
                            </m:sSubPr>
                            <m:e>
                              <m:r>
                                <a:rPr lang="en-US" altLang="zh-CN">
                                  <a:latin typeface="Cambria Math" panose="02040503050406030204" pitchFamily="18" charset="0"/>
                                  <a:ea typeface="楷体_GB2312"/>
                                  <a:cs typeface="Times New Roman" panose="02020603050405020304" pitchFamily="18" charset="0"/>
                                </a:rPr>
                                <m:t>𝑥</m:t>
                              </m:r>
                            </m:e>
                            <m:sub>
                              <m:r>
                                <a:rPr lang="en-US" altLang="zh-CN">
                                  <a:latin typeface="Cambria Math" panose="02040503050406030204" pitchFamily="18" charset="0"/>
                                  <a:ea typeface="楷体_GB2312"/>
                                  <a:cs typeface="Times New Roman" panose="02020603050405020304" pitchFamily="18" charset="0"/>
                                </a:rPr>
                                <m:t>1</m:t>
                              </m:r>
                            </m:sub>
                          </m:sSub>
                          <m:r>
                            <a:rPr lang="en-US" altLang="zh-CN">
                              <a:latin typeface="Cambria Math" panose="02040503050406030204" pitchFamily="18" charset="0"/>
                              <a:ea typeface="楷体_GB2312"/>
                              <a:cs typeface="Times New Roman" panose="02020603050405020304" pitchFamily="18" charset="0"/>
                            </a:rPr>
                            <m:t>, </m:t>
                          </m:r>
                          <m:sSub>
                            <m:sSubPr>
                              <m:ctrlPr>
                                <a:rPr lang="zh-CN" altLang="zh-CN" i="1">
                                  <a:latin typeface="Cambria Math" panose="02040503050406030204" pitchFamily="18" charset="0"/>
                                  <a:ea typeface="楷体_GB2312"/>
                                  <a:cs typeface="Times New Roman" panose="02020603050405020304" pitchFamily="18" charset="0"/>
                                </a:rPr>
                              </m:ctrlPr>
                            </m:sSubPr>
                            <m:e>
                              <m:r>
                                <a:rPr lang="en-US" altLang="zh-CN">
                                  <a:latin typeface="Cambria Math" panose="02040503050406030204" pitchFamily="18" charset="0"/>
                                  <a:ea typeface="楷体_GB2312"/>
                                  <a:cs typeface="Times New Roman" panose="02020603050405020304" pitchFamily="18" charset="0"/>
                                </a:rPr>
                                <m:t>𝑥</m:t>
                              </m:r>
                            </m:e>
                            <m:sub>
                              <m:r>
                                <a:rPr lang="en-US" altLang="zh-CN">
                                  <a:latin typeface="Cambria Math" panose="02040503050406030204" pitchFamily="18" charset="0"/>
                                  <a:ea typeface="楷体_GB2312"/>
                                  <a:cs typeface="Times New Roman" panose="02020603050405020304" pitchFamily="18" charset="0"/>
                                </a:rPr>
                                <m:t>2</m:t>
                              </m:r>
                            </m:sub>
                          </m:sSub>
                          <m:r>
                            <a:rPr lang="en-US" altLang="zh-CN">
                              <a:latin typeface="Cambria Math" panose="02040503050406030204" pitchFamily="18" charset="0"/>
                              <a:ea typeface="楷体_GB2312"/>
                              <a:cs typeface="Times New Roman" panose="02020603050405020304" pitchFamily="18" charset="0"/>
                            </a:rPr>
                            <m:t>, </m:t>
                          </m:r>
                          <m:sSub>
                            <m:sSubPr>
                              <m:ctrlPr>
                                <a:rPr lang="zh-CN" altLang="zh-CN" i="1">
                                  <a:latin typeface="Cambria Math" panose="02040503050406030204" pitchFamily="18" charset="0"/>
                                  <a:ea typeface="楷体_GB2312"/>
                                  <a:cs typeface="Times New Roman" panose="02020603050405020304" pitchFamily="18" charset="0"/>
                                </a:rPr>
                              </m:ctrlPr>
                            </m:sSubPr>
                            <m:e>
                              <m:r>
                                <a:rPr lang="en-US" altLang="zh-CN">
                                  <a:latin typeface="Cambria Math" panose="02040503050406030204" pitchFamily="18" charset="0"/>
                                  <a:ea typeface="楷体_GB2312"/>
                                  <a:cs typeface="Times New Roman" panose="02020603050405020304" pitchFamily="18" charset="0"/>
                                </a:rPr>
                                <m:t>𝑥</m:t>
                              </m:r>
                            </m:e>
                            <m:sub>
                              <m:r>
                                <a:rPr lang="en-US" altLang="zh-CN">
                                  <a:latin typeface="Cambria Math" panose="02040503050406030204" pitchFamily="18" charset="0"/>
                                  <a:ea typeface="楷体_GB2312"/>
                                  <a:cs typeface="Times New Roman" panose="02020603050405020304" pitchFamily="18" charset="0"/>
                                </a:rPr>
                                <m:t>3</m:t>
                              </m:r>
                            </m:sub>
                          </m:sSub>
                        </m:e>
                      </m:d>
                      <m:r>
                        <a:rPr lang="en-US" altLang="zh-CN" b="0" i="0" smtClean="0">
                          <a:latin typeface="Cambria Math" panose="02040503050406030204" pitchFamily="18" charset="0"/>
                          <a:ea typeface="楷体_GB2312"/>
                          <a:cs typeface="Times New Roman" panose="02020603050405020304" pitchFamily="18" charset="0"/>
                        </a:rPr>
                        <m:t>=</m:t>
                      </m:r>
                      <m:d>
                        <m:dPr>
                          <m:ctrlPr>
                            <a:rPr lang="en-US" altLang="zh-CN" b="0" i="1" smtClean="0">
                              <a:solidFill>
                                <a:schemeClr val="tx1"/>
                              </a:solidFill>
                              <a:latin typeface="Cambria Math" panose="02040503050406030204" pitchFamily="18" charset="0"/>
                              <a:ea typeface="楷体_GB2312"/>
                              <a:cs typeface="Times New Roman" panose="02020603050405020304" pitchFamily="18" charset="0"/>
                            </a:rPr>
                          </m:ctrlPr>
                        </m:dPr>
                        <m:e>
                          <m:r>
                            <a:rPr lang="en-US" altLang="zh-CN" b="0" i="1" smtClean="0">
                              <a:solidFill>
                                <a:schemeClr val="tx1"/>
                              </a:solidFill>
                              <a:latin typeface="Cambria Math" panose="02040503050406030204" pitchFamily="18" charset="0"/>
                              <a:ea typeface="楷体_GB2312"/>
                              <a:cs typeface="Times New Roman" panose="02020603050405020304" pitchFamily="18" charset="0"/>
                            </a:rPr>
                            <m:t>1</m:t>
                          </m:r>
                          <m:r>
                            <a:rPr lang="en-US" altLang="zh-CN">
                              <a:solidFill>
                                <a:schemeClr val="tx1"/>
                              </a:solidFill>
                              <a:latin typeface="Cambria Math" panose="02040503050406030204" pitchFamily="18" charset="0"/>
                              <a:ea typeface="楷体_GB2312"/>
                              <a:cs typeface="Times New Roman" panose="02020603050405020304" pitchFamily="18" charset="0"/>
                            </a:rPr>
                            <m:t>, </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3</m:t>
                          </m:r>
                          <m:r>
                            <a:rPr lang="en-US" altLang="zh-CN">
                              <a:solidFill>
                                <a:schemeClr val="tx1"/>
                              </a:solidFill>
                              <a:latin typeface="Cambria Math" panose="02040503050406030204" pitchFamily="18" charset="0"/>
                              <a:ea typeface="楷体_GB2312"/>
                              <a:cs typeface="Times New Roman" panose="02020603050405020304" pitchFamily="18" charset="0"/>
                            </a:rPr>
                            <m:t>, </m:t>
                          </m:r>
                          <m:r>
                            <a:rPr lang="en-US" altLang="zh-CN" b="0" i="1" smtClean="0">
                              <a:solidFill>
                                <a:schemeClr val="tx1"/>
                              </a:solidFill>
                              <a:latin typeface="Cambria Math" panose="02040503050406030204" pitchFamily="18" charset="0"/>
                              <a:ea typeface="楷体_GB2312"/>
                              <a:cs typeface="Times New Roman" panose="02020603050405020304" pitchFamily="18" charset="0"/>
                            </a:rPr>
                            <m:t>4</m:t>
                          </m:r>
                        </m:e>
                      </m:d>
                      <m:r>
                        <a:rPr lang="en-US" altLang="zh-CN" b="0" i="0" smtClean="0">
                          <a:solidFill>
                            <a:schemeClr val="tx1"/>
                          </a:solidFill>
                          <a:latin typeface="Cambria Math" panose="02040503050406030204" pitchFamily="18" charset="0"/>
                          <a:ea typeface="楷体_GB2312"/>
                          <a:cs typeface="Times New Roman" panose="02020603050405020304" pitchFamily="18" charset="0"/>
                        </a:rPr>
                        <m:t>, </m:t>
                      </m:r>
                      <m:d>
                        <m:dPr>
                          <m:ctrlPr>
                            <a:rPr lang="en-US" altLang="zh-CN" i="1">
                              <a:solidFill>
                                <a:srgbClr val="000000"/>
                              </a:solidFill>
                              <a:latin typeface="Cambria Math" panose="02040503050406030204" pitchFamily="18" charset="0"/>
                              <a:ea typeface="楷体_GB2312"/>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a:solidFill>
                                    <a:srgbClr val="000000"/>
                                  </a:solidFill>
                                  <a:latin typeface="Cambria Math" panose="02040503050406030204" pitchFamily="18" charset="0"/>
                                  <a:ea typeface="楷体_GB2312"/>
                                  <a:cs typeface="Times New Roman" panose="02020603050405020304" pitchFamily="18" charset="0"/>
                                </a:rPr>
                                <m:t>𝑦</m:t>
                              </m:r>
                            </m:e>
                            <m:sub>
                              <m:r>
                                <a:rPr lang="en-US" altLang="zh-CN">
                                  <a:solidFill>
                                    <a:srgbClr val="000000"/>
                                  </a:solidFill>
                                  <a:latin typeface="Cambria Math" panose="02040503050406030204" pitchFamily="18" charset="0"/>
                                  <a:ea typeface="楷体_GB2312"/>
                                  <a:cs typeface="Times New Roman" panose="02020603050405020304" pitchFamily="18" charset="0"/>
                                </a:rPr>
                                <m:t>1</m:t>
                              </m:r>
                            </m:sub>
                          </m:sSub>
                          <m:r>
                            <a:rPr lang="en-US" altLang="zh-CN">
                              <a:solidFill>
                                <a:srgbClr val="000000"/>
                              </a:solidFill>
                              <a:latin typeface="Cambria Math" panose="02040503050406030204" pitchFamily="18" charset="0"/>
                              <a:ea typeface="楷体_GB2312"/>
                              <a:cs typeface="Times New Roman" panose="02020603050405020304" pitchFamily="18" charset="0"/>
                            </a:rPr>
                            <m:t>, </m:t>
                          </m:r>
                          <m:sSub>
                            <m:sSubPr>
                              <m:ctrlPr>
                                <a:rPr lang="zh-CN" altLang="zh-CN"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a:solidFill>
                                    <a:srgbClr val="000000"/>
                                  </a:solidFill>
                                  <a:latin typeface="Cambria Math" panose="02040503050406030204" pitchFamily="18" charset="0"/>
                                  <a:ea typeface="楷体_GB2312"/>
                                  <a:cs typeface="Times New Roman" panose="02020603050405020304" pitchFamily="18" charset="0"/>
                                </a:rPr>
                                <m:t>𝑦</m:t>
                              </m:r>
                            </m:e>
                            <m:sub>
                              <m:r>
                                <a:rPr lang="en-US" altLang="zh-CN">
                                  <a:solidFill>
                                    <a:srgbClr val="000000"/>
                                  </a:solidFill>
                                  <a:latin typeface="Cambria Math" panose="02040503050406030204" pitchFamily="18" charset="0"/>
                                  <a:ea typeface="楷体_GB2312"/>
                                  <a:cs typeface="Times New Roman" panose="02020603050405020304" pitchFamily="18" charset="0"/>
                                </a:rPr>
                                <m:t>2</m:t>
                              </m:r>
                            </m:sub>
                          </m:sSub>
                          <m:r>
                            <a:rPr lang="en-US" altLang="zh-CN">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a:solidFill>
                                    <a:srgbClr val="000000"/>
                                  </a:solidFill>
                                  <a:latin typeface="Cambria Math" panose="02040503050406030204" pitchFamily="18" charset="0"/>
                                  <a:ea typeface="楷体_GB2312"/>
                                  <a:cs typeface="Times New Roman" panose="02020603050405020304" pitchFamily="18" charset="0"/>
                                </a:rPr>
                                <m:t>𝑦</m:t>
                              </m:r>
                            </m:e>
                            <m:sub>
                              <m:r>
                                <a:rPr lang="en-US" altLang="zh-CN">
                                  <a:solidFill>
                                    <a:srgbClr val="000000"/>
                                  </a:solidFill>
                                  <a:latin typeface="Cambria Math" panose="02040503050406030204" pitchFamily="18" charset="0"/>
                                  <a:ea typeface="楷体_GB2312"/>
                                  <a:cs typeface="Times New Roman" panose="02020603050405020304" pitchFamily="18" charset="0"/>
                                </a:rPr>
                                <m:t>3</m:t>
                              </m:r>
                            </m:sub>
                          </m:sSub>
                        </m:e>
                      </m:d>
                      <m:r>
                        <a:rPr lang="en-US" altLang="zh-CN" b="0" i="0" smtClean="0">
                          <a:solidFill>
                            <a:srgbClr val="000000"/>
                          </a:solidFill>
                          <a:latin typeface="Cambria Math" panose="02040503050406030204" pitchFamily="18" charset="0"/>
                          <a:ea typeface="楷体_GB2312"/>
                          <a:cs typeface="Times New Roman" panose="02020603050405020304" pitchFamily="18" charset="0"/>
                        </a:rPr>
                        <m:t>=</m:t>
                      </m:r>
                      <m:d>
                        <m:dPr>
                          <m:ctrlPr>
                            <a:rPr lang="en-US" altLang="zh-CN" i="1">
                              <a:latin typeface="Cambria Math" panose="02040503050406030204" pitchFamily="18" charset="0"/>
                              <a:ea typeface="楷体_GB2312"/>
                              <a:cs typeface="Times New Roman" panose="02020603050405020304" pitchFamily="18" charset="0"/>
                            </a:rPr>
                          </m:ctrlPr>
                        </m:dPr>
                        <m:e>
                          <m:r>
                            <a:rPr lang="en-US" altLang="zh-CN" i="1">
                              <a:latin typeface="Cambria Math" panose="02040503050406030204" pitchFamily="18" charset="0"/>
                              <a:ea typeface="楷体_GB2312"/>
                              <a:cs typeface="Times New Roman" panose="02020603050405020304" pitchFamily="18" charset="0"/>
                            </a:rPr>
                            <m:t>0,1,0</m:t>
                          </m:r>
                        </m:e>
                      </m:d>
                    </m:oMath>
                  </m:oMathPara>
                </a14:m>
                <a:endParaRPr lang="en-US" altLang="zh-CN" dirty="0">
                  <a:ea typeface="楷体_GB2312"/>
                  <a:cs typeface="Times New Roman" panose="02020603050405020304" pitchFamily="18" charset="0"/>
                </a:endParaRPr>
              </a:p>
            </p:txBody>
          </p:sp>
        </mc:Choice>
        <mc:Fallback xmlns="">
          <p:sp>
            <p:nvSpPr>
              <p:cNvPr id="14" name="文本框 13">
                <a:extLst>
                  <a:ext uri="{FF2B5EF4-FFF2-40B4-BE49-F238E27FC236}">
                    <a16:creationId xmlns:a16="http://schemas.microsoft.com/office/drawing/2014/main" id="{3BE17EC8-C46B-130E-AB5A-53CBB0A8816D}"/>
                  </a:ext>
                </a:extLst>
              </p:cNvPr>
              <p:cNvSpPr txBox="1">
                <a:spLocks noRot="1" noChangeAspect="1" noMove="1" noResize="1" noEditPoints="1" noAdjustHandles="1" noChangeArrowheads="1" noChangeShapeType="1" noTextEdit="1"/>
              </p:cNvSpPr>
              <p:nvPr/>
            </p:nvSpPr>
            <p:spPr>
              <a:xfrm>
                <a:off x="466264" y="2783742"/>
                <a:ext cx="4754880" cy="646331"/>
              </a:xfrm>
              <a:prstGeom prst="rect">
                <a:avLst/>
              </a:prstGeom>
              <a:blipFill>
                <a:blip r:embed="rId3"/>
                <a:stretch>
                  <a:fillRect l="-1026" t="-6604" r="-1154" b="-28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AD56060-9ED4-D499-6DBB-5D88190BEC97}"/>
                  </a:ext>
                </a:extLst>
              </p:cNvPr>
              <p:cNvSpPr txBox="1"/>
              <p:nvPr/>
            </p:nvSpPr>
            <p:spPr>
              <a:xfrm>
                <a:off x="466264" y="1737630"/>
                <a:ext cx="5150765" cy="923330"/>
              </a:xfrm>
              <a:prstGeom prst="rect">
                <a:avLst/>
              </a:prstGeom>
              <a:noFill/>
            </p:spPr>
            <p:txBody>
              <a:bodyPr wrap="square">
                <a:spAutoFit/>
              </a:bodyPr>
              <a:lstStyle/>
              <a:p>
                <a:r>
                  <a:rPr lang="en-US" altLang="zh-CN" dirty="0">
                    <a:ea typeface="楷体_GB2312"/>
                    <a:cs typeface="Times New Roman" panose="02020603050405020304" pitchFamily="18" charset="0"/>
                  </a:rPr>
                  <a:t>1. </a:t>
                </a:r>
                <a:r>
                  <a:rPr lang="zh-CN" altLang="en-US" dirty="0">
                    <a:ea typeface="楷体_GB2312"/>
                    <a:cs typeface="Times New Roman" panose="02020603050405020304" pitchFamily="18" charset="0"/>
                  </a:rPr>
                  <a:t>确定好模型框架，并初始化模型参数</a:t>
                </a:r>
                <a:endParaRPr lang="en-US" altLang="zh-CN" dirty="0">
                  <a:ea typeface="楷体_GB2312"/>
                  <a:cs typeface="Times New Roman" panose="02020603050405020304" pitchFamily="18" charset="0"/>
                </a:endParaRPr>
              </a:p>
              <a:p>
                <a14:m>
                  <m:oMath xmlns:m="http://schemas.openxmlformats.org/officeDocument/2006/math">
                    <m:d>
                      <m:dPr>
                        <m:ctrlPr>
                          <a:rPr lang="en-US" altLang="zh-CN" i="1" smtClean="0">
                            <a:latin typeface="Cambria Math" panose="02040503050406030204" pitchFamily="18" charset="0"/>
                            <a:ea typeface="楷体_GB2312"/>
                            <a:cs typeface="Times New Roman" panose="02020603050405020304" pitchFamily="18" charset="0"/>
                          </a:rPr>
                        </m:ctrlPr>
                      </m:dPr>
                      <m:e>
                        <m:sSub>
                          <m:sSubPr>
                            <m:ctrlPr>
                              <a:rPr lang="zh-CN" altLang="zh-CN" i="1">
                                <a:latin typeface="Cambria Math" panose="02040503050406030204" pitchFamily="18" charset="0"/>
                                <a:ea typeface="楷体_GB2312"/>
                                <a:cs typeface="Times New Roman" panose="02020603050405020304" pitchFamily="18" charset="0"/>
                              </a:rPr>
                            </m:ctrlPr>
                          </m:sSubPr>
                          <m:e>
                            <m:r>
                              <a:rPr lang="en-US" altLang="zh-CN" b="0" i="1" smtClean="0">
                                <a:latin typeface="Cambria Math" panose="02040503050406030204" pitchFamily="18" charset="0"/>
                                <a:ea typeface="楷体_GB2312"/>
                                <a:cs typeface="Times New Roman" panose="02020603050405020304" pitchFamily="18" charset="0"/>
                              </a:rPr>
                              <m:t>𝑤</m:t>
                            </m:r>
                          </m:e>
                          <m:sub>
                            <m:r>
                              <a:rPr lang="en-US" altLang="zh-CN">
                                <a:latin typeface="Cambria Math" panose="02040503050406030204" pitchFamily="18" charset="0"/>
                                <a:ea typeface="楷体_GB2312"/>
                                <a:cs typeface="Times New Roman" panose="02020603050405020304" pitchFamily="18" charset="0"/>
                              </a:rPr>
                              <m:t>1</m:t>
                            </m:r>
                          </m:sub>
                        </m:sSub>
                        <m:r>
                          <a:rPr lang="en-US" altLang="zh-CN">
                            <a:latin typeface="Cambria Math" panose="02040503050406030204" pitchFamily="18" charset="0"/>
                            <a:ea typeface="楷体_GB2312"/>
                            <a:cs typeface="Times New Roman" panose="02020603050405020304" pitchFamily="18" charset="0"/>
                          </a:rPr>
                          <m:t>, </m:t>
                        </m:r>
                        <m:sSub>
                          <m:sSubPr>
                            <m:ctrlPr>
                              <a:rPr lang="zh-CN" altLang="zh-CN" i="1">
                                <a:latin typeface="Cambria Math" panose="02040503050406030204" pitchFamily="18" charset="0"/>
                                <a:ea typeface="楷体_GB2312"/>
                                <a:cs typeface="Times New Roman" panose="02020603050405020304" pitchFamily="18" charset="0"/>
                              </a:rPr>
                            </m:ctrlPr>
                          </m:sSubPr>
                          <m:e>
                            <m:r>
                              <a:rPr lang="en-US" altLang="zh-CN" b="0" i="1" smtClean="0">
                                <a:latin typeface="Cambria Math" panose="02040503050406030204" pitchFamily="18" charset="0"/>
                                <a:ea typeface="楷体_GB2312"/>
                                <a:cs typeface="Times New Roman" panose="02020603050405020304" pitchFamily="18" charset="0"/>
                              </a:rPr>
                              <m:t>𝑤</m:t>
                            </m:r>
                          </m:e>
                          <m:sub>
                            <m:r>
                              <a:rPr lang="en-US" altLang="zh-CN">
                                <a:latin typeface="Cambria Math" panose="02040503050406030204" pitchFamily="18" charset="0"/>
                                <a:ea typeface="楷体_GB2312"/>
                                <a:cs typeface="Times New Roman" panose="02020603050405020304" pitchFamily="18" charset="0"/>
                              </a:rPr>
                              <m:t>2</m:t>
                            </m:r>
                          </m:sub>
                        </m:sSub>
                        <m:r>
                          <a:rPr lang="en-US" altLang="zh-CN">
                            <a:latin typeface="Cambria Math" panose="02040503050406030204" pitchFamily="18" charset="0"/>
                            <a:ea typeface="楷体_GB2312"/>
                            <a:cs typeface="Times New Roman" panose="02020603050405020304" pitchFamily="18" charset="0"/>
                          </a:rPr>
                          <m:t>, </m:t>
                        </m:r>
                        <m:sSub>
                          <m:sSubPr>
                            <m:ctrlPr>
                              <a:rPr lang="zh-CN" altLang="zh-CN" i="1">
                                <a:latin typeface="Cambria Math" panose="02040503050406030204" pitchFamily="18" charset="0"/>
                                <a:ea typeface="楷体_GB2312"/>
                                <a:cs typeface="Times New Roman" panose="02020603050405020304" pitchFamily="18" charset="0"/>
                              </a:rPr>
                            </m:ctrlPr>
                          </m:sSubPr>
                          <m:e>
                            <m:r>
                              <a:rPr lang="en-US" altLang="zh-CN" b="0" i="1" smtClean="0">
                                <a:latin typeface="Cambria Math" panose="02040503050406030204" pitchFamily="18" charset="0"/>
                                <a:ea typeface="楷体_GB2312"/>
                                <a:cs typeface="Times New Roman" panose="02020603050405020304" pitchFamily="18" charset="0"/>
                              </a:rPr>
                              <m:t>𝑤</m:t>
                            </m:r>
                          </m:e>
                          <m:sub>
                            <m:r>
                              <a:rPr lang="en-US" altLang="zh-CN">
                                <a:latin typeface="Cambria Math" panose="02040503050406030204" pitchFamily="18" charset="0"/>
                                <a:ea typeface="楷体_GB2312"/>
                                <a:cs typeface="Times New Roman" panose="02020603050405020304" pitchFamily="18" charset="0"/>
                              </a:rPr>
                              <m:t>3</m:t>
                            </m:r>
                          </m:sub>
                        </m:sSub>
                        <m:r>
                          <a:rPr lang="en-US" altLang="zh-CN" b="0" i="1" smtClean="0">
                            <a:latin typeface="Cambria Math" panose="02040503050406030204" pitchFamily="18" charset="0"/>
                            <a:ea typeface="楷体_GB2312"/>
                            <a:cs typeface="Times New Roman" panose="02020603050405020304" pitchFamily="18" charset="0"/>
                          </a:rPr>
                          <m:t>,</m:t>
                        </m:r>
                        <m:sSub>
                          <m:sSubPr>
                            <m:ctrlPr>
                              <a:rPr lang="zh-CN" altLang="zh-CN" i="1">
                                <a:latin typeface="Cambria Math" panose="02040503050406030204" pitchFamily="18" charset="0"/>
                                <a:ea typeface="楷体_GB2312"/>
                                <a:cs typeface="Times New Roman" panose="02020603050405020304" pitchFamily="18" charset="0"/>
                              </a:rPr>
                            </m:ctrlPr>
                          </m:sSubPr>
                          <m:e>
                            <m:r>
                              <a:rPr lang="en-US" altLang="zh-CN" i="1">
                                <a:latin typeface="Cambria Math" panose="02040503050406030204" pitchFamily="18" charset="0"/>
                                <a:ea typeface="楷体_GB2312"/>
                                <a:cs typeface="Times New Roman" panose="02020603050405020304" pitchFamily="18" charset="0"/>
                              </a:rPr>
                              <m:t>𝑤</m:t>
                            </m:r>
                          </m:e>
                          <m:sub>
                            <m:r>
                              <a:rPr lang="en-US" altLang="zh-CN" b="0" i="0" smtClean="0">
                                <a:latin typeface="Cambria Math" panose="02040503050406030204" pitchFamily="18" charset="0"/>
                                <a:ea typeface="楷体_GB2312"/>
                                <a:cs typeface="Times New Roman" panose="02020603050405020304" pitchFamily="18" charset="0"/>
                              </a:rPr>
                              <m:t>4</m:t>
                            </m:r>
                          </m:sub>
                        </m:sSub>
                        <m:r>
                          <a:rPr lang="en-US" altLang="zh-CN">
                            <a:latin typeface="Cambria Math" panose="02040503050406030204" pitchFamily="18" charset="0"/>
                            <a:ea typeface="楷体_GB2312"/>
                            <a:cs typeface="Times New Roman" panose="02020603050405020304" pitchFamily="18" charset="0"/>
                          </a:rPr>
                          <m:t>, </m:t>
                        </m:r>
                        <m:sSub>
                          <m:sSubPr>
                            <m:ctrlPr>
                              <a:rPr lang="zh-CN" altLang="zh-CN" i="1">
                                <a:latin typeface="Cambria Math" panose="02040503050406030204" pitchFamily="18" charset="0"/>
                                <a:ea typeface="楷体_GB2312"/>
                                <a:cs typeface="Times New Roman" panose="02020603050405020304" pitchFamily="18" charset="0"/>
                              </a:rPr>
                            </m:ctrlPr>
                          </m:sSubPr>
                          <m:e>
                            <m:r>
                              <a:rPr lang="en-US" altLang="zh-CN" i="1">
                                <a:latin typeface="Cambria Math" panose="02040503050406030204" pitchFamily="18" charset="0"/>
                                <a:ea typeface="楷体_GB2312"/>
                                <a:cs typeface="Times New Roman" panose="02020603050405020304" pitchFamily="18" charset="0"/>
                              </a:rPr>
                              <m:t>𝑤</m:t>
                            </m:r>
                          </m:e>
                          <m:sub>
                            <m:r>
                              <a:rPr lang="en-US" altLang="zh-CN" b="0" i="0" smtClean="0">
                                <a:latin typeface="Cambria Math" panose="02040503050406030204" pitchFamily="18" charset="0"/>
                                <a:ea typeface="楷体_GB2312"/>
                                <a:cs typeface="Times New Roman" panose="02020603050405020304" pitchFamily="18" charset="0"/>
                              </a:rPr>
                              <m:t>5</m:t>
                            </m:r>
                          </m:sub>
                        </m:sSub>
                        <m:r>
                          <a:rPr lang="en-US" altLang="zh-CN">
                            <a:latin typeface="Cambria Math" panose="02040503050406030204" pitchFamily="18" charset="0"/>
                            <a:ea typeface="楷体_GB2312"/>
                            <a:cs typeface="Times New Roman" panose="02020603050405020304" pitchFamily="18" charset="0"/>
                          </a:rPr>
                          <m:t>, </m:t>
                        </m:r>
                        <m:sSub>
                          <m:sSubPr>
                            <m:ctrlPr>
                              <a:rPr lang="zh-CN" altLang="zh-CN" i="1">
                                <a:latin typeface="Cambria Math" panose="02040503050406030204" pitchFamily="18" charset="0"/>
                                <a:ea typeface="楷体_GB2312"/>
                                <a:cs typeface="Times New Roman" panose="02020603050405020304" pitchFamily="18" charset="0"/>
                              </a:rPr>
                            </m:ctrlPr>
                          </m:sSubPr>
                          <m:e>
                            <m:r>
                              <a:rPr lang="en-US" altLang="zh-CN" i="1">
                                <a:latin typeface="Cambria Math" panose="02040503050406030204" pitchFamily="18" charset="0"/>
                                <a:ea typeface="楷体_GB2312"/>
                                <a:cs typeface="Times New Roman" panose="02020603050405020304" pitchFamily="18" charset="0"/>
                              </a:rPr>
                              <m:t>𝑤</m:t>
                            </m:r>
                          </m:e>
                          <m:sub>
                            <m:r>
                              <a:rPr lang="en-US" altLang="zh-CN" b="0" i="0" smtClean="0">
                                <a:latin typeface="Cambria Math" panose="02040503050406030204" pitchFamily="18" charset="0"/>
                                <a:ea typeface="楷体_GB2312"/>
                                <a:cs typeface="Times New Roman" panose="02020603050405020304" pitchFamily="18" charset="0"/>
                              </a:rPr>
                              <m:t>6</m:t>
                            </m:r>
                          </m:sub>
                        </m:sSub>
                        <m:r>
                          <a:rPr lang="en-US" altLang="zh-CN" b="0" i="1" smtClean="0">
                            <a:latin typeface="Cambria Math" panose="02040503050406030204" pitchFamily="18" charset="0"/>
                            <a:ea typeface="楷体_GB2312"/>
                            <a:cs typeface="Times New Roman" panose="02020603050405020304" pitchFamily="18" charset="0"/>
                          </a:rPr>
                          <m:t>,</m:t>
                        </m:r>
                        <m:sSub>
                          <m:sSubPr>
                            <m:ctrlPr>
                              <a:rPr lang="zh-CN" altLang="zh-CN" i="1">
                                <a:latin typeface="Cambria Math" panose="02040503050406030204" pitchFamily="18" charset="0"/>
                                <a:ea typeface="楷体_GB2312"/>
                                <a:cs typeface="Times New Roman" panose="02020603050405020304" pitchFamily="18" charset="0"/>
                              </a:rPr>
                            </m:ctrlPr>
                          </m:sSubPr>
                          <m:e>
                            <m:r>
                              <a:rPr lang="en-US" altLang="zh-CN" i="1">
                                <a:latin typeface="Cambria Math" panose="02040503050406030204" pitchFamily="18" charset="0"/>
                                <a:ea typeface="楷体_GB2312"/>
                                <a:cs typeface="Times New Roman" panose="02020603050405020304" pitchFamily="18" charset="0"/>
                              </a:rPr>
                              <m:t>𝑤</m:t>
                            </m:r>
                          </m:e>
                          <m:sub>
                            <m:r>
                              <a:rPr lang="en-US" altLang="zh-CN" b="0" i="0" smtClean="0">
                                <a:latin typeface="Cambria Math" panose="02040503050406030204" pitchFamily="18" charset="0"/>
                                <a:ea typeface="楷体_GB2312"/>
                                <a:cs typeface="Times New Roman" panose="02020603050405020304" pitchFamily="18" charset="0"/>
                              </a:rPr>
                              <m:t>7</m:t>
                            </m:r>
                          </m:sub>
                        </m:sSub>
                        <m:r>
                          <a:rPr lang="en-US" altLang="zh-CN">
                            <a:latin typeface="Cambria Math" panose="02040503050406030204" pitchFamily="18" charset="0"/>
                            <a:ea typeface="楷体_GB2312"/>
                            <a:cs typeface="Times New Roman" panose="02020603050405020304" pitchFamily="18" charset="0"/>
                          </a:rPr>
                          <m:t>, </m:t>
                        </m:r>
                        <m:sSub>
                          <m:sSubPr>
                            <m:ctrlPr>
                              <a:rPr lang="zh-CN" altLang="zh-CN" i="1">
                                <a:latin typeface="Cambria Math" panose="02040503050406030204" pitchFamily="18" charset="0"/>
                                <a:ea typeface="楷体_GB2312"/>
                                <a:cs typeface="Times New Roman" panose="02020603050405020304" pitchFamily="18" charset="0"/>
                              </a:rPr>
                            </m:ctrlPr>
                          </m:sSubPr>
                          <m:e>
                            <m:r>
                              <a:rPr lang="en-US" altLang="zh-CN" i="1">
                                <a:latin typeface="Cambria Math" panose="02040503050406030204" pitchFamily="18" charset="0"/>
                                <a:ea typeface="楷体_GB2312"/>
                                <a:cs typeface="Times New Roman" panose="02020603050405020304" pitchFamily="18" charset="0"/>
                              </a:rPr>
                              <m:t>𝑤</m:t>
                            </m:r>
                          </m:e>
                          <m:sub>
                            <m:r>
                              <a:rPr lang="en-US" altLang="zh-CN" b="0" i="0" smtClean="0">
                                <a:latin typeface="Cambria Math" panose="02040503050406030204" pitchFamily="18" charset="0"/>
                                <a:ea typeface="楷体_GB2312"/>
                                <a:cs typeface="Times New Roman" panose="02020603050405020304" pitchFamily="18" charset="0"/>
                              </a:rPr>
                              <m:t>8</m:t>
                            </m:r>
                          </m:sub>
                        </m:sSub>
                        <m:r>
                          <a:rPr lang="en-US" altLang="zh-CN">
                            <a:latin typeface="Cambria Math" panose="02040503050406030204" pitchFamily="18" charset="0"/>
                            <a:ea typeface="楷体_GB2312"/>
                            <a:cs typeface="Times New Roman" panose="02020603050405020304" pitchFamily="18" charset="0"/>
                          </a:rPr>
                          <m:t>, </m:t>
                        </m:r>
                        <m:sSub>
                          <m:sSubPr>
                            <m:ctrlPr>
                              <a:rPr lang="zh-CN" altLang="zh-CN" i="1">
                                <a:latin typeface="Cambria Math" panose="02040503050406030204" pitchFamily="18" charset="0"/>
                                <a:ea typeface="楷体_GB2312"/>
                                <a:cs typeface="Times New Roman" panose="02020603050405020304" pitchFamily="18" charset="0"/>
                              </a:rPr>
                            </m:ctrlPr>
                          </m:sSubPr>
                          <m:e>
                            <m:r>
                              <a:rPr lang="en-US" altLang="zh-CN" i="1">
                                <a:latin typeface="Cambria Math" panose="02040503050406030204" pitchFamily="18" charset="0"/>
                                <a:ea typeface="楷体_GB2312"/>
                                <a:cs typeface="Times New Roman" panose="02020603050405020304" pitchFamily="18" charset="0"/>
                              </a:rPr>
                              <m:t>𝑤</m:t>
                            </m:r>
                          </m:e>
                          <m:sub>
                            <m:r>
                              <a:rPr lang="en-US" altLang="zh-CN" b="0" i="0" smtClean="0">
                                <a:latin typeface="Cambria Math" panose="02040503050406030204" pitchFamily="18" charset="0"/>
                                <a:ea typeface="楷体_GB2312"/>
                                <a:cs typeface="Times New Roman" panose="02020603050405020304" pitchFamily="18" charset="0"/>
                              </a:rPr>
                              <m:t>9</m:t>
                            </m:r>
                          </m:sub>
                        </m:sSub>
                        <m:r>
                          <a:rPr lang="en-US" altLang="zh-CN" b="0" i="1" smtClean="0">
                            <a:latin typeface="Cambria Math" panose="02040503050406030204" pitchFamily="18" charset="0"/>
                            <a:ea typeface="楷体_GB2312"/>
                            <a:cs typeface="Times New Roman" panose="02020603050405020304" pitchFamily="18" charset="0"/>
                          </a:rPr>
                          <m:t>,</m:t>
                        </m:r>
                        <m:sSub>
                          <m:sSubPr>
                            <m:ctrlPr>
                              <a:rPr lang="zh-CN" altLang="zh-CN" i="1">
                                <a:latin typeface="Cambria Math" panose="02040503050406030204" pitchFamily="18" charset="0"/>
                                <a:ea typeface="楷体_GB2312"/>
                                <a:cs typeface="Times New Roman" panose="02020603050405020304" pitchFamily="18" charset="0"/>
                              </a:rPr>
                            </m:ctrlPr>
                          </m:sSubPr>
                          <m:e>
                            <m:r>
                              <a:rPr lang="en-US" altLang="zh-CN" i="1">
                                <a:latin typeface="Cambria Math" panose="02040503050406030204" pitchFamily="18" charset="0"/>
                                <a:ea typeface="楷体_GB2312"/>
                                <a:cs typeface="Times New Roman" panose="02020603050405020304" pitchFamily="18" charset="0"/>
                              </a:rPr>
                              <m:t>𝑤</m:t>
                            </m:r>
                          </m:e>
                          <m:sub>
                            <m:r>
                              <a:rPr lang="en-US" altLang="zh-CN">
                                <a:latin typeface="Cambria Math" panose="02040503050406030204" pitchFamily="18" charset="0"/>
                                <a:ea typeface="楷体_GB2312"/>
                                <a:cs typeface="Times New Roman" panose="02020603050405020304" pitchFamily="18" charset="0"/>
                              </a:rPr>
                              <m:t>1</m:t>
                            </m:r>
                            <m:r>
                              <a:rPr lang="en-US" altLang="zh-CN" b="0" i="0" smtClean="0">
                                <a:latin typeface="Cambria Math" panose="02040503050406030204" pitchFamily="18" charset="0"/>
                                <a:ea typeface="楷体_GB2312"/>
                                <a:cs typeface="Times New Roman" panose="02020603050405020304" pitchFamily="18" charset="0"/>
                              </a:rPr>
                              <m:t>0</m:t>
                            </m:r>
                          </m:sub>
                        </m:sSub>
                        <m:r>
                          <a:rPr lang="en-US" altLang="zh-CN">
                            <a:latin typeface="Cambria Math" panose="02040503050406030204" pitchFamily="18" charset="0"/>
                            <a:ea typeface="楷体_GB2312"/>
                            <a:cs typeface="Times New Roman" panose="02020603050405020304" pitchFamily="18" charset="0"/>
                          </a:rPr>
                          <m:t>, </m:t>
                        </m:r>
                        <m:sSub>
                          <m:sSubPr>
                            <m:ctrlPr>
                              <a:rPr lang="zh-CN" altLang="zh-CN" i="1">
                                <a:latin typeface="Cambria Math" panose="02040503050406030204" pitchFamily="18" charset="0"/>
                                <a:ea typeface="楷体_GB2312"/>
                                <a:cs typeface="Times New Roman" panose="02020603050405020304" pitchFamily="18" charset="0"/>
                              </a:rPr>
                            </m:ctrlPr>
                          </m:sSubPr>
                          <m:e>
                            <m:r>
                              <a:rPr lang="en-US" altLang="zh-CN" i="1">
                                <a:latin typeface="Cambria Math" panose="02040503050406030204" pitchFamily="18" charset="0"/>
                                <a:ea typeface="楷体_GB2312"/>
                                <a:cs typeface="Times New Roman" panose="02020603050405020304" pitchFamily="18" charset="0"/>
                              </a:rPr>
                              <m:t>𝑤</m:t>
                            </m:r>
                          </m:e>
                          <m:sub>
                            <m:r>
                              <a:rPr lang="en-US" altLang="zh-CN" b="0" i="1" smtClean="0">
                                <a:latin typeface="Cambria Math" panose="02040503050406030204" pitchFamily="18" charset="0"/>
                                <a:ea typeface="楷体_GB2312"/>
                                <a:cs typeface="Times New Roman" panose="02020603050405020304" pitchFamily="18" charset="0"/>
                              </a:rPr>
                              <m:t>11</m:t>
                            </m:r>
                          </m:sub>
                        </m:sSub>
                        <m:r>
                          <a:rPr lang="en-US" altLang="zh-CN">
                            <a:latin typeface="Cambria Math" panose="02040503050406030204" pitchFamily="18" charset="0"/>
                            <a:ea typeface="楷体_GB2312"/>
                            <a:cs typeface="Times New Roman" panose="02020603050405020304" pitchFamily="18" charset="0"/>
                          </a:rPr>
                          <m:t>, </m:t>
                        </m:r>
                        <m:sSub>
                          <m:sSubPr>
                            <m:ctrlPr>
                              <a:rPr lang="zh-CN" altLang="zh-CN" i="1">
                                <a:latin typeface="Cambria Math" panose="02040503050406030204" pitchFamily="18" charset="0"/>
                                <a:ea typeface="楷体_GB2312"/>
                                <a:cs typeface="Times New Roman" panose="02020603050405020304" pitchFamily="18" charset="0"/>
                              </a:rPr>
                            </m:ctrlPr>
                          </m:sSubPr>
                          <m:e>
                            <m:r>
                              <a:rPr lang="en-US" altLang="zh-CN" i="1">
                                <a:latin typeface="Cambria Math" panose="02040503050406030204" pitchFamily="18" charset="0"/>
                                <a:ea typeface="楷体_GB2312"/>
                                <a:cs typeface="Times New Roman" panose="02020603050405020304" pitchFamily="18" charset="0"/>
                              </a:rPr>
                              <m:t>𝑤</m:t>
                            </m:r>
                          </m:e>
                          <m:sub>
                            <m:r>
                              <a:rPr lang="en-US" altLang="zh-CN" b="0" i="0" smtClean="0">
                                <a:latin typeface="Cambria Math" panose="02040503050406030204" pitchFamily="18" charset="0"/>
                                <a:ea typeface="楷体_GB2312"/>
                                <a:cs typeface="Times New Roman" panose="02020603050405020304" pitchFamily="18" charset="0"/>
                              </a:rPr>
                              <m:t>12</m:t>
                            </m:r>
                          </m:sub>
                        </m:sSub>
                      </m:e>
                    </m:d>
                  </m:oMath>
                </a14:m>
                <a:r>
                  <a:rPr lang="en-US" altLang="zh-CN" dirty="0"/>
                  <a:t>=</a:t>
                </a:r>
                <a:r>
                  <a:rPr lang="en-US" altLang="zh-CN" dirty="0">
                    <a:ea typeface="楷体_GB2312"/>
                    <a:cs typeface="Times New Roman" panose="02020603050405020304" pitchFamily="18" charset="0"/>
                  </a:rPr>
                  <a:t> </a:t>
                </a:r>
                <a14:m>
                  <m:oMath xmlns:m="http://schemas.openxmlformats.org/officeDocument/2006/math">
                    <m:d>
                      <m:dPr>
                        <m:ctrlPr>
                          <a:rPr lang="en-US" altLang="zh-CN" i="1">
                            <a:latin typeface="Cambria Math" panose="02040503050406030204" pitchFamily="18" charset="0"/>
                            <a:ea typeface="楷体_GB2312"/>
                            <a:cs typeface="Times New Roman" panose="02020603050405020304" pitchFamily="18" charset="0"/>
                          </a:rPr>
                        </m:ctrlPr>
                      </m:dPr>
                      <m:e>
                        <m:r>
                          <a:rPr lang="en-US" altLang="zh-CN" b="0" i="1" smtClean="0">
                            <a:latin typeface="Cambria Math" panose="02040503050406030204" pitchFamily="18" charset="0"/>
                            <a:ea typeface="楷体_GB2312"/>
                            <a:cs typeface="Times New Roman" panose="02020603050405020304" pitchFamily="18" charset="0"/>
                          </a:rPr>
                          <m:t>0.2</m:t>
                        </m:r>
                        <m:r>
                          <a:rPr lang="en-US" altLang="zh-CN">
                            <a:latin typeface="Cambria Math" panose="02040503050406030204" pitchFamily="18" charset="0"/>
                            <a:ea typeface="楷体_GB2312"/>
                            <a:cs typeface="Times New Roman" panose="02020603050405020304" pitchFamily="18" charset="0"/>
                          </a:rPr>
                          <m:t>,</m:t>
                        </m:r>
                        <m:r>
                          <a:rPr lang="en-US" altLang="zh-CN" b="0" i="0" smtClean="0">
                            <a:latin typeface="Cambria Math" panose="02040503050406030204" pitchFamily="18" charset="0"/>
                            <a:ea typeface="楷体_GB2312"/>
                            <a:cs typeface="Times New Roman" panose="02020603050405020304" pitchFamily="18" charset="0"/>
                          </a:rPr>
                          <m:t>0.3</m:t>
                        </m:r>
                        <m:r>
                          <a:rPr lang="en-US" altLang="zh-CN">
                            <a:latin typeface="Cambria Math" panose="02040503050406030204" pitchFamily="18" charset="0"/>
                            <a:ea typeface="楷体_GB2312"/>
                            <a:cs typeface="Times New Roman" panose="02020603050405020304" pitchFamily="18" charset="0"/>
                          </a:rPr>
                          <m:t>,</m:t>
                        </m:r>
                        <m:r>
                          <a:rPr lang="en-US" altLang="zh-CN" b="0" i="1" smtClean="0">
                            <a:latin typeface="Cambria Math" panose="02040503050406030204" pitchFamily="18" charset="0"/>
                            <a:ea typeface="楷体_GB2312"/>
                            <a:cs typeface="Times New Roman" panose="02020603050405020304" pitchFamily="18" charset="0"/>
                          </a:rPr>
                          <m:t>0.4</m:t>
                        </m:r>
                        <m:r>
                          <a:rPr lang="en-US" altLang="zh-CN" i="1">
                            <a:latin typeface="Cambria Math" panose="02040503050406030204" pitchFamily="18" charset="0"/>
                            <a:ea typeface="楷体_GB2312"/>
                            <a:cs typeface="Times New Roman" panose="02020603050405020304" pitchFamily="18" charset="0"/>
                          </a:rPr>
                          <m:t>,</m:t>
                        </m:r>
                        <m:r>
                          <a:rPr lang="en-US" altLang="zh-CN" b="0" i="0" smtClean="0">
                            <a:latin typeface="Cambria Math" panose="02040503050406030204" pitchFamily="18" charset="0"/>
                            <a:ea typeface="楷体_GB2312"/>
                            <a:cs typeface="Times New Roman" panose="02020603050405020304" pitchFamily="18" charset="0"/>
                          </a:rPr>
                          <m:t>0.1</m:t>
                        </m:r>
                        <m:r>
                          <a:rPr lang="en-US" altLang="zh-CN">
                            <a:latin typeface="Cambria Math" panose="02040503050406030204" pitchFamily="18" charset="0"/>
                            <a:ea typeface="楷体_GB2312"/>
                            <a:cs typeface="Times New Roman" panose="02020603050405020304" pitchFamily="18" charset="0"/>
                          </a:rPr>
                          <m:t>,</m:t>
                        </m:r>
                        <m:r>
                          <a:rPr lang="en-US" altLang="zh-CN" b="0" i="0" smtClean="0">
                            <a:latin typeface="Cambria Math" panose="02040503050406030204" pitchFamily="18" charset="0"/>
                            <a:ea typeface="楷体_GB2312"/>
                            <a:cs typeface="Times New Roman" panose="02020603050405020304" pitchFamily="18" charset="0"/>
                          </a:rPr>
                          <m:t>0.2</m:t>
                        </m:r>
                        <m:r>
                          <a:rPr lang="en-US" altLang="zh-CN">
                            <a:latin typeface="Cambria Math" panose="02040503050406030204" pitchFamily="18" charset="0"/>
                            <a:ea typeface="楷体_GB2312"/>
                            <a:cs typeface="Times New Roman" panose="02020603050405020304" pitchFamily="18" charset="0"/>
                          </a:rPr>
                          <m:t>,</m:t>
                        </m:r>
                        <m:r>
                          <a:rPr lang="en-US" altLang="zh-CN" b="0" i="1" smtClean="0">
                            <a:latin typeface="Cambria Math" panose="02040503050406030204" pitchFamily="18" charset="0"/>
                            <a:ea typeface="楷体_GB2312"/>
                            <a:cs typeface="Times New Roman" panose="02020603050405020304" pitchFamily="18" charset="0"/>
                          </a:rPr>
                          <m:t>0.5</m:t>
                        </m:r>
                        <m:r>
                          <a:rPr lang="en-US" altLang="zh-CN" i="1">
                            <a:latin typeface="Cambria Math" panose="02040503050406030204" pitchFamily="18" charset="0"/>
                            <a:ea typeface="楷体_GB2312"/>
                            <a:cs typeface="Times New Roman" panose="02020603050405020304" pitchFamily="18" charset="0"/>
                          </a:rPr>
                          <m:t>,</m:t>
                        </m:r>
                        <m:r>
                          <a:rPr lang="en-US" altLang="zh-CN" b="0" i="0" smtClean="0">
                            <a:latin typeface="Cambria Math" panose="02040503050406030204" pitchFamily="18" charset="0"/>
                            <a:ea typeface="楷体_GB2312"/>
                            <a:cs typeface="Times New Roman" panose="02020603050405020304" pitchFamily="18" charset="0"/>
                          </a:rPr>
                          <m:t>0.6</m:t>
                        </m:r>
                        <m:r>
                          <a:rPr lang="en-US" altLang="zh-CN">
                            <a:latin typeface="Cambria Math" panose="02040503050406030204" pitchFamily="18" charset="0"/>
                            <a:ea typeface="楷体_GB2312"/>
                            <a:cs typeface="Times New Roman" panose="02020603050405020304" pitchFamily="18" charset="0"/>
                          </a:rPr>
                          <m:t>,</m:t>
                        </m:r>
                        <m:r>
                          <a:rPr lang="en-US" altLang="zh-CN" b="0" i="0" smtClean="0">
                            <a:latin typeface="Cambria Math" panose="02040503050406030204" pitchFamily="18" charset="0"/>
                            <a:ea typeface="楷体_GB2312"/>
                            <a:cs typeface="Times New Roman" panose="02020603050405020304" pitchFamily="18" charset="0"/>
                          </a:rPr>
                          <m:t>0.3</m:t>
                        </m:r>
                        <m:r>
                          <a:rPr lang="en-US" altLang="zh-CN">
                            <a:latin typeface="Cambria Math" panose="02040503050406030204" pitchFamily="18" charset="0"/>
                            <a:ea typeface="楷体_GB2312"/>
                            <a:cs typeface="Times New Roman" panose="02020603050405020304" pitchFamily="18" charset="0"/>
                          </a:rPr>
                          <m:t>,</m:t>
                        </m:r>
                        <m:r>
                          <a:rPr lang="en-US" altLang="zh-CN" b="0" i="1" smtClean="0">
                            <a:latin typeface="Cambria Math" panose="02040503050406030204" pitchFamily="18" charset="0"/>
                            <a:ea typeface="楷体_GB2312"/>
                            <a:cs typeface="Times New Roman" panose="02020603050405020304" pitchFamily="18" charset="0"/>
                          </a:rPr>
                          <m:t>0.1</m:t>
                        </m:r>
                        <m:r>
                          <a:rPr lang="en-US" altLang="zh-CN" i="1">
                            <a:latin typeface="Cambria Math" panose="02040503050406030204" pitchFamily="18" charset="0"/>
                            <a:ea typeface="楷体_GB2312"/>
                            <a:cs typeface="Times New Roman" panose="02020603050405020304" pitchFamily="18" charset="0"/>
                          </a:rPr>
                          <m:t>,</m:t>
                        </m:r>
                        <m:r>
                          <a:rPr lang="en-US" altLang="zh-CN" b="0" i="0" smtClean="0">
                            <a:latin typeface="Cambria Math" panose="02040503050406030204" pitchFamily="18" charset="0"/>
                            <a:ea typeface="楷体_GB2312"/>
                            <a:cs typeface="Times New Roman" panose="02020603050405020304" pitchFamily="18" charset="0"/>
                          </a:rPr>
                          <m:t>0.4</m:t>
                        </m:r>
                        <m:r>
                          <a:rPr lang="en-US" altLang="zh-CN">
                            <a:latin typeface="Cambria Math" panose="02040503050406030204" pitchFamily="18" charset="0"/>
                            <a:ea typeface="楷体_GB2312"/>
                            <a:cs typeface="Times New Roman" panose="02020603050405020304" pitchFamily="18" charset="0"/>
                          </a:rPr>
                          <m:t>,</m:t>
                        </m:r>
                        <m:r>
                          <a:rPr lang="en-US" altLang="zh-CN" b="0" i="0" smtClean="0">
                            <a:latin typeface="Cambria Math" panose="02040503050406030204" pitchFamily="18" charset="0"/>
                            <a:ea typeface="楷体_GB2312"/>
                            <a:cs typeface="Times New Roman" panose="02020603050405020304" pitchFamily="18" charset="0"/>
                          </a:rPr>
                          <m:t>0.1</m:t>
                        </m:r>
                        <m:r>
                          <a:rPr lang="en-US" altLang="zh-CN">
                            <a:latin typeface="Cambria Math" panose="02040503050406030204" pitchFamily="18" charset="0"/>
                            <a:ea typeface="楷体_GB2312"/>
                            <a:cs typeface="Times New Roman" panose="02020603050405020304" pitchFamily="18" charset="0"/>
                          </a:rPr>
                          <m:t>, </m:t>
                        </m:r>
                        <m:r>
                          <a:rPr lang="en-US" altLang="zh-CN" b="0" i="1" smtClean="0">
                            <a:latin typeface="Cambria Math" panose="02040503050406030204" pitchFamily="18" charset="0"/>
                            <a:ea typeface="楷体_GB2312"/>
                            <a:cs typeface="Times New Roman" panose="02020603050405020304" pitchFamily="18" charset="0"/>
                          </a:rPr>
                          <m:t>0.5</m:t>
                        </m:r>
                      </m:e>
                    </m:d>
                  </m:oMath>
                </a14:m>
                <a:endParaRPr lang="zh-CN" altLang="en-US" dirty="0"/>
              </a:p>
            </p:txBody>
          </p:sp>
        </mc:Choice>
        <mc:Fallback xmlns="">
          <p:sp>
            <p:nvSpPr>
              <p:cNvPr id="16" name="文本框 15">
                <a:extLst>
                  <a:ext uri="{FF2B5EF4-FFF2-40B4-BE49-F238E27FC236}">
                    <a16:creationId xmlns:a16="http://schemas.microsoft.com/office/drawing/2014/main" id="{DAD56060-9ED4-D499-6DBB-5D88190BEC97}"/>
                  </a:ext>
                </a:extLst>
              </p:cNvPr>
              <p:cNvSpPr txBox="1">
                <a:spLocks noRot="1" noChangeAspect="1" noMove="1" noResize="1" noEditPoints="1" noAdjustHandles="1" noChangeArrowheads="1" noChangeShapeType="1" noTextEdit="1"/>
              </p:cNvSpPr>
              <p:nvPr/>
            </p:nvSpPr>
            <p:spPr>
              <a:xfrm>
                <a:off x="466264" y="1737630"/>
                <a:ext cx="5150765" cy="923330"/>
              </a:xfrm>
              <a:prstGeom prst="rect">
                <a:avLst/>
              </a:prstGeom>
              <a:blipFill>
                <a:blip r:embed="rId4"/>
                <a:stretch>
                  <a:fillRect l="-947" t="-3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B2FB848A-4AAC-42AD-A80A-AF3B4AD00810}"/>
                  </a:ext>
                </a:extLst>
              </p:cNvPr>
              <p:cNvSpPr txBox="1"/>
              <p:nvPr/>
            </p:nvSpPr>
            <p:spPr>
              <a:xfrm>
                <a:off x="466264" y="3738820"/>
                <a:ext cx="4754880" cy="985078"/>
              </a:xfrm>
              <a:prstGeom prst="rect">
                <a:avLst/>
              </a:prstGeom>
              <a:noFill/>
            </p:spPr>
            <p:txBody>
              <a:bodyPr wrap="square">
                <a:spAutoFit/>
              </a:bodyPr>
              <a:lstStyle/>
              <a:p>
                <a:r>
                  <a:rPr lang="en-US" altLang="zh-CN" dirty="0">
                    <a:latin typeface="Cambria Math" panose="02040503050406030204" pitchFamily="18" charset="0"/>
                    <a:ea typeface="楷体_GB2312"/>
                    <a:cs typeface="Times New Roman" panose="02020603050405020304" pitchFamily="18" charset="0"/>
                  </a:rPr>
                  <a:t>3. </a:t>
                </a:r>
                <a:r>
                  <a:rPr lang="zh-CN" altLang="en-US" dirty="0">
                    <a:latin typeface="Cambria Math" panose="02040503050406030204" pitchFamily="18" charset="0"/>
                    <a:ea typeface="楷体_GB2312"/>
                    <a:cs typeface="Times New Roman" panose="02020603050405020304" pitchFamily="18" charset="0"/>
                  </a:rPr>
                  <a:t>进行反向传播，计算梯度值</a:t>
                </a:r>
                <a:endParaRPr lang="en-US" altLang="zh-CN" dirty="0">
                  <a:latin typeface="Cambria Math" panose="02040503050406030204" pitchFamily="18" charset="0"/>
                  <a:ea typeface="楷体_GB2312"/>
                  <a:cs typeface="Times New Roman" panose="02020603050405020304" pitchFamily="18" charset="0"/>
                </a:endParaRPr>
              </a:p>
              <a:p>
                <a:pPr algn="ctr"/>
                <a14:m>
                  <m:oMathPara xmlns:m="http://schemas.openxmlformats.org/officeDocument/2006/math">
                    <m:oMathParaPr>
                      <m:jc m:val="left"/>
                    </m:oMathParaPr>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𝛿</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7</m:t>
                          </m:r>
                        </m:sub>
                      </m:s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ℒ</m:t>
                          </m:r>
                        </m:num>
                        <m:den>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𝑤</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7</m:t>
                              </m:r>
                            </m:sub>
                          </m:sSub>
                        </m:den>
                      </m:f>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ℒ</m:t>
                          </m:r>
                        </m:num>
                        <m:den>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den>
                      </m:f>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 </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acc>
                            <m:accPr>
                              <m:chr m:val="̂"/>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e>
                          </m:acc>
                        </m:num>
                        <m:den>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den>
                      </m:f>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 ∗ </m:t>
                      </m:r>
                      <m:f>
                        <m:f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𝐼𝑛</m:t>
                              </m:r>
                            </m:e>
                            <m:sub>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𝑜</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1</m:t>
                                  </m:r>
                                </m:sub>
                              </m:sSub>
                            </m:sub>
                          </m:sSub>
                        </m:num>
                        <m:den>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𝑤</m:t>
                              </m:r>
                            </m:e>
                            <m:sub>
                              <m:r>
                                <a:rPr lang="en-US" altLang="zh-CN" i="1" kern="100">
                                  <a:latin typeface="Cambria Math" panose="02040503050406030204" pitchFamily="18" charset="0"/>
                                  <a:ea typeface="华文楷体" panose="02010600040101010101" pitchFamily="2" charset="-122"/>
                                  <a:cs typeface="Times New Roman" panose="02020603050405020304" pitchFamily="18" charset="0"/>
                                </a:rPr>
                                <m:t>7</m:t>
                              </m:r>
                            </m:sub>
                          </m:sSub>
                        </m:den>
                      </m:f>
                    </m:oMath>
                  </m:oMathPara>
                </a14:m>
                <a:endParaRPr lang="en-US" altLang="zh-CN" dirty="0"/>
              </a:p>
            </p:txBody>
          </p:sp>
        </mc:Choice>
        <mc:Fallback xmlns="">
          <p:sp>
            <p:nvSpPr>
              <p:cNvPr id="21" name="文本框 20">
                <a:extLst>
                  <a:ext uri="{FF2B5EF4-FFF2-40B4-BE49-F238E27FC236}">
                    <a16:creationId xmlns:a16="http://schemas.microsoft.com/office/drawing/2014/main" id="{B2FB848A-4AAC-42AD-A80A-AF3B4AD00810}"/>
                  </a:ext>
                </a:extLst>
              </p:cNvPr>
              <p:cNvSpPr txBox="1">
                <a:spLocks noRot="1" noChangeAspect="1" noMove="1" noResize="1" noEditPoints="1" noAdjustHandles="1" noChangeArrowheads="1" noChangeShapeType="1" noTextEdit="1"/>
              </p:cNvSpPr>
              <p:nvPr/>
            </p:nvSpPr>
            <p:spPr>
              <a:xfrm>
                <a:off x="466264" y="3738820"/>
                <a:ext cx="4754880" cy="985078"/>
              </a:xfrm>
              <a:prstGeom prst="rect">
                <a:avLst/>
              </a:prstGeom>
              <a:blipFill>
                <a:blip r:embed="rId5"/>
                <a:stretch>
                  <a:fillRect l="-1026" t="-37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DC2E51E8-2036-86EE-07A8-DBD4FF20DC71}"/>
                  </a:ext>
                </a:extLst>
              </p:cNvPr>
              <p:cNvSpPr txBox="1"/>
              <p:nvPr/>
            </p:nvSpPr>
            <p:spPr>
              <a:xfrm>
                <a:off x="466264" y="4938056"/>
                <a:ext cx="4754880" cy="647357"/>
              </a:xfrm>
              <a:prstGeom prst="rect">
                <a:avLst/>
              </a:prstGeom>
              <a:noFill/>
            </p:spPr>
            <p:txBody>
              <a:bodyPr wrap="square">
                <a:spAutoFit/>
              </a:bodyPr>
              <a:lstStyle/>
              <a:p>
                <a:r>
                  <a:rPr lang="en-US" altLang="zh-CN" dirty="0">
                    <a:latin typeface="Cambria Math" panose="02040503050406030204" pitchFamily="18" charset="0"/>
                    <a:ea typeface="楷体_GB2312"/>
                    <a:cs typeface="Times New Roman" panose="02020603050405020304" pitchFamily="18" charset="0"/>
                  </a:rPr>
                  <a:t>4. </a:t>
                </a:r>
                <a:r>
                  <a:rPr lang="zh-CN" altLang="en-US" dirty="0">
                    <a:latin typeface="Cambria Math" panose="02040503050406030204" pitchFamily="18" charset="0"/>
                    <a:ea typeface="楷体_GB2312"/>
                    <a:cs typeface="Times New Roman" panose="02020603050405020304" pitchFamily="18" charset="0"/>
                  </a:rPr>
                  <a:t>更新梯度值</a:t>
                </a:r>
                <a:endParaRPr lang="en-US" altLang="zh-CN" dirty="0">
                  <a:latin typeface="Cambria Math" panose="02040503050406030204" pitchFamily="18" charset="0"/>
                  <a:ea typeface="楷体_GB2312"/>
                  <a:cs typeface="Times New Roman" panose="02020603050405020304" pitchFamily="18" charset="0"/>
                </a:endParaRPr>
              </a:p>
              <a:p>
                <a:pPr algn="ctr"/>
                <a14:m>
                  <m:oMathPara xmlns:m="http://schemas.openxmlformats.org/officeDocument/2006/math">
                    <m:oMathParaPr>
                      <m:jc m:val="left"/>
                    </m:oMathParaPr>
                    <m:oMath xmlns:m="http://schemas.openxmlformats.org/officeDocument/2006/math">
                      <m:sSubSup>
                        <m:sSub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b="0" i="1" smtClean="0">
                              <a:solidFill>
                                <a:srgbClr val="000000"/>
                              </a:solidFill>
                              <a:latin typeface="Cambria Math" panose="02040503050406030204" pitchFamily="18" charset="0"/>
                              <a:ea typeface="楷体_GB2312"/>
                              <a:cs typeface="Times New Roman" panose="02020603050405020304" pitchFamily="18" charset="0"/>
                            </a:rPr>
                            <m:t>7</m:t>
                          </m:r>
                        </m:sub>
                        <m:sup>
                          <m:r>
                            <a:rPr lang="en-US" altLang="zh-CN" i="1">
                              <a:solidFill>
                                <a:srgbClr val="000000"/>
                              </a:solidFill>
                              <a:latin typeface="Cambria Math" panose="02040503050406030204" pitchFamily="18" charset="0"/>
                              <a:ea typeface="楷体_GB2312"/>
                              <a:cs typeface="Times New Roman" panose="02020603050405020304" pitchFamily="18" charset="0"/>
                            </a:rPr>
                            <m:t>𝑛𝑒𝑤</m:t>
                          </m:r>
                        </m:sup>
                      </m:sSubSup>
                      <m:r>
                        <a:rPr lang="en-US" altLang="zh-CN" i="1">
                          <a:solidFill>
                            <a:srgbClr val="000000"/>
                          </a:solidFill>
                          <a:latin typeface="Cambria Math" panose="02040503050406030204" pitchFamily="18" charset="0"/>
                          <a:ea typeface="楷体_GB2312"/>
                          <a:cs typeface="Times New Roman" panose="02020603050405020304" pitchFamily="18" charset="0"/>
                        </a:rPr>
                        <m:t>= </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b="0" i="1" smtClean="0">
                              <a:solidFill>
                                <a:srgbClr val="000000"/>
                              </a:solidFill>
                              <a:latin typeface="Cambria Math" panose="02040503050406030204" pitchFamily="18" charset="0"/>
                              <a:ea typeface="楷体_GB2312"/>
                              <a:cs typeface="Times New Roman" panose="02020603050405020304" pitchFamily="18" charset="0"/>
                            </a:rPr>
                            <m:t>7</m:t>
                          </m:r>
                        </m:sub>
                      </m:sSub>
                      <m:r>
                        <a:rPr lang="en-US" altLang="zh-CN" i="1">
                          <a:solidFill>
                            <a:srgbClr val="000000"/>
                          </a:solidFill>
                          <a:latin typeface="Cambria Math" panose="02040503050406030204" pitchFamily="18" charset="0"/>
                          <a:ea typeface="楷体_GB2312"/>
                          <a:cs typeface="Times New Roman" panose="02020603050405020304" pitchFamily="18" charset="0"/>
                        </a:rPr>
                        <m:t> − </m:t>
                      </m:r>
                      <m:r>
                        <a:rPr lang="en-US" altLang="zh-CN" i="1">
                          <a:solidFill>
                            <a:srgbClr val="000000"/>
                          </a:solidFill>
                          <a:latin typeface="Cambria Math" panose="02040503050406030204" pitchFamily="18" charset="0"/>
                          <a:ea typeface="楷体_GB2312"/>
                          <a:cs typeface="Times New Roman" panose="02020603050405020304" pitchFamily="18" charset="0"/>
                        </a:rPr>
                        <m:t>𝜂</m:t>
                      </m:r>
                      <m:r>
                        <a:rPr lang="en-US" altLang="zh-CN" i="1">
                          <a:solidFill>
                            <a:srgbClr val="000000"/>
                          </a:solidFill>
                          <a:latin typeface="Cambria Math" panose="02040503050406030204" pitchFamily="18" charset="0"/>
                          <a:ea typeface="楷体_GB2312"/>
                          <a:cs typeface="Times New Roman" panose="02020603050405020304" pitchFamily="18" charset="0"/>
                        </a:rPr>
                        <m:t> ∗ </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𝛿</m:t>
                          </m:r>
                        </m:e>
                        <m:sub>
                          <m:r>
                            <a:rPr lang="en-US" altLang="zh-CN" b="0" i="1" smtClean="0">
                              <a:solidFill>
                                <a:srgbClr val="000000"/>
                              </a:solidFill>
                              <a:latin typeface="Cambria Math" panose="02040503050406030204" pitchFamily="18" charset="0"/>
                              <a:ea typeface="楷体_GB2312"/>
                              <a:cs typeface="Times New Roman" panose="02020603050405020304" pitchFamily="18" charset="0"/>
                            </a:rPr>
                            <m:t>7</m:t>
                          </m:r>
                        </m:sub>
                      </m:sSub>
                    </m:oMath>
                  </m:oMathPara>
                </a14:m>
                <a:endParaRPr lang="en-US" altLang="zh-CN" dirty="0"/>
              </a:p>
            </p:txBody>
          </p:sp>
        </mc:Choice>
        <mc:Fallback xmlns="">
          <p:sp>
            <p:nvSpPr>
              <p:cNvPr id="22" name="文本框 21">
                <a:extLst>
                  <a:ext uri="{FF2B5EF4-FFF2-40B4-BE49-F238E27FC236}">
                    <a16:creationId xmlns:a16="http://schemas.microsoft.com/office/drawing/2014/main" id="{DC2E51E8-2036-86EE-07A8-DBD4FF20DC71}"/>
                  </a:ext>
                </a:extLst>
              </p:cNvPr>
              <p:cNvSpPr txBox="1">
                <a:spLocks noRot="1" noChangeAspect="1" noMove="1" noResize="1" noEditPoints="1" noAdjustHandles="1" noChangeArrowheads="1" noChangeShapeType="1" noTextEdit="1"/>
              </p:cNvSpPr>
              <p:nvPr/>
            </p:nvSpPr>
            <p:spPr>
              <a:xfrm>
                <a:off x="466264" y="4938056"/>
                <a:ext cx="4754880" cy="647357"/>
              </a:xfrm>
              <a:prstGeom prst="rect">
                <a:avLst/>
              </a:prstGeom>
              <a:blipFill>
                <a:blip r:embed="rId6"/>
                <a:stretch>
                  <a:fillRect l="-1026" t="-5660" b="-3774"/>
                </a:stretch>
              </a:blipFill>
            </p:spPr>
            <p:txBody>
              <a:bodyPr/>
              <a:lstStyle/>
              <a:p>
                <a:r>
                  <a:rPr lang="zh-CN" altLang="en-US">
                    <a:noFill/>
                  </a:rPr>
                  <a:t> </a:t>
                </a:r>
              </a:p>
            </p:txBody>
          </p:sp>
        </mc:Fallback>
      </mc:AlternateContent>
      <p:pic>
        <p:nvPicPr>
          <p:cNvPr id="23" name="图片 22">
            <a:extLst>
              <a:ext uri="{FF2B5EF4-FFF2-40B4-BE49-F238E27FC236}">
                <a16:creationId xmlns:a16="http://schemas.microsoft.com/office/drawing/2014/main" id="{7BA0F6C9-8309-1A10-A4F2-CF19C8AB3C08}"/>
              </a:ext>
            </a:extLst>
          </p:cNvPr>
          <p:cNvPicPr>
            <a:picLocks noChangeAspect="1"/>
          </p:cNvPicPr>
          <p:nvPr/>
        </p:nvPicPr>
        <p:blipFill>
          <a:blip r:embed="rId7"/>
          <a:stretch>
            <a:fillRect/>
          </a:stretch>
        </p:blipFill>
        <p:spPr>
          <a:xfrm>
            <a:off x="4088307" y="3958271"/>
            <a:ext cx="4554967" cy="2739995"/>
          </a:xfrm>
          <a:prstGeom prst="rect">
            <a:avLst/>
          </a:prstGeom>
        </p:spPr>
      </p:pic>
      <mc:AlternateContent xmlns:mc="http://schemas.openxmlformats.org/markup-compatibility/2006" xmlns:a14="http://schemas.microsoft.com/office/drawing/2010/main">
        <mc:Choice Requires="a14">
          <p:graphicFrame>
            <p:nvGraphicFramePr>
              <p:cNvPr id="24" name="表格 23">
                <a:extLst>
                  <a:ext uri="{FF2B5EF4-FFF2-40B4-BE49-F238E27FC236}">
                    <a16:creationId xmlns:a16="http://schemas.microsoft.com/office/drawing/2014/main" id="{B1E8B417-2DCD-9551-68E3-9F0B8427FCC7}"/>
                  </a:ext>
                </a:extLst>
              </p:cNvPr>
              <p:cNvGraphicFramePr>
                <a:graphicFrameLocks noGrp="1"/>
              </p:cNvGraphicFramePr>
              <p:nvPr>
                <p:extLst>
                  <p:ext uri="{D42A27DB-BD31-4B8C-83A1-F6EECF244321}">
                    <p14:modId xmlns:p14="http://schemas.microsoft.com/office/powerpoint/2010/main" val="1938768993"/>
                  </p:ext>
                </p:extLst>
              </p:nvPr>
            </p:nvGraphicFramePr>
            <p:xfrm>
              <a:off x="8724261" y="4723898"/>
              <a:ext cx="1626534" cy="741680"/>
            </p:xfrm>
            <a:graphic>
              <a:graphicData uri="http://schemas.openxmlformats.org/drawingml/2006/table">
                <a:tbl>
                  <a:tblPr firstRow="1" bandRow="1">
                    <a:tableStyleId>{5940675A-B579-460E-94D1-54222C63F5DA}</a:tableStyleId>
                  </a:tblPr>
                  <a:tblGrid>
                    <a:gridCol w="542178">
                      <a:extLst>
                        <a:ext uri="{9D8B030D-6E8A-4147-A177-3AD203B41FA5}">
                          <a16:colId xmlns:a16="http://schemas.microsoft.com/office/drawing/2014/main" val="620115190"/>
                        </a:ext>
                      </a:extLst>
                    </a:gridCol>
                    <a:gridCol w="542178">
                      <a:extLst>
                        <a:ext uri="{9D8B030D-6E8A-4147-A177-3AD203B41FA5}">
                          <a16:colId xmlns:a16="http://schemas.microsoft.com/office/drawing/2014/main" val="446649446"/>
                        </a:ext>
                      </a:extLst>
                    </a:gridCol>
                    <a:gridCol w="542178">
                      <a:extLst>
                        <a:ext uri="{9D8B030D-6E8A-4147-A177-3AD203B41FA5}">
                          <a16:colId xmlns:a16="http://schemas.microsoft.com/office/drawing/2014/main" val="2792187897"/>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zh-CN" altLang="zh-CN" i="1" smtClean="0">
                                        <a:latin typeface="Cambria Math" panose="02040503050406030204" pitchFamily="18" charset="0"/>
                                        <a:ea typeface="楷体_GB2312"/>
                                        <a:cs typeface="Times New Roman" panose="02020603050405020304" pitchFamily="18" charset="0"/>
                                      </a:rPr>
                                    </m:ctrlPr>
                                  </m:sSubPr>
                                  <m:e>
                                    <m:r>
                                      <a:rPr lang="en-US" altLang="zh-CN" b="0" i="1" smtClean="0">
                                        <a:latin typeface="Cambria Math" panose="02040503050406030204" pitchFamily="18" charset="0"/>
                                        <a:ea typeface="楷体_GB2312"/>
                                        <a:cs typeface="Times New Roman" panose="02020603050405020304" pitchFamily="18" charset="0"/>
                                      </a:rPr>
                                      <m:t>𝑤</m:t>
                                    </m:r>
                                  </m:e>
                                  <m:sub>
                                    <m:r>
                                      <a:rPr lang="en-US" altLang="zh-CN">
                                        <a:latin typeface="Cambria Math" panose="02040503050406030204" pitchFamily="18" charset="0"/>
                                        <a:ea typeface="楷体_GB2312"/>
                                        <a:cs typeface="Times New Roman" panose="02020603050405020304" pitchFamily="18" charset="0"/>
                                      </a:rPr>
                                      <m:t>1</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zh-CN" altLang="zh-CN" i="1" smtClean="0">
                                        <a:latin typeface="Cambria Math" panose="02040503050406030204" pitchFamily="18" charset="0"/>
                                        <a:ea typeface="楷体_GB2312"/>
                                        <a:cs typeface="Times New Roman" panose="02020603050405020304" pitchFamily="18" charset="0"/>
                                      </a:rPr>
                                    </m:ctrlPr>
                                  </m:sSubPr>
                                  <m:e>
                                    <m:r>
                                      <a:rPr lang="en-US" altLang="zh-CN" b="0" i="1" smtClean="0">
                                        <a:latin typeface="Cambria Math" panose="02040503050406030204" pitchFamily="18" charset="0"/>
                                        <a:ea typeface="楷体_GB2312"/>
                                        <a:cs typeface="Times New Roman" panose="02020603050405020304" pitchFamily="18" charset="0"/>
                                      </a:rPr>
                                      <m:t>𝑤</m:t>
                                    </m:r>
                                  </m:e>
                                  <m:sub>
                                    <m:r>
                                      <a:rPr lang="en-US" altLang="zh-CN">
                                        <a:latin typeface="Cambria Math" panose="02040503050406030204" pitchFamily="18" charset="0"/>
                                        <a:ea typeface="楷体_GB2312"/>
                                        <a:cs typeface="Times New Roman" panose="02020603050405020304" pitchFamily="18" charset="0"/>
                                      </a:rPr>
                                      <m:t>3</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zh-CN" altLang="zh-CN" i="1" smtClean="0">
                                        <a:latin typeface="Cambria Math" panose="02040503050406030204" pitchFamily="18" charset="0"/>
                                        <a:ea typeface="楷体_GB2312"/>
                                        <a:cs typeface="Times New Roman" panose="02020603050405020304" pitchFamily="18" charset="0"/>
                                      </a:rPr>
                                    </m:ctrlPr>
                                  </m:sSubPr>
                                  <m:e>
                                    <m:r>
                                      <a:rPr lang="en-US" altLang="zh-CN" i="1">
                                        <a:latin typeface="Cambria Math" panose="02040503050406030204" pitchFamily="18" charset="0"/>
                                        <a:ea typeface="楷体_GB2312"/>
                                        <a:cs typeface="Times New Roman" panose="02020603050405020304" pitchFamily="18" charset="0"/>
                                      </a:rPr>
                                      <m:t>𝑤</m:t>
                                    </m:r>
                                  </m:e>
                                  <m:sub>
                                    <m:r>
                                      <a:rPr lang="en-US" altLang="zh-CN" b="0" i="0" smtClean="0">
                                        <a:latin typeface="Cambria Math" panose="02040503050406030204" pitchFamily="18" charset="0"/>
                                        <a:ea typeface="楷体_GB2312"/>
                                        <a:cs typeface="Times New Roman" panose="02020603050405020304" pitchFamily="18" charset="0"/>
                                      </a:rPr>
                                      <m:t>5</m:t>
                                    </m:r>
                                  </m:sub>
                                </m:sSub>
                              </m:oMath>
                            </m:oMathPara>
                          </a14:m>
                          <a:endParaRPr lang="zh-CN" altLang="en-US" dirty="0"/>
                        </a:p>
                      </a:txBody>
                      <a:tcPr/>
                    </a:tc>
                    <a:extLst>
                      <a:ext uri="{0D108BD9-81ED-4DB2-BD59-A6C34878D82A}">
                        <a16:rowId xmlns:a16="http://schemas.microsoft.com/office/drawing/2014/main" val="3728820743"/>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zh-CN" altLang="zh-CN" i="1" smtClean="0">
                                        <a:latin typeface="Cambria Math" panose="02040503050406030204" pitchFamily="18" charset="0"/>
                                        <a:ea typeface="楷体_GB2312"/>
                                        <a:cs typeface="Times New Roman" panose="02020603050405020304" pitchFamily="18" charset="0"/>
                                      </a:rPr>
                                    </m:ctrlPr>
                                  </m:sSubPr>
                                  <m:e>
                                    <m:r>
                                      <a:rPr lang="en-US" altLang="zh-CN" b="0" i="1" smtClean="0">
                                        <a:latin typeface="Cambria Math" panose="02040503050406030204" pitchFamily="18" charset="0"/>
                                        <a:ea typeface="楷体_GB2312"/>
                                        <a:cs typeface="Times New Roman" panose="02020603050405020304" pitchFamily="18" charset="0"/>
                                      </a:rPr>
                                      <m:t>𝑤</m:t>
                                    </m:r>
                                  </m:e>
                                  <m:sub>
                                    <m:r>
                                      <a:rPr lang="en-US" altLang="zh-CN">
                                        <a:latin typeface="Cambria Math" panose="02040503050406030204" pitchFamily="18" charset="0"/>
                                        <a:ea typeface="楷体_GB2312"/>
                                        <a:cs typeface="Times New Roman" panose="02020603050405020304" pitchFamily="18" charset="0"/>
                                      </a:rPr>
                                      <m:t>2</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zh-CN" altLang="zh-CN" i="1" smtClean="0">
                                        <a:latin typeface="Cambria Math" panose="02040503050406030204" pitchFamily="18" charset="0"/>
                                        <a:ea typeface="楷体_GB2312"/>
                                        <a:cs typeface="Times New Roman" panose="02020603050405020304" pitchFamily="18" charset="0"/>
                                      </a:rPr>
                                    </m:ctrlPr>
                                  </m:sSubPr>
                                  <m:e>
                                    <m:r>
                                      <a:rPr lang="en-US" altLang="zh-CN" i="1">
                                        <a:latin typeface="Cambria Math" panose="02040503050406030204" pitchFamily="18" charset="0"/>
                                        <a:ea typeface="楷体_GB2312"/>
                                        <a:cs typeface="Times New Roman" panose="02020603050405020304" pitchFamily="18" charset="0"/>
                                      </a:rPr>
                                      <m:t>𝑤</m:t>
                                    </m:r>
                                  </m:e>
                                  <m:sub>
                                    <m:r>
                                      <a:rPr lang="en-US" altLang="zh-CN" b="0" i="0" smtClean="0">
                                        <a:latin typeface="Cambria Math" panose="02040503050406030204" pitchFamily="18" charset="0"/>
                                        <a:ea typeface="楷体_GB2312"/>
                                        <a:cs typeface="Times New Roman" panose="02020603050405020304" pitchFamily="18" charset="0"/>
                                      </a:rPr>
                                      <m:t>4</m:t>
                                    </m:r>
                                  </m:sub>
                                </m:sSub>
                              </m:oMath>
                            </m:oMathPara>
                          </a14:m>
                          <a:endParaRPr lang="zh-CN"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zh-CN" altLang="zh-CN" i="1" smtClean="0">
                                        <a:latin typeface="Cambria Math" panose="02040503050406030204" pitchFamily="18" charset="0"/>
                                        <a:ea typeface="楷体_GB2312"/>
                                        <a:cs typeface="Times New Roman" panose="02020603050405020304" pitchFamily="18" charset="0"/>
                                      </a:rPr>
                                    </m:ctrlPr>
                                  </m:sSubPr>
                                  <m:e>
                                    <m:r>
                                      <a:rPr lang="en-US" altLang="zh-CN" i="1">
                                        <a:latin typeface="Cambria Math" panose="02040503050406030204" pitchFamily="18" charset="0"/>
                                        <a:ea typeface="楷体_GB2312"/>
                                        <a:cs typeface="Times New Roman" panose="02020603050405020304" pitchFamily="18" charset="0"/>
                                      </a:rPr>
                                      <m:t>𝑤</m:t>
                                    </m:r>
                                  </m:e>
                                  <m:sub>
                                    <m:r>
                                      <a:rPr lang="en-US" altLang="zh-CN" b="0" i="0" smtClean="0">
                                        <a:latin typeface="Cambria Math" panose="02040503050406030204" pitchFamily="18" charset="0"/>
                                        <a:ea typeface="楷体_GB2312"/>
                                        <a:cs typeface="Times New Roman" panose="02020603050405020304" pitchFamily="18" charset="0"/>
                                      </a:rPr>
                                      <m:t>6</m:t>
                                    </m:r>
                                  </m:sub>
                                </m:sSub>
                              </m:oMath>
                            </m:oMathPara>
                          </a14:m>
                          <a:endParaRPr lang="zh-CN" altLang="en-US" dirty="0"/>
                        </a:p>
                      </a:txBody>
                      <a:tcPr/>
                    </a:tc>
                    <a:extLst>
                      <a:ext uri="{0D108BD9-81ED-4DB2-BD59-A6C34878D82A}">
                        <a16:rowId xmlns:a16="http://schemas.microsoft.com/office/drawing/2014/main" val="1319058523"/>
                      </a:ext>
                    </a:extLst>
                  </a:tr>
                </a:tbl>
              </a:graphicData>
            </a:graphic>
          </p:graphicFrame>
        </mc:Choice>
        <mc:Fallback xmlns="">
          <p:graphicFrame>
            <p:nvGraphicFramePr>
              <p:cNvPr id="24" name="表格 23">
                <a:extLst>
                  <a:ext uri="{FF2B5EF4-FFF2-40B4-BE49-F238E27FC236}">
                    <a16:creationId xmlns:a16="http://schemas.microsoft.com/office/drawing/2014/main" id="{B1E8B417-2DCD-9551-68E3-9F0B8427FCC7}"/>
                  </a:ext>
                </a:extLst>
              </p:cNvPr>
              <p:cNvGraphicFramePr>
                <a:graphicFrameLocks noGrp="1"/>
              </p:cNvGraphicFramePr>
              <p:nvPr>
                <p:extLst>
                  <p:ext uri="{D42A27DB-BD31-4B8C-83A1-F6EECF244321}">
                    <p14:modId xmlns:p14="http://schemas.microsoft.com/office/powerpoint/2010/main" val="1938768993"/>
                  </p:ext>
                </p:extLst>
              </p:nvPr>
            </p:nvGraphicFramePr>
            <p:xfrm>
              <a:off x="8724261" y="4723898"/>
              <a:ext cx="1626534" cy="741680"/>
            </p:xfrm>
            <a:graphic>
              <a:graphicData uri="http://schemas.openxmlformats.org/drawingml/2006/table">
                <a:tbl>
                  <a:tblPr firstRow="1" bandRow="1">
                    <a:tableStyleId>{5940675A-B579-460E-94D1-54222C63F5DA}</a:tableStyleId>
                  </a:tblPr>
                  <a:tblGrid>
                    <a:gridCol w="542178">
                      <a:extLst>
                        <a:ext uri="{9D8B030D-6E8A-4147-A177-3AD203B41FA5}">
                          <a16:colId xmlns:a16="http://schemas.microsoft.com/office/drawing/2014/main" val="620115190"/>
                        </a:ext>
                      </a:extLst>
                    </a:gridCol>
                    <a:gridCol w="542178">
                      <a:extLst>
                        <a:ext uri="{9D8B030D-6E8A-4147-A177-3AD203B41FA5}">
                          <a16:colId xmlns:a16="http://schemas.microsoft.com/office/drawing/2014/main" val="446649446"/>
                        </a:ext>
                      </a:extLst>
                    </a:gridCol>
                    <a:gridCol w="542178">
                      <a:extLst>
                        <a:ext uri="{9D8B030D-6E8A-4147-A177-3AD203B41FA5}">
                          <a16:colId xmlns:a16="http://schemas.microsoft.com/office/drawing/2014/main" val="2792187897"/>
                        </a:ext>
                      </a:extLst>
                    </a:gridCol>
                  </a:tblGrid>
                  <a:tr h="370840">
                    <a:tc>
                      <a:txBody>
                        <a:bodyPr/>
                        <a:lstStyle/>
                        <a:p>
                          <a:endParaRPr lang="zh-CN"/>
                        </a:p>
                      </a:txBody>
                      <a:tcPr>
                        <a:blipFill>
                          <a:blip r:embed="rId8"/>
                          <a:stretch>
                            <a:fillRect l="-1124" t="-1613" r="-203371" b="-101613"/>
                          </a:stretch>
                        </a:blipFill>
                      </a:tcPr>
                    </a:tc>
                    <a:tc>
                      <a:txBody>
                        <a:bodyPr/>
                        <a:lstStyle/>
                        <a:p>
                          <a:endParaRPr lang="zh-CN"/>
                        </a:p>
                      </a:txBody>
                      <a:tcPr>
                        <a:blipFill>
                          <a:blip r:embed="rId8"/>
                          <a:stretch>
                            <a:fillRect l="-101124" t="-1613" r="-103371" b="-101613"/>
                          </a:stretch>
                        </a:blipFill>
                      </a:tcPr>
                    </a:tc>
                    <a:tc>
                      <a:txBody>
                        <a:bodyPr/>
                        <a:lstStyle/>
                        <a:p>
                          <a:endParaRPr lang="zh-CN"/>
                        </a:p>
                      </a:txBody>
                      <a:tcPr>
                        <a:blipFill>
                          <a:blip r:embed="rId8"/>
                          <a:stretch>
                            <a:fillRect l="-201124" t="-1613" r="-3371" b="-101613"/>
                          </a:stretch>
                        </a:blipFill>
                      </a:tcPr>
                    </a:tc>
                    <a:extLst>
                      <a:ext uri="{0D108BD9-81ED-4DB2-BD59-A6C34878D82A}">
                        <a16:rowId xmlns:a16="http://schemas.microsoft.com/office/drawing/2014/main" val="3728820743"/>
                      </a:ext>
                    </a:extLst>
                  </a:tr>
                  <a:tr h="370840">
                    <a:tc>
                      <a:txBody>
                        <a:bodyPr/>
                        <a:lstStyle/>
                        <a:p>
                          <a:endParaRPr lang="zh-CN"/>
                        </a:p>
                      </a:txBody>
                      <a:tcPr>
                        <a:blipFill>
                          <a:blip r:embed="rId8"/>
                          <a:stretch>
                            <a:fillRect l="-1124" t="-103279" r="-203371" b="-3279"/>
                          </a:stretch>
                        </a:blipFill>
                      </a:tcPr>
                    </a:tc>
                    <a:tc>
                      <a:txBody>
                        <a:bodyPr/>
                        <a:lstStyle/>
                        <a:p>
                          <a:endParaRPr lang="zh-CN"/>
                        </a:p>
                      </a:txBody>
                      <a:tcPr>
                        <a:blipFill>
                          <a:blip r:embed="rId8"/>
                          <a:stretch>
                            <a:fillRect l="-101124" t="-103279" r="-103371" b="-3279"/>
                          </a:stretch>
                        </a:blipFill>
                      </a:tcPr>
                    </a:tc>
                    <a:tc>
                      <a:txBody>
                        <a:bodyPr/>
                        <a:lstStyle/>
                        <a:p>
                          <a:endParaRPr lang="zh-CN"/>
                        </a:p>
                      </a:txBody>
                      <a:tcPr>
                        <a:blipFill>
                          <a:blip r:embed="rId8"/>
                          <a:stretch>
                            <a:fillRect l="-201124" t="-103279" r="-3371" b="-3279"/>
                          </a:stretch>
                        </a:blipFill>
                      </a:tcPr>
                    </a:tc>
                    <a:extLst>
                      <a:ext uri="{0D108BD9-81ED-4DB2-BD59-A6C34878D82A}">
                        <a16:rowId xmlns:a16="http://schemas.microsoft.com/office/drawing/2014/main" val="131905852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5" name="表格 24">
                <a:extLst>
                  <a:ext uri="{FF2B5EF4-FFF2-40B4-BE49-F238E27FC236}">
                    <a16:creationId xmlns:a16="http://schemas.microsoft.com/office/drawing/2014/main" id="{D79E5FD1-5CAD-41CF-F7AF-80E40B5947BA}"/>
                  </a:ext>
                </a:extLst>
              </p:cNvPr>
              <p:cNvGraphicFramePr>
                <a:graphicFrameLocks noGrp="1"/>
              </p:cNvGraphicFramePr>
              <p:nvPr>
                <p:extLst>
                  <p:ext uri="{D42A27DB-BD31-4B8C-83A1-F6EECF244321}">
                    <p14:modId xmlns:p14="http://schemas.microsoft.com/office/powerpoint/2010/main" val="3156242673"/>
                  </p:ext>
                </p:extLst>
              </p:nvPr>
            </p:nvGraphicFramePr>
            <p:xfrm>
              <a:off x="10658825" y="4724406"/>
              <a:ext cx="488907" cy="1112520"/>
            </p:xfrm>
            <a:graphic>
              <a:graphicData uri="http://schemas.openxmlformats.org/drawingml/2006/table">
                <a:tbl>
                  <a:tblPr firstRow="1" bandRow="1">
                    <a:tableStyleId>{5940675A-B579-460E-94D1-54222C63F5DA}</a:tableStyleId>
                  </a:tblPr>
                  <a:tblGrid>
                    <a:gridCol w="488907">
                      <a:extLst>
                        <a:ext uri="{9D8B030D-6E8A-4147-A177-3AD203B41FA5}">
                          <a16:colId xmlns:a16="http://schemas.microsoft.com/office/drawing/2014/main" val="3516407875"/>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zh-CN" altLang="zh-CN" i="1" smtClean="0">
                                        <a:latin typeface="Cambria Math" panose="02040503050406030204" pitchFamily="18" charset="0"/>
                                        <a:ea typeface="楷体_GB2312"/>
                                        <a:cs typeface="Times New Roman" panose="02020603050405020304" pitchFamily="18" charset="0"/>
                                      </a:rPr>
                                    </m:ctrlPr>
                                  </m:sSubPr>
                                  <m:e>
                                    <m:r>
                                      <a:rPr lang="en-US" altLang="zh-CN">
                                        <a:latin typeface="Cambria Math" panose="02040503050406030204" pitchFamily="18" charset="0"/>
                                        <a:ea typeface="楷体_GB2312"/>
                                        <a:cs typeface="Times New Roman" panose="02020603050405020304" pitchFamily="18" charset="0"/>
                                      </a:rPr>
                                      <m:t>𝑥</m:t>
                                    </m:r>
                                  </m:e>
                                  <m:sub>
                                    <m:r>
                                      <a:rPr lang="en-US" altLang="zh-CN">
                                        <a:latin typeface="Cambria Math" panose="02040503050406030204" pitchFamily="18" charset="0"/>
                                        <a:ea typeface="楷体_GB2312"/>
                                        <a:cs typeface="Times New Roman" panose="02020603050405020304" pitchFamily="18" charset="0"/>
                                      </a:rPr>
                                      <m:t>1</m:t>
                                    </m:r>
                                  </m:sub>
                                </m:sSub>
                              </m:oMath>
                            </m:oMathPara>
                          </a14:m>
                          <a:endParaRPr lang="zh-CN" altLang="en-US" dirty="0"/>
                        </a:p>
                      </a:txBody>
                      <a:tcPr/>
                    </a:tc>
                    <a:extLst>
                      <a:ext uri="{0D108BD9-81ED-4DB2-BD59-A6C34878D82A}">
                        <a16:rowId xmlns:a16="http://schemas.microsoft.com/office/drawing/2014/main" val="1839624804"/>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zh-CN" altLang="zh-CN" i="1" smtClean="0">
                                        <a:latin typeface="Cambria Math" panose="02040503050406030204" pitchFamily="18" charset="0"/>
                                        <a:ea typeface="楷体_GB2312"/>
                                        <a:cs typeface="Times New Roman" panose="02020603050405020304" pitchFamily="18" charset="0"/>
                                      </a:rPr>
                                    </m:ctrlPr>
                                  </m:sSubPr>
                                  <m:e>
                                    <m:r>
                                      <a:rPr lang="en-US" altLang="zh-CN">
                                        <a:latin typeface="Cambria Math" panose="02040503050406030204" pitchFamily="18" charset="0"/>
                                        <a:ea typeface="楷体_GB2312"/>
                                        <a:cs typeface="Times New Roman" panose="02020603050405020304" pitchFamily="18" charset="0"/>
                                      </a:rPr>
                                      <m:t>𝑥</m:t>
                                    </m:r>
                                  </m:e>
                                  <m:sub>
                                    <m:r>
                                      <a:rPr lang="en-US" altLang="zh-CN">
                                        <a:latin typeface="Cambria Math" panose="02040503050406030204" pitchFamily="18" charset="0"/>
                                        <a:ea typeface="楷体_GB2312"/>
                                        <a:cs typeface="Times New Roman" panose="02020603050405020304" pitchFamily="18" charset="0"/>
                                      </a:rPr>
                                      <m:t>2</m:t>
                                    </m:r>
                                  </m:sub>
                                </m:sSub>
                              </m:oMath>
                            </m:oMathPara>
                          </a14:m>
                          <a:endParaRPr lang="zh-CN" altLang="en-US" dirty="0"/>
                        </a:p>
                      </a:txBody>
                      <a:tcPr/>
                    </a:tc>
                    <a:extLst>
                      <a:ext uri="{0D108BD9-81ED-4DB2-BD59-A6C34878D82A}">
                        <a16:rowId xmlns:a16="http://schemas.microsoft.com/office/drawing/2014/main" val="2961288853"/>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zh-CN" altLang="zh-CN" i="1" smtClean="0">
                                        <a:latin typeface="Cambria Math" panose="02040503050406030204" pitchFamily="18" charset="0"/>
                                        <a:ea typeface="楷体_GB2312"/>
                                        <a:cs typeface="Times New Roman" panose="02020603050405020304" pitchFamily="18" charset="0"/>
                                      </a:rPr>
                                    </m:ctrlPr>
                                  </m:sSubPr>
                                  <m:e>
                                    <m:r>
                                      <a:rPr lang="en-US" altLang="zh-CN">
                                        <a:latin typeface="Cambria Math" panose="02040503050406030204" pitchFamily="18" charset="0"/>
                                        <a:ea typeface="楷体_GB2312"/>
                                        <a:cs typeface="Times New Roman" panose="02020603050405020304" pitchFamily="18" charset="0"/>
                                      </a:rPr>
                                      <m:t>𝑥</m:t>
                                    </m:r>
                                  </m:e>
                                  <m:sub>
                                    <m:r>
                                      <a:rPr lang="en-US" altLang="zh-CN">
                                        <a:latin typeface="Cambria Math" panose="02040503050406030204" pitchFamily="18" charset="0"/>
                                        <a:ea typeface="楷体_GB2312"/>
                                        <a:cs typeface="Times New Roman" panose="02020603050405020304" pitchFamily="18" charset="0"/>
                                      </a:rPr>
                                      <m:t>3</m:t>
                                    </m:r>
                                  </m:sub>
                                </m:sSub>
                              </m:oMath>
                            </m:oMathPara>
                          </a14:m>
                          <a:endParaRPr lang="zh-CN" altLang="en-US" dirty="0"/>
                        </a:p>
                      </a:txBody>
                      <a:tcPr/>
                    </a:tc>
                    <a:extLst>
                      <a:ext uri="{0D108BD9-81ED-4DB2-BD59-A6C34878D82A}">
                        <a16:rowId xmlns:a16="http://schemas.microsoft.com/office/drawing/2014/main" val="851267080"/>
                      </a:ext>
                    </a:extLst>
                  </a:tr>
                </a:tbl>
              </a:graphicData>
            </a:graphic>
          </p:graphicFrame>
        </mc:Choice>
        <mc:Fallback xmlns="">
          <p:graphicFrame>
            <p:nvGraphicFramePr>
              <p:cNvPr id="25" name="表格 24">
                <a:extLst>
                  <a:ext uri="{FF2B5EF4-FFF2-40B4-BE49-F238E27FC236}">
                    <a16:creationId xmlns:a16="http://schemas.microsoft.com/office/drawing/2014/main" id="{D79E5FD1-5CAD-41CF-F7AF-80E40B5947BA}"/>
                  </a:ext>
                </a:extLst>
              </p:cNvPr>
              <p:cNvGraphicFramePr>
                <a:graphicFrameLocks noGrp="1"/>
              </p:cNvGraphicFramePr>
              <p:nvPr>
                <p:extLst>
                  <p:ext uri="{D42A27DB-BD31-4B8C-83A1-F6EECF244321}">
                    <p14:modId xmlns:p14="http://schemas.microsoft.com/office/powerpoint/2010/main" val="3156242673"/>
                  </p:ext>
                </p:extLst>
              </p:nvPr>
            </p:nvGraphicFramePr>
            <p:xfrm>
              <a:off x="10658825" y="4724406"/>
              <a:ext cx="488907" cy="1112520"/>
            </p:xfrm>
            <a:graphic>
              <a:graphicData uri="http://schemas.openxmlformats.org/drawingml/2006/table">
                <a:tbl>
                  <a:tblPr firstRow="1" bandRow="1">
                    <a:tableStyleId>{5940675A-B579-460E-94D1-54222C63F5DA}</a:tableStyleId>
                  </a:tblPr>
                  <a:tblGrid>
                    <a:gridCol w="488907">
                      <a:extLst>
                        <a:ext uri="{9D8B030D-6E8A-4147-A177-3AD203B41FA5}">
                          <a16:colId xmlns:a16="http://schemas.microsoft.com/office/drawing/2014/main" val="3516407875"/>
                        </a:ext>
                      </a:extLst>
                    </a:gridCol>
                  </a:tblGrid>
                  <a:tr h="370840">
                    <a:tc>
                      <a:txBody>
                        <a:bodyPr/>
                        <a:lstStyle/>
                        <a:p>
                          <a:endParaRPr lang="zh-CN"/>
                        </a:p>
                      </a:txBody>
                      <a:tcPr>
                        <a:blipFill>
                          <a:blip r:embed="rId9"/>
                          <a:stretch>
                            <a:fillRect l="-1235" t="-3279" r="-2469" b="-203279"/>
                          </a:stretch>
                        </a:blipFill>
                      </a:tcPr>
                    </a:tc>
                    <a:extLst>
                      <a:ext uri="{0D108BD9-81ED-4DB2-BD59-A6C34878D82A}">
                        <a16:rowId xmlns:a16="http://schemas.microsoft.com/office/drawing/2014/main" val="1839624804"/>
                      </a:ext>
                    </a:extLst>
                  </a:tr>
                  <a:tr h="370840">
                    <a:tc>
                      <a:txBody>
                        <a:bodyPr/>
                        <a:lstStyle/>
                        <a:p>
                          <a:endParaRPr lang="zh-CN"/>
                        </a:p>
                      </a:txBody>
                      <a:tcPr>
                        <a:blipFill>
                          <a:blip r:embed="rId9"/>
                          <a:stretch>
                            <a:fillRect l="-1235" t="-103279" r="-2469" b="-103279"/>
                          </a:stretch>
                        </a:blipFill>
                      </a:tcPr>
                    </a:tc>
                    <a:extLst>
                      <a:ext uri="{0D108BD9-81ED-4DB2-BD59-A6C34878D82A}">
                        <a16:rowId xmlns:a16="http://schemas.microsoft.com/office/drawing/2014/main" val="2961288853"/>
                      </a:ext>
                    </a:extLst>
                  </a:tr>
                  <a:tr h="370840">
                    <a:tc>
                      <a:txBody>
                        <a:bodyPr/>
                        <a:lstStyle/>
                        <a:p>
                          <a:endParaRPr lang="zh-CN"/>
                        </a:p>
                      </a:txBody>
                      <a:tcPr>
                        <a:blipFill>
                          <a:blip r:embed="rId9"/>
                          <a:stretch>
                            <a:fillRect l="-1235" t="-203279" r="-2469" b="-3279"/>
                          </a:stretch>
                        </a:blipFill>
                      </a:tcPr>
                    </a:tc>
                    <a:extLst>
                      <a:ext uri="{0D108BD9-81ED-4DB2-BD59-A6C34878D82A}">
                        <a16:rowId xmlns:a16="http://schemas.microsoft.com/office/drawing/2014/main" val="85126708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6" name="表格 25">
                <a:extLst>
                  <a:ext uri="{FF2B5EF4-FFF2-40B4-BE49-F238E27FC236}">
                    <a16:creationId xmlns:a16="http://schemas.microsoft.com/office/drawing/2014/main" id="{632B9545-CBC3-B0C2-1C6C-C96D3ED3E858}"/>
                  </a:ext>
                </a:extLst>
              </p:cNvPr>
              <p:cNvGraphicFramePr>
                <a:graphicFrameLocks noGrp="1"/>
              </p:cNvGraphicFramePr>
              <p:nvPr>
                <p:extLst>
                  <p:ext uri="{D42A27DB-BD31-4B8C-83A1-F6EECF244321}">
                    <p14:modId xmlns:p14="http://schemas.microsoft.com/office/powerpoint/2010/main" val="669130109"/>
                  </p:ext>
                </p:extLst>
              </p:nvPr>
            </p:nvGraphicFramePr>
            <p:xfrm>
              <a:off x="11632742" y="4723898"/>
              <a:ext cx="488907" cy="741680"/>
            </p:xfrm>
            <a:graphic>
              <a:graphicData uri="http://schemas.openxmlformats.org/drawingml/2006/table">
                <a:tbl>
                  <a:tblPr firstRow="1" bandRow="1">
                    <a:tableStyleId>{5940675A-B579-460E-94D1-54222C63F5DA}</a:tableStyleId>
                  </a:tblPr>
                  <a:tblGrid>
                    <a:gridCol w="488907">
                      <a:extLst>
                        <a:ext uri="{9D8B030D-6E8A-4147-A177-3AD203B41FA5}">
                          <a16:colId xmlns:a16="http://schemas.microsoft.com/office/drawing/2014/main" val="3516407875"/>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zh-CN" altLang="zh-CN" i="1" smtClean="0">
                                        <a:latin typeface="Cambria Math" panose="02040503050406030204" pitchFamily="18" charset="0"/>
                                        <a:ea typeface="楷体_GB2312"/>
                                        <a:cs typeface="Times New Roman" panose="02020603050405020304" pitchFamily="18" charset="0"/>
                                      </a:rPr>
                                    </m:ctrlPr>
                                  </m:sSubPr>
                                  <m:e>
                                    <m:r>
                                      <a:rPr lang="en-US" altLang="zh-CN" b="0" i="1" smtClean="0">
                                        <a:latin typeface="Cambria Math" panose="02040503050406030204" pitchFamily="18" charset="0"/>
                                        <a:ea typeface="楷体_GB2312"/>
                                        <a:cs typeface="Times New Roman" panose="02020603050405020304" pitchFamily="18" charset="0"/>
                                      </a:rPr>
                                      <m:t>h</m:t>
                                    </m:r>
                                  </m:e>
                                  <m:sub>
                                    <m:r>
                                      <a:rPr lang="en-US" altLang="zh-CN">
                                        <a:latin typeface="Cambria Math" panose="02040503050406030204" pitchFamily="18" charset="0"/>
                                        <a:ea typeface="楷体_GB2312"/>
                                        <a:cs typeface="Times New Roman" panose="02020603050405020304" pitchFamily="18" charset="0"/>
                                      </a:rPr>
                                      <m:t>1</m:t>
                                    </m:r>
                                  </m:sub>
                                </m:sSub>
                              </m:oMath>
                            </m:oMathPara>
                          </a14:m>
                          <a:endParaRPr lang="zh-CN" altLang="en-US" dirty="0"/>
                        </a:p>
                      </a:txBody>
                      <a:tcPr/>
                    </a:tc>
                    <a:extLst>
                      <a:ext uri="{0D108BD9-81ED-4DB2-BD59-A6C34878D82A}">
                        <a16:rowId xmlns:a16="http://schemas.microsoft.com/office/drawing/2014/main" val="1839624804"/>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zh-CN" altLang="zh-CN" i="1" smtClean="0">
                                        <a:latin typeface="Cambria Math" panose="02040503050406030204" pitchFamily="18" charset="0"/>
                                        <a:ea typeface="楷体_GB2312"/>
                                        <a:cs typeface="Times New Roman" panose="02020603050405020304" pitchFamily="18" charset="0"/>
                                      </a:rPr>
                                    </m:ctrlPr>
                                  </m:sSubPr>
                                  <m:e>
                                    <m:r>
                                      <a:rPr lang="en-US" altLang="zh-CN" b="0" i="1" smtClean="0">
                                        <a:latin typeface="Cambria Math" panose="02040503050406030204" pitchFamily="18" charset="0"/>
                                        <a:ea typeface="楷体_GB2312"/>
                                        <a:cs typeface="Times New Roman" panose="02020603050405020304" pitchFamily="18" charset="0"/>
                                      </a:rPr>
                                      <m:t>h</m:t>
                                    </m:r>
                                  </m:e>
                                  <m:sub>
                                    <m:r>
                                      <a:rPr lang="en-US" altLang="zh-CN" b="0" i="0" smtClean="0">
                                        <a:latin typeface="Cambria Math" panose="02040503050406030204" pitchFamily="18" charset="0"/>
                                        <a:ea typeface="楷体_GB2312"/>
                                        <a:cs typeface="Times New Roman" panose="02020603050405020304" pitchFamily="18" charset="0"/>
                                      </a:rPr>
                                      <m:t>2</m:t>
                                    </m:r>
                                  </m:sub>
                                </m:sSub>
                              </m:oMath>
                            </m:oMathPara>
                          </a14:m>
                          <a:endParaRPr lang="zh-CN" altLang="en-US" dirty="0"/>
                        </a:p>
                      </a:txBody>
                      <a:tcPr/>
                    </a:tc>
                    <a:extLst>
                      <a:ext uri="{0D108BD9-81ED-4DB2-BD59-A6C34878D82A}">
                        <a16:rowId xmlns:a16="http://schemas.microsoft.com/office/drawing/2014/main" val="2961288853"/>
                      </a:ext>
                    </a:extLst>
                  </a:tr>
                </a:tbl>
              </a:graphicData>
            </a:graphic>
          </p:graphicFrame>
        </mc:Choice>
        <mc:Fallback xmlns="">
          <p:graphicFrame>
            <p:nvGraphicFramePr>
              <p:cNvPr id="26" name="表格 25">
                <a:extLst>
                  <a:ext uri="{FF2B5EF4-FFF2-40B4-BE49-F238E27FC236}">
                    <a16:creationId xmlns:a16="http://schemas.microsoft.com/office/drawing/2014/main" id="{632B9545-CBC3-B0C2-1C6C-C96D3ED3E858}"/>
                  </a:ext>
                </a:extLst>
              </p:cNvPr>
              <p:cNvGraphicFramePr>
                <a:graphicFrameLocks noGrp="1"/>
              </p:cNvGraphicFramePr>
              <p:nvPr>
                <p:extLst>
                  <p:ext uri="{D42A27DB-BD31-4B8C-83A1-F6EECF244321}">
                    <p14:modId xmlns:p14="http://schemas.microsoft.com/office/powerpoint/2010/main" val="669130109"/>
                  </p:ext>
                </p:extLst>
              </p:nvPr>
            </p:nvGraphicFramePr>
            <p:xfrm>
              <a:off x="11632742" y="4723898"/>
              <a:ext cx="488907" cy="741680"/>
            </p:xfrm>
            <a:graphic>
              <a:graphicData uri="http://schemas.openxmlformats.org/drawingml/2006/table">
                <a:tbl>
                  <a:tblPr firstRow="1" bandRow="1">
                    <a:tableStyleId>{5940675A-B579-460E-94D1-54222C63F5DA}</a:tableStyleId>
                  </a:tblPr>
                  <a:tblGrid>
                    <a:gridCol w="488907">
                      <a:extLst>
                        <a:ext uri="{9D8B030D-6E8A-4147-A177-3AD203B41FA5}">
                          <a16:colId xmlns:a16="http://schemas.microsoft.com/office/drawing/2014/main" val="3516407875"/>
                        </a:ext>
                      </a:extLst>
                    </a:gridCol>
                  </a:tblGrid>
                  <a:tr h="370840">
                    <a:tc>
                      <a:txBody>
                        <a:bodyPr/>
                        <a:lstStyle/>
                        <a:p>
                          <a:endParaRPr lang="zh-CN"/>
                        </a:p>
                      </a:txBody>
                      <a:tcPr>
                        <a:blipFill>
                          <a:blip r:embed="rId10"/>
                          <a:stretch>
                            <a:fillRect l="-1235" t="-1613" r="-2469" b="-101613"/>
                          </a:stretch>
                        </a:blipFill>
                      </a:tcPr>
                    </a:tc>
                    <a:extLst>
                      <a:ext uri="{0D108BD9-81ED-4DB2-BD59-A6C34878D82A}">
                        <a16:rowId xmlns:a16="http://schemas.microsoft.com/office/drawing/2014/main" val="1839624804"/>
                      </a:ext>
                    </a:extLst>
                  </a:tr>
                  <a:tr h="370840">
                    <a:tc>
                      <a:txBody>
                        <a:bodyPr/>
                        <a:lstStyle/>
                        <a:p>
                          <a:endParaRPr lang="zh-CN"/>
                        </a:p>
                      </a:txBody>
                      <a:tcPr>
                        <a:blipFill>
                          <a:blip r:embed="rId10"/>
                          <a:stretch>
                            <a:fillRect l="-1235" t="-103279" r="-2469" b="-3279"/>
                          </a:stretch>
                        </a:blipFill>
                      </a:tcPr>
                    </a:tc>
                    <a:extLst>
                      <a:ext uri="{0D108BD9-81ED-4DB2-BD59-A6C34878D82A}">
                        <a16:rowId xmlns:a16="http://schemas.microsoft.com/office/drawing/2014/main" val="2961288853"/>
                      </a:ext>
                    </a:extLst>
                  </a:tr>
                </a:tbl>
              </a:graphicData>
            </a:graphic>
          </p:graphicFrame>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35B558C2-1C67-AF1E-338C-D41197BE78A7}"/>
                  </a:ext>
                </a:extLst>
              </p:cNvPr>
              <p:cNvSpPr txBox="1"/>
              <p:nvPr/>
            </p:nvSpPr>
            <p:spPr>
              <a:xfrm>
                <a:off x="10308165" y="5007896"/>
                <a:ext cx="39329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kern="100" smtClean="0">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zh-CN" altLang="en-US" dirty="0"/>
              </a:p>
            </p:txBody>
          </p:sp>
        </mc:Choice>
        <mc:Fallback xmlns="">
          <p:sp>
            <p:nvSpPr>
              <p:cNvPr id="28" name="文本框 27">
                <a:extLst>
                  <a:ext uri="{FF2B5EF4-FFF2-40B4-BE49-F238E27FC236}">
                    <a16:creationId xmlns:a16="http://schemas.microsoft.com/office/drawing/2014/main" id="{35B558C2-1C67-AF1E-338C-D41197BE78A7}"/>
                  </a:ext>
                </a:extLst>
              </p:cNvPr>
              <p:cNvSpPr txBox="1">
                <a:spLocks noRot="1" noChangeAspect="1" noMove="1" noResize="1" noEditPoints="1" noAdjustHandles="1" noChangeArrowheads="1" noChangeShapeType="1" noTextEdit="1"/>
              </p:cNvSpPr>
              <p:nvPr/>
            </p:nvSpPr>
            <p:spPr>
              <a:xfrm>
                <a:off x="10308165" y="5007896"/>
                <a:ext cx="393290" cy="369332"/>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E970B858-9B27-F9CB-3E69-285B954898D6}"/>
                  </a:ext>
                </a:extLst>
              </p:cNvPr>
              <p:cNvSpPr txBox="1"/>
              <p:nvPr/>
            </p:nvSpPr>
            <p:spPr>
              <a:xfrm>
                <a:off x="11208340" y="5007896"/>
                <a:ext cx="3637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kern="100" smtClean="0">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zh-CN" altLang="en-US" dirty="0"/>
              </a:p>
            </p:txBody>
          </p:sp>
        </mc:Choice>
        <mc:Fallback xmlns="">
          <p:sp>
            <p:nvSpPr>
              <p:cNvPr id="30" name="文本框 29">
                <a:extLst>
                  <a:ext uri="{FF2B5EF4-FFF2-40B4-BE49-F238E27FC236}">
                    <a16:creationId xmlns:a16="http://schemas.microsoft.com/office/drawing/2014/main" id="{E970B858-9B27-F9CB-3E69-285B954898D6}"/>
                  </a:ext>
                </a:extLst>
              </p:cNvPr>
              <p:cNvSpPr txBox="1">
                <a:spLocks noRot="1" noChangeAspect="1" noMove="1" noResize="1" noEditPoints="1" noAdjustHandles="1" noChangeArrowheads="1" noChangeShapeType="1" noTextEdit="1"/>
              </p:cNvSpPr>
              <p:nvPr/>
            </p:nvSpPr>
            <p:spPr>
              <a:xfrm>
                <a:off x="11208340" y="5007896"/>
                <a:ext cx="363794" cy="369332"/>
              </a:xfrm>
              <a:prstGeom prst="rect">
                <a:avLst/>
              </a:prstGeom>
              <a:blipFill>
                <a:blip r:embed="rId1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75467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21" grpId="0"/>
      <p:bldP spid="22" grpId="0"/>
      <p:bldP spid="28" grpId="0"/>
      <p:bldP spid="3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卷积神经网络：为什么是它</a:t>
              </a:r>
            </a:p>
          </p:txBody>
        </p:sp>
      </p:grpSp>
      <p:sp>
        <p:nvSpPr>
          <p:cNvPr id="12" name="矩形 11">
            <a:extLst>
              <a:ext uri="{FF2B5EF4-FFF2-40B4-BE49-F238E27FC236}">
                <a16:creationId xmlns:a16="http://schemas.microsoft.com/office/drawing/2014/main" id="{5E3A4826-C45A-4929-A41E-665945622565}"/>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二、卷积神经网络</a:t>
            </a:r>
            <a:endParaRPr lang="zh-CN" altLang="en-US" sz="1600" dirty="0"/>
          </a:p>
        </p:txBody>
      </p:sp>
      <p:sp>
        <p:nvSpPr>
          <p:cNvPr id="6" name="矩形 5">
            <a:extLst>
              <a:ext uri="{FF2B5EF4-FFF2-40B4-BE49-F238E27FC236}">
                <a16:creationId xmlns:a16="http://schemas.microsoft.com/office/drawing/2014/main" id="{9847CCA0-7C47-4BCF-9362-2805C334D8CF}"/>
              </a:ext>
            </a:extLst>
          </p:cNvPr>
          <p:cNvSpPr/>
          <p:nvPr/>
        </p:nvSpPr>
        <p:spPr>
          <a:xfrm>
            <a:off x="744620" y="1753875"/>
            <a:ext cx="10837778" cy="4613699"/>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en-US" dirty="0">
                <a:solidFill>
                  <a:schemeClr val="accent2"/>
                </a:solidFill>
                <a:latin typeface="Times New Roman" panose="02020603050405020304" pitchFamily="18" charset="0"/>
                <a:ea typeface="楷体_GB2312"/>
                <a:cs typeface="Times New Roman" panose="02020603050405020304" pitchFamily="18" charset="0"/>
              </a:rPr>
              <a:t>前馈神经网络的问题</a:t>
            </a:r>
            <a:r>
              <a:rPr lang="zh-CN" altLang="en-US" dirty="0">
                <a:solidFill>
                  <a:srgbClr val="000000"/>
                </a:solidFill>
                <a:latin typeface="Times New Roman" panose="02020603050405020304" pitchFamily="18" charset="0"/>
                <a:ea typeface="楷体_GB2312"/>
                <a:cs typeface="Times New Roman" panose="02020603050405020304" pitchFamily="18" charset="0"/>
              </a:rPr>
              <a:t>：如果输入数据与第一个隐藏层中的所有神经元均相连，不仅会占用大量计算机内存，而且也会使神经网络模型的训练变得难以收敛。</a:t>
            </a: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zh-CN" altLang="en-US"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en-US" dirty="0">
                <a:solidFill>
                  <a:srgbClr val="000000"/>
                </a:solidFill>
                <a:latin typeface="Times New Roman" panose="02020603050405020304" pitchFamily="18" charset="0"/>
                <a:ea typeface="楷体_GB2312"/>
                <a:cs typeface="Times New Roman" panose="02020603050405020304" pitchFamily="18" charset="0"/>
              </a:rPr>
              <a:t>卷积神经网络的历史：</a:t>
            </a: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marL="742950" lvl="1" indent="-285750" algn="just">
              <a:lnSpc>
                <a:spcPct val="150000"/>
              </a:lnSpc>
              <a:buFont typeface="Wingdings" panose="05000000000000000000" pitchFamily="2" charset="2"/>
              <a:buChar char="l"/>
            </a:pPr>
            <a:r>
              <a:rPr lang="en-US" altLang="zh-CN" dirty="0">
                <a:solidFill>
                  <a:srgbClr val="000000"/>
                </a:solidFill>
                <a:latin typeface="Times New Roman" panose="02020603050405020304" pitchFamily="18" charset="0"/>
                <a:ea typeface="楷体_GB2312"/>
                <a:cs typeface="Times New Roman" panose="02020603050405020304" pitchFamily="18" charset="0"/>
              </a:rPr>
              <a:t>1959</a:t>
            </a:r>
            <a:r>
              <a:rPr lang="zh-CN" altLang="en-US" dirty="0">
                <a:solidFill>
                  <a:srgbClr val="000000"/>
                </a:solidFill>
                <a:latin typeface="Times New Roman" panose="02020603050405020304" pitchFamily="18" charset="0"/>
                <a:ea typeface="楷体_GB2312"/>
                <a:cs typeface="Times New Roman" panose="02020603050405020304" pitchFamily="18" charset="0"/>
              </a:rPr>
              <a:t>年，戴维</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en-US" dirty="0">
                <a:solidFill>
                  <a:srgbClr val="000000"/>
                </a:solidFill>
                <a:latin typeface="Times New Roman" panose="02020603050405020304" pitchFamily="18" charset="0"/>
                <a:ea typeface="楷体_GB2312"/>
                <a:cs typeface="Times New Roman" panose="02020603050405020304" pitchFamily="18" charset="0"/>
              </a:rPr>
              <a:t>胡贝尔和托尔斯滕</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en-US" dirty="0">
                <a:solidFill>
                  <a:srgbClr val="000000"/>
                </a:solidFill>
                <a:latin typeface="Times New Roman" panose="02020603050405020304" pitchFamily="18" charset="0"/>
                <a:ea typeface="楷体_GB2312"/>
                <a:cs typeface="Times New Roman" panose="02020603050405020304" pitchFamily="18" charset="0"/>
              </a:rPr>
              <a:t>维泽尔发现了人脑“</a:t>
            </a:r>
            <a:r>
              <a:rPr lang="zh-CN" altLang="en-US" b="1" dirty="0">
                <a:solidFill>
                  <a:srgbClr val="FF0000"/>
                </a:solidFill>
                <a:latin typeface="Times New Roman" panose="02020603050405020304" pitchFamily="18" charset="0"/>
                <a:cs typeface="Times New Roman" panose="02020603050405020304" pitchFamily="18" charset="0"/>
              </a:rPr>
              <a:t>视觉系统信息分层处理</a:t>
            </a:r>
            <a:r>
              <a:rPr lang="zh-CN" altLang="en-US" dirty="0">
                <a:solidFill>
                  <a:srgbClr val="000000"/>
                </a:solidFill>
                <a:latin typeface="Times New Roman" panose="02020603050405020304" pitchFamily="18" charset="0"/>
                <a:ea typeface="楷体_GB2312"/>
                <a:cs typeface="Times New Roman" panose="02020603050405020304" pitchFamily="18" charset="0"/>
              </a:rPr>
              <a:t>”这一机制，即可视皮层对外界信息是分级感受的</a:t>
            </a: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marL="742950" lvl="1" indent="-285750" algn="just">
              <a:lnSpc>
                <a:spcPct val="150000"/>
              </a:lnSpc>
              <a:buFont typeface="Wingdings" panose="05000000000000000000" pitchFamily="2" charset="2"/>
              <a:buChar char="l"/>
            </a:pPr>
            <a:r>
              <a:rPr lang="en-US" altLang="zh-CN" dirty="0">
                <a:solidFill>
                  <a:srgbClr val="000000"/>
                </a:solidFill>
                <a:latin typeface="Times New Roman" panose="02020603050405020304" pitchFamily="18" charset="0"/>
                <a:ea typeface="楷体_GB2312"/>
                <a:cs typeface="Times New Roman" panose="02020603050405020304" pitchFamily="18" charset="0"/>
              </a:rPr>
              <a:t>1980</a:t>
            </a:r>
            <a:r>
              <a:rPr lang="zh-CN" altLang="en-US" dirty="0">
                <a:solidFill>
                  <a:srgbClr val="000000"/>
                </a:solidFill>
                <a:latin typeface="Times New Roman" panose="02020603050405020304" pitchFamily="18" charset="0"/>
                <a:ea typeface="楷体_GB2312"/>
                <a:cs typeface="Times New Roman" panose="02020603050405020304" pitchFamily="18" charset="0"/>
              </a:rPr>
              <a:t>年，</a:t>
            </a:r>
            <a:r>
              <a:rPr lang="en-US" altLang="zh-CN" dirty="0" err="1">
                <a:solidFill>
                  <a:srgbClr val="000000"/>
                </a:solidFill>
                <a:latin typeface="Times New Roman" panose="02020603050405020304" pitchFamily="18" charset="0"/>
                <a:ea typeface="楷体_GB2312"/>
                <a:cs typeface="Times New Roman" panose="02020603050405020304" pitchFamily="18" charset="0"/>
              </a:rPr>
              <a:t>Kunihiko</a:t>
            </a:r>
            <a:r>
              <a:rPr lang="en-US" altLang="zh-CN" dirty="0">
                <a:solidFill>
                  <a:srgbClr val="000000"/>
                </a:solidFill>
                <a:latin typeface="Times New Roman" panose="02020603050405020304" pitchFamily="18" charset="0"/>
                <a:ea typeface="楷体_GB2312"/>
                <a:cs typeface="Times New Roman" panose="02020603050405020304" pitchFamily="18" charset="0"/>
              </a:rPr>
              <a:t> </a:t>
            </a:r>
            <a:r>
              <a:rPr lang="en-US" altLang="zh-CN" dirty="0" err="1">
                <a:solidFill>
                  <a:srgbClr val="000000"/>
                </a:solidFill>
                <a:latin typeface="Times New Roman" panose="02020603050405020304" pitchFamily="18" charset="0"/>
                <a:ea typeface="楷体_GB2312"/>
                <a:cs typeface="Times New Roman" panose="02020603050405020304" pitchFamily="18" charset="0"/>
              </a:rPr>
              <a:t>Fukishima</a:t>
            </a:r>
            <a:r>
              <a:rPr lang="zh-CN" altLang="en-US" dirty="0">
                <a:solidFill>
                  <a:srgbClr val="000000"/>
                </a:solidFill>
                <a:latin typeface="Times New Roman" panose="02020603050405020304" pitchFamily="18" charset="0"/>
                <a:ea typeface="楷体_GB2312"/>
                <a:cs typeface="Times New Roman" panose="02020603050405020304" pitchFamily="18" charset="0"/>
              </a:rPr>
              <a:t>对神经科学所发现的结构进行了计算机模拟，提出通过</a:t>
            </a:r>
            <a:r>
              <a:rPr lang="zh-CN" altLang="en-US" b="1" dirty="0">
                <a:solidFill>
                  <a:srgbClr val="FF0000"/>
                </a:solidFill>
                <a:latin typeface="Times New Roman" panose="02020603050405020304" pitchFamily="18" charset="0"/>
                <a:cs typeface="Times New Roman" panose="02020603050405020304" pitchFamily="18" charset="0"/>
              </a:rPr>
              <a:t>级联方式（</a:t>
            </a:r>
            <a:r>
              <a:rPr lang="en-US" altLang="zh-CN" b="1" dirty="0">
                <a:solidFill>
                  <a:srgbClr val="FF0000"/>
                </a:solidFill>
                <a:latin typeface="Times New Roman" panose="02020603050405020304" pitchFamily="18" charset="0"/>
                <a:cs typeface="Times New Roman" panose="02020603050405020304" pitchFamily="18" charset="0"/>
              </a:rPr>
              <a:t>cascade</a:t>
            </a:r>
            <a:r>
              <a:rPr lang="zh-CN" altLang="en-US" b="1" dirty="0">
                <a:solidFill>
                  <a:srgbClr val="FF0000"/>
                </a:solidFill>
                <a:latin typeface="Times New Roman" panose="02020603050405020304" pitchFamily="18" charset="0"/>
                <a:cs typeface="Times New Roman" panose="02020603050405020304" pitchFamily="18" charset="0"/>
              </a:rPr>
              <a:t>，即逐层滤波）实现一种满足平移不变性的网络</a:t>
            </a:r>
            <a:r>
              <a:rPr lang="en-US" altLang="zh-CN" b="1" dirty="0" err="1">
                <a:solidFill>
                  <a:srgbClr val="FF0000"/>
                </a:solidFill>
                <a:latin typeface="Times New Roman" panose="02020603050405020304" pitchFamily="18" charset="0"/>
                <a:cs typeface="Times New Roman" panose="02020603050405020304" pitchFamily="18" charset="0"/>
              </a:rPr>
              <a:t>Neocognitron</a:t>
            </a:r>
            <a:r>
              <a:rPr lang="zh-CN" altLang="en-US" dirty="0">
                <a:solidFill>
                  <a:srgbClr val="000000"/>
                </a:solidFill>
                <a:latin typeface="Times New Roman" panose="02020603050405020304" pitchFamily="18" charset="0"/>
                <a:ea typeface="楷体_GB2312"/>
                <a:cs typeface="Times New Roman" panose="02020603050405020304" pitchFamily="18" charset="0"/>
              </a:rPr>
              <a:t>，</a:t>
            </a:r>
            <a:r>
              <a:rPr lang="zh-CN" altLang="en-US" b="1" dirty="0">
                <a:solidFill>
                  <a:srgbClr val="FF0000"/>
                </a:solidFill>
                <a:latin typeface="Times New Roman" panose="02020603050405020304" pitchFamily="18" charset="0"/>
                <a:cs typeface="Times New Roman" panose="02020603050405020304" pitchFamily="18" charset="0"/>
              </a:rPr>
              <a:t>这就是卷积神经网络的前身</a:t>
            </a:r>
            <a:r>
              <a:rPr lang="zh-CN" altLang="en-US"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rgbClr val="000000"/>
                </a:solidFill>
                <a:latin typeface="Times New Roman" panose="02020603050405020304" pitchFamily="18" charset="0"/>
                <a:ea typeface="楷体_GB2312"/>
                <a:cs typeface="Times New Roman" panose="02020603050405020304" pitchFamily="18" charset="0"/>
              </a:rPr>
              <a:t>Fukushima</a:t>
            </a:r>
            <a:r>
              <a:rPr lang="zh-CN" altLang="en-US"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rgbClr val="000000"/>
                </a:solidFill>
                <a:latin typeface="Times New Roman" panose="02020603050405020304" pitchFamily="18" charset="0"/>
                <a:ea typeface="楷体_GB2312"/>
                <a:cs typeface="Times New Roman" panose="02020603050405020304" pitchFamily="18" charset="0"/>
              </a:rPr>
              <a:t>1980</a:t>
            </a:r>
            <a:r>
              <a:rPr lang="zh-CN" altLang="en-US"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rgbClr val="000000"/>
                </a:solidFill>
                <a:latin typeface="Times New Roman" panose="02020603050405020304" pitchFamily="18" charset="0"/>
                <a:ea typeface="楷体_GB2312"/>
                <a:cs typeface="Times New Roman" panose="02020603050405020304" pitchFamily="18" charset="0"/>
              </a:rPr>
              <a:t>1988</a:t>
            </a:r>
            <a:r>
              <a:rPr lang="zh-CN" altLang="en-US" dirty="0">
                <a:solidFill>
                  <a:srgbClr val="000000"/>
                </a:solidFill>
                <a:latin typeface="Times New Roman" panose="02020603050405020304" pitchFamily="18" charset="0"/>
                <a:ea typeface="楷体_GB2312"/>
                <a:cs typeface="Times New Roman" panose="02020603050405020304" pitchFamily="18" charset="0"/>
              </a:rPr>
              <a:t>）</a:t>
            </a: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marL="742950" lvl="1" indent="-285750" algn="just">
              <a:lnSpc>
                <a:spcPct val="150000"/>
              </a:lnSpc>
              <a:buFont typeface="Wingdings" panose="05000000000000000000" pitchFamily="2" charset="2"/>
              <a:buChar char="l"/>
            </a:pPr>
            <a:r>
              <a:rPr lang="en-US" altLang="zh-CN" dirty="0">
                <a:solidFill>
                  <a:srgbClr val="000000"/>
                </a:solidFill>
                <a:latin typeface="Times New Roman" panose="02020603050405020304" pitchFamily="18" charset="0"/>
                <a:ea typeface="楷体_GB2312"/>
                <a:cs typeface="Times New Roman" panose="02020603050405020304" pitchFamily="18" charset="0"/>
              </a:rPr>
              <a:t>20</a:t>
            </a:r>
            <a:r>
              <a:rPr lang="zh-CN" altLang="en-US" dirty="0">
                <a:solidFill>
                  <a:srgbClr val="000000"/>
                </a:solidFill>
                <a:latin typeface="Times New Roman" panose="02020603050405020304" pitchFamily="18" charset="0"/>
                <a:ea typeface="楷体_GB2312"/>
                <a:cs typeface="Times New Roman" panose="02020603050405020304" pitchFamily="18" charset="0"/>
              </a:rPr>
              <a:t>世纪</a:t>
            </a:r>
            <a:r>
              <a:rPr lang="en-US" altLang="zh-CN" dirty="0">
                <a:solidFill>
                  <a:srgbClr val="000000"/>
                </a:solidFill>
                <a:latin typeface="Times New Roman" panose="02020603050405020304" pitchFamily="18" charset="0"/>
                <a:ea typeface="楷体_GB2312"/>
                <a:cs typeface="Times New Roman" panose="02020603050405020304" pitchFamily="18" charset="0"/>
              </a:rPr>
              <a:t>90</a:t>
            </a:r>
            <a:r>
              <a:rPr lang="zh-CN" altLang="en-US" dirty="0">
                <a:solidFill>
                  <a:srgbClr val="000000"/>
                </a:solidFill>
                <a:latin typeface="Times New Roman" panose="02020603050405020304" pitchFamily="18" charset="0"/>
                <a:ea typeface="楷体_GB2312"/>
                <a:cs typeface="Times New Roman" panose="02020603050405020304" pitchFamily="18" charset="0"/>
              </a:rPr>
              <a:t>年代，</a:t>
            </a:r>
            <a:r>
              <a:rPr lang="en-US" altLang="zh-CN" dirty="0" err="1">
                <a:solidFill>
                  <a:srgbClr val="000000"/>
                </a:solidFill>
                <a:latin typeface="Times New Roman" panose="02020603050405020304" pitchFamily="18" charset="0"/>
                <a:ea typeface="楷体_GB2312"/>
                <a:cs typeface="Times New Roman" panose="02020603050405020304" pitchFamily="18" charset="0"/>
              </a:rPr>
              <a:t>LeCun</a:t>
            </a:r>
            <a:r>
              <a:rPr lang="zh-CN" altLang="en-US" dirty="0">
                <a:solidFill>
                  <a:srgbClr val="000000"/>
                </a:solidFill>
                <a:latin typeface="Times New Roman" panose="02020603050405020304" pitchFamily="18" charset="0"/>
                <a:ea typeface="楷体_GB2312"/>
                <a:cs typeface="Times New Roman" panose="02020603050405020304" pitchFamily="18" charset="0"/>
              </a:rPr>
              <a:t>等人设计了一种被称为</a:t>
            </a:r>
            <a:r>
              <a:rPr lang="en-US" altLang="zh-CN" dirty="0">
                <a:solidFill>
                  <a:srgbClr val="000000"/>
                </a:solidFill>
                <a:latin typeface="Times New Roman" panose="02020603050405020304" pitchFamily="18" charset="0"/>
                <a:ea typeface="楷体_GB2312"/>
                <a:cs typeface="Times New Roman" panose="02020603050405020304" pitchFamily="18" charset="0"/>
              </a:rPr>
              <a:t>LeNet-5</a:t>
            </a:r>
            <a:r>
              <a:rPr lang="zh-CN" altLang="en-US" dirty="0">
                <a:solidFill>
                  <a:srgbClr val="000000"/>
                </a:solidFill>
                <a:latin typeface="Times New Roman" panose="02020603050405020304" pitchFamily="18" charset="0"/>
                <a:ea typeface="楷体_GB2312"/>
                <a:cs typeface="Times New Roman" panose="02020603050405020304" pitchFamily="18" charset="0"/>
              </a:rPr>
              <a:t>的卷积神经网络用于手写体识别，初步确立了卷积神经网络的基本结构</a:t>
            </a:r>
          </a:p>
        </p:txBody>
      </p:sp>
    </p:spTree>
    <p:extLst>
      <p:ext uri="{BB962C8B-B14F-4D97-AF65-F5344CB8AC3E}">
        <p14:creationId xmlns:p14="http://schemas.microsoft.com/office/powerpoint/2010/main" val="38609875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卷积神经网络：卷积过程</a:t>
              </a:r>
            </a:p>
          </p:txBody>
        </p:sp>
      </p:grpSp>
      <p:sp>
        <p:nvSpPr>
          <p:cNvPr id="12" name="矩形 11">
            <a:extLst>
              <a:ext uri="{FF2B5EF4-FFF2-40B4-BE49-F238E27FC236}">
                <a16:creationId xmlns:a16="http://schemas.microsoft.com/office/drawing/2014/main" id="{5E3A4826-C45A-4929-A41E-665945622565}"/>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二、卷积神经网络</a:t>
            </a:r>
            <a:endParaRPr lang="zh-CN" altLang="en-US" sz="1600" dirty="0"/>
          </a:p>
        </p:txBody>
      </p:sp>
      <p:pic>
        <p:nvPicPr>
          <p:cNvPr id="7" name="图片 6">
            <a:extLst>
              <a:ext uri="{FF2B5EF4-FFF2-40B4-BE49-F238E27FC236}">
                <a16:creationId xmlns:a16="http://schemas.microsoft.com/office/drawing/2014/main" id="{E3BE4F84-C79A-47E1-A28D-C945129F5936}"/>
              </a:ext>
            </a:extLst>
          </p:cNvPr>
          <p:cNvPicPr>
            <a:picLocks noChangeAspect="1"/>
          </p:cNvPicPr>
          <p:nvPr/>
        </p:nvPicPr>
        <p:blipFill>
          <a:blip r:embed="rId3"/>
          <a:stretch>
            <a:fillRect/>
          </a:stretch>
        </p:blipFill>
        <p:spPr>
          <a:xfrm>
            <a:off x="5994105" y="2190013"/>
            <a:ext cx="5948884" cy="3344659"/>
          </a:xfrm>
          <a:prstGeom prst="rect">
            <a:avLst/>
          </a:prstGeom>
        </p:spPr>
      </p:pic>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27FFAC21-E99C-4F42-86E1-15B83A338E74}"/>
                  </a:ext>
                </a:extLst>
              </p:cNvPr>
              <p:cNvSpPr/>
              <p:nvPr/>
            </p:nvSpPr>
            <p:spPr>
              <a:xfrm>
                <a:off x="138627" y="1682525"/>
                <a:ext cx="5558788" cy="2067233"/>
              </a:xfrm>
              <a:prstGeom prst="rect">
                <a:avLst/>
              </a:prstGeom>
            </p:spPr>
            <p:txBody>
              <a:bodyPr wrap="square">
                <a:spAutoFit/>
              </a:bodyPr>
              <a:lstStyle/>
              <a:p>
                <a:pPr marL="285750" indent="-285750" algn="just">
                  <a:lnSpc>
                    <a:spcPts val="2200"/>
                  </a:lnSpc>
                  <a:spcAft>
                    <a:spcPts val="0"/>
                  </a:spcAft>
                  <a:buFont typeface="Wingdings" panose="05000000000000000000" pitchFamily="2" charset="2"/>
                  <a:buChar char="l"/>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如图</a:t>
                </a:r>
                <a:r>
                  <a:rPr lang="en-US" altLang="zh-CN" sz="2000" dirty="0">
                    <a:solidFill>
                      <a:srgbClr val="000000"/>
                    </a:solidFill>
                    <a:latin typeface="Times New Roman" panose="02020603050405020304" pitchFamily="18" charset="0"/>
                    <a:ea typeface="楷体_GB2312"/>
                    <a:cs typeface="Times New Roman" panose="02020603050405020304" pitchFamily="18" charset="0"/>
                  </a:rPr>
                  <a:t>5.8</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所示，给定一个权重分别为</a:t>
                </a:r>
                <a14:m>
                  <m:oMath xmlns:m="http://schemas.openxmlformats.org/officeDocument/2006/math">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2000" i="1">
                        <a:solidFill>
                          <a:srgbClr val="000000"/>
                        </a:solidFill>
                        <a:latin typeface="Cambria Math" panose="02040503050406030204" pitchFamily="18" charset="0"/>
                        <a:ea typeface="楷体_GB2312"/>
                        <a:cs typeface="Times New Roman" panose="02020603050405020304" pitchFamily="18" charset="0"/>
                      </a:rPr>
                      <m:t>(1≤</m:t>
                    </m:r>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r>
                      <a:rPr lang="en-US" altLang="zh-CN" sz="2000" i="1">
                        <a:solidFill>
                          <a:srgbClr val="000000"/>
                        </a:solidFill>
                        <a:latin typeface="Cambria Math" panose="02040503050406030204" pitchFamily="18" charset="0"/>
                        <a:ea typeface="楷体_GB2312"/>
                        <a:cs typeface="Times New Roman" panose="02020603050405020304" pitchFamily="18" charset="0"/>
                      </a:rPr>
                      <m:t>≤9)</m:t>
                    </m:r>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、大小为</a:t>
                </a:r>
                <a14:m>
                  <m:oMath xmlns:m="http://schemas.openxmlformats.org/officeDocument/2006/math">
                    <m:r>
                      <a:rPr lang="en-US" altLang="zh-CN" sz="2000">
                        <a:solidFill>
                          <a:srgbClr val="000000"/>
                        </a:solidFill>
                        <a:latin typeface="Cambria Math" panose="02040503050406030204" pitchFamily="18" charset="0"/>
                        <a:ea typeface="楷体_GB2312"/>
                        <a:cs typeface="Times New Roman" panose="02020603050405020304" pitchFamily="18" charset="0"/>
                      </a:rPr>
                      <m:t>3×3</m:t>
                    </m:r>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的卷积核以及一个</a:t>
                </a:r>
                <a14:m>
                  <m:oMath xmlns:m="http://schemas.openxmlformats.org/officeDocument/2006/math">
                    <m:r>
                      <a:rPr lang="en-US" altLang="zh-CN" sz="2000">
                        <a:solidFill>
                          <a:srgbClr val="000000"/>
                        </a:solidFill>
                        <a:latin typeface="Cambria Math" panose="02040503050406030204" pitchFamily="18" charset="0"/>
                        <a:ea typeface="楷体_GB2312"/>
                        <a:cs typeface="Times New Roman" panose="02020603050405020304" pitchFamily="18" charset="0"/>
                      </a:rPr>
                      <m:t>5×5</m:t>
                    </m:r>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大小灰度图像。该卷积核对图像的卷积操作</a:t>
                </a:r>
                <a:r>
                  <a:rPr lang="zh-CN" altLang="en-US" sz="2000" dirty="0">
                    <a:solidFill>
                      <a:srgbClr val="000000"/>
                    </a:solidFill>
                    <a:latin typeface="Times New Roman" panose="02020603050405020304" pitchFamily="18" charset="0"/>
                    <a:ea typeface="楷体_GB2312"/>
                    <a:cs typeface="Times New Roman" panose="02020603050405020304" pitchFamily="18" charset="0"/>
                  </a:rPr>
                  <a:t>为，</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用卷积核所定义权重</a:t>
                </a:r>
                <a14:m>
                  <m:oMath xmlns:m="http://schemas.openxmlformats.org/officeDocument/2006/math">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对图像子块区域内每个像素点进行</a:t>
                </a:r>
                <a:r>
                  <a:rPr lang="zh-CN" altLang="zh-CN" sz="2000" dirty="0">
                    <a:solidFill>
                      <a:schemeClr val="accent2"/>
                    </a:solidFill>
                    <a:latin typeface="Times New Roman" panose="02020603050405020304" pitchFamily="18" charset="0"/>
                    <a:ea typeface="楷体_GB2312"/>
                    <a:cs typeface="Times New Roman" panose="02020603050405020304" pitchFamily="18" charset="0"/>
                  </a:rPr>
                  <a:t>加权累加</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，所得结果即为图像子块区域中心像素点被卷积后的结果。</a:t>
                </a:r>
                <a:endParaRPr lang="en-US" altLang="zh-CN" sz="2000" dirty="0">
                  <a:solidFill>
                    <a:srgbClr val="000000"/>
                  </a:solidFill>
                  <a:latin typeface="Times New Roman" panose="02020603050405020304" pitchFamily="18" charset="0"/>
                  <a:ea typeface="楷体_GB2312"/>
                  <a:cs typeface="Times New Roman" panose="02020603050405020304" pitchFamily="18" charset="0"/>
                </a:endParaRPr>
              </a:p>
              <a:p>
                <a:pPr algn="just">
                  <a:lnSpc>
                    <a:spcPts val="2200"/>
                  </a:lnSpc>
                  <a:spcAft>
                    <a:spcPts val="0"/>
                  </a:spcAft>
                </a:pPr>
                <a:endParaRPr lang="en-US" altLang="zh-CN" sz="2000"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27FFAC21-E99C-4F42-86E1-15B83A338E74}"/>
                  </a:ext>
                </a:extLst>
              </p:cNvPr>
              <p:cNvSpPr>
                <a:spLocks noRot="1" noChangeAspect="1" noMove="1" noResize="1" noEditPoints="1" noAdjustHandles="1" noChangeArrowheads="1" noChangeShapeType="1" noTextEdit="1"/>
              </p:cNvSpPr>
              <p:nvPr/>
            </p:nvSpPr>
            <p:spPr>
              <a:xfrm>
                <a:off x="138627" y="1682525"/>
                <a:ext cx="5558788" cy="2067233"/>
              </a:xfrm>
              <a:prstGeom prst="rect">
                <a:avLst/>
              </a:prstGeom>
              <a:blipFill>
                <a:blip r:embed="rId4"/>
                <a:stretch>
                  <a:fillRect l="-987" t="-2655" r="-10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488010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卷积神经网络：卷积的意义</a:t>
              </a:r>
            </a:p>
          </p:txBody>
        </p:sp>
      </p:grpSp>
      <p:sp>
        <p:nvSpPr>
          <p:cNvPr id="12" name="矩形 11">
            <a:extLst>
              <a:ext uri="{FF2B5EF4-FFF2-40B4-BE49-F238E27FC236}">
                <a16:creationId xmlns:a16="http://schemas.microsoft.com/office/drawing/2014/main" id="{5E3A4826-C45A-4929-A41E-665945622565}"/>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二、卷积神经网络</a:t>
            </a:r>
            <a:endParaRPr lang="zh-CN" altLang="en-US" sz="1600" dirty="0"/>
          </a:p>
        </p:txBody>
      </p:sp>
      <p:pic>
        <p:nvPicPr>
          <p:cNvPr id="7" name="图片 6">
            <a:extLst>
              <a:ext uri="{FF2B5EF4-FFF2-40B4-BE49-F238E27FC236}">
                <a16:creationId xmlns:a16="http://schemas.microsoft.com/office/drawing/2014/main" id="{E3BE4F84-C79A-47E1-A28D-C945129F5936}"/>
              </a:ext>
            </a:extLst>
          </p:cNvPr>
          <p:cNvPicPr>
            <a:picLocks noChangeAspect="1"/>
          </p:cNvPicPr>
          <p:nvPr/>
        </p:nvPicPr>
        <p:blipFill>
          <a:blip r:embed="rId3"/>
          <a:stretch>
            <a:fillRect/>
          </a:stretch>
        </p:blipFill>
        <p:spPr>
          <a:xfrm>
            <a:off x="5831247" y="2152500"/>
            <a:ext cx="5948884" cy="3344659"/>
          </a:xfrm>
          <a:prstGeom prst="rect">
            <a:avLst/>
          </a:prstGeom>
        </p:spPr>
      </p:pic>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27FFAC21-E99C-4F42-86E1-15B83A338E74}"/>
                  </a:ext>
                </a:extLst>
              </p:cNvPr>
              <p:cNvSpPr/>
              <p:nvPr/>
            </p:nvSpPr>
            <p:spPr>
              <a:xfrm>
                <a:off x="249011" y="1804444"/>
                <a:ext cx="5582236" cy="4401205"/>
              </a:xfrm>
              <a:prstGeom prst="rect">
                <a:avLst/>
              </a:prstGeom>
            </p:spPr>
            <p:txBody>
              <a:bodyPr wrap="square">
                <a:spAutoFit/>
              </a:bodyPr>
              <a:lstStyle/>
              <a:p>
                <a:pPr marL="285750" indent="-285750">
                  <a:buFont typeface="Wingdings" panose="05000000000000000000" pitchFamily="2" charset="2"/>
                  <a:buChar char="l"/>
                </a:pPr>
                <a:r>
                  <a:rPr lang="en-US" altLang="zh-CN" sz="2000" dirty="0">
                    <a:latin typeface="微软雅黑" panose="020B0503020204020204" pitchFamily="34" charset="-122"/>
                    <a:ea typeface="微软雅黑" panose="020B0503020204020204" pitchFamily="34" charset="-122"/>
                  </a:rPr>
                  <a:t>“</a:t>
                </a:r>
                <a:r>
                  <a:rPr lang="zh-CN" altLang="zh-CN" sz="2000" dirty="0">
                    <a:solidFill>
                      <a:schemeClr val="accent2"/>
                    </a:solidFill>
                    <a:latin typeface="微软雅黑" panose="020B0503020204020204" pitchFamily="34" charset="-122"/>
                    <a:ea typeface="微软雅黑" panose="020B0503020204020204" pitchFamily="34" charset="-122"/>
                  </a:rPr>
                  <a:t>空间依赖</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相邻像素点之间具有很强的相关性、而彼此远离像素点之间的相关性很弱。</a:t>
                </a:r>
                <a:endParaRPr lang="en-US" altLang="zh-CN" sz="20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endParaRPr lang="en-US" altLang="zh-CN" sz="20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en-US" altLang="zh-CN" sz="2000" dirty="0">
                    <a:latin typeface="微软雅黑" panose="020B0503020204020204" pitchFamily="34" charset="-122"/>
                    <a:ea typeface="微软雅黑" panose="020B0503020204020204" pitchFamily="34" charset="-122"/>
                  </a:rPr>
                  <a:t>“</a:t>
                </a:r>
                <a:r>
                  <a:rPr lang="zh-CN" altLang="zh-CN" sz="2000" dirty="0">
                    <a:solidFill>
                      <a:schemeClr val="accent2"/>
                    </a:solidFill>
                    <a:latin typeface="微软雅黑" panose="020B0503020204020204" pitchFamily="34" charset="-122"/>
                    <a:ea typeface="微软雅黑" panose="020B0503020204020204" pitchFamily="34" charset="-122"/>
                  </a:rPr>
                  <a:t>层层抽象、层层约减</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：多个卷积操作叠加，可以实现层层抽象</a:t>
                </a:r>
                <a:endParaRPr lang="en-US" altLang="zh-CN" sz="20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endParaRPr lang="en-US" altLang="zh-CN" sz="20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a:t>
                </a:r>
                <a:r>
                  <a:rPr lang="zh-CN" altLang="zh-CN" sz="2000" dirty="0">
                    <a:solidFill>
                      <a:schemeClr val="accent2"/>
                    </a:solidFill>
                    <a:latin typeface="微软雅黑" panose="020B0503020204020204" pitchFamily="34" charset="-122"/>
                    <a:ea typeface="微软雅黑" panose="020B0503020204020204" pitchFamily="34" charset="-122"/>
                  </a:rPr>
                  <a:t>空间分布不同模式</a:t>
                </a:r>
                <a:r>
                  <a:rPr lang="zh-CN" altLang="en-US"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卷积核中的权重系数</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a:latin typeface="Cambria Math" panose="02040503050406030204" pitchFamily="18" charset="0"/>
                          </a:rPr>
                          <m:t>𝑖</m:t>
                        </m:r>
                      </m:sub>
                    </m:sSub>
                  </m:oMath>
                </a14:m>
                <a:r>
                  <a:rPr lang="zh-CN" altLang="zh-CN" sz="2000" dirty="0">
                    <a:latin typeface="微软雅黑" panose="020B0503020204020204" pitchFamily="34" charset="-122"/>
                    <a:ea typeface="微软雅黑" panose="020B0503020204020204" pitchFamily="34" charset="-122"/>
                  </a:rPr>
                  <a:t>是通过数据驱动机制学习得到，其用来捕获图像中某像素点及其邻域像素点所构成的特有空间模式</a:t>
                </a:r>
                <a:endParaRPr lang="en-US" altLang="zh-CN" sz="20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endParaRPr lang="zh-CN" altLang="zh-CN" sz="20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en-US" altLang="zh-CN" sz="2000" dirty="0">
                    <a:latin typeface="微软雅黑" panose="020B0503020204020204" pitchFamily="34" charset="-122"/>
                    <a:ea typeface="微软雅黑" panose="020B0503020204020204" pitchFamily="34" charset="-122"/>
                  </a:rPr>
                  <a:t>“</a:t>
                </a:r>
                <a:r>
                  <a:rPr lang="zh-CN" altLang="zh-CN" sz="2000" dirty="0">
                    <a:solidFill>
                      <a:schemeClr val="accent2"/>
                    </a:solidFill>
                    <a:latin typeface="微软雅黑" panose="020B0503020204020204" pitchFamily="34" charset="-122"/>
                    <a:ea typeface="微软雅黑" panose="020B0503020204020204" pitchFamily="34" charset="-122"/>
                  </a:rPr>
                  <a:t>视觉系统信息分层处理</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视觉感知是由低层细胞到高层细胞对原始输入信息不断抽象完成</a:t>
                </a:r>
              </a:p>
            </p:txBody>
          </p:sp>
        </mc:Choice>
        <mc:Fallback xmlns="">
          <p:sp>
            <p:nvSpPr>
              <p:cNvPr id="8" name="矩形 7">
                <a:extLst>
                  <a:ext uri="{FF2B5EF4-FFF2-40B4-BE49-F238E27FC236}">
                    <a16:creationId xmlns:a16="http://schemas.microsoft.com/office/drawing/2014/main" id="{27FFAC21-E99C-4F42-86E1-15B83A338E74}"/>
                  </a:ext>
                </a:extLst>
              </p:cNvPr>
              <p:cNvSpPr>
                <a:spLocks noRot="1" noChangeAspect="1" noMove="1" noResize="1" noEditPoints="1" noAdjustHandles="1" noChangeArrowheads="1" noChangeShapeType="1" noTextEdit="1"/>
              </p:cNvSpPr>
              <p:nvPr/>
            </p:nvSpPr>
            <p:spPr>
              <a:xfrm>
                <a:off x="249011" y="1804444"/>
                <a:ext cx="5582236" cy="4401205"/>
              </a:xfrm>
              <a:prstGeom prst="rect">
                <a:avLst/>
              </a:prstGeom>
              <a:blipFill>
                <a:blip r:embed="rId4"/>
                <a:stretch>
                  <a:fillRect l="-983" t="-693" r="-5022" b="-152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274574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卷积神经网络：不同卷积算子卷积效果</a:t>
              </a:r>
            </a:p>
          </p:txBody>
        </p:sp>
      </p:grpSp>
      <p:sp>
        <p:nvSpPr>
          <p:cNvPr id="12" name="矩形 11">
            <a:extLst>
              <a:ext uri="{FF2B5EF4-FFF2-40B4-BE49-F238E27FC236}">
                <a16:creationId xmlns:a16="http://schemas.microsoft.com/office/drawing/2014/main" id="{5E3A4826-C45A-4929-A41E-665945622565}"/>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二、卷积神经网络</a:t>
            </a:r>
            <a:endParaRPr lang="zh-CN" altLang="en-US" sz="1600" dirty="0"/>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27FFAC21-E99C-4F42-86E1-15B83A338E74}"/>
                  </a:ext>
                </a:extLst>
              </p:cNvPr>
              <p:cNvSpPr/>
              <p:nvPr/>
            </p:nvSpPr>
            <p:spPr>
              <a:xfrm>
                <a:off x="249011" y="1804444"/>
                <a:ext cx="6043938" cy="3269421"/>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图</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5.9</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给出了同一幅图像经过两个不同的</a:t>
                </a:r>
                <a14:m>
                  <m:oMath xmlns:m="http://schemas.openxmlformats.org/officeDocument/2006/math">
                    <m:r>
                      <a:rPr lang="en-US" altLang="zh-CN" sz="2000">
                        <a:latin typeface="Cambria Math" panose="02040503050406030204" pitchFamily="18" charset="0"/>
                      </a:rPr>
                      <m:t>7×7</m:t>
                    </m:r>
                  </m:oMath>
                </a14:m>
                <a:r>
                  <a:rPr lang="zh-CN"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高斯卷积核</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进行卷积滤波的结果。</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l"/>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不同卷积核的作用不同：</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从图</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5.9</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可见，如果卷积核中心位置的权重系数越小且与其它卷积权重系数差别越小，则卷积所得到图像滤波结果越模糊</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这被称为</a:t>
                </a:r>
                <a:r>
                  <a:rPr lang="zh-CN"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图像平滑操作</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27FFAC21-E99C-4F42-86E1-15B83A338E74}"/>
                  </a:ext>
                </a:extLst>
              </p:cNvPr>
              <p:cNvSpPr>
                <a:spLocks noRot="1" noChangeAspect="1" noMove="1" noResize="1" noEditPoints="1" noAdjustHandles="1" noChangeArrowheads="1" noChangeShapeType="1" noTextEdit="1"/>
              </p:cNvSpPr>
              <p:nvPr/>
            </p:nvSpPr>
            <p:spPr>
              <a:xfrm>
                <a:off x="249011" y="1804444"/>
                <a:ext cx="6043938" cy="3269421"/>
              </a:xfrm>
              <a:prstGeom prst="rect">
                <a:avLst/>
              </a:prstGeom>
              <a:blipFill>
                <a:blip r:embed="rId3"/>
                <a:stretch>
                  <a:fillRect l="-908" b="-2425"/>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727FD85A-DE00-4B68-BFE4-9E03016230B5}"/>
              </a:ext>
            </a:extLst>
          </p:cNvPr>
          <p:cNvPicPr>
            <a:picLocks noChangeAspect="1"/>
          </p:cNvPicPr>
          <p:nvPr/>
        </p:nvPicPr>
        <p:blipFill>
          <a:blip r:embed="rId4"/>
          <a:stretch>
            <a:fillRect/>
          </a:stretch>
        </p:blipFill>
        <p:spPr>
          <a:xfrm>
            <a:off x="6292949" y="2016832"/>
            <a:ext cx="6043938" cy="3961310"/>
          </a:xfrm>
          <a:prstGeom prst="rect">
            <a:avLst/>
          </a:prstGeom>
        </p:spPr>
      </p:pic>
      <p:pic>
        <p:nvPicPr>
          <p:cNvPr id="9" name="图片 8">
            <a:extLst>
              <a:ext uri="{FF2B5EF4-FFF2-40B4-BE49-F238E27FC236}">
                <a16:creationId xmlns:a16="http://schemas.microsoft.com/office/drawing/2014/main" id="{553D2E19-947F-7685-8C3A-863E88936B9F}"/>
              </a:ext>
            </a:extLst>
          </p:cNvPr>
          <p:cNvPicPr>
            <a:picLocks noChangeAspect="1"/>
          </p:cNvPicPr>
          <p:nvPr/>
        </p:nvPicPr>
        <p:blipFill>
          <a:blip r:embed="rId5"/>
          <a:stretch>
            <a:fillRect/>
          </a:stretch>
        </p:blipFill>
        <p:spPr>
          <a:xfrm rot="5400000">
            <a:off x="5886600" y="2990940"/>
            <a:ext cx="2400000" cy="1428571"/>
          </a:xfrm>
          <a:prstGeom prst="rect">
            <a:avLst/>
          </a:prstGeom>
        </p:spPr>
      </p:pic>
      <p:pic>
        <p:nvPicPr>
          <p:cNvPr id="11" name="图片 10">
            <a:extLst>
              <a:ext uri="{FF2B5EF4-FFF2-40B4-BE49-F238E27FC236}">
                <a16:creationId xmlns:a16="http://schemas.microsoft.com/office/drawing/2014/main" id="{5338CD14-52C3-2643-5083-DBBB218392E5}"/>
              </a:ext>
            </a:extLst>
          </p:cNvPr>
          <p:cNvPicPr>
            <a:picLocks noChangeAspect="1"/>
          </p:cNvPicPr>
          <p:nvPr/>
        </p:nvPicPr>
        <p:blipFill>
          <a:blip r:embed="rId6"/>
          <a:stretch>
            <a:fillRect/>
          </a:stretch>
        </p:blipFill>
        <p:spPr>
          <a:xfrm rot="5400000">
            <a:off x="10831146" y="2596721"/>
            <a:ext cx="1628625" cy="950031"/>
          </a:xfrm>
          <a:prstGeom prst="rect">
            <a:avLst/>
          </a:prstGeom>
        </p:spPr>
      </p:pic>
      <p:pic>
        <p:nvPicPr>
          <p:cNvPr id="14" name="图片 13">
            <a:extLst>
              <a:ext uri="{FF2B5EF4-FFF2-40B4-BE49-F238E27FC236}">
                <a16:creationId xmlns:a16="http://schemas.microsoft.com/office/drawing/2014/main" id="{650A8D69-C324-4A49-54C1-C9D8D1A37966}"/>
              </a:ext>
            </a:extLst>
          </p:cNvPr>
          <p:cNvPicPr>
            <a:picLocks noChangeAspect="1"/>
          </p:cNvPicPr>
          <p:nvPr/>
        </p:nvPicPr>
        <p:blipFill>
          <a:blip r:embed="rId7"/>
          <a:stretch>
            <a:fillRect/>
          </a:stretch>
        </p:blipFill>
        <p:spPr>
          <a:xfrm rot="5400000">
            <a:off x="10831145" y="4273122"/>
            <a:ext cx="1628625" cy="950031"/>
          </a:xfrm>
          <a:prstGeom prst="rect">
            <a:avLst/>
          </a:prstGeom>
        </p:spPr>
      </p:pic>
    </p:spTree>
    <p:extLst>
      <p:ext uri="{BB962C8B-B14F-4D97-AF65-F5344CB8AC3E}">
        <p14:creationId xmlns:p14="http://schemas.microsoft.com/office/powerpoint/2010/main" val="29434357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778841" y="2849787"/>
              <a:ext cx="4133539" cy="400110"/>
            </a:xfrm>
            <a:prstGeom prst="rect">
              <a:avLst/>
            </a:prstGeom>
          </p:spPr>
          <p:txBody>
            <a:bodyPr wrap="square">
              <a:spAutoFit/>
            </a:bodyPr>
            <a:lstStyle/>
            <a:p>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卷积神经网络：填充（</a:t>
              </a: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padding</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）和步长（</a:t>
              </a: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striding</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a:t>
              </a:r>
            </a:p>
          </p:txBody>
        </p:sp>
      </p:grpSp>
      <p:sp>
        <p:nvSpPr>
          <p:cNvPr id="12" name="矩形 11">
            <a:extLst>
              <a:ext uri="{FF2B5EF4-FFF2-40B4-BE49-F238E27FC236}">
                <a16:creationId xmlns:a16="http://schemas.microsoft.com/office/drawing/2014/main" id="{5E3A4826-C45A-4929-A41E-665945622565}"/>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二、卷积神经网络</a:t>
            </a:r>
            <a:endParaRPr lang="zh-CN" altLang="en-US" sz="1600" dirty="0"/>
          </a:p>
        </p:txBody>
      </p:sp>
      <p:sp>
        <p:nvSpPr>
          <p:cNvPr id="8" name="矩形 7">
            <a:extLst>
              <a:ext uri="{FF2B5EF4-FFF2-40B4-BE49-F238E27FC236}">
                <a16:creationId xmlns:a16="http://schemas.microsoft.com/office/drawing/2014/main" id="{27FFAC21-E99C-4F42-86E1-15B83A338E74}"/>
              </a:ext>
            </a:extLst>
          </p:cNvPr>
          <p:cNvSpPr/>
          <p:nvPr/>
        </p:nvSpPr>
        <p:spPr>
          <a:xfrm>
            <a:off x="736691" y="1536066"/>
            <a:ext cx="5476540" cy="2492990"/>
          </a:xfrm>
          <a:prstGeom prst="rect">
            <a:avLst/>
          </a:prstGeom>
        </p:spPr>
        <p:txBody>
          <a:bodyPr wrap="square">
            <a:spAutoFit/>
          </a:bodyPr>
          <a:lstStyle/>
          <a:p>
            <a:pPr marL="285750" indent="-285750">
              <a:buFont typeface="Wingdings" panose="05000000000000000000" pitchFamily="2" charset="2"/>
              <a:buChar char="l"/>
            </a:pPr>
            <a:endParaRPr lang="zh-CN" altLang="en-US" sz="16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填充：</a:t>
            </a:r>
            <a:r>
              <a:rPr lang="zh-CN" altLang="en-US" sz="2000" dirty="0">
                <a:solidFill>
                  <a:schemeClr val="accent2"/>
                </a:solidFill>
                <a:latin typeface="微软雅黑" panose="020B0503020204020204" pitchFamily="34" charset="-122"/>
                <a:ea typeface="微软雅黑" panose="020B0503020204020204" pitchFamily="34" charset="-122"/>
              </a:rPr>
              <a:t>为了使边缘位置的图像像素点也参与卷积滤波，填充技术被提出。</a:t>
            </a:r>
            <a:r>
              <a:rPr lang="zh-CN" altLang="en-US" sz="2000" dirty="0">
                <a:latin typeface="微软雅黑" panose="020B0503020204020204" pitchFamily="34" charset="-122"/>
                <a:ea typeface="微软雅黑" panose="020B0503020204020204" pitchFamily="34" charset="-122"/>
              </a:rPr>
              <a:t>该方法在边缘像素点周围填充“</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（即</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填充），使得可以以边缘像素点为中心形成与卷积核同样大小的图像子块区域。</a:t>
            </a:r>
            <a:endParaRPr lang="en-US" altLang="zh-CN" sz="20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endParaRPr lang="en-US" altLang="zh-CN" sz="20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endParaRPr lang="zh-CN" altLang="en-US" sz="2000" dirty="0">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397EC0D5-6AEC-4FF1-B328-19D31C299674}"/>
              </a:ext>
            </a:extLst>
          </p:cNvPr>
          <p:cNvPicPr>
            <a:picLocks noChangeAspect="1"/>
          </p:cNvPicPr>
          <p:nvPr/>
        </p:nvPicPr>
        <p:blipFill>
          <a:blip r:embed="rId3"/>
          <a:stretch>
            <a:fillRect/>
          </a:stretch>
        </p:blipFill>
        <p:spPr>
          <a:xfrm>
            <a:off x="6677465" y="4283859"/>
            <a:ext cx="4140590" cy="1813018"/>
          </a:xfrm>
          <a:prstGeom prst="rect">
            <a:avLst/>
          </a:prstGeom>
        </p:spPr>
      </p:pic>
      <p:pic>
        <p:nvPicPr>
          <p:cNvPr id="9" name="图片 8">
            <a:extLst>
              <a:ext uri="{FF2B5EF4-FFF2-40B4-BE49-F238E27FC236}">
                <a16:creationId xmlns:a16="http://schemas.microsoft.com/office/drawing/2014/main" id="{6D81CBC8-3392-400B-9D4E-86A3A5C96BB0}"/>
              </a:ext>
            </a:extLst>
          </p:cNvPr>
          <p:cNvPicPr>
            <a:picLocks noChangeAspect="1"/>
          </p:cNvPicPr>
          <p:nvPr/>
        </p:nvPicPr>
        <p:blipFill>
          <a:blip r:embed="rId4"/>
          <a:stretch>
            <a:fillRect/>
          </a:stretch>
        </p:blipFill>
        <p:spPr>
          <a:xfrm>
            <a:off x="6677465" y="1821594"/>
            <a:ext cx="4254624" cy="2146803"/>
          </a:xfrm>
          <a:prstGeom prst="rect">
            <a:avLst/>
          </a:prstGeom>
        </p:spPr>
      </p:pic>
      <p:sp>
        <p:nvSpPr>
          <p:cNvPr id="10" name="矩形 9">
            <a:extLst>
              <a:ext uri="{FF2B5EF4-FFF2-40B4-BE49-F238E27FC236}">
                <a16:creationId xmlns:a16="http://schemas.microsoft.com/office/drawing/2014/main" id="{63680B18-4975-07DC-E57C-C60355D9F5F4}"/>
              </a:ext>
            </a:extLst>
          </p:cNvPr>
          <p:cNvSpPr/>
          <p:nvPr/>
        </p:nvSpPr>
        <p:spPr>
          <a:xfrm>
            <a:off x="6810768" y="2279287"/>
            <a:ext cx="164707" cy="1495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0</a:t>
            </a:r>
            <a:endParaRPr lang="zh-CN" altLang="en-US" sz="1200" dirty="0"/>
          </a:p>
        </p:txBody>
      </p:sp>
      <p:sp>
        <p:nvSpPr>
          <p:cNvPr id="11" name="矩形 10">
            <a:extLst>
              <a:ext uri="{FF2B5EF4-FFF2-40B4-BE49-F238E27FC236}">
                <a16:creationId xmlns:a16="http://schemas.microsoft.com/office/drawing/2014/main" id="{40282013-547D-003E-D67F-F38D509038CC}"/>
              </a:ext>
            </a:extLst>
          </p:cNvPr>
          <p:cNvSpPr/>
          <p:nvPr/>
        </p:nvSpPr>
        <p:spPr>
          <a:xfrm>
            <a:off x="6975475" y="2279287"/>
            <a:ext cx="164707" cy="1495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0</a:t>
            </a:r>
            <a:endParaRPr lang="zh-CN" altLang="en-US" sz="1200" dirty="0"/>
          </a:p>
        </p:txBody>
      </p:sp>
      <p:sp>
        <p:nvSpPr>
          <p:cNvPr id="13" name="矩形 12">
            <a:extLst>
              <a:ext uri="{FF2B5EF4-FFF2-40B4-BE49-F238E27FC236}">
                <a16:creationId xmlns:a16="http://schemas.microsoft.com/office/drawing/2014/main" id="{E229AFCF-D64E-60F1-47DB-D4170F8D15D0}"/>
              </a:ext>
            </a:extLst>
          </p:cNvPr>
          <p:cNvSpPr/>
          <p:nvPr/>
        </p:nvSpPr>
        <p:spPr>
          <a:xfrm>
            <a:off x="7140182" y="2279287"/>
            <a:ext cx="164707" cy="1495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0</a:t>
            </a:r>
            <a:endParaRPr lang="zh-CN" altLang="en-US" sz="1200" dirty="0"/>
          </a:p>
        </p:txBody>
      </p:sp>
      <p:sp>
        <p:nvSpPr>
          <p:cNvPr id="14" name="矩形 13">
            <a:extLst>
              <a:ext uri="{FF2B5EF4-FFF2-40B4-BE49-F238E27FC236}">
                <a16:creationId xmlns:a16="http://schemas.microsoft.com/office/drawing/2014/main" id="{1A32477E-5278-ABBA-F725-7F5AB366AD6D}"/>
              </a:ext>
            </a:extLst>
          </p:cNvPr>
          <p:cNvSpPr/>
          <p:nvPr/>
        </p:nvSpPr>
        <p:spPr>
          <a:xfrm>
            <a:off x="7304889" y="2279287"/>
            <a:ext cx="164707" cy="1495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0</a:t>
            </a:r>
            <a:endParaRPr lang="zh-CN" altLang="en-US" sz="1200" dirty="0"/>
          </a:p>
        </p:txBody>
      </p:sp>
      <p:sp>
        <p:nvSpPr>
          <p:cNvPr id="15" name="矩形 14">
            <a:extLst>
              <a:ext uri="{FF2B5EF4-FFF2-40B4-BE49-F238E27FC236}">
                <a16:creationId xmlns:a16="http://schemas.microsoft.com/office/drawing/2014/main" id="{3BD57258-D977-3D1C-1D10-94A79177929C}"/>
              </a:ext>
            </a:extLst>
          </p:cNvPr>
          <p:cNvSpPr/>
          <p:nvPr/>
        </p:nvSpPr>
        <p:spPr>
          <a:xfrm>
            <a:off x="7456268" y="2279287"/>
            <a:ext cx="164707" cy="1495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0</a:t>
            </a:r>
            <a:endParaRPr lang="zh-CN" altLang="en-US" sz="1200" dirty="0"/>
          </a:p>
        </p:txBody>
      </p:sp>
      <p:sp>
        <p:nvSpPr>
          <p:cNvPr id="16" name="矩形 15">
            <a:extLst>
              <a:ext uri="{FF2B5EF4-FFF2-40B4-BE49-F238E27FC236}">
                <a16:creationId xmlns:a16="http://schemas.microsoft.com/office/drawing/2014/main" id="{925C0FF9-2C52-4842-FF4A-DB48DAED4A9C}"/>
              </a:ext>
            </a:extLst>
          </p:cNvPr>
          <p:cNvSpPr/>
          <p:nvPr/>
        </p:nvSpPr>
        <p:spPr>
          <a:xfrm>
            <a:off x="6810768" y="2939687"/>
            <a:ext cx="164707" cy="1495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0</a:t>
            </a:r>
            <a:endParaRPr lang="zh-CN" altLang="en-US" sz="1200" dirty="0"/>
          </a:p>
        </p:txBody>
      </p:sp>
      <p:sp>
        <p:nvSpPr>
          <p:cNvPr id="17" name="矩形 16">
            <a:extLst>
              <a:ext uri="{FF2B5EF4-FFF2-40B4-BE49-F238E27FC236}">
                <a16:creationId xmlns:a16="http://schemas.microsoft.com/office/drawing/2014/main" id="{D5E0D758-5724-138B-8D9A-8E3F1043C146}"/>
              </a:ext>
            </a:extLst>
          </p:cNvPr>
          <p:cNvSpPr/>
          <p:nvPr/>
        </p:nvSpPr>
        <p:spPr>
          <a:xfrm>
            <a:off x="6975475" y="2939687"/>
            <a:ext cx="164707" cy="1495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0</a:t>
            </a:r>
            <a:endParaRPr lang="zh-CN" altLang="en-US" sz="1200" dirty="0"/>
          </a:p>
        </p:txBody>
      </p:sp>
      <p:sp>
        <p:nvSpPr>
          <p:cNvPr id="18" name="矩形 17">
            <a:extLst>
              <a:ext uri="{FF2B5EF4-FFF2-40B4-BE49-F238E27FC236}">
                <a16:creationId xmlns:a16="http://schemas.microsoft.com/office/drawing/2014/main" id="{A960207A-BB04-BAEE-2EC4-3F200F2BB427}"/>
              </a:ext>
            </a:extLst>
          </p:cNvPr>
          <p:cNvSpPr/>
          <p:nvPr/>
        </p:nvSpPr>
        <p:spPr>
          <a:xfrm>
            <a:off x="7140182" y="2939687"/>
            <a:ext cx="164707" cy="1495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0</a:t>
            </a:r>
            <a:endParaRPr lang="zh-CN" altLang="en-US" sz="1200" dirty="0"/>
          </a:p>
        </p:txBody>
      </p:sp>
      <p:sp>
        <p:nvSpPr>
          <p:cNvPr id="19" name="矩形 18">
            <a:extLst>
              <a:ext uri="{FF2B5EF4-FFF2-40B4-BE49-F238E27FC236}">
                <a16:creationId xmlns:a16="http://schemas.microsoft.com/office/drawing/2014/main" id="{2A7315C0-14CA-B895-D8B3-0EF4453D1E44}"/>
              </a:ext>
            </a:extLst>
          </p:cNvPr>
          <p:cNvSpPr/>
          <p:nvPr/>
        </p:nvSpPr>
        <p:spPr>
          <a:xfrm>
            <a:off x="7304889" y="2939687"/>
            <a:ext cx="164707" cy="1495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0</a:t>
            </a:r>
            <a:endParaRPr lang="zh-CN" altLang="en-US" sz="1200" dirty="0"/>
          </a:p>
        </p:txBody>
      </p:sp>
      <p:sp>
        <p:nvSpPr>
          <p:cNvPr id="20" name="矩形 19">
            <a:extLst>
              <a:ext uri="{FF2B5EF4-FFF2-40B4-BE49-F238E27FC236}">
                <a16:creationId xmlns:a16="http://schemas.microsoft.com/office/drawing/2014/main" id="{0F2CFB93-A712-E2E8-372B-860125F68A31}"/>
              </a:ext>
            </a:extLst>
          </p:cNvPr>
          <p:cNvSpPr/>
          <p:nvPr/>
        </p:nvSpPr>
        <p:spPr>
          <a:xfrm>
            <a:off x="7456268" y="2939687"/>
            <a:ext cx="164707" cy="1495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0</a:t>
            </a:r>
            <a:endParaRPr lang="zh-CN" altLang="en-US" sz="1200" dirty="0"/>
          </a:p>
        </p:txBody>
      </p:sp>
      <p:sp>
        <p:nvSpPr>
          <p:cNvPr id="26" name="矩形 25">
            <a:extLst>
              <a:ext uri="{FF2B5EF4-FFF2-40B4-BE49-F238E27FC236}">
                <a16:creationId xmlns:a16="http://schemas.microsoft.com/office/drawing/2014/main" id="{9689A4CC-1516-F060-3358-3201B54B0945}"/>
              </a:ext>
            </a:extLst>
          </p:cNvPr>
          <p:cNvSpPr/>
          <p:nvPr/>
        </p:nvSpPr>
        <p:spPr>
          <a:xfrm>
            <a:off x="6810767" y="2437018"/>
            <a:ext cx="164707" cy="1495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0</a:t>
            </a:r>
            <a:endParaRPr lang="zh-CN" altLang="en-US" sz="1200" dirty="0"/>
          </a:p>
        </p:txBody>
      </p:sp>
      <p:sp>
        <p:nvSpPr>
          <p:cNvPr id="27" name="矩形 26">
            <a:extLst>
              <a:ext uri="{FF2B5EF4-FFF2-40B4-BE49-F238E27FC236}">
                <a16:creationId xmlns:a16="http://schemas.microsoft.com/office/drawing/2014/main" id="{C6D4C64F-60B0-CFCB-E72C-FE27A37D904F}"/>
              </a:ext>
            </a:extLst>
          </p:cNvPr>
          <p:cNvSpPr/>
          <p:nvPr/>
        </p:nvSpPr>
        <p:spPr>
          <a:xfrm>
            <a:off x="6810767" y="2594291"/>
            <a:ext cx="164707" cy="1799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0</a:t>
            </a:r>
            <a:endParaRPr lang="zh-CN" altLang="en-US" sz="1200" dirty="0"/>
          </a:p>
        </p:txBody>
      </p:sp>
      <p:sp>
        <p:nvSpPr>
          <p:cNvPr id="28" name="矩形 27">
            <a:extLst>
              <a:ext uri="{FF2B5EF4-FFF2-40B4-BE49-F238E27FC236}">
                <a16:creationId xmlns:a16="http://schemas.microsoft.com/office/drawing/2014/main" id="{6B3C9827-5C31-2C4F-87A8-C9272A71B9D0}"/>
              </a:ext>
            </a:extLst>
          </p:cNvPr>
          <p:cNvSpPr/>
          <p:nvPr/>
        </p:nvSpPr>
        <p:spPr>
          <a:xfrm>
            <a:off x="6810766" y="2752022"/>
            <a:ext cx="164707" cy="1799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0</a:t>
            </a:r>
            <a:endParaRPr lang="zh-CN" altLang="en-US" sz="1200" dirty="0"/>
          </a:p>
        </p:txBody>
      </p:sp>
      <p:sp>
        <p:nvSpPr>
          <p:cNvPr id="29" name="矩形 28">
            <a:extLst>
              <a:ext uri="{FF2B5EF4-FFF2-40B4-BE49-F238E27FC236}">
                <a16:creationId xmlns:a16="http://schemas.microsoft.com/office/drawing/2014/main" id="{46F75DEB-018C-7A88-E927-091DA58C0B31}"/>
              </a:ext>
            </a:extLst>
          </p:cNvPr>
          <p:cNvSpPr/>
          <p:nvPr/>
        </p:nvSpPr>
        <p:spPr>
          <a:xfrm>
            <a:off x="7456266" y="2437018"/>
            <a:ext cx="164707" cy="1495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0</a:t>
            </a:r>
            <a:endParaRPr lang="zh-CN" altLang="en-US" sz="1200" dirty="0"/>
          </a:p>
        </p:txBody>
      </p:sp>
      <p:sp>
        <p:nvSpPr>
          <p:cNvPr id="30" name="矩形 29">
            <a:extLst>
              <a:ext uri="{FF2B5EF4-FFF2-40B4-BE49-F238E27FC236}">
                <a16:creationId xmlns:a16="http://schemas.microsoft.com/office/drawing/2014/main" id="{443D4644-8D45-0C9F-62A0-1BE89E3BC487}"/>
              </a:ext>
            </a:extLst>
          </p:cNvPr>
          <p:cNvSpPr/>
          <p:nvPr/>
        </p:nvSpPr>
        <p:spPr>
          <a:xfrm>
            <a:off x="7456266" y="2594291"/>
            <a:ext cx="164707" cy="1799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0</a:t>
            </a:r>
            <a:endParaRPr lang="zh-CN" altLang="en-US" sz="1200" dirty="0"/>
          </a:p>
        </p:txBody>
      </p:sp>
      <p:sp>
        <p:nvSpPr>
          <p:cNvPr id="31" name="矩形 30">
            <a:extLst>
              <a:ext uri="{FF2B5EF4-FFF2-40B4-BE49-F238E27FC236}">
                <a16:creationId xmlns:a16="http://schemas.microsoft.com/office/drawing/2014/main" id="{A36FC5A2-06EC-A72B-BF62-FD9CD28D5246}"/>
              </a:ext>
            </a:extLst>
          </p:cNvPr>
          <p:cNvSpPr/>
          <p:nvPr/>
        </p:nvSpPr>
        <p:spPr>
          <a:xfrm>
            <a:off x="7456265" y="2752022"/>
            <a:ext cx="164707" cy="1799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0</a:t>
            </a:r>
            <a:endParaRPr lang="zh-CN" altLang="en-US" sz="1200" dirty="0"/>
          </a:p>
        </p:txBody>
      </p:sp>
      <p:sp>
        <p:nvSpPr>
          <p:cNvPr id="32" name="矩形 31">
            <a:extLst>
              <a:ext uri="{FF2B5EF4-FFF2-40B4-BE49-F238E27FC236}">
                <a16:creationId xmlns:a16="http://schemas.microsoft.com/office/drawing/2014/main" id="{0E0E0344-7706-27BE-DBD1-6FA3A4E5ED24}"/>
              </a:ext>
            </a:extLst>
          </p:cNvPr>
          <p:cNvSpPr/>
          <p:nvPr/>
        </p:nvSpPr>
        <p:spPr>
          <a:xfrm>
            <a:off x="7189871" y="5050305"/>
            <a:ext cx="164707" cy="149588"/>
          </a:xfrm>
          <a:prstGeom prst="rect">
            <a:avLst/>
          </a:prstGeom>
          <a:noFill/>
          <a:ln w="28575">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200" dirty="0"/>
          </a:p>
        </p:txBody>
      </p:sp>
      <p:sp>
        <p:nvSpPr>
          <p:cNvPr id="33" name="矩形 32">
            <a:extLst>
              <a:ext uri="{FF2B5EF4-FFF2-40B4-BE49-F238E27FC236}">
                <a16:creationId xmlns:a16="http://schemas.microsoft.com/office/drawing/2014/main" id="{4D91A211-6770-B36A-7E1C-58CD149ADDFF}"/>
              </a:ext>
            </a:extLst>
          </p:cNvPr>
          <p:cNvSpPr/>
          <p:nvPr/>
        </p:nvSpPr>
        <p:spPr>
          <a:xfrm>
            <a:off x="7586746" y="5050305"/>
            <a:ext cx="164707" cy="149588"/>
          </a:xfrm>
          <a:prstGeom prst="rect">
            <a:avLst/>
          </a:prstGeom>
          <a:noFill/>
          <a:ln w="28575">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200" dirty="0"/>
          </a:p>
        </p:txBody>
      </p:sp>
      <p:sp>
        <p:nvSpPr>
          <p:cNvPr id="34" name="矩形 33">
            <a:extLst>
              <a:ext uri="{FF2B5EF4-FFF2-40B4-BE49-F238E27FC236}">
                <a16:creationId xmlns:a16="http://schemas.microsoft.com/office/drawing/2014/main" id="{1A8BB1AD-5D2F-8E80-56D5-F3EE0C044AEF}"/>
              </a:ext>
            </a:extLst>
          </p:cNvPr>
          <p:cNvSpPr/>
          <p:nvPr/>
        </p:nvSpPr>
        <p:spPr>
          <a:xfrm>
            <a:off x="7184886" y="5424003"/>
            <a:ext cx="164707" cy="149588"/>
          </a:xfrm>
          <a:prstGeom prst="rect">
            <a:avLst/>
          </a:prstGeom>
          <a:noFill/>
          <a:ln w="28575">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200" dirty="0"/>
          </a:p>
        </p:txBody>
      </p:sp>
      <p:sp>
        <p:nvSpPr>
          <p:cNvPr id="35" name="矩形 34">
            <a:extLst>
              <a:ext uri="{FF2B5EF4-FFF2-40B4-BE49-F238E27FC236}">
                <a16:creationId xmlns:a16="http://schemas.microsoft.com/office/drawing/2014/main" id="{DFB4A4AC-A11A-CB71-928E-9F22EDEA6812}"/>
              </a:ext>
            </a:extLst>
          </p:cNvPr>
          <p:cNvSpPr/>
          <p:nvPr/>
        </p:nvSpPr>
        <p:spPr>
          <a:xfrm>
            <a:off x="7586745" y="5424003"/>
            <a:ext cx="164707" cy="149588"/>
          </a:xfrm>
          <a:prstGeom prst="rect">
            <a:avLst/>
          </a:prstGeom>
          <a:noFill/>
          <a:ln w="28575">
            <a:solidFill>
              <a:srgbClr val="7030A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200" dirty="0"/>
          </a:p>
        </p:txBody>
      </p:sp>
      <p:sp>
        <p:nvSpPr>
          <p:cNvPr id="21" name="文本框 20">
            <a:extLst>
              <a:ext uri="{FF2B5EF4-FFF2-40B4-BE49-F238E27FC236}">
                <a16:creationId xmlns:a16="http://schemas.microsoft.com/office/drawing/2014/main" id="{773D7B98-93FA-2E57-A1D4-A4B3ED56D53D}"/>
              </a:ext>
            </a:extLst>
          </p:cNvPr>
          <p:cNvSpPr txBox="1"/>
          <p:nvPr/>
        </p:nvSpPr>
        <p:spPr>
          <a:xfrm>
            <a:off x="736691" y="4121605"/>
            <a:ext cx="5225959" cy="1631216"/>
          </a:xfrm>
          <a:prstGeom prst="rect">
            <a:avLst/>
          </a:prstGeom>
          <a:noFill/>
        </p:spPr>
        <p:txBody>
          <a:bodyPr wrap="square">
            <a:spAutoFit/>
          </a:bodyPr>
          <a:lstStyle/>
          <a:p>
            <a:pPr marL="285750" indent="-285750">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步长：在进行卷积操作时，通常</a:t>
            </a:r>
            <a:r>
              <a:rPr lang="zh-CN" altLang="en-US" sz="2000" dirty="0">
                <a:solidFill>
                  <a:schemeClr val="accent2"/>
                </a:solidFill>
                <a:latin typeface="微软雅黑" panose="020B0503020204020204" pitchFamily="34" charset="-122"/>
                <a:ea typeface="微软雅黑" panose="020B0503020204020204" pitchFamily="34" charset="-122"/>
              </a:rPr>
              <a:t>希望被卷积所得的图像分辨率与卷积前的图像分辨率相比逐渐减少</a:t>
            </a:r>
            <a:r>
              <a:rPr lang="zh-CN" altLang="en-US" sz="2000" dirty="0">
                <a:latin typeface="微软雅黑" panose="020B0503020204020204" pitchFamily="34" charset="-122"/>
                <a:ea typeface="微软雅黑" panose="020B0503020204020204" pitchFamily="34" charset="-122"/>
              </a:rPr>
              <a:t>，即图像被约减。步长方法通过改变卷积核在被卷积图像中移动步长的大小来跳过一些像素，进行卷积滤波。</a:t>
            </a:r>
            <a:endParaRPr lang="zh-CN"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987441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76260" y="1019154"/>
            <a:ext cx="8984139" cy="486978"/>
            <a:chOff x="2051286" y="2830809"/>
            <a:chExt cx="4861094" cy="486978"/>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051286" y="2830809"/>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3345670" y="2849787"/>
              <a:ext cx="3566710" cy="400110"/>
            </a:xfrm>
            <a:prstGeom prst="rect">
              <a:avLst/>
            </a:prstGeom>
          </p:spPr>
          <p:txBody>
            <a:bodyPr wrap="square">
              <a:spAutoFit/>
            </a:bodyPr>
            <a:lstStyle/>
            <a:p>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卷积神经网络：卷积算子特点</a:t>
              </a:r>
            </a:p>
          </p:txBody>
        </p:sp>
      </p:grpSp>
      <p:sp>
        <p:nvSpPr>
          <p:cNvPr id="12" name="矩形 11">
            <a:extLst>
              <a:ext uri="{FF2B5EF4-FFF2-40B4-BE49-F238E27FC236}">
                <a16:creationId xmlns:a16="http://schemas.microsoft.com/office/drawing/2014/main" id="{5E3A4826-C45A-4929-A41E-665945622565}"/>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二、卷积神经网络</a:t>
            </a:r>
            <a:endParaRPr lang="zh-CN" altLang="en-US" sz="1600" dirty="0"/>
          </a:p>
        </p:txBody>
      </p:sp>
      <p:sp>
        <p:nvSpPr>
          <p:cNvPr id="10" name="矩形: 圆角 6">
            <a:extLst>
              <a:ext uri="{FF2B5EF4-FFF2-40B4-BE49-F238E27FC236}">
                <a16:creationId xmlns:a16="http://schemas.microsoft.com/office/drawing/2014/main" id="{0A0F837F-DB52-4587-AC1C-BF6047722A5A}"/>
              </a:ext>
            </a:extLst>
          </p:cNvPr>
          <p:cNvSpPr/>
          <p:nvPr/>
        </p:nvSpPr>
        <p:spPr>
          <a:xfrm>
            <a:off x="852473" y="1777220"/>
            <a:ext cx="10341037" cy="4391676"/>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B56ED1AE-B43C-4973-8650-C5681FF48D6B}"/>
                  </a:ext>
                </a:extLst>
              </p:cNvPr>
              <p:cNvSpPr/>
              <p:nvPr/>
            </p:nvSpPr>
            <p:spPr>
              <a:xfrm>
                <a:off x="852473" y="1777220"/>
                <a:ext cx="10178375" cy="3421834"/>
              </a:xfrm>
              <a:prstGeom prst="rect">
                <a:avLst/>
              </a:prstGeom>
            </p:spPr>
            <p:txBody>
              <a:bodyPr wrap="square">
                <a:spAutoFit/>
              </a:bodyPr>
              <a:lstStyle/>
              <a:p>
                <a:pPr marL="342900" indent="-342900">
                  <a:lnSpc>
                    <a:spcPct val="150000"/>
                  </a:lnSpc>
                  <a:buClr>
                    <a:schemeClr val="bg1"/>
                  </a:buClr>
                  <a:buSzPct val="80000"/>
                  <a:buFont typeface="Wingdings" panose="05000000000000000000" pitchFamily="2" charset="2"/>
                  <a:buChar char="u"/>
                </a:pPr>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选择性感受野：</a:t>
                </a:r>
                <a:r>
                  <a:rPr lang="zh-CN"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神经科学家发现，</a:t>
                </a:r>
                <a:r>
                  <a:rPr lang="zh-CN" altLang="zh-CN" sz="1400"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人的视觉神经细胞对不同的视觉模式具有特征选择性（</a:t>
                </a:r>
                <a:r>
                  <a:rPr lang="en-US" altLang="zh-CN" sz="1400"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Feature Selectivity</a:t>
                </a:r>
                <a:r>
                  <a:rPr lang="zh-CN" altLang="zh-CN" sz="1400"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即不同视觉神经细胞对边界、运动和颜色等不同信息具有强弱不同的选择性。因此，不同卷积核可被用来刻画视觉神经细胞对外界信息感受时的不同选择性</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，每次所选择的</a:t>
                </a:r>
                <a:r>
                  <a:rPr lang="zh-CN"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该区域被称为</a:t>
                </a:r>
                <a:r>
                  <a:rPr lang="zh-CN" altLang="zh-CN" sz="1400"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感受野（</a:t>
                </a:r>
                <a:r>
                  <a:rPr lang="en-US" altLang="zh-CN" sz="1400"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receptive field</a:t>
                </a:r>
                <a:r>
                  <a:rPr lang="zh-CN" altLang="zh-CN" sz="1400"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zh-CN" altLang="zh-CN"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局部感知、参数共享</a:t>
                </a:r>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值得注意的是，卷积操作是一个线性变换（线性加权累加），但是卷积操作中的权重参数可学习、可被重复使用，从而更适合数据中蕴含的实际空间模式且减少了参数总数，这种</a:t>
                </a:r>
                <a:r>
                  <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局部感知、参数共享</a:t>
                </a:r>
                <a:r>
                  <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的特点减少了网络参数，一定程度地防止过拟合。</a:t>
                </a:r>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下采样约减抽象：</a:t>
                </a:r>
                <a:r>
                  <a:rPr lang="zh-CN"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假设被卷积图像大小为</a:t>
                </a:r>
                <a14:m>
                  <m:oMath xmlns:m="http://schemas.openxmlformats.org/officeDocument/2006/math">
                    <m:r>
                      <a:rPr lang="en-US" altLang="zh-CN" sz="1400" b="1">
                        <a:solidFill>
                          <a:schemeClr val="bg1"/>
                        </a:solidFill>
                        <a:effectLst>
                          <a:outerShdw blurRad="38100" dist="38100" dir="2700000" algn="tl">
                            <a:srgbClr val="000000">
                              <a:alpha val="43137"/>
                            </a:srgbClr>
                          </a:outerShdw>
                        </a:effectLst>
                        <a:latin typeface="Cambria Math" panose="02040503050406030204" pitchFamily="18" charset="0"/>
                      </a:rPr>
                      <m:t>𝑤</m:t>
                    </m:r>
                    <m:r>
                      <a:rPr lang="en-US" altLang="zh-CN" sz="1400" b="1">
                        <a:solidFill>
                          <a:schemeClr val="bg1"/>
                        </a:solidFill>
                        <a:effectLst>
                          <a:outerShdw blurRad="38100" dist="38100" dir="2700000" algn="tl">
                            <a:srgbClr val="000000">
                              <a:alpha val="43137"/>
                            </a:srgbClr>
                          </a:outerShdw>
                        </a:effectLst>
                        <a:latin typeface="Cambria Math" panose="02040503050406030204" pitchFamily="18" charset="0"/>
                      </a:rPr>
                      <m:t>×</m:t>
                    </m:r>
                    <m:r>
                      <a:rPr lang="en-US" altLang="zh-CN" sz="1400" b="1">
                        <a:solidFill>
                          <a:schemeClr val="bg1"/>
                        </a:solidFill>
                        <a:effectLst>
                          <a:outerShdw blurRad="38100" dist="38100" dir="2700000" algn="tl">
                            <a:srgbClr val="000000">
                              <a:alpha val="43137"/>
                            </a:srgbClr>
                          </a:outerShdw>
                        </a:effectLst>
                        <a:latin typeface="Cambria Math" panose="02040503050406030204" pitchFamily="18" charset="0"/>
                      </a:rPr>
                      <m:t>𝑤</m:t>
                    </m:r>
                  </m:oMath>
                </a14:m>
                <a:r>
                  <a:rPr lang="zh-CN"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、卷积核大小为</a:t>
                </a:r>
                <a14:m>
                  <m:oMath xmlns:m="http://schemas.openxmlformats.org/officeDocument/2006/math">
                    <m:r>
                      <a:rPr lang="en-US" altLang="zh-CN" sz="1400" b="1">
                        <a:solidFill>
                          <a:schemeClr val="bg1"/>
                        </a:solidFill>
                        <a:effectLst>
                          <a:outerShdw blurRad="38100" dist="38100" dir="2700000" algn="tl">
                            <a:srgbClr val="000000">
                              <a:alpha val="43137"/>
                            </a:srgbClr>
                          </a:outerShdw>
                        </a:effectLst>
                        <a:latin typeface="Cambria Math" panose="02040503050406030204" pitchFamily="18" charset="0"/>
                      </a:rPr>
                      <m:t>𝐹</m:t>
                    </m:r>
                    <m:r>
                      <a:rPr lang="en-US" altLang="zh-CN" sz="1400" b="1">
                        <a:solidFill>
                          <a:schemeClr val="bg1"/>
                        </a:solidFill>
                        <a:effectLst>
                          <a:outerShdw blurRad="38100" dist="38100" dir="2700000" algn="tl">
                            <a:srgbClr val="000000">
                              <a:alpha val="43137"/>
                            </a:srgbClr>
                          </a:outerShdw>
                        </a:effectLst>
                        <a:latin typeface="Cambria Math" panose="02040503050406030204" pitchFamily="18" charset="0"/>
                      </a:rPr>
                      <m:t>×</m:t>
                    </m:r>
                    <m:r>
                      <a:rPr lang="en-US" altLang="zh-CN" sz="1400" b="1">
                        <a:solidFill>
                          <a:schemeClr val="bg1"/>
                        </a:solidFill>
                        <a:effectLst>
                          <a:outerShdw blurRad="38100" dist="38100" dir="2700000" algn="tl">
                            <a:srgbClr val="000000">
                              <a:alpha val="43137"/>
                            </a:srgbClr>
                          </a:outerShdw>
                        </a:effectLst>
                        <a:latin typeface="Cambria Math" panose="02040503050406030204" pitchFamily="18" charset="0"/>
                      </a:rPr>
                      <m:t>𝐹</m:t>
                    </m:r>
                  </m:oMath>
                </a14:m>
                <a:r>
                  <a:rPr lang="zh-CN"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、上下左右四个边缘填充像素行</a:t>
                </a:r>
                <a:r>
                  <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列数为</a:t>
                </a:r>
                <a14:m>
                  <m:oMath xmlns:m="http://schemas.openxmlformats.org/officeDocument/2006/math">
                    <m:r>
                      <m:rPr>
                        <m:sty m:val="p"/>
                      </m:rPr>
                      <a:rPr lang="en-US" altLang="zh-CN" sz="1400" b="1">
                        <a:solidFill>
                          <a:schemeClr val="bg1"/>
                        </a:solidFill>
                        <a:effectLst>
                          <a:outerShdw blurRad="38100" dist="38100" dir="2700000" algn="tl">
                            <a:srgbClr val="000000">
                              <a:alpha val="43137"/>
                            </a:srgbClr>
                          </a:outerShdw>
                        </a:effectLst>
                        <a:latin typeface="Cambria Math" panose="02040503050406030204" pitchFamily="18" charset="0"/>
                      </a:rPr>
                      <m:t>P</m:t>
                    </m:r>
                    <m:r>
                      <a:rPr lang="en-US" altLang="zh-CN" sz="1400" b="1">
                        <a:solidFill>
                          <a:schemeClr val="bg1"/>
                        </a:solidFill>
                        <a:effectLst>
                          <a:outerShdw blurRad="38100" dist="38100" dir="2700000" algn="tl">
                            <a:srgbClr val="000000">
                              <a:alpha val="43137"/>
                            </a:srgbClr>
                          </a:outerShdw>
                        </a:effectLst>
                        <a:latin typeface="Cambria Math" panose="02040503050406030204" pitchFamily="18" charset="0"/>
                      </a:rPr>
                      <m:t>=</m:t>
                    </m:r>
                    <m:d>
                      <m:dPr>
                        <m:begChr m:val="["/>
                        <m:endChr m:val="]"/>
                        <m:ctrlPr>
                          <a:rPr lang="en-US" altLang="zh-CN" sz="1400" b="1" i="1" smtClean="0">
                            <a:solidFill>
                              <a:schemeClr val="bg1"/>
                            </a:solidFill>
                            <a:effectLst>
                              <a:outerShdw blurRad="38100" dist="38100" dir="2700000" algn="tl">
                                <a:srgbClr val="000000">
                                  <a:alpha val="43137"/>
                                </a:srgbClr>
                              </a:outerShdw>
                            </a:effectLst>
                            <a:latin typeface="Cambria Math" panose="02040503050406030204" pitchFamily="18" charset="0"/>
                          </a:rPr>
                        </m:ctrlPr>
                      </m:dPr>
                      <m:e>
                        <m:r>
                          <a:rPr lang="en-US" altLang="zh-CN" sz="1400" b="1">
                            <a:solidFill>
                              <a:schemeClr val="bg1"/>
                            </a:solidFill>
                            <a:effectLst>
                              <a:outerShdw blurRad="38100" dist="38100" dir="2700000" algn="tl">
                                <a:srgbClr val="000000">
                                  <a:alpha val="43137"/>
                                </a:srgbClr>
                              </a:outerShdw>
                            </a:effectLst>
                            <a:latin typeface="Cambria Math" panose="02040503050406030204" pitchFamily="18" charset="0"/>
                          </a:rPr>
                          <m:t>𝐹</m:t>
                        </m:r>
                        <m:r>
                          <a:rPr lang="en-US" altLang="zh-CN" sz="1400" b="1">
                            <a:solidFill>
                              <a:schemeClr val="bg1"/>
                            </a:solidFill>
                            <a:effectLst>
                              <a:outerShdw blurRad="38100" dist="38100" dir="2700000" algn="tl">
                                <a:srgbClr val="000000">
                                  <a:alpha val="43137"/>
                                </a:srgbClr>
                              </a:outerShdw>
                            </a:effectLst>
                            <a:latin typeface="Cambria Math" panose="02040503050406030204" pitchFamily="18" charset="0"/>
                          </a:rPr>
                          <m:t>/2</m:t>
                        </m:r>
                      </m:e>
                    </m:d>
                  </m:oMath>
                </a14:m>
                <a:r>
                  <a:rPr lang="zh-CN"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、步长为</a:t>
                </a:r>
                <a14:m>
                  <m:oMath xmlns:m="http://schemas.openxmlformats.org/officeDocument/2006/math">
                    <m:r>
                      <a:rPr lang="en-US" altLang="zh-CN" sz="1400" b="1">
                        <a:solidFill>
                          <a:schemeClr val="bg1"/>
                        </a:solidFill>
                        <a:effectLst>
                          <a:outerShdw blurRad="38100" dist="38100" dir="2700000" algn="tl">
                            <a:srgbClr val="000000">
                              <a:alpha val="43137"/>
                            </a:srgbClr>
                          </a:outerShdw>
                        </a:effectLst>
                        <a:latin typeface="Cambria Math" panose="02040503050406030204" pitchFamily="18" charset="0"/>
                      </a:rPr>
                      <m:t>𝑆</m:t>
                    </m:r>
                  </m:oMath>
                </a14:m>
                <a:r>
                  <a:rPr lang="zh-CN"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，则</a:t>
                </a:r>
                <a:r>
                  <a:rPr lang="zh-CN" altLang="zh-CN" sz="1400"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被卷积结果的分辨率是</a:t>
                </a:r>
                <a14:m>
                  <m:oMath xmlns:m="http://schemas.openxmlformats.org/officeDocument/2006/math">
                    <m:f>
                      <m:fPr>
                        <m:ctrlPr>
                          <a:rPr lang="zh-CN" altLang="zh-CN" sz="1400" b="1" i="1">
                            <a:solidFill>
                              <a:schemeClr val="accent2"/>
                            </a:solidFill>
                            <a:effectLst>
                              <a:outerShdw blurRad="38100" dist="38100" dir="2700000" algn="tl">
                                <a:srgbClr val="000000">
                                  <a:alpha val="43137"/>
                                </a:srgbClr>
                              </a:outerShdw>
                            </a:effectLst>
                            <a:latin typeface="Cambria Math" panose="02040503050406030204" pitchFamily="18" charset="0"/>
                          </a:rPr>
                        </m:ctrlPr>
                      </m:fPr>
                      <m:num>
                        <m:r>
                          <a:rPr lang="en-US" altLang="zh-CN" sz="1400" b="1">
                            <a:solidFill>
                              <a:schemeClr val="accent2"/>
                            </a:solidFill>
                            <a:effectLst>
                              <a:outerShdw blurRad="38100" dist="38100" dir="2700000" algn="tl">
                                <a:srgbClr val="000000">
                                  <a:alpha val="43137"/>
                                </a:srgbClr>
                              </a:outerShdw>
                            </a:effectLst>
                            <a:latin typeface="Cambria Math" panose="02040503050406030204" pitchFamily="18" charset="0"/>
                          </a:rPr>
                          <m:t>𝑊</m:t>
                        </m:r>
                        <m:r>
                          <a:rPr lang="en-US" altLang="zh-CN" sz="1400" b="1">
                            <a:solidFill>
                              <a:schemeClr val="accent2"/>
                            </a:solidFill>
                            <a:effectLst>
                              <a:outerShdw blurRad="38100" dist="38100" dir="2700000" algn="tl">
                                <a:srgbClr val="000000">
                                  <a:alpha val="43137"/>
                                </a:srgbClr>
                              </a:outerShdw>
                            </a:effectLst>
                            <a:latin typeface="Cambria Math" panose="02040503050406030204" pitchFamily="18" charset="0"/>
                          </a:rPr>
                          <m:t>−</m:t>
                        </m:r>
                        <m:r>
                          <a:rPr lang="en-US" altLang="zh-CN" sz="1400" b="1">
                            <a:solidFill>
                              <a:schemeClr val="accent2"/>
                            </a:solidFill>
                            <a:effectLst>
                              <a:outerShdw blurRad="38100" dist="38100" dir="2700000" algn="tl">
                                <a:srgbClr val="000000">
                                  <a:alpha val="43137"/>
                                </a:srgbClr>
                              </a:outerShdw>
                            </a:effectLst>
                            <a:latin typeface="Cambria Math" panose="02040503050406030204" pitchFamily="18" charset="0"/>
                          </a:rPr>
                          <m:t>𝐹</m:t>
                        </m:r>
                        <m:r>
                          <a:rPr lang="en-US" altLang="zh-CN" sz="1400" b="1">
                            <a:solidFill>
                              <a:schemeClr val="accent2"/>
                            </a:solidFill>
                            <a:effectLst>
                              <a:outerShdw blurRad="38100" dist="38100" dir="2700000" algn="tl">
                                <a:srgbClr val="000000">
                                  <a:alpha val="43137"/>
                                </a:srgbClr>
                              </a:outerShdw>
                            </a:effectLst>
                            <a:latin typeface="Cambria Math" panose="02040503050406030204" pitchFamily="18" charset="0"/>
                          </a:rPr>
                          <m:t>+2</m:t>
                        </m:r>
                        <m:r>
                          <a:rPr lang="en-US" altLang="zh-CN" sz="1400" b="1">
                            <a:solidFill>
                              <a:schemeClr val="accent2"/>
                            </a:solidFill>
                            <a:effectLst>
                              <a:outerShdw blurRad="38100" dist="38100" dir="2700000" algn="tl">
                                <a:srgbClr val="000000">
                                  <a:alpha val="43137"/>
                                </a:srgbClr>
                              </a:outerShdw>
                            </a:effectLst>
                            <a:latin typeface="Cambria Math" panose="02040503050406030204" pitchFamily="18" charset="0"/>
                          </a:rPr>
                          <m:t>𝑃</m:t>
                        </m:r>
                      </m:num>
                      <m:den>
                        <m:r>
                          <a:rPr lang="en-US" altLang="zh-CN" sz="1400" b="1">
                            <a:solidFill>
                              <a:schemeClr val="accent2"/>
                            </a:solidFill>
                            <a:effectLst>
                              <a:outerShdw blurRad="38100" dist="38100" dir="2700000" algn="tl">
                                <a:srgbClr val="000000">
                                  <a:alpha val="43137"/>
                                </a:srgbClr>
                              </a:outerShdw>
                            </a:effectLst>
                            <a:latin typeface="Cambria Math" panose="02040503050406030204" pitchFamily="18" charset="0"/>
                          </a:rPr>
                          <m:t>𝑆</m:t>
                        </m:r>
                      </m:den>
                    </m:f>
                    <m:r>
                      <a:rPr lang="en-US" altLang="zh-CN" sz="1400" b="1">
                        <a:solidFill>
                          <a:schemeClr val="accent2"/>
                        </a:solidFill>
                        <a:effectLst>
                          <a:outerShdw blurRad="38100" dist="38100" dir="2700000" algn="tl">
                            <a:srgbClr val="000000">
                              <a:alpha val="43137"/>
                            </a:srgbClr>
                          </a:outerShdw>
                        </a:effectLst>
                        <a:latin typeface="Cambria Math" panose="02040503050406030204" pitchFamily="18" charset="0"/>
                      </a:rPr>
                      <m:t>+1</m:t>
                    </m:r>
                  </m:oMath>
                </a14:m>
                <a:r>
                  <a:rPr lang="zh-CN"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p>
            </p:txBody>
          </p:sp>
        </mc:Choice>
        <mc:Fallback xmlns="">
          <p:sp>
            <p:nvSpPr>
              <p:cNvPr id="11" name="矩形 10">
                <a:extLst>
                  <a:ext uri="{FF2B5EF4-FFF2-40B4-BE49-F238E27FC236}">
                    <a16:creationId xmlns:a16="http://schemas.microsoft.com/office/drawing/2014/main" id="{B56ED1AE-B43C-4973-8650-C5681FF48D6B}"/>
                  </a:ext>
                </a:extLst>
              </p:cNvPr>
              <p:cNvSpPr>
                <a:spLocks noRot="1" noChangeAspect="1" noMove="1" noResize="1" noEditPoints="1" noAdjustHandles="1" noChangeArrowheads="1" noChangeShapeType="1" noTextEdit="1"/>
              </p:cNvSpPr>
              <p:nvPr/>
            </p:nvSpPr>
            <p:spPr>
              <a:xfrm>
                <a:off x="852473" y="1777220"/>
                <a:ext cx="10178375" cy="3421834"/>
              </a:xfrm>
              <a:prstGeom prst="rect">
                <a:avLst/>
              </a:prstGeom>
              <a:blipFill>
                <a:blip r:embed="rId3"/>
                <a:stretch>
                  <a:fillRect r="-2096" b="-1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156263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76260" y="1019154"/>
            <a:ext cx="8984139" cy="486978"/>
            <a:chOff x="2051286" y="2830809"/>
            <a:chExt cx="4861094" cy="486978"/>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051286" y="2830809"/>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3345670" y="2849787"/>
              <a:ext cx="3566710" cy="400110"/>
            </a:xfrm>
            <a:prstGeom prst="rect">
              <a:avLst/>
            </a:prstGeom>
          </p:spPr>
          <p:txBody>
            <a:bodyPr wrap="square">
              <a:spAutoFit/>
            </a:bodyPr>
            <a:lstStyle/>
            <a:p>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卷积神经网络：池化</a:t>
              </a:r>
            </a:p>
          </p:txBody>
        </p:sp>
      </p:grpSp>
      <p:sp>
        <p:nvSpPr>
          <p:cNvPr id="12" name="矩形 11">
            <a:extLst>
              <a:ext uri="{FF2B5EF4-FFF2-40B4-BE49-F238E27FC236}">
                <a16:creationId xmlns:a16="http://schemas.microsoft.com/office/drawing/2014/main" id="{5E3A4826-C45A-4929-A41E-665945622565}"/>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二、卷积神经网络</a:t>
            </a:r>
            <a:endParaRPr lang="zh-CN" altLang="en-US" sz="1600" dirty="0"/>
          </a:p>
        </p:txBody>
      </p:sp>
      <p:sp>
        <p:nvSpPr>
          <p:cNvPr id="9" name="矩形: 圆角 6">
            <a:extLst>
              <a:ext uri="{FF2B5EF4-FFF2-40B4-BE49-F238E27FC236}">
                <a16:creationId xmlns:a16="http://schemas.microsoft.com/office/drawing/2014/main" id="{6F776722-C998-4B5A-8FC9-32D8E8B156B0}"/>
              </a:ext>
            </a:extLst>
          </p:cNvPr>
          <p:cNvSpPr/>
          <p:nvPr/>
        </p:nvSpPr>
        <p:spPr>
          <a:xfrm>
            <a:off x="852473" y="1623171"/>
            <a:ext cx="5515502" cy="3671666"/>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7F94A04E-0008-446A-80AA-02438CDD86A3}"/>
              </a:ext>
            </a:extLst>
          </p:cNvPr>
          <p:cNvSpPr/>
          <p:nvPr/>
        </p:nvSpPr>
        <p:spPr>
          <a:xfrm>
            <a:off x="1034869" y="1871701"/>
            <a:ext cx="5102850" cy="3285323"/>
          </a:xfrm>
          <a:prstGeom prst="rect">
            <a:avLst/>
          </a:prstGeom>
        </p:spPr>
        <p:txBody>
          <a:bodyPr wrap="square">
            <a:spAutoFit/>
          </a:bodyPr>
          <a:lstStyle/>
          <a:p>
            <a:pPr marL="342900" indent="-342900">
              <a:lnSpc>
                <a:spcPct val="150000"/>
              </a:lnSpc>
              <a:buClr>
                <a:schemeClr val="bg1"/>
              </a:buClr>
              <a:buSzPct val="80000"/>
              <a:buFont typeface="Wingdings" panose="05000000000000000000" pitchFamily="2" charset="2"/>
              <a:buChar char="u"/>
            </a:pPr>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最大池化（</a:t>
            </a:r>
            <a:r>
              <a:rPr lang="en-US" altLang="zh-CN"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max pooling</a:t>
            </a:r>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：从输入特征图的某个区域子块中选择值最大的像素点作为最大池化结果（见图</a:t>
            </a:r>
            <a:r>
              <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5.12</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平均池化（</a:t>
            </a:r>
            <a:r>
              <a:rPr lang="en-US" altLang="zh-CN"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average pooling</a:t>
            </a:r>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计算区域子块所包含所有像素点的均值，将均值作为平均池化结果。</a:t>
            </a:r>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en-US" altLang="zh-CN"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k-max</a:t>
            </a:r>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池化（</a:t>
            </a:r>
            <a:r>
              <a:rPr lang="en-US" altLang="zh-CN"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k-max pooling</a:t>
            </a:r>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：对输入特征图区域子块中的像素点取前</a:t>
            </a:r>
            <a:r>
              <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个最大值。如图</a:t>
            </a:r>
            <a:r>
              <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5.13</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所示，从包含</a:t>
            </a:r>
            <a:r>
              <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个取值的每一列中选取前</a:t>
            </a:r>
            <a:r>
              <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个最大值就得到了</a:t>
            </a:r>
            <a:r>
              <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k-max</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池化结果。</a:t>
            </a:r>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6" name="图片 5">
            <a:extLst>
              <a:ext uri="{FF2B5EF4-FFF2-40B4-BE49-F238E27FC236}">
                <a16:creationId xmlns:a16="http://schemas.microsoft.com/office/drawing/2014/main" id="{63B4447A-FD09-4DC3-BCF5-4B2181952D5E}"/>
              </a:ext>
            </a:extLst>
          </p:cNvPr>
          <p:cNvPicPr>
            <a:picLocks noChangeAspect="1"/>
          </p:cNvPicPr>
          <p:nvPr/>
        </p:nvPicPr>
        <p:blipFill>
          <a:blip r:embed="rId3"/>
          <a:stretch>
            <a:fillRect/>
          </a:stretch>
        </p:blipFill>
        <p:spPr>
          <a:xfrm>
            <a:off x="7085875" y="1623171"/>
            <a:ext cx="3018254" cy="4249912"/>
          </a:xfrm>
          <a:prstGeom prst="rect">
            <a:avLst/>
          </a:prstGeom>
        </p:spPr>
      </p:pic>
      <p:sp>
        <p:nvSpPr>
          <p:cNvPr id="11" name="文本框 10">
            <a:extLst>
              <a:ext uri="{FF2B5EF4-FFF2-40B4-BE49-F238E27FC236}">
                <a16:creationId xmlns:a16="http://schemas.microsoft.com/office/drawing/2014/main" id="{886F7AAD-2CA7-D2EA-0115-E2CDA07400BA}"/>
              </a:ext>
            </a:extLst>
          </p:cNvPr>
          <p:cNvSpPr txBox="1"/>
          <p:nvPr/>
        </p:nvSpPr>
        <p:spPr>
          <a:xfrm>
            <a:off x="730553" y="5388162"/>
            <a:ext cx="6959116" cy="1169551"/>
          </a:xfrm>
          <a:prstGeom prst="rect">
            <a:avLst/>
          </a:prstGeom>
          <a:noFill/>
        </p:spPr>
        <p:txBody>
          <a:bodyPr wrap="square">
            <a:spAutoFit/>
          </a:bodyPr>
          <a:lstStyle/>
          <a:p>
            <a:r>
              <a:rPr lang="zh-CN" altLang="en-US" sz="1400" dirty="0"/>
              <a:t>在卷积神经网络中，池化层的主要作用是‌通过下采样操作降低特征图的空间尺寸，</a:t>
            </a:r>
            <a:r>
              <a:rPr lang="zh-CN" altLang="en-US" sz="1400" dirty="0">
                <a:solidFill>
                  <a:schemeClr val="accent2"/>
                </a:solidFill>
              </a:rPr>
              <a:t>减少计算量和内存消耗，防止模型过拟合，并增强模型对输入数据平移变化的鲁棒性</a:t>
            </a:r>
            <a:r>
              <a:rPr lang="zh-CN" altLang="en-US" sz="1400" dirty="0"/>
              <a:t>‌，从而提升整体性能和泛化能力。‌‌</a:t>
            </a:r>
          </a:p>
          <a:p>
            <a:r>
              <a:rPr lang="zh-CN" altLang="en-US" sz="1400" dirty="0"/>
              <a:t>池化层（</a:t>
            </a:r>
            <a:r>
              <a:rPr lang="en-US" altLang="zh-CN" sz="1400" dirty="0"/>
              <a:t>Pooling Layer</a:t>
            </a:r>
            <a:r>
              <a:rPr lang="zh-CN" altLang="en-US" sz="1400" dirty="0"/>
              <a:t>）是卷积神经网络（</a:t>
            </a:r>
            <a:r>
              <a:rPr lang="en-US" altLang="zh-CN" sz="1400" dirty="0"/>
              <a:t>CNN</a:t>
            </a:r>
            <a:r>
              <a:rPr lang="zh-CN" altLang="en-US" sz="1400" dirty="0"/>
              <a:t>）中的关键组件，</a:t>
            </a:r>
            <a:r>
              <a:rPr lang="zh-CN" altLang="en-US" sz="1400" dirty="0">
                <a:solidFill>
                  <a:schemeClr val="accent2"/>
                </a:solidFill>
              </a:rPr>
              <a:t>通常位于卷积层之后</a:t>
            </a:r>
            <a:r>
              <a:rPr lang="zh-CN" altLang="en-US" sz="1400" dirty="0"/>
              <a:t>，通过聚合局部区域信息来优化特征表示。</a:t>
            </a:r>
          </a:p>
        </p:txBody>
      </p:sp>
    </p:spTree>
    <p:extLst>
      <p:ext uri="{BB962C8B-B14F-4D97-AF65-F5344CB8AC3E}">
        <p14:creationId xmlns:p14="http://schemas.microsoft.com/office/powerpoint/2010/main" val="4174888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76260" y="1019154"/>
            <a:ext cx="8984139" cy="486978"/>
            <a:chOff x="2051286" y="2830809"/>
            <a:chExt cx="4861094" cy="486978"/>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051286" y="2830809"/>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3830280" y="2849787"/>
              <a:ext cx="3082100" cy="400110"/>
            </a:xfrm>
            <a:prstGeom prst="rect">
              <a:avLst/>
            </a:prstGeom>
          </p:spPr>
          <p:txBody>
            <a:bodyPr wrap="square">
              <a:spAutoFit/>
            </a:bodyPr>
            <a:lstStyle/>
            <a:p>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卷积神经网络全貌</a:t>
              </a:r>
            </a:p>
          </p:txBody>
        </p:sp>
      </p:grpSp>
      <p:sp>
        <p:nvSpPr>
          <p:cNvPr id="12" name="矩形 11">
            <a:extLst>
              <a:ext uri="{FF2B5EF4-FFF2-40B4-BE49-F238E27FC236}">
                <a16:creationId xmlns:a16="http://schemas.microsoft.com/office/drawing/2014/main" id="{5E3A4826-C45A-4929-A41E-665945622565}"/>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二、卷积神经网络</a:t>
            </a:r>
            <a:endParaRPr lang="zh-CN" altLang="en-US" sz="1600" dirty="0"/>
          </a:p>
        </p:txBody>
      </p:sp>
      <p:pic>
        <p:nvPicPr>
          <p:cNvPr id="7" name="图片 6">
            <a:extLst>
              <a:ext uri="{FF2B5EF4-FFF2-40B4-BE49-F238E27FC236}">
                <a16:creationId xmlns:a16="http://schemas.microsoft.com/office/drawing/2014/main" id="{FFC596E6-AE1C-45D5-9D50-5F2ED93F0544}"/>
              </a:ext>
            </a:extLst>
          </p:cNvPr>
          <p:cNvPicPr>
            <a:picLocks noChangeAspect="1"/>
          </p:cNvPicPr>
          <p:nvPr/>
        </p:nvPicPr>
        <p:blipFill>
          <a:blip r:embed="rId3"/>
          <a:stretch>
            <a:fillRect/>
          </a:stretch>
        </p:blipFill>
        <p:spPr>
          <a:xfrm>
            <a:off x="2995391" y="1525110"/>
            <a:ext cx="5873850" cy="2362805"/>
          </a:xfrm>
          <a:prstGeom prst="rect">
            <a:avLst/>
          </a:prstGeom>
        </p:spPr>
      </p:pic>
      <p:sp>
        <p:nvSpPr>
          <p:cNvPr id="8" name="矩形 7">
            <a:extLst>
              <a:ext uri="{FF2B5EF4-FFF2-40B4-BE49-F238E27FC236}">
                <a16:creationId xmlns:a16="http://schemas.microsoft.com/office/drawing/2014/main" id="{C34C44F9-4C66-476A-9FA9-A65B0EB2B474}"/>
              </a:ext>
            </a:extLst>
          </p:cNvPr>
          <p:cNvSpPr/>
          <p:nvPr/>
        </p:nvSpPr>
        <p:spPr>
          <a:xfrm>
            <a:off x="801770" y="3687457"/>
            <a:ext cx="10968052" cy="2807756"/>
          </a:xfrm>
          <a:prstGeom prst="rect">
            <a:avLst/>
          </a:prstGeom>
        </p:spPr>
        <p:txBody>
          <a:bodyPr wrap="square">
            <a:spAutoFit/>
          </a:bodyPr>
          <a:lstStyle/>
          <a:p>
            <a:pPr marL="457200" indent="-457200">
              <a:lnSpc>
                <a:spcPct val="150000"/>
              </a:lnSpc>
              <a:buFont typeface="+mj-lt"/>
              <a:buAutoNum type="arabicPeriod"/>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输入：</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32 × 32 × 3</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的彩色图像</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nSpc>
                <a:spcPct val="150000"/>
              </a:lnSpc>
              <a:buFont typeface="+mj-lt"/>
              <a:buAutoNum type="arabicPeriod"/>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5 × 5 × 3</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的卷积核对其进行卷积操作（步长为</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，无填充），得到</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28 × 28</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的卷积结果（特征图）</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nSpc>
                <a:spcPct val="150000"/>
              </a:lnSpc>
              <a:buFont typeface="+mj-lt"/>
              <a:buAutoNum type="arabicPeriod"/>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以</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 × 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大小进行池化，得到</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14 × 14</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大小的特征图</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nSpc>
                <a:spcPct val="150000"/>
              </a:lnSpc>
              <a:buFont typeface="+mj-lt"/>
              <a:buAutoNum type="arabicPeriod"/>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最后通过若干个全连接层得到原始图像的向量表达，再对这个向量表达通过</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softmax</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函数进行分类识别，得到输入图像隶属于</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个类别的概率。</a:t>
            </a:r>
          </a:p>
        </p:txBody>
      </p:sp>
    </p:spTree>
    <p:extLst>
      <p:ext uri="{BB962C8B-B14F-4D97-AF65-F5344CB8AC3E}">
        <p14:creationId xmlns:p14="http://schemas.microsoft.com/office/powerpoint/2010/main" val="33873548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循环神经网络</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三、循环神经网络</a:t>
            </a:r>
            <a:endParaRPr lang="zh-CN" altLang="en-US" sz="1600" dirty="0">
              <a:solidFill>
                <a:srgbClr val="000000"/>
              </a:solidFill>
              <a:latin typeface="Times New Roman" panose="02020603050405020304" pitchFamily="18" charset="0"/>
            </a:endParaRPr>
          </a:p>
        </p:txBody>
      </p:sp>
      <p:sp>
        <p:nvSpPr>
          <p:cNvPr id="10" name="矩形 9">
            <a:extLst>
              <a:ext uri="{FF2B5EF4-FFF2-40B4-BE49-F238E27FC236}">
                <a16:creationId xmlns:a16="http://schemas.microsoft.com/office/drawing/2014/main" id="{2A61D4FC-2D70-4DF5-B8D9-C018F58A1BF9}"/>
              </a:ext>
            </a:extLst>
          </p:cNvPr>
          <p:cNvSpPr/>
          <p:nvPr/>
        </p:nvSpPr>
        <p:spPr>
          <a:xfrm>
            <a:off x="398585" y="1688993"/>
            <a:ext cx="6274191" cy="3477875"/>
          </a:xfrm>
          <a:prstGeom prst="rect">
            <a:avLst/>
          </a:prstGeom>
        </p:spPr>
        <p:txBody>
          <a:bodyPr wrap="square">
            <a:spAutoFit/>
          </a:bodyPr>
          <a:lstStyle/>
          <a:p>
            <a:pPr marL="285750" indent="-285750" algn="just">
              <a:lnSpc>
                <a:spcPts val="2200"/>
              </a:lnSpc>
              <a:spcAft>
                <a:spcPts val="0"/>
              </a:spcAft>
              <a:buFont typeface="Arial" panose="020B0604020202020204" pitchFamily="34" charset="0"/>
              <a:buChar char="•"/>
            </a:pPr>
            <a:r>
              <a:rPr lang="zh-CN"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前馈神经网络</a:t>
            </a:r>
            <a:r>
              <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a:t>
            </a:r>
            <a:r>
              <a:rPr lang="zh-CN"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卷积神经网络</a:t>
            </a:r>
            <a:r>
              <a:rPr lang="zh-CN" altLang="en-US"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的问题：</a:t>
            </a:r>
            <a:r>
              <a:rPr lang="zh-CN"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所需要处理的输入数据一次性给定，难以处理存在前后依赖关系的数据</a:t>
            </a:r>
            <a:endPar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ts val="2200"/>
              </a:lnSpc>
              <a:spcAft>
                <a:spcPts val="0"/>
              </a:spcAft>
              <a:buFont typeface="Arial" panose="020B0604020202020204" pitchFamily="34" charset="0"/>
              <a:buChar char="•"/>
            </a:pPr>
            <a:endPar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ts val="2200"/>
              </a:lnSpc>
              <a:spcAft>
                <a:spcPts val="0"/>
              </a:spcAft>
              <a:buFont typeface="Arial" panose="020B0604020202020204" pitchFamily="34" charset="0"/>
              <a:buChar char="•"/>
            </a:pPr>
            <a:r>
              <a:rPr lang="zh-CN"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循环神经网络（</a:t>
            </a: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Recurrent Neural Network, RNN</a:t>
            </a:r>
            <a:r>
              <a:rPr lang="zh-CN"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）是一类</a:t>
            </a:r>
            <a:r>
              <a:rPr lang="zh-CN"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处理序列数据</a:t>
            </a:r>
            <a:r>
              <a:rPr lang="zh-CN"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（如文本句子、视频帧等）时所采用的网络结构</a:t>
            </a:r>
            <a:endPar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ts val="2200"/>
              </a:lnSpc>
              <a:spcAft>
                <a:spcPts val="0"/>
              </a:spcAft>
              <a:buFont typeface="Arial" panose="020B0604020202020204" pitchFamily="34" charset="0"/>
              <a:buChar char="•"/>
            </a:pPr>
            <a:endPar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ts val="2200"/>
              </a:lnSpc>
              <a:spcAft>
                <a:spcPts val="0"/>
              </a:spcAft>
              <a:buFont typeface="Arial" panose="020B0604020202020204" pitchFamily="34" charset="0"/>
              <a:buChar char="•"/>
            </a:pP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1990</a:t>
            </a:r>
            <a:r>
              <a:rPr lang="zh-CN"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年，</a:t>
            </a:r>
            <a:r>
              <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Jeffrey </a:t>
            </a:r>
            <a:r>
              <a:rPr lang="en-US" altLang="zh-CN" sz="20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L.Elman</a:t>
            </a:r>
            <a:r>
              <a:rPr lang="zh-CN"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提出循环神经网络的最初概念框架，循环神经网络的本质是</a:t>
            </a:r>
            <a:r>
              <a:rPr lang="zh-CN"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希望模拟人所具有的记忆能力，在学习过程中记住部分已经出现的信息，并利用所记住的信息影响后续结点输出</a:t>
            </a:r>
            <a:endParaRPr lang="en-US" altLang="zh-CN" sz="2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1" name="图片 10">
            <a:extLst>
              <a:ext uri="{FF2B5EF4-FFF2-40B4-BE49-F238E27FC236}">
                <a16:creationId xmlns:a16="http://schemas.microsoft.com/office/drawing/2014/main" id="{1A8E6302-FC11-4F2C-9EB8-F046BC1312C8}"/>
              </a:ext>
            </a:extLst>
          </p:cNvPr>
          <p:cNvPicPr>
            <a:picLocks noChangeAspect="1"/>
          </p:cNvPicPr>
          <p:nvPr/>
        </p:nvPicPr>
        <p:blipFill>
          <a:blip r:embed="rId3"/>
          <a:stretch>
            <a:fillRect/>
          </a:stretch>
        </p:blipFill>
        <p:spPr>
          <a:xfrm>
            <a:off x="7151991" y="1911773"/>
            <a:ext cx="4321640" cy="2158479"/>
          </a:xfrm>
          <a:prstGeom prst="rect">
            <a:avLst/>
          </a:prstGeom>
        </p:spPr>
      </p:pic>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EA3AD86A-C198-4320-8F79-B8EDA28E4BBD}"/>
                  </a:ext>
                </a:extLst>
              </p:cNvPr>
              <p:cNvSpPr/>
              <p:nvPr/>
            </p:nvSpPr>
            <p:spPr>
              <a:xfrm>
                <a:off x="6804072" y="3976538"/>
                <a:ext cx="4811151" cy="954107"/>
              </a:xfrm>
              <a:prstGeom prst="rect">
                <a:avLst/>
              </a:prstGeom>
            </p:spPr>
            <p:txBody>
              <a:bodyPr wrap="square">
                <a:spAutoFit/>
              </a:bodyPr>
              <a:lstStyle/>
              <a:p>
                <a:pPr algn="ct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时刻</a:t>
                </a:r>
                <a14:m>
                  <m:oMath xmlns:m="http://schemas.openxmlformats.org/officeDocument/2006/math">
                    <m:r>
                      <a:rPr lang="en-US" altLang="zh-CN" sz="1400" i="1">
                        <a:latin typeface="Cambria Math" panose="02040503050406030204" pitchFamily="18" charset="0"/>
                        <a:ea typeface="Cambria Math" panose="02040503050406030204" pitchFamily="18" charset="0"/>
                        <a:cs typeface="Times New Roman" panose="02020603050405020304" pitchFamily="18" charset="0"/>
                      </a:rPr>
                      <m:t>𝑡</m:t>
                    </m:r>
                  </m:oMath>
                </a14:m>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所得到的隐式编码</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latin typeface="Cambria Math" panose="02040503050406030204" pitchFamily="18" charset="0"/>
                            <a:ea typeface="等线" panose="02010600030101010101" pitchFamily="2" charset="-122"/>
                            <a:cs typeface="Times New Roman" panose="02020603050405020304" pitchFamily="18" charset="0"/>
                          </a:rPr>
                          <m:t>h</m:t>
                        </m:r>
                      </m:e>
                      <m:sub>
                        <m:r>
                          <a:rPr lang="en-US" altLang="zh-CN" sz="1400" i="1">
                            <a:latin typeface="Cambria Math" panose="02040503050406030204" pitchFamily="18" charset="0"/>
                            <a:ea typeface="等线" panose="02010600030101010101" pitchFamily="2" charset="-122"/>
                            <a:cs typeface="Times New Roman" panose="02020603050405020304" pitchFamily="18" charset="0"/>
                          </a:rPr>
                          <m:t>𝑡</m:t>
                        </m:r>
                      </m:sub>
                    </m:sSub>
                  </m:oMath>
                </a14:m>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是由上一时刻隐式编码</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latin typeface="Cambria Math" panose="02040503050406030204" pitchFamily="18" charset="0"/>
                            <a:ea typeface="等线" panose="02010600030101010101" pitchFamily="2" charset="-122"/>
                            <a:cs typeface="Times New Roman" panose="02020603050405020304" pitchFamily="18" charset="0"/>
                          </a:rPr>
                          <m:t>h</m:t>
                        </m:r>
                      </m:e>
                      <m:sub>
                        <m:r>
                          <a:rPr lang="en-US" altLang="zh-CN" sz="1400" i="1">
                            <a:latin typeface="Cambria Math" panose="02040503050406030204" pitchFamily="18" charset="0"/>
                            <a:ea typeface="等线" panose="02010600030101010101" pitchFamily="2" charset="-122"/>
                            <a:cs typeface="Times New Roman" panose="02020603050405020304" pitchFamily="18" charset="0"/>
                          </a:rPr>
                          <m:t>𝑡</m:t>
                        </m:r>
                        <m:r>
                          <a:rPr lang="en-US" altLang="zh-CN" sz="1400" i="1">
                            <a:latin typeface="Cambria Math" panose="02040503050406030204" pitchFamily="18" charset="0"/>
                            <a:ea typeface="等线" panose="02010600030101010101" pitchFamily="2" charset="-122"/>
                            <a:cs typeface="Times New Roman" panose="02020603050405020304" pitchFamily="18" charset="0"/>
                          </a:rPr>
                          <m:t>−1</m:t>
                        </m:r>
                      </m:sub>
                    </m:sSub>
                  </m:oMath>
                </a14:m>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和当前输入</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400" i="1">
                            <a:latin typeface="Cambria Math" panose="02040503050406030204" pitchFamily="18" charset="0"/>
                            <a:ea typeface="等线" panose="02010600030101010101" pitchFamily="2" charset="-122"/>
                            <a:cs typeface="Times New Roman" panose="02020603050405020304" pitchFamily="18" charset="0"/>
                          </a:rPr>
                          <m:t>𝑡</m:t>
                        </m:r>
                      </m:sub>
                    </m:sSub>
                  </m:oMath>
                </a14:m>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共同参与生成的，这可认为隐式编码</a:t>
                </a:r>
                <a14:m>
                  <m:oMath xmlns:m="http://schemas.openxmlformats.org/officeDocument/2006/math">
                    <m:sSub>
                      <m:sSubPr>
                        <m:ctrlPr>
                          <a:rPr lang="zh-CN" altLang="zh-CN" sz="14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latin typeface="Cambria Math" panose="02040503050406030204" pitchFamily="18" charset="0"/>
                            <a:ea typeface="等线" panose="02010600030101010101" pitchFamily="2" charset="-122"/>
                            <a:cs typeface="Times New Roman" panose="02020603050405020304" pitchFamily="18" charset="0"/>
                          </a:rPr>
                          <m:t>h</m:t>
                        </m:r>
                      </m:e>
                      <m:sub>
                        <m:r>
                          <a:rPr lang="en-US" altLang="zh-CN" sz="1400" i="1">
                            <a:latin typeface="Cambria Math" panose="02040503050406030204" pitchFamily="18" charset="0"/>
                            <a:ea typeface="等线" panose="02010600030101010101" pitchFamily="2" charset="-122"/>
                            <a:cs typeface="Times New Roman" panose="02020603050405020304" pitchFamily="18" charset="0"/>
                          </a:rPr>
                          <m:t>𝑡</m:t>
                        </m:r>
                        <m:r>
                          <a:rPr lang="en-US" altLang="zh-CN" sz="1400" i="1">
                            <a:latin typeface="Cambria Math" panose="02040503050406030204" pitchFamily="18" charset="0"/>
                            <a:ea typeface="等线" panose="02010600030101010101" pitchFamily="2" charset="-122"/>
                            <a:cs typeface="Times New Roman" panose="02020603050405020304" pitchFamily="18" charset="0"/>
                          </a:rPr>
                          <m:t>−1</m:t>
                        </m:r>
                      </m:sub>
                    </m:sSub>
                  </m:oMath>
                </a14:m>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已经</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记忆</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了</a:t>
                </a:r>
                <a14:m>
                  <m:oMath xmlns:m="http://schemas.openxmlformats.org/officeDocument/2006/math">
                    <m:r>
                      <a:rPr lang="en-US" altLang="zh-CN" sz="1400" i="1">
                        <a:latin typeface="Cambria Math" panose="02040503050406030204" pitchFamily="18" charset="0"/>
                        <a:ea typeface="Cambria Math" panose="02040503050406030204" pitchFamily="18" charset="0"/>
                        <a:cs typeface="Times New Roman" panose="02020603050405020304" pitchFamily="18" charset="0"/>
                      </a:rPr>
                      <m:t>𝑡</m:t>
                    </m:r>
                  </m:oMath>
                </a14:m>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时刻之前的时序信息，或者说前序时刻信息影响了后续时刻信息的处理</a:t>
                </a:r>
                <a:endParaRPr lang="zh-CN" altLang="en-US" sz="1400" dirty="0">
                  <a:latin typeface="微软雅黑" panose="020B0503020204020204" pitchFamily="34" charset="-122"/>
                  <a:ea typeface="微软雅黑" panose="020B0503020204020204" pitchFamily="34" charset="-122"/>
                </a:endParaRPr>
              </a:p>
            </p:txBody>
          </p:sp>
        </mc:Choice>
        <mc:Fallback xmlns="">
          <p:sp>
            <p:nvSpPr>
              <p:cNvPr id="13" name="矩形 12">
                <a:extLst>
                  <a:ext uri="{FF2B5EF4-FFF2-40B4-BE49-F238E27FC236}">
                    <a16:creationId xmlns:a16="http://schemas.microsoft.com/office/drawing/2014/main" id="{EA3AD86A-C198-4320-8F79-B8EDA28E4BBD}"/>
                  </a:ext>
                </a:extLst>
              </p:cNvPr>
              <p:cNvSpPr>
                <a:spLocks noRot="1" noChangeAspect="1" noMove="1" noResize="1" noEditPoints="1" noAdjustHandles="1" noChangeArrowheads="1" noChangeShapeType="1" noTextEdit="1"/>
              </p:cNvSpPr>
              <p:nvPr/>
            </p:nvSpPr>
            <p:spPr>
              <a:xfrm>
                <a:off x="6804072" y="3976538"/>
                <a:ext cx="4811151" cy="954107"/>
              </a:xfrm>
              <a:prstGeom prst="rect">
                <a:avLst/>
              </a:prstGeom>
              <a:blipFill>
                <a:blip r:embed="rId5"/>
                <a:stretch>
                  <a:fillRect t="-637" b="-57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247780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循环神经网络</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三、循环神经网络</a:t>
            </a:r>
            <a:endParaRPr lang="zh-CN" altLang="en-US" sz="1600" dirty="0">
              <a:solidFill>
                <a:srgbClr val="000000"/>
              </a:solidFill>
              <a:latin typeface="Times New Roman" panose="02020603050405020304" pitchFamily="18" charset="0"/>
            </a:endParaRPr>
          </a:p>
        </p:txBody>
      </p:sp>
      <p:pic>
        <p:nvPicPr>
          <p:cNvPr id="11" name="图片 10">
            <a:extLst>
              <a:ext uri="{FF2B5EF4-FFF2-40B4-BE49-F238E27FC236}">
                <a16:creationId xmlns:a16="http://schemas.microsoft.com/office/drawing/2014/main" id="{1A8E6302-FC11-4F2C-9EB8-F046BC1312C8}"/>
              </a:ext>
            </a:extLst>
          </p:cNvPr>
          <p:cNvPicPr>
            <a:picLocks noChangeAspect="1"/>
          </p:cNvPicPr>
          <p:nvPr/>
        </p:nvPicPr>
        <p:blipFill>
          <a:blip r:embed="rId3"/>
          <a:stretch>
            <a:fillRect/>
          </a:stretch>
        </p:blipFill>
        <p:spPr>
          <a:xfrm>
            <a:off x="618979" y="1385064"/>
            <a:ext cx="4321640" cy="2514860"/>
          </a:xfrm>
          <a:prstGeom prst="rect">
            <a:avLst/>
          </a:prstGeom>
        </p:spPr>
      </p:pic>
      <p:pic>
        <p:nvPicPr>
          <p:cNvPr id="2" name="图片 1">
            <a:extLst>
              <a:ext uri="{FF2B5EF4-FFF2-40B4-BE49-F238E27FC236}">
                <a16:creationId xmlns:a16="http://schemas.microsoft.com/office/drawing/2014/main" id="{4DC3326D-6989-4191-998A-C480FB1EE869}"/>
              </a:ext>
            </a:extLst>
          </p:cNvPr>
          <p:cNvPicPr>
            <a:picLocks noChangeAspect="1"/>
          </p:cNvPicPr>
          <p:nvPr/>
        </p:nvPicPr>
        <p:blipFill>
          <a:blip r:embed="rId4"/>
          <a:stretch>
            <a:fillRect/>
          </a:stretch>
        </p:blipFill>
        <p:spPr>
          <a:xfrm>
            <a:off x="5981700" y="1597809"/>
            <a:ext cx="4690029" cy="1234924"/>
          </a:xfrm>
          <a:prstGeom prst="rect">
            <a:avLst/>
          </a:prstGeom>
        </p:spPr>
      </p:pic>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93282F08-E2D2-4E3B-B2F0-5EDFEBF2681C}"/>
                  </a:ext>
                </a:extLst>
              </p:cNvPr>
              <p:cNvSpPr/>
              <p:nvPr/>
            </p:nvSpPr>
            <p:spPr>
              <a:xfrm>
                <a:off x="5417677" y="2974285"/>
                <a:ext cx="6096000" cy="2025811"/>
              </a:xfrm>
              <a:prstGeom prst="rect">
                <a:avLst/>
              </a:prstGeom>
            </p:spPr>
            <p:txBody>
              <a:bodyPr>
                <a:spAutoFit/>
              </a:bodyPr>
              <a:lstStyle/>
              <a:p>
                <a:pPr indent="266700" algn="just">
                  <a:lnSpc>
                    <a:spcPts val="2200"/>
                  </a:lnSpc>
                  <a:spcAft>
                    <a:spcPts val="0"/>
                  </a:spcAft>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在时刻</a:t>
                </a:r>
                <a14:m>
                  <m:oMath xmlns:m="http://schemas.openxmlformats.org/officeDocument/2006/math">
                    <m:r>
                      <a:rPr lang="en-US"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𝑡</m:t>
                    </m:r>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，一旦得到当前输入数据</a:t>
                </a:r>
                <a14:m>
                  <m:oMath xmlns:m="http://schemas.openxmlformats.org/officeDocument/2006/math">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𝑡</m:t>
                        </m:r>
                      </m:sub>
                    </m:sSub>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，循环神经网络会结合前一时刻</a:t>
                </a:r>
                <a14:m>
                  <m:oMath xmlns:m="http://schemas.openxmlformats.org/officeDocument/2006/math">
                    <m:r>
                      <a:rPr lang="en-US"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𝑡</m:t>
                    </m:r>
                    <m:r>
                      <a:rPr lang="en-US" altLang="zh-CN" sz="2000" i="1">
                        <a:solidFill>
                          <a:srgbClr val="000000"/>
                        </a:solidFill>
                        <a:latin typeface="Cambria Math" panose="02040503050406030204" pitchFamily="18" charset="0"/>
                        <a:ea typeface="楷体_GB2312"/>
                        <a:cs typeface="Times New Roman" panose="02020603050405020304" pitchFamily="18" charset="0"/>
                      </a:rPr>
                      <m:t>−1</m:t>
                    </m:r>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得到的隐式编码</a:t>
                </a:r>
                <a14:m>
                  <m:oMath xmlns:m="http://schemas.openxmlformats.org/officeDocument/2006/math">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h</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𝑡</m:t>
                        </m:r>
                        <m:r>
                          <a:rPr lang="en-US" altLang="zh-CN" sz="2000"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，如下产生当前时刻隐式编码</a:t>
                </a:r>
                <a14:m>
                  <m:oMath xmlns:m="http://schemas.openxmlformats.org/officeDocument/2006/math">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h</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𝑡</m:t>
                        </m:r>
                      </m:sub>
                    </m:sSub>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a:t>
                </a:r>
              </a:p>
              <a:p>
                <a:pPr algn="ctr">
                  <a:lnSpc>
                    <a:spcPct val="150000"/>
                  </a:lnSpc>
                  <a:spcAft>
                    <a:spcPts val="600"/>
                  </a:spcAft>
                </a:pPr>
                <a14:m>
                  <m:oMathPara xmlns:m="http://schemas.openxmlformats.org/officeDocument/2006/math">
                    <m:oMathParaPr>
                      <m:jc m:val="centerGroup"/>
                    </m:oMathParaPr>
                    <m:oMath xmlns:m="http://schemas.openxmlformats.org/officeDocument/2006/math">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𝑡</m:t>
                          </m:r>
                        </m:sub>
                      </m:sSub>
                      <m:r>
                        <a:rPr lang="en-US" altLang="zh-CN" sz="2000" kern="100">
                          <a:latin typeface="Cambria Math" panose="02040503050406030204" pitchFamily="18" charset="0"/>
                          <a:ea typeface="华文楷体" panose="02010600040101010101" pitchFamily="2" charset="-122"/>
                          <a:cs typeface="Times New Roman" panose="02020603050405020304" pitchFamily="18" charset="0"/>
                        </a:rPr>
                        <m:t>=</m:t>
                      </m:r>
                      <m:r>
                        <m:rPr>
                          <m:sty m:val="p"/>
                        </m:rPr>
                        <a:rPr lang="en-US" altLang="zh-CN" sz="2000" kern="100">
                          <a:latin typeface="Cambria Math" panose="02040503050406030204" pitchFamily="18" charset="0"/>
                          <a:ea typeface="华文楷体" panose="02010600040101010101" pitchFamily="2" charset="-122"/>
                          <a:cs typeface="Times New Roman" panose="02020603050405020304" pitchFamily="18" charset="0"/>
                        </a:rPr>
                        <m:t>Φ</m:t>
                      </m:r>
                      <m:r>
                        <a:rPr lang="en-US" altLang="zh-CN" sz="2000" kern="100">
                          <a:latin typeface="Cambria Math" panose="02040503050406030204" pitchFamily="18" charset="0"/>
                          <a:ea typeface="华文楷体" panose="02010600040101010101" pitchFamily="2" charset="-122"/>
                          <a:cs typeface="Times New Roman" panose="02020603050405020304" pitchFamily="18" charset="0"/>
                        </a:rPr>
                        <m:t>(</m:t>
                      </m:r>
                      <m:r>
                        <m:rPr>
                          <m:sty m:val="p"/>
                        </m:rPr>
                        <a:rPr lang="en-US" altLang="zh-CN" sz="2000" kern="100">
                          <a:latin typeface="Cambria Math" panose="02040503050406030204" pitchFamily="18" charset="0"/>
                          <a:ea typeface="华文楷体" panose="02010600040101010101" pitchFamily="2" charset="-122"/>
                          <a:cs typeface="Times New Roman" panose="02020603050405020304" pitchFamily="18" charset="0"/>
                        </a:rPr>
                        <m:t>U</m:t>
                      </m:r>
                      <m:r>
                        <a:rPr lang="en-US" altLang="zh-CN" sz="2000"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𝑥</m:t>
                          </m:r>
                        </m:e>
                        <m: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𝑡</m:t>
                          </m:r>
                        </m:sub>
                      </m:sSub>
                      <m:r>
                        <a:rPr lang="en-US" altLang="zh-CN" sz="2000" kern="100">
                          <a:latin typeface="Cambria Math" panose="02040503050406030204" pitchFamily="18" charset="0"/>
                          <a:ea typeface="华文楷体" panose="02010600040101010101" pitchFamily="2" charset="-122"/>
                          <a:cs typeface="Times New Roman" panose="02020603050405020304" pitchFamily="18" charset="0"/>
                        </a:rPr>
                        <m:t>+</m:t>
                      </m:r>
                      <m:r>
                        <m:rPr>
                          <m:sty m:val="p"/>
                        </m:rPr>
                        <a:rPr lang="en-US" altLang="zh-CN" sz="2000" kern="100">
                          <a:latin typeface="Cambria Math" panose="02040503050406030204" pitchFamily="18" charset="0"/>
                          <a:ea typeface="华文楷体" panose="02010600040101010101" pitchFamily="2" charset="-122"/>
                          <a:cs typeface="Times New Roman" panose="02020603050405020304" pitchFamily="18" charset="0"/>
                        </a:rPr>
                        <m:t>W</m:t>
                      </m:r>
                      <m:r>
                        <a:rPr lang="en-US" altLang="zh-CN" sz="2000"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2000" kern="100">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zh-CN" altLang="zh-CN" sz="20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这里</a:t>
                </a:r>
                <a14:m>
                  <m:oMath xmlns:m="http://schemas.openxmlformats.org/officeDocument/2006/math">
                    <m:r>
                      <m:rPr>
                        <m:sty m:val="p"/>
                      </m:rPr>
                      <a:rPr lang="en-US" altLang="zh-CN" sz="2000">
                        <a:solidFill>
                          <a:srgbClr val="000000"/>
                        </a:solidFill>
                        <a:latin typeface="Cambria Math" panose="02040503050406030204" pitchFamily="18" charset="0"/>
                        <a:ea typeface="楷体_GB2312"/>
                        <a:cs typeface="Times New Roman" panose="02020603050405020304" pitchFamily="18" charset="0"/>
                      </a:rPr>
                      <m:t>Φ</m:t>
                    </m:r>
                    <m:r>
                      <a:rPr lang="en-US" altLang="zh-CN" sz="2000">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是激活函数，一般可为</a:t>
                </a:r>
                <a:r>
                  <a:rPr lang="en-US" altLang="zh-CN" sz="2000" dirty="0">
                    <a:solidFill>
                      <a:srgbClr val="000000"/>
                    </a:solidFill>
                    <a:latin typeface="Times New Roman" panose="02020603050405020304" pitchFamily="18" charset="0"/>
                    <a:ea typeface="楷体_GB2312"/>
                    <a:cs typeface="Times New Roman" panose="02020603050405020304" pitchFamily="18" charset="0"/>
                  </a:rPr>
                  <a:t>Sigmoid</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或者</a:t>
                </a:r>
                <a:r>
                  <a:rPr lang="en-US" altLang="zh-CN" sz="2000" dirty="0">
                    <a:solidFill>
                      <a:srgbClr val="000000"/>
                    </a:solidFill>
                    <a:latin typeface="Times New Roman" panose="02020603050405020304" pitchFamily="18" charset="0"/>
                    <a:ea typeface="楷体_GB2312"/>
                    <a:cs typeface="Times New Roman" panose="02020603050405020304" pitchFamily="18" charset="0"/>
                  </a:rPr>
                  <a:t>Tanh</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激活函数，</a:t>
                </a:r>
                <a14:m>
                  <m:oMath xmlns:m="http://schemas.openxmlformats.org/officeDocument/2006/math">
                    <m:r>
                      <m:rPr>
                        <m:sty m:val="p"/>
                      </m:rPr>
                      <a:rPr lang="en-US" altLang="zh-CN" sz="2000">
                        <a:solidFill>
                          <a:srgbClr val="000000"/>
                        </a:solidFill>
                        <a:latin typeface="Cambria Math" panose="02040503050406030204" pitchFamily="18" charset="0"/>
                        <a:ea typeface="楷体_GB2312"/>
                        <a:cs typeface="Times New Roman" panose="02020603050405020304" pitchFamily="18" charset="0"/>
                      </a:rPr>
                      <m:t>U</m:t>
                    </m:r>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与</a:t>
                </a:r>
                <a14:m>
                  <m:oMath xmlns:m="http://schemas.openxmlformats.org/officeDocument/2006/math">
                    <m:r>
                      <m:rPr>
                        <m:sty m:val="p"/>
                      </m:rPr>
                      <a:rPr lang="en-US" altLang="zh-CN" sz="2000">
                        <a:solidFill>
                          <a:srgbClr val="000000"/>
                        </a:solidFill>
                        <a:latin typeface="Cambria Math" panose="02040503050406030204" pitchFamily="18" charset="0"/>
                        <a:ea typeface="楷体_GB2312"/>
                        <a:cs typeface="Times New Roman" panose="02020603050405020304" pitchFamily="18" charset="0"/>
                      </a:rPr>
                      <m:t>W</m:t>
                    </m:r>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为模型参数。</a:t>
                </a:r>
              </a:p>
            </p:txBody>
          </p:sp>
        </mc:Choice>
        <mc:Fallback xmlns="">
          <p:sp>
            <p:nvSpPr>
              <p:cNvPr id="7" name="矩形 6">
                <a:extLst>
                  <a:ext uri="{FF2B5EF4-FFF2-40B4-BE49-F238E27FC236}">
                    <a16:creationId xmlns:a16="http://schemas.microsoft.com/office/drawing/2014/main" id="{93282F08-E2D2-4E3B-B2F0-5EDFEBF2681C}"/>
                  </a:ext>
                </a:extLst>
              </p:cNvPr>
              <p:cNvSpPr>
                <a:spLocks noRot="1" noChangeAspect="1" noMove="1" noResize="1" noEditPoints="1" noAdjustHandles="1" noChangeArrowheads="1" noChangeShapeType="1" noTextEdit="1"/>
              </p:cNvSpPr>
              <p:nvPr/>
            </p:nvSpPr>
            <p:spPr>
              <a:xfrm>
                <a:off x="5417677" y="2974285"/>
                <a:ext cx="6096000" cy="2025811"/>
              </a:xfrm>
              <a:prstGeom prst="rect">
                <a:avLst/>
              </a:prstGeom>
              <a:blipFill>
                <a:blip r:embed="rId5"/>
                <a:stretch>
                  <a:fillRect l="-1100" t="-3012" r="-1000" b="-5422"/>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77804C06-EAD6-87CB-1E98-53B18617BCE8}"/>
              </a:ext>
            </a:extLst>
          </p:cNvPr>
          <p:cNvPicPr>
            <a:picLocks noChangeAspect="1"/>
          </p:cNvPicPr>
          <p:nvPr/>
        </p:nvPicPr>
        <p:blipFill>
          <a:blip r:embed="rId6"/>
          <a:stretch>
            <a:fillRect/>
          </a:stretch>
        </p:blipFill>
        <p:spPr>
          <a:xfrm>
            <a:off x="694115" y="3882057"/>
            <a:ext cx="2428279" cy="1910861"/>
          </a:xfrm>
          <a:prstGeom prst="rect">
            <a:avLst/>
          </a:prstGeom>
        </p:spPr>
      </p:pic>
      <p:sp>
        <p:nvSpPr>
          <p:cNvPr id="12" name="文本框 11">
            <a:extLst>
              <a:ext uri="{FF2B5EF4-FFF2-40B4-BE49-F238E27FC236}">
                <a16:creationId xmlns:a16="http://schemas.microsoft.com/office/drawing/2014/main" id="{4C160075-780D-118C-A76D-F672017D5A40}"/>
              </a:ext>
            </a:extLst>
          </p:cNvPr>
          <p:cNvSpPr txBox="1"/>
          <p:nvPr/>
        </p:nvSpPr>
        <p:spPr>
          <a:xfrm>
            <a:off x="1124482" y="5916452"/>
            <a:ext cx="1567543" cy="369332"/>
          </a:xfrm>
          <a:prstGeom prst="rect">
            <a:avLst/>
          </a:prstGeom>
          <a:noFill/>
        </p:spPr>
        <p:txBody>
          <a:bodyPr wrap="square">
            <a:spAutoFit/>
          </a:bodyPr>
          <a:lstStyle/>
          <a:p>
            <a:r>
              <a:rPr lang="en-US" altLang="zh-CN" sz="1800" dirty="0">
                <a:solidFill>
                  <a:srgbClr val="000000"/>
                </a:solidFill>
                <a:latin typeface="Times New Roman" panose="02020603050405020304" pitchFamily="18" charset="0"/>
                <a:ea typeface="楷体_GB2312"/>
                <a:cs typeface="Times New Roman" panose="02020603050405020304" pitchFamily="18" charset="0"/>
              </a:rPr>
              <a:t>Tanh</a:t>
            </a:r>
            <a:r>
              <a:rPr lang="zh-CN" altLang="zh-CN" sz="1800" dirty="0">
                <a:solidFill>
                  <a:srgbClr val="000000"/>
                </a:solidFill>
                <a:latin typeface="Times New Roman" panose="02020603050405020304" pitchFamily="18" charset="0"/>
                <a:ea typeface="楷体_GB2312"/>
                <a:cs typeface="Times New Roman" panose="02020603050405020304" pitchFamily="18" charset="0"/>
              </a:rPr>
              <a:t>激活函数</a:t>
            </a:r>
            <a:endParaRPr lang="zh-CN" altLang="en-US" dirty="0"/>
          </a:p>
        </p:txBody>
      </p:sp>
      <p:sp>
        <p:nvSpPr>
          <p:cNvPr id="13" name="文本框 12">
            <a:extLst>
              <a:ext uri="{FF2B5EF4-FFF2-40B4-BE49-F238E27FC236}">
                <a16:creationId xmlns:a16="http://schemas.microsoft.com/office/drawing/2014/main" id="{AAAB1414-B7A2-EB7E-DDEF-FC12C149904E}"/>
              </a:ext>
            </a:extLst>
          </p:cNvPr>
          <p:cNvSpPr txBox="1"/>
          <p:nvPr/>
        </p:nvSpPr>
        <p:spPr>
          <a:xfrm>
            <a:off x="2692025" y="5331676"/>
            <a:ext cx="2784996" cy="1169551"/>
          </a:xfrm>
          <a:prstGeom prst="rect">
            <a:avLst/>
          </a:prstGeom>
          <a:noFill/>
        </p:spPr>
        <p:txBody>
          <a:bodyPr wrap="square" rtlCol="0">
            <a:spAutoFit/>
          </a:bodyPr>
          <a:lstStyle/>
          <a:p>
            <a:r>
              <a:rPr lang="zh-CN" altLang="en-US" sz="1400" i="0" dirty="0">
                <a:effectLst/>
                <a:latin typeface="+mn-ea"/>
              </a:rPr>
              <a:t>值域：</a:t>
            </a:r>
            <a:r>
              <a:rPr lang="en-US" altLang="zh-CN" sz="1400" i="0" dirty="0">
                <a:effectLst/>
                <a:latin typeface="+mn-ea"/>
              </a:rPr>
              <a:t>(−1,1)</a:t>
            </a:r>
          </a:p>
          <a:p>
            <a:r>
              <a:rPr lang="zh-CN" altLang="en-US" sz="1400" i="0" dirty="0">
                <a:effectLst/>
                <a:latin typeface="+mn-ea"/>
              </a:rPr>
              <a:t>更适合神经网络隐藏层： 输出范围是以 </a:t>
            </a:r>
            <a:r>
              <a:rPr lang="en-US" altLang="zh-CN" sz="1400" i="0" dirty="0">
                <a:effectLst/>
                <a:latin typeface="+mn-ea"/>
              </a:rPr>
              <a:t>0 </a:t>
            </a:r>
            <a:r>
              <a:rPr lang="zh-CN" altLang="en-US" sz="1400" i="0" dirty="0">
                <a:effectLst/>
                <a:latin typeface="+mn-ea"/>
              </a:rPr>
              <a:t>为中心，有助于缓解</a:t>
            </a:r>
            <a:r>
              <a:rPr lang="zh-CN" altLang="en-US" sz="1400" i="0" strike="noStrike" dirty="0">
                <a:effectLst/>
                <a:latin typeface="+mn-ea"/>
              </a:rPr>
              <a:t>梯度消失问题</a:t>
            </a:r>
            <a:r>
              <a:rPr lang="zh-CN" altLang="en-US" sz="1400" i="0" dirty="0">
                <a:effectLst/>
                <a:latin typeface="+mn-ea"/>
              </a:rPr>
              <a:t>，尤其在对称数据的处理中比 </a:t>
            </a:r>
            <a:r>
              <a:rPr lang="en-US" altLang="zh-CN" sz="1400" i="0" dirty="0">
                <a:effectLst/>
                <a:latin typeface="+mn-ea"/>
              </a:rPr>
              <a:t>Sigmoid </a:t>
            </a:r>
            <a:r>
              <a:rPr lang="zh-CN" altLang="en-US" sz="1400" i="0" dirty="0">
                <a:effectLst/>
                <a:latin typeface="+mn-ea"/>
              </a:rPr>
              <a:t>表现更好。</a:t>
            </a:r>
            <a:endParaRPr lang="zh-CN" altLang="en-US" sz="1400" dirty="0">
              <a:latin typeface="+mn-ea"/>
            </a:endParaRPr>
          </a:p>
        </p:txBody>
      </p:sp>
      <p:cxnSp>
        <p:nvCxnSpPr>
          <p:cNvPr id="14" name="直接连接符 13">
            <a:extLst>
              <a:ext uri="{FF2B5EF4-FFF2-40B4-BE49-F238E27FC236}">
                <a16:creationId xmlns:a16="http://schemas.microsoft.com/office/drawing/2014/main" id="{9A494948-18D1-AA93-3C97-3B372F77DB31}"/>
              </a:ext>
            </a:extLst>
          </p:cNvPr>
          <p:cNvCxnSpPr>
            <a:cxnSpLocks/>
          </p:cNvCxnSpPr>
          <p:nvPr/>
        </p:nvCxnSpPr>
        <p:spPr>
          <a:xfrm>
            <a:off x="7259074" y="1958824"/>
            <a:ext cx="385963"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C93FE2FE-0234-3BD3-D423-298F434BB437}"/>
              </a:ext>
            </a:extLst>
          </p:cNvPr>
          <p:cNvCxnSpPr>
            <a:cxnSpLocks/>
          </p:cNvCxnSpPr>
          <p:nvPr/>
        </p:nvCxnSpPr>
        <p:spPr>
          <a:xfrm>
            <a:off x="8977449" y="2834371"/>
            <a:ext cx="135853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31B27F20-EFC0-2036-7737-2B1936698920}"/>
              </a:ext>
            </a:extLst>
          </p:cNvPr>
          <p:cNvCxnSpPr>
            <a:cxnSpLocks/>
          </p:cNvCxnSpPr>
          <p:nvPr/>
        </p:nvCxnSpPr>
        <p:spPr>
          <a:xfrm>
            <a:off x="8777151" y="1975162"/>
            <a:ext cx="136386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CECB31D-F3CC-6C65-B3BC-726314D3881A}"/>
                  </a:ext>
                </a:extLst>
              </p:cNvPr>
              <p:cNvSpPr txBox="1"/>
              <p:nvPr/>
            </p:nvSpPr>
            <p:spPr>
              <a:xfrm>
                <a:off x="5477021" y="5115389"/>
                <a:ext cx="6096000" cy="101566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sz="2000" dirty="0">
                    <a:solidFill>
                      <a:schemeClr val="accent2"/>
                    </a:solidFill>
                    <a:latin typeface="Times New Roman" panose="02020603050405020304" pitchFamily="18" charset="0"/>
                    <a:ea typeface="楷体_GB2312"/>
                    <a:cs typeface="Times New Roman" panose="02020603050405020304" pitchFamily="18" charset="0"/>
                  </a:rPr>
                  <a:t>可以</a:t>
                </a:r>
                <a:r>
                  <a:rPr lang="zh-CN" altLang="zh-CN" sz="2000" dirty="0">
                    <a:solidFill>
                      <a:schemeClr val="accent2"/>
                    </a:solidFill>
                    <a:latin typeface="Times New Roman" panose="02020603050405020304" pitchFamily="18" charset="0"/>
                    <a:ea typeface="楷体_GB2312"/>
                    <a:cs typeface="Times New Roman" panose="02020603050405020304" pitchFamily="18" charset="0"/>
                  </a:rPr>
                  <a:t>看出，当前时刻的隐式编码输出</a:t>
                </a:r>
                <a14:m>
                  <m:oMath xmlns:m="http://schemas.openxmlformats.org/officeDocument/2006/math">
                    <m:sSub>
                      <m:sSubPr>
                        <m:ctrlPr>
                          <a:rPr lang="zh-CN" altLang="zh-CN" sz="20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chemeClr val="accent2"/>
                            </a:solidFill>
                            <a:latin typeface="Cambria Math" panose="02040503050406030204" pitchFamily="18" charset="0"/>
                            <a:ea typeface="楷体_GB2312"/>
                            <a:cs typeface="Times New Roman" panose="02020603050405020304" pitchFamily="18" charset="0"/>
                          </a:rPr>
                          <m:t>h</m:t>
                        </m:r>
                      </m:e>
                      <m:sub>
                        <m:r>
                          <a:rPr lang="en-US" altLang="zh-CN" sz="2000" i="1">
                            <a:solidFill>
                              <a:schemeClr val="accent2"/>
                            </a:solidFill>
                            <a:latin typeface="Cambria Math" panose="02040503050406030204" pitchFamily="18" charset="0"/>
                            <a:ea typeface="楷体_GB2312"/>
                            <a:cs typeface="Times New Roman" panose="02020603050405020304" pitchFamily="18" charset="0"/>
                          </a:rPr>
                          <m:t>𝑡</m:t>
                        </m:r>
                      </m:sub>
                    </m:sSub>
                  </m:oMath>
                </a14:m>
                <a:r>
                  <a:rPr lang="zh-CN" altLang="zh-CN" sz="2000" dirty="0">
                    <a:solidFill>
                      <a:schemeClr val="accent2"/>
                    </a:solidFill>
                    <a:latin typeface="Times New Roman" panose="02020603050405020304" pitchFamily="18" charset="0"/>
                    <a:ea typeface="楷体_GB2312"/>
                    <a:cs typeface="Times New Roman" panose="02020603050405020304" pitchFamily="18" charset="0"/>
                  </a:rPr>
                  <a:t>不仅仅与当前输入数据</a:t>
                </a:r>
                <a14:m>
                  <m:oMath xmlns:m="http://schemas.openxmlformats.org/officeDocument/2006/math">
                    <m:sSub>
                      <m:sSubPr>
                        <m:ctrlPr>
                          <a:rPr lang="zh-CN" altLang="zh-CN" sz="20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chemeClr val="accent2"/>
                            </a:solidFill>
                            <a:latin typeface="Cambria Math" panose="02040503050406030204" pitchFamily="18" charset="0"/>
                            <a:ea typeface="楷体_GB2312"/>
                            <a:cs typeface="Times New Roman" panose="02020603050405020304" pitchFamily="18" charset="0"/>
                          </a:rPr>
                          <m:t>𝑥</m:t>
                        </m:r>
                      </m:e>
                      <m:sub>
                        <m:r>
                          <a:rPr lang="en-US" altLang="zh-CN" sz="2000" i="1">
                            <a:solidFill>
                              <a:schemeClr val="accent2"/>
                            </a:solidFill>
                            <a:latin typeface="Cambria Math" panose="02040503050406030204" pitchFamily="18" charset="0"/>
                            <a:ea typeface="楷体_GB2312"/>
                            <a:cs typeface="Times New Roman" panose="02020603050405020304" pitchFamily="18" charset="0"/>
                          </a:rPr>
                          <m:t>𝑡</m:t>
                        </m:r>
                      </m:sub>
                    </m:sSub>
                  </m:oMath>
                </a14:m>
                <a:r>
                  <a:rPr lang="zh-CN" altLang="zh-CN" sz="2000" dirty="0">
                    <a:solidFill>
                      <a:schemeClr val="accent2"/>
                    </a:solidFill>
                    <a:latin typeface="Times New Roman" panose="02020603050405020304" pitchFamily="18" charset="0"/>
                    <a:ea typeface="楷体_GB2312"/>
                    <a:cs typeface="Times New Roman" panose="02020603050405020304" pitchFamily="18" charset="0"/>
                  </a:rPr>
                  <a:t>相关，与网络已有的</a:t>
                </a:r>
                <a:r>
                  <a:rPr lang="en-US" altLang="zh-CN" sz="2000" dirty="0">
                    <a:solidFill>
                      <a:schemeClr val="accent2"/>
                    </a:solidFill>
                    <a:latin typeface="Times New Roman" panose="02020603050405020304" pitchFamily="18" charset="0"/>
                    <a:ea typeface="楷体_GB2312"/>
                    <a:cs typeface="Times New Roman" panose="02020603050405020304" pitchFamily="18" charset="0"/>
                  </a:rPr>
                  <a:t>“</a:t>
                </a:r>
                <a:r>
                  <a:rPr lang="zh-CN" altLang="zh-CN" sz="2000" dirty="0">
                    <a:solidFill>
                      <a:schemeClr val="accent2"/>
                    </a:solidFill>
                    <a:latin typeface="Times New Roman" panose="02020603050405020304" pitchFamily="18" charset="0"/>
                    <a:ea typeface="楷体_GB2312"/>
                    <a:cs typeface="Times New Roman" panose="02020603050405020304" pitchFamily="18" charset="0"/>
                  </a:rPr>
                  <a:t>记忆</a:t>
                </a:r>
                <a:r>
                  <a:rPr lang="en-US" altLang="zh-CN" sz="2000" dirty="0">
                    <a:solidFill>
                      <a:schemeClr val="accent2"/>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b>
                      <m:sSubPr>
                        <m:ctrlPr>
                          <a:rPr lang="zh-CN" altLang="zh-CN" sz="20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chemeClr val="accent2"/>
                            </a:solidFill>
                            <a:latin typeface="Cambria Math" panose="02040503050406030204" pitchFamily="18" charset="0"/>
                            <a:ea typeface="楷体_GB2312"/>
                            <a:cs typeface="Times New Roman" panose="02020603050405020304" pitchFamily="18" charset="0"/>
                          </a:rPr>
                          <m:t>h</m:t>
                        </m:r>
                      </m:e>
                      <m:sub>
                        <m:r>
                          <a:rPr lang="en-US" altLang="zh-CN" sz="2000" i="1">
                            <a:solidFill>
                              <a:schemeClr val="accent2"/>
                            </a:solidFill>
                            <a:latin typeface="Cambria Math" panose="02040503050406030204" pitchFamily="18" charset="0"/>
                            <a:ea typeface="楷体_GB2312"/>
                            <a:cs typeface="Times New Roman" panose="02020603050405020304" pitchFamily="18" charset="0"/>
                          </a:rPr>
                          <m:t>𝑡</m:t>
                        </m:r>
                        <m:r>
                          <a:rPr lang="en-US" altLang="zh-CN" sz="2000" i="1">
                            <a:solidFill>
                              <a:schemeClr val="accent2"/>
                            </a:solidFill>
                            <a:latin typeface="Cambria Math" panose="02040503050406030204" pitchFamily="18" charset="0"/>
                            <a:ea typeface="楷体_GB2312"/>
                            <a:cs typeface="Times New Roman" panose="02020603050405020304" pitchFamily="18" charset="0"/>
                          </a:rPr>
                          <m:t>−1</m:t>
                        </m:r>
                      </m:sub>
                    </m:sSub>
                  </m:oMath>
                </a14:m>
                <a:r>
                  <a:rPr lang="zh-CN" altLang="zh-CN" sz="2000" dirty="0">
                    <a:solidFill>
                      <a:schemeClr val="accent2"/>
                    </a:solidFill>
                    <a:latin typeface="Times New Roman" panose="02020603050405020304" pitchFamily="18" charset="0"/>
                    <a:ea typeface="楷体_GB2312"/>
                    <a:cs typeface="Times New Roman" panose="02020603050405020304" pitchFamily="18" charset="0"/>
                  </a:rPr>
                  <a:t>也有着密不可分的联系</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a:t>
                </a:r>
                <a:endParaRPr lang="zh-CN" altLang="en-US" sz="2000" dirty="0"/>
              </a:p>
            </p:txBody>
          </p:sp>
        </mc:Choice>
        <mc:Fallback xmlns="">
          <p:sp>
            <p:nvSpPr>
              <p:cNvPr id="10" name="文本框 9">
                <a:extLst>
                  <a:ext uri="{FF2B5EF4-FFF2-40B4-BE49-F238E27FC236}">
                    <a16:creationId xmlns:a16="http://schemas.microsoft.com/office/drawing/2014/main" id="{9CECB31D-F3CC-6C65-B3BC-726314D3881A}"/>
                  </a:ext>
                </a:extLst>
              </p:cNvPr>
              <p:cNvSpPr txBox="1">
                <a:spLocks noRot="1" noChangeAspect="1" noMove="1" noResize="1" noEditPoints="1" noAdjustHandles="1" noChangeArrowheads="1" noChangeShapeType="1" noTextEdit="1"/>
              </p:cNvSpPr>
              <p:nvPr/>
            </p:nvSpPr>
            <p:spPr>
              <a:xfrm>
                <a:off x="5477021" y="5115389"/>
                <a:ext cx="6096000" cy="1015663"/>
              </a:xfrm>
              <a:prstGeom prst="rect">
                <a:avLst/>
              </a:prstGeom>
              <a:blipFill>
                <a:blip r:embed="rId7"/>
                <a:stretch>
                  <a:fillRect l="-898" t="-2367" b="-828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10339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3" grpId="0"/>
      <p:bldP spid="1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循环神经网络：处理自然语言的例子</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三、循环神经网络</a:t>
            </a:r>
            <a:endParaRPr lang="zh-CN" altLang="en-US" sz="1600" dirty="0">
              <a:solidFill>
                <a:srgbClr val="000000"/>
              </a:solidFill>
              <a:latin typeface="Times New Roman" panose="02020603050405020304" pitchFamily="18" charset="0"/>
            </a:endParaRPr>
          </a:p>
        </p:txBody>
      </p:sp>
      <p:pic>
        <p:nvPicPr>
          <p:cNvPr id="8" name="图片 7">
            <a:extLst>
              <a:ext uri="{FF2B5EF4-FFF2-40B4-BE49-F238E27FC236}">
                <a16:creationId xmlns:a16="http://schemas.microsoft.com/office/drawing/2014/main" id="{C8521D33-695D-4268-AD5F-8A7F2FACA1BB}"/>
              </a:ext>
            </a:extLst>
          </p:cNvPr>
          <p:cNvPicPr>
            <a:picLocks noChangeAspect="1"/>
          </p:cNvPicPr>
          <p:nvPr/>
        </p:nvPicPr>
        <p:blipFill>
          <a:blip r:embed="rId3"/>
          <a:stretch>
            <a:fillRect/>
          </a:stretch>
        </p:blipFill>
        <p:spPr>
          <a:xfrm>
            <a:off x="6507577" y="2358367"/>
            <a:ext cx="4794546" cy="2602839"/>
          </a:xfrm>
          <a:prstGeom prst="rect">
            <a:avLst/>
          </a:prstGeom>
        </p:spPr>
      </p:pic>
      <p:sp>
        <p:nvSpPr>
          <p:cNvPr id="9" name="矩形 8">
            <a:extLst>
              <a:ext uri="{FF2B5EF4-FFF2-40B4-BE49-F238E27FC236}">
                <a16:creationId xmlns:a16="http://schemas.microsoft.com/office/drawing/2014/main" id="{C1831F45-02E9-4E22-A0B6-EB6ADC8FA736}"/>
              </a:ext>
            </a:extLst>
          </p:cNvPr>
          <p:cNvSpPr/>
          <p:nvPr/>
        </p:nvSpPr>
        <p:spPr>
          <a:xfrm>
            <a:off x="239150" y="1650338"/>
            <a:ext cx="5856850" cy="5116081"/>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2000" dirty="0">
                <a:solidFill>
                  <a:schemeClr val="accent2"/>
                </a:solidFill>
                <a:latin typeface="Times New Roman" panose="02020603050405020304" pitchFamily="18" charset="0"/>
                <a:ea typeface="楷体_GB2312"/>
                <a:cs typeface="Times New Roman" panose="02020603050405020304" pitchFamily="18" charset="0"/>
              </a:rPr>
              <a:t>假设希望将自然语言句子进行分类，分类为饮食、体育、文化等不同类别。</a:t>
            </a:r>
            <a:endParaRPr lang="en-US" altLang="zh-CN" sz="2000" dirty="0">
              <a:solidFill>
                <a:schemeClr val="accent2"/>
              </a:solidFill>
              <a:latin typeface="Times New Roman" panose="02020603050405020304" pitchFamily="18" charset="0"/>
              <a:ea typeface="楷体_GB2312"/>
              <a:cs typeface="Times New Roman" panose="02020603050405020304" pitchFamily="18" charset="0"/>
            </a:endParaRPr>
          </a:p>
          <a:p>
            <a:pPr marL="800100" lvl="1" indent="-342900" algn="just">
              <a:lnSpc>
                <a:spcPct val="150000"/>
              </a:lnSpc>
              <a:buFont typeface="+mj-lt"/>
              <a:buAutoNum type="arabicPeriod"/>
            </a:pPr>
            <a:r>
              <a:rPr lang="zh-CN" altLang="en-US" sz="2000" dirty="0">
                <a:solidFill>
                  <a:srgbClr val="000000"/>
                </a:solidFill>
                <a:latin typeface="Times New Roman" panose="02020603050405020304" pitchFamily="18" charset="0"/>
                <a:ea typeface="楷体_GB2312"/>
                <a:cs typeface="Times New Roman" panose="02020603050405020304" pitchFamily="18" charset="0"/>
              </a:rPr>
              <a:t>分词</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对文本语句进行分词操作</a:t>
            </a:r>
            <a:endParaRPr lang="en-US" altLang="zh-CN" sz="2000" dirty="0">
              <a:solidFill>
                <a:srgbClr val="000000"/>
              </a:solidFill>
              <a:latin typeface="Times New Roman" panose="02020603050405020304" pitchFamily="18" charset="0"/>
              <a:ea typeface="楷体_GB2312"/>
              <a:cs typeface="Times New Roman" panose="02020603050405020304" pitchFamily="18" charset="0"/>
            </a:endParaRPr>
          </a:p>
          <a:p>
            <a:pPr marL="800100" lvl="1" indent="-342900" algn="just">
              <a:lnSpc>
                <a:spcPct val="150000"/>
              </a:lnSpc>
              <a:buFont typeface="+mj-lt"/>
              <a:buAutoNum type="arabicPeriod"/>
            </a:pPr>
            <a:r>
              <a:rPr lang="zh-CN" altLang="en-US" sz="2000" dirty="0">
                <a:solidFill>
                  <a:srgbClr val="000000"/>
                </a:solidFill>
                <a:latin typeface="Times New Roman" panose="02020603050405020304" pitchFamily="18" charset="0"/>
                <a:ea typeface="楷体_GB2312"/>
                <a:cs typeface="Times New Roman" panose="02020603050405020304" pitchFamily="18" charset="0"/>
              </a:rPr>
              <a:t>获取</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每个单词的隐式编码</a:t>
            </a:r>
            <a:r>
              <a:rPr lang="zh-CN" altLang="en-US" sz="20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循环神经网络在读入每个单词后，产生对应单词的隐式编码，并利用其来参与后续单词的隐式编码</a:t>
            </a:r>
            <a:endParaRPr lang="en-US" altLang="zh-CN" sz="2000" dirty="0">
              <a:solidFill>
                <a:srgbClr val="000000"/>
              </a:solidFill>
              <a:latin typeface="Times New Roman" panose="02020603050405020304" pitchFamily="18" charset="0"/>
              <a:ea typeface="楷体_GB2312"/>
              <a:cs typeface="Times New Roman" panose="02020603050405020304" pitchFamily="18" charset="0"/>
            </a:endParaRPr>
          </a:p>
          <a:p>
            <a:pPr marL="800100" lvl="1" indent="-342900" algn="just">
              <a:lnSpc>
                <a:spcPct val="150000"/>
              </a:lnSpc>
              <a:buFont typeface="+mj-lt"/>
              <a:buAutoNum type="arabicPeriod"/>
            </a:pPr>
            <a:r>
              <a:rPr lang="zh-CN" altLang="en-US" sz="2000" dirty="0">
                <a:solidFill>
                  <a:srgbClr val="000000"/>
                </a:solidFill>
                <a:latin typeface="Times New Roman" panose="02020603050405020304" pitchFamily="18" charset="0"/>
                <a:ea typeface="楷体_GB2312"/>
                <a:cs typeface="Times New Roman" panose="02020603050405020304" pitchFamily="18" charset="0"/>
              </a:rPr>
              <a:t>获取</a:t>
            </a:r>
            <a:r>
              <a:rPr lang="zh-CN" altLang="zh-CN" sz="2000" dirty="0">
                <a:latin typeface="Times New Roman" panose="02020603050405020304" pitchFamily="18" charset="0"/>
                <a:ea typeface="楷体_GB2312"/>
                <a:cs typeface="Times New Roman" panose="02020603050405020304" pitchFamily="18" charset="0"/>
              </a:rPr>
              <a:t>一个句子的向量编码</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a:t>
            </a:r>
            <a:r>
              <a:rPr lang="en-US" altLang="zh-CN" sz="2000" dirty="0">
                <a:solidFill>
                  <a:srgbClr val="000000"/>
                </a:solidFill>
                <a:latin typeface="Times New Roman" panose="02020603050405020304" pitchFamily="18" charset="0"/>
                <a:ea typeface="楷体_GB2312"/>
                <a:cs typeface="Times New Roman" panose="02020603050405020304" pitchFamily="18" charset="0"/>
              </a:rPr>
              <a:t>(a)</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 将最后一个单词的输出作为整个句子向量编码表示；</a:t>
            </a:r>
            <a:r>
              <a:rPr lang="en-US" altLang="zh-CN" sz="2000" dirty="0">
                <a:solidFill>
                  <a:srgbClr val="000000"/>
                </a:solidFill>
                <a:latin typeface="Times New Roman" panose="02020603050405020304" pitchFamily="18" charset="0"/>
                <a:ea typeface="楷体_GB2312"/>
                <a:cs typeface="Times New Roman" panose="02020603050405020304" pitchFamily="18" charset="0"/>
              </a:rPr>
              <a:t>(b)</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将每个单词的隐式编码进行加权平均</a:t>
            </a:r>
            <a:endParaRPr lang="en-US" altLang="zh-CN" sz="2000" dirty="0">
              <a:solidFill>
                <a:srgbClr val="000000"/>
              </a:solidFill>
              <a:latin typeface="Times New Roman" panose="02020603050405020304" pitchFamily="18" charset="0"/>
              <a:ea typeface="楷体_GB2312"/>
              <a:cs typeface="Times New Roman" panose="02020603050405020304" pitchFamily="18" charset="0"/>
            </a:endParaRPr>
          </a:p>
          <a:p>
            <a:pPr marL="800100" lvl="1" indent="-342900" algn="just">
              <a:lnSpc>
                <a:spcPct val="150000"/>
              </a:lnSpc>
              <a:buFont typeface="+mj-lt"/>
              <a:buAutoNum type="arabicPeriod"/>
            </a:pPr>
            <a:r>
              <a:rPr lang="zh-CN" altLang="en-US" sz="2000" dirty="0">
                <a:solidFill>
                  <a:srgbClr val="000000"/>
                </a:solidFill>
                <a:latin typeface="Times New Roman" panose="02020603050405020304" pitchFamily="18" charset="0"/>
                <a:ea typeface="楷体_GB2312"/>
                <a:cs typeface="Times New Roman" panose="02020603050405020304" pitchFamily="18" charset="0"/>
              </a:rPr>
              <a:t>分类：基于</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句子的向量编码表示，利用分类器，对句子的类别进行判断</a:t>
            </a:r>
          </a:p>
        </p:txBody>
      </p:sp>
      <p:sp>
        <p:nvSpPr>
          <p:cNvPr id="10" name="矩形 9">
            <a:extLst>
              <a:ext uri="{FF2B5EF4-FFF2-40B4-BE49-F238E27FC236}">
                <a16:creationId xmlns:a16="http://schemas.microsoft.com/office/drawing/2014/main" id="{5EA5C232-04DE-4CF6-BC2B-8DB4F86C3F2C}"/>
              </a:ext>
            </a:extLst>
          </p:cNvPr>
          <p:cNvSpPr/>
          <p:nvPr/>
        </p:nvSpPr>
        <p:spPr>
          <a:xfrm>
            <a:off x="6442160" y="4763571"/>
            <a:ext cx="5257471" cy="954107"/>
          </a:xfrm>
          <a:prstGeom prst="rect">
            <a:avLst/>
          </a:prstGeom>
        </p:spPr>
        <p:txBody>
          <a:bodyPr wrap="square">
            <a:spAutoFit/>
          </a:bodyPr>
          <a:lstStyle/>
          <a:p>
            <a:pPr algn="ctr"/>
            <a:endParaRPr lang="zh-CN" altLang="en-US" sz="1400" dirty="0">
              <a:solidFill>
                <a:srgbClr val="000000"/>
              </a:solidFill>
              <a:latin typeface="微软雅黑" panose="020B0503020204020204" pitchFamily="34" charset="-122"/>
              <a:ea typeface="微软雅黑" panose="020B0503020204020204" pitchFamily="34" charset="-122"/>
            </a:endParaRPr>
          </a:p>
          <a:p>
            <a:pPr algn="ctr"/>
            <a:r>
              <a:rPr lang="zh-CN" altLang="en-US" sz="1400" dirty="0">
                <a:latin typeface="微软雅黑" panose="020B0503020204020204" pitchFamily="34" charset="-122"/>
                <a:ea typeface="微软雅黑" panose="020B0503020204020204" pitchFamily="34" charset="-122"/>
              </a:rPr>
              <a:t>“南北”“存在差异”“南甜北咸”“南方人”“甜豆花”等单词之间存在前后依赖，这种依赖会被有效利用起来，得到各单词的隐式编码及句子的向量表达。</a:t>
            </a:r>
          </a:p>
        </p:txBody>
      </p:sp>
    </p:spTree>
    <p:extLst>
      <p:ext uri="{BB962C8B-B14F-4D97-AF65-F5344CB8AC3E}">
        <p14:creationId xmlns:p14="http://schemas.microsoft.com/office/powerpoint/2010/main" val="3135811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循环神经网络：应用模式</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三、循环神经网络</a:t>
            </a:r>
            <a:endParaRPr lang="zh-CN" altLang="en-US" sz="1600" dirty="0">
              <a:solidFill>
                <a:srgbClr val="000000"/>
              </a:solidFill>
              <a:latin typeface="Times New Roman" panose="02020603050405020304" pitchFamily="18" charset="0"/>
            </a:endParaRPr>
          </a:p>
        </p:txBody>
      </p:sp>
      <p:pic>
        <p:nvPicPr>
          <p:cNvPr id="7" name="图片 6">
            <a:extLst>
              <a:ext uri="{FF2B5EF4-FFF2-40B4-BE49-F238E27FC236}">
                <a16:creationId xmlns:a16="http://schemas.microsoft.com/office/drawing/2014/main" id="{59487733-A954-4B86-951E-D67AA8A6AF9C}"/>
              </a:ext>
            </a:extLst>
          </p:cNvPr>
          <p:cNvPicPr>
            <a:picLocks noChangeAspect="1"/>
          </p:cNvPicPr>
          <p:nvPr/>
        </p:nvPicPr>
        <p:blipFill>
          <a:blip r:embed="rId3"/>
          <a:stretch>
            <a:fillRect/>
          </a:stretch>
        </p:blipFill>
        <p:spPr>
          <a:xfrm>
            <a:off x="1327047" y="1484266"/>
            <a:ext cx="7073692" cy="5093059"/>
          </a:xfrm>
          <a:prstGeom prst="rect">
            <a:avLst/>
          </a:prstGeom>
        </p:spPr>
      </p:pic>
      <p:sp>
        <p:nvSpPr>
          <p:cNvPr id="9" name="文本框 8">
            <a:extLst>
              <a:ext uri="{FF2B5EF4-FFF2-40B4-BE49-F238E27FC236}">
                <a16:creationId xmlns:a16="http://schemas.microsoft.com/office/drawing/2014/main" id="{14746FE7-4E57-AD3F-15C1-CC9B1A9CC8DA}"/>
              </a:ext>
            </a:extLst>
          </p:cNvPr>
          <p:cNvSpPr txBox="1"/>
          <p:nvPr/>
        </p:nvSpPr>
        <p:spPr>
          <a:xfrm>
            <a:off x="8631102" y="2065260"/>
            <a:ext cx="3048000" cy="646331"/>
          </a:xfrm>
          <a:prstGeom prst="rect">
            <a:avLst/>
          </a:prstGeom>
          <a:noFill/>
        </p:spPr>
        <p:txBody>
          <a:bodyPr wrap="square">
            <a:spAutoFit/>
          </a:bodyPr>
          <a:lstStyle/>
          <a:p>
            <a:r>
              <a:rPr lang="zh-CN" altLang="en-US" sz="1800" dirty="0">
                <a:latin typeface="微软雅黑" panose="020B0503020204020204" pitchFamily="34" charset="-122"/>
                <a:ea typeface="微软雅黑" panose="020B0503020204020204" pitchFamily="34" charset="-122"/>
              </a:rPr>
              <a:t>输入和输出序列数据中包含多个单元</a:t>
            </a:r>
            <a:endParaRPr lang="zh-CN" altLang="en-US" dirty="0"/>
          </a:p>
        </p:txBody>
      </p:sp>
      <p:sp>
        <p:nvSpPr>
          <p:cNvPr id="11" name="文本框 10">
            <a:extLst>
              <a:ext uri="{FF2B5EF4-FFF2-40B4-BE49-F238E27FC236}">
                <a16:creationId xmlns:a16="http://schemas.microsoft.com/office/drawing/2014/main" id="{4F59C76D-E31D-A4C7-0D71-C00F0BD62312}"/>
              </a:ext>
            </a:extLst>
          </p:cNvPr>
          <p:cNvSpPr txBox="1"/>
          <p:nvPr/>
        </p:nvSpPr>
        <p:spPr>
          <a:xfrm>
            <a:off x="8631103" y="3354679"/>
            <a:ext cx="3208472" cy="646331"/>
          </a:xfrm>
          <a:prstGeom prst="rect">
            <a:avLst/>
          </a:prstGeom>
          <a:noFill/>
        </p:spPr>
        <p:txBody>
          <a:bodyPr wrap="square">
            <a:spAutoFit/>
          </a:bodyPr>
          <a:lstStyle/>
          <a:p>
            <a:r>
              <a:rPr lang="zh-CN" altLang="en-US" sz="1800" dirty="0">
                <a:latin typeface="微软雅黑" panose="020B0503020204020204" pitchFamily="34" charset="-122"/>
                <a:ea typeface="微软雅黑" panose="020B0503020204020204" pitchFamily="34" charset="-122"/>
              </a:rPr>
              <a:t>输入序列数据包含多个单元，输出序列数据只包含一个单元</a:t>
            </a:r>
            <a:endParaRPr lang="zh-CN" altLang="en-US" dirty="0"/>
          </a:p>
        </p:txBody>
      </p:sp>
      <p:sp>
        <p:nvSpPr>
          <p:cNvPr id="13" name="文本框 12">
            <a:extLst>
              <a:ext uri="{FF2B5EF4-FFF2-40B4-BE49-F238E27FC236}">
                <a16:creationId xmlns:a16="http://schemas.microsoft.com/office/drawing/2014/main" id="{550C6AA7-36C1-786D-822F-5C20B5B46071}"/>
              </a:ext>
            </a:extLst>
          </p:cNvPr>
          <p:cNvSpPr txBox="1"/>
          <p:nvPr/>
        </p:nvSpPr>
        <p:spPr>
          <a:xfrm>
            <a:off x="8576154" y="4841388"/>
            <a:ext cx="2943225" cy="646331"/>
          </a:xfrm>
          <a:prstGeom prst="rect">
            <a:avLst/>
          </a:prstGeom>
          <a:noFill/>
        </p:spPr>
        <p:txBody>
          <a:bodyPr wrap="square">
            <a:spAutoFit/>
          </a:bodyPr>
          <a:lstStyle/>
          <a:p>
            <a:r>
              <a:rPr lang="zh-CN" altLang="en-US" sz="1800" dirty="0">
                <a:latin typeface="微软雅黑" panose="020B0503020204020204" pitchFamily="34" charset="-122"/>
                <a:ea typeface="微软雅黑" panose="020B0503020204020204" pitchFamily="34" charset="-122"/>
              </a:rPr>
              <a:t>输入序列数据包含一个单元，输出序列数据包含多个单元</a:t>
            </a:r>
            <a:endParaRPr lang="zh-CN" altLang="en-US" dirty="0"/>
          </a:p>
        </p:txBody>
      </p:sp>
    </p:spTree>
    <p:extLst>
      <p:ext uri="{BB962C8B-B14F-4D97-AF65-F5344CB8AC3E}">
        <p14:creationId xmlns:p14="http://schemas.microsoft.com/office/powerpoint/2010/main" val="73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循环神经网络：梯度传递</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三、循环神经网络</a:t>
            </a:r>
            <a:endParaRPr lang="zh-CN" altLang="en-US" sz="1600" dirty="0">
              <a:solidFill>
                <a:srgbClr val="000000"/>
              </a:solidFill>
              <a:latin typeface="Times New Roman" panose="02020603050405020304" pitchFamily="18" charset="0"/>
            </a:endParaRPr>
          </a:p>
        </p:txBody>
      </p:sp>
      <p:pic>
        <p:nvPicPr>
          <p:cNvPr id="8" name="图片 7">
            <a:extLst>
              <a:ext uri="{FF2B5EF4-FFF2-40B4-BE49-F238E27FC236}">
                <a16:creationId xmlns:a16="http://schemas.microsoft.com/office/drawing/2014/main" id="{4E109C32-AE1E-474A-BFA9-FA18CC382EBA}"/>
              </a:ext>
            </a:extLst>
          </p:cNvPr>
          <p:cNvPicPr>
            <a:picLocks noChangeAspect="1"/>
          </p:cNvPicPr>
          <p:nvPr/>
        </p:nvPicPr>
        <p:blipFill>
          <a:blip r:embed="rId3"/>
          <a:stretch>
            <a:fillRect/>
          </a:stretch>
        </p:blipFill>
        <p:spPr>
          <a:xfrm>
            <a:off x="6687792" y="4088817"/>
            <a:ext cx="5181990" cy="2167813"/>
          </a:xfrm>
          <a:prstGeom prst="rect">
            <a:avLst/>
          </a:prstGeom>
        </p:spPr>
      </p:pic>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195DE748-D366-4C22-B081-E462EF3242F9}"/>
                  </a:ext>
                </a:extLst>
              </p:cNvPr>
              <p:cNvSpPr/>
              <p:nvPr/>
            </p:nvSpPr>
            <p:spPr>
              <a:xfrm>
                <a:off x="253219" y="1738174"/>
                <a:ext cx="6353908" cy="4426276"/>
              </a:xfrm>
              <a:prstGeom prst="rect">
                <a:avLst/>
              </a:prstGeom>
            </p:spPr>
            <p:txBody>
              <a:bodyPr wrap="square">
                <a:spAutoFit/>
              </a:bodyPr>
              <a:lstStyle/>
              <a:p>
                <a:pPr marL="285750" indent="-285750" algn="just">
                  <a:lnSpc>
                    <a:spcPct val="150000"/>
                  </a:lnSpc>
                  <a:spcAft>
                    <a:spcPts val="0"/>
                  </a:spcAft>
                  <a:buFont typeface="Arial" panose="020B0604020202020204" pitchFamily="34" charset="0"/>
                  <a:buChar char="•"/>
                </a:pPr>
                <a:r>
                  <a:rPr lang="zh-CN" altLang="zh-CN" sz="20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循环神经网络</a:t>
                </a:r>
                <a:r>
                  <a:rPr lang="zh-CN" altLang="en-US" sz="20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的问题</a:t>
                </a:r>
                <a:endParaRPr lang="en-US" altLang="zh-CN" sz="20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a:p>
                <a:pPr marL="742950" lvl="1" indent="-285750" algn="just">
                  <a:lnSpc>
                    <a:spcPct val="150000"/>
                  </a:lnSpc>
                  <a:buFont typeface="Arial" panose="020B0604020202020204" pitchFamily="34" charset="0"/>
                  <a:buChar char="•"/>
                </a:pPr>
                <a:r>
                  <a:rPr lang="zh-CN" altLang="zh-CN"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虽然具有一定的记忆能力，但当彼此相关信息在序列中相距较远时，循环神经网络无法捕捉到数据之中的时序依赖关系。</a:t>
                </a:r>
                <a:endParaRPr lang="en-US" altLang="zh-CN"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endParaRPr>
              </a:p>
              <a:p>
                <a:pPr marL="742950" lvl="1" indent="-285750" algn="just">
                  <a:lnSpc>
                    <a:spcPct val="150000"/>
                  </a:lnSpc>
                  <a:buFont typeface="Arial" panose="020B0604020202020204" pitchFamily="34" charset="0"/>
                  <a:buChar char="•"/>
                </a:pPr>
                <a:r>
                  <a:rPr lang="zh-CN" altLang="zh-CN"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当输入序列过长时，循环神经网络也容易出现梯度消失（</a:t>
                </a:r>
                <a:r>
                  <a:rPr lang="en-US" altLang="zh-CN"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gradient vanishing</a:t>
                </a:r>
                <a:r>
                  <a:rPr lang="zh-CN" altLang="zh-CN"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）或者梯度爆炸（</a:t>
                </a:r>
                <a:r>
                  <a:rPr lang="en-US" altLang="zh-CN"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gradient exploding</a:t>
                </a:r>
                <a:r>
                  <a:rPr lang="zh-CN" altLang="zh-CN"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）的问题。</a:t>
                </a:r>
                <a:endParaRPr lang="en-US" altLang="zh-CN" dirty="0">
                  <a:latin typeface="微软雅黑" panose="020B0503020204020204" pitchFamily="34" charset="-122"/>
                  <a:ea typeface="微软雅黑" panose="020B0503020204020204" pitchFamily="34" charset="-122"/>
                </a:endParaRPr>
              </a:p>
              <a:p>
                <a:pPr marL="285750" indent="-285750" algn="just">
                  <a:lnSpc>
                    <a:spcPct val="150000"/>
                  </a:lnSpc>
                  <a:buFont typeface="Arial" panose="020B0604020202020204" pitchFamily="34" charset="0"/>
                  <a:buChar char="•"/>
                </a:pPr>
                <a:r>
                  <a:rPr lang="zh-CN" altLang="zh-CN" sz="2000" dirty="0">
                    <a:latin typeface="微软雅黑" panose="020B0503020204020204" pitchFamily="34" charset="-122"/>
                    <a:ea typeface="微软雅黑" panose="020B0503020204020204" pitchFamily="34" charset="-122"/>
                  </a:rPr>
                  <a:t>使用交叉熵损失函数计算时刻</a:t>
                </a:r>
                <a14:m>
                  <m:oMath xmlns:m="http://schemas.openxmlformats.org/officeDocument/2006/math">
                    <m:r>
                      <a:rPr lang="en-US" altLang="zh-CN" sz="2000" i="1">
                        <a:latin typeface="Cambria Math" panose="02040503050406030204" pitchFamily="18" charset="0"/>
                      </a:rPr>
                      <m:t>𝑡</m:t>
                    </m:r>
                  </m:oMath>
                </a14:m>
                <a:r>
                  <a:rPr lang="zh-CN" altLang="zh-CN" sz="2000" dirty="0">
                    <a:latin typeface="微软雅黑" panose="020B0503020204020204" pitchFamily="34" charset="-122"/>
                    <a:ea typeface="微软雅黑" panose="020B0503020204020204" pitchFamily="34" charset="-122"/>
                  </a:rPr>
                  <a:t>预测输出与实际输出的误差</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𝐸</m:t>
                        </m:r>
                      </m:e>
                      <m:sub>
                        <m:r>
                          <a:rPr lang="en-US" altLang="zh-CN" sz="2000" i="1">
                            <a:latin typeface="Cambria Math" panose="02040503050406030204" pitchFamily="18" charset="0"/>
                          </a:rPr>
                          <m:t>𝑡</m:t>
                        </m:r>
                      </m:sub>
                    </m:sSub>
                  </m:oMath>
                </a14:m>
                <a:r>
                  <a:rPr lang="zh-CN" altLang="zh-CN" sz="2000" dirty="0">
                    <a:latin typeface="微软雅黑" panose="020B0503020204020204" pitchFamily="34" charset="-122"/>
                    <a:ea typeface="微软雅黑" panose="020B0503020204020204" pitchFamily="34" charset="-122"/>
                  </a:rPr>
                  <a:t>。整个序列产生的误差为</a:t>
                </a:r>
                <a14:m>
                  <m:oMath xmlns:m="http://schemas.openxmlformats.org/officeDocument/2006/math">
                    <m:r>
                      <a:rPr lang="en-US" altLang="zh-CN" sz="2000" i="1">
                        <a:latin typeface="Cambria Math" panose="02040503050406030204" pitchFamily="18" charset="0"/>
                      </a:rPr>
                      <m:t>𝐸</m:t>
                    </m:r>
                    <m:r>
                      <a:rPr lang="en-US" altLang="zh-CN" sz="2000" i="1">
                        <a:latin typeface="Cambria Math" panose="02040503050406030204" pitchFamily="18" charset="0"/>
                      </a:rPr>
                      <m:t>=</m:t>
                    </m:r>
                    <m:f>
                      <m:fPr>
                        <m:ctrlPr>
                          <a:rPr lang="zh-CN"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2</m:t>
                        </m:r>
                      </m:den>
                    </m:f>
                    <m:nary>
                      <m:naryPr>
                        <m:chr m:val="∑"/>
                        <m:limLoc m:val="subSup"/>
                        <m:ctrlPr>
                          <a:rPr lang="zh-CN" altLang="zh-CN" sz="2000" i="1">
                            <a:latin typeface="Cambria Math" panose="02040503050406030204" pitchFamily="18" charset="0"/>
                          </a:rPr>
                        </m:ctrlPr>
                      </m:naryPr>
                      <m:sub>
                        <m:r>
                          <a:rPr lang="en-US" altLang="zh-CN" sz="2000" i="1">
                            <a:latin typeface="Cambria Math" panose="02040503050406030204" pitchFamily="18" charset="0"/>
                          </a:rPr>
                          <m:t>𝑡</m:t>
                        </m:r>
                        <m:r>
                          <a:rPr lang="en-US" altLang="zh-CN" sz="2000" i="1">
                            <a:latin typeface="Cambria Math" panose="02040503050406030204" pitchFamily="18" charset="0"/>
                          </a:rPr>
                          <m:t>=1</m:t>
                        </m:r>
                      </m:sub>
                      <m:sup>
                        <m:r>
                          <a:rPr lang="en-US" altLang="zh-CN" sz="2000" i="1">
                            <a:latin typeface="Cambria Math" panose="02040503050406030204" pitchFamily="18" charset="0"/>
                          </a:rPr>
                          <m:t>𝑇</m:t>
                        </m:r>
                      </m:sup>
                      <m:e>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𝐸</m:t>
                            </m:r>
                          </m:e>
                          <m:sub>
                            <m:r>
                              <a:rPr lang="en-US" altLang="zh-CN" sz="2000" i="1">
                                <a:latin typeface="Cambria Math" panose="02040503050406030204" pitchFamily="18" charset="0"/>
                              </a:rPr>
                              <m:t>𝑡</m:t>
                            </m:r>
                          </m:sub>
                        </m:sSub>
                      </m:e>
                    </m:nary>
                  </m:oMath>
                </a14:m>
                <a:endParaRPr lang="zh-CN" altLang="zh-CN" sz="1400" dirty="0">
                  <a:latin typeface="微软雅黑" panose="020B0503020204020204" pitchFamily="34" charset="-122"/>
                  <a:ea typeface="微软雅黑" panose="020B0503020204020204" pitchFamily="34" charset="-122"/>
                </a:endParaRPr>
              </a:p>
              <a:p>
                <a:pPr indent="266700" algn="just">
                  <a:lnSpc>
                    <a:spcPts val="2200"/>
                  </a:lnSpc>
                  <a:spcAft>
                    <a:spcPts val="0"/>
                  </a:spcAft>
                </a:pP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195DE748-D366-4C22-B081-E462EF3242F9}"/>
                  </a:ext>
                </a:extLst>
              </p:cNvPr>
              <p:cNvSpPr>
                <a:spLocks noRot="1" noChangeAspect="1" noMove="1" noResize="1" noEditPoints="1" noAdjustHandles="1" noChangeArrowheads="1" noChangeShapeType="1" noTextEdit="1"/>
              </p:cNvSpPr>
              <p:nvPr/>
            </p:nvSpPr>
            <p:spPr>
              <a:xfrm>
                <a:off x="253219" y="1738174"/>
                <a:ext cx="6353908" cy="4426276"/>
              </a:xfrm>
              <a:prstGeom prst="rect">
                <a:avLst/>
              </a:prstGeom>
              <a:blipFill>
                <a:blip r:embed="rId4"/>
                <a:stretch>
                  <a:fillRect l="-864" r="-960" b="-7163"/>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46683B02-4C0C-FDB0-68E5-41AC45C4C437}"/>
              </a:ext>
            </a:extLst>
          </p:cNvPr>
          <p:cNvPicPr>
            <a:picLocks noChangeAspect="1"/>
          </p:cNvPicPr>
          <p:nvPr/>
        </p:nvPicPr>
        <p:blipFill>
          <a:blip r:embed="rId5"/>
          <a:stretch>
            <a:fillRect/>
          </a:stretch>
        </p:blipFill>
        <p:spPr>
          <a:xfrm>
            <a:off x="7928980" y="1288428"/>
            <a:ext cx="3113588" cy="2961510"/>
          </a:xfrm>
          <a:prstGeom prst="rect">
            <a:avLst/>
          </a:prstGeom>
        </p:spPr>
      </p:pic>
      <p:sp>
        <p:nvSpPr>
          <p:cNvPr id="13" name="文本框 12">
            <a:extLst>
              <a:ext uri="{FF2B5EF4-FFF2-40B4-BE49-F238E27FC236}">
                <a16:creationId xmlns:a16="http://schemas.microsoft.com/office/drawing/2014/main" id="{BB7DCE30-6E37-56FF-1291-6515A626C659}"/>
              </a:ext>
            </a:extLst>
          </p:cNvPr>
          <p:cNvSpPr txBox="1"/>
          <p:nvPr/>
        </p:nvSpPr>
        <p:spPr>
          <a:xfrm>
            <a:off x="6759746" y="2638378"/>
            <a:ext cx="1593669" cy="276999"/>
          </a:xfrm>
          <a:prstGeom prst="rect">
            <a:avLst/>
          </a:prstGeom>
          <a:noFill/>
        </p:spPr>
        <p:txBody>
          <a:bodyPr wrap="square">
            <a:spAutoFit/>
          </a:bodyPr>
          <a:lstStyle/>
          <a:p>
            <a:r>
              <a:rPr lang="zh-CN" altLang="en-US" sz="1200" dirty="0">
                <a:latin typeface="黑体" panose="02010609060101010101" pitchFamily="49" charset="-122"/>
                <a:ea typeface="黑体" panose="02010609060101010101" pitchFamily="49" charset="-122"/>
              </a:rPr>
              <a:t>词性标注任务</a:t>
            </a:r>
          </a:p>
        </p:txBody>
      </p:sp>
    </p:spTree>
    <p:extLst>
      <p:ext uri="{BB962C8B-B14F-4D97-AF65-F5344CB8AC3E}">
        <p14:creationId xmlns:p14="http://schemas.microsoft.com/office/powerpoint/2010/main" val="28310454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循环神经网络：更新参数</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三、循环神经网络</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E98E1855-D0A4-4C04-A109-2DAC7582DA1D}"/>
                  </a:ext>
                </a:extLst>
              </p:cNvPr>
              <p:cNvSpPr/>
              <p:nvPr/>
            </p:nvSpPr>
            <p:spPr>
              <a:xfrm>
                <a:off x="664864" y="1550808"/>
                <a:ext cx="10534357" cy="4328301"/>
              </a:xfrm>
              <a:prstGeom prst="rect">
                <a:avLst/>
              </a:prstGeom>
            </p:spPr>
            <p:txBody>
              <a:bodyPr wrap="square">
                <a:spAutoFit/>
              </a:bodyPr>
              <a:lstStyle/>
              <a:p>
                <a:pPr indent="266700" algn="just">
                  <a:lnSpc>
                    <a:spcPts val="2200"/>
                  </a:lnSpc>
                  <a:spcAft>
                    <a:spcPts val="0"/>
                  </a:spcAft>
                </a:pPr>
                <a:r>
                  <a:rPr lang="zh-CN" altLang="zh-CN" sz="1500" dirty="0">
                    <a:solidFill>
                      <a:srgbClr val="000000"/>
                    </a:solidFill>
                    <a:latin typeface="Times New Roman" panose="02020603050405020304" pitchFamily="18" charset="0"/>
                    <a:ea typeface="楷体_GB2312"/>
                    <a:cs typeface="Times New Roman" panose="02020603050405020304" pitchFamily="18" charset="0"/>
                  </a:rPr>
                  <a:t>下面介绍如何根据时刻</a:t>
                </a:r>
                <a14:m>
                  <m:oMath xmlns:m="http://schemas.openxmlformats.org/officeDocument/2006/math">
                    <m:r>
                      <a:rPr lang="en-US"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𝑡</m:t>
                    </m:r>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所得误差来更新参数</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a:solidFill>
                              <a:srgbClr val="000000"/>
                            </a:solidFill>
                            <a:latin typeface="Cambria Math" panose="02040503050406030204" pitchFamily="18" charset="0"/>
                            <a:ea typeface="楷体_GB2312"/>
                            <a:cs typeface="Times New Roman" panose="02020603050405020304" pitchFamily="18" charset="0"/>
                          </a:rPr>
                          <m:t>𝑊</m:t>
                        </m:r>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𝑥</m:t>
                        </m:r>
                      </m:sub>
                    </m:sSub>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。在时刻</a:t>
                </a:r>
                <a14:m>
                  <m:oMath xmlns:m="http://schemas.openxmlformats.org/officeDocument/2006/math">
                    <m:r>
                      <a:rPr lang="en-US"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𝑡</m:t>
                    </m:r>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计算所得</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a:solidFill>
                              <a:srgbClr val="000000"/>
                            </a:solidFill>
                            <a:latin typeface="Cambria Math" panose="02040503050406030204" pitchFamily="18" charset="0"/>
                            <a:ea typeface="楷体_GB2312"/>
                            <a:cs typeface="Times New Roman" panose="02020603050405020304" pitchFamily="18" charset="0"/>
                          </a:rPr>
                          <m:t>𝑂</m:t>
                        </m:r>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𝑡</m:t>
                        </m:r>
                      </m:sub>
                    </m:sSub>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不仅涉及到了时刻</a:t>
                </a:r>
                <a14:m>
                  <m:oMath xmlns:m="http://schemas.openxmlformats.org/officeDocument/2006/math">
                    <m:r>
                      <a:rPr lang="en-US"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𝑡</m:t>
                    </m:r>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的</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a:solidFill>
                              <a:srgbClr val="000000"/>
                            </a:solidFill>
                            <a:latin typeface="Cambria Math" panose="02040503050406030204" pitchFamily="18" charset="0"/>
                            <a:ea typeface="楷体_GB2312"/>
                            <a:cs typeface="Times New Roman" panose="02020603050405020304" pitchFamily="18" charset="0"/>
                          </a:rPr>
                          <m:t>𝑊</m:t>
                        </m:r>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𝑥</m:t>
                        </m:r>
                      </m:sub>
                    </m:sSub>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，而且也涉及了前面所有时刻的</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a:solidFill>
                              <a:srgbClr val="000000"/>
                            </a:solidFill>
                            <a:latin typeface="Cambria Math" panose="02040503050406030204" pitchFamily="18" charset="0"/>
                            <a:ea typeface="楷体_GB2312"/>
                            <a:cs typeface="Times New Roman" panose="02020603050405020304" pitchFamily="18" charset="0"/>
                          </a:rPr>
                          <m:t>𝑊</m:t>
                        </m:r>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𝑥</m:t>
                        </m:r>
                      </m:sub>
                    </m:sSub>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，按照链式求导法则，</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a:solidFill>
                              <a:srgbClr val="000000"/>
                            </a:solidFill>
                            <a:latin typeface="Cambria Math" panose="02040503050406030204" pitchFamily="18" charset="0"/>
                            <a:ea typeface="楷体_GB2312"/>
                            <a:cs typeface="Times New Roman" panose="02020603050405020304" pitchFamily="18" charset="0"/>
                          </a:rPr>
                          <m:t>𝐸</m:t>
                        </m:r>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𝑡</m:t>
                        </m:r>
                      </m:sub>
                    </m:sSub>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在对</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a:solidFill>
                              <a:srgbClr val="000000"/>
                            </a:solidFill>
                            <a:latin typeface="Cambria Math" panose="02040503050406030204" pitchFamily="18" charset="0"/>
                            <a:ea typeface="楷体_GB2312"/>
                            <a:cs typeface="Times New Roman" panose="02020603050405020304" pitchFamily="18" charset="0"/>
                          </a:rPr>
                          <m:t>𝑊</m:t>
                        </m:r>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𝑥</m:t>
                        </m:r>
                      </m:sub>
                    </m:sSub>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求导时候，也需要对前面时刻的</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a:solidFill>
                              <a:srgbClr val="000000"/>
                            </a:solidFill>
                            <a:latin typeface="Cambria Math" panose="02040503050406030204" pitchFamily="18" charset="0"/>
                            <a:ea typeface="楷体_GB2312"/>
                            <a:cs typeface="Times New Roman" panose="02020603050405020304" pitchFamily="18" charset="0"/>
                          </a:rPr>
                          <m:t>𝑊</m:t>
                        </m:r>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𝑥</m:t>
                        </m:r>
                      </m:sub>
                    </m:sSub>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依次求导，然后再将求导结果进行累加，即：</a:t>
                </a:r>
              </a:p>
              <a:p>
                <a:pPr indent="266700" algn="just">
                  <a:lnSpc>
                    <a:spcPct val="150000"/>
                  </a:lnSpc>
                  <a:spcAft>
                    <a:spcPts val="600"/>
                  </a:spcAft>
                </a:pPr>
                <a14:m>
                  <m:oMathPara xmlns:m="http://schemas.openxmlformats.org/officeDocument/2006/math">
                    <m:oMathParaPr>
                      <m:jc m:val="centerGroup"/>
                    </m:oMathParaPr>
                    <m:oMath xmlns:m="http://schemas.openxmlformats.org/officeDocument/2006/math">
                      <m:f>
                        <m:f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𝐸</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𝑡</m:t>
                              </m:r>
                            </m:sub>
                          </m:sSub>
                        </m:num>
                        <m:den>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𝑊</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𝑥</m:t>
                              </m:r>
                            </m:sub>
                          </m:sSub>
                        </m:den>
                      </m:f>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nary>
                        <m:naryPr>
                          <m:chr m:val="∑"/>
                          <m:limLoc m:val="undOv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𝑡</m:t>
                          </m:r>
                        </m:sup>
                        <m:e>
                          <m:f>
                            <m:f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𝐸</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𝑡</m:t>
                                  </m:r>
                                </m:sub>
                              </m:sSub>
                            </m:num>
                            <m:den>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𝑂</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𝑡</m:t>
                                  </m:r>
                                </m:sub>
                              </m:sSub>
                            </m:den>
                          </m:f>
                        </m:e>
                      </m:nary>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 </m:t>
                      </m:r>
                      <m:f>
                        <m:f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𝑂</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𝑡</m:t>
                              </m:r>
                            </m:sub>
                          </m:sSub>
                        </m:num>
                        <m:den>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𝑡</m:t>
                              </m:r>
                            </m:sub>
                          </m:sSub>
                        </m:den>
                      </m:f>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nary>
                        <m:naryPr>
                          <m:chr m:val="∏"/>
                          <m:limLoc m:val="undOv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𝑗</m:t>
                          </m:r>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𝑡</m:t>
                          </m:r>
                        </m:sup>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 </m:t>
                          </m:r>
                          <m:f>
                            <m:f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𝑗</m:t>
                                  </m:r>
                                </m:sub>
                              </m:sSub>
                            </m:num>
                            <m:den>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𝑗</m:t>
                                  </m:r>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−1</m:t>
                                  </m:r>
                                </m:sub>
                              </m:sSub>
                            </m:den>
                          </m:f>
                        </m:e>
                      </m:nary>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𝑖</m:t>
                              </m:r>
                            </m:sub>
                          </m:sSub>
                        </m:num>
                        <m:den>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𝑊</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𝑥</m:t>
                              </m:r>
                            </m:sub>
                          </m:sSub>
                        </m:den>
                      </m:f>
                    </m:oMath>
                  </m:oMathPara>
                </a14:m>
                <a:endParaRPr lang="zh-CN" altLang="zh-CN" sz="1500" kern="100" dirty="0">
                  <a:latin typeface="等线" panose="02010600030101010101" pitchFamily="2" charset="-122"/>
                  <a:ea typeface="等线" panose="02010600030101010101" pitchFamily="2" charset="-122"/>
                  <a:cs typeface="Times New Roman" panose="02020603050405020304" pitchFamily="18" charset="0"/>
                </a:endParaRPr>
              </a:p>
              <a:p>
                <a:pPr algn="ctr">
                  <a:lnSpc>
                    <a:spcPct val="150000"/>
                  </a:lnSpc>
                  <a:spcAft>
                    <a:spcPts val="600"/>
                  </a:spcAft>
                </a:pPr>
                <a:r>
                  <a:rPr lang="zh-CN" altLang="zh-CN" sz="1500" kern="100" dirty="0">
                    <a:latin typeface="Times New Roman" panose="02020603050405020304" pitchFamily="18" charset="0"/>
                    <a:ea typeface="楷体_GB2312"/>
                    <a:cs typeface="Times New Roman" panose="02020603050405020304" pitchFamily="18" charset="0"/>
                  </a:rPr>
                  <a:t>其中</a:t>
                </a:r>
                <a14:m>
                  <m:oMath xmlns:m="http://schemas.openxmlformats.org/officeDocument/2006/math">
                    <m:nary>
                      <m:naryPr>
                        <m:chr m:val="∏"/>
                        <m:limLoc m:val="undOv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𝑗</m:t>
                        </m:r>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𝑡</m:t>
                        </m:r>
                      </m:sup>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 </m:t>
                        </m:r>
                        <m:f>
                          <m:f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𝑗</m:t>
                                </m:r>
                              </m:sub>
                            </m:sSub>
                          </m:num>
                          <m:den>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𝑗</m:t>
                                </m:r>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−1</m:t>
                                </m:r>
                              </m:sub>
                            </m:sSub>
                          </m:den>
                        </m:f>
                      </m:e>
                    </m:nary>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nary>
                      <m:naryPr>
                        <m:chr m:val="∏"/>
                        <m:limLoc m:val="subSup"/>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𝑗</m:t>
                        </m:r>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𝑡</m:t>
                        </m:r>
                      </m:sup>
                      <m:e>
                        <m:sSup>
                          <m:sSup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𝑡𝑎𝑛h</m:t>
                            </m:r>
                          </m:e>
                          <m:sup>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up>
                        </m:sSup>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𝑊</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h</m:t>
                            </m:r>
                          </m:sub>
                        </m:sSub>
                      </m:e>
                    </m:nary>
                  </m:oMath>
                </a14:m>
                <a:endParaRPr lang="zh-CN" altLang="zh-CN" sz="15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sz="1500" dirty="0">
                    <a:solidFill>
                      <a:srgbClr val="000000"/>
                    </a:solidFill>
                    <a:latin typeface="Times New Roman" panose="02020603050405020304" pitchFamily="18" charset="0"/>
                    <a:ea typeface="楷体_GB2312"/>
                    <a:cs typeface="Times New Roman" panose="02020603050405020304" pitchFamily="18" charset="0"/>
                  </a:rPr>
                  <a:t>令</a:t>
                </a:r>
                <a14:m>
                  <m:oMath xmlns:m="http://schemas.openxmlformats.org/officeDocument/2006/math">
                    <m:r>
                      <a:rPr lang="en-US"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𝑡</m:t>
                    </m:r>
                    <m:r>
                      <a:rPr lang="en-US"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=3</m:t>
                    </m:r>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，则有：</a:t>
                </a:r>
              </a:p>
              <a:p>
                <a:pPr indent="266700" algn="just">
                  <a:lnSpc>
                    <a:spcPct val="150000"/>
                  </a:lnSpc>
                  <a:spcBef>
                    <a:spcPts val="600"/>
                  </a:spcBef>
                  <a:spcAft>
                    <a:spcPts val="600"/>
                  </a:spcAft>
                </a:pPr>
                <a14:m>
                  <m:oMathPara xmlns:m="http://schemas.openxmlformats.org/officeDocument/2006/math">
                    <m:oMathParaPr>
                      <m:jc m:val="centerGroup"/>
                    </m:oMathParaPr>
                    <m:oMath xmlns:m="http://schemas.openxmlformats.org/officeDocument/2006/math">
                      <m:f>
                        <m:f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𝐸</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3</m:t>
                              </m:r>
                            </m:sub>
                          </m:sSub>
                        </m:num>
                        <m:den>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𝑊</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𝑥</m:t>
                              </m:r>
                            </m:sub>
                          </m:sSub>
                        </m:den>
                      </m:f>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𝐸</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3</m:t>
                              </m:r>
                            </m:sub>
                          </m:sSub>
                        </m:num>
                        <m:den>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𝑂</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3</m:t>
                              </m:r>
                            </m:sub>
                          </m:sSub>
                        </m:den>
                      </m:f>
                      <m:f>
                        <m:f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𝑂</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3</m:t>
                              </m:r>
                            </m:sub>
                          </m:sSub>
                        </m:num>
                        <m:den>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3</m:t>
                              </m:r>
                            </m:sub>
                          </m:sSub>
                        </m:den>
                      </m:f>
                      <m:f>
                        <m:f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3</m:t>
                              </m:r>
                            </m:sub>
                          </m:sSub>
                        </m:num>
                        <m:den>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𝑊</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𝑥</m:t>
                              </m:r>
                            </m:sub>
                          </m:sSub>
                        </m:den>
                      </m:f>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𝐸</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3</m:t>
                              </m:r>
                            </m:sub>
                          </m:sSub>
                        </m:num>
                        <m:den>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𝑂</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3</m:t>
                              </m:r>
                            </m:sub>
                          </m:sSub>
                        </m:den>
                      </m:f>
                      <m:f>
                        <m:f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𝑂</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3</m:t>
                              </m:r>
                            </m:sub>
                          </m:sSub>
                        </m:num>
                        <m:den>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3</m:t>
                              </m:r>
                            </m:sub>
                          </m:sSub>
                        </m:den>
                      </m:f>
                      <m:f>
                        <m:f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3</m:t>
                              </m:r>
                            </m:sub>
                          </m:sSub>
                        </m:num>
                        <m:den>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2</m:t>
                              </m:r>
                            </m:sub>
                          </m:sSub>
                        </m:den>
                      </m:f>
                      <m:f>
                        <m:f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2</m:t>
                              </m:r>
                            </m:sub>
                          </m:sSub>
                        </m:num>
                        <m:den>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𝑊</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𝑥</m:t>
                              </m:r>
                            </m:sub>
                          </m:sSub>
                        </m:den>
                      </m:f>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𝐸</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3</m:t>
                              </m:r>
                            </m:sub>
                          </m:sSub>
                        </m:num>
                        <m:den>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𝑂</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3</m:t>
                              </m:r>
                            </m:sub>
                          </m:sSub>
                        </m:den>
                      </m:f>
                      <m:f>
                        <m:f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𝑂</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3</m:t>
                              </m:r>
                            </m:sub>
                          </m:sSub>
                        </m:num>
                        <m:den>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3</m:t>
                              </m:r>
                            </m:sub>
                          </m:sSub>
                        </m:den>
                      </m:f>
                      <m:f>
                        <m:fPr>
                          <m:ctrlPr>
                            <a:rPr lang="zh-CN" altLang="zh-CN" sz="1500" i="1" kern="100" smtClean="0">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500" i="1" kern="100">
                              <a:solidFill>
                                <a:schemeClr val="accent2"/>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solidFill>
                                    <a:schemeClr val="accent2"/>
                                  </a:solidFill>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500" i="1" kern="100">
                                  <a:solidFill>
                                    <a:schemeClr val="accent2"/>
                                  </a:solidFill>
                                  <a:latin typeface="Cambria Math" panose="02040503050406030204" pitchFamily="18" charset="0"/>
                                  <a:ea typeface="华文楷体" panose="02010600040101010101" pitchFamily="2" charset="-122"/>
                                  <a:cs typeface="Times New Roman" panose="02020603050405020304" pitchFamily="18" charset="0"/>
                                </a:rPr>
                                <m:t>3</m:t>
                              </m:r>
                            </m:sub>
                          </m:sSub>
                        </m:num>
                        <m:den>
                          <m:r>
                            <a:rPr lang="en-US" altLang="zh-CN" sz="1500" i="1" kern="100">
                              <a:solidFill>
                                <a:schemeClr val="accent2"/>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solidFill>
                                    <a:schemeClr val="accent2"/>
                                  </a:solidFill>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500" i="1" kern="100">
                                  <a:solidFill>
                                    <a:schemeClr val="accent2"/>
                                  </a:solidFill>
                                  <a:latin typeface="Cambria Math" panose="02040503050406030204" pitchFamily="18" charset="0"/>
                                  <a:ea typeface="华文楷体" panose="02010600040101010101" pitchFamily="2" charset="-122"/>
                                  <a:cs typeface="Times New Roman" panose="02020603050405020304" pitchFamily="18" charset="0"/>
                                </a:rPr>
                                <m:t>2</m:t>
                              </m:r>
                            </m:sub>
                          </m:sSub>
                        </m:den>
                      </m:f>
                      <m:f>
                        <m:fPr>
                          <m:ctrlPr>
                            <a:rPr lang="zh-CN" altLang="zh-CN" sz="1500" i="1" kern="100">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500" i="1" kern="100">
                              <a:solidFill>
                                <a:schemeClr val="accent2"/>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solidFill>
                                    <a:schemeClr val="accent2"/>
                                  </a:solidFill>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500" i="1" kern="100">
                                  <a:solidFill>
                                    <a:schemeClr val="accent2"/>
                                  </a:solidFill>
                                  <a:latin typeface="Cambria Math" panose="02040503050406030204" pitchFamily="18" charset="0"/>
                                  <a:ea typeface="华文楷体" panose="02010600040101010101" pitchFamily="2" charset="-122"/>
                                  <a:cs typeface="Times New Roman" panose="02020603050405020304" pitchFamily="18" charset="0"/>
                                </a:rPr>
                                <m:t>2</m:t>
                              </m:r>
                            </m:sub>
                          </m:sSub>
                        </m:num>
                        <m:den>
                          <m:r>
                            <a:rPr lang="en-US" altLang="zh-CN" sz="1500" i="1" kern="100">
                              <a:solidFill>
                                <a:schemeClr val="accent2"/>
                              </a:solidFill>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solidFill>
                                    <a:schemeClr val="accent2"/>
                                  </a:solidFill>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500" i="1" kern="100">
                                  <a:solidFill>
                                    <a:schemeClr val="accent2"/>
                                  </a:solidFill>
                                  <a:latin typeface="Cambria Math" panose="02040503050406030204" pitchFamily="18" charset="0"/>
                                  <a:ea typeface="华文楷体" panose="02010600040101010101" pitchFamily="2" charset="-122"/>
                                  <a:cs typeface="Times New Roman" panose="02020603050405020304" pitchFamily="18" charset="0"/>
                                </a:rPr>
                                <m:t>1</m:t>
                              </m:r>
                            </m:sub>
                          </m:sSub>
                        </m:den>
                      </m:f>
                      <m:f>
                        <m:f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h</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1</m:t>
                              </m:r>
                            </m:sub>
                          </m:sSub>
                        </m:num>
                        <m:den>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𝑊</m:t>
                              </m:r>
                            </m:e>
                            <m:sub>
                              <m:r>
                                <a:rPr lang="en-US" altLang="zh-CN" sz="1500" i="1" kern="100">
                                  <a:latin typeface="Cambria Math" panose="02040503050406030204" pitchFamily="18" charset="0"/>
                                  <a:ea typeface="华文楷体" panose="02010600040101010101" pitchFamily="2" charset="-122"/>
                                  <a:cs typeface="Times New Roman" panose="02020603050405020304" pitchFamily="18" charset="0"/>
                                </a:rPr>
                                <m:t>𝑥</m:t>
                              </m:r>
                            </m:sub>
                          </m:sSub>
                        </m:den>
                      </m:f>
                    </m:oMath>
                  </m:oMathPara>
                </a14:m>
                <a:endParaRPr lang="zh-CN" altLang="zh-CN" sz="15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sz="1500" dirty="0">
                    <a:solidFill>
                      <a:schemeClr val="accent2"/>
                    </a:solidFill>
                    <a:latin typeface="Times New Roman" panose="02020603050405020304" pitchFamily="18" charset="0"/>
                    <a:ea typeface="楷体_GB2312"/>
                    <a:cs typeface="Times New Roman" panose="02020603050405020304" pitchFamily="18" charset="0"/>
                  </a:rPr>
                  <a:t>由于</a:t>
                </a:r>
                <a14:m>
                  <m:oMath xmlns:m="http://schemas.openxmlformats.org/officeDocument/2006/math">
                    <m:r>
                      <a:rPr lang="en-US" altLang="zh-CN" sz="1500" i="1">
                        <a:solidFill>
                          <a:schemeClr val="accent2"/>
                        </a:solidFill>
                        <a:latin typeface="Cambria Math" panose="02040503050406030204" pitchFamily="18" charset="0"/>
                        <a:ea typeface="楷体_GB2312"/>
                        <a:cs typeface="Times New Roman" panose="02020603050405020304" pitchFamily="18" charset="0"/>
                      </a:rPr>
                      <m:t>𝑡𝑎𝑛h</m:t>
                    </m:r>
                  </m:oMath>
                </a14:m>
                <a:r>
                  <a:rPr lang="zh-CN" altLang="zh-CN" sz="1500" dirty="0">
                    <a:solidFill>
                      <a:schemeClr val="accent2"/>
                    </a:solidFill>
                    <a:latin typeface="Times New Roman" panose="02020603050405020304" pitchFamily="18" charset="0"/>
                    <a:ea typeface="楷体_GB2312"/>
                    <a:cs typeface="Times New Roman" panose="02020603050405020304" pitchFamily="18" charset="0"/>
                  </a:rPr>
                  <a:t>函数的导数取值位于</a:t>
                </a:r>
                <a:r>
                  <a:rPr lang="en-US" altLang="zh-CN" sz="1500" dirty="0">
                    <a:solidFill>
                      <a:schemeClr val="accent2"/>
                    </a:solidFill>
                    <a:latin typeface="Times New Roman" panose="02020603050405020304" pitchFamily="18" charset="0"/>
                    <a:ea typeface="楷体_GB2312"/>
                    <a:cs typeface="Times New Roman" panose="02020603050405020304" pitchFamily="18" charset="0"/>
                  </a:rPr>
                  <a:t>0</a:t>
                </a:r>
                <a:r>
                  <a:rPr lang="zh-CN" altLang="zh-CN" sz="1500" dirty="0">
                    <a:solidFill>
                      <a:schemeClr val="accent2"/>
                    </a:solidFill>
                    <a:latin typeface="Times New Roman" panose="02020603050405020304" pitchFamily="18" charset="0"/>
                    <a:ea typeface="楷体_GB2312"/>
                    <a:cs typeface="Times New Roman" panose="02020603050405020304" pitchFamily="18" charset="0"/>
                  </a:rPr>
                  <a:t>到</a:t>
                </a:r>
                <a:r>
                  <a:rPr lang="en-US" altLang="zh-CN" sz="1500" dirty="0">
                    <a:solidFill>
                      <a:schemeClr val="accent2"/>
                    </a:solidFill>
                    <a:latin typeface="Times New Roman" panose="02020603050405020304" pitchFamily="18" charset="0"/>
                    <a:ea typeface="楷体_GB2312"/>
                    <a:cs typeface="Times New Roman" panose="02020603050405020304" pitchFamily="18" charset="0"/>
                  </a:rPr>
                  <a:t>1</a:t>
                </a:r>
                <a:r>
                  <a:rPr lang="zh-CN" altLang="zh-CN" sz="1500" dirty="0">
                    <a:solidFill>
                      <a:schemeClr val="accent2"/>
                    </a:solidFill>
                    <a:latin typeface="Times New Roman" panose="02020603050405020304" pitchFamily="18" charset="0"/>
                    <a:ea typeface="楷体_GB2312"/>
                    <a:cs typeface="Times New Roman" panose="02020603050405020304" pitchFamily="18" charset="0"/>
                  </a:rPr>
                  <a:t>区间，对于长序列而言，若干多个</a:t>
                </a:r>
                <a:r>
                  <a:rPr lang="en-US" altLang="zh-CN" sz="1500" dirty="0">
                    <a:solidFill>
                      <a:schemeClr val="accent2"/>
                    </a:solidFill>
                    <a:latin typeface="Times New Roman" panose="02020603050405020304" pitchFamily="18" charset="0"/>
                    <a:ea typeface="楷体_GB2312"/>
                    <a:cs typeface="Times New Roman" panose="02020603050405020304" pitchFamily="18" charset="0"/>
                  </a:rPr>
                  <a:t>0</a:t>
                </a:r>
                <a:r>
                  <a:rPr lang="zh-CN" altLang="zh-CN" sz="1500" dirty="0">
                    <a:solidFill>
                      <a:schemeClr val="accent2"/>
                    </a:solidFill>
                    <a:latin typeface="Times New Roman" panose="02020603050405020304" pitchFamily="18" charset="0"/>
                    <a:ea typeface="楷体_GB2312"/>
                    <a:cs typeface="Times New Roman" panose="02020603050405020304" pitchFamily="18" charset="0"/>
                  </a:rPr>
                  <a:t>到</a:t>
                </a:r>
                <a:r>
                  <a:rPr lang="en-US" altLang="zh-CN" sz="1500" dirty="0">
                    <a:solidFill>
                      <a:schemeClr val="accent2"/>
                    </a:solidFill>
                    <a:latin typeface="Times New Roman" panose="02020603050405020304" pitchFamily="18" charset="0"/>
                    <a:ea typeface="楷体_GB2312"/>
                    <a:cs typeface="Times New Roman" panose="02020603050405020304" pitchFamily="18" charset="0"/>
                  </a:rPr>
                  <a:t>1</a:t>
                </a:r>
                <a:r>
                  <a:rPr lang="zh-CN" altLang="zh-CN" sz="1500" dirty="0">
                    <a:solidFill>
                      <a:schemeClr val="accent2"/>
                    </a:solidFill>
                    <a:latin typeface="Times New Roman" panose="02020603050405020304" pitchFamily="18" charset="0"/>
                    <a:ea typeface="楷体_GB2312"/>
                    <a:cs typeface="Times New Roman" panose="02020603050405020304" pitchFamily="18" charset="0"/>
                  </a:rPr>
                  <a:t>区间的小数相乘，会使得参数求导结果很小，引发梯度消失问题</a:t>
                </a:r>
                <a:r>
                  <a:rPr lang="zh-CN" altLang="en-US" sz="1500" dirty="0">
                    <a:solidFill>
                      <a:schemeClr val="accent2"/>
                    </a:solidFill>
                    <a:latin typeface="Times New Roman" panose="02020603050405020304" pitchFamily="18" charset="0"/>
                    <a:ea typeface="楷体_GB2312"/>
                    <a:cs typeface="Times New Roman" panose="02020603050405020304" pitchFamily="18" charset="0"/>
                  </a:rPr>
                  <a:t>，导致长</a:t>
                </a:r>
                <a:r>
                  <a:rPr lang="zh-CN" altLang="zh-CN" sz="16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时序依赖关系</a:t>
                </a:r>
                <a:r>
                  <a:rPr lang="zh-CN" altLang="en-US" sz="16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难以捕获</a:t>
                </a:r>
                <a:r>
                  <a:rPr lang="zh-CN" altLang="zh-CN" sz="1500" dirty="0">
                    <a:solidFill>
                      <a:schemeClr val="accent2"/>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a:solidFill>
                              <a:srgbClr val="000000"/>
                            </a:solidFill>
                            <a:latin typeface="Cambria Math" panose="02040503050406030204" pitchFamily="18" charset="0"/>
                            <a:ea typeface="楷体_GB2312"/>
                            <a:cs typeface="Times New Roman" panose="02020603050405020304" pitchFamily="18" charset="0"/>
                          </a:rPr>
                          <m:t>𝐸</m:t>
                        </m:r>
                      </m:e>
                      <m:sub>
                        <m:r>
                          <a:rPr lang="en-US" altLang="zh-CN" sz="1500" i="1">
                            <a:solidFill>
                              <a:srgbClr val="000000"/>
                            </a:solidFill>
                            <a:latin typeface="Cambria Math" panose="02040503050406030204" pitchFamily="18" charset="0"/>
                            <a:ea typeface="楷体_GB2312"/>
                            <a:cs typeface="Times New Roman" panose="02020603050405020304" pitchFamily="18" charset="0"/>
                          </a:rPr>
                          <m:t>𝑡</m:t>
                        </m:r>
                      </m:sub>
                    </m:sSub>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对</a:t>
                </a:r>
                <a14:m>
                  <m:oMath xmlns:m="http://schemas.openxmlformats.org/officeDocument/2006/math">
                    <m:sSub>
                      <m:sSubPr>
                        <m:ctrlPr>
                          <a:rPr lang="zh-CN" altLang="zh-CN" sz="15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a:solidFill>
                              <a:srgbClr val="000000"/>
                            </a:solidFill>
                            <a:latin typeface="Cambria Math" panose="02040503050406030204" pitchFamily="18" charset="0"/>
                            <a:ea typeface="楷体_GB2312"/>
                            <a:cs typeface="Times New Roman" panose="02020603050405020304" pitchFamily="18" charset="0"/>
                          </a:rPr>
                          <m:t>𝑊</m:t>
                        </m:r>
                      </m:e>
                      <m:sub>
                        <m:r>
                          <a:rPr lang="en-US" altLang="zh-CN" sz="1500" i="1">
                            <a:solidFill>
                              <a:srgbClr val="000000"/>
                            </a:solidFill>
                            <a:latin typeface="Cambria Math" panose="02040503050406030204" pitchFamily="18" charset="0"/>
                            <a:ea typeface="楷体_GB2312"/>
                            <a:cs typeface="Times New Roman" panose="02020603050405020304" pitchFamily="18" charset="0"/>
                          </a:rPr>
                          <m:t>h</m:t>
                        </m:r>
                      </m:sub>
                    </m:sSub>
                  </m:oMath>
                </a14:m>
                <a:r>
                  <a:rPr lang="zh-CN" altLang="zh-CN" sz="1500" dirty="0">
                    <a:solidFill>
                      <a:srgbClr val="000000"/>
                    </a:solidFill>
                    <a:latin typeface="Times New Roman" panose="02020603050405020304" pitchFamily="18" charset="0"/>
                    <a:ea typeface="楷体_GB2312"/>
                    <a:cs typeface="Times New Roman" panose="02020603050405020304" pitchFamily="18" charset="0"/>
                  </a:rPr>
                  <a:t>的求导类似，这里就不列出了。为了缓解梯度消失问题，</a:t>
                </a:r>
                <a:r>
                  <a:rPr lang="zh-CN" altLang="zh-CN" sz="1500" dirty="0">
                    <a:solidFill>
                      <a:schemeClr val="accent2"/>
                    </a:solidFill>
                    <a:latin typeface="Times New Roman" panose="02020603050405020304" pitchFamily="18" charset="0"/>
                    <a:ea typeface="楷体_GB2312"/>
                    <a:cs typeface="Times New Roman" panose="02020603050405020304" pitchFamily="18" charset="0"/>
                  </a:rPr>
                  <a:t>长短时记忆模型（</a:t>
                </a:r>
                <a:r>
                  <a:rPr lang="en-US" altLang="zh-CN" sz="1500" dirty="0">
                    <a:solidFill>
                      <a:schemeClr val="accent2"/>
                    </a:solidFill>
                    <a:latin typeface="Times New Roman" panose="02020603050405020304" pitchFamily="18" charset="0"/>
                    <a:ea typeface="楷体_GB2312"/>
                    <a:cs typeface="Times New Roman" panose="02020603050405020304" pitchFamily="18" charset="0"/>
                  </a:rPr>
                  <a:t>Long Short-Term Memory</a:t>
                </a:r>
                <a:r>
                  <a:rPr lang="zh-CN" altLang="zh-CN" sz="1500" dirty="0">
                    <a:solidFill>
                      <a:schemeClr val="accent2"/>
                    </a:solidFill>
                    <a:latin typeface="Times New Roman" panose="02020603050405020304" pitchFamily="18" charset="0"/>
                    <a:ea typeface="楷体_GB2312"/>
                    <a:cs typeface="Times New Roman" panose="02020603050405020304" pitchFamily="18" charset="0"/>
                  </a:rPr>
                  <a:t>，</a:t>
                </a:r>
                <a:r>
                  <a:rPr lang="en-US" altLang="zh-CN" sz="1500" dirty="0">
                    <a:solidFill>
                      <a:schemeClr val="accent2"/>
                    </a:solidFill>
                    <a:latin typeface="Times New Roman" panose="02020603050405020304" pitchFamily="18" charset="0"/>
                    <a:ea typeface="楷体_GB2312"/>
                    <a:cs typeface="Times New Roman" panose="02020603050405020304" pitchFamily="18" charset="0"/>
                  </a:rPr>
                  <a:t>LSTM</a:t>
                </a:r>
                <a:r>
                  <a:rPr lang="zh-CN" altLang="zh-CN" sz="1500" dirty="0">
                    <a:solidFill>
                      <a:schemeClr val="accent2"/>
                    </a:solidFill>
                    <a:latin typeface="Times New Roman" panose="02020603050405020304" pitchFamily="18" charset="0"/>
                    <a:ea typeface="楷体_GB2312"/>
                    <a:cs typeface="Times New Roman" panose="02020603050405020304" pitchFamily="18" charset="0"/>
                  </a:rPr>
                  <a:t>）</a:t>
                </a:r>
                <a:r>
                  <a:rPr lang="zh-CN" altLang="zh-CN" sz="1500" dirty="0">
                    <a:solidFill>
                      <a:srgbClr val="000000"/>
                    </a:solidFill>
                    <a:latin typeface="Times New Roman" panose="02020603050405020304" pitchFamily="18" charset="0"/>
                    <a:ea typeface="楷体_GB2312"/>
                    <a:cs typeface="Times New Roman" panose="02020603050405020304" pitchFamily="18" charset="0"/>
                  </a:rPr>
                  <a:t>被提出。</a:t>
                </a:r>
              </a:p>
            </p:txBody>
          </p:sp>
        </mc:Choice>
        <mc:Fallback xmlns="">
          <p:sp>
            <p:nvSpPr>
              <p:cNvPr id="2" name="矩形 1">
                <a:extLst>
                  <a:ext uri="{FF2B5EF4-FFF2-40B4-BE49-F238E27FC236}">
                    <a16:creationId xmlns:a16="http://schemas.microsoft.com/office/drawing/2014/main" id="{E98E1855-D0A4-4C04-A109-2DAC7582DA1D}"/>
                  </a:ext>
                </a:extLst>
              </p:cNvPr>
              <p:cNvSpPr>
                <a:spLocks noRot="1" noChangeAspect="1" noMove="1" noResize="1" noEditPoints="1" noAdjustHandles="1" noChangeArrowheads="1" noChangeShapeType="1" noTextEdit="1"/>
              </p:cNvSpPr>
              <p:nvPr/>
            </p:nvSpPr>
            <p:spPr>
              <a:xfrm>
                <a:off x="664864" y="1550808"/>
                <a:ext cx="10534357" cy="4328301"/>
              </a:xfrm>
              <a:prstGeom prst="rect">
                <a:avLst/>
              </a:prstGeom>
              <a:blipFill>
                <a:blip r:embed="rId3"/>
                <a:stretch>
                  <a:fillRect l="-231" r="-231" b="-704"/>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207761FD-904C-6906-5AB1-FCD6234C779B}"/>
              </a:ext>
            </a:extLst>
          </p:cNvPr>
          <p:cNvSpPr txBox="1"/>
          <p:nvPr/>
        </p:nvSpPr>
        <p:spPr>
          <a:xfrm>
            <a:off x="5253504" y="3768035"/>
            <a:ext cx="2290354" cy="369332"/>
          </a:xfrm>
          <a:prstGeom prst="rect">
            <a:avLst/>
          </a:prstGeom>
          <a:noFill/>
        </p:spPr>
        <p:txBody>
          <a:bodyPr wrap="square">
            <a:spAutoFit/>
          </a:bodyPr>
          <a:lstStyle/>
          <a:p>
            <a:r>
              <a:rPr lang="pt-BR" altLang="zh-CN" b="0" i="0" dirty="0">
                <a:solidFill>
                  <a:srgbClr val="191B1F"/>
                </a:solidFill>
                <a:effectLst/>
                <a:latin typeface="-apple-system"/>
              </a:rPr>
              <a:t>tanh′=1−tanh^2</a:t>
            </a:r>
            <a:endParaRPr lang="zh-CN" altLang="en-US" dirty="0"/>
          </a:p>
        </p:txBody>
      </p:sp>
      <p:pic>
        <p:nvPicPr>
          <p:cNvPr id="15" name="图片 14">
            <a:extLst>
              <a:ext uri="{FF2B5EF4-FFF2-40B4-BE49-F238E27FC236}">
                <a16:creationId xmlns:a16="http://schemas.microsoft.com/office/drawing/2014/main" id="{1B317F50-A4BA-443A-B197-E806E087C1EF}"/>
              </a:ext>
            </a:extLst>
          </p:cNvPr>
          <p:cNvPicPr>
            <a:picLocks noChangeAspect="1"/>
          </p:cNvPicPr>
          <p:nvPr/>
        </p:nvPicPr>
        <p:blipFill>
          <a:blip r:embed="rId4"/>
          <a:stretch>
            <a:fillRect/>
          </a:stretch>
        </p:blipFill>
        <p:spPr>
          <a:xfrm>
            <a:off x="8166070" y="2421299"/>
            <a:ext cx="4102130" cy="1716068"/>
          </a:xfrm>
          <a:prstGeom prst="rect">
            <a:avLst/>
          </a:prstGeom>
        </p:spPr>
      </p:pic>
      <p:cxnSp>
        <p:nvCxnSpPr>
          <p:cNvPr id="17" name="直接箭头连接符 16">
            <a:extLst>
              <a:ext uri="{FF2B5EF4-FFF2-40B4-BE49-F238E27FC236}">
                <a16:creationId xmlns:a16="http://schemas.microsoft.com/office/drawing/2014/main" id="{018D4EE7-0407-26B5-1640-AB7F09ACCB17}"/>
              </a:ext>
            </a:extLst>
          </p:cNvPr>
          <p:cNvCxnSpPr>
            <a:cxnSpLocks/>
          </p:cNvCxnSpPr>
          <p:nvPr/>
        </p:nvCxnSpPr>
        <p:spPr>
          <a:xfrm>
            <a:off x="10544176" y="2867026"/>
            <a:ext cx="0" cy="75723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F06A5517-A4BB-1201-C039-02E741FCEC7A}"/>
              </a:ext>
            </a:extLst>
          </p:cNvPr>
          <p:cNvCxnSpPr>
            <a:cxnSpLocks/>
          </p:cNvCxnSpPr>
          <p:nvPr/>
        </p:nvCxnSpPr>
        <p:spPr>
          <a:xfrm rot="10800000" flipV="1">
            <a:off x="10058364" y="3371847"/>
            <a:ext cx="485815" cy="252415"/>
          </a:xfrm>
          <a:prstGeom prst="bentConnector3">
            <a:avLst>
              <a:gd name="adj1" fmla="val 99996"/>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连接符: 肘形 27">
            <a:extLst>
              <a:ext uri="{FF2B5EF4-FFF2-40B4-BE49-F238E27FC236}">
                <a16:creationId xmlns:a16="http://schemas.microsoft.com/office/drawing/2014/main" id="{E8FDC123-6BAF-86AC-67B1-7F9965153CC3}"/>
              </a:ext>
            </a:extLst>
          </p:cNvPr>
          <p:cNvCxnSpPr>
            <a:cxnSpLocks/>
          </p:cNvCxnSpPr>
          <p:nvPr/>
        </p:nvCxnSpPr>
        <p:spPr>
          <a:xfrm rot="10800000" flipV="1">
            <a:off x="9027319" y="3371844"/>
            <a:ext cx="1031048" cy="223844"/>
          </a:xfrm>
          <a:prstGeom prst="bentConnector3">
            <a:avLst>
              <a:gd name="adj1" fmla="val 100117"/>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906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循环神经网络：长短时记忆模型</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三、循环神经网络</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E98E1855-D0A4-4C04-A109-2DAC7582DA1D}"/>
                  </a:ext>
                </a:extLst>
              </p:cNvPr>
              <p:cNvSpPr/>
              <p:nvPr/>
            </p:nvSpPr>
            <p:spPr>
              <a:xfrm>
                <a:off x="786563" y="1822783"/>
                <a:ext cx="10618873" cy="4923720"/>
              </a:xfrm>
              <a:prstGeom prst="rect">
                <a:avLst/>
              </a:prstGeom>
            </p:spPr>
            <p:txBody>
              <a:bodyPr wrap="square">
                <a:spAutoFit/>
              </a:bodyPr>
              <a:lstStyle/>
              <a:p>
                <a:pPr marL="285750" indent="-285750" algn="just">
                  <a:lnSpc>
                    <a:spcPct val="200000"/>
                  </a:lnSpc>
                  <a:buFont typeface="Wingdings" panose="05000000000000000000" pitchFamily="2" charset="2"/>
                  <a:buChar char="l"/>
                </a:pP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与简单的循环神经网络结构不同</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LSTM</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中引入了</a:t>
                </a:r>
                <a:r>
                  <a:rPr lang="zh-CN"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内部记忆单元（</a:t>
                </a:r>
                <a:r>
                  <a:rPr lang="en-US"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internal memory cell</a:t>
                </a:r>
                <a:r>
                  <a:rPr lang="zh-CN"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）和门（</a:t>
                </a:r>
                <a:r>
                  <a:rPr lang="en-US"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gates</a:t>
                </a:r>
                <a:r>
                  <a:rPr lang="zh-CN"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）结构</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来对当前时刻输入信息以及前序时刻所生成信息进行整合和传递。在这里，</a:t>
                </a:r>
                <a:r>
                  <a:rPr lang="zh-CN"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内部记忆单元中信息可视为对</a:t>
                </a:r>
                <a:r>
                  <a:rPr lang="en-US"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历史信息</a:t>
                </a:r>
                <a:r>
                  <a:rPr lang="en-US"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的累积</a:t>
                </a:r>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200000"/>
                  </a:lnSpc>
                  <a:buFont typeface="Wingdings" panose="05000000000000000000" pitchFamily="2" charset="2"/>
                  <a:buChar char="l"/>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引入</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门结构</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有</a:t>
                </a:r>
                <a:r>
                  <a:rPr lang="zh-CN"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输入门</a:t>
                </a:r>
                <a:r>
                  <a:rPr lang="en-US"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(input gate)</a:t>
                </a:r>
                <a:r>
                  <a:rPr lang="zh-CN"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、遗忘门</a:t>
                </a:r>
                <a:r>
                  <a:rPr lang="en-US"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(forget gate)</a:t>
                </a:r>
                <a:r>
                  <a:rPr lang="zh-CN"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和输出门</a:t>
                </a:r>
                <a:r>
                  <a:rPr lang="en-US"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(output gate)</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三种门结构。对于给定的当前时刻输入数据</a:t>
                </a:r>
                <a14:m>
                  <m:oMath xmlns:m="http://schemas.openxmlformats.org/officeDocument/2006/math">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𝑥</m:t>
                        </m:r>
                      </m:e>
                      <m:sub>
                        <m:r>
                          <a:rPr lang="en-US" altLang="zh-CN" sz="2000">
                            <a:latin typeface="Cambria Math" panose="02040503050406030204" pitchFamily="18" charset="0"/>
                          </a:rPr>
                          <m:t>𝑡</m:t>
                        </m:r>
                      </m:sub>
                    </m:sSub>
                  </m:oMath>
                </a14:m>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和前一时刻隐式编码</a:t>
                </a:r>
                <a14:m>
                  <m:oMath xmlns:m="http://schemas.openxmlformats.org/officeDocument/2006/math">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h</m:t>
                        </m:r>
                      </m:e>
                      <m:sub>
                        <m:r>
                          <a:rPr lang="en-US" altLang="zh-CN" sz="2000">
                            <a:latin typeface="Cambria Math" panose="02040503050406030204" pitchFamily="18" charset="0"/>
                          </a:rPr>
                          <m:t>𝑡</m:t>
                        </m:r>
                        <m:r>
                          <a:rPr lang="en-US" altLang="zh-CN" sz="2000">
                            <a:latin typeface="Cambria Math" panose="02040503050406030204" pitchFamily="18" charset="0"/>
                          </a:rPr>
                          <m:t>−1</m:t>
                        </m:r>
                      </m:sub>
                    </m:sSub>
                  </m:oMath>
                </a14:m>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，输入门、遗忘门和输出门通过各自参数对其编码，分别得到三种门结构的输出</a:t>
                </a:r>
                <a14:m>
                  <m:oMath xmlns:m="http://schemas.openxmlformats.org/officeDocument/2006/math">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𝑖</m:t>
                        </m:r>
                      </m:e>
                      <m:sub>
                        <m:r>
                          <a:rPr lang="en-US" altLang="zh-CN" sz="2000">
                            <a:latin typeface="Cambria Math" panose="02040503050406030204" pitchFamily="18" charset="0"/>
                          </a:rPr>
                          <m:t>𝑡</m:t>
                        </m:r>
                      </m:sub>
                    </m:sSub>
                  </m:oMath>
                </a14:m>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𝑓</m:t>
                        </m:r>
                      </m:e>
                      <m:sub>
                        <m:r>
                          <a:rPr lang="en-US" altLang="zh-CN" sz="2000">
                            <a:latin typeface="Cambria Math" panose="02040503050406030204" pitchFamily="18" charset="0"/>
                          </a:rPr>
                          <m:t>𝑡</m:t>
                        </m:r>
                      </m:sub>
                    </m:sSub>
                  </m:oMath>
                </a14:m>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𝑜</m:t>
                        </m:r>
                      </m:e>
                      <m:sub>
                        <m:r>
                          <a:rPr lang="en-US" altLang="zh-CN" sz="2000">
                            <a:latin typeface="Cambria Math" panose="02040503050406030204" pitchFamily="18" charset="0"/>
                          </a:rPr>
                          <m:t>𝑡</m:t>
                        </m:r>
                      </m:sub>
                    </m:sSub>
                  </m:oMath>
                </a14:m>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200000"/>
                  </a:lnSpc>
                  <a:buFont typeface="Wingdings" panose="05000000000000000000" pitchFamily="2" charset="2"/>
                  <a:buChar char="l"/>
                </a:pP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在此基础上，再进一步结合前一时刻内部记忆单元信息</a:t>
                </a:r>
                <a14:m>
                  <m:oMath xmlns:m="http://schemas.openxmlformats.org/officeDocument/2006/math">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𝑐</m:t>
                        </m:r>
                      </m:e>
                      <m:sub>
                        <m:r>
                          <a:rPr lang="en-US" altLang="zh-CN" sz="2000">
                            <a:latin typeface="Cambria Math" panose="02040503050406030204" pitchFamily="18" charset="0"/>
                          </a:rPr>
                          <m:t>𝑡</m:t>
                        </m:r>
                        <m:r>
                          <a:rPr lang="en-US" altLang="zh-CN" sz="2000">
                            <a:latin typeface="Cambria Math" panose="02040503050406030204" pitchFamily="18" charset="0"/>
                          </a:rPr>
                          <m:t>−1</m:t>
                        </m:r>
                      </m:sub>
                    </m:sSub>
                  </m:oMath>
                </a14:m>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来更新当前时刻内部记忆单元信息</a:t>
                </a:r>
                <a14:m>
                  <m:oMath xmlns:m="http://schemas.openxmlformats.org/officeDocument/2006/math">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𝑐</m:t>
                        </m:r>
                      </m:e>
                      <m:sub>
                        <m:r>
                          <a:rPr lang="en-US" altLang="zh-CN" sz="2000">
                            <a:latin typeface="Cambria Math" panose="02040503050406030204" pitchFamily="18" charset="0"/>
                          </a:rPr>
                          <m:t>𝑡</m:t>
                        </m:r>
                      </m:sub>
                    </m:sSub>
                  </m:oMath>
                </a14:m>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，最终得到当前时刻的隐式编码</a:t>
                </a:r>
                <a14:m>
                  <m:oMath xmlns:m="http://schemas.openxmlformats.org/officeDocument/2006/math">
                    <m:sSub>
                      <m:sSubPr>
                        <m:ctrlPr>
                          <a:rPr lang="zh-CN" altLang="zh-CN" sz="2000" i="1">
                            <a:latin typeface="Cambria Math" panose="02040503050406030204" pitchFamily="18" charset="0"/>
                          </a:rPr>
                        </m:ctrlPr>
                      </m:sSubPr>
                      <m:e>
                        <m:r>
                          <a:rPr lang="en-US" altLang="zh-CN" sz="2000">
                            <a:latin typeface="Cambria Math" panose="02040503050406030204" pitchFamily="18" charset="0"/>
                          </a:rPr>
                          <m:t>h</m:t>
                        </m:r>
                      </m:e>
                      <m:sub>
                        <m:r>
                          <a:rPr lang="en-US" altLang="zh-CN" sz="2000">
                            <a:latin typeface="Cambria Math" panose="02040503050406030204" pitchFamily="18" charset="0"/>
                          </a:rPr>
                          <m:t>𝑡</m:t>
                        </m:r>
                      </m:sub>
                    </m:sSub>
                  </m:oMath>
                </a14:m>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E98E1855-D0A4-4C04-A109-2DAC7582DA1D}"/>
                  </a:ext>
                </a:extLst>
              </p:cNvPr>
              <p:cNvSpPr>
                <a:spLocks noRot="1" noChangeAspect="1" noMove="1" noResize="1" noEditPoints="1" noAdjustHandles="1" noChangeArrowheads="1" noChangeShapeType="1" noTextEdit="1"/>
              </p:cNvSpPr>
              <p:nvPr/>
            </p:nvSpPr>
            <p:spPr>
              <a:xfrm>
                <a:off x="786563" y="1822783"/>
                <a:ext cx="10618873" cy="4923720"/>
              </a:xfrm>
              <a:prstGeom prst="rect">
                <a:avLst/>
              </a:prstGeom>
              <a:blipFill>
                <a:blip r:embed="rId3"/>
                <a:stretch>
                  <a:fillRect l="-517" r="-2985" b="-12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74757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循环神经网络：长短时记忆模型</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三、循环神经网络</a:t>
            </a:r>
            <a:endParaRPr lang="zh-CN" altLang="en-US" sz="1600" dirty="0">
              <a:solidFill>
                <a:srgbClr val="000000"/>
              </a:solidFill>
              <a:latin typeface="Times New Roman" panose="02020603050405020304" pitchFamily="18" charset="0"/>
            </a:endParaRPr>
          </a:p>
        </p:txBody>
      </p:sp>
      <p:pic>
        <p:nvPicPr>
          <p:cNvPr id="7" name="图片 6">
            <a:extLst>
              <a:ext uri="{FF2B5EF4-FFF2-40B4-BE49-F238E27FC236}">
                <a16:creationId xmlns:a16="http://schemas.microsoft.com/office/drawing/2014/main" id="{08EB7D58-7D05-4E3D-A971-3430F3B018FA}"/>
              </a:ext>
            </a:extLst>
          </p:cNvPr>
          <p:cNvPicPr>
            <a:picLocks noChangeAspect="1"/>
          </p:cNvPicPr>
          <p:nvPr/>
        </p:nvPicPr>
        <p:blipFill>
          <a:blip r:embed="rId3"/>
          <a:stretch>
            <a:fillRect/>
          </a:stretch>
        </p:blipFill>
        <p:spPr>
          <a:xfrm>
            <a:off x="801084" y="1749927"/>
            <a:ext cx="4715117" cy="3525458"/>
          </a:xfrm>
          <a:prstGeom prst="rect">
            <a:avLst/>
          </a:prstGeom>
        </p:spPr>
      </p:pic>
      <p:pic>
        <p:nvPicPr>
          <p:cNvPr id="8" name="图片 7">
            <a:extLst>
              <a:ext uri="{FF2B5EF4-FFF2-40B4-BE49-F238E27FC236}">
                <a16:creationId xmlns:a16="http://schemas.microsoft.com/office/drawing/2014/main" id="{DEB15F29-0A57-4087-9971-022A1B5D59C5}"/>
              </a:ext>
            </a:extLst>
          </p:cNvPr>
          <p:cNvPicPr>
            <a:picLocks noChangeAspect="1"/>
          </p:cNvPicPr>
          <p:nvPr/>
        </p:nvPicPr>
        <p:blipFill>
          <a:blip r:embed="rId4"/>
          <a:stretch>
            <a:fillRect/>
          </a:stretch>
        </p:blipFill>
        <p:spPr>
          <a:xfrm>
            <a:off x="6174873" y="1911272"/>
            <a:ext cx="4864350" cy="3407794"/>
          </a:xfrm>
          <a:prstGeom prst="rect">
            <a:avLst/>
          </a:prstGeom>
        </p:spPr>
      </p:pic>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C0E42DDD-33E4-4FD3-AF23-76203E693BD8}"/>
                  </a:ext>
                </a:extLst>
              </p:cNvPr>
              <p:cNvSpPr/>
              <p:nvPr/>
            </p:nvSpPr>
            <p:spPr>
              <a:xfrm>
                <a:off x="1047656" y="5382945"/>
                <a:ext cx="10096688" cy="910762"/>
              </a:xfrm>
              <a:prstGeom prst="rect">
                <a:avLst/>
              </a:prstGeom>
            </p:spPr>
            <p:txBody>
              <a:bodyPr wrap="square">
                <a:spAutoFit/>
              </a:bodyPr>
              <a:lstStyle/>
              <a:p>
                <a:pPr indent="266700" algn="just">
                  <a:lnSpc>
                    <a:spcPts val="2200"/>
                  </a:lnSpc>
                  <a:spcAft>
                    <a:spcPts val="0"/>
                  </a:spcAft>
                </a:pP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输入门、遗忘门和输出门通过各自参数对当前时刻输入数据</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𝑡</m:t>
                        </m:r>
                      </m:sub>
                    </m:sSub>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和前一时刻隐式编码</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h</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𝑡</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sub>
                    </m:sSub>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处理后，利用</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𝑠𝑖𝑔𝑚𝑜𝑖𝑑</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对处理结果进行非线性映射，因此三种门结构的输出</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𝑖</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𝑡</m:t>
                        </m:r>
                      </m:sub>
                    </m:sSub>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𝑓</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𝑡</m:t>
                        </m:r>
                      </m:sub>
                    </m:sSub>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rgbClr val="000000"/>
                            </a:solidFill>
                            <a:latin typeface="Cambria Math" panose="02040503050406030204" pitchFamily="18" charset="0"/>
                            <a:ea typeface="楷体_GB2312"/>
                            <a:cs typeface="Times New Roman" panose="02020603050405020304" pitchFamily="18" charset="0"/>
                          </a:rPr>
                          <m:t>𝑜</m:t>
                        </m:r>
                      </m:e>
                      <m:sub>
                        <m:r>
                          <a:rPr lang="en-US" altLang="zh-CN" sz="1400" i="1">
                            <a:solidFill>
                              <a:srgbClr val="000000"/>
                            </a:solidFill>
                            <a:latin typeface="Cambria Math" panose="02040503050406030204" pitchFamily="18" charset="0"/>
                            <a:ea typeface="楷体_GB2312"/>
                            <a:cs typeface="Times New Roman" panose="02020603050405020304" pitchFamily="18" charset="0"/>
                          </a:rPr>
                          <m:t>𝑡</m:t>
                        </m:r>
                      </m:sub>
                    </m:sSub>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值域为</a:t>
                </a:r>
                <a14:m>
                  <m:oMath xmlns:m="http://schemas.openxmlformats.org/officeDocument/2006/math">
                    <m:r>
                      <a:rPr lang="en-US" altLang="zh-CN" sz="1400">
                        <a:solidFill>
                          <a:srgbClr val="000000"/>
                        </a:solidFill>
                        <a:latin typeface="Cambria Math" panose="02040503050406030204" pitchFamily="18" charset="0"/>
                        <a:ea typeface="楷体_GB2312"/>
                        <a:cs typeface="Times New Roman" panose="02020603050405020304" pitchFamily="18" charset="0"/>
                      </a:rPr>
                      <m:t>(0,1)</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正是由于三个门结构的输出值为位于</a:t>
                </a:r>
                <a:r>
                  <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之间的向量，因此其在信息处理中起到了</a:t>
                </a:r>
                <a:r>
                  <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调控开关</a:t>
                </a:r>
                <a:r>
                  <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门</a:t>
                </a:r>
                <a:r>
                  <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作用。</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三个门结构所输出向量的维数、内部记忆单元的维数和隐式编码的维数均相等。</a:t>
                </a:r>
              </a:p>
            </p:txBody>
          </p:sp>
        </mc:Choice>
        <mc:Fallback xmlns="">
          <p:sp>
            <p:nvSpPr>
              <p:cNvPr id="9" name="矩形 8">
                <a:extLst>
                  <a:ext uri="{FF2B5EF4-FFF2-40B4-BE49-F238E27FC236}">
                    <a16:creationId xmlns:a16="http://schemas.microsoft.com/office/drawing/2014/main" id="{C0E42DDD-33E4-4FD3-AF23-76203E693BD8}"/>
                  </a:ext>
                </a:extLst>
              </p:cNvPr>
              <p:cNvSpPr>
                <a:spLocks noRot="1" noChangeAspect="1" noMove="1" noResize="1" noEditPoints="1" noAdjustHandles="1" noChangeArrowheads="1" noChangeShapeType="1" noTextEdit="1"/>
              </p:cNvSpPr>
              <p:nvPr/>
            </p:nvSpPr>
            <p:spPr>
              <a:xfrm>
                <a:off x="1047656" y="5382945"/>
                <a:ext cx="10096688" cy="910762"/>
              </a:xfrm>
              <a:prstGeom prst="rect">
                <a:avLst/>
              </a:prstGeom>
              <a:blipFill>
                <a:blip r:embed="rId5"/>
                <a:stretch>
                  <a:fillRect l="-181" r="-181" b="-6711"/>
                </a:stretch>
              </a:blipFill>
            </p:spPr>
            <p:txBody>
              <a:bodyPr/>
              <a:lstStyle/>
              <a:p>
                <a:r>
                  <a:rPr lang="zh-CN" altLang="en-US">
                    <a:noFill/>
                  </a:rPr>
                  <a:t> </a:t>
                </a:r>
              </a:p>
            </p:txBody>
          </p:sp>
        </mc:Fallback>
      </mc:AlternateContent>
      <p:sp>
        <p:nvSpPr>
          <p:cNvPr id="2" name="椭圆 1">
            <a:extLst>
              <a:ext uri="{FF2B5EF4-FFF2-40B4-BE49-F238E27FC236}">
                <a16:creationId xmlns:a16="http://schemas.microsoft.com/office/drawing/2014/main" id="{AB02520F-61D0-E811-D228-D279CECF2359}"/>
              </a:ext>
            </a:extLst>
          </p:cNvPr>
          <p:cNvSpPr/>
          <p:nvPr/>
        </p:nvSpPr>
        <p:spPr>
          <a:xfrm>
            <a:off x="7338060" y="4119501"/>
            <a:ext cx="373380" cy="350520"/>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65A9DD22-3129-1A76-C944-E0A4A7B652FD}"/>
              </a:ext>
            </a:extLst>
          </p:cNvPr>
          <p:cNvSpPr/>
          <p:nvPr/>
        </p:nvSpPr>
        <p:spPr>
          <a:xfrm>
            <a:off x="6620022" y="3927542"/>
            <a:ext cx="373380" cy="350520"/>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D25109BF-3840-361F-47D8-AAC55A4B8F97}"/>
              </a:ext>
            </a:extLst>
          </p:cNvPr>
          <p:cNvSpPr/>
          <p:nvPr/>
        </p:nvSpPr>
        <p:spPr>
          <a:xfrm>
            <a:off x="6620022" y="2393627"/>
            <a:ext cx="373380" cy="350520"/>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F256E324-5D95-0E56-8A25-38E69A1751A9}"/>
              </a:ext>
            </a:extLst>
          </p:cNvPr>
          <p:cNvSpPr/>
          <p:nvPr/>
        </p:nvSpPr>
        <p:spPr>
          <a:xfrm>
            <a:off x="801084" y="2568887"/>
            <a:ext cx="373380" cy="1203013"/>
          </a:xfrm>
          <a:prstGeom prst="ellipse">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2EF586AE-E13B-5D47-CF99-D23A2B312A8F}"/>
              </a:ext>
            </a:extLst>
          </p:cNvPr>
          <p:cNvSpPr/>
          <p:nvPr/>
        </p:nvSpPr>
        <p:spPr>
          <a:xfrm>
            <a:off x="801084" y="3835779"/>
            <a:ext cx="373380" cy="941961"/>
          </a:xfrm>
          <a:prstGeom prst="ellipse">
            <a:avLst/>
          </a:prstGeom>
          <a:noFill/>
          <a:ln w="381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7AD693D0-6BCD-BD2D-D069-E2EC2B401325}"/>
              </a:ext>
            </a:extLst>
          </p:cNvPr>
          <p:cNvSpPr txBox="1"/>
          <p:nvPr/>
        </p:nvSpPr>
        <p:spPr>
          <a:xfrm>
            <a:off x="383843" y="2782669"/>
            <a:ext cx="317197" cy="646331"/>
          </a:xfrm>
          <a:prstGeom prst="rect">
            <a:avLst/>
          </a:prstGeom>
          <a:noFill/>
        </p:spPr>
        <p:txBody>
          <a:bodyPr wrap="square" rtlCol="0">
            <a:spAutoFit/>
          </a:bodyPr>
          <a:lstStyle/>
          <a:p>
            <a:r>
              <a:rPr lang="zh-CN" altLang="en-US" dirty="0"/>
              <a:t>概率</a:t>
            </a:r>
          </a:p>
        </p:txBody>
      </p:sp>
    </p:spTree>
    <p:extLst>
      <p:ext uri="{BB962C8B-B14F-4D97-AF65-F5344CB8AC3E}">
        <p14:creationId xmlns:p14="http://schemas.microsoft.com/office/powerpoint/2010/main" val="545281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animBg="1"/>
      <p:bldP spid="10" grpId="0" animBg="1"/>
      <p:bldP spid="11" grpId="0" animBg="1"/>
      <p:bldP spid="12" grpId="0" animBg="1"/>
      <p:bldP spid="1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循环神经网络：长短时记忆模型</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三、循环神经网络</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96D79FD9-4EAA-4E9E-BD44-6C8D9C5933EB}"/>
                  </a:ext>
                </a:extLst>
              </p:cNvPr>
              <p:cNvSpPr/>
              <p:nvPr/>
            </p:nvSpPr>
            <p:spPr>
              <a:xfrm>
                <a:off x="754966" y="1356838"/>
                <a:ext cx="10883704" cy="3782061"/>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dirty="0">
                    <a:solidFill>
                      <a:srgbClr val="000000"/>
                    </a:solidFill>
                    <a:latin typeface="Times New Roman" panose="02020603050405020304" pitchFamily="18" charset="0"/>
                    <a:ea typeface="楷体_GB2312"/>
                    <a:cs typeface="Times New Roman" panose="02020603050405020304" pitchFamily="18" charset="0"/>
                  </a:rPr>
                  <a:t>输入门、遗忘门和输出门三种门结构采用</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𝑠𝑖𝑔𝑚𝑜𝑖𝑑</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这一非线性映射函数而起到了信息</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控制门</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的作用</a:t>
                </a:r>
                <a:r>
                  <a:rPr lang="zh-CN" altLang="en-US" dirty="0">
                    <a:solidFill>
                      <a:srgbClr val="000000"/>
                    </a:solidFill>
                    <a:latin typeface="Times New Roman" panose="02020603050405020304" pitchFamily="18" charset="0"/>
                    <a:ea typeface="楷体_GB2312"/>
                    <a:cs typeface="Times New Roman" panose="02020603050405020304" pitchFamily="18" charset="0"/>
                  </a:rPr>
                  <a:t>，二值化倾向更适合 “控制记忆的保留 </a:t>
                </a:r>
                <a:r>
                  <a:rPr lang="en-US" altLang="zh-CN" dirty="0">
                    <a:solidFill>
                      <a:srgbClr val="000000"/>
                    </a:solidFill>
                    <a:latin typeface="Times New Roman" panose="02020603050405020304" pitchFamily="18" charset="0"/>
                    <a:ea typeface="楷体_GB2312"/>
                    <a:cs typeface="Times New Roman" panose="02020603050405020304" pitchFamily="18" charset="0"/>
                  </a:rPr>
                  <a:t>/ </a:t>
                </a:r>
                <a:r>
                  <a:rPr lang="zh-CN" altLang="en-US" dirty="0">
                    <a:solidFill>
                      <a:srgbClr val="000000"/>
                    </a:solidFill>
                    <a:latin typeface="Times New Roman" panose="02020603050405020304" pitchFamily="18" charset="0"/>
                    <a:ea typeface="楷体_GB2312"/>
                    <a:cs typeface="Times New Roman" panose="02020603050405020304" pitchFamily="18" charset="0"/>
                  </a:rPr>
                  <a:t>丢弃”</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chemeClr val="accent2"/>
                    </a:solidFill>
                    <a:latin typeface="Times New Roman" panose="02020603050405020304" pitchFamily="18" charset="0"/>
                    <a:ea typeface="楷体_GB2312"/>
                    <a:cs typeface="Times New Roman" panose="02020603050405020304" pitchFamily="18" charset="0"/>
                  </a:rPr>
                  <a:t>在内部记忆单元和隐式编码中，使用了</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𝑡𝑎𝑛h</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这一非线性映射函数而没有继续使用</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𝑠𝑖𝑔𝑚𝑜𝑖𝑑</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非线性映射函数，其原因在于</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𝑡𝑎𝑛h</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函数的值域为</a:t>
                </a:r>
                <a14:m>
                  <m:oMath xmlns:m="http://schemas.openxmlformats.org/officeDocument/2006/math">
                    <m:r>
                      <a:rPr lang="en-US" altLang="zh-CN">
                        <a:solidFill>
                          <a:schemeClr val="accent2"/>
                        </a:solidFill>
                        <a:latin typeface="Cambria Math" panose="02040503050406030204" pitchFamily="18" charset="0"/>
                        <a:ea typeface="楷体_GB2312"/>
                        <a:cs typeface="Times New Roman" panose="02020603050405020304" pitchFamily="18" charset="0"/>
                      </a:rPr>
                      <m:t>(</m:t>
                    </m:r>
                    <m:r>
                      <a:rPr lang="en-US" altLang="zh-CN" i="1">
                        <a:solidFill>
                          <a:schemeClr val="accent2"/>
                        </a:solidFill>
                        <a:latin typeface="Cambria Math" panose="02040503050406030204" pitchFamily="18" charset="0"/>
                        <a:ea typeface="楷体_GB2312"/>
                        <a:cs typeface="Times New Roman" panose="02020603050405020304" pitchFamily="18" charset="0"/>
                      </a:rPr>
                      <m:t>−</m:t>
                    </m:r>
                    <m:r>
                      <a:rPr lang="en-US" altLang="zh-CN">
                        <a:solidFill>
                          <a:schemeClr val="accent2"/>
                        </a:solidFill>
                        <a:latin typeface="Cambria Math" panose="02040503050406030204" pitchFamily="18" charset="0"/>
                        <a:ea typeface="楷体_GB2312"/>
                        <a:cs typeface="Times New Roman" panose="02020603050405020304" pitchFamily="18" charset="0"/>
                      </a:rPr>
                      <m:t>1,1)</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，使得</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𝑡𝑎𝑛h</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函数在进行信息整合时可起到信息</a:t>
                </a:r>
                <a:r>
                  <a:rPr lang="en-US" altLang="zh-CN" dirty="0">
                    <a:solidFill>
                      <a:schemeClr val="accent2"/>
                    </a:solidFill>
                    <a:latin typeface="Times New Roman" panose="02020603050405020304" pitchFamily="18" charset="0"/>
                    <a:ea typeface="楷体_GB2312"/>
                    <a:cs typeface="Times New Roman" panose="02020603050405020304" pitchFamily="18" charset="0"/>
                  </a:rPr>
                  <a:t>“</a:t>
                </a:r>
                <a:r>
                  <a:rPr lang="zh-CN" altLang="zh-CN" dirty="0">
                    <a:solidFill>
                      <a:schemeClr val="accent2"/>
                    </a:solidFill>
                    <a:latin typeface="Times New Roman" panose="02020603050405020304" pitchFamily="18" charset="0"/>
                    <a:ea typeface="楷体_GB2312"/>
                    <a:cs typeface="Times New Roman" panose="02020603050405020304" pitchFamily="18" charset="0"/>
                  </a:rPr>
                  <a:t>增（为正）</a:t>
                </a:r>
                <a:r>
                  <a:rPr lang="en-US" altLang="zh-CN" dirty="0">
                    <a:solidFill>
                      <a:schemeClr val="accent2"/>
                    </a:solidFill>
                    <a:latin typeface="Times New Roman" panose="02020603050405020304" pitchFamily="18" charset="0"/>
                    <a:ea typeface="楷体_GB2312"/>
                    <a:cs typeface="Times New Roman" panose="02020603050405020304" pitchFamily="18" charset="0"/>
                  </a:rPr>
                  <a:t>”</a:t>
                </a:r>
                <a:r>
                  <a:rPr lang="zh-CN" altLang="zh-CN" dirty="0">
                    <a:solidFill>
                      <a:schemeClr val="accent2"/>
                    </a:solidFill>
                    <a:latin typeface="Times New Roman" panose="02020603050405020304" pitchFamily="18" charset="0"/>
                    <a:ea typeface="楷体_GB2312"/>
                    <a:cs typeface="Times New Roman" panose="02020603050405020304" pitchFamily="18" charset="0"/>
                  </a:rPr>
                  <a:t>或</a:t>
                </a:r>
                <a:r>
                  <a:rPr lang="en-US" altLang="zh-CN" dirty="0">
                    <a:solidFill>
                      <a:schemeClr val="accent2"/>
                    </a:solidFill>
                    <a:latin typeface="Times New Roman" panose="02020603050405020304" pitchFamily="18" charset="0"/>
                    <a:ea typeface="楷体_GB2312"/>
                    <a:cs typeface="Times New Roman" panose="02020603050405020304" pitchFamily="18" charset="0"/>
                  </a:rPr>
                  <a:t>“</a:t>
                </a:r>
                <a:r>
                  <a:rPr lang="zh-CN" altLang="zh-CN" dirty="0">
                    <a:solidFill>
                      <a:schemeClr val="accent2"/>
                    </a:solidFill>
                    <a:latin typeface="Times New Roman" panose="02020603050405020304" pitchFamily="18" charset="0"/>
                    <a:ea typeface="楷体_GB2312"/>
                    <a:cs typeface="Times New Roman" panose="02020603050405020304" pitchFamily="18" charset="0"/>
                  </a:rPr>
                  <a:t>减（为负）</a:t>
                </a:r>
                <a:r>
                  <a:rPr lang="en-US" altLang="zh-CN" dirty="0">
                    <a:solidFill>
                      <a:schemeClr val="accent2"/>
                    </a:solidFill>
                    <a:latin typeface="Times New Roman" panose="02020603050405020304" pitchFamily="18" charset="0"/>
                    <a:ea typeface="楷体_GB2312"/>
                    <a:cs typeface="Times New Roman" panose="02020603050405020304" pitchFamily="18" charset="0"/>
                  </a:rPr>
                  <a:t>”</a:t>
                </a:r>
                <a:r>
                  <a:rPr lang="zh-CN" altLang="zh-CN" dirty="0">
                    <a:solidFill>
                      <a:schemeClr val="accent2"/>
                    </a:solidFill>
                    <a:latin typeface="Times New Roman" panose="02020603050405020304" pitchFamily="18" charset="0"/>
                    <a:ea typeface="楷体_GB2312"/>
                    <a:cs typeface="Times New Roman" panose="02020603050405020304" pitchFamily="18" charset="0"/>
                  </a:rPr>
                  <a:t>的效果</a:t>
                </a:r>
                <a:r>
                  <a:rPr lang="zh-CN" altLang="en-US" dirty="0">
                    <a:solidFill>
                      <a:schemeClr val="accent2"/>
                    </a:solidFill>
                    <a:latin typeface="Times New Roman" panose="02020603050405020304" pitchFamily="18" charset="0"/>
                    <a:ea typeface="楷体_GB2312"/>
                    <a:cs typeface="Times New Roman" panose="02020603050405020304" pitchFamily="18" charset="0"/>
                  </a:rPr>
                  <a:t>，其输出范围和对称性更适合“生成记忆单元的更新内容”</a:t>
                </a:r>
                <a:r>
                  <a:rPr lang="zh-CN" altLang="zh-CN" dirty="0">
                    <a:solidFill>
                      <a:schemeClr val="accent2"/>
                    </a:solidFill>
                    <a:latin typeface="Times New Roman" panose="02020603050405020304" pitchFamily="18" charset="0"/>
                    <a:ea typeface="楷体_GB2312"/>
                    <a:cs typeface="Times New Roman" panose="02020603050405020304" pitchFamily="18" charset="0"/>
                  </a:rPr>
                  <a:t>。</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r>
                  <a:rPr lang="zh-CN" altLang="zh-CN" dirty="0">
                    <a:solidFill>
                      <a:srgbClr val="000000"/>
                    </a:solidFill>
                    <a:latin typeface="Times New Roman" panose="02020603050405020304" pitchFamily="18" charset="0"/>
                    <a:ea typeface="楷体_GB2312"/>
                    <a:cs typeface="Times New Roman" panose="02020603050405020304" pitchFamily="18" charset="0"/>
                  </a:rPr>
                  <a:t>从</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𝑐</m:t>
                        </m:r>
                      </m:e>
                      <m:sub>
                        <m:r>
                          <a:rPr lang="en-US" altLang="zh-CN" i="1">
                            <a:solidFill>
                              <a:srgbClr val="000000"/>
                            </a:solidFill>
                            <a:latin typeface="Cambria Math" panose="02040503050406030204" pitchFamily="18" charset="0"/>
                            <a:ea typeface="楷体_GB2312"/>
                            <a:cs typeface="Times New Roman" panose="02020603050405020304" pitchFamily="18" charset="0"/>
                          </a:rPr>
                          <m:t>𝑡</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𝑓</m:t>
                        </m:r>
                      </m:e>
                      <m:sub>
                        <m:r>
                          <a:rPr lang="en-US" altLang="zh-CN" i="1">
                            <a:solidFill>
                              <a:srgbClr val="000000"/>
                            </a:solidFill>
                            <a:latin typeface="Cambria Math" panose="02040503050406030204" pitchFamily="18" charset="0"/>
                            <a:ea typeface="楷体_GB2312"/>
                            <a:cs typeface="Times New Roman" panose="02020603050405020304" pitchFamily="18" charset="0"/>
                          </a:rPr>
                          <m:t>𝑡</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𝑐</m:t>
                        </m:r>
                      </m:e>
                      <m:sub>
                        <m:r>
                          <a:rPr lang="en-US" altLang="zh-CN" i="1">
                            <a:solidFill>
                              <a:srgbClr val="000000"/>
                            </a:solidFill>
                            <a:latin typeface="Cambria Math" panose="02040503050406030204" pitchFamily="18" charset="0"/>
                            <a:ea typeface="楷体_GB2312"/>
                            <a:cs typeface="Times New Roman" panose="02020603050405020304" pitchFamily="18" charset="0"/>
                          </a:rPr>
                          <m:t>𝑡</m:t>
                        </m:r>
                        <m:r>
                          <a:rPr lang="en-US" altLang="zh-CN"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𝑖</m:t>
                        </m:r>
                      </m:e>
                      <m:sub>
                        <m:r>
                          <a:rPr lang="en-US" altLang="zh-CN" i="1">
                            <a:solidFill>
                              <a:srgbClr val="000000"/>
                            </a:solidFill>
                            <a:latin typeface="Cambria Math" panose="02040503050406030204" pitchFamily="18" charset="0"/>
                            <a:ea typeface="楷体_GB2312"/>
                            <a:cs typeface="Times New Roman" panose="02020603050405020304" pitchFamily="18" charset="0"/>
                          </a:rPr>
                          <m:t>𝑡</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𝑡𝑎𝑛h</m:t>
                    </m:r>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𝑊</m:t>
                        </m:r>
                      </m:e>
                      <m:sub>
                        <m:r>
                          <a:rPr lang="en-US" altLang="zh-CN" i="1">
                            <a:solidFill>
                              <a:srgbClr val="000000"/>
                            </a:solidFill>
                            <a:latin typeface="Cambria Math" panose="02040503050406030204" pitchFamily="18" charset="0"/>
                            <a:ea typeface="楷体_GB2312"/>
                            <a:cs typeface="Times New Roman" panose="02020603050405020304" pitchFamily="18" charset="0"/>
                          </a:rPr>
                          <m:t>𝑥𝑐</m:t>
                        </m:r>
                      </m:sub>
                    </m:sSub>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𝑡</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𝑊</m:t>
                        </m:r>
                      </m:e>
                      <m:sub>
                        <m:r>
                          <a:rPr lang="en-US" altLang="zh-CN" i="1">
                            <a:solidFill>
                              <a:srgbClr val="000000"/>
                            </a:solidFill>
                            <a:latin typeface="Cambria Math" panose="02040503050406030204" pitchFamily="18" charset="0"/>
                            <a:ea typeface="楷体_GB2312"/>
                            <a:cs typeface="Times New Roman" panose="02020603050405020304" pitchFamily="18" charset="0"/>
                          </a:rPr>
                          <m:t>h𝑐</m:t>
                        </m:r>
                      </m:sub>
                    </m:sSub>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h</m:t>
                        </m:r>
                      </m:e>
                      <m:sub>
                        <m:r>
                          <a:rPr lang="en-US" altLang="zh-CN" i="1">
                            <a:solidFill>
                              <a:srgbClr val="000000"/>
                            </a:solidFill>
                            <a:latin typeface="Cambria Math" panose="02040503050406030204" pitchFamily="18" charset="0"/>
                            <a:ea typeface="楷体_GB2312"/>
                            <a:cs typeface="Times New Roman" panose="02020603050405020304" pitchFamily="18" charset="0"/>
                          </a:rPr>
                          <m:t>𝑡</m:t>
                        </m:r>
                        <m:r>
                          <a:rPr lang="en-US" altLang="zh-CN"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𝑏</m:t>
                        </m:r>
                      </m:e>
                      <m:sub>
                        <m:r>
                          <a:rPr lang="en-US" altLang="zh-CN" i="1">
                            <a:solidFill>
                              <a:srgbClr val="000000"/>
                            </a:solidFill>
                            <a:latin typeface="Cambria Math" panose="02040503050406030204" pitchFamily="18" charset="0"/>
                            <a:ea typeface="楷体_GB2312"/>
                            <a:cs typeface="Times New Roman" panose="02020603050405020304" pitchFamily="18" charset="0"/>
                          </a:rPr>
                          <m:t>𝑐</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可以看出，对当前时刻</a:t>
                </a:r>
                <a14:m>
                  <m:oMath xmlns:m="http://schemas.openxmlformats.org/officeDocument/2006/math">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𝑡</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所对应内部记忆单元中信息的调整涉及到遗忘门信息、</a:t>
                </a:r>
                <a14:m>
                  <m:oMath xmlns:m="http://schemas.openxmlformats.org/officeDocument/2006/math">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𝑡</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时刻所对应内部记忆单元中信息、输入门信息和</a:t>
                </a:r>
                <a14:m>
                  <m:oMath xmlns:m="http://schemas.openxmlformats.org/officeDocument/2006/math">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𝑡</m:t>
                    </m:r>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时刻的隐式编码。</a:t>
                </a:r>
              </a:p>
              <a:p>
                <a:pPr marL="285750" indent="-285750" algn="just">
                  <a:lnSpc>
                    <a:spcPct val="150000"/>
                  </a:lnSpc>
                  <a:spcAft>
                    <a:spcPts val="0"/>
                  </a:spcAft>
                  <a:buFont typeface="Wingdings" panose="05000000000000000000" pitchFamily="2" charset="2"/>
                  <a:buChar char="l"/>
                </a:pP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96D79FD9-4EAA-4E9E-BD44-6C8D9C5933EB}"/>
                  </a:ext>
                </a:extLst>
              </p:cNvPr>
              <p:cNvSpPr>
                <a:spLocks noRot="1" noChangeAspect="1" noMove="1" noResize="1" noEditPoints="1" noAdjustHandles="1" noChangeArrowheads="1" noChangeShapeType="1" noTextEdit="1"/>
              </p:cNvSpPr>
              <p:nvPr/>
            </p:nvSpPr>
            <p:spPr>
              <a:xfrm>
                <a:off x="754966" y="1356838"/>
                <a:ext cx="10883704" cy="3782061"/>
              </a:xfrm>
              <a:prstGeom prst="rect">
                <a:avLst/>
              </a:prstGeom>
              <a:blipFill>
                <a:blip r:embed="rId3"/>
                <a:stretch>
                  <a:fillRect l="-392" r="-4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72709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循环神经网络：长短时记忆模型</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三、循环神经网络</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DD0BDAD3-2B6A-4E5D-B094-62FF0B0395D6}"/>
                  </a:ext>
                </a:extLst>
              </p:cNvPr>
              <p:cNvSpPr/>
              <p:nvPr/>
            </p:nvSpPr>
            <p:spPr>
              <a:xfrm>
                <a:off x="941569" y="1998271"/>
                <a:ext cx="10476708" cy="3337517"/>
              </a:xfrm>
              <a:prstGeom prst="rect">
                <a:avLst/>
              </a:prstGeom>
            </p:spPr>
            <p:txBody>
              <a:bodyPr wrap="square">
                <a:spAutoFit/>
              </a:bodyPr>
              <a:lstStyle/>
              <a:p>
                <a:pPr indent="266700" algn="just">
                  <a:lnSpc>
                    <a:spcPts val="2200"/>
                  </a:lnSpc>
                  <a:spcAft>
                    <a:spcPts val="0"/>
                  </a:spcAft>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在介绍循环神经网络时，谈及到了根据误差来更新参数存在梯度消失问题，下面来看看</a:t>
                </a:r>
                <a:r>
                  <a:rPr lang="en-US" altLang="zh-CN" sz="2000" dirty="0">
                    <a:solidFill>
                      <a:schemeClr val="accent2"/>
                    </a:solidFill>
                    <a:latin typeface="Times New Roman" panose="02020603050405020304" pitchFamily="18" charset="0"/>
                    <a:ea typeface="楷体_GB2312"/>
                    <a:cs typeface="Times New Roman" panose="02020603050405020304" pitchFamily="18" charset="0"/>
                  </a:rPr>
                  <a:t>LSTM</a:t>
                </a:r>
                <a:r>
                  <a:rPr lang="zh-CN" altLang="zh-CN" sz="2000" dirty="0">
                    <a:solidFill>
                      <a:schemeClr val="accent2"/>
                    </a:solidFill>
                    <a:latin typeface="Times New Roman" panose="02020603050405020304" pitchFamily="18" charset="0"/>
                    <a:ea typeface="楷体_GB2312"/>
                    <a:cs typeface="Times New Roman" panose="02020603050405020304" pitchFamily="18" charset="0"/>
                  </a:rPr>
                  <a:t>如何避免了梯度消失问题</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a:t>
                </a:r>
              </a:p>
              <a:p>
                <a:pPr indent="266700" algn="just">
                  <a:lnSpc>
                    <a:spcPts val="2200"/>
                  </a:lnSpc>
                  <a:spcAft>
                    <a:spcPts val="600"/>
                  </a:spcAft>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对于</a:t>
                </a:r>
                <a14:m>
                  <m:oMath xmlns:m="http://schemas.openxmlformats.org/officeDocument/2006/math">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𝑐</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𝑡</m:t>
                        </m:r>
                      </m:sub>
                    </m:sSub>
                    <m:r>
                      <a:rPr lang="en-US" altLang="zh-CN" sz="20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𝑓</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𝑡</m:t>
                        </m:r>
                      </m:sub>
                    </m:sSub>
                    <m:r>
                      <a:rPr lang="en-US" altLang="zh-CN" sz="20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𝑐</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𝑡</m:t>
                        </m:r>
                        <m:r>
                          <a:rPr lang="en-US" altLang="zh-CN" sz="2000"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sz="20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𝑡</m:t>
                        </m:r>
                      </m:sub>
                    </m:sSub>
                    <m:r>
                      <a:rPr lang="en-US" altLang="zh-CN" sz="2000" i="1">
                        <a:solidFill>
                          <a:srgbClr val="000000"/>
                        </a:solidFill>
                        <a:latin typeface="Cambria Math" panose="02040503050406030204" pitchFamily="18" charset="0"/>
                        <a:ea typeface="楷体_GB2312"/>
                        <a:cs typeface="Times New Roman" panose="02020603050405020304" pitchFamily="18" charset="0"/>
                      </a:rPr>
                      <m:t>⊙</m:t>
                    </m:r>
                    <m:r>
                      <a:rPr lang="en-US" altLang="zh-CN" sz="2000" i="1">
                        <a:solidFill>
                          <a:srgbClr val="000000"/>
                        </a:solidFill>
                        <a:latin typeface="Cambria Math" panose="02040503050406030204" pitchFamily="18" charset="0"/>
                        <a:ea typeface="楷体_GB2312"/>
                        <a:cs typeface="Times New Roman" panose="02020603050405020304" pitchFamily="18" charset="0"/>
                      </a:rPr>
                      <m:t>𝑡𝑎𝑛h</m:t>
                    </m:r>
                    <m:r>
                      <a:rPr lang="en-US" altLang="zh-CN" sz="20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𝑊</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𝑥𝑐</m:t>
                        </m:r>
                      </m:sub>
                    </m:sSub>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𝑡</m:t>
                        </m:r>
                      </m:sub>
                    </m:sSub>
                    <m:r>
                      <a:rPr lang="en-US" altLang="zh-CN" sz="20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𝑊</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h𝑐</m:t>
                        </m:r>
                      </m:sub>
                    </m:sSub>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h</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𝑡</m:t>
                        </m:r>
                        <m:r>
                          <a:rPr lang="en-US" altLang="zh-CN" sz="2000"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sz="20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𝑏</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𝑐</m:t>
                        </m:r>
                      </m:sub>
                    </m:sSub>
                    <m:r>
                      <a:rPr lang="en-US" altLang="zh-CN" sz="20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，有如下求导结果的存在：</a:t>
                </a:r>
              </a:p>
              <a:p>
                <a:pPr indent="266700">
                  <a:lnSpc>
                    <a:spcPct val="150000"/>
                  </a:lnSpc>
                  <a:spcAft>
                    <a:spcPts val="600"/>
                  </a:spcAft>
                </a:pPr>
                <a14:m>
                  <m:oMathPara xmlns:m="http://schemas.openxmlformats.org/officeDocument/2006/math">
                    <m:oMathParaPr>
                      <m:jc m:val="centerGroup"/>
                    </m:oMathParaPr>
                    <m:oMath xmlns:m="http://schemas.openxmlformats.org/officeDocument/2006/math">
                      <m:f>
                        <m:f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𝑐</m:t>
                              </m:r>
                            </m:e>
                            <m: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𝑡</m:t>
                              </m:r>
                            </m:sub>
                          </m:sSub>
                        </m:num>
                        <m:den>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𝑐</m:t>
                              </m:r>
                            </m:e>
                            <m: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−1</m:t>
                              </m:r>
                            </m:sub>
                          </m:sSub>
                        </m:den>
                      </m:f>
                      <m:r>
                        <a:rPr lang="en-US" altLang="zh-CN" sz="2000"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𝑓</m:t>
                          </m:r>
                        </m:e>
                        <m: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𝑡</m:t>
                          </m:r>
                        </m:sub>
                      </m:s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f>
                        <m:f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𝑓</m:t>
                              </m:r>
                            </m:e>
                            <m: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𝑡</m:t>
                              </m:r>
                            </m:sub>
                          </m:sSub>
                        </m:num>
                        <m:den>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𝑐</m:t>
                              </m:r>
                            </m:e>
                            <m: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−1</m:t>
                              </m:r>
                            </m:sub>
                          </m:sSub>
                        </m:den>
                      </m:f>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𝑐</m:t>
                          </m:r>
                        </m:e>
                        <m: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𝑡</m:t>
                          </m:r>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−1</m:t>
                          </m:r>
                        </m:sub>
                      </m:sSub>
                      <m:r>
                        <a:rPr lang="en-US" altLang="zh-CN" sz="2000" i="1" kern="100">
                          <a:latin typeface="Cambria Math" panose="02040503050406030204" pitchFamily="18" charset="0"/>
                          <a:ea typeface="华文楷体" panose="02010600040101010101" pitchFamily="2" charset="-122"/>
                          <a:cs typeface="Times New Roman" panose="02020603050405020304" pitchFamily="18" charset="0"/>
                        </a:rPr>
                        <m:t>+⋯⋯</m:t>
                      </m:r>
                    </m:oMath>
                  </m:oMathPara>
                </a14:m>
                <a:endParaRPr lang="zh-CN" altLang="zh-CN" sz="20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3500"/>
                  </a:lnSpc>
                  <a:spcAft>
                    <a:spcPts val="0"/>
                  </a:spcAft>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可见，</a:t>
                </a:r>
                <a14:m>
                  <m:oMath xmlns:m="http://schemas.openxmlformats.org/officeDocument/2006/math">
                    <m:f>
                      <m:f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0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𝑐</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𝑡</m:t>
                            </m:r>
                          </m:sub>
                        </m:sSub>
                      </m:num>
                      <m:den>
                        <m:r>
                          <a:rPr lang="en-US" altLang="zh-CN" sz="20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𝑐</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𝑡</m:t>
                            </m:r>
                            <m:r>
                              <a:rPr lang="en-US" altLang="zh-CN" sz="2000" i="1">
                                <a:solidFill>
                                  <a:srgbClr val="000000"/>
                                </a:solidFill>
                                <a:latin typeface="Cambria Math" panose="02040503050406030204" pitchFamily="18" charset="0"/>
                                <a:ea typeface="楷体_GB2312"/>
                                <a:cs typeface="Times New Roman" panose="02020603050405020304" pitchFamily="18" charset="0"/>
                              </a:rPr>
                              <m:t>−1</m:t>
                            </m:r>
                          </m:sub>
                        </m:sSub>
                      </m:den>
                    </m:f>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求导的结果至少大于等于</a:t>
                </a:r>
                <a14:m>
                  <m:oMath xmlns:m="http://schemas.openxmlformats.org/officeDocument/2006/math">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𝑓</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𝑡</m:t>
                        </m:r>
                      </m:sub>
                    </m:sSub>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，即遗忘门的输出结果。如果</a:t>
                </a:r>
                <a:r>
                  <a:rPr lang="zh-CN" altLang="zh-CN" sz="2000" dirty="0">
                    <a:solidFill>
                      <a:schemeClr val="accent2"/>
                    </a:solidFill>
                    <a:latin typeface="Times New Roman" panose="02020603050405020304" pitchFamily="18" charset="0"/>
                    <a:ea typeface="楷体_GB2312"/>
                    <a:cs typeface="Times New Roman" panose="02020603050405020304" pitchFamily="18" charset="0"/>
                  </a:rPr>
                  <a:t>遗忘门</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选择保留旧状态，则这一求导结果就接近</a:t>
                </a:r>
                <a:r>
                  <a:rPr lang="en-US" altLang="zh-CN" sz="2000" dirty="0">
                    <a:solidFill>
                      <a:srgbClr val="000000"/>
                    </a:solidFill>
                    <a:latin typeface="Times New Roman" panose="02020603050405020304" pitchFamily="18" charset="0"/>
                    <a:ea typeface="楷体_GB2312"/>
                    <a:cs typeface="Times New Roman" panose="02020603050405020304" pitchFamily="18" charset="0"/>
                  </a:rPr>
                  <a:t>1</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（或者接近向量</a:t>
                </a:r>
                <a:r>
                  <a:rPr lang="en-US" altLang="zh-CN" sz="2000" dirty="0">
                    <a:solidFill>
                      <a:srgbClr val="000000"/>
                    </a:solidFill>
                    <a:latin typeface="Times New Roman" panose="02020603050405020304" pitchFamily="18" charset="0"/>
                    <a:ea typeface="楷体_GB2312"/>
                    <a:cs typeface="Times New Roman" panose="02020603050405020304" pitchFamily="18" charset="0"/>
                  </a:rPr>
                  <a:t>1</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），使得梯度是存在的，从而避免了梯度消失问题。</a:t>
                </a:r>
                <a:r>
                  <a:rPr lang="zh-CN" altLang="en-US" sz="2000" dirty="0">
                    <a:solidFill>
                      <a:srgbClr val="000000"/>
                    </a:solidFill>
                    <a:latin typeface="Times New Roman" panose="02020603050405020304" pitchFamily="18" charset="0"/>
                    <a:ea typeface="楷体_GB2312"/>
                    <a:cs typeface="Times New Roman" panose="02020603050405020304" pitchFamily="18" charset="0"/>
                  </a:rPr>
                  <a:t>并且</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，在从</a:t>
                </a:r>
                <a14:m>
                  <m:oMath xmlns:m="http://schemas.openxmlformats.org/officeDocument/2006/math">
                    <m:r>
                      <a:rPr lang="en-US"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𝑡</m:t>
                    </m:r>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到</a:t>
                </a:r>
                <a14:m>
                  <m:oMath xmlns:m="http://schemas.openxmlformats.org/officeDocument/2006/math">
                    <m:r>
                      <a:rPr lang="en-US"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𝑡</m:t>
                    </m:r>
                    <m:r>
                      <a:rPr lang="en-US"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过程中引入</a:t>
                </a:r>
                <a:r>
                  <a:rPr lang="zh-CN" altLang="zh-CN" sz="2000" dirty="0">
                    <a:solidFill>
                      <a:schemeClr val="accent2"/>
                    </a:solidFill>
                    <a:latin typeface="Times New Roman" panose="02020603050405020304" pitchFamily="18" charset="0"/>
                    <a:ea typeface="楷体_GB2312"/>
                    <a:cs typeface="Times New Roman" panose="02020603050405020304" pitchFamily="18" charset="0"/>
                  </a:rPr>
                  <a:t>加法</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来进行信息更新，避免了梯度消失问题。</a:t>
                </a:r>
              </a:p>
            </p:txBody>
          </p:sp>
        </mc:Choice>
        <mc:Fallback xmlns="">
          <p:sp>
            <p:nvSpPr>
              <p:cNvPr id="7" name="矩形 6">
                <a:extLst>
                  <a:ext uri="{FF2B5EF4-FFF2-40B4-BE49-F238E27FC236}">
                    <a16:creationId xmlns:a16="http://schemas.microsoft.com/office/drawing/2014/main" id="{DD0BDAD3-2B6A-4E5D-B094-62FF0B0395D6}"/>
                  </a:ext>
                </a:extLst>
              </p:cNvPr>
              <p:cNvSpPr>
                <a:spLocks noRot="1" noChangeAspect="1" noMove="1" noResize="1" noEditPoints="1" noAdjustHandles="1" noChangeArrowheads="1" noChangeShapeType="1" noTextEdit="1"/>
              </p:cNvSpPr>
              <p:nvPr/>
            </p:nvSpPr>
            <p:spPr>
              <a:xfrm>
                <a:off x="941569" y="1998271"/>
                <a:ext cx="10476708" cy="3337517"/>
              </a:xfrm>
              <a:prstGeom prst="rect">
                <a:avLst/>
              </a:prstGeom>
              <a:blipFill>
                <a:blip r:embed="rId3"/>
                <a:stretch>
                  <a:fillRect l="-582" t="-1828" r="-640" b="-2559"/>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E00A34FC-D880-ACF3-0B50-C0E52B7721C8}"/>
              </a:ext>
            </a:extLst>
          </p:cNvPr>
          <p:cNvPicPr>
            <a:picLocks noChangeAspect="1"/>
          </p:cNvPicPr>
          <p:nvPr/>
        </p:nvPicPr>
        <p:blipFill>
          <a:blip r:embed="rId4"/>
          <a:stretch>
            <a:fillRect/>
          </a:stretch>
        </p:blipFill>
        <p:spPr>
          <a:xfrm>
            <a:off x="3100788" y="2124562"/>
            <a:ext cx="6409524" cy="36190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椭圆 8">
            <a:extLst>
              <a:ext uri="{FF2B5EF4-FFF2-40B4-BE49-F238E27FC236}">
                <a16:creationId xmlns:a16="http://schemas.microsoft.com/office/drawing/2014/main" id="{23789F7B-4E3A-E163-2C26-AE4E95121E86}"/>
              </a:ext>
            </a:extLst>
          </p:cNvPr>
          <p:cNvSpPr/>
          <p:nvPr/>
        </p:nvSpPr>
        <p:spPr>
          <a:xfrm>
            <a:off x="6492321" y="5302193"/>
            <a:ext cx="1737823" cy="473242"/>
          </a:xfrm>
          <a:prstGeom prst="ellipse">
            <a:avLst/>
          </a:prstGeom>
          <a:noFill/>
          <a:ln w="28575">
            <a:solidFill>
              <a:schemeClr val="accent5"/>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B61FEFBB-6AB3-C62E-7303-76439A66C89E}"/>
              </a:ext>
            </a:extLst>
          </p:cNvPr>
          <p:cNvSpPr/>
          <p:nvPr/>
        </p:nvSpPr>
        <p:spPr>
          <a:xfrm>
            <a:off x="7463327" y="3018400"/>
            <a:ext cx="401057" cy="473242"/>
          </a:xfrm>
          <a:prstGeom prst="ellipse">
            <a:avLst/>
          </a:prstGeom>
          <a:noFill/>
          <a:ln w="28575">
            <a:solidFill>
              <a:schemeClr val="accent5"/>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1727678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9D1EE027-C1BA-E3C9-9512-D289457DAB77}"/>
              </a:ext>
            </a:extLst>
          </p:cNvPr>
          <p:cNvPicPr>
            <a:picLocks noChangeAspect="1"/>
          </p:cNvPicPr>
          <p:nvPr/>
        </p:nvPicPr>
        <p:blipFill>
          <a:blip r:embed="rId3"/>
          <a:stretch>
            <a:fillRect/>
          </a:stretch>
        </p:blipFill>
        <p:spPr>
          <a:xfrm>
            <a:off x="6452564" y="1221950"/>
            <a:ext cx="5009584" cy="2195601"/>
          </a:xfrm>
          <a:prstGeom prst="rect">
            <a:avLst/>
          </a:prstGeom>
        </p:spPr>
      </p:pic>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注意力机制</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四、注意力与正则化</a:t>
            </a:r>
            <a:endParaRPr lang="zh-CN" altLang="en-US" sz="1600" dirty="0">
              <a:solidFill>
                <a:srgbClr val="000000"/>
              </a:solidFill>
              <a:latin typeface="Times New Roman" panose="02020603050405020304" pitchFamily="18" charset="0"/>
            </a:endParaRPr>
          </a:p>
        </p:txBody>
      </p:sp>
      <p:sp>
        <p:nvSpPr>
          <p:cNvPr id="7" name="矩形 6">
            <a:extLst>
              <a:ext uri="{FF2B5EF4-FFF2-40B4-BE49-F238E27FC236}">
                <a16:creationId xmlns:a16="http://schemas.microsoft.com/office/drawing/2014/main" id="{DD0BDAD3-2B6A-4E5D-B094-62FF0B0395D6}"/>
              </a:ext>
            </a:extLst>
          </p:cNvPr>
          <p:cNvSpPr/>
          <p:nvPr/>
        </p:nvSpPr>
        <p:spPr>
          <a:xfrm>
            <a:off x="993150" y="1632511"/>
            <a:ext cx="4737089" cy="4850046"/>
          </a:xfrm>
          <a:prstGeom prst="rect">
            <a:avLst/>
          </a:prstGeom>
        </p:spPr>
        <p:txBody>
          <a:bodyPr wrap="square">
            <a:spAutoFit/>
          </a:bodyPr>
          <a:lstStyle/>
          <a:p>
            <a:pPr marL="285750" indent="-285750" algn="just">
              <a:lnSpc>
                <a:spcPct val="150000"/>
              </a:lnSpc>
              <a:buFont typeface="Wingdings" panose="05000000000000000000" pitchFamily="2" charset="2"/>
              <a:buChar char="l"/>
            </a:pPr>
            <a:r>
              <a:rPr lang="zh-CN" altLang="en-US"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注意指意识对一定信息或对象的指向与集中的过程</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，具有</a:t>
            </a:r>
            <a:r>
              <a:rPr lang="zh-CN" altLang="en-US"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选择性</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和</a:t>
            </a:r>
            <a:r>
              <a:rPr lang="zh-CN" altLang="en-US"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集中性</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等特点，是一切心理过程得以产生和进行的必不可少的心理属性。</a:t>
            </a:r>
          </a:p>
          <a:p>
            <a:pPr marL="285750" indent="-285750" algn="just">
              <a:lnSpc>
                <a:spcPct val="150000"/>
              </a:lnSpc>
              <a:buFont typeface="Wingdings" panose="05000000000000000000" pitchFamily="2" charset="2"/>
              <a:buChar char="l"/>
            </a:pPr>
            <a:r>
              <a:rPr lang="zh-CN" altLang="en-US"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在自然语言中，注意力可理解为句子级或篇章级中单词和单词之间因为上下文而共同出现的概率；在图像分析中，注意力可理解为在一定视觉区域中视觉子块之间的空间分布模式；在机器翻译中，注意力可理解为输入源语言单词和输出目标语言单词之间的关联。</a:t>
            </a:r>
          </a:p>
          <a:p>
            <a:pPr marL="285750" indent="-285750" algn="just">
              <a:lnSpc>
                <a:spcPct val="150000"/>
              </a:lnSpc>
              <a:buFont typeface="Wingdings" panose="05000000000000000000" pitchFamily="2" charset="2"/>
              <a:buChar char="l"/>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谷歌公司的研究人员于</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2017</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年提出了</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Transformer</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模型，引入“自注意力（</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self-attention</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）”来计算自然语言句子中单词和单词之间的概率关联（</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Ashish et al.</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2017</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3" name="文本框 12">
            <a:extLst>
              <a:ext uri="{FF2B5EF4-FFF2-40B4-BE49-F238E27FC236}">
                <a16:creationId xmlns:a16="http://schemas.microsoft.com/office/drawing/2014/main" id="{CB11FA8C-87AD-8AAA-8E10-F20FE63D7DCA}"/>
              </a:ext>
            </a:extLst>
          </p:cNvPr>
          <p:cNvSpPr txBox="1"/>
          <p:nvPr/>
        </p:nvSpPr>
        <p:spPr>
          <a:xfrm>
            <a:off x="6452563" y="3387617"/>
            <a:ext cx="5127525" cy="523220"/>
          </a:xfrm>
          <a:prstGeom prst="rect">
            <a:avLst/>
          </a:prstGeom>
          <a:noFill/>
        </p:spPr>
        <p:txBody>
          <a:bodyPr wrap="square">
            <a:spAutoFit/>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Show, Attend and Tell: Neural Image Caption Generation with Visual Attention</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ICML</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2015</a:t>
            </a:r>
            <a:endParaRPr lang="zh-CN" altLang="en-US" sz="1400" dirty="0"/>
          </a:p>
        </p:txBody>
      </p:sp>
      <p:pic>
        <p:nvPicPr>
          <p:cNvPr id="15" name="图片 14">
            <a:extLst>
              <a:ext uri="{FF2B5EF4-FFF2-40B4-BE49-F238E27FC236}">
                <a16:creationId xmlns:a16="http://schemas.microsoft.com/office/drawing/2014/main" id="{17E7E4B2-73E3-1513-3EC6-E0D3D662D017}"/>
              </a:ext>
            </a:extLst>
          </p:cNvPr>
          <p:cNvPicPr>
            <a:picLocks noChangeAspect="1"/>
          </p:cNvPicPr>
          <p:nvPr/>
        </p:nvPicPr>
        <p:blipFill>
          <a:blip r:embed="rId4"/>
          <a:stretch>
            <a:fillRect/>
          </a:stretch>
        </p:blipFill>
        <p:spPr>
          <a:xfrm>
            <a:off x="6742407" y="3907904"/>
            <a:ext cx="4456443" cy="23924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1" name="文本框 20">
            <a:extLst>
              <a:ext uri="{FF2B5EF4-FFF2-40B4-BE49-F238E27FC236}">
                <a16:creationId xmlns:a16="http://schemas.microsoft.com/office/drawing/2014/main" id="{52A383CA-990C-E5B5-6225-5F3DEA2ADEB7}"/>
              </a:ext>
            </a:extLst>
          </p:cNvPr>
          <p:cNvSpPr txBox="1"/>
          <p:nvPr/>
        </p:nvSpPr>
        <p:spPr>
          <a:xfrm>
            <a:off x="7266541" y="6300399"/>
            <a:ext cx="3408174" cy="307777"/>
          </a:xfrm>
          <a:prstGeom prst="rect">
            <a:avLst/>
          </a:prstGeom>
          <a:noFill/>
        </p:spPr>
        <p:txBody>
          <a:bodyPr wrap="square">
            <a:spAutoFit/>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Attention Is All You Need,</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dirty="0" err="1">
                <a:latin typeface="Times New Roman" panose="02020603050405020304" pitchFamily="18" charset="0"/>
                <a:ea typeface="微软雅黑" panose="020B0503020204020204" pitchFamily="34" charset="-122"/>
                <a:cs typeface="Times New Roman" panose="02020603050405020304" pitchFamily="18" charset="0"/>
              </a:rPr>
              <a:t>NeurIPS</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2017</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15160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8661071-D74D-841A-9EB0-C4A862305519}"/>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9A5BF0A2-2182-2F90-34B5-86DBAAC63998}"/>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E8E3FDFF-2C87-0588-CE29-4F554DE6787D}"/>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8FFEC43F-940E-67FB-7D91-BA171B7B0E8E}"/>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注意力机制：朴素注意力机制</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pic>
        <p:nvPicPr>
          <p:cNvPr id="6" name="Picture 2" descr="在这里插入图片描述">
            <a:extLst>
              <a:ext uri="{FF2B5EF4-FFF2-40B4-BE49-F238E27FC236}">
                <a16:creationId xmlns:a16="http://schemas.microsoft.com/office/drawing/2014/main" id="{6AD992F7-1EF7-1F97-A9B2-85C54C16B1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815" y="1419496"/>
            <a:ext cx="6367525" cy="4846319"/>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a:extLst>
              <a:ext uri="{FF2B5EF4-FFF2-40B4-BE49-F238E27FC236}">
                <a16:creationId xmlns:a16="http://schemas.microsoft.com/office/drawing/2014/main" id="{B185D676-36FE-C070-E31B-035FF280CFE1}"/>
              </a:ext>
            </a:extLst>
          </p:cNvPr>
          <p:cNvSpPr/>
          <p:nvPr/>
        </p:nvSpPr>
        <p:spPr>
          <a:xfrm>
            <a:off x="6461760" y="1767840"/>
            <a:ext cx="5599611" cy="31089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t>注：</a:t>
            </a:r>
            <a:endParaRPr lang="en-US" altLang="zh-CN" dirty="0"/>
          </a:p>
          <a:p>
            <a:r>
              <a:rPr lang="en-US" altLang="zh-CN" dirty="0"/>
              <a:t>Query</a:t>
            </a:r>
            <a:r>
              <a:rPr lang="zh-CN" altLang="en-US" dirty="0"/>
              <a:t> ：查询向量（</a:t>
            </a:r>
            <a:r>
              <a:rPr lang="en-US" altLang="zh-CN" dirty="0"/>
              <a:t>1</a:t>
            </a:r>
            <a:r>
              <a:rPr lang="zh-CN" altLang="en-US" dirty="0"/>
              <a:t>个向量）</a:t>
            </a:r>
            <a:endParaRPr lang="en-US" altLang="zh-CN" dirty="0"/>
          </a:p>
          <a:p>
            <a:r>
              <a:rPr lang="en-US" altLang="zh-CN" dirty="0"/>
              <a:t>Key1~4</a:t>
            </a:r>
            <a:r>
              <a:rPr lang="zh-CN" altLang="en-US" dirty="0"/>
              <a:t>：键向量（</a:t>
            </a:r>
            <a:r>
              <a:rPr lang="en-US" altLang="zh-CN" dirty="0"/>
              <a:t>4</a:t>
            </a:r>
            <a:r>
              <a:rPr lang="zh-CN" altLang="en-US" dirty="0"/>
              <a:t>个向量）</a:t>
            </a:r>
            <a:endParaRPr lang="en-US" altLang="zh-CN" dirty="0"/>
          </a:p>
          <a:p>
            <a:r>
              <a:rPr lang="en-US" altLang="zh-CN" dirty="0"/>
              <a:t>Value1~4</a:t>
            </a:r>
            <a:r>
              <a:rPr lang="zh-CN" altLang="en-US" dirty="0"/>
              <a:t>：值向量（</a:t>
            </a:r>
            <a:r>
              <a:rPr lang="en-US" altLang="zh-CN" dirty="0"/>
              <a:t>4</a:t>
            </a:r>
            <a:r>
              <a:rPr lang="zh-CN" altLang="en-US" dirty="0"/>
              <a:t>个向量）</a:t>
            </a:r>
            <a:endParaRPr lang="en-US" altLang="zh-CN" dirty="0"/>
          </a:p>
          <a:p>
            <a:r>
              <a:rPr lang="en-US" altLang="zh-CN" dirty="0"/>
              <a:t>F(Q,K)</a:t>
            </a:r>
            <a:r>
              <a:rPr lang="zh-CN" altLang="en-US" dirty="0"/>
              <a:t>：融合查询向量和键向量，可以是乘法函数或加法函数等</a:t>
            </a:r>
            <a:endParaRPr lang="en-US" altLang="zh-CN" dirty="0"/>
          </a:p>
          <a:p>
            <a:r>
              <a:rPr lang="en-US" altLang="zh-CN" dirty="0"/>
              <a:t>s1~4</a:t>
            </a:r>
            <a:r>
              <a:rPr lang="zh-CN" altLang="en-US" dirty="0"/>
              <a:t>：未归一化的注意力得分（</a:t>
            </a:r>
            <a:r>
              <a:rPr lang="en-US" altLang="zh-CN" dirty="0"/>
              <a:t>1</a:t>
            </a:r>
            <a:r>
              <a:rPr lang="zh-CN" altLang="en-US" dirty="0"/>
              <a:t>个实数值）</a:t>
            </a:r>
            <a:endParaRPr lang="en-US" altLang="zh-CN" dirty="0"/>
          </a:p>
          <a:p>
            <a:r>
              <a:rPr lang="en-US" altLang="zh-CN" dirty="0"/>
              <a:t>a1~4</a:t>
            </a:r>
            <a:r>
              <a:rPr lang="zh-CN" altLang="en-US" dirty="0"/>
              <a:t>：归一化的注意力得分（</a:t>
            </a:r>
            <a:r>
              <a:rPr lang="en-US" altLang="zh-CN" dirty="0"/>
              <a:t>1</a:t>
            </a:r>
            <a:r>
              <a:rPr lang="zh-CN" altLang="en-US" dirty="0"/>
              <a:t>个实数值）</a:t>
            </a:r>
          </a:p>
          <a:p>
            <a:r>
              <a:rPr lang="en-US" altLang="zh-CN" dirty="0"/>
              <a:t>Attention Value</a:t>
            </a:r>
            <a:r>
              <a:rPr lang="zh-CN" altLang="en-US" dirty="0"/>
              <a:t>：运用注意力得分加权后的向量（</a:t>
            </a:r>
            <a:r>
              <a:rPr lang="en-US" altLang="zh-CN" dirty="0"/>
              <a:t>1</a:t>
            </a:r>
            <a:r>
              <a:rPr lang="zh-CN" altLang="en-US" dirty="0"/>
              <a:t>个向量）</a:t>
            </a:r>
            <a:endParaRPr lang="en-US" altLang="zh-CN" dirty="0"/>
          </a:p>
        </p:txBody>
      </p:sp>
      <p:sp>
        <p:nvSpPr>
          <p:cNvPr id="9" name="右大括号 8">
            <a:extLst>
              <a:ext uri="{FF2B5EF4-FFF2-40B4-BE49-F238E27FC236}">
                <a16:creationId xmlns:a16="http://schemas.microsoft.com/office/drawing/2014/main" id="{EDFF6CD4-7414-1273-5DE1-ED55EE02F398}"/>
              </a:ext>
            </a:extLst>
          </p:cNvPr>
          <p:cNvSpPr/>
          <p:nvPr/>
        </p:nvSpPr>
        <p:spPr>
          <a:xfrm rot="10800000">
            <a:off x="6062272" y="2261660"/>
            <a:ext cx="330925" cy="77506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0736F7B6-DADD-C0AB-AB47-19CB6DE9E36F}"/>
              </a:ext>
            </a:extLst>
          </p:cNvPr>
          <p:cNvSpPr txBox="1"/>
          <p:nvPr/>
        </p:nvSpPr>
        <p:spPr>
          <a:xfrm>
            <a:off x="5501675" y="4275656"/>
            <a:ext cx="984069" cy="369332"/>
          </a:xfrm>
          <a:prstGeom prst="rect">
            <a:avLst/>
          </a:prstGeom>
          <a:noFill/>
        </p:spPr>
        <p:txBody>
          <a:bodyPr wrap="square" rtlCol="0">
            <a:spAutoFit/>
          </a:bodyPr>
          <a:lstStyle/>
          <a:p>
            <a:r>
              <a:rPr lang="zh-CN" altLang="en-US" dirty="0">
                <a:solidFill>
                  <a:schemeClr val="accent1"/>
                </a:solidFill>
              </a:rPr>
              <a:t>输出</a:t>
            </a:r>
          </a:p>
        </p:txBody>
      </p:sp>
      <p:sp>
        <p:nvSpPr>
          <p:cNvPr id="11" name="右大括号 10">
            <a:extLst>
              <a:ext uri="{FF2B5EF4-FFF2-40B4-BE49-F238E27FC236}">
                <a16:creationId xmlns:a16="http://schemas.microsoft.com/office/drawing/2014/main" id="{7489EE5E-E349-B7CF-49C8-D730875594D5}"/>
              </a:ext>
            </a:extLst>
          </p:cNvPr>
          <p:cNvSpPr/>
          <p:nvPr/>
        </p:nvSpPr>
        <p:spPr>
          <a:xfrm rot="10800000">
            <a:off x="6062270" y="4165764"/>
            <a:ext cx="330925" cy="58911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2CDD232F-8C3B-FD60-F864-6E64C1B751F2}"/>
              </a:ext>
            </a:extLst>
          </p:cNvPr>
          <p:cNvSpPr txBox="1"/>
          <p:nvPr/>
        </p:nvSpPr>
        <p:spPr>
          <a:xfrm>
            <a:off x="5501675" y="2471447"/>
            <a:ext cx="984069" cy="369332"/>
          </a:xfrm>
          <a:prstGeom prst="rect">
            <a:avLst/>
          </a:prstGeom>
          <a:noFill/>
        </p:spPr>
        <p:txBody>
          <a:bodyPr wrap="square" rtlCol="0">
            <a:spAutoFit/>
          </a:bodyPr>
          <a:lstStyle/>
          <a:p>
            <a:r>
              <a:rPr lang="zh-CN" altLang="en-US" dirty="0">
                <a:solidFill>
                  <a:schemeClr val="accent1"/>
                </a:solidFill>
              </a:rPr>
              <a:t>输入</a:t>
            </a:r>
          </a:p>
        </p:txBody>
      </p:sp>
    </p:spTree>
    <p:extLst>
      <p:ext uri="{BB962C8B-B14F-4D97-AF65-F5344CB8AC3E}">
        <p14:creationId xmlns:p14="http://schemas.microsoft.com/office/powerpoint/2010/main" val="3384832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animBg="1"/>
      <p:bldP spid="1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8661071-D74D-841A-9EB0-C4A862305519}"/>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9A5BF0A2-2182-2F90-34B5-86DBAAC63998}"/>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E8E3FDFF-2C87-0588-CE29-4F554DE6787D}"/>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8FFEC43F-940E-67FB-7D91-BA171B7B0E8E}"/>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注意力机制：朴素注意力机制的具体使用例子</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pic>
        <p:nvPicPr>
          <p:cNvPr id="7" name="图片 6">
            <a:extLst>
              <a:ext uri="{FF2B5EF4-FFF2-40B4-BE49-F238E27FC236}">
                <a16:creationId xmlns:a16="http://schemas.microsoft.com/office/drawing/2014/main" id="{14A2C2F3-C55A-8A19-3398-6FE774BEF7B7}"/>
              </a:ext>
            </a:extLst>
          </p:cNvPr>
          <p:cNvPicPr>
            <a:picLocks noChangeAspect="1"/>
          </p:cNvPicPr>
          <p:nvPr/>
        </p:nvPicPr>
        <p:blipFill>
          <a:blip r:embed="rId2"/>
          <a:stretch>
            <a:fillRect/>
          </a:stretch>
        </p:blipFill>
        <p:spPr>
          <a:xfrm>
            <a:off x="6452564" y="1221950"/>
            <a:ext cx="5009584" cy="2195601"/>
          </a:xfrm>
          <a:prstGeom prst="rect">
            <a:avLst/>
          </a:prstGeom>
        </p:spPr>
      </p:pic>
      <p:sp>
        <p:nvSpPr>
          <p:cNvPr id="13" name="文本框 12">
            <a:extLst>
              <a:ext uri="{FF2B5EF4-FFF2-40B4-BE49-F238E27FC236}">
                <a16:creationId xmlns:a16="http://schemas.microsoft.com/office/drawing/2014/main" id="{BE39E262-DB6C-6892-EF33-0BEEE4B8070A}"/>
              </a:ext>
            </a:extLst>
          </p:cNvPr>
          <p:cNvSpPr txBox="1"/>
          <p:nvPr/>
        </p:nvSpPr>
        <p:spPr>
          <a:xfrm>
            <a:off x="6452563" y="3387617"/>
            <a:ext cx="5127525" cy="523220"/>
          </a:xfrm>
          <a:prstGeom prst="rect">
            <a:avLst/>
          </a:prstGeom>
          <a:noFill/>
        </p:spPr>
        <p:txBody>
          <a:bodyPr wrap="square">
            <a:spAutoFit/>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Show, Attend and Tell: Neural Image Caption Generation with Visual Attention</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ICML</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2015</a:t>
            </a:r>
            <a:endParaRPr lang="zh-CN" altLang="en-US" sz="1400" dirty="0"/>
          </a:p>
        </p:txBody>
      </p:sp>
      <p:pic>
        <p:nvPicPr>
          <p:cNvPr id="14" name="图片 13">
            <a:extLst>
              <a:ext uri="{FF2B5EF4-FFF2-40B4-BE49-F238E27FC236}">
                <a16:creationId xmlns:a16="http://schemas.microsoft.com/office/drawing/2014/main" id="{C8FC8D7E-EAB7-D355-1A53-E51FCF1B011F}"/>
              </a:ext>
            </a:extLst>
          </p:cNvPr>
          <p:cNvPicPr>
            <a:picLocks noChangeAspect="1"/>
          </p:cNvPicPr>
          <p:nvPr/>
        </p:nvPicPr>
        <p:blipFill>
          <a:blip r:embed="rId3"/>
          <a:stretch>
            <a:fillRect/>
          </a:stretch>
        </p:blipFill>
        <p:spPr>
          <a:xfrm>
            <a:off x="1199114" y="2786568"/>
            <a:ext cx="4715117" cy="3525458"/>
          </a:xfrm>
          <a:prstGeom prst="rect">
            <a:avLst/>
          </a:prstGeom>
        </p:spPr>
      </p:pic>
      <p:pic>
        <p:nvPicPr>
          <p:cNvPr id="15" name="图片 14">
            <a:extLst>
              <a:ext uri="{FF2B5EF4-FFF2-40B4-BE49-F238E27FC236}">
                <a16:creationId xmlns:a16="http://schemas.microsoft.com/office/drawing/2014/main" id="{DD548850-71B3-0A2A-3A41-5C2AA73DF971}"/>
              </a:ext>
            </a:extLst>
          </p:cNvPr>
          <p:cNvPicPr>
            <a:picLocks noChangeAspect="1"/>
          </p:cNvPicPr>
          <p:nvPr/>
        </p:nvPicPr>
        <p:blipFill>
          <a:blip r:embed="rId4"/>
          <a:stretch>
            <a:fillRect/>
          </a:stretch>
        </p:blipFill>
        <p:spPr>
          <a:xfrm>
            <a:off x="6452562" y="3904812"/>
            <a:ext cx="3884512" cy="2721354"/>
          </a:xfrm>
          <a:prstGeom prst="rect">
            <a:avLst/>
          </a:prstGeom>
        </p:spPr>
      </p:pic>
      <p:sp>
        <p:nvSpPr>
          <p:cNvPr id="22" name="爆炸形: 8 pt  21">
            <a:extLst>
              <a:ext uri="{FF2B5EF4-FFF2-40B4-BE49-F238E27FC236}">
                <a16:creationId xmlns:a16="http://schemas.microsoft.com/office/drawing/2014/main" id="{556203A1-BA0E-9377-9903-211E84175B5F}"/>
              </a:ext>
            </a:extLst>
          </p:cNvPr>
          <p:cNvSpPr/>
          <p:nvPr/>
        </p:nvSpPr>
        <p:spPr>
          <a:xfrm>
            <a:off x="9718394" y="1785772"/>
            <a:ext cx="527538" cy="606669"/>
          </a:xfrm>
          <a:prstGeom prst="irregularSeal1">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768834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2"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D4C47102-9C74-B340-AE7A-52ADA34703D0}"/>
              </a:ext>
            </a:extLst>
          </p:cNvPr>
          <p:cNvPicPr>
            <a:picLocks noChangeAspect="1"/>
          </p:cNvPicPr>
          <p:nvPr/>
        </p:nvPicPr>
        <p:blipFill>
          <a:blip r:embed="rId2"/>
          <a:stretch>
            <a:fillRect/>
          </a:stretch>
        </p:blipFill>
        <p:spPr>
          <a:xfrm>
            <a:off x="260061" y="0"/>
            <a:ext cx="9172219" cy="6858000"/>
          </a:xfrm>
          <a:prstGeom prst="rect">
            <a:avLst/>
          </a:prstGeom>
        </p:spPr>
      </p:pic>
      <p:sp>
        <p:nvSpPr>
          <p:cNvPr id="11" name="箭头: 右 10">
            <a:extLst>
              <a:ext uri="{FF2B5EF4-FFF2-40B4-BE49-F238E27FC236}">
                <a16:creationId xmlns:a16="http://schemas.microsoft.com/office/drawing/2014/main" id="{0CAAF288-75F5-7D18-C34D-E31748E1396D}"/>
              </a:ext>
            </a:extLst>
          </p:cNvPr>
          <p:cNvSpPr/>
          <p:nvPr/>
        </p:nvSpPr>
        <p:spPr>
          <a:xfrm>
            <a:off x="5408023" y="1678056"/>
            <a:ext cx="687977" cy="4005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D61B61B8-0FEC-A0FD-B825-B22D3B2F72A9}"/>
                  </a:ext>
                </a:extLst>
              </p:cNvPr>
              <p:cNvSpPr txBox="1"/>
              <p:nvPr/>
            </p:nvSpPr>
            <p:spPr>
              <a:xfrm>
                <a:off x="6141685" y="1693687"/>
                <a:ext cx="488144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sz="180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𝑖</m:t>
                          </m:r>
                        </m:e>
                        <m:sub>
                          <m:r>
                            <a:rPr lang="en-US" altLang="zh-CN" sz="1800" i="1">
                              <a:solidFill>
                                <a:srgbClr val="000000"/>
                              </a:solidFill>
                              <a:latin typeface="Cambria Math" panose="02040503050406030204" pitchFamily="18" charset="0"/>
                              <a:ea typeface="楷体_GB2312"/>
                              <a:cs typeface="Times New Roman" panose="02020603050405020304" pitchFamily="18" charset="0"/>
                            </a:rPr>
                            <m:t>𝑡</m:t>
                          </m:r>
                        </m:sub>
                      </m:sSub>
                      <m:r>
                        <a:rPr lang="en-US" altLang="zh-CN" sz="1800" i="1">
                          <a:solidFill>
                            <a:srgbClr val="000000"/>
                          </a:solidFill>
                          <a:latin typeface="Cambria Math" panose="02040503050406030204" pitchFamily="18" charset="0"/>
                          <a:ea typeface="楷体_GB2312"/>
                          <a:cs typeface="Times New Roman" panose="02020603050405020304" pitchFamily="18" charset="0"/>
                        </a:rPr>
                        <m:t>=</m:t>
                      </m:r>
                      <m:r>
                        <a:rPr lang="en-US" altLang="zh-CN" sz="1800" b="0" i="1" smtClean="0">
                          <a:solidFill>
                            <a:srgbClr val="000000"/>
                          </a:solidFill>
                          <a:latin typeface="Cambria Math" panose="02040503050406030204" pitchFamily="18" charset="0"/>
                          <a:ea typeface="楷体_GB2312"/>
                          <a:cs typeface="Times New Roman" panose="02020603050405020304" pitchFamily="18" charset="0"/>
                        </a:rPr>
                        <m:t>𝑠𝑖𝑔𝑚𝑜𝑖𝑑</m:t>
                      </m:r>
                      <m:r>
                        <a:rPr lang="en-US" altLang="zh-CN" sz="1800" b="0" i="1" smtClean="0">
                          <a:solidFill>
                            <a:srgbClr val="000000"/>
                          </a:solidFill>
                          <a:latin typeface="Cambria Math" panose="02040503050406030204" pitchFamily="18" charset="0"/>
                          <a:ea typeface="楷体_GB2312"/>
                          <a:cs typeface="Times New Roman" panose="02020603050405020304" pitchFamily="18" charset="0"/>
                        </a:rPr>
                        <m:t>(</m:t>
                      </m:r>
                      <m:sSub>
                        <m:sSubPr>
                          <m:ctrlPr>
                            <a:rPr lang="en-US" altLang="zh-CN" sz="1800" b="0" i="1" smtClean="0">
                              <a:solidFill>
                                <a:srgbClr val="000000"/>
                              </a:solidFill>
                              <a:latin typeface="Cambria Math" panose="02040503050406030204" pitchFamily="18" charset="0"/>
                              <a:cs typeface="Times New Roman" panose="02020603050405020304" pitchFamily="18" charset="0"/>
                            </a:rPr>
                          </m:ctrlPr>
                        </m:sSubPr>
                        <m:e>
                          <m:r>
                            <a:rPr lang="en-US" altLang="zh-CN" sz="1800" b="0" i="1" smtClean="0">
                              <a:solidFill>
                                <a:srgbClr val="000000"/>
                              </a:solidFill>
                              <a:latin typeface="Cambria Math" panose="02040503050406030204" pitchFamily="18" charset="0"/>
                              <a:cs typeface="Times New Roman" panose="02020603050405020304" pitchFamily="18" charset="0"/>
                            </a:rPr>
                            <m:t>𝑊</m:t>
                          </m:r>
                        </m:e>
                        <m:sub>
                          <m:r>
                            <a:rPr lang="en-US" altLang="zh-CN" sz="1800" b="0" i="1" smtClean="0">
                              <a:solidFill>
                                <a:srgbClr val="000000"/>
                              </a:solidFill>
                              <a:latin typeface="Cambria Math" panose="02040503050406030204" pitchFamily="18" charset="0"/>
                              <a:cs typeface="Times New Roman" panose="02020603050405020304" pitchFamily="18" charset="0"/>
                            </a:rPr>
                            <m:t>𝑥𝑖</m:t>
                          </m:r>
                        </m:sub>
                      </m:sSub>
                      <m:sSub>
                        <m:sSubPr>
                          <m:ctrlPr>
                            <a:rPr lang="zh-CN" altLang="zh-CN" sz="18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CN" sz="1800" i="1">
                              <a:solidFill>
                                <a:srgbClr val="000000"/>
                              </a:solidFill>
                              <a:latin typeface="Cambria Math" panose="02040503050406030204" pitchFamily="18" charset="0"/>
                              <a:ea typeface="楷体_GB2312"/>
                              <a:cs typeface="Times New Roman" panose="02020603050405020304" pitchFamily="18" charset="0"/>
                            </a:rPr>
                            <m:t>𝑡</m:t>
                          </m:r>
                        </m:sub>
                      </m:sSub>
                      <m:r>
                        <a:rPr lang="en-US" altLang="zh-CN" sz="1800" b="0" i="1" smtClean="0">
                          <a:solidFill>
                            <a:srgbClr val="000000"/>
                          </a:solidFill>
                          <a:latin typeface="Cambria Math" panose="02040503050406030204" pitchFamily="18" charset="0"/>
                          <a:ea typeface="楷体_GB2312"/>
                          <a:cs typeface="Times New Roman" panose="02020603050405020304" pitchFamily="18" charset="0"/>
                        </a:rPr>
                        <m:t>+</m:t>
                      </m:r>
                      <m:sSub>
                        <m:sSubPr>
                          <m:ctrlPr>
                            <a:rPr lang="en-US" altLang="zh-CN" sz="1800" b="0" i="1" smtClean="0">
                              <a:solidFill>
                                <a:srgbClr val="000000"/>
                              </a:solidFill>
                              <a:latin typeface="Cambria Math" panose="02040503050406030204" pitchFamily="18" charset="0"/>
                              <a:cs typeface="Times New Roman" panose="02020603050405020304" pitchFamily="18" charset="0"/>
                            </a:rPr>
                          </m:ctrlPr>
                        </m:sSubPr>
                        <m:e>
                          <m:r>
                            <a:rPr lang="en-US" altLang="zh-CN" sz="1800" b="0" i="1" smtClean="0">
                              <a:solidFill>
                                <a:srgbClr val="000000"/>
                              </a:solidFill>
                              <a:latin typeface="Cambria Math" panose="02040503050406030204" pitchFamily="18" charset="0"/>
                              <a:cs typeface="Times New Roman" panose="02020603050405020304" pitchFamily="18" charset="0"/>
                            </a:rPr>
                            <m:t>𝑊</m:t>
                          </m:r>
                        </m:e>
                        <m:sub>
                          <m:r>
                            <a:rPr lang="en-US" altLang="zh-CN" sz="1800" b="0" i="1" smtClean="0">
                              <a:solidFill>
                                <a:srgbClr val="000000"/>
                              </a:solidFill>
                              <a:latin typeface="Cambria Math" panose="02040503050406030204" pitchFamily="18" charset="0"/>
                              <a:cs typeface="Times New Roman" panose="02020603050405020304" pitchFamily="18" charset="0"/>
                            </a:rPr>
                            <m:t>h𝑖</m:t>
                          </m:r>
                        </m:sub>
                      </m:sSub>
                      <m:sSub>
                        <m:sSubPr>
                          <m:ctrlPr>
                            <a:rPr lang="en-US" altLang="zh-CN" sz="1800" b="0" i="1" smtClean="0">
                              <a:solidFill>
                                <a:srgbClr val="000000"/>
                              </a:solidFill>
                              <a:latin typeface="Cambria Math" panose="02040503050406030204" pitchFamily="18" charset="0"/>
                              <a:cs typeface="Times New Roman" panose="02020603050405020304" pitchFamily="18" charset="0"/>
                            </a:rPr>
                          </m:ctrlPr>
                        </m:sSubPr>
                        <m:e>
                          <m:r>
                            <a:rPr lang="en-US" altLang="zh-CN" sz="1800" b="0" i="1" smtClean="0">
                              <a:solidFill>
                                <a:srgbClr val="000000"/>
                              </a:solidFill>
                              <a:latin typeface="Cambria Math" panose="02040503050406030204" pitchFamily="18" charset="0"/>
                              <a:cs typeface="Times New Roman" panose="02020603050405020304" pitchFamily="18" charset="0"/>
                            </a:rPr>
                            <m:t>h</m:t>
                          </m:r>
                        </m:e>
                        <m:sub>
                          <m:r>
                            <a:rPr lang="en-US" altLang="zh-CN" sz="1800" b="0" i="1" smtClean="0">
                              <a:solidFill>
                                <a:srgbClr val="000000"/>
                              </a:solidFill>
                              <a:latin typeface="Cambria Math" panose="02040503050406030204" pitchFamily="18" charset="0"/>
                              <a:cs typeface="Times New Roman" panose="02020603050405020304" pitchFamily="18" charset="0"/>
                            </a:rPr>
                            <m:t>𝑡</m:t>
                          </m:r>
                          <m:r>
                            <a:rPr lang="en-US" altLang="zh-CN" sz="1800" b="0" i="1" smtClean="0">
                              <a:solidFill>
                                <a:srgbClr val="000000"/>
                              </a:solidFill>
                              <a:latin typeface="Cambria Math" panose="02040503050406030204" pitchFamily="18" charset="0"/>
                              <a:cs typeface="Times New Roman" panose="02020603050405020304" pitchFamily="18" charset="0"/>
                            </a:rPr>
                            <m:t>−1</m:t>
                          </m:r>
                        </m:sub>
                      </m:sSub>
                      <m:r>
                        <a:rPr lang="en-US" altLang="zh-CN" sz="1800" b="0" i="1" smtClean="0">
                          <a:solidFill>
                            <a:srgbClr val="FF0000"/>
                          </a:solidFill>
                          <a:latin typeface="Cambria Math" panose="02040503050406030204" pitchFamily="18" charset="0"/>
                          <a:cs typeface="Times New Roman" panose="02020603050405020304" pitchFamily="18" charset="0"/>
                        </a:rPr>
                        <m:t>+</m:t>
                      </m:r>
                      <m:sSub>
                        <m:sSubPr>
                          <m:ctrlPr>
                            <a:rPr lang="en-US" altLang="zh-CN" sz="1800" b="0" i="1" smtClean="0">
                              <a:solidFill>
                                <a:srgbClr val="FF0000"/>
                              </a:solidFill>
                              <a:latin typeface="Cambria Math" panose="02040503050406030204" pitchFamily="18" charset="0"/>
                              <a:cs typeface="Times New Roman" panose="02020603050405020304" pitchFamily="18" charset="0"/>
                            </a:rPr>
                          </m:ctrlPr>
                        </m:sSubPr>
                        <m:e>
                          <m:r>
                            <a:rPr lang="en-US" altLang="zh-CN" sz="1800" b="0" i="1" smtClean="0">
                              <a:solidFill>
                                <a:srgbClr val="FF0000"/>
                              </a:solidFill>
                              <a:latin typeface="Cambria Math" panose="02040503050406030204" pitchFamily="18" charset="0"/>
                              <a:cs typeface="Times New Roman" panose="02020603050405020304" pitchFamily="18" charset="0"/>
                            </a:rPr>
                            <m:t>𝑊</m:t>
                          </m:r>
                        </m:e>
                        <m:sub>
                          <m:r>
                            <a:rPr lang="en-US" altLang="zh-CN" sz="1800" b="0" i="1" smtClean="0">
                              <a:solidFill>
                                <a:srgbClr val="FF0000"/>
                              </a:solidFill>
                              <a:latin typeface="Cambria Math" panose="02040503050406030204" pitchFamily="18" charset="0"/>
                              <a:cs typeface="Times New Roman" panose="02020603050405020304" pitchFamily="18" charset="0"/>
                            </a:rPr>
                            <m:t>𝑧𝑖</m:t>
                          </m:r>
                        </m:sub>
                      </m:sSub>
                      <m:sSub>
                        <m:sSubPr>
                          <m:ctrlPr>
                            <a:rPr lang="en-US" altLang="zh-CN" sz="1800" b="0" i="1" smtClean="0">
                              <a:solidFill>
                                <a:srgbClr val="FF0000"/>
                              </a:solidFill>
                              <a:latin typeface="Cambria Math" panose="02040503050406030204" pitchFamily="18" charset="0"/>
                              <a:cs typeface="Times New Roman" panose="02020603050405020304" pitchFamily="18" charset="0"/>
                            </a:rPr>
                          </m:ctrlPr>
                        </m:sSubPr>
                        <m:e>
                          <m:r>
                            <a:rPr lang="en-US" altLang="zh-CN" sz="1800" b="0" i="1" smtClean="0">
                              <a:solidFill>
                                <a:srgbClr val="FF0000"/>
                              </a:solidFill>
                              <a:latin typeface="Cambria Math" panose="02040503050406030204" pitchFamily="18" charset="0"/>
                              <a:cs typeface="Times New Roman" panose="02020603050405020304" pitchFamily="18" charset="0"/>
                            </a:rPr>
                            <m:t>𝑧</m:t>
                          </m:r>
                        </m:e>
                        <m:sub>
                          <m:r>
                            <a:rPr lang="en-US" altLang="zh-CN" sz="1800" b="0" i="1" smtClean="0">
                              <a:solidFill>
                                <a:srgbClr val="FF0000"/>
                              </a:solidFill>
                              <a:latin typeface="Cambria Math" panose="02040503050406030204" pitchFamily="18" charset="0"/>
                              <a:cs typeface="Times New Roman" panose="02020603050405020304" pitchFamily="18" charset="0"/>
                            </a:rPr>
                            <m:t>𝑡</m:t>
                          </m:r>
                        </m:sub>
                      </m:sSub>
                      <m:r>
                        <a:rPr lang="en-US" altLang="zh-CN" sz="1800" b="0" i="1" smtClean="0">
                          <a:solidFill>
                            <a:srgbClr val="000000"/>
                          </a:solidFill>
                          <a:latin typeface="Cambria Math" panose="02040503050406030204" pitchFamily="18" charset="0"/>
                          <a:cs typeface="Times New Roman" panose="02020603050405020304" pitchFamily="18" charset="0"/>
                        </a:rPr>
                        <m:t>+</m:t>
                      </m:r>
                      <m:sSub>
                        <m:sSubPr>
                          <m:ctrlPr>
                            <a:rPr lang="en-US" altLang="zh-CN" sz="1800" b="0" i="1" smtClean="0">
                              <a:solidFill>
                                <a:srgbClr val="000000"/>
                              </a:solidFill>
                              <a:latin typeface="Cambria Math" panose="02040503050406030204" pitchFamily="18" charset="0"/>
                              <a:cs typeface="Times New Roman" panose="02020603050405020304" pitchFamily="18" charset="0"/>
                            </a:rPr>
                          </m:ctrlPr>
                        </m:sSubPr>
                        <m:e>
                          <m:r>
                            <a:rPr lang="en-US" altLang="zh-CN" sz="1800" b="0" i="1" smtClean="0">
                              <a:solidFill>
                                <a:srgbClr val="000000"/>
                              </a:solidFill>
                              <a:latin typeface="Cambria Math" panose="02040503050406030204" pitchFamily="18" charset="0"/>
                              <a:cs typeface="Times New Roman" panose="02020603050405020304" pitchFamily="18" charset="0"/>
                            </a:rPr>
                            <m:t>𝑏</m:t>
                          </m:r>
                        </m:e>
                        <m:sub>
                          <m:r>
                            <a:rPr lang="en-US" altLang="zh-CN" sz="1800" b="0" i="1" smtClean="0">
                              <a:solidFill>
                                <a:srgbClr val="000000"/>
                              </a:solidFill>
                              <a:latin typeface="Cambria Math" panose="02040503050406030204" pitchFamily="18" charset="0"/>
                              <a:cs typeface="Times New Roman" panose="02020603050405020304" pitchFamily="18" charset="0"/>
                            </a:rPr>
                            <m:t>𝑖</m:t>
                          </m:r>
                        </m:sub>
                      </m:sSub>
                      <m:r>
                        <a:rPr lang="en-US" altLang="zh-CN" sz="1800" b="0" i="1" smtClean="0">
                          <a:solidFill>
                            <a:srgbClr val="000000"/>
                          </a:solidFill>
                          <a:latin typeface="Cambria Math" panose="02040503050406030204" pitchFamily="18" charset="0"/>
                          <a:ea typeface="楷体_GB2312"/>
                          <a:cs typeface="Times New Roman" panose="02020603050405020304" pitchFamily="18" charset="0"/>
                        </a:rPr>
                        <m:t>)</m:t>
                      </m:r>
                    </m:oMath>
                  </m:oMathPara>
                </a14:m>
                <a:endParaRPr lang="zh-CN" altLang="en-US" dirty="0"/>
              </a:p>
            </p:txBody>
          </p:sp>
        </mc:Choice>
        <mc:Fallback xmlns="">
          <p:sp>
            <p:nvSpPr>
              <p:cNvPr id="13" name="文本框 12">
                <a:extLst>
                  <a:ext uri="{FF2B5EF4-FFF2-40B4-BE49-F238E27FC236}">
                    <a16:creationId xmlns:a16="http://schemas.microsoft.com/office/drawing/2014/main" id="{D61B61B8-0FEC-A0FD-B825-B22D3B2F72A9}"/>
                  </a:ext>
                </a:extLst>
              </p:cNvPr>
              <p:cNvSpPr txBox="1">
                <a:spLocks noRot="1" noChangeAspect="1" noMove="1" noResize="1" noEditPoints="1" noAdjustHandles="1" noChangeArrowheads="1" noChangeShapeType="1" noTextEdit="1"/>
              </p:cNvSpPr>
              <p:nvPr/>
            </p:nvSpPr>
            <p:spPr>
              <a:xfrm>
                <a:off x="6141685" y="1693687"/>
                <a:ext cx="4881444" cy="369332"/>
              </a:xfrm>
              <a:prstGeom prst="rect">
                <a:avLst/>
              </a:prstGeom>
              <a:blipFill>
                <a:blip r:embed="rId3"/>
                <a:stretch>
                  <a:fillRect b="-13333"/>
                </a:stretch>
              </a:blipFill>
            </p:spPr>
            <p:txBody>
              <a:bodyPr/>
              <a:lstStyle/>
              <a:p>
                <a:r>
                  <a:rPr lang="zh-CN" altLang="en-US">
                    <a:noFill/>
                  </a:rPr>
                  <a:t> </a:t>
                </a:r>
              </a:p>
            </p:txBody>
          </p:sp>
        </mc:Fallback>
      </mc:AlternateContent>
      <p:sp>
        <p:nvSpPr>
          <p:cNvPr id="14" name="箭头: 右 13">
            <a:extLst>
              <a:ext uri="{FF2B5EF4-FFF2-40B4-BE49-F238E27FC236}">
                <a16:creationId xmlns:a16="http://schemas.microsoft.com/office/drawing/2014/main" id="{80184BB8-91E7-8544-CD76-78ECF282D76E}"/>
              </a:ext>
            </a:extLst>
          </p:cNvPr>
          <p:cNvSpPr/>
          <p:nvPr/>
        </p:nvSpPr>
        <p:spPr>
          <a:xfrm>
            <a:off x="5408023" y="2516193"/>
            <a:ext cx="687977" cy="4005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3E9A3CEE-177F-FD4E-E766-E3DD1B342BEF}"/>
                  </a:ext>
                </a:extLst>
              </p:cNvPr>
              <p:cNvSpPr txBox="1"/>
              <p:nvPr/>
            </p:nvSpPr>
            <p:spPr>
              <a:xfrm>
                <a:off x="6141685" y="2531824"/>
                <a:ext cx="4881444" cy="3915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𝑖</m:t>
                          </m:r>
                        </m:e>
                        <m:sub>
                          <m:r>
                            <a:rPr lang="en-US" altLang="zh-CN" i="1">
                              <a:solidFill>
                                <a:srgbClr val="000000"/>
                              </a:solidFill>
                              <a:latin typeface="Cambria Math" panose="02040503050406030204" pitchFamily="18" charset="0"/>
                              <a:ea typeface="楷体_GB2312"/>
                              <a:cs typeface="Times New Roman" panose="02020603050405020304" pitchFamily="18" charset="0"/>
                            </a:rPr>
                            <m:t>𝑡</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𝑠𝑖𝑔𝑚𝑜𝑖𝑑</m:t>
                      </m:r>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en-US" altLang="zh-CN" i="1">
                              <a:solidFill>
                                <a:srgbClr val="000000"/>
                              </a:solidFill>
                              <a:latin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cs typeface="Times New Roman" panose="02020603050405020304" pitchFamily="18" charset="0"/>
                            </a:rPr>
                            <m:t>𝑊</m:t>
                          </m:r>
                        </m:e>
                        <m:sub>
                          <m:r>
                            <a:rPr lang="en-US" altLang="zh-CN" i="1">
                              <a:solidFill>
                                <a:srgbClr val="000000"/>
                              </a:solidFill>
                              <a:latin typeface="Cambria Math" panose="02040503050406030204" pitchFamily="18" charset="0"/>
                              <a:cs typeface="Times New Roman" panose="02020603050405020304" pitchFamily="18" charset="0"/>
                            </a:rPr>
                            <m:t>𝑥</m:t>
                          </m:r>
                          <m:r>
                            <a:rPr lang="en-US" altLang="zh-CN" b="0" i="1" smtClean="0">
                              <a:solidFill>
                                <a:srgbClr val="000000"/>
                              </a:solidFill>
                              <a:latin typeface="Cambria Math" panose="02040503050406030204" pitchFamily="18" charset="0"/>
                              <a:cs typeface="Times New Roman" panose="02020603050405020304" pitchFamily="18" charset="0"/>
                            </a:rPr>
                            <m:t>𝑓</m:t>
                          </m:r>
                        </m:sub>
                      </m:sSub>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𝑡</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en-US" altLang="zh-CN" i="1">
                              <a:solidFill>
                                <a:srgbClr val="000000"/>
                              </a:solidFill>
                              <a:latin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cs typeface="Times New Roman" panose="02020603050405020304" pitchFamily="18" charset="0"/>
                            </a:rPr>
                            <m:t>𝑊</m:t>
                          </m:r>
                        </m:e>
                        <m:sub>
                          <m:r>
                            <a:rPr lang="en-US" altLang="zh-CN" i="1">
                              <a:solidFill>
                                <a:srgbClr val="000000"/>
                              </a:solidFill>
                              <a:latin typeface="Cambria Math" panose="02040503050406030204" pitchFamily="18" charset="0"/>
                              <a:cs typeface="Times New Roman" panose="02020603050405020304" pitchFamily="18" charset="0"/>
                            </a:rPr>
                            <m:t>h</m:t>
                          </m:r>
                          <m:r>
                            <a:rPr lang="en-US" altLang="zh-CN" b="0" i="1" smtClean="0">
                              <a:solidFill>
                                <a:srgbClr val="000000"/>
                              </a:solidFill>
                              <a:latin typeface="Cambria Math" panose="02040503050406030204" pitchFamily="18" charset="0"/>
                              <a:cs typeface="Times New Roman" panose="02020603050405020304" pitchFamily="18" charset="0"/>
                            </a:rPr>
                            <m:t>𝑓</m:t>
                          </m:r>
                        </m:sub>
                      </m:sSub>
                      <m:sSub>
                        <m:sSubPr>
                          <m:ctrlPr>
                            <a:rPr lang="en-US" altLang="zh-CN" i="1">
                              <a:solidFill>
                                <a:srgbClr val="000000"/>
                              </a:solidFill>
                              <a:latin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cs typeface="Times New Roman" panose="02020603050405020304" pitchFamily="18" charset="0"/>
                            </a:rPr>
                            <m:t>h</m:t>
                          </m:r>
                        </m:e>
                        <m:sub>
                          <m:r>
                            <a:rPr lang="en-US" altLang="zh-CN" i="1">
                              <a:solidFill>
                                <a:srgbClr val="000000"/>
                              </a:solidFill>
                              <a:latin typeface="Cambria Math" panose="02040503050406030204" pitchFamily="18" charset="0"/>
                              <a:cs typeface="Times New Roman" panose="02020603050405020304" pitchFamily="18" charset="0"/>
                            </a:rPr>
                            <m:t>𝑡</m:t>
                          </m:r>
                          <m:r>
                            <a:rPr lang="en-US" altLang="zh-CN" i="1">
                              <a:solidFill>
                                <a:srgbClr val="000000"/>
                              </a:solidFill>
                              <a:latin typeface="Cambria Math" panose="02040503050406030204" pitchFamily="18" charset="0"/>
                              <a:cs typeface="Times New Roman" panose="02020603050405020304" pitchFamily="18" charset="0"/>
                            </a:rPr>
                            <m:t>−1</m:t>
                          </m:r>
                        </m:sub>
                      </m:sSub>
                      <m:r>
                        <a:rPr lang="en-US" altLang="zh-CN" i="1" smtClean="0">
                          <a:solidFill>
                            <a:srgbClr val="FF0000"/>
                          </a:solidFill>
                          <a:latin typeface="Cambria Math" panose="02040503050406030204" pitchFamily="18" charset="0"/>
                          <a:cs typeface="Times New Roman" panose="02020603050405020304" pitchFamily="18" charset="0"/>
                        </a:rPr>
                        <m:t>+</m:t>
                      </m:r>
                      <m:sSub>
                        <m:sSubPr>
                          <m:ctrlPr>
                            <a:rPr lang="en-US" altLang="zh-CN" i="1">
                              <a:solidFill>
                                <a:srgbClr val="FF0000"/>
                              </a:solidFill>
                              <a:latin typeface="Cambria Math" panose="02040503050406030204" pitchFamily="18" charset="0"/>
                              <a:cs typeface="Times New Roman" panose="02020603050405020304" pitchFamily="18" charset="0"/>
                            </a:rPr>
                          </m:ctrlPr>
                        </m:sSubPr>
                        <m:e>
                          <m:r>
                            <a:rPr lang="en-US" altLang="zh-CN" i="1">
                              <a:solidFill>
                                <a:srgbClr val="FF0000"/>
                              </a:solidFill>
                              <a:latin typeface="Cambria Math" panose="02040503050406030204" pitchFamily="18" charset="0"/>
                              <a:cs typeface="Times New Roman" panose="02020603050405020304" pitchFamily="18" charset="0"/>
                            </a:rPr>
                            <m:t>𝑊</m:t>
                          </m:r>
                        </m:e>
                        <m:sub>
                          <m:r>
                            <a:rPr lang="en-US" altLang="zh-CN" i="1">
                              <a:solidFill>
                                <a:srgbClr val="FF0000"/>
                              </a:solidFill>
                              <a:latin typeface="Cambria Math" panose="02040503050406030204" pitchFamily="18" charset="0"/>
                              <a:cs typeface="Times New Roman" panose="02020603050405020304" pitchFamily="18" charset="0"/>
                            </a:rPr>
                            <m:t>𝑧</m:t>
                          </m:r>
                          <m:r>
                            <a:rPr lang="en-US" altLang="zh-CN" b="0" i="1" smtClean="0">
                              <a:solidFill>
                                <a:srgbClr val="FF0000"/>
                              </a:solidFill>
                              <a:latin typeface="Cambria Math" panose="02040503050406030204" pitchFamily="18" charset="0"/>
                              <a:cs typeface="Times New Roman" panose="02020603050405020304" pitchFamily="18" charset="0"/>
                            </a:rPr>
                            <m:t>𝑓</m:t>
                          </m:r>
                        </m:sub>
                      </m:sSub>
                      <m:sSub>
                        <m:sSubPr>
                          <m:ctrlPr>
                            <a:rPr lang="en-US" altLang="zh-CN" i="1">
                              <a:solidFill>
                                <a:srgbClr val="FF0000"/>
                              </a:solidFill>
                              <a:latin typeface="Cambria Math" panose="02040503050406030204" pitchFamily="18" charset="0"/>
                              <a:cs typeface="Times New Roman" panose="02020603050405020304" pitchFamily="18" charset="0"/>
                            </a:rPr>
                          </m:ctrlPr>
                        </m:sSubPr>
                        <m:e>
                          <m:r>
                            <a:rPr lang="en-US" altLang="zh-CN" i="1">
                              <a:solidFill>
                                <a:srgbClr val="FF0000"/>
                              </a:solidFill>
                              <a:latin typeface="Cambria Math" panose="02040503050406030204" pitchFamily="18" charset="0"/>
                              <a:cs typeface="Times New Roman" panose="02020603050405020304" pitchFamily="18" charset="0"/>
                            </a:rPr>
                            <m:t>𝑧</m:t>
                          </m:r>
                        </m:e>
                        <m:sub>
                          <m:r>
                            <a:rPr lang="en-US" altLang="zh-CN" i="1">
                              <a:solidFill>
                                <a:srgbClr val="FF0000"/>
                              </a:solidFill>
                              <a:latin typeface="Cambria Math" panose="02040503050406030204" pitchFamily="18" charset="0"/>
                              <a:cs typeface="Times New Roman" panose="02020603050405020304" pitchFamily="18" charset="0"/>
                            </a:rPr>
                            <m:t>𝑡</m:t>
                          </m:r>
                        </m:sub>
                      </m:sSub>
                      <m:r>
                        <a:rPr lang="en-US" altLang="zh-CN" i="1">
                          <a:solidFill>
                            <a:srgbClr val="000000"/>
                          </a:solidFill>
                          <a:latin typeface="Cambria Math" panose="02040503050406030204" pitchFamily="18" charset="0"/>
                          <a:cs typeface="Times New Roman" panose="02020603050405020304" pitchFamily="18" charset="0"/>
                        </a:rPr>
                        <m:t>+</m:t>
                      </m:r>
                      <m:sSub>
                        <m:sSubPr>
                          <m:ctrlPr>
                            <a:rPr lang="en-US" altLang="zh-CN" i="1">
                              <a:solidFill>
                                <a:srgbClr val="000000"/>
                              </a:solidFill>
                              <a:latin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cs typeface="Times New Roman" panose="02020603050405020304" pitchFamily="18" charset="0"/>
                            </a:rPr>
                            <m:t>𝑏</m:t>
                          </m:r>
                        </m:e>
                        <m:sub>
                          <m:r>
                            <a:rPr lang="en-US" altLang="zh-CN" i="1">
                              <a:solidFill>
                                <a:srgbClr val="000000"/>
                              </a:solidFill>
                              <a:latin typeface="Cambria Math" panose="02040503050406030204" pitchFamily="18" charset="0"/>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oMath>
                  </m:oMathPara>
                </a14:m>
                <a:endParaRPr lang="zh-CN" altLang="en-US" dirty="0"/>
              </a:p>
            </p:txBody>
          </p:sp>
        </mc:Choice>
        <mc:Fallback xmlns="">
          <p:sp>
            <p:nvSpPr>
              <p:cNvPr id="15" name="文本框 14">
                <a:extLst>
                  <a:ext uri="{FF2B5EF4-FFF2-40B4-BE49-F238E27FC236}">
                    <a16:creationId xmlns:a16="http://schemas.microsoft.com/office/drawing/2014/main" id="{3E9A3CEE-177F-FD4E-E766-E3DD1B342BEF}"/>
                  </a:ext>
                </a:extLst>
              </p:cNvPr>
              <p:cNvSpPr txBox="1">
                <a:spLocks noRot="1" noChangeAspect="1" noMove="1" noResize="1" noEditPoints="1" noAdjustHandles="1" noChangeArrowheads="1" noChangeShapeType="1" noTextEdit="1"/>
              </p:cNvSpPr>
              <p:nvPr/>
            </p:nvSpPr>
            <p:spPr>
              <a:xfrm>
                <a:off x="6141685" y="2531824"/>
                <a:ext cx="4881444" cy="391582"/>
              </a:xfrm>
              <a:prstGeom prst="rect">
                <a:avLst/>
              </a:prstGeom>
              <a:blipFill>
                <a:blip r:embed="rId4"/>
                <a:stretch>
                  <a:fillRect b="-9231"/>
                </a:stretch>
              </a:blipFill>
            </p:spPr>
            <p:txBody>
              <a:bodyPr/>
              <a:lstStyle/>
              <a:p>
                <a:r>
                  <a:rPr lang="zh-CN" altLang="en-US">
                    <a:noFill/>
                  </a:rPr>
                  <a:t> </a:t>
                </a:r>
              </a:p>
            </p:txBody>
          </p:sp>
        </mc:Fallback>
      </mc:AlternateContent>
      <p:sp>
        <p:nvSpPr>
          <p:cNvPr id="16" name="箭头: 右 15">
            <a:extLst>
              <a:ext uri="{FF2B5EF4-FFF2-40B4-BE49-F238E27FC236}">
                <a16:creationId xmlns:a16="http://schemas.microsoft.com/office/drawing/2014/main" id="{61BAB8C2-C38F-D93D-C099-60EC1B0C1E3E}"/>
              </a:ext>
            </a:extLst>
          </p:cNvPr>
          <p:cNvSpPr/>
          <p:nvPr/>
        </p:nvSpPr>
        <p:spPr>
          <a:xfrm>
            <a:off x="5408023" y="3354330"/>
            <a:ext cx="687977" cy="4005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3E1E96B8-0E13-1D1F-BBE8-4C4F372A0532}"/>
                  </a:ext>
                </a:extLst>
              </p:cNvPr>
              <p:cNvSpPr txBox="1"/>
              <p:nvPr/>
            </p:nvSpPr>
            <p:spPr>
              <a:xfrm>
                <a:off x="6141685" y="3369961"/>
                <a:ext cx="488144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𝑖</m:t>
                          </m:r>
                        </m:e>
                        <m:sub>
                          <m:r>
                            <a:rPr lang="en-US" altLang="zh-CN" i="1">
                              <a:solidFill>
                                <a:srgbClr val="000000"/>
                              </a:solidFill>
                              <a:latin typeface="Cambria Math" panose="02040503050406030204" pitchFamily="18" charset="0"/>
                              <a:ea typeface="楷体_GB2312"/>
                              <a:cs typeface="Times New Roman" panose="02020603050405020304" pitchFamily="18" charset="0"/>
                            </a:rPr>
                            <m:t>𝑡</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𝑠𝑖𝑔𝑚𝑜𝑖𝑑</m:t>
                      </m:r>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en-US" altLang="zh-CN" i="1">
                              <a:solidFill>
                                <a:srgbClr val="000000"/>
                              </a:solidFill>
                              <a:latin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cs typeface="Times New Roman" panose="02020603050405020304" pitchFamily="18" charset="0"/>
                            </a:rPr>
                            <m:t>𝑊</m:t>
                          </m:r>
                        </m:e>
                        <m:sub>
                          <m:r>
                            <a:rPr lang="en-US" altLang="zh-CN" i="1">
                              <a:solidFill>
                                <a:srgbClr val="000000"/>
                              </a:solidFill>
                              <a:latin typeface="Cambria Math" panose="02040503050406030204" pitchFamily="18" charset="0"/>
                              <a:cs typeface="Times New Roman" panose="02020603050405020304" pitchFamily="18" charset="0"/>
                            </a:rPr>
                            <m:t>𝑥</m:t>
                          </m:r>
                          <m:r>
                            <a:rPr lang="en-US" altLang="zh-CN" b="0" i="1" smtClean="0">
                              <a:solidFill>
                                <a:srgbClr val="000000"/>
                              </a:solidFill>
                              <a:latin typeface="Cambria Math" panose="02040503050406030204" pitchFamily="18" charset="0"/>
                              <a:cs typeface="Times New Roman" panose="02020603050405020304" pitchFamily="18" charset="0"/>
                            </a:rPr>
                            <m:t>𝑜</m:t>
                          </m:r>
                        </m:sub>
                      </m:sSub>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𝑡</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sSub>
                        <m:sSubPr>
                          <m:ctrlPr>
                            <a:rPr lang="en-US" altLang="zh-CN" i="1">
                              <a:solidFill>
                                <a:srgbClr val="000000"/>
                              </a:solidFill>
                              <a:latin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cs typeface="Times New Roman" panose="02020603050405020304" pitchFamily="18" charset="0"/>
                            </a:rPr>
                            <m:t>𝑊</m:t>
                          </m:r>
                        </m:e>
                        <m:sub>
                          <m:r>
                            <a:rPr lang="en-US" altLang="zh-CN" i="1">
                              <a:solidFill>
                                <a:srgbClr val="000000"/>
                              </a:solidFill>
                              <a:latin typeface="Cambria Math" panose="02040503050406030204" pitchFamily="18" charset="0"/>
                              <a:cs typeface="Times New Roman" panose="02020603050405020304" pitchFamily="18" charset="0"/>
                            </a:rPr>
                            <m:t>h</m:t>
                          </m:r>
                          <m:r>
                            <a:rPr lang="en-US" altLang="zh-CN" b="0" i="1" smtClean="0">
                              <a:solidFill>
                                <a:srgbClr val="000000"/>
                              </a:solidFill>
                              <a:latin typeface="Cambria Math" panose="02040503050406030204" pitchFamily="18" charset="0"/>
                              <a:cs typeface="Times New Roman" panose="02020603050405020304" pitchFamily="18" charset="0"/>
                            </a:rPr>
                            <m:t>𝑜</m:t>
                          </m:r>
                        </m:sub>
                      </m:sSub>
                      <m:sSub>
                        <m:sSubPr>
                          <m:ctrlPr>
                            <a:rPr lang="en-US" altLang="zh-CN" i="1">
                              <a:solidFill>
                                <a:srgbClr val="000000"/>
                              </a:solidFill>
                              <a:latin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cs typeface="Times New Roman" panose="02020603050405020304" pitchFamily="18" charset="0"/>
                            </a:rPr>
                            <m:t>h</m:t>
                          </m:r>
                        </m:e>
                        <m:sub>
                          <m:r>
                            <a:rPr lang="en-US" altLang="zh-CN" i="1">
                              <a:solidFill>
                                <a:srgbClr val="000000"/>
                              </a:solidFill>
                              <a:latin typeface="Cambria Math" panose="02040503050406030204" pitchFamily="18" charset="0"/>
                              <a:cs typeface="Times New Roman" panose="02020603050405020304" pitchFamily="18" charset="0"/>
                            </a:rPr>
                            <m:t>𝑡</m:t>
                          </m:r>
                          <m:r>
                            <a:rPr lang="en-US" altLang="zh-CN" i="1">
                              <a:solidFill>
                                <a:srgbClr val="000000"/>
                              </a:solidFill>
                              <a:latin typeface="Cambria Math" panose="02040503050406030204" pitchFamily="18" charset="0"/>
                              <a:cs typeface="Times New Roman" panose="02020603050405020304" pitchFamily="18" charset="0"/>
                            </a:rPr>
                            <m:t>−1</m:t>
                          </m:r>
                        </m:sub>
                      </m:sSub>
                      <m:r>
                        <a:rPr lang="en-US" altLang="zh-CN" i="1" smtClean="0">
                          <a:solidFill>
                            <a:srgbClr val="FF0000"/>
                          </a:solidFill>
                          <a:latin typeface="Cambria Math" panose="02040503050406030204" pitchFamily="18" charset="0"/>
                          <a:cs typeface="Times New Roman" panose="02020603050405020304" pitchFamily="18" charset="0"/>
                        </a:rPr>
                        <m:t>+</m:t>
                      </m:r>
                      <m:sSub>
                        <m:sSubPr>
                          <m:ctrlPr>
                            <a:rPr lang="en-US" altLang="zh-CN" i="1">
                              <a:solidFill>
                                <a:srgbClr val="FF0000"/>
                              </a:solidFill>
                              <a:latin typeface="Cambria Math" panose="02040503050406030204" pitchFamily="18" charset="0"/>
                              <a:cs typeface="Times New Roman" panose="02020603050405020304" pitchFamily="18" charset="0"/>
                            </a:rPr>
                          </m:ctrlPr>
                        </m:sSubPr>
                        <m:e>
                          <m:r>
                            <a:rPr lang="en-US" altLang="zh-CN" i="1">
                              <a:solidFill>
                                <a:srgbClr val="FF0000"/>
                              </a:solidFill>
                              <a:latin typeface="Cambria Math" panose="02040503050406030204" pitchFamily="18" charset="0"/>
                              <a:cs typeface="Times New Roman" panose="02020603050405020304" pitchFamily="18" charset="0"/>
                            </a:rPr>
                            <m:t>𝑊</m:t>
                          </m:r>
                        </m:e>
                        <m:sub>
                          <m:r>
                            <a:rPr lang="en-US" altLang="zh-CN" i="1">
                              <a:solidFill>
                                <a:srgbClr val="FF0000"/>
                              </a:solidFill>
                              <a:latin typeface="Cambria Math" panose="02040503050406030204" pitchFamily="18" charset="0"/>
                              <a:cs typeface="Times New Roman" panose="02020603050405020304" pitchFamily="18" charset="0"/>
                            </a:rPr>
                            <m:t>𝑧</m:t>
                          </m:r>
                          <m:r>
                            <a:rPr lang="en-US" altLang="zh-CN" b="0" i="1" smtClean="0">
                              <a:solidFill>
                                <a:srgbClr val="FF0000"/>
                              </a:solidFill>
                              <a:latin typeface="Cambria Math" panose="02040503050406030204" pitchFamily="18" charset="0"/>
                              <a:cs typeface="Times New Roman" panose="02020603050405020304" pitchFamily="18" charset="0"/>
                            </a:rPr>
                            <m:t>𝑜</m:t>
                          </m:r>
                        </m:sub>
                      </m:sSub>
                      <m:sSub>
                        <m:sSubPr>
                          <m:ctrlPr>
                            <a:rPr lang="en-US" altLang="zh-CN" i="1">
                              <a:solidFill>
                                <a:srgbClr val="FF0000"/>
                              </a:solidFill>
                              <a:latin typeface="Cambria Math" panose="02040503050406030204" pitchFamily="18" charset="0"/>
                              <a:cs typeface="Times New Roman" panose="02020603050405020304" pitchFamily="18" charset="0"/>
                            </a:rPr>
                          </m:ctrlPr>
                        </m:sSubPr>
                        <m:e>
                          <m:r>
                            <a:rPr lang="en-US" altLang="zh-CN" i="1">
                              <a:solidFill>
                                <a:srgbClr val="FF0000"/>
                              </a:solidFill>
                              <a:latin typeface="Cambria Math" panose="02040503050406030204" pitchFamily="18" charset="0"/>
                              <a:cs typeface="Times New Roman" panose="02020603050405020304" pitchFamily="18" charset="0"/>
                            </a:rPr>
                            <m:t>𝑧</m:t>
                          </m:r>
                        </m:e>
                        <m:sub>
                          <m:r>
                            <a:rPr lang="en-US" altLang="zh-CN" i="1">
                              <a:solidFill>
                                <a:srgbClr val="FF0000"/>
                              </a:solidFill>
                              <a:latin typeface="Cambria Math" panose="02040503050406030204" pitchFamily="18" charset="0"/>
                              <a:cs typeface="Times New Roman" panose="02020603050405020304" pitchFamily="18" charset="0"/>
                            </a:rPr>
                            <m:t>𝑡</m:t>
                          </m:r>
                        </m:sub>
                      </m:sSub>
                      <m:r>
                        <a:rPr lang="en-US" altLang="zh-CN" i="1">
                          <a:solidFill>
                            <a:srgbClr val="000000"/>
                          </a:solidFill>
                          <a:latin typeface="Cambria Math" panose="02040503050406030204" pitchFamily="18" charset="0"/>
                          <a:cs typeface="Times New Roman" panose="02020603050405020304" pitchFamily="18" charset="0"/>
                        </a:rPr>
                        <m:t>+</m:t>
                      </m:r>
                      <m:sSub>
                        <m:sSubPr>
                          <m:ctrlPr>
                            <a:rPr lang="en-US" altLang="zh-CN" i="1">
                              <a:solidFill>
                                <a:srgbClr val="000000"/>
                              </a:solidFill>
                              <a:latin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cs typeface="Times New Roman" panose="02020603050405020304" pitchFamily="18" charset="0"/>
                            </a:rPr>
                            <m:t>𝑏</m:t>
                          </m:r>
                        </m:e>
                        <m:sub>
                          <m:r>
                            <a:rPr lang="en-US" altLang="zh-CN" i="1">
                              <a:solidFill>
                                <a:srgbClr val="000000"/>
                              </a:solidFill>
                              <a:latin typeface="Cambria Math" panose="02040503050406030204" pitchFamily="18" charset="0"/>
                              <a:cs typeface="Times New Roman" panose="02020603050405020304" pitchFamily="18" charset="0"/>
                            </a:rPr>
                            <m:t>𝑖</m:t>
                          </m:r>
                        </m:sub>
                      </m:sSub>
                      <m:r>
                        <a:rPr lang="en-US" altLang="zh-CN" i="1">
                          <a:solidFill>
                            <a:srgbClr val="000000"/>
                          </a:solidFill>
                          <a:latin typeface="Cambria Math" panose="02040503050406030204" pitchFamily="18" charset="0"/>
                          <a:ea typeface="楷体_GB2312"/>
                          <a:cs typeface="Times New Roman" panose="02020603050405020304" pitchFamily="18" charset="0"/>
                        </a:rPr>
                        <m:t>)</m:t>
                      </m:r>
                    </m:oMath>
                  </m:oMathPara>
                </a14:m>
                <a:endParaRPr lang="zh-CN" altLang="en-US" dirty="0"/>
              </a:p>
            </p:txBody>
          </p:sp>
        </mc:Choice>
        <mc:Fallback xmlns="">
          <p:sp>
            <p:nvSpPr>
              <p:cNvPr id="17" name="文本框 16">
                <a:extLst>
                  <a:ext uri="{FF2B5EF4-FFF2-40B4-BE49-F238E27FC236}">
                    <a16:creationId xmlns:a16="http://schemas.microsoft.com/office/drawing/2014/main" id="{3E1E96B8-0E13-1D1F-BBE8-4C4F372A0532}"/>
                  </a:ext>
                </a:extLst>
              </p:cNvPr>
              <p:cNvSpPr txBox="1">
                <a:spLocks noRot="1" noChangeAspect="1" noMove="1" noResize="1" noEditPoints="1" noAdjustHandles="1" noChangeArrowheads="1" noChangeShapeType="1" noTextEdit="1"/>
              </p:cNvSpPr>
              <p:nvPr/>
            </p:nvSpPr>
            <p:spPr>
              <a:xfrm>
                <a:off x="6141685" y="3369961"/>
                <a:ext cx="4881444" cy="369332"/>
              </a:xfrm>
              <a:prstGeom prst="rect">
                <a:avLst/>
              </a:prstGeom>
              <a:blipFill>
                <a:blip r:embed="rId5"/>
                <a:stretch>
                  <a:fillRect b="-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B8579E1F-3C54-F895-E1C3-503B921C3825}"/>
                  </a:ext>
                </a:extLst>
              </p:cNvPr>
              <p:cNvSpPr/>
              <p:nvPr/>
            </p:nvSpPr>
            <p:spPr>
              <a:xfrm>
                <a:off x="9161418" y="3825623"/>
                <a:ext cx="2943497" cy="1938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dirty="0">
                    <a:solidFill>
                      <a:srgbClr val="000000"/>
                    </a:solidFill>
                    <a:latin typeface="Cambria Math" panose="02040503050406030204" pitchFamily="18" charset="0"/>
                    <a:cs typeface="Times New Roman" panose="02020603050405020304" pitchFamily="18" charset="0"/>
                  </a:rPr>
                  <a:t>注：</a:t>
                </a:r>
                <a:endParaRPr lang="en-US" altLang="zh-CN" dirty="0">
                  <a:solidFill>
                    <a:srgbClr val="000000"/>
                  </a:solidFill>
                  <a:latin typeface="Cambria Math" panose="02040503050406030204" pitchFamily="18" charset="0"/>
                  <a:cs typeface="Times New Roman" panose="02020603050405020304" pitchFamily="18" charset="0"/>
                </a:endParaRPr>
              </a:p>
              <a:p>
                <a14:m>
                  <m:oMath xmlns:m="http://schemas.openxmlformats.org/officeDocument/2006/math">
                    <m:sSub>
                      <m:sSubPr>
                        <m:ctrlPr>
                          <a:rPr lang="en-US" altLang="zh-CN" i="1" smtClean="0">
                            <a:solidFill>
                              <a:srgbClr val="000000"/>
                            </a:solidFill>
                            <a:latin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cs typeface="Times New Roman" panose="02020603050405020304" pitchFamily="18" charset="0"/>
                          </a:rPr>
                          <m:t>𝑧</m:t>
                        </m:r>
                      </m:e>
                      <m:sub>
                        <m:r>
                          <a:rPr lang="en-US" altLang="zh-CN" i="1">
                            <a:solidFill>
                              <a:srgbClr val="000000"/>
                            </a:solidFill>
                            <a:latin typeface="Cambria Math" panose="02040503050406030204" pitchFamily="18" charset="0"/>
                            <a:cs typeface="Times New Roman" panose="02020603050405020304" pitchFamily="18" charset="0"/>
                          </a:rPr>
                          <m:t>𝑡</m:t>
                        </m:r>
                      </m:sub>
                    </m:sSub>
                    <m:r>
                      <a:rPr lang="en-US" altLang="zh-CN" i="1">
                        <a:solidFill>
                          <a:srgbClr val="000000"/>
                        </a:solidFill>
                        <a:latin typeface="Cambria Math" panose="02040503050406030204" pitchFamily="18" charset="0"/>
                        <a:cs typeface="Times New Roman" panose="02020603050405020304" pitchFamily="18" charset="0"/>
                      </a:rPr>
                      <m:t> </m:t>
                    </m:r>
                    <m:r>
                      <a:rPr lang="zh-CN" altLang="en-US" i="1">
                        <a:solidFill>
                          <a:srgbClr val="000000"/>
                        </a:solidFill>
                        <a:latin typeface="Cambria Math" panose="02040503050406030204" pitchFamily="18" charset="0"/>
                        <a:cs typeface="Times New Roman" panose="02020603050405020304" pitchFamily="18" charset="0"/>
                      </a:rPr>
                      <m:t>为</m:t>
                    </m:r>
                  </m:oMath>
                </a14:m>
                <a:r>
                  <a:rPr lang="en-US" altLang="zh-CN" dirty="0"/>
                  <a:t>Attention Value</a:t>
                </a:r>
              </a:p>
              <a:p>
                <a:r>
                  <a:rPr lang="en-US" altLang="zh-CN" dirty="0"/>
                  <a:t>Query</a:t>
                </a:r>
                <a:r>
                  <a:rPr lang="zh-CN" altLang="en-US" dirty="0"/>
                  <a:t>采用</a:t>
                </a:r>
                <a14:m>
                  <m:oMath xmlns:m="http://schemas.openxmlformats.org/officeDocument/2006/math">
                    <m:sSub>
                      <m:sSubPr>
                        <m:ctrlPr>
                          <a:rPr lang="en-US" altLang="zh-CN" i="1">
                            <a:solidFill>
                              <a:srgbClr val="000000"/>
                            </a:solidFill>
                            <a:latin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cs typeface="Times New Roman" panose="02020603050405020304" pitchFamily="18" charset="0"/>
                          </a:rPr>
                          <m:t>h</m:t>
                        </m:r>
                      </m:e>
                      <m:sub>
                        <m:r>
                          <a:rPr lang="en-US" altLang="zh-CN" i="1">
                            <a:solidFill>
                              <a:srgbClr val="000000"/>
                            </a:solidFill>
                            <a:latin typeface="Cambria Math" panose="02040503050406030204" pitchFamily="18" charset="0"/>
                            <a:cs typeface="Times New Roman" panose="02020603050405020304" pitchFamily="18" charset="0"/>
                          </a:rPr>
                          <m:t>𝑡</m:t>
                        </m:r>
                        <m:r>
                          <a:rPr lang="en-US" altLang="zh-CN" i="1">
                            <a:solidFill>
                              <a:srgbClr val="000000"/>
                            </a:solidFill>
                            <a:latin typeface="Cambria Math" panose="02040503050406030204" pitchFamily="18" charset="0"/>
                            <a:cs typeface="Times New Roman" panose="02020603050405020304" pitchFamily="18" charset="0"/>
                          </a:rPr>
                          <m:t>−1</m:t>
                        </m:r>
                      </m:sub>
                    </m:sSub>
                  </m:oMath>
                </a14:m>
                <a:endParaRPr lang="en-US" altLang="zh-CN" dirty="0">
                  <a:solidFill>
                    <a:srgbClr val="000000"/>
                  </a:solidFill>
                  <a:cs typeface="Times New Roman" panose="02020603050405020304" pitchFamily="18" charset="0"/>
                </a:endParaRPr>
              </a:p>
              <a:p>
                <a:r>
                  <a:rPr lang="en-US" altLang="zh-CN" dirty="0"/>
                  <a:t>Key</a:t>
                </a:r>
                <a:r>
                  <a:rPr lang="zh-CN" altLang="en-US" dirty="0"/>
                  <a:t>、</a:t>
                </a:r>
                <a:r>
                  <a:rPr lang="en-US" altLang="zh-CN" dirty="0"/>
                  <a:t>Value</a:t>
                </a:r>
                <a:r>
                  <a:rPr lang="zh-CN" altLang="en-US" dirty="0"/>
                  <a:t>均采用卷积神经网络对图像进行处理后得到的图像特征</a:t>
                </a:r>
                <a14:m>
                  <m:oMath xmlns:m="http://schemas.openxmlformats.org/officeDocument/2006/math">
                    <m:r>
                      <m:rPr>
                        <m:sty m:val="p"/>
                      </m:rPr>
                      <a:rPr lang="en-US" altLang="zh-CN" b="0" i="0" smtClean="0">
                        <a:solidFill>
                          <a:srgbClr val="000000"/>
                        </a:solidFill>
                        <a:latin typeface="Cambria Math" panose="02040503050406030204" pitchFamily="18" charset="0"/>
                        <a:cs typeface="Times New Roman" panose="02020603050405020304" pitchFamily="18" charset="0"/>
                      </a:rPr>
                      <m:t>V</m:t>
                    </m:r>
                    <m:r>
                      <a:rPr lang="en-US" altLang="zh-CN" b="0" i="0" smtClean="0">
                        <a:solidFill>
                          <a:srgbClr val="000000"/>
                        </a:solidFill>
                        <a:latin typeface="Cambria Math" panose="02040503050406030204" pitchFamily="18" charset="0"/>
                        <a:cs typeface="Times New Roman" panose="02020603050405020304" pitchFamily="18" charset="0"/>
                      </a:rPr>
                      <m:t>=</m:t>
                    </m:r>
                    <m:sSub>
                      <m:sSubPr>
                        <m:ctrlPr>
                          <a:rPr lang="en-US" altLang="zh-CN" i="1">
                            <a:solidFill>
                              <a:srgbClr val="000000"/>
                            </a:solidFill>
                            <a:latin typeface="Cambria Math" panose="02040503050406030204" pitchFamily="18" charset="0"/>
                            <a:cs typeface="Times New Roman" panose="02020603050405020304" pitchFamily="18" charset="0"/>
                          </a:rPr>
                        </m:ctrlPr>
                      </m:sSubPr>
                      <m:e>
                        <m:r>
                          <a:rPr lang="en-US" altLang="zh-CN" b="0" i="1" smtClean="0">
                            <a:solidFill>
                              <a:srgbClr val="000000"/>
                            </a:solidFill>
                            <a:latin typeface="Cambria Math" panose="02040503050406030204" pitchFamily="18" charset="0"/>
                            <a:cs typeface="Times New Roman" panose="02020603050405020304" pitchFamily="18" charset="0"/>
                          </a:rPr>
                          <m:t>𝑣</m:t>
                        </m:r>
                      </m:e>
                      <m:sub>
                        <m:r>
                          <a:rPr lang="en-US" altLang="zh-CN" b="0" i="1" smtClean="0">
                            <a:solidFill>
                              <a:srgbClr val="000000"/>
                            </a:solidFill>
                            <a:latin typeface="Cambria Math" panose="02040503050406030204" pitchFamily="18" charset="0"/>
                            <a:cs typeface="Times New Roman" panose="02020603050405020304" pitchFamily="18" charset="0"/>
                          </a:rPr>
                          <m:t>1…</m:t>
                        </m:r>
                        <m:r>
                          <a:rPr lang="en-US" altLang="zh-CN" b="0" i="1" smtClean="0">
                            <a:solidFill>
                              <a:srgbClr val="000000"/>
                            </a:solidFill>
                            <a:latin typeface="Cambria Math" panose="02040503050406030204" pitchFamily="18" charset="0"/>
                            <a:cs typeface="Times New Roman" panose="02020603050405020304" pitchFamily="18" charset="0"/>
                          </a:rPr>
                          <m:t>𝑁</m:t>
                        </m:r>
                      </m:sub>
                    </m:sSub>
                  </m:oMath>
                </a14:m>
                <a:endParaRPr lang="en-US" altLang="zh-CN" dirty="0"/>
              </a:p>
            </p:txBody>
          </p:sp>
        </mc:Choice>
        <mc:Fallback xmlns="">
          <p:sp>
            <p:nvSpPr>
              <p:cNvPr id="20" name="矩形 19">
                <a:extLst>
                  <a:ext uri="{FF2B5EF4-FFF2-40B4-BE49-F238E27FC236}">
                    <a16:creationId xmlns:a16="http://schemas.microsoft.com/office/drawing/2014/main" id="{B8579E1F-3C54-F895-E1C3-503B921C3825}"/>
                  </a:ext>
                </a:extLst>
              </p:cNvPr>
              <p:cNvSpPr>
                <a:spLocks noRot="1" noChangeAspect="1" noMove="1" noResize="1" noEditPoints="1" noAdjustHandles="1" noChangeArrowheads="1" noChangeShapeType="1" noTextEdit="1"/>
              </p:cNvSpPr>
              <p:nvPr/>
            </p:nvSpPr>
            <p:spPr>
              <a:xfrm>
                <a:off x="9161418" y="3825623"/>
                <a:ext cx="2943497" cy="1938717"/>
              </a:xfrm>
              <a:prstGeom prst="rect">
                <a:avLst/>
              </a:prstGeom>
              <a:blipFill>
                <a:blip r:embed="rId6"/>
                <a:stretch>
                  <a:fillRect l="-1649" r="-14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31429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p:bldP spid="14" grpId="0" animBg="1"/>
      <p:bldP spid="15" grpId="0"/>
      <p:bldP spid="16" grpId="0" animBg="1"/>
      <p:bldP spid="17" grpId="0"/>
      <p:bldP spid="2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在这里插入图片描述">
            <a:extLst>
              <a:ext uri="{FF2B5EF4-FFF2-40B4-BE49-F238E27FC236}">
                <a16:creationId xmlns:a16="http://schemas.microsoft.com/office/drawing/2014/main" id="{05735922-86A4-8F36-3117-D1327838BF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28503"/>
            <a:ext cx="5503650" cy="4188824"/>
          </a:xfrm>
          <a:prstGeom prst="rect">
            <a:avLst/>
          </a:prstGeom>
          <a:noFill/>
          <a:extLst>
            <a:ext uri="{909E8E84-426E-40DD-AFC4-6F175D3DCCD1}">
              <a14:hiddenFill xmlns:a14="http://schemas.microsoft.com/office/drawing/2010/main">
                <a:solidFill>
                  <a:srgbClr val="FFFFFF"/>
                </a:solidFill>
              </a14:hiddenFill>
            </a:ext>
          </a:extLst>
        </p:spPr>
      </p:pic>
      <p:grpSp>
        <p:nvGrpSpPr>
          <p:cNvPr id="2" name="组合 1">
            <a:extLst>
              <a:ext uri="{FF2B5EF4-FFF2-40B4-BE49-F238E27FC236}">
                <a16:creationId xmlns:a16="http://schemas.microsoft.com/office/drawing/2014/main" id="{58661071-D74D-841A-9EB0-C4A862305519}"/>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9A5BF0A2-2182-2F90-34B5-86DBAAC63998}"/>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E8E3FDFF-2C87-0588-CE29-4F554DE6787D}"/>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8FFEC43F-940E-67FB-7D91-BA171B7B0E8E}"/>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注意力机制：自注意力机制</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pic>
        <p:nvPicPr>
          <p:cNvPr id="6" name="Picture 2" descr="在这里插入图片描述">
            <a:extLst>
              <a:ext uri="{FF2B5EF4-FFF2-40B4-BE49-F238E27FC236}">
                <a16:creationId xmlns:a16="http://schemas.microsoft.com/office/drawing/2014/main" id="{E97BDA64-9050-FACB-F084-56A5B0145B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6914" y="1628503"/>
            <a:ext cx="5503650" cy="4188824"/>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D10ABAD9-CE72-499E-AD54-2694675FEF6E}"/>
              </a:ext>
            </a:extLst>
          </p:cNvPr>
          <p:cNvSpPr txBox="1"/>
          <p:nvPr/>
        </p:nvSpPr>
        <p:spPr>
          <a:xfrm>
            <a:off x="949235" y="2305984"/>
            <a:ext cx="400594" cy="307777"/>
          </a:xfrm>
          <a:prstGeom prst="rect">
            <a:avLst/>
          </a:prstGeom>
          <a:noFill/>
        </p:spPr>
        <p:txBody>
          <a:bodyPr wrap="square">
            <a:spAutoFit/>
          </a:bodyPr>
          <a:lstStyle/>
          <a:p>
            <a:r>
              <a:rPr lang="en-US" altLang="zh-CN"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400" dirty="0">
              <a:solidFill>
                <a:srgbClr val="FF0000"/>
              </a:solidFill>
            </a:endParaRPr>
          </a:p>
        </p:txBody>
      </p:sp>
      <p:sp>
        <p:nvSpPr>
          <p:cNvPr id="9" name="文本框 8">
            <a:extLst>
              <a:ext uri="{FF2B5EF4-FFF2-40B4-BE49-F238E27FC236}">
                <a16:creationId xmlns:a16="http://schemas.microsoft.com/office/drawing/2014/main" id="{E7DBC32A-8C28-DA44-F743-8D07FAFE4625}"/>
              </a:ext>
            </a:extLst>
          </p:cNvPr>
          <p:cNvSpPr txBox="1"/>
          <p:nvPr/>
        </p:nvSpPr>
        <p:spPr>
          <a:xfrm>
            <a:off x="6204858" y="2304196"/>
            <a:ext cx="400594" cy="307777"/>
          </a:xfrm>
          <a:prstGeom prst="rect">
            <a:avLst/>
          </a:prstGeom>
          <a:noFill/>
        </p:spPr>
        <p:txBody>
          <a:bodyPr wrap="square">
            <a:spAutoFit/>
          </a:bodyPr>
          <a:lstStyle/>
          <a:p>
            <a:r>
              <a:rPr lang="en-US" altLang="zh-CN"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solidFill>
                <a:srgbClr val="FF0000"/>
              </a:solidFill>
            </a:endParaRPr>
          </a:p>
        </p:txBody>
      </p:sp>
      <p:sp>
        <p:nvSpPr>
          <p:cNvPr id="10" name="文本框 9">
            <a:extLst>
              <a:ext uri="{FF2B5EF4-FFF2-40B4-BE49-F238E27FC236}">
                <a16:creationId xmlns:a16="http://schemas.microsoft.com/office/drawing/2014/main" id="{2FF2DD31-686C-D6B8-3336-3DECB6A07F7B}"/>
              </a:ext>
            </a:extLst>
          </p:cNvPr>
          <p:cNvSpPr txBox="1"/>
          <p:nvPr/>
        </p:nvSpPr>
        <p:spPr>
          <a:xfrm>
            <a:off x="1071489" y="4522316"/>
            <a:ext cx="400594" cy="307777"/>
          </a:xfrm>
          <a:prstGeom prst="rect">
            <a:avLst/>
          </a:prstGeom>
          <a:noFill/>
        </p:spPr>
        <p:txBody>
          <a:bodyPr wrap="square">
            <a:spAutoFit/>
          </a:bodyPr>
          <a:lstStyle/>
          <a:p>
            <a:r>
              <a:rPr lang="en-US" altLang="zh-CN"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400" dirty="0">
              <a:solidFill>
                <a:srgbClr val="FF0000"/>
              </a:solidFill>
            </a:endParaRPr>
          </a:p>
        </p:txBody>
      </p:sp>
      <p:sp>
        <p:nvSpPr>
          <p:cNvPr id="11" name="文本框 10">
            <a:extLst>
              <a:ext uri="{FF2B5EF4-FFF2-40B4-BE49-F238E27FC236}">
                <a16:creationId xmlns:a16="http://schemas.microsoft.com/office/drawing/2014/main" id="{9C9A5509-CB8C-CCF2-EF7A-BA9FB3FA37FC}"/>
              </a:ext>
            </a:extLst>
          </p:cNvPr>
          <p:cNvSpPr txBox="1"/>
          <p:nvPr/>
        </p:nvSpPr>
        <p:spPr>
          <a:xfrm>
            <a:off x="6296632" y="4542000"/>
            <a:ext cx="400594" cy="307777"/>
          </a:xfrm>
          <a:prstGeom prst="rect">
            <a:avLst/>
          </a:prstGeom>
          <a:noFill/>
        </p:spPr>
        <p:txBody>
          <a:bodyPr wrap="square">
            <a:spAutoFit/>
          </a:bodyPr>
          <a:lstStyle/>
          <a:p>
            <a:r>
              <a:rPr lang="en-US" altLang="zh-CN"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dirty="0">
              <a:solidFill>
                <a:srgbClr val="FF0000"/>
              </a:solidFill>
            </a:endParaRPr>
          </a:p>
        </p:txBody>
      </p:sp>
    </p:spTree>
    <p:extLst>
      <p:ext uri="{BB962C8B-B14F-4D97-AF65-F5344CB8AC3E}">
        <p14:creationId xmlns:p14="http://schemas.microsoft.com/office/powerpoint/2010/main" val="1705918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在这里插入图片描述">
            <a:extLst>
              <a:ext uri="{FF2B5EF4-FFF2-40B4-BE49-F238E27FC236}">
                <a16:creationId xmlns:a16="http://schemas.microsoft.com/office/drawing/2014/main" id="{05735922-86A4-8F36-3117-D1327838BF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28503"/>
            <a:ext cx="5503650" cy="4188824"/>
          </a:xfrm>
          <a:prstGeom prst="rect">
            <a:avLst/>
          </a:prstGeom>
          <a:noFill/>
          <a:extLst>
            <a:ext uri="{909E8E84-426E-40DD-AFC4-6F175D3DCCD1}">
              <a14:hiddenFill xmlns:a14="http://schemas.microsoft.com/office/drawing/2010/main">
                <a:solidFill>
                  <a:srgbClr val="FFFFFF"/>
                </a:solidFill>
              </a14:hiddenFill>
            </a:ext>
          </a:extLst>
        </p:spPr>
      </p:pic>
      <p:grpSp>
        <p:nvGrpSpPr>
          <p:cNvPr id="2" name="组合 1">
            <a:extLst>
              <a:ext uri="{FF2B5EF4-FFF2-40B4-BE49-F238E27FC236}">
                <a16:creationId xmlns:a16="http://schemas.microsoft.com/office/drawing/2014/main" id="{58661071-D74D-841A-9EB0-C4A862305519}"/>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9A5BF0A2-2182-2F90-34B5-86DBAAC63998}"/>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E8E3FDFF-2C87-0588-CE29-4F554DE6787D}"/>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8FFEC43F-940E-67FB-7D91-BA171B7B0E8E}"/>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注意力机制：自注意力机制</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pic>
        <p:nvPicPr>
          <p:cNvPr id="6" name="Picture 2" descr="在这里插入图片描述">
            <a:extLst>
              <a:ext uri="{FF2B5EF4-FFF2-40B4-BE49-F238E27FC236}">
                <a16:creationId xmlns:a16="http://schemas.microsoft.com/office/drawing/2014/main" id="{E97BDA64-9050-FACB-F084-56A5B0145B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6914" y="1628503"/>
            <a:ext cx="5503650" cy="4188824"/>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D10ABAD9-CE72-499E-AD54-2694675FEF6E}"/>
              </a:ext>
            </a:extLst>
          </p:cNvPr>
          <p:cNvSpPr txBox="1"/>
          <p:nvPr/>
        </p:nvSpPr>
        <p:spPr>
          <a:xfrm>
            <a:off x="949235" y="2305984"/>
            <a:ext cx="400594" cy="307777"/>
          </a:xfrm>
          <a:prstGeom prst="rect">
            <a:avLst/>
          </a:prstGeom>
          <a:noFill/>
        </p:spPr>
        <p:txBody>
          <a:bodyPr wrap="square">
            <a:spAutoFit/>
          </a:bodyPr>
          <a:lstStyle/>
          <a:p>
            <a:r>
              <a:rPr lang="en-US" altLang="zh-CN"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400" dirty="0">
              <a:solidFill>
                <a:srgbClr val="FF0000"/>
              </a:solidFill>
            </a:endParaRPr>
          </a:p>
        </p:txBody>
      </p:sp>
      <p:sp>
        <p:nvSpPr>
          <p:cNvPr id="9" name="文本框 8">
            <a:extLst>
              <a:ext uri="{FF2B5EF4-FFF2-40B4-BE49-F238E27FC236}">
                <a16:creationId xmlns:a16="http://schemas.microsoft.com/office/drawing/2014/main" id="{E7DBC32A-8C28-DA44-F743-8D07FAFE4625}"/>
              </a:ext>
            </a:extLst>
          </p:cNvPr>
          <p:cNvSpPr txBox="1"/>
          <p:nvPr/>
        </p:nvSpPr>
        <p:spPr>
          <a:xfrm>
            <a:off x="6204858" y="2304196"/>
            <a:ext cx="400594" cy="307777"/>
          </a:xfrm>
          <a:prstGeom prst="rect">
            <a:avLst/>
          </a:prstGeom>
          <a:noFill/>
        </p:spPr>
        <p:txBody>
          <a:bodyPr wrap="square">
            <a:spAutoFit/>
          </a:bodyPr>
          <a:lstStyle/>
          <a:p>
            <a:r>
              <a:rPr lang="en-US" altLang="zh-CN"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400" dirty="0">
              <a:solidFill>
                <a:srgbClr val="FF0000"/>
              </a:solidFill>
            </a:endParaRPr>
          </a:p>
        </p:txBody>
      </p:sp>
      <p:sp>
        <p:nvSpPr>
          <p:cNvPr id="7" name="文本框 6">
            <a:extLst>
              <a:ext uri="{FF2B5EF4-FFF2-40B4-BE49-F238E27FC236}">
                <a16:creationId xmlns:a16="http://schemas.microsoft.com/office/drawing/2014/main" id="{98CE0773-1506-B3BA-101C-F3215E3852D6}"/>
              </a:ext>
            </a:extLst>
          </p:cNvPr>
          <p:cNvSpPr txBox="1"/>
          <p:nvPr/>
        </p:nvSpPr>
        <p:spPr>
          <a:xfrm>
            <a:off x="1071489" y="4513606"/>
            <a:ext cx="400594" cy="307777"/>
          </a:xfrm>
          <a:prstGeom prst="rect">
            <a:avLst/>
          </a:prstGeom>
          <a:noFill/>
        </p:spPr>
        <p:txBody>
          <a:bodyPr wrap="square">
            <a:spAutoFit/>
          </a:bodyPr>
          <a:lstStyle/>
          <a:p>
            <a:r>
              <a:rPr lang="en-US" altLang="zh-CN"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400" dirty="0">
              <a:solidFill>
                <a:srgbClr val="FF0000"/>
              </a:solidFill>
            </a:endParaRPr>
          </a:p>
        </p:txBody>
      </p:sp>
      <p:sp>
        <p:nvSpPr>
          <p:cNvPr id="10" name="文本框 9">
            <a:extLst>
              <a:ext uri="{FF2B5EF4-FFF2-40B4-BE49-F238E27FC236}">
                <a16:creationId xmlns:a16="http://schemas.microsoft.com/office/drawing/2014/main" id="{8172712F-FC54-D8E0-DD8C-35AFC198627C}"/>
              </a:ext>
            </a:extLst>
          </p:cNvPr>
          <p:cNvSpPr txBox="1"/>
          <p:nvPr/>
        </p:nvSpPr>
        <p:spPr>
          <a:xfrm>
            <a:off x="6318403" y="4524581"/>
            <a:ext cx="400594" cy="307777"/>
          </a:xfrm>
          <a:prstGeom prst="rect">
            <a:avLst/>
          </a:prstGeom>
          <a:noFill/>
        </p:spPr>
        <p:txBody>
          <a:bodyPr wrap="square">
            <a:spAutoFit/>
          </a:bodyPr>
          <a:lstStyle/>
          <a:p>
            <a:r>
              <a:rPr lang="en-US" altLang="zh-CN"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400" dirty="0">
              <a:solidFill>
                <a:srgbClr val="FF0000"/>
              </a:solidFill>
            </a:endParaRPr>
          </a:p>
        </p:txBody>
      </p:sp>
    </p:spTree>
    <p:extLst>
      <p:ext uri="{BB962C8B-B14F-4D97-AF65-F5344CB8AC3E}">
        <p14:creationId xmlns:p14="http://schemas.microsoft.com/office/powerpoint/2010/main" val="584553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7" grpId="0"/>
      <p:bldP spid="1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注意力机制：自注意力机制</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四、注意力与正则化</a:t>
            </a:r>
            <a:endParaRPr lang="zh-CN" altLang="en-US" sz="1600" dirty="0">
              <a:solidFill>
                <a:srgbClr val="000000"/>
              </a:solidFill>
              <a:latin typeface="Times New Roman" panose="02020603050405020304" pitchFamily="18" charset="0"/>
            </a:endParaRPr>
          </a:p>
        </p:txBody>
      </p:sp>
      <p:pic>
        <p:nvPicPr>
          <p:cNvPr id="2" name="图片 1">
            <a:extLst>
              <a:ext uri="{FF2B5EF4-FFF2-40B4-BE49-F238E27FC236}">
                <a16:creationId xmlns:a16="http://schemas.microsoft.com/office/drawing/2014/main" id="{E60C97F6-3560-4B80-9E31-8CD8B44FF33B}"/>
              </a:ext>
            </a:extLst>
          </p:cNvPr>
          <p:cNvPicPr>
            <a:picLocks noChangeAspect="1"/>
          </p:cNvPicPr>
          <p:nvPr/>
        </p:nvPicPr>
        <p:blipFill>
          <a:blip r:embed="rId3"/>
          <a:stretch>
            <a:fillRect/>
          </a:stretch>
        </p:blipFill>
        <p:spPr>
          <a:xfrm>
            <a:off x="6563842" y="2298125"/>
            <a:ext cx="5000882" cy="3292644"/>
          </a:xfrm>
          <a:prstGeom prst="rect">
            <a:avLst/>
          </a:prstGeom>
        </p:spPr>
      </p:pic>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51402507-CA9A-4E30-8F4D-93CE1C49D33A}"/>
                  </a:ext>
                </a:extLst>
              </p:cNvPr>
              <p:cNvSpPr/>
              <p:nvPr/>
            </p:nvSpPr>
            <p:spPr>
              <a:xfrm>
                <a:off x="567397" y="1370025"/>
                <a:ext cx="5448886" cy="4324261"/>
              </a:xfrm>
              <a:prstGeom prst="rect">
                <a:avLst/>
              </a:prstGeom>
            </p:spPr>
            <p:txBody>
              <a:bodyPr wrap="square">
                <a:spAutoFit/>
              </a:bodyPr>
              <a:lstStyle/>
              <a:p>
                <a:pPr marL="285750" indent="-285750" algn="just">
                  <a:lnSpc>
                    <a:spcPts val="2200"/>
                  </a:lnSpc>
                  <a:spcAft>
                    <a:spcPts val="0"/>
                  </a:spcAft>
                  <a:buFont typeface="Arial" panose="020B0604020202020204" pitchFamily="34" charset="0"/>
                  <a:buChar char="•"/>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首先生成每个单词的内嵌向量（包含了单词在句子中位置编码向量信息），记为</a:t>
                </a:r>
                <a14:m>
                  <m:oMath xmlns:m="http://schemas.openxmlformats.org/officeDocument/2006/math">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2000" i="1">
                        <a:solidFill>
                          <a:srgbClr val="000000"/>
                        </a:solidFill>
                        <a:latin typeface="Cambria Math" panose="02040503050406030204" pitchFamily="18" charset="0"/>
                        <a:ea typeface="楷体_GB2312"/>
                        <a:cs typeface="Times New Roman" panose="02020603050405020304" pitchFamily="18" charset="0"/>
                      </a:rPr>
                      <m:t>(1≤</m:t>
                    </m:r>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r>
                      <a:rPr lang="en-US" altLang="zh-CN" sz="2000" i="1">
                        <a:solidFill>
                          <a:srgbClr val="000000"/>
                        </a:solidFill>
                        <a:latin typeface="Cambria Math" panose="02040503050406030204" pitchFamily="18" charset="0"/>
                        <a:ea typeface="楷体_GB2312"/>
                        <a:cs typeface="Times New Roman" panose="02020603050405020304" pitchFamily="18" charset="0"/>
                      </a:rPr>
                      <m:t>≤4)</m:t>
                    </m:r>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，如下计算每个单词</a:t>
                </a:r>
                <a14:m>
                  <m:oMath xmlns:m="http://schemas.openxmlformats.org/officeDocument/2006/math">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的查询向量（</a:t>
                </a:r>
                <a:r>
                  <a:rPr lang="en-US" altLang="zh-CN" sz="2000" dirty="0">
                    <a:solidFill>
                      <a:srgbClr val="000000"/>
                    </a:solidFill>
                    <a:latin typeface="Times New Roman" panose="02020603050405020304" pitchFamily="18" charset="0"/>
                    <a:ea typeface="楷体_GB2312"/>
                    <a:cs typeface="Times New Roman" panose="02020603050405020304" pitchFamily="18" charset="0"/>
                  </a:rPr>
                  <a:t>query</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）、键向量</a:t>
                </a:r>
                <a:r>
                  <a:rPr lang="en-US" altLang="zh-CN" sz="2000" dirty="0">
                    <a:solidFill>
                      <a:srgbClr val="000000"/>
                    </a:solidFill>
                    <a:latin typeface="Times New Roman" panose="02020603050405020304" pitchFamily="18" charset="0"/>
                    <a:ea typeface="楷体_GB2312"/>
                    <a:cs typeface="Times New Roman" panose="02020603050405020304" pitchFamily="18" charset="0"/>
                  </a:rPr>
                  <a:t>(key)</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和值向量</a:t>
                </a:r>
                <a:r>
                  <a:rPr lang="en-US" altLang="zh-CN" sz="2000" dirty="0">
                    <a:solidFill>
                      <a:srgbClr val="000000"/>
                    </a:solidFill>
                    <a:latin typeface="Times New Roman" panose="02020603050405020304" pitchFamily="18" charset="0"/>
                    <a:ea typeface="楷体_GB2312"/>
                    <a:cs typeface="Times New Roman" panose="02020603050405020304" pitchFamily="18" charset="0"/>
                  </a:rPr>
                  <a:t>(value)</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a:t>
                </a:r>
                <a:endParaRPr lang="en-US" altLang="zh-CN" sz="2000" dirty="0">
                  <a:solidFill>
                    <a:srgbClr val="000000"/>
                  </a:solidFill>
                  <a:latin typeface="Times New Roman" panose="02020603050405020304" pitchFamily="18" charset="0"/>
                  <a:ea typeface="楷体_GB2312"/>
                  <a:cs typeface="Times New Roman" panose="02020603050405020304" pitchFamily="18" charset="0"/>
                </a:endParaRPr>
              </a:p>
              <a:p>
                <a:pPr marL="742950" lvl="1" indent="-285750" algn="just">
                  <a:lnSpc>
                    <a:spcPts val="2200"/>
                  </a:lnSpc>
                  <a:buFont typeface="Arial" panose="020B0604020202020204" pitchFamily="34" charset="0"/>
                  <a:buChar char="•"/>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查询向量：</a:t>
                </a:r>
                <a14:m>
                  <m:oMath xmlns:m="http://schemas.openxmlformats.org/officeDocument/2006/math">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𝑞</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2000"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solidFill>
                              <a:srgbClr val="000000"/>
                            </a:solidFill>
                            <a:latin typeface="Cambria Math" panose="02040503050406030204" pitchFamily="18" charset="0"/>
                            <a:ea typeface="楷体_GB2312"/>
                            <a:cs typeface="Times New Roman" panose="02020603050405020304" pitchFamily="18" charset="0"/>
                          </a:rPr>
                          <m:t>𝑊</m:t>
                        </m:r>
                      </m:e>
                      <m:sup>
                        <m:r>
                          <a:rPr lang="en-US" altLang="zh-CN" sz="2000" i="1">
                            <a:solidFill>
                              <a:srgbClr val="000000"/>
                            </a:solidFill>
                            <a:latin typeface="Cambria Math" panose="02040503050406030204" pitchFamily="18" charset="0"/>
                            <a:ea typeface="楷体_GB2312"/>
                            <a:cs typeface="Times New Roman" panose="02020603050405020304" pitchFamily="18" charset="0"/>
                          </a:rPr>
                          <m:t>𝑞</m:t>
                        </m:r>
                      </m:sup>
                    </m:sSup>
                    <m:r>
                      <a:rPr lang="en-US" altLang="zh-CN" sz="20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sub>
                    </m:sSub>
                  </m:oMath>
                </a14:m>
                <a:endParaRPr lang="en-US" altLang="zh-CN" sz="2000" dirty="0">
                  <a:solidFill>
                    <a:srgbClr val="000000"/>
                  </a:solidFill>
                  <a:latin typeface="Times New Roman" panose="02020603050405020304" pitchFamily="18" charset="0"/>
                  <a:ea typeface="楷体_GB2312"/>
                  <a:cs typeface="Times New Roman" panose="02020603050405020304" pitchFamily="18" charset="0"/>
                </a:endParaRPr>
              </a:p>
              <a:p>
                <a:pPr marL="742950" lvl="1" indent="-285750" algn="just">
                  <a:lnSpc>
                    <a:spcPts val="2200"/>
                  </a:lnSpc>
                  <a:buFont typeface="Arial" panose="020B0604020202020204" pitchFamily="34" charset="0"/>
                  <a:buChar char="•"/>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键向量：</a:t>
                </a:r>
                <a14:m>
                  <m:oMath xmlns:m="http://schemas.openxmlformats.org/officeDocument/2006/math">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𝑘</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2000"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solidFill>
                              <a:srgbClr val="000000"/>
                            </a:solidFill>
                            <a:latin typeface="Cambria Math" panose="02040503050406030204" pitchFamily="18" charset="0"/>
                            <a:ea typeface="楷体_GB2312"/>
                            <a:cs typeface="Times New Roman" panose="02020603050405020304" pitchFamily="18" charset="0"/>
                          </a:rPr>
                          <m:t>𝑊</m:t>
                        </m:r>
                      </m:e>
                      <m:sup>
                        <m:r>
                          <a:rPr lang="en-US" altLang="zh-CN" sz="2000" i="1">
                            <a:solidFill>
                              <a:srgbClr val="000000"/>
                            </a:solidFill>
                            <a:latin typeface="Cambria Math" panose="02040503050406030204" pitchFamily="18" charset="0"/>
                            <a:ea typeface="楷体_GB2312"/>
                            <a:cs typeface="Times New Roman" panose="02020603050405020304" pitchFamily="18" charset="0"/>
                          </a:rPr>
                          <m:t>𝑘</m:t>
                        </m:r>
                      </m:sup>
                    </m:sSup>
                    <m:r>
                      <a:rPr lang="en-US" altLang="zh-CN" sz="20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sub>
                    </m:sSub>
                  </m:oMath>
                </a14:m>
                <a:endParaRPr lang="en-US" altLang="zh-CN" sz="2000" dirty="0">
                  <a:solidFill>
                    <a:srgbClr val="000000"/>
                  </a:solidFill>
                  <a:latin typeface="Times New Roman" panose="02020603050405020304" pitchFamily="18" charset="0"/>
                  <a:ea typeface="楷体_GB2312"/>
                  <a:cs typeface="Times New Roman" panose="02020603050405020304" pitchFamily="18" charset="0"/>
                </a:endParaRPr>
              </a:p>
              <a:p>
                <a:pPr marL="742950" lvl="1" indent="-285750" algn="just">
                  <a:lnSpc>
                    <a:spcPts val="2200"/>
                  </a:lnSpc>
                  <a:buFont typeface="Arial" panose="020B0604020202020204" pitchFamily="34" charset="0"/>
                  <a:buChar char="•"/>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值向量：</a:t>
                </a:r>
                <a14:m>
                  <m:oMath xmlns:m="http://schemas.openxmlformats.org/officeDocument/2006/math">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𝑣</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2000"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solidFill>
                              <a:srgbClr val="000000"/>
                            </a:solidFill>
                            <a:latin typeface="Cambria Math" panose="02040503050406030204" pitchFamily="18" charset="0"/>
                            <a:ea typeface="楷体_GB2312"/>
                            <a:cs typeface="Times New Roman" panose="02020603050405020304" pitchFamily="18" charset="0"/>
                          </a:rPr>
                          <m:t>𝑊</m:t>
                        </m:r>
                      </m:e>
                      <m:sup>
                        <m:r>
                          <a:rPr lang="en-US" altLang="zh-CN" sz="2000" i="1">
                            <a:solidFill>
                              <a:srgbClr val="000000"/>
                            </a:solidFill>
                            <a:latin typeface="Cambria Math" panose="02040503050406030204" pitchFamily="18" charset="0"/>
                            <a:ea typeface="楷体_GB2312"/>
                            <a:cs typeface="Times New Roman" panose="02020603050405020304" pitchFamily="18" charset="0"/>
                          </a:rPr>
                          <m:t>𝑣</m:t>
                        </m:r>
                      </m:sup>
                    </m:sSup>
                    <m:r>
                      <a:rPr lang="en-US" altLang="zh-CN" sz="20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sub>
                    </m:sSub>
                  </m:oMath>
                </a14:m>
                <a:endParaRPr lang="en-US" altLang="zh-CN" sz="2000" dirty="0">
                  <a:solidFill>
                    <a:srgbClr val="000000"/>
                  </a:solidFill>
                  <a:latin typeface="Times New Roman" panose="02020603050405020304" pitchFamily="18" charset="0"/>
                  <a:ea typeface="楷体_GB2312"/>
                  <a:cs typeface="Times New Roman" panose="02020603050405020304" pitchFamily="18" charset="0"/>
                </a:endParaRPr>
              </a:p>
              <a:p>
                <a:pPr marL="742950" lvl="1" indent="-285750" algn="just">
                  <a:lnSpc>
                    <a:spcPts val="2200"/>
                  </a:lnSpc>
                  <a:buFont typeface="Arial" panose="020B0604020202020204" pitchFamily="34" charset="0"/>
                  <a:buChar char="•"/>
                </a:pPr>
                <a:endParaRPr lang="zh-CN" altLang="zh-CN" sz="20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ts val="2200"/>
                  </a:lnSpc>
                  <a:spcAft>
                    <a:spcPts val="0"/>
                  </a:spcAft>
                  <a:buFont typeface="Arial" panose="020B0604020202020204" pitchFamily="34" charset="0"/>
                  <a:buChar char="•"/>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对每个单词而言</a:t>
                </a:r>
                <a14:m>
                  <m:oMath xmlns:m="http://schemas.openxmlformats.org/officeDocument/2006/math">
                    <m:sSub>
                      <m:sSub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20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p>
                      <m:sSup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solidFill>
                              <a:srgbClr val="000000"/>
                            </a:solidFill>
                            <a:latin typeface="Cambria Math" panose="02040503050406030204" pitchFamily="18" charset="0"/>
                            <a:ea typeface="楷体_GB2312"/>
                            <a:cs typeface="Times New Roman" panose="02020603050405020304" pitchFamily="18" charset="0"/>
                          </a:rPr>
                          <m:t>𝑊</m:t>
                        </m:r>
                      </m:e>
                      <m:sup>
                        <m:r>
                          <a:rPr lang="en-US" altLang="zh-CN" sz="2000" i="1">
                            <a:solidFill>
                              <a:srgbClr val="000000"/>
                            </a:solidFill>
                            <a:latin typeface="Cambria Math" panose="02040503050406030204" pitchFamily="18" charset="0"/>
                            <a:ea typeface="楷体_GB2312"/>
                            <a:cs typeface="Times New Roman" panose="02020603050405020304" pitchFamily="18" charset="0"/>
                          </a:rPr>
                          <m:t>𝑞</m:t>
                        </m:r>
                      </m:sup>
                    </m:sSup>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p>
                      <m:sSup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solidFill>
                              <a:srgbClr val="000000"/>
                            </a:solidFill>
                            <a:latin typeface="Cambria Math" panose="02040503050406030204" pitchFamily="18" charset="0"/>
                            <a:ea typeface="楷体_GB2312"/>
                            <a:cs typeface="Times New Roman" panose="02020603050405020304" pitchFamily="18" charset="0"/>
                          </a:rPr>
                          <m:t>𝑊</m:t>
                        </m:r>
                      </m:e>
                      <m:sup>
                        <m:r>
                          <a:rPr lang="en-US" altLang="zh-CN" sz="2000" i="1">
                            <a:solidFill>
                              <a:srgbClr val="000000"/>
                            </a:solidFill>
                            <a:latin typeface="Cambria Math" panose="02040503050406030204" pitchFamily="18" charset="0"/>
                            <a:ea typeface="楷体_GB2312"/>
                            <a:cs typeface="Times New Roman" panose="02020603050405020304" pitchFamily="18" charset="0"/>
                          </a:rPr>
                          <m:t>𝑘</m:t>
                        </m:r>
                      </m:sup>
                    </m:sSup>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sSup>
                      <m:sSupPr>
                        <m:ctrlPr>
                          <a:rPr lang="zh-CN" altLang="zh-CN"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solidFill>
                              <a:srgbClr val="000000"/>
                            </a:solidFill>
                            <a:latin typeface="Cambria Math" panose="02040503050406030204" pitchFamily="18" charset="0"/>
                            <a:ea typeface="楷体_GB2312"/>
                            <a:cs typeface="Times New Roman" panose="02020603050405020304" pitchFamily="18" charset="0"/>
                          </a:rPr>
                          <m:t>𝑊</m:t>
                        </m:r>
                      </m:e>
                      <m:sup>
                        <m:r>
                          <a:rPr lang="en-US" altLang="zh-CN" sz="2000" i="1">
                            <a:solidFill>
                              <a:srgbClr val="000000"/>
                            </a:solidFill>
                            <a:latin typeface="Cambria Math" panose="02040503050406030204" pitchFamily="18" charset="0"/>
                            <a:ea typeface="楷体_GB2312"/>
                            <a:cs typeface="Times New Roman" panose="02020603050405020304" pitchFamily="18" charset="0"/>
                          </a:rPr>
                          <m:t>𝑣</m:t>
                        </m:r>
                      </m:sup>
                    </m:sSup>
                  </m:oMath>
                </a14:m>
                <a:r>
                  <a:rPr lang="zh-CN" altLang="zh-CN" sz="2000" dirty="0">
                    <a:solidFill>
                      <a:srgbClr val="000000"/>
                    </a:solidFill>
                    <a:latin typeface="Times New Roman" panose="02020603050405020304" pitchFamily="18" charset="0"/>
                    <a:ea typeface="楷体_GB2312"/>
                    <a:cs typeface="Times New Roman" panose="02020603050405020304" pitchFamily="18" charset="0"/>
                  </a:rPr>
                  <a:t>三个映射矩阵都是一样的，也是自注意力模型需要训练的全部参数。</a:t>
                </a:r>
                <a:endParaRPr lang="en-US" altLang="zh-CN" sz="20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ts val="2200"/>
                  </a:lnSpc>
                  <a:spcAft>
                    <a:spcPts val="0"/>
                  </a:spcAft>
                  <a:buFont typeface="Arial" panose="020B0604020202020204" pitchFamily="34" charset="0"/>
                  <a:buChar char="•"/>
                </a:pPr>
                <a:endParaRPr lang="zh-CN" altLang="zh-CN" sz="2000"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ts val="2200"/>
                  </a:lnSpc>
                  <a:spcAft>
                    <a:spcPts val="0"/>
                  </a:spcAft>
                  <a:buFont typeface="Arial" panose="020B0604020202020204" pitchFamily="34" charset="0"/>
                  <a:buChar char="•"/>
                </a:pPr>
                <a:r>
                  <a:rPr lang="zh-CN" altLang="zh-CN" sz="2000" dirty="0">
                    <a:solidFill>
                      <a:schemeClr val="accent2"/>
                    </a:solidFill>
                    <a:latin typeface="Times New Roman" panose="02020603050405020304" pitchFamily="18" charset="0"/>
                    <a:ea typeface="楷体_GB2312"/>
                    <a:cs typeface="Times New Roman" panose="02020603050405020304" pitchFamily="18" charset="0"/>
                  </a:rPr>
                  <a:t>自注意力模型就是要挖掘单词</a:t>
                </a:r>
                <a14:m>
                  <m:oMath xmlns:m="http://schemas.openxmlformats.org/officeDocument/2006/math">
                    <m:sSub>
                      <m:sSubPr>
                        <m:ctrlPr>
                          <a:rPr lang="zh-CN" altLang="zh-CN" sz="20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a:solidFill>
                              <a:schemeClr val="accent2"/>
                            </a:solidFill>
                            <a:latin typeface="Cambria Math" panose="02040503050406030204" pitchFamily="18" charset="0"/>
                            <a:ea typeface="楷体_GB2312"/>
                            <a:cs typeface="Times New Roman" panose="02020603050405020304" pitchFamily="18" charset="0"/>
                          </a:rPr>
                          <m:t>𝑤</m:t>
                        </m:r>
                      </m:e>
                      <m:sub>
                        <m:r>
                          <a:rPr lang="en-US" altLang="zh-CN" sz="2000" i="1">
                            <a:solidFill>
                              <a:schemeClr val="accent2"/>
                            </a:solidFill>
                            <a:latin typeface="Cambria Math" panose="02040503050406030204" pitchFamily="18" charset="0"/>
                            <a:ea typeface="楷体_GB2312"/>
                            <a:cs typeface="Times New Roman" panose="02020603050405020304" pitchFamily="18" charset="0"/>
                          </a:rPr>
                          <m:t>𝑖</m:t>
                        </m:r>
                      </m:sub>
                    </m:sSub>
                  </m:oMath>
                </a14:m>
                <a:r>
                  <a:rPr lang="zh-CN" altLang="zh-CN" sz="2000" dirty="0">
                    <a:solidFill>
                      <a:schemeClr val="accent2"/>
                    </a:solidFill>
                    <a:latin typeface="Times New Roman" panose="02020603050405020304" pitchFamily="18" charset="0"/>
                    <a:ea typeface="楷体_GB2312"/>
                    <a:cs typeface="Times New Roman" panose="02020603050405020304" pitchFamily="18" charset="0"/>
                  </a:rPr>
                  <a:t>与其他单词在句子中因为上下文（</a:t>
                </a:r>
                <a:r>
                  <a:rPr lang="en-US" altLang="zh-CN" sz="2000" dirty="0">
                    <a:solidFill>
                      <a:schemeClr val="accent2"/>
                    </a:solidFill>
                    <a:latin typeface="Times New Roman" panose="02020603050405020304" pitchFamily="18" charset="0"/>
                    <a:ea typeface="楷体_GB2312"/>
                    <a:cs typeface="Times New Roman" panose="02020603050405020304" pitchFamily="18" charset="0"/>
                  </a:rPr>
                  <a:t>context</a:t>
                </a:r>
                <a:r>
                  <a:rPr lang="zh-CN" altLang="zh-CN" sz="2000" dirty="0">
                    <a:solidFill>
                      <a:schemeClr val="accent2"/>
                    </a:solidFill>
                    <a:latin typeface="Times New Roman" panose="02020603050405020304" pitchFamily="18" charset="0"/>
                    <a:ea typeface="楷体_GB2312"/>
                    <a:cs typeface="Times New Roman" panose="02020603050405020304" pitchFamily="18" charset="0"/>
                  </a:rPr>
                  <a:t>）关联而具有的自注意力取值大小。</a:t>
                </a:r>
                <a:endParaRPr lang="en-US" altLang="zh-CN" sz="2000" dirty="0">
                  <a:solidFill>
                    <a:schemeClr val="accent2"/>
                  </a:solidFill>
                  <a:latin typeface="Times New Roman" panose="02020603050405020304" pitchFamily="18" charset="0"/>
                  <a:ea typeface="楷体_GB231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51402507-CA9A-4E30-8F4D-93CE1C49D33A}"/>
                  </a:ext>
                </a:extLst>
              </p:cNvPr>
              <p:cNvSpPr>
                <a:spLocks noRot="1" noChangeAspect="1" noMove="1" noResize="1" noEditPoints="1" noAdjustHandles="1" noChangeArrowheads="1" noChangeShapeType="1" noTextEdit="1"/>
              </p:cNvSpPr>
              <p:nvPr/>
            </p:nvSpPr>
            <p:spPr>
              <a:xfrm>
                <a:off x="567397" y="1370025"/>
                <a:ext cx="5448886" cy="4324261"/>
              </a:xfrm>
              <a:prstGeom prst="rect">
                <a:avLst/>
              </a:prstGeom>
              <a:blipFill>
                <a:blip r:embed="rId4"/>
                <a:stretch>
                  <a:fillRect l="-1007" t="-1410" r="-1230" b="-1693"/>
                </a:stretch>
              </a:blipFill>
            </p:spPr>
            <p:txBody>
              <a:bodyPr/>
              <a:lstStyle/>
              <a:p>
                <a:r>
                  <a:rPr lang="zh-CN" altLang="en-US">
                    <a:noFill/>
                  </a:rPr>
                  <a:t> </a:t>
                </a:r>
              </a:p>
            </p:txBody>
          </p:sp>
        </mc:Fallback>
      </mc:AlternateContent>
      <p:sp>
        <p:nvSpPr>
          <p:cNvPr id="7" name="矩形 6"/>
          <p:cNvSpPr/>
          <p:nvPr/>
        </p:nvSpPr>
        <p:spPr>
          <a:xfrm>
            <a:off x="6451193" y="5590769"/>
            <a:ext cx="5390212" cy="613566"/>
          </a:xfrm>
          <a:prstGeom prst="rect">
            <a:avLst/>
          </a:prstGeom>
        </p:spPr>
        <p:txBody>
          <a:bodyPr wrap="square">
            <a:spAutoFit/>
          </a:bodyPr>
          <a:lstStyle/>
          <a:p>
            <a:pPr algn="ctr">
              <a:lnSpc>
                <a:spcPct val="150000"/>
              </a:lnSpc>
            </a:pP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图</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5.21</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给出了由四个单词组成的句子“项庄舞剑、意在沛公”中单词“意在”与句子中其他单词之间概率关联的计算示意。</a:t>
            </a:r>
            <a:endParaRPr lang="zh-CN" altLang="zh-CN"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462749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注意力机制：自注意力机制</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四、注意力与正则化</a:t>
            </a:r>
            <a:endParaRPr lang="zh-CN" altLang="en-US" sz="1600" dirty="0">
              <a:solidFill>
                <a:srgbClr val="000000"/>
              </a:solidFill>
              <a:latin typeface="Times New Roman" panose="02020603050405020304" pitchFamily="18" charset="0"/>
            </a:endParaRPr>
          </a:p>
        </p:txBody>
      </p:sp>
      <p:pic>
        <p:nvPicPr>
          <p:cNvPr id="2" name="图片 1">
            <a:extLst>
              <a:ext uri="{FF2B5EF4-FFF2-40B4-BE49-F238E27FC236}">
                <a16:creationId xmlns:a16="http://schemas.microsoft.com/office/drawing/2014/main" id="{E60C97F6-3560-4B80-9E31-8CD8B44FF33B}"/>
              </a:ext>
            </a:extLst>
          </p:cNvPr>
          <p:cNvPicPr>
            <a:picLocks noChangeAspect="1"/>
          </p:cNvPicPr>
          <p:nvPr/>
        </p:nvPicPr>
        <p:blipFill>
          <a:blip r:embed="rId3"/>
          <a:stretch>
            <a:fillRect/>
          </a:stretch>
        </p:blipFill>
        <p:spPr>
          <a:xfrm>
            <a:off x="6802993" y="2298125"/>
            <a:ext cx="5000882" cy="3292644"/>
          </a:xfrm>
          <a:prstGeom prst="rect">
            <a:avLst/>
          </a:prstGeom>
        </p:spPr>
      </p:pic>
      <p:sp>
        <p:nvSpPr>
          <p:cNvPr id="8" name="矩形 7">
            <a:extLst>
              <a:ext uri="{FF2B5EF4-FFF2-40B4-BE49-F238E27FC236}">
                <a16:creationId xmlns:a16="http://schemas.microsoft.com/office/drawing/2014/main" id="{51402507-CA9A-4E30-8F4D-93CE1C49D33A}"/>
              </a:ext>
            </a:extLst>
          </p:cNvPr>
          <p:cNvSpPr/>
          <p:nvPr/>
        </p:nvSpPr>
        <p:spPr>
          <a:xfrm>
            <a:off x="567397" y="1370025"/>
            <a:ext cx="5842781" cy="5516703"/>
          </a:xfrm>
          <a:prstGeom prst="rect">
            <a:avLst/>
          </a:prstGeom>
        </p:spPr>
        <p:txBody>
          <a:bodyPr wrap="square">
            <a:spAutoFit/>
          </a:bodyPr>
          <a:lstStyle/>
          <a:p>
            <a:pPr marL="285750" indent="-285750" algn="just">
              <a:lnSpc>
                <a:spcPct val="150000"/>
              </a:lnSpc>
              <a:spcAft>
                <a:spcPts val="0"/>
              </a:spcAft>
              <a:buFont typeface="Arial" panose="020B0604020202020204" pitchFamily="34" charset="0"/>
              <a:buChar char="•"/>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这里的查询向量、键向量和值向量可从</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搜索引擎</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角度来理解：查询向量为搜索单词、键向量为被搜索物品的描述信息（如标题等）、值向量为被搜索物品的语义内容。</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多头</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注意力（</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multi-head attention</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）机制</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从更多角度来挖掘某个单词与其他单词之间概率关联。</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并行计算</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某个单词的自注意力关联</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可并行计算，</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而不像循环神经网络</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RNN</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那样，需要通过自回归的方式来一个单词接着一个单词来处理。</a:t>
            </a:r>
          </a:p>
          <a:p>
            <a:pPr marL="285750" indent="-285750" algn="just">
              <a:lnSpc>
                <a:spcPct val="150000"/>
              </a:lnSpc>
              <a:buFont typeface="Arial" panose="020B0604020202020204" pitchFamily="34" charset="0"/>
              <a:buChar char="•"/>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前向神经网络</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一旦计算得到单词和其他单词所形成的自注意力关联后，</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Transformer</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再将这些自注意力关联通过</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前向神经网络（</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feed-forward</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）进行非线性映射</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。非线性变换的引入能帮助模型捕捉到更丰富的特征和语义信息，有助于提高模型的表达能力（如更好捕获单词和单词之间复杂的共现概率）。</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FFN</a:t>
            </a:r>
            <a:r>
              <a:rPr lang="zh-CN" altLang="en-US"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内部实现了先升维后降维，为什么这么做？</a:t>
            </a:r>
            <a:endPar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ts val="2200"/>
              </a:lnSpc>
              <a:spcAft>
                <a:spcPts val="0"/>
              </a:spcAft>
              <a:buFont typeface="Arial" panose="020B0604020202020204" pitchFamily="34" charset="0"/>
              <a:buChar char="•"/>
            </a:pPr>
            <a:endParaRPr lang="zh-CN" altLang="zh-CN" sz="1400" dirty="0">
              <a:solidFill>
                <a:srgbClr val="000000"/>
              </a:solidFill>
              <a:latin typeface="Times New Roman" panose="02020603050405020304" pitchFamily="18" charset="0"/>
              <a:ea typeface="楷体_GB2312"/>
              <a:cs typeface="Times New Roman" panose="02020603050405020304" pitchFamily="18" charset="0"/>
            </a:endParaRPr>
          </a:p>
        </p:txBody>
      </p:sp>
      <p:pic>
        <p:nvPicPr>
          <p:cNvPr id="13" name="图片 12">
            <a:extLst>
              <a:ext uri="{FF2B5EF4-FFF2-40B4-BE49-F238E27FC236}">
                <a16:creationId xmlns:a16="http://schemas.microsoft.com/office/drawing/2014/main" id="{2D680C8C-C619-2E6E-F0EB-67CA5A8B39C7}"/>
              </a:ext>
            </a:extLst>
          </p:cNvPr>
          <p:cNvPicPr>
            <a:picLocks noChangeAspect="1"/>
          </p:cNvPicPr>
          <p:nvPr/>
        </p:nvPicPr>
        <p:blipFill>
          <a:blip r:embed="rId4"/>
          <a:stretch>
            <a:fillRect/>
          </a:stretch>
        </p:blipFill>
        <p:spPr>
          <a:xfrm>
            <a:off x="7664524" y="5801869"/>
            <a:ext cx="3295238" cy="295238"/>
          </a:xfrm>
          <a:prstGeom prst="rect">
            <a:avLst/>
          </a:prstGeom>
        </p:spPr>
      </p:pic>
    </p:spTree>
    <p:extLst>
      <p:ext uri="{BB962C8B-B14F-4D97-AF65-F5344CB8AC3E}">
        <p14:creationId xmlns:p14="http://schemas.microsoft.com/office/powerpoint/2010/main" val="3279600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注意力机制：自注意力机制</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四、注意力与正则化</a:t>
            </a:r>
            <a:endParaRPr lang="zh-CN" altLang="en-US" sz="1600" dirty="0">
              <a:solidFill>
                <a:srgbClr val="000000"/>
              </a:solidFill>
              <a:latin typeface="Times New Roman" panose="02020603050405020304" pitchFamily="18" charset="0"/>
            </a:endParaRPr>
          </a:p>
        </p:txBody>
      </p:sp>
      <p:pic>
        <p:nvPicPr>
          <p:cNvPr id="9" name="图片 8">
            <a:extLst>
              <a:ext uri="{FF2B5EF4-FFF2-40B4-BE49-F238E27FC236}">
                <a16:creationId xmlns:a16="http://schemas.microsoft.com/office/drawing/2014/main" id="{9E11A9C5-293D-B8BE-EA31-4BB707B8F688}"/>
              </a:ext>
            </a:extLst>
          </p:cNvPr>
          <p:cNvPicPr>
            <a:picLocks noChangeAspect="1"/>
          </p:cNvPicPr>
          <p:nvPr/>
        </p:nvPicPr>
        <p:blipFill>
          <a:blip r:embed="rId3"/>
          <a:stretch>
            <a:fillRect/>
          </a:stretch>
        </p:blipFill>
        <p:spPr>
          <a:xfrm>
            <a:off x="1225174" y="1357214"/>
            <a:ext cx="2847619" cy="4504762"/>
          </a:xfrm>
          <a:prstGeom prst="rect">
            <a:avLst/>
          </a:prstGeom>
        </p:spPr>
      </p:pic>
      <p:pic>
        <p:nvPicPr>
          <p:cNvPr id="11" name="图片 10">
            <a:extLst>
              <a:ext uri="{FF2B5EF4-FFF2-40B4-BE49-F238E27FC236}">
                <a16:creationId xmlns:a16="http://schemas.microsoft.com/office/drawing/2014/main" id="{CBA6D26B-54A6-BE64-63C3-12BC882B4192}"/>
              </a:ext>
            </a:extLst>
          </p:cNvPr>
          <p:cNvPicPr>
            <a:picLocks noChangeAspect="1"/>
          </p:cNvPicPr>
          <p:nvPr/>
        </p:nvPicPr>
        <p:blipFill>
          <a:blip r:embed="rId4"/>
          <a:stretch>
            <a:fillRect/>
          </a:stretch>
        </p:blipFill>
        <p:spPr>
          <a:xfrm>
            <a:off x="5383314" y="2275179"/>
            <a:ext cx="5095238" cy="2990476"/>
          </a:xfrm>
          <a:prstGeom prst="rect">
            <a:avLst/>
          </a:prstGeom>
        </p:spPr>
      </p:pic>
      <p:pic>
        <p:nvPicPr>
          <p:cNvPr id="15" name="图片 14">
            <a:extLst>
              <a:ext uri="{FF2B5EF4-FFF2-40B4-BE49-F238E27FC236}">
                <a16:creationId xmlns:a16="http://schemas.microsoft.com/office/drawing/2014/main" id="{62FEE5EE-76D3-BA29-C6D2-9E2717C32AE0}"/>
              </a:ext>
            </a:extLst>
          </p:cNvPr>
          <p:cNvPicPr>
            <a:picLocks noChangeAspect="1"/>
          </p:cNvPicPr>
          <p:nvPr/>
        </p:nvPicPr>
        <p:blipFill>
          <a:blip r:embed="rId5"/>
          <a:stretch>
            <a:fillRect/>
          </a:stretch>
        </p:blipFill>
        <p:spPr>
          <a:xfrm>
            <a:off x="4798528" y="1544721"/>
            <a:ext cx="3457143" cy="60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9" name="图片 18">
            <a:extLst>
              <a:ext uri="{FF2B5EF4-FFF2-40B4-BE49-F238E27FC236}">
                <a16:creationId xmlns:a16="http://schemas.microsoft.com/office/drawing/2014/main" id="{783C62BD-BF7E-A54C-B8F4-A1FF9E73700A}"/>
              </a:ext>
            </a:extLst>
          </p:cNvPr>
          <p:cNvPicPr>
            <a:picLocks noChangeAspect="1"/>
          </p:cNvPicPr>
          <p:nvPr/>
        </p:nvPicPr>
        <p:blipFill>
          <a:blip r:embed="rId6"/>
          <a:stretch>
            <a:fillRect/>
          </a:stretch>
        </p:blipFill>
        <p:spPr>
          <a:xfrm>
            <a:off x="4798528" y="5295146"/>
            <a:ext cx="7029211" cy="884795"/>
          </a:xfrm>
          <a:prstGeom prst="rect">
            <a:avLst/>
          </a:prstGeom>
        </p:spPr>
      </p:pic>
      <p:pic>
        <p:nvPicPr>
          <p:cNvPr id="21" name="图片 20">
            <a:extLst>
              <a:ext uri="{FF2B5EF4-FFF2-40B4-BE49-F238E27FC236}">
                <a16:creationId xmlns:a16="http://schemas.microsoft.com/office/drawing/2014/main" id="{11587A0B-C20C-595C-DF96-EB60C969E870}"/>
              </a:ext>
            </a:extLst>
          </p:cNvPr>
          <p:cNvPicPr>
            <a:picLocks noChangeAspect="1"/>
          </p:cNvPicPr>
          <p:nvPr/>
        </p:nvPicPr>
        <p:blipFill>
          <a:blip r:embed="rId7"/>
          <a:stretch>
            <a:fillRect/>
          </a:stretch>
        </p:blipFill>
        <p:spPr>
          <a:xfrm>
            <a:off x="8512519" y="1594889"/>
            <a:ext cx="3457143" cy="49966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3" name="图片 22">
            <a:extLst>
              <a:ext uri="{FF2B5EF4-FFF2-40B4-BE49-F238E27FC236}">
                <a16:creationId xmlns:a16="http://schemas.microsoft.com/office/drawing/2014/main" id="{B7455D83-2519-94EF-B2F0-C05E3D6084E1}"/>
              </a:ext>
            </a:extLst>
          </p:cNvPr>
          <p:cNvPicPr>
            <a:picLocks noChangeAspect="1"/>
          </p:cNvPicPr>
          <p:nvPr/>
        </p:nvPicPr>
        <p:blipFill>
          <a:blip r:embed="rId8"/>
          <a:stretch>
            <a:fillRect/>
          </a:stretch>
        </p:blipFill>
        <p:spPr>
          <a:xfrm>
            <a:off x="964332" y="5893688"/>
            <a:ext cx="3238095" cy="6380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26" name="连接符: 曲线 25">
            <a:extLst>
              <a:ext uri="{FF2B5EF4-FFF2-40B4-BE49-F238E27FC236}">
                <a16:creationId xmlns:a16="http://schemas.microsoft.com/office/drawing/2014/main" id="{33734E68-9858-FD84-D162-12934F72935A}"/>
              </a:ext>
            </a:extLst>
          </p:cNvPr>
          <p:cNvCxnSpPr>
            <a:endCxn id="23" idx="1"/>
          </p:cNvCxnSpPr>
          <p:nvPr/>
        </p:nvCxnSpPr>
        <p:spPr>
          <a:xfrm rot="5400000">
            <a:off x="283094" y="5270655"/>
            <a:ext cx="1623319" cy="260842"/>
          </a:xfrm>
          <a:prstGeom prst="curvedConnector4">
            <a:avLst>
              <a:gd name="adj1" fmla="val 40173"/>
              <a:gd name="adj2" fmla="val 187639"/>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3825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388A791-5303-0484-020D-3D5525534234}"/>
              </a:ext>
            </a:extLst>
          </p:cNvPr>
          <p:cNvPicPr>
            <a:picLocks noChangeAspect="1"/>
          </p:cNvPicPr>
          <p:nvPr/>
        </p:nvPicPr>
        <p:blipFill>
          <a:blip r:embed="rId2"/>
          <a:stretch>
            <a:fillRect/>
          </a:stretch>
        </p:blipFill>
        <p:spPr>
          <a:xfrm>
            <a:off x="2591238" y="1473693"/>
            <a:ext cx="7009524" cy="4990476"/>
          </a:xfrm>
          <a:prstGeom prst="rect">
            <a:avLst/>
          </a:prstGeom>
        </p:spPr>
      </p:pic>
      <p:grpSp>
        <p:nvGrpSpPr>
          <p:cNvPr id="4" name="组合 3">
            <a:extLst>
              <a:ext uri="{FF2B5EF4-FFF2-40B4-BE49-F238E27FC236}">
                <a16:creationId xmlns:a16="http://schemas.microsoft.com/office/drawing/2014/main" id="{186249AE-7494-E820-B95A-72E2152439E9}"/>
              </a:ext>
            </a:extLst>
          </p:cNvPr>
          <p:cNvGrpSpPr/>
          <p:nvPr/>
        </p:nvGrpSpPr>
        <p:grpSpPr>
          <a:xfrm>
            <a:off x="2583380" y="726948"/>
            <a:ext cx="7464387" cy="497934"/>
            <a:chOff x="4099943" y="2819853"/>
            <a:chExt cx="2570275" cy="497934"/>
          </a:xfrm>
        </p:grpSpPr>
        <p:sp>
          <p:nvSpPr>
            <p:cNvPr id="5" name="平行四边形 4">
              <a:extLst>
                <a:ext uri="{FF2B5EF4-FFF2-40B4-BE49-F238E27FC236}">
                  <a16:creationId xmlns:a16="http://schemas.microsoft.com/office/drawing/2014/main" id="{1923D2AB-07A5-15D1-E063-793E7AFCE0F9}"/>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平行四边形 5">
              <a:extLst>
                <a:ext uri="{FF2B5EF4-FFF2-40B4-BE49-F238E27FC236}">
                  <a16:creationId xmlns:a16="http://schemas.microsoft.com/office/drawing/2014/main" id="{6B431C69-9405-6F82-8BA9-0EF63C1B3F50}"/>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矩形 6">
              <a:extLst>
                <a:ext uri="{FF2B5EF4-FFF2-40B4-BE49-F238E27FC236}">
                  <a16:creationId xmlns:a16="http://schemas.microsoft.com/office/drawing/2014/main" id="{4E40F7A0-E284-E5FF-1E63-C3E60C25C996}"/>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注意力机制</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Layer Normalization</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9225933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9EFEC98-13A9-37D4-78CA-0A83BD0BA27F}"/>
              </a:ext>
            </a:extLst>
          </p:cNvPr>
          <p:cNvPicPr>
            <a:picLocks noChangeAspect="1"/>
          </p:cNvPicPr>
          <p:nvPr/>
        </p:nvPicPr>
        <p:blipFill>
          <a:blip r:embed="rId2"/>
          <a:stretch>
            <a:fillRect/>
          </a:stretch>
        </p:blipFill>
        <p:spPr>
          <a:xfrm>
            <a:off x="1714500" y="0"/>
            <a:ext cx="7445066" cy="6858000"/>
          </a:xfrm>
          <a:prstGeom prst="rect">
            <a:avLst/>
          </a:prstGeom>
        </p:spPr>
      </p:pic>
      <p:pic>
        <p:nvPicPr>
          <p:cNvPr id="3" name="图片 2">
            <a:extLst>
              <a:ext uri="{FF2B5EF4-FFF2-40B4-BE49-F238E27FC236}">
                <a16:creationId xmlns:a16="http://schemas.microsoft.com/office/drawing/2014/main" id="{D235D5D9-3E6B-144A-46CB-1CCD60BBF7CC}"/>
              </a:ext>
            </a:extLst>
          </p:cNvPr>
          <p:cNvPicPr>
            <a:picLocks noChangeAspect="1"/>
          </p:cNvPicPr>
          <p:nvPr/>
        </p:nvPicPr>
        <p:blipFill>
          <a:blip r:embed="rId3"/>
          <a:stretch>
            <a:fillRect/>
          </a:stretch>
        </p:blipFill>
        <p:spPr>
          <a:xfrm>
            <a:off x="9120357" y="2257615"/>
            <a:ext cx="2714286" cy="3047619"/>
          </a:xfrm>
          <a:prstGeom prst="rect">
            <a:avLst/>
          </a:prstGeom>
        </p:spPr>
      </p:pic>
      <p:sp>
        <p:nvSpPr>
          <p:cNvPr id="4" name="文本框 3">
            <a:extLst>
              <a:ext uri="{FF2B5EF4-FFF2-40B4-BE49-F238E27FC236}">
                <a16:creationId xmlns:a16="http://schemas.microsoft.com/office/drawing/2014/main" id="{30B02131-B52A-4D62-FA60-9D3A5FD2F31C}"/>
              </a:ext>
            </a:extLst>
          </p:cNvPr>
          <p:cNvSpPr txBox="1"/>
          <p:nvPr/>
        </p:nvSpPr>
        <p:spPr>
          <a:xfrm>
            <a:off x="1866900" y="4486275"/>
            <a:ext cx="304800" cy="307777"/>
          </a:xfrm>
          <a:prstGeom prst="rect">
            <a:avLst/>
          </a:prstGeom>
          <a:noFill/>
        </p:spPr>
        <p:txBody>
          <a:bodyPr wrap="square" rtlCol="0">
            <a:spAutoFit/>
          </a:bodyPr>
          <a:lstStyle/>
          <a:p>
            <a:r>
              <a:rPr lang="zh-CN" altLang="en-US" sz="1400" b="1" dirty="0"/>
              <a:t>①</a:t>
            </a:r>
          </a:p>
        </p:txBody>
      </p:sp>
      <p:sp>
        <p:nvSpPr>
          <p:cNvPr id="7" name="文本框 6">
            <a:extLst>
              <a:ext uri="{FF2B5EF4-FFF2-40B4-BE49-F238E27FC236}">
                <a16:creationId xmlns:a16="http://schemas.microsoft.com/office/drawing/2014/main" id="{F2B70EB9-37A8-4FE5-15A2-27911D91C7FA}"/>
              </a:ext>
            </a:extLst>
          </p:cNvPr>
          <p:cNvSpPr txBox="1"/>
          <p:nvPr/>
        </p:nvSpPr>
        <p:spPr>
          <a:xfrm>
            <a:off x="1866900" y="4685883"/>
            <a:ext cx="704850" cy="307777"/>
          </a:xfrm>
          <a:prstGeom prst="rect">
            <a:avLst/>
          </a:prstGeom>
          <a:noFill/>
        </p:spPr>
        <p:txBody>
          <a:bodyPr wrap="square" rtlCol="0">
            <a:spAutoFit/>
          </a:bodyPr>
          <a:lstStyle/>
          <a:p>
            <a:r>
              <a:rPr lang="zh-CN" altLang="en-US" sz="1400" b="1" dirty="0"/>
              <a:t>②</a:t>
            </a:r>
          </a:p>
        </p:txBody>
      </p:sp>
      <p:sp>
        <p:nvSpPr>
          <p:cNvPr id="8" name="文本框 7">
            <a:extLst>
              <a:ext uri="{FF2B5EF4-FFF2-40B4-BE49-F238E27FC236}">
                <a16:creationId xmlns:a16="http://schemas.microsoft.com/office/drawing/2014/main" id="{8EBD3BD4-C1CB-DDFA-8BB4-5FBA56202EBC}"/>
              </a:ext>
            </a:extLst>
          </p:cNvPr>
          <p:cNvSpPr txBox="1"/>
          <p:nvPr/>
        </p:nvSpPr>
        <p:spPr>
          <a:xfrm>
            <a:off x="1866900" y="5213389"/>
            <a:ext cx="704850" cy="307777"/>
          </a:xfrm>
          <a:prstGeom prst="rect">
            <a:avLst/>
          </a:prstGeom>
          <a:noFill/>
        </p:spPr>
        <p:txBody>
          <a:bodyPr wrap="square" rtlCol="0">
            <a:spAutoFit/>
          </a:bodyPr>
          <a:lstStyle/>
          <a:p>
            <a:r>
              <a:rPr lang="zh-CN" altLang="en-US" sz="1400" b="1" dirty="0"/>
              <a:t>③</a:t>
            </a:r>
          </a:p>
        </p:txBody>
      </p:sp>
      <p:sp>
        <p:nvSpPr>
          <p:cNvPr id="9" name="文本框 8">
            <a:extLst>
              <a:ext uri="{FF2B5EF4-FFF2-40B4-BE49-F238E27FC236}">
                <a16:creationId xmlns:a16="http://schemas.microsoft.com/office/drawing/2014/main" id="{E9119721-0B40-875B-721A-F4921373943E}"/>
              </a:ext>
            </a:extLst>
          </p:cNvPr>
          <p:cNvSpPr txBox="1"/>
          <p:nvPr/>
        </p:nvSpPr>
        <p:spPr>
          <a:xfrm>
            <a:off x="1866900" y="5740895"/>
            <a:ext cx="704850" cy="307777"/>
          </a:xfrm>
          <a:prstGeom prst="rect">
            <a:avLst/>
          </a:prstGeom>
          <a:noFill/>
        </p:spPr>
        <p:txBody>
          <a:bodyPr wrap="square" rtlCol="0">
            <a:spAutoFit/>
          </a:bodyPr>
          <a:lstStyle/>
          <a:p>
            <a:r>
              <a:rPr lang="zh-CN" altLang="en-US" sz="1400" b="1" dirty="0"/>
              <a:t>④</a:t>
            </a:r>
          </a:p>
        </p:txBody>
      </p:sp>
      <p:sp>
        <p:nvSpPr>
          <p:cNvPr id="10" name="文本框 9">
            <a:extLst>
              <a:ext uri="{FF2B5EF4-FFF2-40B4-BE49-F238E27FC236}">
                <a16:creationId xmlns:a16="http://schemas.microsoft.com/office/drawing/2014/main" id="{F038797C-6FB1-AE75-618C-8AC68EB489D2}"/>
              </a:ext>
            </a:extLst>
          </p:cNvPr>
          <p:cNvSpPr txBox="1"/>
          <p:nvPr/>
        </p:nvSpPr>
        <p:spPr>
          <a:xfrm>
            <a:off x="1866900" y="6267209"/>
            <a:ext cx="704850" cy="307777"/>
          </a:xfrm>
          <a:prstGeom prst="rect">
            <a:avLst/>
          </a:prstGeom>
          <a:noFill/>
        </p:spPr>
        <p:txBody>
          <a:bodyPr wrap="square" rtlCol="0">
            <a:spAutoFit/>
          </a:bodyPr>
          <a:lstStyle/>
          <a:p>
            <a:r>
              <a:rPr lang="zh-CN" altLang="en-US" sz="1400" b="1" dirty="0"/>
              <a:t>⑤</a:t>
            </a:r>
          </a:p>
        </p:txBody>
      </p:sp>
    </p:spTree>
    <p:extLst>
      <p:ext uri="{BB962C8B-B14F-4D97-AF65-F5344CB8AC3E}">
        <p14:creationId xmlns:p14="http://schemas.microsoft.com/office/powerpoint/2010/main" val="1115082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P spid="1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2EA11A7-C994-3EA9-9F51-B4B8FF5238AB}"/>
              </a:ext>
            </a:extLst>
          </p:cNvPr>
          <p:cNvPicPr>
            <a:picLocks noChangeAspect="1"/>
          </p:cNvPicPr>
          <p:nvPr/>
        </p:nvPicPr>
        <p:blipFill>
          <a:blip r:embed="rId2"/>
          <a:stretch>
            <a:fillRect/>
          </a:stretch>
        </p:blipFill>
        <p:spPr>
          <a:xfrm>
            <a:off x="96716" y="0"/>
            <a:ext cx="6201421" cy="4238625"/>
          </a:xfrm>
          <a:prstGeom prst="rect">
            <a:avLst/>
          </a:prstGeom>
        </p:spPr>
      </p:pic>
      <p:pic>
        <p:nvPicPr>
          <p:cNvPr id="5" name="图片 4">
            <a:extLst>
              <a:ext uri="{FF2B5EF4-FFF2-40B4-BE49-F238E27FC236}">
                <a16:creationId xmlns:a16="http://schemas.microsoft.com/office/drawing/2014/main" id="{D15985D3-01A8-4C3C-95E0-9911D83D5F88}"/>
              </a:ext>
            </a:extLst>
          </p:cNvPr>
          <p:cNvPicPr>
            <a:picLocks noChangeAspect="1"/>
          </p:cNvPicPr>
          <p:nvPr/>
        </p:nvPicPr>
        <p:blipFill>
          <a:blip r:embed="rId3"/>
          <a:stretch>
            <a:fillRect/>
          </a:stretch>
        </p:blipFill>
        <p:spPr>
          <a:xfrm>
            <a:off x="4399406" y="85725"/>
            <a:ext cx="7792594" cy="6457950"/>
          </a:xfrm>
          <a:prstGeom prst="rect">
            <a:avLst/>
          </a:prstGeom>
        </p:spPr>
      </p:pic>
      <p:pic>
        <p:nvPicPr>
          <p:cNvPr id="4" name="图片 3">
            <a:extLst>
              <a:ext uri="{FF2B5EF4-FFF2-40B4-BE49-F238E27FC236}">
                <a16:creationId xmlns:a16="http://schemas.microsoft.com/office/drawing/2014/main" id="{CA93880A-6D8F-8A22-3859-25A5CF87868E}"/>
              </a:ext>
            </a:extLst>
          </p:cNvPr>
          <p:cNvPicPr>
            <a:picLocks noChangeAspect="1"/>
          </p:cNvPicPr>
          <p:nvPr/>
        </p:nvPicPr>
        <p:blipFill>
          <a:blip r:embed="rId4"/>
          <a:stretch>
            <a:fillRect/>
          </a:stretch>
        </p:blipFill>
        <p:spPr>
          <a:xfrm>
            <a:off x="1646474" y="4286532"/>
            <a:ext cx="1847619" cy="2257143"/>
          </a:xfrm>
          <a:prstGeom prst="rect">
            <a:avLst/>
          </a:prstGeom>
        </p:spPr>
      </p:pic>
      <p:sp>
        <p:nvSpPr>
          <p:cNvPr id="6" name="文本框 5">
            <a:extLst>
              <a:ext uri="{FF2B5EF4-FFF2-40B4-BE49-F238E27FC236}">
                <a16:creationId xmlns:a16="http://schemas.microsoft.com/office/drawing/2014/main" id="{16A8AA86-1BB4-CFE8-DE0A-1000116FF640}"/>
              </a:ext>
            </a:extLst>
          </p:cNvPr>
          <p:cNvSpPr txBox="1"/>
          <p:nvPr/>
        </p:nvSpPr>
        <p:spPr>
          <a:xfrm>
            <a:off x="4599431" y="2678917"/>
            <a:ext cx="304800" cy="307777"/>
          </a:xfrm>
          <a:prstGeom prst="rect">
            <a:avLst/>
          </a:prstGeom>
          <a:noFill/>
        </p:spPr>
        <p:txBody>
          <a:bodyPr wrap="square" rtlCol="0">
            <a:spAutoFit/>
          </a:bodyPr>
          <a:lstStyle/>
          <a:p>
            <a:r>
              <a:rPr lang="zh-CN" altLang="en-US" sz="1400" b="1" dirty="0"/>
              <a:t>①</a:t>
            </a:r>
          </a:p>
        </p:txBody>
      </p:sp>
      <p:sp>
        <p:nvSpPr>
          <p:cNvPr id="7" name="文本框 6">
            <a:extLst>
              <a:ext uri="{FF2B5EF4-FFF2-40B4-BE49-F238E27FC236}">
                <a16:creationId xmlns:a16="http://schemas.microsoft.com/office/drawing/2014/main" id="{7217C182-09D4-6685-1A7C-F3FAA7C98B6C}"/>
              </a:ext>
            </a:extLst>
          </p:cNvPr>
          <p:cNvSpPr txBox="1"/>
          <p:nvPr/>
        </p:nvSpPr>
        <p:spPr>
          <a:xfrm>
            <a:off x="4599431" y="4874301"/>
            <a:ext cx="704850" cy="307777"/>
          </a:xfrm>
          <a:prstGeom prst="rect">
            <a:avLst/>
          </a:prstGeom>
          <a:noFill/>
        </p:spPr>
        <p:txBody>
          <a:bodyPr wrap="square" rtlCol="0">
            <a:spAutoFit/>
          </a:bodyPr>
          <a:lstStyle/>
          <a:p>
            <a:r>
              <a:rPr lang="zh-CN" altLang="en-US" sz="1400" b="1" dirty="0"/>
              <a:t>②</a:t>
            </a:r>
          </a:p>
        </p:txBody>
      </p:sp>
      <p:sp>
        <p:nvSpPr>
          <p:cNvPr id="8" name="文本框 7">
            <a:extLst>
              <a:ext uri="{FF2B5EF4-FFF2-40B4-BE49-F238E27FC236}">
                <a16:creationId xmlns:a16="http://schemas.microsoft.com/office/drawing/2014/main" id="{9FC36BDC-D62D-D2A9-2709-62B1A98B3ECE}"/>
              </a:ext>
            </a:extLst>
          </p:cNvPr>
          <p:cNvSpPr txBox="1"/>
          <p:nvPr/>
        </p:nvSpPr>
        <p:spPr>
          <a:xfrm>
            <a:off x="4599431" y="5446427"/>
            <a:ext cx="704850" cy="307777"/>
          </a:xfrm>
          <a:prstGeom prst="rect">
            <a:avLst/>
          </a:prstGeom>
          <a:noFill/>
        </p:spPr>
        <p:txBody>
          <a:bodyPr wrap="square" rtlCol="0">
            <a:spAutoFit/>
          </a:bodyPr>
          <a:lstStyle/>
          <a:p>
            <a:r>
              <a:rPr lang="zh-CN" altLang="en-US" sz="1400" b="1" dirty="0"/>
              <a:t>③</a:t>
            </a:r>
          </a:p>
        </p:txBody>
      </p:sp>
      <p:sp>
        <p:nvSpPr>
          <p:cNvPr id="9" name="文本框 8">
            <a:extLst>
              <a:ext uri="{FF2B5EF4-FFF2-40B4-BE49-F238E27FC236}">
                <a16:creationId xmlns:a16="http://schemas.microsoft.com/office/drawing/2014/main" id="{ED9C84AE-AAF1-5F31-E1EC-9A18558B03CE}"/>
              </a:ext>
            </a:extLst>
          </p:cNvPr>
          <p:cNvSpPr txBox="1"/>
          <p:nvPr/>
        </p:nvSpPr>
        <p:spPr>
          <a:xfrm>
            <a:off x="4599431" y="5984910"/>
            <a:ext cx="704850" cy="307777"/>
          </a:xfrm>
          <a:prstGeom prst="rect">
            <a:avLst/>
          </a:prstGeom>
          <a:noFill/>
        </p:spPr>
        <p:txBody>
          <a:bodyPr wrap="square" rtlCol="0">
            <a:spAutoFit/>
          </a:bodyPr>
          <a:lstStyle/>
          <a:p>
            <a:r>
              <a:rPr lang="zh-CN" altLang="en-US" sz="1400" b="1" dirty="0"/>
              <a:t>④</a:t>
            </a:r>
          </a:p>
        </p:txBody>
      </p:sp>
    </p:spTree>
    <p:extLst>
      <p:ext uri="{BB962C8B-B14F-4D97-AF65-F5344CB8AC3E}">
        <p14:creationId xmlns:p14="http://schemas.microsoft.com/office/powerpoint/2010/main" val="1364781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CD50A13-80AF-AA8B-7E58-FD6540D987AF}"/>
              </a:ext>
            </a:extLst>
          </p:cNvPr>
          <p:cNvPicPr>
            <a:picLocks noChangeAspect="1"/>
          </p:cNvPicPr>
          <p:nvPr/>
        </p:nvPicPr>
        <p:blipFill>
          <a:blip r:embed="rId2"/>
          <a:stretch>
            <a:fillRect/>
          </a:stretch>
        </p:blipFill>
        <p:spPr>
          <a:xfrm>
            <a:off x="1472190" y="1386143"/>
            <a:ext cx="9247619" cy="4085714"/>
          </a:xfrm>
          <a:prstGeom prst="rect">
            <a:avLst/>
          </a:prstGeom>
        </p:spPr>
      </p:pic>
    </p:spTree>
    <p:extLst>
      <p:ext uri="{BB962C8B-B14F-4D97-AF65-F5344CB8AC3E}">
        <p14:creationId xmlns:p14="http://schemas.microsoft.com/office/powerpoint/2010/main" val="28871474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注意力机制：自注意力机制</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四、注意力与正则化</a:t>
            </a:r>
            <a:endParaRPr lang="zh-CN" altLang="en-US" sz="1600" dirty="0">
              <a:solidFill>
                <a:srgbClr val="000000"/>
              </a:solidFill>
              <a:latin typeface="Times New Roman" panose="02020603050405020304" pitchFamily="18" charset="0"/>
            </a:endParaRPr>
          </a:p>
        </p:txBody>
      </p:sp>
      <p:pic>
        <p:nvPicPr>
          <p:cNvPr id="7" name="图片 6">
            <a:extLst>
              <a:ext uri="{FF2B5EF4-FFF2-40B4-BE49-F238E27FC236}">
                <a16:creationId xmlns:a16="http://schemas.microsoft.com/office/drawing/2014/main" id="{C8B33477-80FF-D4C4-1478-AC08C998359A}"/>
              </a:ext>
            </a:extLst>
          </p:cNvPr>
          <p:cNvPicPr>
            <a:picLocks noChangeAspect="1"/>
          </p:cNvPicPr>
          <p:nvPr/>
        </p:nvPicPr>
        <p:blipFill>
          <a:blip r:embed="rId3"/>
          <a:stretch>
            <a:fillRect/>
          </a:stretch>
        </p:blipFill>
        <p:spPr>
          <a:xfrm>
            <a:off x="2254199" y="1356366"/>
            <a:ext cx="8057143" cy="2457143"/>
          </a:xfrm>
          <a:prstGeom prst="rect">
            <a:avLst/>
          </a:prstGeom>
        </p:spPr>
      </p:pic>
      <p:pic>
        <p:nvPicPr>
          <p:cNvPr id="10" name="图片 9">
            <a:extLst>
              <a:ext uri="{FF2B5EF4-FFF2-40B4-BE49-F238E27FC236}">
                <a16:creationId xmlns:a16="http://schemas.microsoft.com/office/drawing/2014/main" id="{61617840-6359-936B-9AD0-9110726C9085}"/>
              </a:ext>
            </a:extLst>
          </p:cNvPr>
          <p:cNvPicPr>
            <a:picLocks noChangeAspect="1"/>
          </p:cNvPicPr>
          <p:nvPr/>
        </p:nvPicPr>
        <p:blipFill>
          <a:blip r:embed="rId4"/>
          <a:stretch>
            <a:fillRect/>
          </a:stretch>
        </p:blipFill>
        <p:spPr>
          <a:xfrm>
            <a:off x="170858" y="3853451"/>
            <a:ext cx="5588104" cy="2711971"/>
          </a:xfrm>
          <a:prstGeom prst="rect">
            <a:avLst/>
          </a:prstGeom>
        </p:spPr>
      </p:pic>
      <p:pic>
        <p:nvPicPr>
          <p:cNvPr id="13" name="图片 12">
            <a:extLst>
              <a:ext uri="{FF2B5EF4-FFF2-40B4-BE49-F238E27FC236}">
                <a16:creationId xmlns:a16="http://schemas.microsoft.com/office/drawing/2014/main" id="{BEAF06D1-3965-F6DF-1A9A-F4F5AE62D5D1}"/>
              </a:ext>
            </a:extLst>
          </p:cNvPr>
          <p:cNvPicPr>
            <a:picLocks noChangeAspect="1"/>
          </p:cNvPicPr>
          <p:nvPr/>
        </p:nvPicPr>
        <p:blipFill>
          <a:blip r:embed="rId5"/>
          <a:stretch>
            <a:fillRect/>
          </a:stretch>
        </p:blipFill>
        <p:spPr>
          <a:xfrm>
            <a:off x="6204126" y="3822205"/>
            <a:ext cx="4962105" cy="1483396"/>
          </a:xfrm>
          <a:prstGeom prst="rect">
            <a:avLst/>
          </a:prstGeom>
        </p:spPr>
      </p:pic>
      <p:pic>
        <p:nvPicPr>
          <p:cNvPr id="16" name="图片 15">
            <a:extLst>
              <a:ext uri="{FF2B5EF4-FFF2-40B4-BE49-F238E27FC236}">
                <a16:creationId xmlns:a16="http://schemas.microsoft.com/office/drawing/2014/main" id="{D3787ED0-0CD8-84C1-851E-4F5930EC1916}"/>
              </a:ext>
            </a:extLst>
          </p:cNvPr>
          <p:cNvPicPr>
            <a:picLocks noChangeAspect="1"/>
          </p:cNvPicPr>
          <p:nvPr/>
        </p:nvPicPr>
        <p:blipFill>
          <a:blip r:embed="rId6"/>
          <a:stretch>
            <a:fillRect/>
          </a:stretch>
        </p:blipFill>
        <p:spPr>
          <a:xfrm>
            <a:off x="6204126" y="5859799"/>
            <a:ext cx="4813169" cy="998201"/>
          </a:xfrm>
          <a:prstGeom prst="rect">
            <a:avLst/>
          </a:prstGeom>
        </p:spPr>
      </p:pic>
      <p:pic>
        <p:nvPicPr>
          <p:cNvPr id="18" name="图片 17">
            <a:extLst>
              <a:ext uri="{FF2B5EF4-FFF2-40B4-BE49-F238E27FC236}">
                <a16:creationId xmlns:a16="http://schemas.microsoft.com/office/drawing/2014/main" id="{3F78EB32-C540-5C11-859F-CFB1C633B4AC}"/>
              </a:ext>
            </a:extLst>
          </p:cNvPr>
          <p:cNvPicPr>
            <a:picLocks noChangeAspect="1"/>
          </p:cNvPicPr>
          <p:nvPr/>
        </p:nvPicPr>
        <p:blipFill>
          <a:blip r:embed="rId7"/>
          <a:stretch>
            <a:fillRect/>
          </a:stretch>
        </p:blipFill>
        <p:spPr>
          <a:xfrm>
            <a:off x="6096001" y="5314297"/>
            <a:ext cx="3285392" cy="442146"/>
          </a:xfrm>
          <a:prstGeom prst="rect">
            <a:avLst/>
          </a:prstGeom>
        </p:spPr>
      </p:pic>
    </p:spTree>
    <p:extLst>
      <p:ext uri="{BB962C8B-B14F-4D97-AF65-F5344CB8AC3E}">
        <p14:creationId xmlns:p14="http://schemas.microsoft.com/office/powerpoint/2010/main" val="1802566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注意力机制：自注意力机制</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四、注意力与正则化</a:t>
            </a:r>
            <a:endParaRPr lang="zh-CN" altLang="en-US" sz="1600" dirty="0">
              <a:solidFill>
                <a:srgbClr val="000000"/>
              </a:solidFill>
              <a:latin typeface="Times New Roman" panose="02020603050405020304" pitchFamily="18" charset="0"/>
            </a:endParaRPr>
          </a:p>
        </p:txBody>
      </p:sp>
      <p:pic>
        <p:nvPicPr>
          <p:cNvPr id="8" name="图片 7">
            <a:extLst>
              <a:ext uri="{FF2B5EF4-FFF2-40B4-BE49-F238E27FC236}">
                <a16:creationId xmlns:a16="http://schemas.microsoft.com/office/drawing/2014/main" id="{9C4F4F04-EDD3-40B1-8B9E-7F41C66C72AF}"/>
              </a:ext>
            </a:extLst>
          </p:cNvPr>
          <p:cNvPicPr>
            <a:picLocks noChangeAspect="1"/>
          </p:cNvPicPr>
          <p:nvPr/>
        </p:nvPicPr>
        <p:blipFill>
          <a:blip r:embed="rId3"/>
          <a:stretch>
            <a:fillRect/>
          </a:stretch>
        </p:blipFill>
        <p:spPr>
          <a:xfrm>
            <a:off x="171948" y="1662854"/>
            <a:ext cx="6184114" cy="2788769"/>
          </a:xfrm>
          <a:prstGeom prst="rect">
            <a:avLst/>
          </a:prstGeom>
        </p:spPr>
      </p:pic>
      <p:sp>
        <p:nvSpPr>
          <p:cNvPr id="9" name="文本框 8">
            <a:extLst>
              <a:ext uri="{FF2B5EF4-FFF2-40B4-BE49-F238E27FC236}">
                <a16:creationId xmlns:a16="http://schemas.microsoft.com/office/drawing/2014/main" id="{3C6011C8-8CBA-00A2-C040-49A38C7481E9}"/>
              </a:ext>
            </a:extLst>
          </p:cNvPr>
          <p:cNvSpPr txBox="1"/>
          <p:nvPr/>
        </p:nvSpPr>
        <p:spPr>
          <a:xfrm>
            <a:off x="2083777" y="1254816"/>
            <a:ext cx="2751992" cy="369332"/>
          </a:xfrm>
          <a:prstGeom prst="rect">
            <a:avLst/>
          </a:prstGeom>
          <a:noFill/>
        </p:spPr>
        <p:txBody>
          <a:bodyPr wrap="square" rtlCol="0">
            <a:spAutoFit/>
          </a:bodyPr>
          <a:lstStyle/>
          <a:p>
            <a:r>
              <a:rPr lang="zh-CN" altLang="en-US" dirty="0"/>
              <a:t>和当前世界最佳方法比较</a:t>
            </a:r>
          </a:p>
        </p:txBody>
      </p:sp>
      <p:pic>
        <p:nvPicPr>
          <p:cNvPr id="12" name="图片 11">
            <a:extLst>
              <a:ext uri="{FF2B5EF4-FFF2-40B4-BE49-F238E27FC236}">
                <a16:creationId xmlns:a16="http://schemas.microsoft.com/office/drawing/2014/main" id="{6B5E3140-878E-1AED-6079-247A95EC7CED}"/>
              </a:ext>
            </a:extLst>
          </p:cNvPr>
          <p:cNvPicPr>
            <a:picLocks noChangeAspect="1"/>
          </p:cNvPicPr>
          <p:nvPr/>
        </p:nvPicPr>
        <p:blipFill>
          <a:blip r:embed="rId4"/>
          <a:stretch>
            <a:fillRect/>
          </a:stretch>
        </p:blipFill>
        <p:spPr>
          <a:xfrm>
            <a:off x="6528407" y="1662854"/>
            <a:ext cx="5059344" cy="3936359"/>
          </a:xfrm>
          <a:prstGeom prst="rect">
            <a:avLst/>
          </a:prstGeom>
        </p:spPr>
      </p:pic>
      <p:sp>
        <p:nvSpPr>
          <p:cNvPr id="14" name="文本框 13">
            <a:extLst>
              <a:ext uri="{FF2B5EF4-FFF2-40B4-BE49-F238E27FC236}">
                <a16:creationId xmlns:a16="http://schemas.microsoft.com/office/drawing/2014/main" id="{873570E7-87E8-E555-FE1B-34281ABAB627}"/>
              </a:ext>
            </a:extLst>
          </p:cNvPr>
          <p:cNvSpPr txBox="1"/>
          <p:nvPr/>
        </p:nvSpPr>
        <p:spPr>
          <a:xfrm>
            <a:off x="8435290" y="1293522"/>
            <a:ext cx="1245577" cy="369332"/>
          </a:xfrm>
          <a:prstGeom prst="rect">
            <a:avLst/>
          </a:prstGeom>
          <a:noFill/>
        </p:spPr>
        <p:txBody>
          <a:bodyPr wrap="square" rtlCol="0">
            <a:spAutoFit/>
          </a:bodyPr>
          <a:lstStyle/>
          <a:p>
            <a:r>
              <a:rPr lang="zh-CN" altLang="en-US" dirty="0"/>
              <a:t>消融实验</a:t>
            </a:r>
          </a:p>
        </p:txBody>
      </p:sp>
      <p:pic>
        <p:nvPicPr>
          <p:cNvPr id="17" name="图片 16">
            <a:extLst>
              <a:ext uri="{FF2B5EF4-FFF2-40B4-BE49-F238E27FC236}">
                <a16:creationId xmlns:a16="http://schemas.microsoft.com/office/drawing/2014/main" id="{C8C74CDA-F83B-9CC9-CAD5-67A6D5A8ADAB}"/>
              </a:ext>
            </a:extLst>
          </p:cNvPr>
          <p:cNvPicPr>
            <a:picLocks noChangeAspect="1"/>
          </p:cNvPicPr>
          <p:nvPr/>
        </p:nvPicPr>
        <p:blipFill>
          <a:blip r:embed="rId5"/>
          <a:stretch>
            <a:fillRect/>
          </a:stretch>
        </p:blipFill>
        <p:spPr>
          <a:xfrm>
            <a:off x="604249" y="4814209"/>
            <a:ext cx="4918954" cy="2043791"/>
          </a:xfrm>
          <a:prstGeom prst="rect">
            <a:avLst/>
          </a:prstGeom>
        </p:spPr>
      </p:pic>
      <p:sp>
        <p:nvSpPr>
          <p:cNvPr id="19" name="文本框 18">
            <a:extLst>
              <a:ext uri="{FF2B5EF4-FFF2-40B4-BE49-F238E27FC236}">
                <a16:creationId xmlns:a16="http://schemas.microsoft.com/office/drawing/2014/main" id="{D5F27303-3B34-209D-F860-8C9B7F0B65C6}"/>
              </a:ext>
            </a:extLst>
          </p:cNvPr>
          <p:cNvSpPr txBox="1"/>
          <p:nvPr/>
        </p:nvSpPr>
        <p:spPr>
          <a:xfrm>
            <a:off x="2648984" y="4444877"/>
            <a:ext cx="1509778" cy="369332"/>
          </a:xfrm>
          <a:prstGeom prst="rect">
            <a:avLst/>
          </a:prstGeom>
          <a:noFill/>
        </p:spPr>
        <p:txBody>
          <a:bodyPr wrap="square" rtlCol="0">
            <a:spAutoFit/>
          </a:bodyPr>
          <a:lstStyle/>
          <a:p>
            <a:r>
              <a:rPr lang="zh-CN" altLang="en-US" dirty="0"/>
              <a:t>泛化性实验</a:t>
            </a:r>
          </a:p>
        </p:txBody>
      </p:sp>
    </p:spTree>
    <p:extLst>
      <p:ext uri="{BB962C8B-B14F-4D97-AF65-F5344CB8AC3E}">
        <p14:creationId xmlns:p14="http://schemas.microsoft.com/office/powerpoint/2010/main" val="1279350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19"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89049CE-E74D-EE61-2AC8-A05E13F4EDAA}"/>
              </a:ext>
            </a:extLst>
          </p:cNvPr>
          <p:cNvPicPr>
            <a:picLocks noChangeAspect="1"/>
          </p:cNvPicPr>
          <p:nvPr/>
        </p:nvPicPr>
        <p:blipFill>
          <a:blip r:embed="rId2"/>
          <a:stretch>
            <a:fillRect/>
          </a:stretch>
        </p:blipFill>
        <p:spPr>
          <a:xfrm>
            <a:off x="3253143" y="243285"/>
            <a:ext cx="5685714" cy="6371429"/>
          </a:xfrm>
          <a:prstGeom prst="rect">
            <a:avLst/>
          </a:prstGeom>
        </p:spPr>
      </p:pic>
      <p:sp>
        <p:nvSpPr>
          <p:cNvPr id="5" name="文本框 4">
            <a:extLst>
              <a:ext uri="{FF2B5EF4-FFF2-40B4-BE49-F238E27FC236}">
                <a16:creationId xmlns:a16="http://schemas.microsoft.com/office/drawing/2014/main" id="{E9B20020-3081-01C7-AD5E-6FD8AA4E7D86}"/>
              </a:ext>
            </a:extLst>
          </p:cNvPr>
          <p:cNvSpPr txBox="1"/>
          <p:nvPr/>
        </p:nvSpPr>
        <p:spPr>
          <a:xfrm>
            <a:off x="103310" y="3042082"/>
            <a:ext cx="3053128" cy="923330"/>
          </a:xfrm>
          <a:prstGeom prst="rect">
            <a:avLst/>
          </a:prstGeom>
          <a:noFill/>
        </p:spPr>
        <p:txBody>
          <a:bodyPr wrap="square">
            <a:spAutoFit/>
          </a:bodyPr>
          <a:lstStyle/>
          <a:p>
            <a:pPr algn="ctr"/>
            <a:r>
              <a:rPr lang="en-US"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多头</a:t>
            </a:r>
            <a:r>
              <a:rPr lang="en-US"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注意力</a:t>
            </a:r>
            <a:endParaRPr lang="en-US"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multi-head attention</a:t>
            </a:r>
            <a:r>
              <a:rPr lang="zh-CN"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80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可视化结果</a:t>
            </a:r>
            <a:endParaRPr lang="zh-CN" altLang="en-US" dirty="0"/>
          </a:p>
        </p:txBody>
      </p:sp>
    </p:spTree>
    <p:extLst>
      <p:ext uri="{BB962C8B-B14F-4D97-AF65-F5344CB8AC3E}">
        <p14:creationId xmlns:p14="http://schemas.microsoft.com/office/powerpoint/2010/main" val="25148616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神经网络正则化</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四、注意力与正则化</a:t>
            </a:r>
            <a:endParaRPr lang="zh-CN" altLang="en-US" sz="1600" dirty="0">
              <a:solidFill>
                <a:srgbClr val="000000"/>
              </a:solidFill>
              <a:latin typeface="Times New Roman" panose="02020603050405020304" pitchFamily="18" charset="0"/>
            </a:endParaRPr>
          </a:p>
        </p:txBody>
      </p:sp>
      <p:sp>
        <p:nvSpPr>
          <p:cNvPr id="7" name="矩形 6">
            <a:extLst>
              <a:ext uri="{FF2B5EF4-FFF2-40B4-BE49-F238E27FC236}">
                <a16:creationId xmlns:a16="http://schemas.microsoft.com/office/drawing/2014/main" id="{3FD7629A-C409-49AA-B315-866790FB6A8D}"/>
              </a:ext>
            </a:extLst>
          </p:cNvPr>
          <p:cNvSpPr/>
          <p:nvPr/>
        </p:nvSpPr>
        <p:spPr>
          <a:xfrm>
            <a:off x="1608406" y="1514200"/>
            <a:ext cx="9312812" cy="584775"/>
          </a:xfrm>
          <a:prstGeom prst="rect">
            <a:avLst/>
          </a:prstGeom>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rPr>
              <a:t>深度神经网络结构复杂、参数众多，很容易造成过拟合（</a:t>
            </a:r>
            <a:r>
              <a:rPr lang="en-US" altLang="zh-CN" sz="1600" dirty="0">
                <a:latin typeface="微软雅黑" panose="020B0503020204020204" pitchFamily="34" charset="-122"/>
                <a:ea typeface="微软雅黑" panose="020B0503020204020204" pitchFamily="34" charset="-122"/>
              </a:rPr>
              <a:t>over-fitting</a:t>
            </a:r>
            <a:r>
              <a:rPr lang="zh-CN" altLang="en-US" sz="1600" dirty="0">
                <a:latin typeface="微软雅黑" panose="020B0503020204020204" pitchFamily="34" charset="-122"/>
                <a:ea typeface="微软雅黑" panose="020B0503020204020204" pitchFamily="34" charset="-122"/>
              </a:rPr>
              <a:t>）。为了缓解神经网络在训练过程中出现的过拟合现象，需要采取一些正则化技术来提升神经网络的泛化能力（</a:t>
            </a:r>
            <a:r>
              <a:rPr lang="en-US" altLang="zh-CN" sz="1600" dirty="0">
                <a:latin typeface="微软雅黑" panose="020B0503020204020204" pitchFamily="34" charset="-122"/>
                <a:ea typeface="微软雅黑" panose="020B0503020204020204" pitchFamily="34" charset="-122"/>
              </a:rPr>
              <a:t>generalization</a:t>
            </a:r>
            <a:r>
              <a:rPr lang="zh-CN" altLang="en-US" sz="1600" dirty="0">
                <a:latin typeface="微软雅黑" panose="020B0503020204020204" pitchFamily="34" charset="-122"/>
                <a:ea typeface="微软雅黑" panose="020B0503020204020204" pitchFamily="34" charset="-122"/>
              </a:rPr>
              <a:t>）。</a:t>
            </a:r>
          </a:p>
        </p:txBody>
      </p:sp>
      <p:sp>
        <p:nvSpPr>
          <p:cNvPr id="10" name="矩形: 圆角 6">
            <a:extLst>
              <a:ext uri="{FF2B5EF4-FFF2-40B4-BE49-F238E27FC236}">
                <a16:creationId xmlns:a16="http://schemas.microsoft.com/office/drawing/2014/main" id="{3BEEA551-1D76-4786-B93E-9E7A88ED4DC4}"/>
              </a:ext>
            </a:extLst>
          </p:cNvPr>
          <p:cNvSpPr/>
          <p:nvPr/>
        </p:nvSpPr>
        <p:spPr>
          <a:xfrm>
            <a:off x="707590" y="2459386"/>
            <a:ext cx="5515502" cy="3671666"/>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FF2BF4FA-36AE-4B45-B28B-355FD2B1DC46}"/>
              </a:ext>
            </a:extLst>
          </p:cNvPr>
          <p:cNvSpPr/>
          <p:nvPr/>
        </p:nvSpPr>
        <p:spPr>
          <a:xfrm>
            <a:off x="707590" y="2610831"/>
            <a:ext cx="5341518" cy="3285771"/>
          </a:xfrm>
          <a:prstGeom prst="rect">
            <a:avLst/>
          </a:prstGeom>
        </p:spPr>
        <p:txBody>
          <a:bodyPr wrap="square">
            <a:spAutoFit/>
          </a:bodyPr>
          <a:lstStyle/>
          <a:p>
            <a:pPr marL="342900" indent="-342900">
              <a:lnSpc>
                <a:spcPct val="150000"/>
              </a:lnSpc>
              <a:buClr>
                <a:schemeClr val="bg1"/>
              </a:buClr>
              <a:buSzPct val="80000"/>
              <a:buFont typeface="Wingdings" panose="05000000000000000000" pitchFamily="2" charset="2"/>
              <a:buChar char="u"/>
            </a:pPr>
            <a:r>
              <a:rPr lang="en-US" altLang="zh-CN"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Dropout</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：指在训练神经网络的过程中随机丢掉一部分神经元来降低神经网络的复杂度，从而防止过拟合。</a:t>
            </a:r>
            <a:r>
              <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Dropout</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的实现方法很简单：在每次迭代训练中，以一定概率随机屏蔽每一层中的若干神经元，用余下神经元构成的网络继续训练。</a:t>
            </a:r>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zh-CN" altLang="en-US"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批归一化</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：批归一化（</a:t>
            </a:r>
            <a:r>
              <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batch normalization</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）就是通过规范化手段，把神经网络每层中任意神经元的输入值分布改变成均值为</a:t>
            </a:r>
            <a:r>
              <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、方差为</a:t>
            </a:r>
            <a:r>
              <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的标准正态分布，把偏移较大的分布强制映射为标准正态分布。经过批归一化处理，激活函数的输入值被映射到非线性函数梯度较大的区域，使得梯度变大从而克服梯度消失问题，进而加快收敛速度。</a:t>
            </a:r>
            <a:endParaRPr lang="en-US" altLang="zh-CN" sz="14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图片 8">
            <a:extLst>
              <a:ext uri="{FF2B5EF4-FFF2-40B4-BE49-F238E27FC236}">
                <a16:creationId xmlns:a16="http://schemas.microsoft.com/office/drawing/2014/main" id="{A9214A51-F0B1-41AE-BE2E-3CC671C74A8E}"/>
              </a:ext>
            </a:extLst>
          </p:cNvPr>
          <p:cNvPicPr>
            <a:picLocks noChangeAspect="1"/>
          </p:cNvPicPr>
          <p:nvPr/>
        </p:nvPicPr>
        <p:blipFill>
          <a:blip r:embed="rId3"/>
          <a:stretch>
            <a:fillRect/>
          </a:stretch>
        </p:blipFill>
        <p:spPr>
          <a:xfrm>
            <a:off x="6348375" y="2507660"/>
            <a:ext cx="2935742" cy="3623392"/>
          </a:xfrm>
          <a:prstGeom prst="rect">
            <a:avLst/>
          </a:prstGeom>
        </p:spPr>
      </p:pic>
      <p:pic>
        <p:nvPicPr>
          <p:cNvPr id="8" name="图片 7">
            <a:extLst>
              <a:ext uri="{FF2B5EF4-FFF2-40B4-BE49-F238E27FC236}">
                <a16:creationId xmlns:a16="http://schemas.microsoft.com/office/drawing/2014/main" id="{F11B1089-BA45-1CAF-5BD1-8CF495ED768E}"/>
              </a:ext>
            </a:extLst>
          </p:cNvPr>
          <p:cNvPicPr>
            <a:picLocks noChangeAspect="1"/>
          </p:cNvPicPr>
          <p:nvPr/>
        </p:nvPicPr>
        <p:blipFill>
          <a:blip r:embed="rId4"/>
          <a:stretch>
            <a:fillRect/>
          </a:stretch>
        </p:blipFill>
        <p:spPr>
          <a:xfrm>
            <a:off x="9136517" y="2943800"/>
            <a:ext cx="3002048" cy="2143105"/>
          </a:xfrm>
          <a:prstGeom prst="rect">
            <a:avLst/>
          </a:prstGeom>
        </p:spPr>
      </p:pic>
      <p:sp>
        <p:nvSpPr>
          <p:cNvPr id="15" name="文本框 14">
            <a:extLst>
              <a:ext uri="{FF2B5EF4-FFF2-40B4-BE49-F238E27FC236}">
                <a16:creationId xmlns:a16="http://schemas.microsoft.com/office/drawing/2014/main" id="{DC528047-F930-88A6-25F6-9AA2576F8F62}"/>
              </a:ext>
            </a:extLst>
          </p:cNvPr>
          <p:cNvSpPr txBox="1"/>
          <p:nvPr/>
        </p:nvSpPr>
        <p:spPr>
          <a:xfrm>
            <a:off x="10214463" y="5086905"/>
            <a:ext cx="1171575" cy="369332"/>
          </a:xfrm>
          <a:prstGeom prst="rect">
            <a:avLst/>
          </a:prstGeom>
          <a:noFill/>
        </p:spPr>
        <p:txBody>
          <a:bodyPr wrap="square">
            <a:spAutoFit/>
          </a:bodyPr>
          <a:lstStyle/>
          <a:p>
            <a:r>
              <a:rPr lang="zh-CN" altLang="en-US" dirty="0"/>
              <a:t>批归一化</a:t>
            </a:r>
          </a:p>
        </p:txBody>
      </p:sp>
    </p:spTree>
    <p:extLst>
      <p:ext uri="{BB962C8B-B14F-4D97-AF65-F5344CB8AC3E}">
        <p14:creationId xmlns:p14="http://schemas.microsoft.com/office/powerpoint/2010/main" val="4102224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神经网络正则化</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2031325"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四、注意力与正则化</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786499CD-1870-4D78-BFC1-704468D000D7}"/>
                  </a:ext>
                </a:extLst>
              </p:cNvPr>
              <p:cNvSpPr/>
              <p:nvPr/>
            </p:nvSpPr>
            <p:spPr>
              <a:xfrm>
                <a:off x="518160" y="1258598"/>
                <a:ext cx="11155680" cy="5618461"/>
              </a:xfrm>
              <a:prstGeom prst="rect">
                <a:avLst/>
              </a:prstGeom>
            </p:spPr>
            <p:txBody>
              <a:bodyPr wrap="square">
                <a:spAutoFit/>
              </a:bodyPr>
              <a:lstStyle/>
              <a:p>
                <a:pPr indent="266700" algn="just">
                  <a:lnSpc>
                    <a:spcPct val="150000"/>
                  </a:lnSpc>
                  <a:spcAft>
                    <a:spcPts val="0"/>
                  </a:spcAft>
                </a:pPr>
                <a:r>
                  <a:rPr lang="en-US" altLang="zh-CN" sz="1400" dirty="0">
                    <a:solidFill>
                      <a:srgbClr val="000000"/>
                    </a:solidFill>
                    <a:latin typeface="Times New Roman" panose="02020603050405020304" pitchFamily="18" charset="0"/>
                    <a:ea typeface="楷体_GB2312"/>
                    <a:cs typeface="Times New Roman" panose="02020603050405020304" pitchFamily="18" charset="0"/>
                  </a:rPr>
                  <a:t> </a:t>
                </a:r>
                <a:endParaRPr lang="zh-CN" altLang="zh-CN" sz="1400" dirty="0">
                  <a:solidFill>
                    <a:srgbClr val="000000"/>
                  </a:solidFill>
                  <a:latin typeface="Times New Roman" panose="02020603050405020304" pitchFamily="18" charset="0"/>
                  <a:ea typeface="楷体_GB2312"/>
                  <a:cs typeface="Times New Roman" panose="02020603050405020304" pitchFamily="18" charset="0"/>
                </a:endParaRPr>
              </a:p>
              <a:p>
                <a:pPr algn="just">
                  <a:lnSpc>
                    <a:spcPct val="150000"/>
                  </a:lnSpc>
                  <a:spcAft>
                    <a:spcPts val="600"/>
                  </a:spcAft>
                </a:pPr>
                <a14:m>
                  <m:oMath xmlns:m="http://schemas.openxmlformats.org/officeDocument/2006/math">
                    <m:sSub>
                      <m:sSubPr>
                        <m:ctrlPr>
                          <a:rPr lang="zh-CN" altLang="zh-CN"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latin typeface="Cambria Math" panose="02040503050406030204" pitchFamily="18" charset="0"/>
                            <a:ea typeface="Cambria Math" panose="02040503050406030204" pitchFamily="18" charset="0"/>
                            <a:cs typeface="Times New Roman" panose="02020603050405020304" pitchFamily="18" charset="0"/>
                          </a:rPr>
                          <m:t>𝑳</m:t>
                        </m:r>
                      </m:e>
                      <m:sub>
                        <m:r>
                          <a:rPr lang="en-US" altLang="zh-CN" sz="1600" b="1" i="1" kern="100">
                            <a:latin typeface="Cambria Math" panose="02040503050406030204" pitchFamily="18" charset="0"/>
                            <a:ea typeface="Cambria Math" panose="02040503050406030204" pitchFamily="18" charset="0"/>
                            <a:cs typeface="Times New Roman" panose="02020603050405020304" pitchFamily="18" charset="0"/>
                          </a:rPr>
                          <m:t>𝟏</m:t>
                        </m:r>
                      </m:sub>
                    </m:sSub>
                  </m:oMath>
                </a14:m>
                <a:r>
                  <a:rPr lang="zh-CN" altLang="zh-CN" sz="1600" b="1" kern="100" dirty="0">
                    <a:effectLst/>
                    <a:latin typeface="Times New Roman" panose="02020603050405020304" pitchFamily="18" charset="0"/>
                    <a:ea typeface="楷体_GB2312"/>
                    <a:cs typeface="Times New Roman" panose="02020603050405020304" pitchFamily="18" charset="0"/>
                  </a:rPr>
                  <a:t>和</a:t>
                </a:r>
                <a14:m>
                  <m:oMath xmlns:m="http://schemas.openxmlformats.org/officeDocument/2006/math">
                    <m:sSub>
                      <m:sSubPr>
                        <m:ctrlPr>
                          <a:rPr lang="zh-CN" altLang="zh-CN" sz="1600" b="1"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kern="100">
                            <a:latin typeface="Cambria Math" panose="02040503050406030204" pitchFamily="18" charset="0"/>
                            <a:ea typeface="Cambria Math" panose="02040503050406030204" pitchFamily="18" charset="0"/>
                            <a:cs typeface="Times New Roman" panose="02020603050405020304" pitchFamily="18" charset="0"/>
                          </a:rPr>
                          <m:t>𝑳</m:t>
                        </m:r>
                      </m:e>
                      <m:sub>
                        <m:r>
                          <a:rPr lang="en-US" altLang="zh-CN" sz="1600" b="1" i="1" kern="100">
                            <a:latin typeface="Cambria Math" panose="02040503050406030204" pitchFamily="18" charset="0"/>
                            <a:ea typeface="等线" panose="02010600030101010101" pitchFamily="2" charset="-122"/>
                            <a:cs typeface="Times New Roman" panose="02020603050405020304" pitchFamily="18" charset="0"/>
                          </a:rPr>
                          <m:t>𝟐</m:t>
                        </m:r>
                      </m:sub>
                    </m:sSub>
                  </m:oMath>
                </a14:m>
                <a:r>
                  <a:rPr lang="zh-CN" altLang="zh-CN" sz="1600" b="1" kern="100" dirty="0">
                    <a:effectLst/>
                    <a:latin typeface="Times New Roman" panose="02020603050405020304" pitchFamily="18" charset="0"/>
                    <a:ea typeface="楷体_GB2312"/>
                    <a:cs typeface="Times New Roman" panose="02020603050405020304" pitchFamily="18" charset="0"/>
                  </a:rPr>
                  <a:t>正则化</a:t>
                </a:r>
                <a:r>
                  <a:rPr lang="zh-CN" altLang="en-US" sz="16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对于具有</a:t>
                </a:r>
                <a14:m>
                  <m:oMath xmlns:m="http://schemas.openxmlformats.org/officeDocument/2006/math">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𝑛</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个训练数据</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sz="1600">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e>
                    </m:d>
                    <m:r>
                      <a:rPr lang="en-US" altLang="zh-CN" sz="1600">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sub>
                    </m:sSub>
                    <m:r>
                      <a:rPr lang="en-US" altLang="zh-CN" sz="1600">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sub>
                    </m:sSub>
                    <m:r>
                      <a:rPr lang="en-US" altLang="zh-CN" sz="1600">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的神经网络，其中</a:t>
                </a:r>
                <a14:m>
                  <m:oMath xmlns:m="http://schemas.openxmlformats.org/officeDocument/2006/math">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600">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e>
                    </m:d>
                    <m:r>
                      <a:rPr lang="en-US" altLang="zh-CN" sz="1600" i="1">
                        <a:solidFill>
                          <a:srgbClr val="000000"/>
                        </a:solidFill>
                        <a:latin typeface="Cambria Math" panose="02040503050406030204" pitchFamily="18" charset="0"/>
                        <a:ea typeface="楷体_GB2312"/>
                        <a:cs typeface="Times New Roman" panose="02020603050405020304" pitchFamily="18" charset="0"/>
                      </a:rPr>
                      <m:t>(1≤</m:t>
                    </m:r>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𝑛</m:t>
                    </m:r>
                    <m:r>
                      <a:rPr lang="en-US" altLang="zh-CN" sz="1600">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分别为输入样本及其对应的标签。加入正则化项后，神经网络的损失函数一般可如下表示：</a:t>
                </a:r>
              </a:p>
              <a:p>
                <a:pPr algn="just">
                  <a:lnSpc>
                    <a:spcPct val="150000"/>
                  </a:lnSpc>
                  <a:spcAft>
                    <a:spcPts val="600"/>
                  </a:spcAft>
                </a:pPr>
                <a14:m>
                  <m:oMathPara xmlns:m="http://schemas.openxmlformats.org/officeDocument/2006/math">
                    <m:oMathParaPr>
                      <m:jc m:val="centerGroup"/>
                    </m:oMathParaPr>
                    <m:oMath xmlns:m="http://schemas.openxmlformats.org/officeDocument/2006/math">
                      <m:func>
                        <m:func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600" kern="100">
                              <a:latin typeface="Cambria Math" panose="02040503050406030204" pitchFamily="18" charset="0"/>
                              <a:ea typeface="华文楷体" panose="02010600040101010101" pitchFamily="2" charset="-122"/>
                              <a:cs typeface="Times New Roman" panose="02020603050405020304" pitchFamily="18" charset="0"/>
                            </a:rPr>
                            <m:t>min</m:t>
                          </m:r>
                        </m:fName>
                        <m:e>
                          <m:f>
                            <m:f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1</m:t>
                              </m:r>
                            </m:num>
                            <m:den>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𝑛</m:t>
                              </m:r>
                            </m:den>
                          </m:f>
                        </m:e>
                      </m:func>
                      <m:nary>
                        <m:naryPr>
                          <m:chr m:val="∑"/>
                          <m:limLoc m:val="subSup"/>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𝑖</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=1</m:t>
                          </m:r>
                        </m:sub>
                        <m:sup>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𝑛</m:t>
                          </m:r>
                        </m:sup>
                        <m:e>
                          <m:limLow>
                            <m:limLow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𝐿𝑜𝑠𝑠</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𝑦</m:t>
                                          </m:r>
                                        </m:e>
                                        <m:sub>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𝑖</m:t>
                                          </m:r>
                                        </m:sub>
                                      </m:sSub>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𝑓</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b="1" i="1" kern="100">
                                              <a:latin typeface="Cambria Math" panose="02040503050406030204" pitchFamily="18" charset="0"/>
                                              <a:ea typeface="华文楷体" panose="02010600040101010101" pitchFamily="2" charset="-122"/>
                                              <a:cs typeface="Times New Roman" panose="02020603050405020304" pitchFamily="18" charset="0"/>
                                            </a:rPr>
                                            <m:t>𝑾</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𝑥</m:t>
                                              </m:r>
                                            </m:e>
                                            <m:sub>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𝑖</m:t>
                                              </m:r>
                                            </m:sub>
                                          </m:sSub>
                                        </m:e>
                                      </m:d>
                                    </m:e>
                                  </m:d>
                                </m:e>
                              </m:groupChr>
                            </m:e>
                            <m:lim>
                              <m:r>
                                <a:rPr lang="zh-CN" altLang="zh-CN" sz="1600" kern="100">
                                  <a:latin typeface="Cambria Math" panose="02040503050406030204" pitchFamily="18" charset="0"/>
                                  <a:ea typeface="华文楷体" panose="02010600040101010101" pitchFamily="2" charset="-122"/>
                                  <a:cs typeface="Times New Roman" panose="02020603050405020304" pitchFamily="18" charset="0"/>
                                </a:rPr>
                                <m:t>损失函数</m:t>
                              </m:r>
                            </m:lim>
                          </m:limLow>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limLow>
                            <m:limLow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groupChrPr>
                                <m:e>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𝜆</m:t>
                                  </m:r>
                                </m:e>
                              </m:groupChr>
                            </m:e>
                            <m:lim>
                              <m:r>
                                <a:rPr lang="zh-CN" altLang="zh-CN" sz="1600" kern="100">
                                  <a:latin typeface="Cambria Math" panose="02040503050406030204" pitchFamily="18" charset="0"/>
                                  <a:ea typeface="华文楷体" panose="02010600040101010101" pitchFamily="2" charset="-122"/>
                                  <a:cs typeface="Times New Roman" panose="02020603050405020304" pitchFamily="18" charset="0"/>
                                </a:rPr>
                                <m:t>正则化权重</m:t>
                              </m:r>
                            </m:lim>
                          </m:limLow>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limLow>
                            <m:limLow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groupChrPr>
                                <m:e>
                                  <m:r>
                                    <m:rPr>
                                      <m:sty m:val="p"/>
                                    </m:rPr>
                                    <a:rPr lang="en-US" altLang="zh-CN" sz="1600" kern="100">
                                      <a:latin typeface="Cambria Math" panose="02040503050406030204" pitchFamily="18" charset="0"/>
                                      <a:ea typeface="华文楷体" panose="02010600040101010101" pitchFamily="2" charset="-122"/>
                                      <a:cs typeface="Times New Roman" panose="02020603050405020304" pitchFamily="18" charset="0"/>
                                    </a:rPr>
                                    <m:t>Φ</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r>
                                    <a:rPr lang="en-US" altLang="zh-CN" sz="1600" b="1" i="1" kern="100">
                                      <a:latin typeface="Cambria Math" panose="02040503050406030204" pitchFamily="18" charset="0"/>
                                      <a:ea typeface="华文楷体" panose="02010600040101010101" pitchFamily="2" charset="-122"/>
                                      <a:cs typeface="Times New Roman" panose="02020603050405020304" pitchFamily="18" charset="0"/>
                                    </a:rPr>
                                    <m:t>𝑾</m:t>
                                  </m:r>
                                  <m:r>
                                    <a:rPr lang="en-US" altLang="zh-CN" sz="1600" i="1" kern="100">
                                      <a:latin typeface="Cambria Math" panose="02040503050406030204" pitchFamily="18" charset="0"/>
                                      <a:ea typeface="华文楷体" panose="02010600040101010101" pitchFamily="2" charset="-122"/>
                                      <a:cs typeface="Times New Roman" panose="02020603050405020304" pitchFamily="18" charset="0"/>
                                    </a:rPr>
                                    <m:t>)</m:t>
                                  </m:r>
                                </m:e>
                              </m:groupChr>
                            </m:e>
                            <m:lim>
                              <m:r>
                                <a:rPr lang="zh-CN" altLang="zh-CN" sz="1600" kern="100">
                                  <a:latin typeface="Cambria Math" panose="02040503050406030204" pitchFamily="18" charset="0"/>
                                  <a:ea typeface="华文楷体" panose="02010600040101010101" pitchFamily="2" charset="-122"/>
                                  <a:cs typeface="Times New Roman" panose="02020603050405020304" pitchFamily="18" charset="0"/>
                                </a:rPr>
                                <m:t>正则化项</m:t>
                              </m:r>
                            </m:lim>
                          </m:limLow>
                        </m:e>
                      </m:nary>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b="1" i="1">
                            <a:solidFill>
                              <a:srgbClr val="000000"/>
                            </a:solidFill>
                            <a:latin typeface="Cambria Math" panose="02040503050406030204" pitchFamily="18" charset="0"/>
                            <a:ea typeface="楷体_GB2312"/>
                            <a:cs typeface="Times New Roman" panose="02020603050405020304" pitchFamily="18" charset="0"/>
                          </a:rPr>
                          <m:t>𝑾</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e>
                    </m:d>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表示参数为</a:t>
                </a:r>
                <a14:m>
                  <m:oMath xmlns:m="http://schemas.openxmlformats.org/officeDocument/2006/math">
                    <m:r>
                      <a:rPr lang="en-US" altLang="zh-CN" sz="1600" b="1" i="1">
                        <a:solidFill>
                          <a:srgbClr val="000000"/>
                        </a:solidFill>
                        <a:latin typeface="Cambria Math" panose="02040503050406030204" pitchFamily="18" charset="0"/>
                        <a:ea typeface="楷体_GB2312"/>
                        <a:cs typeface="Times New Roman" panose="02020603050405020304" pitchFamily="18" charset="0"/>
                      </a:rPr>
                      <m:t>𝑾</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的神经网络对输入</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的预测、</a:t>
                </a:r>
                <a14:m>
                  <m:oMath xmlns:m="http://schemas.openxmlformats.org/officeDocument/2006/math">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Φ</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𝑾</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为正则化项（又称惩罚项）、</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𝜆</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为正则项权重。</a:t>
                </a: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正则化项</a:t>
                </a:r>
                <a14:m>
                  <m:oMath xmlns:m="http://schemas.openxmlformats.org/officeDocument/2006/math">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Φ</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b="1" i="1">
                        <a:solidFill>
                          <a:srgbClr val="000000"/>
                        </a:solidFill>
                        <a:latin typeface="Cambria Math" panose="02040503050406030204" pitchFamily="18" charset="0"/>
                        <a:ea typeface="楷体_GB2312"/>
                        <a:cs typeface="Times New Roman" panose="02020603050405020304" pitchFamily="18" charset="0"/>
                      </a:rPr>
                      <m:t>𝑾</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一般用模型参数</a:t>
                </a:r>
                <a14:m>
                  <m:oMath xmlns:m="http://schemas.openxmlformats.org/officeDocument/2006/math">
                    <m:r>
                      <a:rPr lang="en-US" altLang="zh-CN" sz="1600" b="1" i="1">
                        <a:solidFill>
                          <a:srgbClr val="000000"/>
                        </a:solidFill>
                        <a:latin typeface="Cambria Math" panose="02040503050406030204" pitchFamily="18" charset="0"/>
                        <a:ea typeface="楷体_GB2312"/>
                        <a:cs typeface="Times New Roman" panose="02020603050405020304" pitchFamily="18" charset="0"/>
                      </a:rPr>
                      <m:t>𝑾</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的范数形式来表示。假设神经网络模型中参数数目为</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ℕ</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，则参数的范数形式主要有：</a:t>
                </a:r>
              </a:p>
              <a:p>
                <a:pPr indent="267970" algn="just">
                  <a:lnSpc>
                    <a:spcPct val="150000"/>
                  </a:lnSpc>
                  <a:spcAft>
                    <a:spcPts val="0"/>
                  </a:spcAft>
                </a:pPr>
                <a14:m>
                  <m:oMath xmlns:m="http://schemas.openxmlformats.org/officeDocument/2006/math">
                    <m:sSub>
                      <m:sSubPr>
                        <m:ctrlPr>
                          <a:rPr lang="zh-CN" altLang="zh-CN" sz="16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𝑳</m:t>
                        </m:r>
                      </m:e>
                      <m:sub>
                        <m:r>
                          <a:rPr lang="en-US" altLang="zh-CN" sz="16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𝟎</m:t>
                        </m:r>
                      </m:sub>
                    </m:sSub>
                  </m:oMath>
                </a14:m>
                <a:r>
                  <a:rPr lang="zh-CN" altLang="zh-CN" sz="1600" b="1" dirty="0">
                    <a:solidFill>
                      <a:srgbClr val="000000"/>
                    </a:solidFill>
                    <a:latin typeface="Times New Roman" panose="02020603050405020304" pitchFamily="18" charset="0"/>
                    <a:ea typeface="楷体_GB2312"/>
                    <a:cs typeface="Times New Roman" panose="02020603050405020304" pitchFamily="18" charset="0"/>
                  </a:rPr>
                  <a:t>范数</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：数学表示为</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b="1" i="1">
                                <a:solidFill>
                                  <a:srgbClr val="000000"/>
                                </a:solidFill>
                                <a:latin typeface="Cambria Math" panose="02040503050406030204" pitchFamily="18" charset="0"/>
                                <a:ea typeface="楷体_GB2312"/>
                                <a:cs typeface="Times New Roman" panose="02020603050405020304" pitchFamily="18" charset="0"/>
                              </a:rPr>
                              <m:t>𝑾</m:t>
                            </m:r>
                          </m:e>
                        </m:d>
                      </m:e>
                      <m:sub>
                        <m:r>
                          <a:rPr lang="en-US" altLang="zh-CN" sz="1600" i="1">
                            <a:solidFill>
                              <a:srgbClr val="000000"/>
                            </a:solidFill>
                            <a:latin typeface="Cambria Math" panose="02040503050406030204" pitchFamily="18" charset="0"/>
                            <a:ea typeface="楷体_GB2312"/>
                            <a:cs typeface="Times New Roman" panose="02020603050405020304" pitchFamily="18" charset="0"/>
                          </a:rPr>
                          <m:t>0</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nary>
                      <m:naryPr>
                        <m:chr m:val="∑"/>
                        <m:limLoc m:val="subSup"/>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ℕ</m:t>
                        </m:r>
                      </m:sup>
                      <m:e>
                        <m:r>
                          <a:rPr lang="en-US" altLang="zh-CN" sz="1600" i="1">
                            <a:solidFill>
                              <a:srgbClr val="000000"/>
                            </a:solidFill>
                            <a:latin typeface="Cambria Math" panose="02040503050406030204" pitchFamily="18" charset="0"/>
                            <a:ea typeface="楷体_GB2312"/>
                            <a:cs typeface="Times New Roman" panose="02020603050405020304" pitchFamily="18" charset="0"/>
                          </a:rPr>
                          <m:t>𝕀</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≠0]</m:t>
                        </m:r>
                      </m:e>
                    </m:nary>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𝕀</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是指示函数，若括号内表达式为真，函数值为</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1</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，反之为</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0</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。所以</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𝐿</m:t>
                        </m:r>
                      </m:e>
                      <m:sub>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范数指模型参数</a:t>
                </a:r>
                <a14:m>
                  <m:oMath xmlns:m="http://schemas.openxmlformats.org/officeDocument/2006/math">
                    <m:r>
                      <a:rPr lang="en-US" altLang="zh-CN" sz="1600" b="1" i="1">
                        <a:solidFill>
                          <a:srgbClr val="000000"/>
                        </a:solidFill>
                        <a:latin typeface="Cambria Math" panose="02040503050406030204" pitchFamily="18" charset="0"/>
                        <a:ea typeface="楷体_GB2312"/>
                        <a:cs typeface="Times New Roman" panose="02020603050405020304" pitchFamily="18" charset="0"/>
                      </a:rPr>
                      <m:t>𝑾</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中非零元素个数。</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𝐿</m:t>
                        </m:r>
                      </m:e>
                      <m:sub>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可实现模型参数的稀疏化。但是，由于</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𝐿</m:t>
                        </m:r>
                      </m:e>
                      <m:sub>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范数正则化是一个</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NP Hard</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问题，难以求解，因此一般不用</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𝐿</m:t>
                        </m:r>
                      </m:e>
                      <m:sub>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范数。</a:t>
                </a:r>
              </a:p>
              <a:p>
                <a:pPr indent="267970" algn="just">
                  <a:lnSpc>
                    <a:spcPct val="150000"/>
                  </a:lnSpc>
                  <a:spcAft>
                    <a:spcPts val="0"/>
                  </a:spcAft>
                </a:pPr>
                <a14:m>
                  <m:oMath xmlns:m="http://schemas.openxmlformats.org/officeDocument/2006/math">
                    <m:sSub>
                      <m:sSubPr>
                        <m:ctrlPr>
                          <a:rPr lang="zh-CN" altLang="zh-CN" sz="16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𝑳</m:t>
                        </m:r>
                      </m:e>
                      <m:sub>
                        <m:r>
                          <a:rPr lang="en-US" altLang="zh-CN" sz="16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𝟏</m:t>
                        </m:r>
                      </m:sub>
                    </m:sSub>
                  </m:oMath>
                </a14:m>
                <a:r>
                  <a:rPr lang="zh-CN" altLang="zh-CN" sz="1600" b="1" dirty="0">
                    <a:solidFill>
                      <a:srgbClr val="000000"/>
                    </a:solidFill>
                    <a:latin typeface="Times New Roman" panose="02020603050405020304" pitchFamily="18" charset="0"/>
                    <a:ea typeface="楷体_GB2312"/>
                    <a:cs typeface="Times New Roman" panose="02020603050405020304" pitchFamily="18" charset="0"/>
                  </a:rPr>
                  <a:t>范数</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：数学表示为</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𝑊</m:t>
                            </m:r>
                          </m:e>
                        </m:d>
                      </m:e>
                      <m:sub>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nary>
                      <m:naryPr>
                        <m:chr m:val="∑"/>
                        <m:limLoc m:val="subSup"/>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ℕ</m:t>
                        </m:r>
                      </m:sup>
                      <m:e>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e>
                    </m:nary>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，指模型参数</a:t>
                </a:r>
                <a14:m>
                  <m:oMath xmlns:m="http://schemas.openxmlformats.org/officeDocument/2006/math">
                    <m:r>
                      <a:rPr lang="en-US" altLang="zh-CN" sz="1600" b="1" i="1">
                        <a:solidFill>
                          <a:srgbClr val="000000"/>
                        </a:solidFill>
                        <a:latin typeface="Cambria Math" panose="02040503050406030204" pitchFamily="18" charset="0"/>
                        <a:ea typeface="楷体_GB2312"/>
                        <a:cs typeface="Times New Roman" panose="02020603050405020304" pitchFamily="18" charset="0"/>
                      </a:rPr>
                      <m:t>𝑾</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中各个元素的绝对值之和。</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𝐿</m:t>
                        </m:r>
                      </m:e>
                      <m:sub>
                        <m:r>
                          <a:rPr lang="en-US"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范数也被称为</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稀疏规则算子</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Lasso regularization</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p>
              <a:p>
                <a:pPr indent="267970" algn="just">
                  <a:lnSpc>
                    <a:spcPct val="150000"/>
                  </a:lnSpc>
                  <a:spcAft>
                    <a:spcPts val="0"/>
                  </a:spcAft>
                </a:pPr>
                <a14:m>
                  <m:oMath xmlns:m="http://schemas.openxmlformats.org/officeDocument/2006/math">
                    <m:sSub>
                      <m:sSubPr>
                        <m:ctrlPr>
                          <a:rPr lang="zh-CN" altLang="zh-CN" sz="16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𝑳</m:t>
                        </m:r>
                      </m:e>
                      <m:sub>
                        <m:r>
                          <a:rPr lang="en-US" altLang="zh-CN" sz="1600" b="1"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𝟐</m:t>
                        </m:r>
                      </m:sub>
                    </m:sSub>
                  </m:oMath>
                </a14:m>
                <a:r>
                  <a:rPr lang="zh-CN" altLang="zh-CN" sz="1600" b="1" dirty="0">
                    <a:solidFill>
                      <a:srgbClr val="000000"/>
                    </a:solidFill>
                    <a:latin typeface="Times New Roman" panose="02020603050405020304" pitchFamily="18" charset="0"/>
                    <a:ea typeface="楷体_GB2312"/>
                    <a:cs typeface="Times New Roman" panose="02020603050405020304" pitchFamily="18" charset="0"/>
                  </a:rPr>
                  <a:t>范数</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：数学表示为</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𝑊</m:t>
                            </m:r>
                          </m:e>
                        </m:d>
                      </m:e>
                      <m:sub>
                        <m:r>
                          <a:rPr lang="en-US" altLang="zh-CN" sz="1600" i="1">
                            <a:solidFill>
                              <a:srgbClr val="000000"/>
                            </a:solidFill>
                            <a:latin typeface="Cambria Math" panose="02040503050406030204" pitchFamily="18" charset="0"/>
                            <a:ea typeface="楷体_GB2312"/>
                            <a:cs typeface="Times New Roman" panose="02020603050405020304" pitchFamily="18" charset="0"/>
                          </a:rPr>
                          <m:t>2</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rad>
                      <m:radPr>
                        <m:degHide m:val="on"/>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radPr>
                      <m:deg/>
                      <m:e>
                        <m:nary>
                          <m:naryPr>
                            <m:chr m:val="∑"/>
                            <m:limLoc m:val="subSup"/>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ℕ</m:t>
                            </m:r>
                          </m:sup>
                          <m:e>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𝑤</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2</m:t>
                                </m:r>
                              </m:sup>
                            </m:sSubSup>
                          </m:e>
                        </m:nary>
                      </m:e>
                    </m:rad>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，指模型参数</a:t>
                </a:r>
                <a14:m>
                  <m:oMath xmlns:m="http://schemas.openxmlformats.org/officeDocument/2006/math">
                    <m:r>
                      <a:rPr lang="en-US" altLang="zh-CN" sz="1600" b="1" i="1">
                        <a:solidFill>
                          <a:srgbClr val="000000"/>
                        </a:solidFill>
                        <a:latin typeface="Cambria Math" panose="02040503050406030204" pitchFamily="18" charset="0"/>
                        <a:ea typeface="楷体_GB2312"/>
                        <a:cs typeface="Times New Roman" panose="02020603050405020304" pitchFamily="18" charset="0"/>
                      </a:rPr>
                      <m:t>𝑾</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中各个元素平方和的开方。</a:t>
                </a:r>
              </a:p>
            </p:txBody>
          </p:sp>
        </mc:Choice>
        <mc:Fallback xmlns="">
          <p:sp>
            <p:nvSpPr>
              <p:cNvPr id="2" name="矩形 1">
                <a:extLst>
                  <a:ext uri="{FF2B5EF4-FFF2-40B4-BE49-F238E27FC236}">
                    <a16:creationId xmlns:a16="http://schemas.microsoft.com/office/drawing/2014/main" id="{786499CD-1870-4D78-BFC1-704468D000D7}"/>
                  </a:ext>
                </a:extLst>
              </p:cNvPr>
              <p:cNvSpPr>
                <a:spLocks noRot="1" noChangeAspect="1" noMove="1" noResize="1" noEditPoints="1" noAdjustHandles="1" noChangeArrowheads="1" noChangeShapeType="1" noTextEdit="1"/>
              </p:cNvSpPr>
              <p:nvPr/>
            </p:nvSpPr>
            <p:spPr>
              <a:xfrm>
                <a:off x="518160" y="1258598"/>
                <a:ext cx="11155680" cy="5618461"/>
              </a:xfrm>
              <a:prstGeom prst="rect">
                <a:avLst/>
              </a:prstGeom>
              <a:blipFill>
                <a:blip r:embed="rId3"/>
                <a:stretch>
                  <a:fillRect l="-273" r="-2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45315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深度学习在自然语言中应用之一：图像分类与目标定位</a:t>
              </a:r>
            </a:p>
          </p:txBody>
        </p:sp>
      </p:grpSp>
      <p:sp>
        <p:nvSpPr>
          <p:cNvPr id="25" name="矩形 24">
            <a:extLst>
              <a:ext uri="{FF2B5EF4-FFF2-40B4-BE49-F238E27FC236}">
                <a16:creationId xmlns:a16="http://schemas.microsoft.com/office/drawing/2014/main" id="{FA7E4C39-58FC-4583-BCF8-B462E31C5699}"/>
              </a:ext>
            </a:extLst>
          </p:cNvPr>
          <p:cNvSpPr/>
          <p:nvPr/>
        </p:nvSpPr>
        <p:spPr>
          <a:xfrm>
            <a:off x="852473" y="129010"/>
            <a:ext cx="4493538"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a:t>
            </a:r>
            <a:r>
              <a:rPr lang="zh-CN" altLang="en-US" sz="1600" dirty="0">
                <a:solidFill>
                  <a:srgbClr val="000000"/>
                </a:solidFill>
                <a:latin typeface="Times New Roman" panose="02020603050405020304" pitchFamily="18" charset="0"/>
              </a:rPr>
              <a:t>深度学习在自然语言和计算机视觉中的应用</a:t>
            </a:r>
          </a:p>
        </p:txBody>
      </p:sp>
      <p:pic>
        <p:nvPicPr>
          <p:cNvPr id="2" name="图片 1">
            <a:extLst>
              <a:ext uri="{FF2B5EF4-FFF2-40B4-BE49-F238E27FC236}">
                <a16:creationId xmlns:a16="http://schemas.microsoft.com/office/drawing/2014/main" id="{806CAF43-A1F6-4988-B581-7BF50A577D3B}"/>
              </a:ext>
            </a:extLst>
          </p:cNvPr>
          <p:cNvPicPr>
            <a:picLocks noChangeAspect="1"/>
          </p:cNvPicPr>
          <p:nvPr/>
        </p:nvPicPr>
        <p:blipFill>
          <a:blip r:embed="rId3"/>
          <a:stretch>
            <a:fillRect/>
          </a:stretch>
        </p:blipFill>
        <p:spPr>
          <a:xfrm>
            <a:off x="6647467" y="2716513"/>
            <a:ext cx="4899277" cy="2597283"/>
          </a:xfrm>
          <a:prstGeom prst="rect">
            <a:avLst/>
          </a:prstGeom>
        </p:spPr>
      </p:pic>
      <p:sp>
        <p:nvSpPr>
          <p:cNvPr id="9" name="矩形 8">
            <a:extLst>
              <a:ext uri="{FF2B5EF4-FFF2-40B4-BE49-F238E27FC236}">
                <a16:creationId xmlns:a16="http://schemas.microsoft.com/office/drawing/2014/main" id="{66A95B0D-12DA-4621-9162-D3D4705036BA}"/>
              </a:ext>
            </a:extLst>
          </p:cNvPr>
          <p:cNvSpPr/>
          <p:nvPr/>
        </p:nvSpPr>
        <p:spPr>
          <a:xfrm>
            <a:off x="252375" y="1484266"/>
            <a:ext cx="6096000" cy="4308487"/>
          </a:xfrm>
          <a:prstGeom prst="rect">
            <a:avLst/>
          </a:prstGeom>
        </p:spPr>
        <p:txBody>
          <a:bodyPr>
            <a:spAutoFit/>
          </a:bodyPr>
          <a:lstStyle/>
          <a:p>
            <a:pPr marL="285750" indent="-285750" algn="just">
              <a:lnSpc>
                <a:spcPts val="2200"/>
              </a:lnSpc>
              <a:spcAft>
                <a:spcPts val="0"/>
              </a:spcAft>
              <a:buFont typeface="Wingdings" panose="05000000000000000000" pitchFamily="2" charset="2"/>
              <a:buChar char="l"/>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在图像分类和目标定位过程中，单次目标检测模型不仅要检测物体位置，同时它也要判断所检测物体的类别标签</a:t>
            </a:r>
          </a:p>
          <a:p>
            <a:pPr marL="285750" indent="-285750" algn="just">
              <a:lnSpc>
                <a:spcPts val="2200"/>
              </a:lnSpc>
              <a:spcAft>
                <a:spcPts val="0"/>
              </a:spcAft>
              <a:buFont typeface="Wingdings" panose="05000000000000000000" pitchFamily="2" charset="2"/>
              <a:buChar char="l"/>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输入一幅图像，首先利用卷积神经网络来提取视觉特征。在图</a:t>
            </a:r>
            <a:r>
              <a:rPr lang="en-US" altLang="zh-CN" sz="2000" dirty="0">
                <a:solidFill>
                  <a:srgbClr val="000000"/>
                </a:solidFill>
                <a:latin typeface="Times New Roman" panose="02020603050405020304" pitchFamily="18" charset="0"/>
                <a:ea typeface="楷体_GB2312"/>
                <a:cs typeface="Times New Roman" panose="02020603050405020304" pitchFamily="18" charset="0"/>
              </a:rPr>
              <a:t>5.26</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中，给定一幅图像，卷积神经网络经过若干次卷积与池化的操作，可提取一个特征向量来表示输入图像。这个向量作为输入特征分别传送给两个任务：</a:t>
            </a:r>
            <a:endParaRPr lang="en-US" altLang="zh-CN" sz="2000" dirty="0">
              <a:solidFill>
                <a:srgbClr val="000000"/>
              </a:solidFill>
              <a:latin typeface="Times New Roman" panose="02020603050405020304" pitchFamily="18" charset="0"/>
              <a:ea typeface="楷体_GB2312"/>
              <a:cs typeface="Times New Roman" panose="02020603050405020304" pitchFamily="18" charset="0"/>
            </a:endParaRPr>
          </a:p>
          <a:p>
            <a:pPr marL="742950" lvl="1" indent="-285750" algn="just">
              <a:lnSpc>
                <a:spcPts val="2200"/>
              </a:lnSpc>
              <a:buFont typeface="Wingdings" panose="05000000000000000000" pitchFamily="2" charset="2"/>
              <a:buChar char="l"/>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分类任务</a:t>
            </a:r>
            <a:r>
              <a:rPr lang="zh-CN" altLang="en-US" sz="2000" dirty="0">
                <a:solidFill>
                  <a:srgbClr val="000000"/>
                </a:solidFill>
                <a:latin typeface="Times New Roman" panose="02020603050405020304" pitchFamily="18" charset="0"/>
                <a:ea typeface="楷体_GB2312"/>
                <a:cs typeface="Times New Roman" panose="02020603050405020304" pitchFamily="18" charset="0"/>
              </a:rPr>
              <a:t>：</a:t>
            </a:r>
            <a:r>
              <a:rPr lang="en-US" altLang="zh-CN" sz="2000" dirty="0" err="1">
                <a:solidFill>
                  <a:srgbClr val="000000"/>
                </a:solidFill>
                <a:latin typeface="Times New Roman" panose="02020603050405020304" pitchFamily="18" charset="0"/>
                <a:ea typeface="楷体_GB2312"/>
                <a:cs typeface="Times New Roman" panose="02020603050405020304" pitchFamily="18" charset="0"/>
              </a:rPr>
              <a:t>Softmax</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分类函数将全连接层所得特征向量映射为归一化概率值，用来表示每个概念在输入图像中出现的概率</a:t>
            </a:r>
            <a:endParaRPr lang="en-US" altLang="zh-CN" sz="2000" dirty="0">
              <a:solidFill>
                <a:srgbClr val="000000"/>
              </a:solidFill>
              <a:latin typeface="Times New Roman" panose="02020603050405020304" pitchFamily="18" charset="0"/>
              <a:ea typeface="楷体_GB2312"/>
              <a:cs typeface="Times New Roman" panose="02020603050405020304" pitchFamily="18" charset="0"/>
            </a:endParaRPr>
          </a:p>
          <a:p>
            <a:pPr marL="742950" lvl="1" indent="-285750" algn="just">
              <a:lnSpc>
                <a:spcPts val="2200"/>
              </a:lnSpc>
              <a:buFont typeface="Wingdings" panose="05000000000000000000" pitchFamily="2" charset="2"/>
              <a:buChar char="l"/>
            </a:pPr>
            <a:r>
              <a:rPr lang="zh-CN" altLang="zh-CN" sz="2000" dirty="0">
                <a:solidFill>
                  <a:srgbClr val="000000"/>
                </a:solidFill>
                <a:latin typeface="Times New Roman" panose="02020603050405020304" pitchFamily="18" charset="0"/>
                <a:ea typeface="楷体_GB2312"/>
                <a:cs typeface="Times New Roman" panose="02020603050405020304" pitchFamily="18" charset="0"/>
              </a:rPr>
              <a:t>目标定位</a:t>
            </a:r>
            <a:r>
              <a:rPr lang="zh-CN" altLang="en-US" sz="20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2000" dirty="0">
                <a:solidFill>
                  <a:srgbClr val="000000"/>
                </a:solidFill>
                <a:latin typeface="Times New Roman" panose="02020603050405020304" pitchFamily="18" charset="0"/>
                <a:ea typeface="楷体_GB2312"/>
                <a:cs typeface="Times New Roman" panose="02020603050405020304" pitchFamily="18" charset="0"/>
              </a:rPr>
              <a:t>将全连接层输出向量转换为一个四维向量，四维向量分别代表一个包围盒的左上角横坐标和纵坐标以及该矩形框宽与高取值，并使用均方差损失函数计算模型的误差</a:t>
            </a:r>
          </a:p>
        </p:txBody>
      </p:sp>
    </p:spTree>
    <p:extLst>
      <p:ext uri="{BB962C8B-B14F-4D97-AF65-F5344CB8AC3E}">
        <p14:creationId xmlns:p14="http://schemas.microsoft.com/office/powerpoint/2010/main" val="1910442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642731" y="741597"/>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latin typeface="微软雅黑" panose="020B0503020204020204" pitchFamily="34" charset="-122"/>
                <a:ea typeface="微软雅黑" panose="020B0503020204020204" pitchFamily="34" charset="-122"/>
              </a:endParaRPr>
            </a:p>
          </p:txBody>
        </p:sp>
        <p:sp>
          <p:nvSpPr>
            <p:cNvPr id="5" name="矩形 4"/>
            <p:cNvSpPr/>
            <p:nvPr/>
          </p:nvSpPr>
          <p:spPr>
            <a:xfrm>
              <a:off x="2591332" y="2826188"/>
              <a:ext cx="4133539" cy="369332"/>
            </a:xfrm>
            <a:prstGeom prst="rect">
              <a:avLst/>
            </a:prstGeom>
          </p:spPr>
          <p:txBody>
            <a:bodyPr wrap="square">
              <a:spAutoFit/>
            </a:bodyPr>
            <a:lstStyle/>
            <a:p>
              <a:pPr algn="ctr">
                <a:spcBef>
                  <a:spcPct val="50000"/>
                </a:spcBef>
              </a:pP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实验：</a:t>
              </a:r>
              <a:r>
                <a:rPr lang="zh-CN" altLang="zh-CN" sz="1800" b="1" dirty="0">
                  <a:effectLst/>
                  <a:latin typeface="Times New Roman" panose="02020603050405020304" pitchFamily="18" charset="0"/>
                  <a:ea typeface="楷体" panose="02010609060101010101" pitchFamily="49" charset="-122"/>
                  <a:cs typeface="Times New Roman" panose="02020603050405020304" pitchFamily="18" charset="0"/>
                </a:rPr>
                <a:t>手写数字识别</a:t>
              </a:r>
              <a:endParaRPr lang="zh-CN" altLang="en-US" b="1" dirty="0">
                <a:solidFill>
                  <a:schemeClr val="tx1">
                    <a:lumMod val="95000"/>
                    <a:lumOff val="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9" name="矩形 8">
            <a:extLst>
              <a:ext uri="{FF2B5EF4-FFF2-40B4-BE49-F238E27FC236}">
                <a16:creationId xmlns:a16="http://schemas.microsoft.com/office/drawing/2014/main" id="{12A55F39-B9C4-4625-AF50-47C6D1C98955}"/>
              </a:ext>
            </a:extLst>
          </p:cNvPr>
          <p:cNvSpPr/>
          <p:nvPr/>
        </p:nvSpPr>
        <p:spPr>
          <a:xfrm>
            <a:off x="852473" y="129010"/>
            <a:ext cx="1056700" cy="369332"/>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六、</a:t>
            </a:r>
            <a:r>
              <a:rPr lang="zh-CN" altLang="en-US" dirty="0"/>
              <a:t>实验</a:t>
            </a:r>
            <a:endParaRPr lang="zh-CN" altLang="en-US" sz="1600" dirty="0">
              <a:solidFill>
                <a:srgbClr val="000000"/>
              </a:solidFill>
              <a:latin typeface="Times New Roman" panose="02020603050405020304" pitchFamily="18" charset="0"/>
            </a:endParaRPr>
          </a:p>
        </p:txBody>
      </p:sp>
      <p:sp>
        <p:nvSpPr>
          <p:cNvPr id="15" name="文本框 14">
            <a:extLst>
              <a:ext uri="{FF2B5EF4-FFF2-40B4-BE49-F238E27FC236}">
                <a16:creationId xmlns:a16="http://schemas.microsoft.com/office/drawing/2014/main" id="{7186208F-BAE6-1E27-AEE5-ADD012E3C7D1}"/>
              </a:ext>
            </a:extLst>
          </p:cNvPr>
          <p:cNvSpPr txBox="1"/>
          <p:nvPr/>
        </p:nvSpPr>
        <p:spPr>
          <a:xfrm>
            <a:off x="565086" y="1461601"/>
            <a:ext cx="6277380" cy="4708981"/>
          </a:xfrm>
          <a:prstGeom prst="rect">
            <a:avLst/>
          </a:prstGeom>
          <a:noFill/>
        </p:spPr>
        <p:txBody>
          <a:bodyPr wrap="square">
            <a:spAutoFit/>
          </a:bodyPr>
          <a:lstStyle/>
          <a:p>
            <a:r>
              <a:rPr lang="zh-CN" altLang="en-US" sz="2000" b="1" dirty="0"/>
              <a:t>实验内容：</a:t>
            </a:r>
          </a:p>
          <a:p>
            <a:r>
              <a:rPr lang="en-US" altLang="zh-CN" sz="2000" dirty="0"/>
              <a:t>MNIST </a:t>
            </a:r>
            <a:r>
              <a:rPr lang="zh-CN" altLang="en-US" sz="2000" dirty="0"/>
              <a:t>被誉为深度学习领域的“</a:t>
            </a:r>
            <a:r>
              <a:rPr lang="en-US" altLang="zh-CN" sz="2000" dirty="0"/>
              <a:t>Hello world”</a:t>
            </a:r>
            <a:r>
              <a:rPr lang="zh-CN" altLang="en-US" sz="2000" dirty="0"/>
              <a:t>。本实验主要介绍使用</a:t>
            </a:r>
            <a:r>
              <a:rPr lang="en-US" altLang="zh-CN" sz="2000" dirty="0" err="1"/>
              <a:t>pytorch</a:t>
            </a:r>
            <a:r>
              <a:rPr lang="zh-CN" altLang="en-US" sz="2000" dirty="0"/>
              <a:t>在 </a:t>
            </a:r>
            <a:r>
              <a:rPr lang="en-US" altLang="zh-CN" sz="2000" dirty="0"/>
              <a:t>MNIST </a:t>
            </a:r>
            <a:r>
              <a:rPr lang="zh-CN" altLang="en-US" sz="2000" dirty="0"/>
              <a:t>手写数字数据集上开发和训练一个</a:t>
            </a:r>
            <a:r>
              <a:rPr lang="zh-CN" altLang="en-US" sz="2000" dirty="0">
                <a:solidFill>
                  <a:srgbClr val="FF0000"/>
                </a:solidFill>
              </a:rPr>
              <a:t>卷积神经网络模型</a:t>
            </a:r>
            <a:r>
              <a:rPr lang="zh-CN" altLang="en-US" sz="2000" dirty="0"/>
              <a:t>，并验证模型精度。</a:t>
            </a:r>
            <a:endParaRPr lang="en-US" altLang="zh-CN" sz="2000" dirty="0"/>
          </a:p>
          <a:p>
            <a:r>
              <a:rPr lang="zh-CN" altLang="en-US" sz="2000" b="1" dirty="0"/>
              <a:t>实验要求：</a:t>
            </a:r>
          </a:p>
          <a:p>
            <a:pPr marL="228600" indent="-228600">
              <a:buFont typeface="+mj-lt"/>
              <a:buAutoNum type="arabicPeriod"/>
            </a:pPr>
            <a:r>
              <a:rPr lang="zh-CN" altLang="en-US" sz="2000" dirty="0"/>
              <a:t>使用</a:t>
            </a:r>
            <a:r>
              <a:rPr lang="en-US" altLang="zh-CN" sz="2000" dirty="0"/>
              <a:t>Python</a:t>
            </a:r>
            <a:r>
              <a:rPr lang="zh-CN" altLang="en-US" sz="2000" dirty="0"/>
              <a:t>语言和</a:t>
            </a:r>
            <a:r>
              <a:rPr lang="en-US" altLang="zh-CN" sz="2000" dirty="0" err="1"/>
              <a:t>pytorch</a:t>
            </a:r>
            <a:r>
              <a:rPr lang="zh-CN" altLang="en-US" sz="2000" dirty="0"/>
              <a:t>神经网络框架</a:t>
            </a:r>
          </a:p>
          <a:p>
            <a:pPr marL="228600" indent="-228600">
              <a:buFont typeface="+mj-lt"/>
              <a:buAutoNum type="arabicPeriod"/>
            </a:pPr>
            <a:r>
              <a:rPr lang="zh-CN" altLang="en-US" sz="2000" dirty="0"/>
              <a:t>展示训练集的损失函数曲线和测试集的损失函数曲线</a:t>
            </a:r>
            <a:endParaRPr lang="en-US" altLang="zh-CN" sz="2000" dirty="0"/>
          </a:p>
          <a:p>
            <a:pPr marL="228600" indent="-228600">
              <a:buFont typeface="+mj-lt"/>
              <a:buAutoNum type="arabicPeriod"/>
            </a:pPr>
            <a:r>
              <a:rPr lang="zh-CN" altLang="en-US" sz="2000" dirty="0"/>
              <a:t>测试集的性能要尽可能高，分析识别错误的结果及其原因，并且要采用自己书写的手写数字作为额外的测试集，来进一步评测模型，判断模型是否具有泛化性</a:t>
            </a:r>
            <a:endParaRPr lang="en-US" altLang="zh-CN" sz="2000" dirty="0"/>
          </a:p>
          <a:p>
            <a:r>
              <a:rPr lang="zh-CN" altLang="en-US" sz="2000" b="1" dirty="0"/>
              <a:t>提交事项：</a:t>
            </a:r>
            <a:endParaRPr lang="en-US" altLang="zh-CN" sz="2000" b="1" dirty="0"/>
          </a:p>
          <a:p>
            <a:pPr marL="228600" indent="-228600">
              <a:buFontTx/>
              <a:buAutoNum type="arabicPeriod"/>
            </a:pPr>
            <a:r>
              <a:rPr lang="zh-CN" altLang="en-US" sz="2000" dirty="0"/>
              <a:t>提交时间：</a:t>
            </a:r>
            <a:r>
              <a:rPr lang="en-US" altLang="zh-CN" sz="2000" dirty="0"/>
              <a:t>2025</a:t>
            </a:r>
            <a:r>
              <a:rPr lang="zh-CN" altLang="en-US" sz="2000" dirty="0"/>
              <a:t> 年</a:t>
            </a:r>
            <a:r>
              <a:rPr lang="en-US" altLang="zh-CN" sz="2000" dirty="0"/>
              <a:t>11</a:t>
            </a:r>
            <a:r>
              <a:rPr lang="zh-CN" altLang="en-US" sz="2000" dirty="0"/>
              <a:t>月</a:t>
            </a:r>
            <a:r>
              <a:rPr lang="en-US" altLang="zh-CN" sz="2000" dirty="0"/>
              <a:t>23</a:t>
            </a:r>
            <a:r>
              <a:rPr lang="zh-CN" altLang="en-US" sz="2000" dirty="0"/>
              <a:t> 日</a:t>
            </a:r>
            <a:r>
              <a:rPr lang="en-US" altLang="zh-CN" sz="2000" dirty="0"/>
              <a:t>24</a:t>
            </a:r>
            <a:r>
              <a:rPr lang="zh-CN" altLang="en-US" sz="2000" dirty="0"/>
              <a:t>：</a:t>
            </a:r>
            <a:r>
              <a:rPr lang="en-US" altLang="zh-CN" sz="2000" dirty="0"/>
              <a:t>00</a:t>
            </a:r>
          </a:p>
          <a:p>
            <a:pPr marL="228600" indent="-228600">
              <a:buAutoNum type="arabicPeriod"/>
            </a:pPr>
            <a:r>
              <a:rPr lang="zh-CN" altLang="en-US" sz="2000" dirty="0"/>
              <a:t>提交内容：源代码和报告（</a:t>
            </a:r>
            <a:r>
              <a:rPr lang="zh-CN" altLang="en-US" sz="2000" dirty="0">
                <a:solidFill>
                  <a:srgbClr val="FF0000"/>
                </a:solidFill>
              </a:rPr>
              <a:t>禁止抄袭！</a:t>
            </a:r>
            <a:r>
              <a:rPr lang="zh-CN" altLang="en-US" sz="2000" dirty="0"/>
              <a:t>）</a:t>
            </a:r>
            <a:endParaRPr lang="en-US" altLang="zh-CN" sz="2000" dirty="0"/>
          </a:p>
          <a:p>
            <a:pPr marL="228600" indent="-228600">
              <a:buFontTx/>
              <a:buAutoNum type="arabicPeriod"/>
            </a:pPr>
            <a:r>
              <a:rPr lang="zh-CN" altLang="en-US" sz="2000" dirty="0"/>
              <a:t>提交邮箱：</a:t>
            </a:r>
            <a:r>
              <a:rPr lang="en-US" altLang="zh-CN" sz="2000" dirty="0">
                <a:hlinkClick r:id="rId3"/>
              </a:rPr>
              <a:t>23020251154393@stu.xmu.edu.cn</a:t>
            </a:r>
            <a:r>
              <a:rPr lang="zh-CN" altLang="en-US" sz="2000" dirty="0"/>
              <a:t>（助教邮箱）</a:t>
            </a:r>
          </a:p>
        </p:txBody>
      </p:sp>
      <p:sp>
        <p:nvSpPr>
          <p:cNvPr id="11" name="文本框 10">
            <a:extLst>
              <a:ext uri="{FF2B5EF4-FFF2-40B4-BE49-F238E27FC236}">
                <a16:creationId xmlns:a16="http://schemas.microsoft.com/office/drawing/2014/main" id="{08E625F0-6DA2-D5E2-C253-11E9C23E4DE6}"/>
              </a:ext>
            </a:extLst>
          </p:cNvPr>
          <p:cNvSpPr txBox="1"/>
          <p:nvPr/>
        </p:nvSpPr>
        <p:spPr>
          <a:xfrm>
            <a:off x="8563991" y="5327204"/>
            <a:ext cx="2490651" cy="369332"/>
          </a:xfrm>
          <a:prstGeom prst="rect">
            <a:avLst/>
          </a:prstGeom>
          <a:noFill/>
        </p:spPr>
        <p:txBody>
          <a:bodyPr wrap="square">
            <a:spAutoFit/>
          </a:bodyPr>
          <a:lstStyle/>
          <a:p>
            <a:r>
              <a:rPr lang="en-US" altLang="zh-CN" sz="1800" dirty="0"/>
              <a:t>MNIST </a:t>
            </a:r>
            <a:r>
              <a:rPr lang="zh-CN" altLang="en-US" sz="1800" dirty="0"/>
              <a:t>手写数字数据集</a:t>
            </a:r>
            <a:endParaRPr lang="zh-CN" altLang="en-US" dirty="0"/>
          </a:p>
        </p:txBody>
      </p:sp>
      <p:pic>
        <p:nvPicPr>
          <p:cNvPr id="13" name="图片 12">
            <a:extLst>
              <a:ext uri="{FF2B5EF4-FFF2-40B4-BE49-F238E27FC236}">
                <a16:creationId xmlns:a16="http://schemas.microsoft.com/office/drawing/2014/main" id="{F2632B9F-7D56-14A6-9347-B836D4A37827}"/>
              </a:ext>
            </a:extLst>
          </p:cNvPr>
          <p:cNvPicPr>
            <a:picLocks noChangeAspect="1"/>
          </p:cNvPicPr>
          <p:nvPr/>
        </p:nvPicPr>
        <p:blipFill>
          <a:blip r:embed="rId4"/>
          <a:stretch>
            <a:fillRect/>
          </a:stretch>
        </p:blipFill>
        <p:spPr>
          <a:xfrm>
            <a:off x="7129853" y="1585522"/>
            <a:ext cx="4900006" cy="3686955"/>
          </a:xfrm>
          <a:prstGeom prst="rect">
            <a:avLst/>
          </a:prstGeom>
        </p:spPr>
      </p:pic>
    </p:spTree>
    <p:extLst>
      <p:ext uri="{BB962C8B-B14F-4D97-AF65-F5344CB8AC3E}">
        <p14:creationId xmlns:p14="http://schemas.microsoft.com/office/powerpoint/2010/main" val="13902407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21547" y="725888"/>
            <a:ext cx="11595798" cy="5601196"/>
          </a:xfrm>
          <a:prstGeom prst="rect">
            <a:avLst/>
          </a:prstGeom>
          <a:solidFill>
            <a:srgbClr val="EEF7F8"/>
          </a:solidFill>
          <a:ln>
            <a:noFill/>
          </a:ln>
          <a:effectLst>
            <a:outerShdw blurRad="495300" dist="241300" dir="2700000" algn="tl" rotWithShape="0">
              <a:srgbClr val="222222">
                <a:alpha val="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590994" y="584180"/>
            <a:ext cx="2579459" cy="708913"/>
            <a:chOff x="3509228" y="1296644"/>
            <a:chExt cx="2754111" cy="756910"/>
          </a:xfrm>
          <a:effectLst/>
        </p:grpSpPr>
        <p:sp>
          <p:nvSpPr>
            <p:cNvPr id="8" name="立方体 7"/>
            <p:cNvSpPr/>
            <p:nvPr/>
          </p:nvSpPr>
          <p:spPr>
            <a:xfrm>
              <a:off x="3522589" y="1312169"/>
              <a:ext cx="2740750" cy="738665"/>
            </a:xfrm>
            <a:prstGeom prst="cube">
              <a:avLst>
                <a:gd name="adj" fmla="val 9465"/>
              </a:avLst>
            </a:prstGeom>
            <a:solidFill>
              <a:srgbClr val="0076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3520104" y="1385123"/>
              <a:ext cx="2658236" cy="668431"/>
              <a:chOff x="766780" y="725067"/>
              <a:chExt cx="3103577" cy="780415"/>
            </a:xfrm>
          </p:grpSpPr>
          <p:grpSp>
            <p:nvGrpSpPr>
              <p:cNvPr id="14" name="组合 13"/>
              <p:cNvGrpSpPr/>
              <p:nvPr/>
            </p:nvGrpSpPr>
            <p:grpSpPr>
              <a:xfrm>
                <a:off x="766780" y="728242"/>
                <a:ext cx="777240" cy="777240"/>
                <a:chOff x="1908810" y="1131040"/>
                <a:chExt cx="777240" cy="777240"/>
              </a:xfrm>
            </p:grpSpPr>
            <p:sp>
              <p:nvSpPr>
                <p:cNvPr id="33" name="矩形 32"/>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33"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a:endCxn id="33"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541549" y="725067"/>
                <a:ext cx="777240" cy="777240"/>
                <a:chOff x="1908810" y="1131040"/>
                <a:chExt cx="777240" cy="777240"/>
              </a:xfrm>
            </p:grpSpPr>
            <p:sp>
              <p:nvSpPr>
                <p:cNvPr id="28" name="矩形 27"/>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a:endCxn id="28"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28"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2316784" y="725067"/>
                <a:ext cx="777240" cy="777240"/>
                <a:chOff x="1908810" y="1131040"/>
                <a:chExt cx="777240" cy="777240"/>
              </a:xfrm>
            </p:grpSpPr>
            <p:sp>
              <p:nvSpPr>
                <p:cNvPr id="23" name="矩形 22"/>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23"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23"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3093117" y="725067"/>
                <a:ext cx="777240" cy="777240"/>
                <a:chOff x="1908810" y="1131040"/>
                <a:chExt cx="777240" cy="777240"/>
              </a:xfrm>
            </p:grpSpPr>
            <p:sp>
              <p:nvSpPr>
                <p:cNvPr id="18" name="矩形 17"/>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a:endCxn id="18"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18"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sp>
          <p:nvSpPr>
            <p:cNvPr id="10" name="矩形 9"/>
            <p:cNvSpPr/>
            <p:nvPr/>
          </p:nvSpPr>
          <p:spPr>
            <a:xfrm>
              <a:off x="3509228" y="1300957"/>
              <a:ext cx="671979" cy="677107"/>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延</a:t>
              </a:r>
            </a:p>
          </p:txBody>
        </p:sp>
        <p:sp>
          <p:nvSpPr>
            <p:cNvPr id="11" name="矩形 10"/>
            <p:cNvSpPr/>
            <p:nvPr/>
          </p:nvSpPr>
          <p:spPr>
            <a:xfrm>
              <a:off x="4183692" y="1298239"/>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伸</a:t>
              </a:r>
            </a:p>
          </p:txBody>
        </p:sp>
        <p:sp>
          <p:nvSpPr>
            <p:cNvPr id="12" name="矩形 11"/>
            <p:cNvSpPr/>
            <p:nvPr/>
          </p:nvSpPr>
          <p:spPr>
            <a:xfrm>
              <a:off x="4846347" y="1297103"/>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阅</a:t>
              </a:r>
            </a:p>
          </p:txBody>
        </p:sp>
        <p:sp>
          <p:nvSpPr>
            <p:cNvPr id="13" name="矩形 12"/>
            <p:cNvSpPr/>
            <p:nvPr/>
          </p:nvSpPr>
          <p:spPr>
            <a:xfrm>
              <a:off x="5506300" y="1296644"/>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读</a:t>
              </a:r>
            </a:p>
          </p:txBody>
        </p:sp>
      </p:grpSp>
      <p:sp>
        <p:nvSpPr>
          <p:cNvPr id="40" name="矩形 39"/>
          <p:cNvSpPr/>
          <p:nvPr/>
        </p:nvSpPr>
        <p:spPr>
          <a:xfrm>
            <a:off x="512664" y="1477846"/>
            <a:ext cx="11275023" cy="4832092"/>
          </a:xfrm>
          <a:prstGeom prst="rect">
            <a:avLst/>
          </a:prstGeom>
        </p:spPr>
        <p:txBody>
          <a:bodyPr wrap="square">
            <a:spAutoFit/>
          </a:bodyPr>
          <a:lstStyle/>
          <a:p>
            <a:r>
              <a:rPr lang="zh-CN" altLang="zh-CN" sz="17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《炼金术与人工智能》（</a:t>
            </a:r>
            <a:r>
              <a:rPr lang="en-US" altLang="zh-CN" sz="17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Alchemy and Artificial Intelligence</a:t>
            </a:r>
            <a:r>
              <a:rPr lang="zh-CN" altLang="zh-CN" sz="17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7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1965</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年</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12 </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月，先后在</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MIT</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和伯克利任教的休伯特</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德雷福斯（</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Hubert Lederer Dreyfus</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）教授以兰德公司顾问的身份，发表了《炼金术与人工智能》（</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Alchemy and Artificial Intelligence</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）的研究报告，将当时人工智能研究与历史上炼金术相提并论，以说明当时进行的人工智能研究是没有基础的无用之功</a:t>
            </a:r>
            <a:r>
              <a:rPr lang="zh-CN" altLang="en-US" sz="17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如果炼金术士不再关注曲颈瓶和五角器皿，而把时间花在寻找问题的深层结构，如果人从树上下来开始着手发明</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火</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车轮</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，事情就会向一个更令人鼓舞的方向发展。</a:t>
            </a:r>
            <a:endParaRPr lang="en-US" altLang="zh-CN" sz="17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7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zh-CN" altLang="zh-CN" sz="17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17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《大模型的安魂曲（</a:t>
            </a:r>
            <a:r>
              <a:rPr lang="en-US" altLang="zh-CN" sz="17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Requiem for large-scale models</a:t>
            </a:r>
            <a:r>
              <a:rPr lang="zh-CN" altLang="zh-CN" sz="17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7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加州大学伯克利分校助理教授于</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70</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年代针对交通预测模型越来越复杂，撰写过《大模型的安魂曲（</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Requiem for large-scale models</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）》一文，列举了在城市交通预测领域所使用大模型的七宗罪（</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seven sins</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），认为由众多参数构成的大模型不仅不会进化、反而会崩溃（</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collapsed rather than evolved</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7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7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17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无他、但手熟尔</a:t>
            </a:r>
            <a:r>
              <a:rPr lang="zh-CN" altLang="en-US" sz="17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众多参数构成的复杂深度模型虽然在许多任务上取得了亮丽效果，但对模型</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知其所以然</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的理解却举步维艰，不得不感叹复杂深度模型</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无他、但手熟尔</a:t>
            </a:r>
            <a:r>
              <a:rPr lang="en-US" altLang="zh-CN" sz="17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700" dirty="0">
                <a:latin typeface="Times New Roman" panose="02020603050405020304" pitchFamily="18" charset="0"/>
                <a:ea typeface="微软雅黑" panose="020B0503020204020204" pitchFamily="34" charset="-122"/>
                <a:cs typeface="Times New Roman" panose="02020603050405020304" pitchFamily="18" charset="0"/>
              </a:rPr>
              <a:t>。</a:t>
            </a:r>
          </a:p>
          <a:p>
            <a:endParaRPr lang="zh-CN" altLang="zh-CN" sz="17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7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7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7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48" name="组合 47"/>
          <p:cNvGrpSpPr/>
          <p:nvPr/>
        </p:nvGrpSpPr>
        <p:grpSpPr>
          <a:xfrm flipH="1">
            <a:off x="11065702" y="671669"/>
            <a:ext cx="851673" cy="853582"/>
            <a:chOff x="5244327" y="2299574"/>
            <a:chExt cx="851673" cy="853582"/>
          </a:xfrm>
        </p:grpSpPr>
        <p:sp>
          <p:nvSpPr>
            <p:cNvPr id="49" name="L 形 48"/>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L 形 49"/>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2" name="组合 51"/>
          <p:cNvGrpSpPr/>
          <p:nvPr/>
        </p:nvGrpSpPr>
        <p:grpSpPr>
          <a:xfrm flipV="1">
            <a:off x="321517" y="5450957"/>
            <a:ext cx="851673" cy="853582"/>
            <a:chOff x="5244327" y="2299574"/>
            <a:chExt cx="851673" cy="853582"/>
          </a:xfrm>
        </p:grpSpPr>
        <p:sp>
          <p:nvSpPr>
            <p:cNvPr id="53" name="L 形 52"/>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L 形 53"/>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flipH="1" flipV="1">
            <a:off x="11065672" y="5470438"/>
            <a:ext cx="851673" cy="853582"/>
            <a:chOff x="5244327" y="2299574"/>
            <a:chExt cx="851673" cy="853582"/>
          </a:xfrm>
        </p:grpSpPr>
        <p:sp>
          <p:nvSpPr>
            <p:cNvPr id="56" name="L 形 55"/>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L 形 56"/>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a:extLst>
              <a:ext uri="{FF2B5EF4-FFF2-40B4-BE49-F238E27FC236}">
                <a16:creationId xmlns:a16="http://schemas.microsoft.com/office/drawing/2014/main" id="{469AA995-01A2-4488-8818-4A8D7139E178}"/>
              </a:ext>
            </a:extLst>
          </p:cNvPr>
          <p:cNvSpPr/>
          <p:nvPr/>
        </p:nvSpPr>
        <p:spPr>
          <a:xfrm>
            <a:off x="4016794" y="805251"/>
            <a:ext cx="3262432" cy="461665"/>
          </a:xfrm>
          <a:prstGeom prst="rect">
            <a:avLst/>
          </a:prstGeom>
        </p:spPr>
        <p:txBody>
          <a:bodyPr wrap="none">
            <a:spAutoFit/>
          </a:bodyPr>
          <a:lstStyle/>
          <a:p>
            <a:r>
              <a:rPr lang="zh-CN" altLang="zh-CN" sz="2400" b="1" dirty="0">
                <a:solidFill>
                  <a:srgbClr val="C00000"/>
                </a:solidFill>
                <a:latin typeface="微软雅黑" panose="020B0503020204020204" pitchFamily="34" charset="-122"/>
                <a:ea typeface="微软雅黑" panose="020B0503020204020204" pitchFamily="34" charset="-122"/>
              </a:rPr>
              <a:t>爬上树梢与攀登月球</a:t>
            </a:r>
            <a:r>
              <a:rPr lang="zh-CN" altLang="en-US" sz="2400" b="1" dirty="0">
                <a:solidFill>
                  <a:srgbClr val="C00000"/>
                </a:solidFill>
                <a:latin typeface="微软雅黑" panose="020B0503020204020204" pitchFamily="34" charset="-122"/>
                <a:ea typeface="微软雅黑" panose="020B0503020204020204" pitchFamily="34" charset="-122"/>
              </a:rPr>
              <a: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gradFill>
          <a:gsLst>
            <a:gs pos="1000">
              <a:srgbClr val="0093A2">
                <a:alpha val="63000"/>
              </a:srgbClr>
            </a:gs>
            <a:gs pos="91000">
              <a:srgbClr val="013F45"/>
            </a:gs>
          </a:gsLst>
          <a:lin ang="5400000" scaled="0"/>
        </a:gradFill>
        <a:effectLst/>
      </p:bgPr>
    </p:bg>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24826" t="20686" b="9518"/>
          <a:stretch>
            <a:fillRect/>
          </a:stretch>
        </p:blipFill>
        <p:spPr>
          <a:xfrm rot="992355" flipH="1">
            <a:off x="3875496" y="-237272"/>
            <a:ext cx="9134310" cy="3976491"/>
          </a:xfrm>
          <a:prstGeom prst="rect">
            <a:avLst/>
          </a:prstGeom>
        </p:spPr>
      </p:pic>
      <p:sp>
        <p:nvSpPr>
          <p:cNvPr id="2" name="iṩḻíḑe"/>
          <p:cNvSpPr/>
          <p:nvPr/>
        </p:nvSpPr>
        <p:spPr>
          <a:xfrm>
            <a:off x="1234134" y="823236"/>
            <a:ext cx="10080000" cy="5034224"/>
          </a:xfrm>
          <a:prstGeom prst="snip2DiagRect">
            <a:avLst>
              <a:gd name="adj1" fmla="val 0"/>
              <a:gd name="adj2" fmla="val 0"/>
            </a:avLst>
          </a:prstGeom>
          <a:gradFill>
            <a:gsLst>
              <a:gs pos="100000">
                <a:srgbClr val="016773"/>
              </a:gs>
              <a:gs pos="52000">
                <a:srgbClr val="007684"/>
              </a:gs>
              <a:gs pos="0">
                <a:srgbClr val="449FA8"/>
              </a:gs>
            </a:gsLst>
            <a:lin ang="2700000" scaled="0"/>
          </a:gradFill>
          <a:ln>
            <a:gradFill flip="none" rotWithShape="1">
              <a:gsLst>
                <a:gs pos="100000">
                  <a:srgbClr val="FCFCFC"/>
                </a:gs>
                <a:gs pos="75000">
                  <a:srgbClr val="FCFCFC">
                    <a:alpha val="0"/>
                  </a:srgbClr>
                </a:gs>
                <a:gs pos="65000">
                  <a:srgbClr val="FCFCFC">
                    <a:alpha val="0"/>
                  </a:srgbClr>
                </a:gs>
                <a:gs pos="30000">
                  <a:srgbClr val="FCFCFC">
                    <a:alpha val="50000"/>
                  </a:srgbClr>
                </a:gs>
                <a:gs pos="10000">
                  <a:srgbClr val="FAFAFA">
                    <a:alpha val="0"/>
                  </a:srgbClr>
                </a:gs>
              </a:gsLst>
              <a:lin ang="2700000" scaled="0"/>
              <a:tileRect/>
            </a:gradFill>
          </a:ln>
          <a:effectLst>
            <a:outerShdw blurRad="50800" dist="508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700" dirty="0">
              <a:solidFill>
                <a:schemeClr val="lt1"/>
              </a:solidFill>
            </a:endParaRPr>
          </a:p>
        </p:txBody>
      </p:sp>
      <p:sp>
        <p:nvSpPr>
          <p:cNvPr id="7" name="矩形 6"/>
          <p:cNvSpPr/>
          <p:nvPr/>
        </p:nvSpPr>
        <p:spPr>
          <a:xfrm>
            <a:off x="1312990" y="1361537"/>
            <a:ext cx="9818367" cy="3957622"/>
          </a:xfrm>
          <a:prstGeom prst="rect">
            <a:avLst/>
          </a:prstGeom>
        </p:spPr>
        <p:txBody>
          <a:bodyPr wrap="square">
            <a:spAutoFit/>
          </a:bodyPr>
          <a:lstStyle/>
          <a:p>
            <a:pPr marL="285750" indent="-285750">
              <a:lnSpc>
                <a:spcPct val="200000"/>
              </a:lnSpc>
              <a:buClr>
                <a:schemeClr val="bg1"/>
              </a:buClr>
              <a:buSzPct val="80000"/>
              <a:buFont typeface="Wingdings" panose="05000000000000000000" pitchFamily="2" charset="2"/>
              <a:buChar char="u"/>
            </a:pPr>
            <a:r>
              <a:rPr lang="zh-CN" altLang="zh-CN" sz="1600" dirty="0">
                <a:solidFill>
                  <a:schemeClr val="bg1"/>
                </a:solidFill>
                <a:latin typeface="微软雅黑" panose="020B0503020204020204" pitchFamily="34" charset="-122"/>
                <a:ea typeface="微软雅黑" panose="020B0503020204020204" pitchFamily="34" charset="-122"/>
              </a:rPr>
              <a:t>与手工构造特征不同，深度学习通过</a:t>
            </a:r>
            <a:r>
              <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端到端</a:t>
            </a:r>
            <a:r>
              <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(end to end)”</a:t>
            </a:r>
            <a:r>
              <a:rPr lang="zh-CN" altLang="zh-CN" sz="1600" dirty="0">
                <a:solidFill>
                  <a:schemeClr val="bg1"/>
                </a:solidFill>
                <a:latin typeface="微软雅黑" panose="020B0503020204020204" pitchFamily="34" charset="-122"/>
                <a:ea typeface="微软雅黑" panose="020B0503020204020204" pitchFamily="34" charset="-122"/>
              </a:rPr>
              <a:t>学习方式来形成原始数据的有效特征表达，其基本动机在于通过构建多层网络来学习隐含在数据内部的关系，从而使学习得到的特征具有更强表达力和泛化能力。</a:t>
            </a:r>
            <a:endParaRPr lang="en-US" altLang="zh-CN" sz="1600" dirty="0">
              <a:solidFill>
                <a:schemeClr val="bg1"/>
              </a:solidFill>
              <a:latin typeface="微软雅黑" panose="020B0503020204020204" pitchFamily="34" charset="-122"/>
              <a:ea typeface="微软雅黑" panose="020B0503020204020204" pitchFamily="34" charset="-122"/>
            </a:endParaRPr>
          </a:p>
          <a:p>
            <a:pPr marL="285750" indent="-285750">
              <a:lnSpc>
                <a:spcPct val="200000"/>
              </a:lnSpc>
              <a:buClr>
                <a:schemeClr val="bg1"/>
              </a:buClr>
              <a:buSzPct val="80000"/>
              <a:buFont typeface="Wingdings" panose="05000000000000000000" pitchFamily="2" charset="2"/>
              <a:buChar char="u"/>
            </a:pPr>
            <a:r>
              <a:rPr lang="zh-CN" altLang="zh-CN" sz="1600" dirty="0">
                <a:solidFill>
                  <a:schemeClr val="bg1"/>
                </a:solidFill>
                <a:latin typeface="微软雅黑" panose="020B0503020204020204" pitchFamily="34" charset="-122"/>
                <a:ea typeface="微软雅黑" panose="020B0503020204020204" pitchFamily="34" charset="-122"/>
              </a:rPr>
              <a:t>将深度学习应用于语义概念识别和理解时，一般思路是将深度学习得到的特征</a:t>
            </a:r>
            <a:r>
              <a:rPr lang="en-US" altLang="zh-CN" sz="1600" dirty="0">
                <a:solidFill>
                  <a:schemeClr val="bg1"/>
                </a:solidFill>
                <a:latin typeface="微软雅黑" panose="020B0503020204020204" pitchFamily="34" charset="-122"/>
                <a:ea typeface="微软雅黑" panose="020B0503020204020204" pitchFamily="34" charset="-122"/>
              </a:rPr>
              <a:t>(</a:t>
            </a:r>
            <a:r>
              <a:rPr lang="zh-CN" altLang="zh-CN" sz="1600" dirty="0">
                <a:solidFill>
                  <a:schemeClr val="bg1"/>
                </a:solidFill>
                <a:latin typeface="微软雅黑" panose="020B0503020204020204" pitchFamily="34" charset="-122"/>
                <a:ea typeface="微软雅黑" panose="020B0503020204020204" pitchFamily="34" charset="-122"/>
              </a:rPr>
              <a:t>如卷积神经网络中最后一个全连接层输出以及词向量模型中输入层与隐藏层的连接权重</a:t>
            </a:r>
            <a:r>
              <a:rPr lang="en-US" altLang="zh-CN" sz="1600" dirty="0">
                <a:solidFill>
                  <a:schemeClr val="bg1"/>
                </a:solidFill>
                <a:latin typeface="微软雅黑" panose="020B0503020204020204" pitchFamily="34" charset="-122"/>
                <a:ea typeface="微软雅黑" panose="020B0503020204020204" pitchFamily="34" charset="-122"/>
              </a:rPr>
              <a:t>)</a:t>
            </a:r>
            <a:r>
              <a:rPr lang="zh-CN" altLang="zh-CN" sz="1600" dirty="0">
                <a:solidFill>
                  <a:schemeClr val="bg1"/>
                </a:solidFill>
                <a:latin typeface="微软雅黑" panose="020B0503020204020204" pitchFamily="34" charset="-122"/>
                <a:ea typeface="微软雅黑" panose="020B0503020204020204" pitchFamily="34" charset="-122"/>
              </a:rPr>
              <a:t>输入给分类模型（如</a:t>
            </a:r>
            <a:r>
              <a:rPr lang="en-US" altLang="zh-CN" sz="1600" dirty="0" err="1">
                <a:solidFill>
                  <a:schemeClr val="bg1"/>
                </a:solidFill>
                <a:latin typeface="微软雅黑" panose="020B0503020204020204" pitchFamily="34" charset="-122"/>
                <a:ea typeface="微软雅黑" panose="020B0503020204020204" pitchFamily="34" charset="-122"/>
              </a:rPr>
              <a:t>softmax</a:t>
            </a:r>
            <a:r>
              <a:rPr lang="zh-CN" altLang="zh-CN" sz="1600" dirty="0">
                <a:solidFill>
                  <a:schemeClr val="bg1"/>
                </a:solidFill>
                <a:latin typeface="微软雅黑" panose="020B0503020204020204" pitchFamily="34" charset="-122"/>
                <a:ea typeface="微软雅黑" panose="020B0503020204020204" pitchFamily="34" charset="-122"/>
              </a:rPr>
              <a:t>函数），然后根据损失函数所计算所得</a:t>
            </a:r>
            <a:r>
              <a:rPr lang="en-US" altLang="zh-CN" sz="1600" dirty="0">
                <a:solidFill>
                  <a:schemeClr val="bg1"/>
                </a:solidFill>
                <a:latin typeface="微软雅黑" panose="020B0503020204020204" pitchFamily="34" charset="-122"/>
                <a:ea typeface="微软雅黑" panose="020B0503020204020204" pitchFamily="34" charset="-122"/>
              </a:rPr>
              <a:t>“</a:t>
            </a:r>
            <a:r>
              <a:rPr lang="zh-CN" altLang="zh-CN" sz="1600" dirty="0">
                <a:solidFill>
                  <a:schemeClr val="bg1"/>
                </a:solidFill>
                <a:latin typeface="微软雅黑" panose="020B0503020204020204" pitchFamily="34" charset="-122"/>
                <a:ea typeface="微软雅黑" panose="020B0503020204020204" pitchFamily="34" charset="-122"/>
              </a:rPr>
              <a:t>误差</a:t>
            </a:r>
            <a:r>
              <a:rPr lang="en-US" altLang="zh-CN" sz="1600" dirty="0">
                <a:solidFill>
                  <a:schemeClr val="bg1"/>
                </a:solidFill>
                <a:latin typeface="微软雅黑" panose="020B0503020204020204" pitchFamily="34" charset="-122"/>
                <a:ea typeface="微软雅黑" panose="020B0503020204020204" pitchFamily="34" charset="-122"/>
              </a:rPr>
              <a:t>”</a:t>
            </a:r>
            <a:r>
              <a:rPr lang="zh-CN" altLang="zh-CN" sz="1600" dirty="0">
                <a:solidFill>
                  <a:schemeClr val="bg1"/>
                </a:solidFill>
                <a:latin typeface="微软雅黑" panose="020B0503020204020204" pitchFamily="34" charset="-122"/>
                <a:ea typeface="微软雅黑" panose="020B0503020204020204" pitchFamily="34" charset="-122"/>
              </a:rPr>
              <a:t>来对模型进行优化。这一犹如</a:t>
            </a:r>
            <a:r>
              <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黑盒子</a:t>
            </a:r>
            <a:r>
              <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的学习机制</a:t>
            </a:r>
            <a:r>
              <a:rPr lang="zh-CN" altLang="zh-CN" sz="1600" dirty="0">
                <a:solidFill>
                  <a:schemeClr val="bg1"/>
                </a:solidFill>
                <a:latin typeface="微软雅黑" panose="020B0503020204020204" pitchFamily="34" charset="-122"/>
                <a:ea typeface="微软雅黑" panose="020B0503020204020204" pitchFamily="34" charset="-122"/>
              </a:rPr>
              <a:t>使得深度学习结果缺乏解释性，从而难以可信（如易受到对抗样本攻击等），如何将知识引入学习过程，得到</a:t>
            </a: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可信安全、解释性更强、较少依赖标注大数据、自适应更好的深度学习</a:t>
            </a:r>
            <a:r>
              <a:rPr lang="zh-CN" altLang="zh-CN" sz="1600" dirty="0">
                <a:solidFill>
                  <a:schemeClr val="bg1"/>
                </a:solidFill>
                <a:latin typeface="微软雅黑" panose="020B0503020204020204" pitchFamily="34" charset="-122"/>
                <a:ea typeface="微软雅黑" panose="020B0503020204020204" pitchFamily="34" charset="-122"/>
              </a:rPr>
              <a:t>方法是目前的研究热点。</a:t>
            </a:r>
          </a:p>
        </p:txBody>
      </p:sp>
      <p:sp>
        <p:nvSpPr>
          <p:cNvPr id="9" name="矩形: 圆角 42"/>
          <p:cNvSpPr/>
          <p:nvPr/>
        </p:nvSpPr>
        <p:spPr>
          <a:xfrm>
            <a:off x="5218279" y="785408"/>
            <a:ext cx="1847895" cy="504454"/>
          </a:xfrm>
          <a:prstGeom prst="roundRect">
            <a:avLst>
              <a:gd name="adj" fmla="val 10365"/>
            </a:avLst>
          </a:prstGeom>
          <a:solidFill>
            <a:srgbClr val="9ACBCA"/>
          </a:solidFill>
          <a:ln>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47"/>
          <p:cNvSpPr/>
          <p:nvPr/>
        </p:nvSpPr>
        <p:spPr>
          <a:xfrm>
            <a:off x="5165205" y="732108"/>
            <a:ext cx="1847895" cy="504454"/>
          </a:xfrm>
          <a:prstGeom prst="roundRect">
            <a:avLst>
              <a:gd name="adj" fmla="val 10365"/>
            </a:avLst>
          </a:prstGeom>
          <a:solidFill>
            <a:srgbClr val="FAFCFC"/>
          </a:solidFill>
          <a:ln>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4"/>
          <a:stretch>
            <a:fillRect/>
          </a:stretch>
        </p:blipFill>
        <p:spPr>
          <a:xfrm>
            <a:off x="5139195" y="627721"/>
            <a:ext cx="2165958" cy="208773"/>
          </a:xfrm>
          <a:prstGeom prst="rect">
            <a:avLst/>
          </a:prstGeom>
        </p:spPr>
      </p:pic>
      <p:pic>
        <p:nvPicPr>
          <p:cNvPr id="13" name="图片 12"/>
          <p:cNvPicPr>
            <a:picLocks noChangeAspect="1"/>
          </p:cNvPicPr>
          <p:nvPr/>
        </p:nvPicPr>
        <p:blipFill>
          <a:blip r:embed="rId4"/>
          <a:stretch>
            <a:fillRect/>
          </a:stretch>
        </p:blipFill>
        <p:spPr>
          <a:xfrm flipH="1">
            <a:off x="4554375" y="1126723"/>
            <a:ext cx="2458725" cy="195194"/>
          </a:xfrm>
          <a:prstGeom prst="rect">
            <a:avLst/>
          </a:prstGeom>
        </p:spPr>
      </p:pic>
      <p:sp>
        <p:nvSpPr>
          <p:cNvPr id="18" name="文本框 17"/>
          <p:cNvSpPr txBox="1"/>
          <p:nvPr/>
        </p:nvSpPr>
        <p:spPr>
          <a:xfrm>
            <a:off x="5379329" y="823236"/>
            <a:ext cx="1397310" cy="337970"/>
          </a:xfrm>
          <a:custGeom>
            <a:avLst/>
            <a:gdLst/>
            <a:ahLst/>
            <a:cxnLst/>
            <a:rect l="l" t="t" r="r" b="b"/>
            <a:pathLst>
              <a:path w="1397310" h="337970">
                <a:moveTo>
                  <a:pt x="1317464" y="206499"/>
                </a:moveTo>
                <a:lnTo>
                  <a:pt x="1263774" y="209252"/>
                </a:lnTo>
                <a:lnTo>
                  <a:pt x="1262397" y="275332"/>
                </a:lnTo>
                <a:lnTo>
                  <a:pt x="1294060" y="273955"/>
                </a:lnTo>
                <a:cubicBezTo>
                  <a:pt x="1298649" y="273955"/>
                  <a:pt x="1304156" y="273497"/>
                  <a:pt x="1310580" y="272579"/>
                </a:cubicBezTo>
                <a:cubicBezTo>
                  <a:pt x="1314251" y="272579"/>
                  <a:pt x="1316546" y="272579"/>
                  <a:pt x="1317464" y="272579"/>
                </a:cubicBezTo>
                <a:close/>
                <a:moveTo>
                  <a:pt x="1326412" y="165199"/>
                </a:moveTo>
                <a:cubicBezTo>
                  <a:pt x="1327789" y="164740"/>
                  <a:pt x="1329395" y="165199"/>
                  <a:pt x="1331230" y="166576"/>
                </a:cubicBezTo>
                <a:cubicBezTo>
                  <a:pt x="1356928" y="181260"/>
                  <a:pt x="1373448" y="191356"/>
                  <a:pt x="1380790" y="196862"/>
                </a:cubicBezTo>
                <a:cubicBezTo>
                  <a:pt x="1385379" y="199616"/>
                  <a:pt x="1387673" y="201910"/>
                  <a:pt x="1387673" y="203746"/>
                </a:cubicBezTo>
                <a:cubicBezTo>
                  <a:pt x="1387673" y="205581"/>
                  <a:pt x="1385379" y="207417"/>
                  <a:pt x="1380790" y="209252"/>
                </a:cubicBezTo>
                <a:cubicBezTo>
                  <a:pt x="1376201" y="212006"/>
                  <a:pt x="1374365" y="215677"/>
                  <a:pt x="1375283" y="220266"/>
                </a:cubicBezTo>
                <a:cubicBezTo>
                  <a:pt x="1374365" y="238621"/>
                  <a:pt x="1373907" y="267990"/>
                  <a:pt x="1373907" y="308372"/>
                </a:cubicBezTo>
                <a:cubicBezTo>
                  <a:pt x="1374824" y="313879"/>
                  <a:pt x="1373448" y="316632"/>
                  <a:pt x="1369777" y="316632"/>
                </a:cubicBezTo>
                <a:cubicBezTo>
                  <a:pt x="1366105" y="320303"/>
                  <a:pt x="1353716" y="325351"/>
                  <a:pt x="1332607" y="331775"/>
                </a:cubicBezTo>
                <a:cubicBezTo>
                  <a:pt x="1330771" y="332693"/>
                  <a:pt x="1329395" y="333152"/>
                  <a:pt x="1328477" y="333152"/>
                </a:cubicBezTo>
                <a:cubicBezTo>
                  <a:pt x="1321135" y="335905"/>
                  <a:pt x="1317464" y="334070"/>
                  <a:pt x="1317464" y="327645"/>
                </a:cubicBezTo>
                <a:lnTo>
                  <a:pt x="1317464" y="295982"/>
                </a:lnTo>
                <a:cubicBezTo>
                  <a:pt x="1316546" y="295982"/>
                  <a:pt x="1314251" y="295982"/>
                  <a:pt x="1310580" y="295982"/>
                </a:cubicBezTo>
                <a:cubicBezTo>
                  <a:pt x="1305991" y="296900"/>
                  <a:pt x="1301861" y="297359"/>
                  <a:pt x="1298190" y="297359"/>
                </a:cubicBezTo>
                <a:lnTo>
                  <a:pt x="1262397" y="298735"/>
                </a:lnTo>
                <a:lnTo>
                  <a:pt x="1262397" y="306995"/>
                </a:lnTo>
                <a:cubicBezTo>
                  <a:pt x="1263315" y="315255"/>
                  <a:pt x="1261020" y="320303"/>
                  <a:pt x="1255514" y="322139"/>
                </a:cubicBezTo>
                <a:cubicBezTo>
                  <a:pt x="1243583" y="327645"/>
                  <a:pt x="1228898" y="332693"/>
                  <a:pt x="1211461" y="337282"/>
                </a:cubicBezTo>
                <a:cubicBezTo>
                  <a:pt x="1206872" y="338200"/>
                  <a:pt x="1204577" y="335905"/>
                  <a:pt x="1204577" y="330399"/>
                </a:cubicBezTo>
                <a:cubicBezTo>
                  <a:pt x="1206413" y="303783"/>
                  <a:pt x="1207331" y="277627"/>
                  <a:pt x="1207331" y="251929"/>
                </a:cubicBezTo>
                <a:cubicBezTo>
                  <a:pt x="1195400" y="259271"/>
                  <a:pt x="1191270" y="261566"/>
                  <a:pt x="1194941" y="258812"/>
                </a:cubicBezTo>
                <a:cubicBezTo>
                  <a:pt x="1144463" y="287263"/>
                  <a:pt x="1111423" y="306078"/>
                  <a:pt x="1095821" y="315255"/>
                </a:cubicBezTo>
                <a:cubicBezTo>
                  <a:pt x="1090315" y="318009"/>
                  <a:pt x="1086185" y="317091"/>
                  <a:pt x="1083431" y="312502"/>
                </a:cubicBezTo>
                <a:cubicBezTo>
                  <a:pt x="1073336" y="295064"/>
                  <a:pt x="1065535" y="279462"/>
                  <a:pt x="1060028" y="265696"/>
                </a:cubicBezTo>
                <a:lnTo>
                  <a:pt x="1207331" y="234032"/>
                </a:lnTo>
                <a:cubicBezTo>
                  <a:pt x="1207331" y="232197"/>
                  <a:pt x="1207790" y="229902"/>
                  <a:pt x="1208707" y="227149"/>
                </a:cubicBezTo>
                <a:cubicBezTo>
                  <a:pt x="1208707" y="224396"/>
                  <a:pt x="1208707" y="222560"/>
                  <a:pt x="1208707" y="221642"/>
                </a:cubicBezTo>
                <a:cubicBezTo>
                  <a:pt x="1208707" y="203287"/>
                  <a:pt x="1208249" y="189061"/>
                  <a:pt x="1207331" y="178966"/>
                </a:cubicBezTo>
                <a:cubicBezTo>
                  <a:pt x="1206413" y="174377"/>
                  <a:pt x="1206872" y="171624"/>
                  <a:pt x="1208707" y="170706"/>
                </a:cubicBezTo>
                <a:cubicBezTo>
                  <a:pt x="1209625" y="169788"/>
                  <a:pt x="1211920" y="170247"/>
                  <a:pt x="1215591" y="172083"/>
                </a:cubicBezTo>
                <a:cubicBezTo>
                  <a:pt x="1218344" y="173000"/>
                  <a:pt x="1222474" y="174377"/>
                  <a:pt x="1227981" y="176213"/>
                </a:cubicBezTo>
                <a:cubicBezTo>
                  <a:pt x="1240829" y="180801"/>
                  <a:pt x="1250466" y="184014"/>
                  <a:pt x="1256891" y="185849"/>
                </a:cubicBezTo>
                <a:lnTo>
                  <a:pt x="1309204" y="184473"/>
                </a:lnTo>
                <a:cubicBezTo>
                  <a:pt x="1309204" y="184473"/>
                  <a:pt x="1309662" y="184473"/>
                  <a:pt x="1310580" y="184473"/>
                </a:cubicBezTo>
                <a:cubicBezTo>
                  <a:pt x="1316087" y="183555"/>
                  <a:pt x="1319299" y="181260"/>
                  <a:pt x="1320217" y="177589"/>
                </a:cubicBezTo>
                <a:cubicBezTo>
                  <a:pt x="1322052" y="174836"/>
                  <a:pt x="1322970" y="172541"/>
                  <a:pt x="1322970" y="170706"/>
                </a:cubicBezTo>
                <a:cubicBezTo>
                  <a:pt x="1322970" y="170706"/>
                  <a:pt x="1322970" y="170247"/>
                  <a:pt x="1322970" y="169329"/>
                </a:cubicBezTo>
                <a:cubicBezTo>
                  <a:pt x="1323888" y="167035"/>
                  <a:pt x="1325035" y="165658"/>
                  <a:pt x="1326412" y="165199"/>
                </a:cubicBezTo>
                <a:close/>
                <a:moveTo>
                  <a:pt x="585080" y="150056"/>
                </a:moveTo>
                <a:lnTo>
                  <a:pt x="468064" y="155563"/>
                </a:lnTo>
                <a:lnTo>
                  <a:pt x="468064" y="172083"/>
                </a:lnTo>
                <a:cubicBezTo>
                  <a:pt x="472653" y="172083"/>
                  <a:pt x="479078" y="171624"/>
                  <a:pt x="487338" y="170706"/>
                </a:cubicBezTo>
                <a:cubicBezTo>
                  <a:pt x="491926" y="170706"/>
                  <a:pt x="495139" y="170706"/>
                  <a:pt x="496974" y="170706"/>
                </a:cubicBezTo>
                <a:lnTo>
                  <a:pt x="536897" y="167953"/>
                </a:lnTo>
                <a:cubicBezTo>
                  <a:pt x="546993" y="167953"/>
                  <a:pt x="555712" y="167035"/>
                  <a:pt x="563054" y="165199"/>
                </a:cubicBezTo>
                <a:cubicBezTo>
                  <a:pt x="568561" y="170706"/>
                  <a:pt x="573149" y="176213"/>
                  <a:pt x="576820" y="181719"/>
                </a:cubicBezTo>
                <a:cubicBezTo>
                  <a:pt x="578656" y="183555"/>
                  <a:pt x="579115" y="184473"/>
                  <a:pt x="578197" y="184473"/>
                </a:cubicBezTo>
                <a:cubicBezTo>
                  <a:pt x="578197" y="185390"/>
                  <a:pt x="576820" y="185849"/>
                  <a:pt x="574067" y="185849"/>
                </a:cubicBezTo>
                <a:cubicBezTo>
                  <a:pt x="572232" y="185849"/>
                  <a:pt x="568561" y="185849"/>
                  <a:pt x="563054" y="185849"/>
                </a:cubicBezTo>
                <a:cubicBezTo>
                  <a:pt x="553876" y="186767"/>
                  <a:pt x="547452" y="187226"/>
                  <a:pt x="543781" y="187226"/>
                </a:cubicBezTo>
                <a:lnTo>
                  <a:pt x="505234" y="189979"/>
                </a:lnTo>
                <a:cubicBezTo>
                  <a:pt x="504316" y="189979"/>
                  <a:pt x="499728" y="190438"/>
                  <a:pt x="491468" y="191356"/>
                </a:cubicBezTo>
                <a:cubicBezTo>
                  <a:pt x="481372" y="192274"/>
                  <a:pt x="475407" y="192733"/>
                  <a:pt x="473571" y="192733"/>
                </a:cubicBezTo>
                <a:lnTo>
                  <a:pt x="468064" y="184473"/>
                </a:lnTo>
                <a:lnTo>
                  <a:pt x="468064" y="207876"/>
                </a:lnTo>
                <a:lnTo>
                  <a:pt x="541027" y="205122"/>
                </a:lnTo>
                <a:cubicBezTo>
                  <a:pt x="546534" y="205122"/>
                  <a:pt x="557547" y="204205"/>
                  <a:pt x="574067" y="202369"/>
                </a:cubicBezTo>
                <a:cubicBezTo>
                  <a:pt x="577738" y="201451"/>
                  <a:pt x="580033" y="200992"/>
                  <a:pt x="580950" y="200992"/>
                </a:cubicBezTo>
                <a:lnTo>
                  <a:pt x="583704" y="205122"/>
                </a:lnTo>
                <a:close/>
                <a:moveTo>
                  <a:pt x="589210" y="114263"/>
                </a:moveTo>
                <a:lnTo>
                  <a:pt x="429518" y="121146"/>
                </a:lnTo>
                <a:cubicBezTo>
                  <a:pt x="425847" y="121146"/>
                  <a:pt x="421258" y="121146"/>
                  <a:pt x="415751" y="121146"/>
                </a:cubicBezTo>
                <a:cubicBezTo>
                  <a:pt x="432271" y="124817"/>
                  <a:pt x="448791" y="129406"/>
                  <a:pt x="465311" y="134913"/>
                </a:cubicBezTo>
                <a:lnTo>
                  <a:pt x="576820" y="129406"/>
                </a:lnTo>
                <a:cubicBezTo>
                  <a:pt x="580492" y="129406"/>
                  <a:pt x="583704" y="127571"/>
                  <a:pt x="586457" y="123899"/>
                </a:cubicBezTo>
                <a:cubicBezTo>
                  <a:pt x="587375" y="122982"/>
                  <a:pt x="587834" y="122064"/>
                  <a:pt x="587834" y="121146"/>
                </a:cubicBezTo>
                <a:cubicBezTo>
                  <a:pt x="588752" y="119311"/>
                  <a:pt x="589210" y="117934"/>
                  <a:pt x="589210" y="117016"/>
                </a:cubicBezTo>
                <a:cubicBezTo>
                  <a:pt x="589210" y="115181"/>
                  <a:pt x="589210" y="114263"/>
                  <a:pt x="589210" y="114263"/>
                </a:cubicBezTo>
                <a:close/>
                <a:moveTo>
                  <a:pt x="952649" y="92236"/>
                </a:moveTo>
                <a:cubicBezTo>
                  <a:pt x="995784" y="131701"/>
                  <a:pt x="1024694" y="163823"/>
                  <a:pt x="1039378" y="188603"/>
                </a:cubicBezTo>
                <a:cubicBezTo>
                  <a:pt x="1046720" y="199616"/>
                  <a:pt x="1044885" y="211547"/>
                  <a:pt x="1033872" y="224396"/>
                </a:cubicBezTo>
                <a:cubicBezTo>
                  <a:pt x="1021023" y="240916"/>
                  <a:pt x="1005880" y="255141"/>
                  <a:pt x="988442" y="267072"/>
                </a:cubicBezTo>
                <a:cubicBezTo>
                  <a:pt x="979264" y="223019"/>
                  <a:pt x="963662" y="167035"/>
                  <a:pt x="941635" y="99120"/>
                </a:cubicBezTo>
                <a:close/>
                <a:moveTo>
                  <a:pt x="777297" y="87762"/>
                </a:moveTo>
                <a:cubicBezTo>
                  <a:pt x="779017" y="87992"/>
                  <a:pt x="781025" y="88565"/>
                  <a:pt x="783320" y="89483"/>
                </a:cubicBezTo>
                <a:cubicBezTo>
                  <a:pt x="798922" y="94990"/>
                  <a:pt x="814983" y="101414"/>
                  <a:pt x="831503" y="108756"/>
                </a:cubicBezTo>
                <a:cubicBezTo>
                  <a:pt x="834256" y="109674"/>
                  <a:pt x="836091" y="110592"/>
                  <a:pt x="837009" y="111510"/>
                </a:cubicBezTo>
                <a:cubicBezTo>
                  <a:pt x="837009" y="112427"/>
                  <a:pt x="836091" y="114263"/>
                  <a:pt x="834256" y="117016"/>
                </a:cubicBezTo>
                <a:cubicBezTo>
                  <a:pt x="832420" y="118852"/>
                  <a:pt x="825996" y="131242"/>
                  <a:pt x="814983" y="154186"/>
                </a:cubicBezTo>
                <a:cubicBezTo>
                  <a:pt x="788367" y="209252"/>
                  <a:pt x="759457" y="246881"/>
                  <a:pt x="728253" y="267072"/>
                </a:cubicBezTo>
                <a:lnTo>
                  <a:pt x="722746" y="260189"/>
                </a:lnTo>
                <a:cubicBezTo>
                  <a:pt x="735595" y="227149"/>
                  <a:pt x="748444" y="186308"/>
                  <a:pt x="761293" y="137666"/>
                </a:cubicBezTo>
                <a:cubicBezTo>
                  <a:pt x="765882" y="117475"/>
                  <a:pt x="768635" y="103250"/>
                  <a:pt x="769553" y="94990"/>
                </a:cubicBezTo>
                <a:cubicBezTo>
                  <a:pt x="769553" y="89483"/>
                  <a:pt x="772134" y="87074"/>
                  <a:pt x="777297" y="87762"/>
                </a:cubicBezTo>
                <a:close/>
                <a:moveTo>
                  <a:pt x="563054" y="61950"/>
                </a:moveTo>
                <a:lnTo>
                  <a:pt x="483208" y="66080"/>
                </a:lnTo>
                <a:cubicBezTo>
                  <a:pt x="491468" y="67915"/>
                  <a:pt x="497892" y="70210"/>
                  <a:pt x="502481" y="72963"/>
                </a:cubicBezTo>
                <a:cubicBezTo>
                  <a:pt x="510741" y="77552"/>
                  <a:pt x="512117" y="82600"/>
                  <a:pt x="506611" y="88106"/>
                </a:cubicBezTo>
                <a:lnTo>
                  <a:pt x="499728" y="94990"/>
                </a:lnTo>
                <a:lnTo>
                  <a:pt x="545157" y="93613"/>
                </a:lnTo>
                <a:cubicBezTo>
                  <a:pt x="548828" y="87189"/>
                  <a:pt x="553417" y="79387"/>
                  <a:pt x="558924" y="70210"/>
                </a:cubicBezTo>
                <a:cubicBezTo>
                  <a:pt x="560759" y="67456"/>
                  <a:pt x="562136" y="64703"/>
                  <a:pt x="563054" y="61950"/>
                </a:cubicBezTo>
                <a:close/>
                <a:moveTo>
                  <a:pt x="1267904" y="8260"/>
                </a:moveTo>
                <a:cubicBezTo>
                  <a:pt x="1290848" y="11931"/>
                  <a:pt x="1306909" y="15602"/>
                  <a:pt x="1316087" y="19273"/>
                </a:cubicBezTo>
                <a:cubicBezTo>
                  <a:pt x="1318840" y="20191"/>
                  <a:pt x="1319758" y="22027"/>
                  <a:pt x="1318840" y="24780"/>
                </a:cubicBezTo>
                <a:cubicBezTo>
                  <a:pt x="1318840" y="35793"/>
                  <a:pt x="1318840" y="47265"/>
                  <a:pt x="1318840" y="59196"/>
                </a:cubicBezTo>
                <a:lnTo>
                  <a:pt x="1318840" y="60573"/>
                </a:lnTo>
                <a:lnTo>
                  <a:pt x="1335360" y="60573"/>
                </a:lnTo>
                <a:cubicBezTo>
                  <a:pt x="1337196" y="60573"/>
                  <a:pt x="1340867" y="60114"/>
                  <a:pt x="1346373" y="59196"/>
                </a:cubicBezTo>
                <a:cubicBezTo>
                  <a:pt x="1361976" y="58279"/>
                  <a:pt x="1372071" y="56902"/>
                  <a:pt x="1376660" y="55066"/>
                </a:cubicBezTo>
                <a:cubicBezTo>
                  <a:pt x="1385838" y="66080"/>
                  <a:pt x="1391803" y="72963"/>
                  <a:pt x="1394557" y="75716"/>
                </a:cubicBezTo>
                <a:cubicBezTo>
                  <a:pt x="1396392" y="77552"/>
                  <a:pt x="1396851" y="78929"/>
                  <a:pt x="1395933" y="79846"/>
                </a:cubicBezTo>
                <a:cubicBezTo>
                  <a:pt x="1395015" y="80764"/>
                  <a:pt x="1393180" y="81223"/>
                  <a:pt x="1390427" y="81223"/>
                </a:cubicBezTo>
                <a:cubicBezTo>
                  <a:pt x="1387673" y="81223"/>
                  <a:pt x="1379872" y="81223"/>
                  <a:pt x="1367023" y="81223"/>
                </a:cubicBezTo>
                <a:cubicBezTo>
                  <a:pt x="1354175" y="82141"/>
                  <a:pt x="1345915" y="82600"/>
                  <a:pt x="1342243" y="82600"/>
                </a:cubicBezTo>
                <a:lnTo>
                  <a:pt x="1317464" y="83976"/>
                </a:lnTo>
                <a:lnTo>
                  <a:pt x="1317464" y="128029"/>
                </a:lnTo>
                <a:lnTo>
                  <a:pt x="1329853" y="128029"/>
                </a:lnTo>
                <a:cubicBezTo>
                  <a:pt x="1346373" y="128029"/>
                  <a:pt x="1361976" y="126653"/>
                  <a:pt x="1376660" y="123899"/>
                </a:cubicBezTo>
                <a:cubicBezTo>
                  <a:pt x="1378495" y="125735"/>
                  <a:pt x="1381708" y="129406"/>
                  <a:pt x="1386297" y="134913"/>
                </a:cubicBezTo>
                <a:cubicBezTo>
                  <a:pt x="1390885" y="140419"/>
                  <a:pt x="1393639" y="143632"/>
                  <a:pt x="1394557" y="144549"/>
                </a:cubicBezTo>
                <a:cubicBezTo>
                  <a:pt x="1396392" y="147303"/>
                  <a:pt x="1397310" y="149138"/>
                  <a:pt x="1397310" y="150056"/>
                </a:cubicBezTo>
                <a:cubicBezTo>
                  <a:pt x="1396392" y="150974"/>
                  <a:pt x="1394557" y="151433"/>
                  <a:pt x="1391803" y="151433"/>
                </a:cubicBezTo>
                <a:cubicBezTo>
                  <a:pt x="1374365" y="151433"/>
                  <a:pt x="1356469" y="151433"/>
                  <a:pt x="1338113" y="151433"/>
                </a:cubicBezTo>
                <a:lnTo>
                  <a:pt x="1254137" y="155563"/>
                </a:lnTo>
                <a:cubicBezTo>
                  <a:pt x="1251384" y="155563"/>
                  <a:pt x="1244959" y="156022"/>
                  <a:pt x="1234864" y="156939"/>
                </a:cubicBezTo>
                <a:cubicBezTo>
                  <a:pt x="1222933" y="157857"/>
                  <a:pt x="1215132" y="158316"/>
                  <a:pt x="1211461" y="158316"/>
                </a:cubicBezTo>
                <a:lnTo>
                  <a:pt x="1194941" y="133536"/>
                </a:lnTo>
                <a:cubicBezTo>
                  <a:pt x="1216967" y="133536"/>
                  <a:pt x="1233946" y="133536"/>
                  <a:pt x="1245877" y="133536"/>
                </a:cubicBezTo>
                <a:lnTo>
                  <a:pt x="1259644" y="132159"/>
                </a:lnTo>
                <a:lnTo>
                  <a:pt x="1259644" y="86730"/>
                </a:lnTo>
                <a:cubicBezTo>
                  <a:pt x="1256891" y="86730"/>
                  <a:pt x="1251384" y="87189"/>
                  <a:pt x="1243124" y="88106"/>
                </a:cubicBezTo>
                <a:cubicBezTo>
                  <a:pt x="1229357" y="89024"/>
                  <a:pt x="1217885" y="89942"/>
                  <a:pt x="1208707" y="90860"/>
                </a:cubicBezTo>
                <a:lnTo>
                  <a:pt x="1190811" y="64703"/>
                </a:lnTo>
                <a:cubicBezTo>
                  <a:pt x="1222015" y="64703"/>
                  <a:pt x="1242206" y="64244"/>
                  <a:pt x="1251384" y="63326"/>
                </a:cubicBezTo>
                <a:lnTo>
                  <a:pt x="1259644" y="63326"/>
                </a:lnTo>
                <a:lnTo>
                  <a:pt x="1259644" y="60573"/>
                </a:lnTo>
                <a:cubicBezTo>
                  <a:pt x="1259644" y="43135"/>
                  <a:pt x="1259644" y="27992"/>
                  <a:pt x="1259644" y="15143"/>
                </a:cubicBezTo>
                <a:cubicBezTo>
                  <a:pt x="1259644" y="8719"/>
                  <a:pt x="1262397" y="6425"/>
                  <a:pt x="1267904" y="8260"/>
                </a:cubicBezTo>
                <a:close/>
                <a:moveTo>
                  <a:pt x="861101" y="6883"/>
                </a:moveTo>
                <a:cubicBezTo>
                  <a:pt x="862936" y="6883"/>
                  <a:pt x="865460" y="7342"/>
                  <a:pt x="868672" y="8260"/>
                </a:cubicBezTo>
                <a:cubicBezTo>
                  <a:pt x="892534" y="14684"/>
                  <a:pt x="907678" y="19732"/>
                  <a:pt x="914102" y="23403"/>
                </a:cubicBezTo>
                <a:cubicBezTo>
                  <a:pt x="917773" y="24321"/>
                  <a:pt x="919609" y="27074"/>
                  <a:pt x="919609" y="31663"/>
                </a:cubicBezTo>
                <a:cubicBezTo>
                  <a:pt x="918691" y="41759"/>
                  <a:pt x="918232" y="55984"/>
                  <a:pt x="918232" y="74340"/>
                </a:cubicBezTo>
                <a:cubicBezTo>
                  <a:pt x="918232" y="157857"/>
                  <a:pt x="917314" y="221642"/>
                  <a:pt x="915479" y="265696"/>
                </a:cubicBezTo>
                <a:cubicBezTo>
                  <a:pt x="915479" y="294147"/>
                  <a:pt x="909054" y="309749"/>
                  <a:pt x="896206" y="312502"/>
                </a:cubicBezTo>
                <a:cubicBezTo>
                  <a:pt x="884275" y="318926"/>
                  <a:pt x="874638" y="324892"/>
                  <a:pt x="867296" y="330399"/>
                </a:cubicBezTo>
                <a:cubicBezTo>
                  <a:pt x="859036" y="335905"/>
                  <a:pt x="853529" y="338200"/>
                  <a:pt x="850776" y="337282"/>
                </a:cubicBezTo>
                <a:cubicBezTo>
                  <a:pt x="847105" y="335446"/>
                  <a:pt x="845728" y="330399"/>
                  <a:pt x="846646" y="322139"/>
                </a:cubicBezTo>
                <a:cubicBezTo>
                  <a:pt x="847564" y="307454"/>
                  <a:pt x="843434" y="298735"/>
                  <a:pt x="834256" y="295982"/>
                </a:cubicBezTo>
                <a:cubicBezTo>
                  <a:pt x="827831" y="292311"/>
                  <a:pt x="813606" y="285887"/>
                  <a:pt x="791579" y="276709"/>
                </a:cubicBezTo>
                <a:cubicBezTo>
                  <a:pt x="786991" y="274873"/>
                  <a:pt x="783320" y="273497"/>
                  <a:pt x="780566" y="272579"/>
                </a:cubicBezTo>
                <a:lnTo>
                  <a:pt x="783320" y="260189"/>
                </a:lnTo>
                <a:lnTo>
                  <a:pt x="850776" y="267072"/>
                </a:lnTo>
                <a:cubicBezTo>
                  <a:pt x="855365" y="262483"/>
                  <a:pt x="858118" y="196404"/>
                  <a:pt x="859036" y="68833"/>
                </a:cubicBezTo>
                <a:cubicBezTo>
                  <a:pt x="859036" y="66080"/>
                  <a:pt x="859036" y="59655"/>
                  <a:pt x="859036" y="49560"/>
                </a:cubicBezTo>
                <a:cubicBezTo>
                  <a:pt x="858118" y="34875"/>
                  <a:pt x="857659" y="24321"/>
                  <a:pt x="857659" y="17897"/>
                </a:cubicBezTo>
                <a:cubicBezTo>
                  <a:pt x="856741" y="11472"/>
                  <a:pt x="856741" y="8260"/>
                  <a:pt x="857659" y="8260"/>
                </a:cubicBezTo>
                <a:cubicBezTo>
                  <a:pt x="858118" y="7342"/>
                  <a:pt x="859265" y="6883"/>
                  <a:pt x="861101" y="6883"/>
                </a:cubicBezTo>
                <a:close/>
                <a:moveTo>
                  <a:pt x="1136433" y="4818"/>
                </a:moveTo>
                <a:cubicBezTo>
                  <a:pt x="1137809" y="4360"/>
                  <a:pt x="1139416" y="4589"/>
                  <a:pt x="1141251" y="5507"/>
                </a:cubicBezTo>
                <a:cubicBezTo>
                  <a:pt x="1144004" y="7342"/>
                  <a:pt x="1150429" y="10554"/>
                  <a:pt x="1160524" y="15143"/>
                </a:cubicBezTo>
                <a:cubicBezTo>
                  <a:pt x="1177044" y="23403"/>
                  <a:pt x="1186222" y="28451"/>
                  <a:pt x="1188057" y="30287"/>
                </a:cubicBezTo>
                <a:cubicBezTo>
                  <a:pt x="1190811" y="32122"/>
                  <a:pt x="1190352" y="34875"/>
                  <a:pt x="1186681" y="38547"/>
                </a:cubicBezTo>
                <a:cubicBezTo>
                  <a:pt x="1183928" y="40382"/>
                  <a:pt x="1177962" y="46807"/>
                  <a:pt x="1168784" y="57820"/>
                </a:cubicBezTo>
                <a:cubicBezTo>
                  <a:pt x="1145840" y="82600"/>
                  <a:pt x="1126108" y="100496"/>
                  <a:pt x="1109588" y="111510"/>
                </a:cubicBezTo>
                <a:lnTo>
                  <a:pt x="1150888" y="108756"/>
                </a:lnTo>
                <a:cubicBezTo>
                  <a:pt x="1150888" y="106921"/>
                  <a:pt x="1151805" y="105085"/>
                  <a:pt x="1153641" y="103250"/>
                </a:cubicBezTo>
                <a:cubicBezTo>
                  <a:pt x="1158230" y="94990"/>
                  <a:pt x="1161901" y="86271"/>
                  <a:pt x="1164654" y="77093"/>
                </a:cubicBezTo>
                <a:cubicBezTo>
                  <a:pt x="1166490" y="73422"/>
                  <a:pt x="1169243" y="72504"/>
                  <a:pt x="1172914" y="74340"/>
                </a:cubicBezTo>
                <a:cubicBezTo>
                  <a:pt x="1184845" y="80764"/>
                  <a:pt x="1199071" y="89024"/>
                  <a:pt x="1215591" y="99120"/>
                </a:cubicBezTo>
                <a:cubicBezTo>
                  <a:pt x="1220180" y="101873"/>
                  <a:pt x="1220180" y="104626"/>
                  <a:pt x="1215591" y="107380"/>
                </a:cubicBezTo>
                <a:cubicBezTo>
                  <a:pt x="1211002" y="111968"/>
                  <a:pt x="1204577" y="118393"/>
                  <a:pt x="1196317" y="126653"/>
                </a:cubicBezTo>
                <a:cubicBezTo>
                  <a:pt x="1167866" y="156939"/>
                  <a:pt x="1145381" y="177589"/>
                  <a:pt x="1128861" y="188603"/>
                </a:cubicBezTo>
                <a:lnTo>
                  <a:pt x="1190811" y="181719"/>
                </a:lnTo>
                <a:lnTo>
                  <a:pt x="1196317" y="195486"/>
                </a:lnTo>
                <a:lnTo>
                  <a:pt x="1121978" y="225772"/>
                </a:lnTo>
                <a:cubicBezTo>
                  <a:pt x="1110965" y="229443"/>
                  <a:pt x="1101328" y="234950"/>
                  <a:pt x="1093068" y="242292"/>
                </a:cubicBezTo>
                <a:lnTo>
                  <a:pt x="1072418" y="194109"/>
                </a:lnTo>
                <a:cubicBezTo>
                  <a:pt x="1088938" y="192274"/>
                  <a:pt x="1100410" y="186767"/>
                  <a:pt x="1106835" y="177589"/>
                </a:cubicBezTo>
                <a:cubicBezTo>
                  <a:pt x="1117848" y="163823"/>
                  <a:pt x="1127026" y="150515"/>
                  <a:pt x="1134368" y="137666"/>
                </a:cubicBezTo>
                <a:lnTo>
                  <a:pt x="1109588" y="145926"/>
                </a:lnTo>
                <a:cubicBezTo>
                  <a:pt x="1096739" y="150515"/>
                  <a:pt x="1087561" y="155104"/>
                  <a:pt x="1082055" y="159693"/>
                </a:cubicBezTo>
                <a:lnTo>
                  <a:pt x="1061405" y="115640"/>
                </a:lnTo>
                <a:cubicBezTo>
                  <a:pt x="1074254" y="112886"/>
                  <a:pt x="1082055" y="108756"/>
                  <a:pt x="1084808" y="103250"/>
                </a:cubicBezTo>
                <a:cubicBezTo>
                  <a:pt x="1094903" y="86730"/>
                  <a:pt x="1107752" y="63785"/>
                  <a:pt x="1123354" y="34417"/>
                </a:cubicBezTo>
                <a:cubicBezTo>
                  <a:pt x="1124272" y="31663"/>
                  <a:pt x="1125649" y="27992"/>
                  <a:pt x="1127484" y="23403"/>
                </a:cubicBezTo>
                <a:cubicBezTo>
                  <a:pt x="1129320" y="19732"/>
                  <a:pt x="1131156" y="14684"/>
                  <a:pt x="1132991" y="8260"/>
                </a:cubicBezTo>
                <a:cubicBezTo>
                  <a:pt x="1133909" y="6424"/>
                  <a:pt x="1135056" y="5277"/>
                  <a:pt x="1136433" y="4818"/>
                </a:cubicBezTo>
                <a:close/>
                <a:moveTo>
                  <a:pt x="143173" y="1377"/>
                </a:moveTo>
                <a:cubicBezTo>
                  <a:pt x="144090" y="459"/>
                  <a:pt x="146385" y="459"/>
                  <a:pt x="150056" y="1377"/>
                </a:cubicBezTo>
                <a:cubicBezTo>
                  <a:pt x="170247" y="6883"/>
                  <a:pt x="187685" y="12849"/>
                  <a:pt x="202369" y="19273"/>
                </a:cubicBezTo>
                <a:cubicBezTo>
                  <a:pt x="205122" y="20191"/>
                  <a:pt x="206040" y="22486"/>
                  <a:pt x="205122" y="26157"/>
                </a:cubicBezTo>
                <a:cubicBezTo>
                  <a:pt x="203287" y="39923"/>
                  <a:pt x="202369" y="56443"/>
                  <a:pt x="202369" y="75716"/>
                </a:cubicBezTo>
                <a:lnTo>
                  <a:pt x="246422" y="74340"/>
                </a:lnTo>
                <a:cubicBezTo>
                  <a:pt x="272120" y="71586"/>
                  <a:pt x="292770" y="69292"/>
                  <a:pt x="308372" y="67456"/>
                </a:cubicBezTo>
                <a:cubicBezTo>
                  <a:pt x="318467" y="75716"/>
                  <a:pt x="325351" y="82600"/>
                  <a:pt x="329022" y="88106"/>
                </a:cubicBezTo>
                <a:cubicBezTo>
                  <a:pt x="331775" y="90860"/>
                  <a:pt x="332693" y="92695"/>
                  <a:pt x="331775" y="93613"/>
                </a:cubicBezTo>
                <a:cubicBezTo>
                  <a:pt x="331775" y="95449"/>
                  <a:pt x="329939" y="96366"/>
                  <a:pt x="326268" y="96366"/>
                </a:cubicBezTo>
                <a:cubicBezTo>
                  <a:pt x="306077" y="96366"/>
                  <a:pt x="284051" y="96366"/>
                  <a:pt x="260189" y="96366"/>
                </a:cubicBezTo>
                <a:lnTo>
                  <a:pt x="213382" y="99120"/>
                </a:lnTo>
                <a:cubicBezTo>
                  <a:pt x="256518" y="158775"/>
                  <a:pt x="301947" y="201910"/>
                  <a:pt x="349672" y="228526"/>
                </a:cubicBezTo>
                <a:lnTo>
                  <a:pt x="348295" y="236786"/>
                </a:lnTo>
                <a:cubicBezTo>
                  <a:pt x="334528" y="246881"/>
                  <a:pt x="319385" y="261566"/>
                  <a:pt x="302865" y="280839"/>
                </a:cubicBezTo>
                <a:cubicBezTo>
                  <a:pt x="299194" y="285428"/>
                  <a:pt x="295523" y="285428"/>
                  <a:pt x="291852" y="280839"/>
                </a:cubicBezTo>
                <a:cubicBezTo>
                  <a:pt x="255141" y="246881"/>
                  <a:pt x="224854" y="188144"/>
                  <a:pt x="200992" y="104626"/>
                </a:cubicBezTo>
                <a:cubicBezTo>
                  <a:pt x="200992" y="149597"/>
                  <a:pt x="200992" y="195027"/>
                  <a:pt x="200992" y="240916"/>
                </a:cubicBezTo>
                <a:cubicBezTo>
                  <a:pt x="204663" y="240916"/>
                  <a:pt x="210170" y="240457"/>
                  <a:pt x="217512" y="239539"/>
                </a:cubicBezTo>
                <a:cubicBezTo>
                  <a:pt x="227608" y="238621"/>
                  <a:pt x="234491" y="237703"/>
                  <a:pt x="238162" y="236786"/>
                </a:cubicBezTo>
                <a:cubicBezTo>
                  <a:pt x="247340" y="245963"/>
                  <a:pt x="253305" y="252388"/>
                  <a:pt x="256059" y="256059"/>
                </a:cubicBezTo>
                <a:cubicBezTo>
                  <a:pt x="257894" y="257894"/>
                  <a:pt x="258812" y="259730"/>
                  <a:pt x="258812" y="261566"/>
                </a:cubicBezTo>
                <a:cubicBezTo>
                  <a:pt x="257894" y="262483"/>
                  <a:pt x="256059" y="262942"/>
                  <a:pt x="253305" y="262942"/>
                </a:cubicBezTo>
                <a:cubicBezTo>
                  <a:pt x="229443" y="262942"/>
                  <a:pt x="212464" y="263401"/>
                  <a:pt x="202369" y="264319"/>
                </a:cubicBezTo>
                <a:lnTo>
                  <a:pt x="200992" y="264319"/>
                </a:lnTo>
                <a:cubicBezTo>
                  <a:pt x="200992" y="279921"/>
                  <a:pt x="200992" y="295064"/>
                  <a:pt x="200992" y="309749"/>
                </a:cubicBezTo>
                <a:cubicBezTo>
                  <a:pt x="201910" y="317091"/>
                  <a:pt x="199616" y="321680"/>
                  <a:pt x="194109" y="323515"/>
                </a:cubicBezTo>
                <a:cubicBezTo>
                  <a:pt x="178507" y="329022"/>
                  <a:pt x="161987" y="333611"/>
                  <a:pt x="144549" y="337282"/>
                </a:cubicBezTo>
                <a:cubicBezTo>
                  <a:pt x="141796" y="338200"/>
                  <a:pt x="139960" y="338200"/>
                  <a:pt x="139043" y="337282"/>
                </a:cubicBezTo>
                <a:cubicBezTo>
                  <a:pt x="138125" y="337282"/>
                  <a:pt x="137666" y="335446"/>
                  <a:pt x="137666" y="331775"/>
                </a:cubicBezTo>
                <a:cubicBezTo>
                  <a:pt x="138584" y="324433"/>
                  <a:pt x="139043" y="313879"/>
                  <a:pt x="139043" y="300112"/>
                </a:cubicBezTo>
                <a:cubicBezTo>
                  <a:pt x="139960" y="285428"/>
                  <a:pt x="140419" y="274414"/>
                  <a:pt x="140419" y="267072"/>
                </a:cubicBezTo>
                <a:lnTo>
                  <a:pt x="128029" y="267072"/>
                </a:lnTo>
                <a:cubicBezTo>
                  <a:pt x="111509" y="268908"/>
                  <a:pt x="99578" y="269826"/>
                  <a:pt x="92236" y="269826"/>
                </a:cubicBezTo>
                <a:lnTo>
                  <a:pt x="74340" y="245046"/>
                </a:lnTo>
                <a:cubicBezTo>
                  <a:pt x="92695" y="245046"/>
                  <a:pt x="108297" y="244587"/>
                  <a:pt x="121146" y="243669"/>
                </a:cubicBezTo>
                <a:lnTo>
                  <a:pt x="140419" y="243669"/>
                </a:lnTo>
                <a:cubicBezTo>
                  <a:pt x="141337" y="217971"/>
                  <a:pt x="141796" y="192733"/>
                  <a:pt x="141796" y="167953"/>
                </a:cubicBezTo>
                <a:cubicBezTo>
                  <a:pt x="106003" y="221183"/>
                  <a:pt x="60114" y="262483"/>
                  <a:pt x="4130" y="291852"/>
                </a:cubicBezTo>
                <a:lnTo>
                  <a:pt x="0" y="284969"/>
                </a:lnTo>
                <a:cubicBezTo>
                  <a:pt x="47724" y="229902"/>
                  <a:pt x="85812" y="169329"/>
                  <a:pt x="114263" y="103250"/>
                </a:cubicBezTo>
                <a:lnTo>
                  <a:pt x="83976" y="104626"/>
                </a:lnTo>
                <a:cubicBezTo>
                  <a:pt x="66538" y="105544"/>
                  <a:pt x="51395" y="106462"/>
                  <a:pt x="38546" y="107380"/>
                </a:cubicBezTo>
                <a:lnTo>
                  <a:pt x="17897" y="81223"/>
                </a:lnTo>
                <a:cubicBezTo>
                  <a:pt x="26156" y="82141"/>
                  <a:pt x="42218" y="82141"/>
                  <a:pt x="66080" y="81223"/>
                </a:cubicBezTo>
                <a:cubicBezTo>
                  <a:pt x="71586" y="81223"/>
                  <a:pt x="75257" y="81223"/>
                  <a:pt x="77093" y="81223"/>
                </a:cubicBezTo>
                <a:lnTo>
                  <a:pt x="143173" y="78470"/>
                </a:lnTo>
                <a:cubicBezTo>
                  <a:pt x="143173" y="55525"/>
                  <a:pt x="142714" y="32581"/>
                  <a:pt x="141796" y="9637"/>
                </a:cubicBezTo>
                <a:cubicBezTo>
                  <a:pt x="141796" y="5048"/>
                  <a:pt x="142255" y="2295"/>
                  <a:pt x="143173" y="1377"/>
                </a:cubicBezTo>
                <a:close/>
                <a:moveTo>
                  <a:pt x="488714" y="0"/>
                </a:moveTo>
                <a:cubicBezTo>
                  <a:pt x="522672" y="1836"/>
                  <a:pt x="545616" y="6425"/>
                  <a:pt x="557547" y="13767"/>
                </a:cubicBezTo>
                <a:cubicBezTo>
                  <a:pt x="565807" y="17438"/>
                  <a:pt x="567184" y="22944"/>
                  <a:pt x="561677" y="30287"/>
                </a:cubicBezTo>
                <a:cubicBezTo>
                  <a:pt x="558924" y="33040"/>
                  <a:pt x="555712" y="35793"/>
                  <a:pt x="552041" y="38547"/>
                </a:cubicBezTo>
                <a:lnTo>
                  <a:pt x="593340" y="37170"/>
                </a:lnTo>
                <a:cubicBezTo>
                  <a:pt x="611696" y="35334"/>
                  <a:pt x="627757" y="33040"/>
                  <a:pt x="641524" y="30287"/>
                </a:cubicBezTo>
                <a:cubicBezTo>
                  <a:pt x="644277" y="32122"/>
                  <a:pt x="648407" y="35793"/>
                  <a:pt x="653913" y="41300"/>
                </a:cubicBezTo>
                <a:cubicBezTo>
                  <a:pt x="658502" y="45889"/>
                  <a:pt x="661715" y="49101"/>
                  <a:pt x="663550" y="50937"/>
                </a:cubicBezTo>
                <a:cubicBezTo>
                  <a:pt x="666303" y="53690"/>
                  <a:pt x="667221" y="55525"/>
                  <a:pt x="666303" y="56443"/>
                </a:cubicBezTo>
                <a:cubicBezTo>
                  <a:pt x="665386" y="57361"/>
                  <a:pt x="662632" y="57820"/>
                  <a:pt x="658043" y="57820"/>
                </a:cubicBezTo>
                <a:cubicBezTo>
                  <a:pt x="654372" y="57820"/>
                  <a:pt x="647030" y="57820"/>
                  <a:pt x="636017" y="57820"/>
                </a:cubicBezTo>
                <a:cubicBezTo>
                  <a:pt x="619497" y="58738"/>
                  <a:pt x="608025" y="59196"/>
                  <a:pt x="601600" y="59196"/>
                </a:cubicBezTo>
                <a:cubicBezTo>
                  <a:pt x="603436" y="61032"/>
                  <a:pt x="606189" y="62868"/>
                  <a:pt x="609860" y="64703"/>
                </a:cubicBezTo>
                <a:cubicBezTo>
                  <a:pt x="612614" y="66539"/>
                  <a:pt x="615367" y="68374"/>
                  <a:pt x="618120" y="70210"/>
                </a:cubicBezTo>
                <a:cubicBezTo>
                  <a:pt x="619956" y="71128"/>
                  <a:pt x="620874" y="72504"/>
                  <a:pt x="620874" y="74340"/>
                </a:cubicBezTo>
                <a:cubicBezTo>
                  <a:pt x="619956" y="75258"/>
                  <a:pt x="618579" y="76175"/>
                  <a:pt x="616744" y="77093"/>
                </a:cubicBezTo>
                <a:cubicBezTo>
                  <a:pt x="614908" y="78011"/>
                  <a:pt x="611696" y="79387"/>
                  <a:pt x="607107" y="81223"/>
                </a:cubicBezTo>
                <a:cubicBezTo>
                  <a:pt x="603436" y="83059"/>
                  <a:pt x="600224" y="84435"/>
                  <a:pt x="597470" y="85353"/>
                </a:cubicBezTo>
                <a:cubicBezTo>
                  <a:pt x="593799" y="88106"/>
                  <a:pt x="589669" y="89942"/>
                  <a:pt x="585080" y="90860"/>
                </a:cubicBezTo>
                <a:lnTo>
                  <a:pt x="619497" y="89483"/>
                </a:lnTo>
                <a:cubicBezTo>
                  <a:pt x="620415" y="89483"/>
                  <a:pt x="622250" y="89483"/>
                  <a:pt x="625004" y="89483"/>
                </a:cubicBezTo>
                <a:cubicBezTo>
                  <a:pt x="647948" y="87647"/>
                  <a:pt x="664009" y="85353"/>
                  <a:pt x="673187" y="82600"/>
                </a:cubicBezTo>
                <a:cubicBezTo>
                  <a:pt x="685118" y="94531"/>
                  <a:pt x="692001" y="101873"/>
                  <a:pt x="693837" y="104626"/>
                </a:cubicBezTo>
                <a:cubicBezTo>
                  <a:pt x="695672" y="107380"/>
                  <a:pt x="696590" y="109215"/>
                  <a:pt x="696590" y="110133"/>
                </a:cubicBezTo>
                <a:cubicBezTo>
                  <a:pt x="695672" y="111051"/>
                  <a:pt x="693378" y="111510"/>
                  <a:pt x="689707" y="111510"/>
                </a:cubicBezTo>
                <a:cubicBezTo>
                  <a:pt x="669516" y="111510"/>
                  <a:pt x="648866" y="111968"/>
                  <a:pt x="627757" y="112886"/>
                </a:cubicBezTo>
                <a:lnTo>
                  <a:pt x="598847" y="114263"/>
                </a:lnTo>
                <a:lnTo>
                  <a:pt x="600224" y="114263"/>
                </a:lnTo>
                <a:cubicBezTo>
                  <a:pt x="608484" y="118852"/>
                  <a:pt x="621791" y="126653"/>
                  <a:pt x="640147" y="137666"/>
                </a:cubicBezTo>
                <a:cubicBezTo>
                  <a:pt x="642900" y="139502"/>
                  <a:pt x="644736" y="140878"/>
                  <a:pt x="645654" y="141796"/>
                </a:cubicBezTo>
                <a:cubicBezTo>
                  <a:pt x="650242" y="144549"/>
                  <a:pt x="652537" y="146844"/>
                  <a:pt x="652537" y="148679"/>
                </a:cubicBezTo>
                <a:cubicBezTo>
                  <a:pt x="652537" y="150515"/>
                  <a:pt x="650701" y="152350"/>
                  <a:pt x="647030" y="154186"/>
                </a:cubicBezTo>
                <a:cubicBezTo>
                  <a:pt x="643359" y="155104"/>
                  <a:pt x="641524" y="157857"/>
                  <a:pt x="641524" y="162446"/>
                </a:cubicBezTo>
                <a:cubicBezTo>
                  <a:pt x="640606" y="170706"/>
                  <a:pt x="640147" y="186308"/>
                  <a:pt x="640147" y="209252"/>
                </a:cubicBezTo>
                <a:cubicBezTo>
                  <a:pt x="640147" y="214759"/>
                  <a:pt x="638311" y="218889"/>
                  <a:pt x="634640" y="221642"/>
                </a:cubicBezTo>
                <a:cubicBezTo>
                  <a:pt x="621791" y="227149"/>
                  <a:pt x="608484" y="231738"/>
                  <a:pt x="594717" y="235409"/>
                </a:cubicBezTo>
                <a:cubicBezTo>
                  <a:pt x="587375" y="238162"/>
                  <a:pt x="583704" y="235868"/>
                  <a:pt x="583704" y="228526"/>
                </a:cubicBezTo>
                <a:lnTo>
                  <a:pt x="583704" y="224396"/>
                </a:lnTo>
                <a:cubicBezTo>
                  <a:pt x="574526" y="224396"/>
                  <a:pt x="563513" y="224855"/>
                  <a:pt x="550664" y="225772"/>
                </a:cubicBezTo>
                <a:cubicBezTo>
                  <a:pt x="550664" y="225772"/>
                  <a:pt x="551582" y="226231"/>
                  <a:pt x="553417" y="227149"/>
                </a:cubicBezTo>
                <a:cubicBezTo>
                  <a:pt x="556171" y="228067"/>
                  <a:pt x="557088" y="229443"/>
                  <a:pt x="556171" y="231279"/>
                </a:cubicBezTo>
                <a:cubicBezTo>
                  <a:pt x="556171" y="236786"/>
                  <a:pt x="556171" y="242292"/>
                  <a:pt x="556171" y="247799"/>
                </a:cubicBezTo>
                <a:lnTo>
                  <a:pt x="607107" y="245046"/>
                </a:lnTo>
                <a:cubicBezTo>
                  <a:pt x="630969" y="245046"/>
                  <a:pt x="655290" y="243210"/>
                  <a:pt x="680070" y="239539"/>
                </a:cubicBezTo>
                <a:cubicBezTo>
                  <a:pt x="683741" y="243210"/>
                  <a:pt x="689707" y="250552"/>
                  <a:pt x="697967" y="261566"/>
                </a:cubicBezTo>
                <a:cubicBezTo>
                  <a:pt x="699802" y="264319"/>
                  <a:pt x="700720" y="266154"/>
                  <a:pt x="700720" y="267072"/>
                </a:cubicBezTo>
                <a:cubicBezTo>
                  <a:pt x="699802" y="267990"/>
                  <a:pt x="697967" y="268449"/>
                  <a:pt x="695213" y="268449"/>
                </a:cubicBezTo>
                <a:cubicBezTo>
                  <a:pt x="658502" y="268449"/>
                  <a:pt x="632346" y="268908"/>
                  <a:pt x="616744" y="269826"/>
                </a:cubicBezTo>
                <a:lnTo>
                  <a:pt x="556171" y="271202"/>
                </a:lnTo>
                <a:lnTo>
                  <a:pt x="556171" y="315255"/>
                </a:lnTo>
                <a:cubicBezTo>
                  <a:pt x="557088" y="320762"/>
                  <a:pt x="554794" y="323974"/>
                  <a:pt x="549287" y="324892"/>
                </a:cubicBezTo>
                <a:cubicBezTo>
                  <a:pt x="533685" y="329481"/>
                  <a:pt x="516706" y="332693"/>
                  <a:pt x="498351" y="334529"/>
                </a:cubicBezTo>
                <a:cubicBezTo>
                  <a:pt x="494680" y="335446"/>
                  <a:pt x="492844" y="333611"/>
                  <a:pt x="492844" y="329022"/>
                </a:cubicBezTo>
                <a:cubicBezTo>
                  <a:pt x="493762" y="322598"/>
                  <a:pt x="494221" y="303783"/>
                  <a:pt x="494221" y="272579"/>
                </a:cubicBezTo>
                <a:lnTo>
                  <a:pt x="426765" y="275332"/>
                </a:lnTo>
                <a:cubicBezTo>
                  <a:pt x="414834" y="275332"/>
                  <a:pt x="397855" y="276250"/>
                  <a:pt x="375828" y="278085"/>
                </a:cubicBezTo>
                <a:lnTo>
                  <a:pt x="359308" y="253306"/>
                </a:lnTo>
                <a:cubicBezTo>
                  <a:pt x="394184" y="253306"/>
                  <a:pt x="415292" y="252847"/>
                  <a:pt x="422635" y="251929"/>
                </a:cubicBezTo>
                <a:lnTo>
                  <a:pt x="494221" y="250552"/>
                </a:lnTo>
                <a:lnTo>
                  <a:pt x="494221" y="227149"/>
                </a:lnTo>
                <a:lnTo>
                  <a:pt x="466688" y="228526"/>
                </a:lnTo>
                <a:cubicBezTo>
                  <a:pt x="466688" y="229443"/>
                  <a:pt x="464852" y="230820"/>
                  <a:pt x="461181" y="232656"/>
                </a:cubicBezTo>
                <a:cubicBezTo>
                  <a:pt x="451086" y="237245"/>
                  <a:pt x="435942" y="241375"/>
                  <a:pt x="415751" y="245046"/>
                </a:cubicBezTo>
                <a:cubicBezTo>
                  <a:pt x="412080" y="246881"/>
                  <a:pt x="410245" y="244587"/>
                  <a:pt x="410245" y="238162"/>
                </a:cubicBezTo>
                <a:cubicBezTo>
                  <a:pt x="411162" y="227149"/>
                  <a:pt x="411621" y="203287"/>
                  <a:pt x="411621" y="166576"/>
                </a:cubicBezTo>
                <a:cubicBezTo>
                  <a:pt x="411621" y="155563"/>
                  <a:pt x="411621" y="143173"/>
                  <a:pt x="411621" y="129406"/>
                </a:cubicBezTo>
                <a:cubicBezTo>
                  <a:pt x="411621" y="124817"/>
                  <a:pt x="412080" y="122523"/>
                  <a:pt x="412998" y="122523"/>
                </a:cubicBezTo>
                <a:cubicBezTo>
                  <a:pt x="402902" y="122523"/>
                  <a:pt x="391430" y="123441"/>
                  <a:pt x="378581" y="125276"/>
                </a:cubicBezTo>
                <a:lnTo>
                  <a:pt x="357932" y="99120"/>
                </a:lnTo>
                <a:cubicBezTo>
                  <a:pt x="382711" y="99120"/>
                  <a:pt x="403820" y="99120"/>
                  <a:pt x="421258" y="99120"/>
                </a:cubicBezTo>
                <a:lnTo>
                  <a:pt x="459804" y="96366"/>
                </a:lnTo>
                <a:cubicBezTo>
                  <a:pt x="457051" y="90860"/>
                  <a:pt x="451086" y="81223"/>
                  <a:pt x="441908" y="67456"/>
                </a:cubicBezTo>
                <a:cubicBezTo>
                  <a:pt x="438237" y="68374"/>
                  <a:pt x="431812" y="68833"/>
                  <a:pt x="422635" y="68833"/>
                </a:cubicBezTo>
                <a:cubicBezTo>
                  <a:pt x="412539" y="69751"/>
                  <a:pt x="405656" y="70210"/>
                  <a:pt x="401985" y="70210"/>
                </a:cubicBezTo>
                <a:lnTo>
                  <a:pt x="382711" y="46807"/>
                </a:lnTo>
                <a:cubicBezTo>
                  <a:pt x="390971" y="46807"/>
                  <a:pt x="402902" y="46348"/>
                  <a:pt x="418505" y="45430"/>
                </a:cubicBezTo>
                <a:cubicBezTo>
                  <a:pt x="429518" y="45430"/>
                  <a:pt x="436860" y="45430"/>
                  <a:pt x="440531" y="45430"/>
                </a:cubicBezTo>
                <a:lnTo>
                  <a:pt x="506611" y="41300"/>
                </a:lnTo>
                <a:cubicBezTo>
                  <a:pt x="502940" y="33958"/>
                  <a:pt x="494680" y="22027"/>
                  <a:pt x="481831" y="5507"/>
                </a:cubicBezTo>
                <a:close/>
              </a:path>
            </a:pathLst>
          </a:custGeom>
          <a:solidFill>
            <a:srgbClr val="007684"/>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2800" dirty="0">
              <a:solidFill>
                <a:srgbClr val="007684"/>
              </a:solidFill>
              <a:latin typeface="方正颜宋简体_大" panose="02000000000000000000" pitchFamily="2" charset="-122"/>
              <a:ea typeface="方正颜宋简体_大" panose="02000000000000000000" pitchFamily="2" charset="-122"/>
              <a:cs typeface="方正颜宋简体_大" panose="02000000000000000000"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3" name="图片 2"/>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4" name="图片 3"/>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4" name="组合 13"/>
          <p:cNvGrpSpPr/>
          <p:nvPr/>
        </p:nvGrpSpPr>
        <p:grpSpPr>
          <a:xfrm>
            <a:off x="-875295" y="-875664"/>
            <a:ext cx="2974038" cy="2745105"/>
            <a:chOff x="6175344" y="342254"/>
            <a:chExt cx="7829785"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1259840" y="635784"/>
            <a:ext cx="823697" cy="760292"/>
            <a:chOff x="6175344" y="342254"/>
            <a:chExt cx="7829785" cy="7227071"/>
          </a:xfrm>
        </p:grpSpPr>
        <p:sp>
          <p:nvSpPr>
            <p:cNvPr id="18" name="六边形 1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平行四边形 1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矩形: 圆角 7"/>
          <p:cNvSpPr/>
          <p:nvPr/>
        </p:nvSpPr>
        <p:spPr>
          <a:xfrm>
            <a:off x="2421652" y="2038221"/>
            <a:ext cx="7054775" cy="3118500"/>
          </a:xfrm>
          <a:prstGeom prst="roundRect">
            <a:avLst>
              <a:gd name="adj" fmla="val 0"/>
            </a:avLst>
          </a:prstGeom>
          <a:solidFill>
            <a:schemeClr val="tx1">
              <a:lumMod val="95000"/>
              <a:lumOff val="5000"/>
              <a:alpha val="5000"/>
            </a:schemeClr>
          </a:solidFill>
          <a:ln>
            <a:solidFill>
              <a:schemeClr val="bg1"/>
            </a:solidFill>
          </a:ln>
          <a:effectLst>
            <a:outerShdw blurRad="1524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7" name="组合 36"/>
          <p:cNvGrpSpPr/>
          <p:nvPr/>
        </p:nvGrpSpPr>
        <p:grpSpPr>
          <a:xfrm>
            <a:off x="7558543" y="954064"/>
            <a:ext cx="5262302" cy="5007863"/>
            <a:chOff x="6175345" y="153244"/>
            <a:chExt cx="7792878" cy="7416082"/>
          </a:xfrm>
        </p:grpSpPr>
        <p:grpSp>
          <p:nvGrpSpPr>
            <p:cNvPr id="32" name="组合 31"/>
            <p:cNvGrpSpPr/>
            <p:nvPr/>
          </p:nvGrpSpPr>
          <p:grpSpPr>
            <a:xfrm>
              <a:off x="6175345" y="342257"/>
              <a:ext cx="7792878" cy="7227069"/>
              <a:chOff x="5983104" y="1708488"/>
              <a:chExt cx="4080721" cy="3784437"/>
            </a:xfrm>
          </p:grpSpPr>
          <p:sp>
            <p:nvSpPr>
              <p:cNvPr id="33" name="六边形 32"/>
              <p:cNvSpPr/>
              <p:nvPr/>
            </p:nvSpPr>
            <p:spPr>
              <a:xfrm rot="5400000">
                <a:off x="5811401" y="1880191"/>
                <a:ext cx="3784437"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文本框 35"/>
            <p:cNvSpPr txBox="1"/>
            <p:nvPr/>
          </p:nvSpPr>
          <p:spPr>
            <a:xfrm rot="1849986">
              <a:off x="8151150" y="15324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15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1500" b="1" dirty="0">
                <a:gradFill>
                  <a:gsLst>
                    <a:gs pos="30000">
                      <a:srgbClr val="007684"/>
                    </a:gs>
                    <a:gs pos="83000">
                      <a:srgbClr val="016773"/>
                    </a:gs>
                  </a:gsLst>
                  <a:lin ang="5400000" scaled="0"/>
                </a:gradFill>
                <a:latin typeface="Bauhaus 93" panose="04030905020B02020C02" pitchFamily="82" charset="0"/>
              </a:endParaRPr>
            </a:p>
          </p:txBody>
        </p:sp>
      </p:grpSp>
      <p:grpSp>
        <p:nvGrpSpPr>
          <p:cNvPr id="23" name="组合 22"/>
          <p:cNvGrpSpPr/>
          <p:nvPr/>
        </p:nvGrpSpPr>
        <p:grpSpPr>
          <a:xfrm>
            <a:off x="3774000" y="4177005"/>
            <a:ext cx="4644000" cy="124808"/>
            <a:chOff x="3774000" y="4177005"/>
            <a:chExt cx="4644000" cy="124808"/>
          </a:xfrm>
        </p:grpSpPr>
        <p:pic>
          <p:nvPicPr>
            <p:cNvPr id="24" name="图片 23"/>
            <p:cNvPicPr>
              <a:picLocks noChangeAspect="1" noChangeArrowheads="1"/>
            </p:cNvPicPr>
            <p:nvPr/>
          </p:nvPicPr>
          <p:blipFill>
            <a:blip r:embed="rId6">
              <a:biLevel thresh="50000"/>
              <a:grayscl/>
              <a:extLst>
                <a:ext uri="{28A0092B-C50C-407E-A947-70E740481C1C}">
                  <a14:useLocalDpi xmlns:a14="http://schemas.microsoft.com/office/drawing/2010/main" val="0"/>
                </a:ext>
              </a:extLst>
            </a:blip>
            <a:srcRect l="88019" t="22713" r="2956" b="25211"/>
            <a:stretch>
              <a:fillRect/>
            </a:stretch>
          </p:blipFill>
          <p:spPr bwMode="auto">
            <a:xfrm rot="5400000">
              <a:off x="6033596" y="1917409"/>
              <a:ext cx="124808" cy="464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cxnSp>
          <p:nvCxnSpPr>
            <p:cNvPr id="25" name="直接连接符 24"/>
            <p:cNvCxnSpPr/>
            <p:nvPr/>
          </p:nvCxnSpPr>
          <p:spPr>
            <a:xfrm>
              <a:off x="3936000" y="4177005"/>
              <a:ext cx="4320000" cy="0"/>
            </a:xfrm>
            <a:prstGeom prst="line">
              <a:avLst/>
            </a:prstGeom>
            <a:ln w="12700">
              <a:gradFill>
                <a:gsLst>
                  <a:gs pos="0">
                    <a:schemeClr val="accent1">
                      <a:lumMod val="5000"/>
                      <a:lumOff val="95000"/>
                      <a:alpha val="0"/>
                    </a:schemeClr>
                  </a:gs>
                  <a:gs pos="69000">
                    <a:schemeClr val="bg1"/>
                  </a:gs>
                  <a:gs pos="100000">
                    <a:schemeClr val="bg1">
                      <a:alpha val="0"/>
                    </a:schemeClr>
                  </a:gs>
                  <a:gs pos="40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890173" y="4315438"/>
            <a:ext cx="2268815" cy="2101347"/>
            <a:chOff x="6175344" y="342254"/>
            <a:chExt cx="7803037" cy="7227071"/>
          </a:xfrm>
        </p:grpSpPr>
        <p:sp>
          <p:nvSpPr>
            <p:cNvPr id="6" name="六边形 5"/>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174548" y="5375868"/>
            <a:ext cx="1123874" cy="1040917"/>
            <a:chOff x="6175344" y="342254"/>
            <a:chExt cx="7803037" cy="7227071"/>
          </a:xfrm>
        </p:grpSpPr>
        <p:sp>
          <p:nvSpPr>
            <p:cNvPr id="12" name="六边形 1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p:cNvGrpSpPr/>
          <p:nvPr/>
        </p:nvGrpSpPr>
        <p:grpSpPr>
          <a:xfrm>
            <a:off x="10709077" y="4985964"/>
            <a:ext cx="1077639" cy="994687"/>
            <a:chOff x="6175344" y="342254"/>
            <a:chExt cx="7829785" cy="7227071"/>
          </a:xfrm>
        </p:grpSpPr>
        <p:sp>
          <p:nvSpPr>
            <p:cNvPr id="45" name="六边形 4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平行四边形 4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4453603"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38" name="文本框 37"/>
          <p:cNvSpPr txBox="1"/>
          <p:nvPr/>
        </p:nvSpPr>
        <p:spPr>
          <a:xfrm>
            <a:off x="5307690"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0" name="文本框 39"/>
          <p:cNvSpPr txBox="1"/>
          <p:nvPr/>
        </p:nvSpPr>
        <p:spPr>
          <a:xfrm>
            <a:off x="6148718" y="2830973"/>
            <a:ext cx="766167" cy="1054879"/>
          </a:xfrm>
          <a:custGeom>
            <a:avLst/>
            <a:gdLst/>
            <a:ahLst/>
            <a:cxnLst/>
            <a:rect l="l" t="t" r="r" b="b"/>
            <a:pathLst>
              <a:path w="766167" h="1054879">
                <a:moveTo>
                  <a:pt x="478854" y="261193"/>
                </a:moveTo>
                <a:lnTo>
                  <a:pt x="578978" y="261193"/>
                </a:lnTo>
                <a:lnTo>
                  <a:pt x="578978" y="470148"/>
                </a:lnTo>
                <a:cubicBezTo>
                  <a:pt x="578978" y="548506"/>
                  <a:pt x="570272" y="619608"/>
                  <a:pt x="552859" y="683456"/>
                </a:cubicBezTo>
                <a:lnTo>
                  <a:pt x="635570" y="683456"/>
                </a:lnTo>
                <a:lnTo>
                  <a:pt x="635570" y="914177"/>
                </a:lnTo>
                <a:cubicBezTo>
                  <a:pt x="635570" y="922883"/>
                  <a:pt x="638472" y="927236"/>
                  <a:pt x="644277" y="927236"/>
                </a:cubicBezTo>
                <a:cubicBezTo>
                  <a:pt x="650081" y="927236"/>
                  <a:pt x="655885" y="924334"/>
                  <a:pt x="661690" y="918530"/>
                </a:cubicBezTo>
                <a:cubicBezTo>
                  <a:pt x="687809" y="874998"/>
                  <a:pt x="712477" y="824210"/>
                  <a:pt x="735694" y="766167"/>
                </a:cubicBezTo>
                <a:lnTo>
                  <a:pt x="748754" y="770520"/>
                </a:lnTo>
                <a:cubicBezTo>
                  <a:pt x="716830" y="854682"/>
                  <a:pt x="718281" y="908372"/>
                  <a:pt x="753107" y="931589"/>
                </a:cubicBezTo>
                <a:cubicBezTo>
                  <a:pt x="761814" y="937394"/>
                  <a:pt x="764716" y="941747"/>
                  <a:pt x="761814" y="944649"/>
                </a:cubicBezTo>
                <a:cubicBezTo>
                  <a:pt x="735694" y="1020105"/>
                  <a:pt x="690711" y="1056382"/>
                  <a:pt x="626864" y="1053480"/>
                </a:cubicBezTo>
                <a:cubicBezTo>
                  <a:pt x="539799" y="1062186"/>
                  <a:pt x="499169" y="1030262"/>
                  <a:pt x="504973" y="957709"/>
                </a:cubicBezTo>
                <a:lnTo>
                  <a:pt x="504973" y="792286"/>
                </a:lnTo>
                <a:cubicBezTo>
                  <a:pt x="458539" y="885155"/>
                  <a:pt x="358415" y="972220"/>
                  <a:pt x="204601" y="1053480"/>
                </a:cubicBezTo>
                <a:lnTo>
                  <a:pt x="200248" y="1040420"/>
                </a:lnTo>
                <a:cubicBezTo>
                  <a:pt x="385985" y="895313"/>
                  <a:pt x="478854" y="705222"/>
                  <a:pt x="478854" y="470148"/>
                </a:cubicBezTo>
                <a:close/>
                <a:moveTo>
                  <a:pt x="644277" y="0"/>
                </a:moveTo>
                <a:lnTo>
                  <a:pt x="766167" y="47885"/>
                </a:lnTo>
                <a:lnTo>
                  <a:pt x="726988" y="100124"/>
                </a:lnTo>
                <a:lnTo>
                  <a:pt x="726988" y="626864"/>
                </a:lnTo>
                <a:lnTo>
                  <a:pt x="605098" y="626864"/>
                </a:lnTo>
                <a:lnTo>
                  <a:pt x="605098" y="134950"/>
                </a:lnTo>
                <a:lnTo>
                  <a:pt x="452735" y="134950"/>
                </a:lnTo>
                <a:lnTo>
                  <a:pt x="452735" y="622511"/>
                </a:lnTo>
                <a:lnTo>
                  <a:pt x="335198" y="622511"/>
                </a:lnTo>
                <a:lnTo>
                  <a:pt x="330845" y="626864"/>
                </a:lnTo>
                <a:lnTo>
                  <a:pt x="330845" y="69651"/>
                </a:lnTo>
                <a:lnTo>
                  <a:pt x="300372" y="117537"/>
                </a:lnTo>
                <a:cubicBezTo>
                  <a:pt x="300372" y="280057"/>
                  <a:pt x="284410" y="415007"/>
                  <a:pt x="252487" y="522386"/>
                </a:cubicBezTo>
                <a:cubicBezTo>
                  <a:pt x="301823" y="618157"/>
                  <a:pt x="327942" y="703771"/>
                  <a:pt x="330845" y="779227"/>
                </a:cubicBezTo>
                <a:cubicBezTo>
                  <a:pt x="330845" y="837270"/>
                  <a:pt x="314883" y="872095"/>
                  <a:pt x="282959" y="883704"/>
                </a:cubicBezTo>
                <a:cubicBezTo>
                  <a:pt x="242329" y="889508"/>
                  <a:pt x="217661" y="866291"/>
                  <a:pt x="208954" y="814052"/>
                </a:cubicBezTo>
                <a:cubicBezTo>
                  <a:pt x="203150" y="767618"/>
                  <a:pt x="197346" y="726988"/>
                  <a:pt x="191541" y="692162"/>
                </a:cubicBezTo>
                <a:cubicBezTo>
                  <a:pt x="142205" y="790835"/>
                  <a:pt x="81260" y="869193"/>
                  <a:pt x="8706" y="927236"/>
                </a:cubicBezTo>
                <a:lnTo>
                  <a:pt x="0" y="922883"/>
                </a:lnTo>
                <a:cubicBezTo>
                  <a:pt x="63847" y="812601"/>
                  <a:pt x="111732" y="679102"/>
                  <a:pt x="143656" y="522386"/>
                </a:cubicBezTo>
                <a:cubicBezTo>
                  <a:pt x="120439" y="444028"/>
                  <a:pt x="87064" y="351160"/>
                  <a:pt x="43532" y="243780"/>
                </a:cubicBezTo>
                <a:cubicBezTo>
                  <a:pt x="40630" y="235074"/>
                  <a:pt x="37728" y="229269"/>
                  <a:pt x="34826" y="226367"/>
                </a:cubicBezTo>
                <a:lnTo>
                  <a:pt x="43532" y="217661"/>
                </a:lnTo>
                <a:cubicBezTo>
                  <a:pt x="84162" y="261193"/>
                  <a:pt x="126243" y="316334"/>
                  <a:pt x="169775" y="383083"/>
                </a:cubicBezTo>
                <a:cubicBezTo>
                  <a:pt x="181384" y="296019"/>
                  <a:pt x="187188" y="216210"/>
                  <a:pt x="187188" y="143656"/>
                </a:cubicBezTo>
                <a:lnTo>
                  <a:pt x="17413" y="143656"/>
                </a:lnTo>
                <a:lnTo>
                  <a:pt x="17413" y="65298"/>
                </a:lnTo>
                <a:lnTo>
                  <a:pt x="187188" y="65298"/>
                </a:lnTo>
                <a:lnTo>
                  <a:pt x="226367" y="13059"/>
                </a:lnTo>
                <a:lnTo>
                  <a:pt x="330845" y="56592"/>
                </a:lnTo>
                <a:lnTo>
                  <a:pt x="330845" y="8706"/>
                </a:lnTo>
                <a:lnTo>
                  <a:pt x="452735" y="8706"/>
                </a:lnTo>
                <a:lnTo>
                  <a:pt x="452735" y="56592"/>
                </a:lnTo>
                <a:lnTo>
                  <a:pt x="600744" y="56592"/>
                </a:ln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2" name="文本框 41"/>
          <p:cNvSpPr txBox="1"/>
          <p:nvPr/>
        </p:nvSpPr>
        <p:spPr>
          <a:xfrm>
            <a:off x="7011511" y="2830973"/>
            <a:ext cx="757461" cy="1057833"/>
          </a:xfrm>
          <a:custGeom>
            <a:avLst/>
            <a:gdLst/>
            <a:ahLst/>
            <a:cxnLst/>
            <a:rect l="l" t="t" r="r" b="b"/>
            <a:pathLst>
              <a:path w="757461" h="1057833">
                <a:moveTo>
                  <a:pt x="252487" y="892410"/>
                </a:moveTo>
                <a:lnTo>
                  <a:pt x="252487" y="940296"/>
                </a:lnTo>
                <a:lnTo>
                  <a:pt x="531093" y="940296"/>
                </a:lnTo>
                <a:lnTo>
                  <a:pt x="531093" y="892410"/>
                </a:lnTo>
                <a:close/>
                <a:moveTo>
                  <a:pt x="252487" y="761814"/>
                </a:moveTo>
                <a:lnTo>
                  <a:pt x="252487" y="818406"/>
                </a:lnTo>
                <a:lnTo>
                  <a:pt x="531093" y="818406"/>
                </a:lnTo>
                <a:lnTo>
                  <a:pt x="531093" y="761814"/>
                </a:lnTo>
                <a:close/>
                <a:moveTo>
                  <a:pt x="252487" y="635570"/>
                </a:moveTo>
                <a:lnTo>
                  <a:pt x="252487" y="692162"/>
                </a:lnTo>
                <a:lnTo>
                  <a:pt x="531093" y="692162"/>
                </a:lnTo>
                <a:lnTo>
                  <a:pt x="531093" y="635570"/>
                </a:lnTo>
                <a:close/>
                <a:moveTo>
                  <a:pt x="565919" y="0"/>
                </a:moveTo>
                <a:lnTo>
                  <a:pt x="687809" y="100124"/>
                </a:lnTo>
                <a:cubicBezTo>
                  <a:pt x="609451" y="123341"/>
                  <a:pt x="525289" y="136401"/>
                  <a:pt x="435322" y="139303"/>
                </a:cubicBezTo>
                <a:cubicBezTo>
                  <a:pt x="435322" y="145107"/>
                  <a:pt x="433871" y="155265"/>
                  <a:pt x="430969" y="169775"/>
                </a:cubicBezTo>
                <a:cubicBezTo>
                  <a:pt x="428067" y="187188"/>
                  <a:pt x="425165" y="198797"/>
                  <a:pt x="422263" y="204601"/>
                </a:cubicBezTo>
                <a:lnTo>
                  <a:pt x="692163" y="204601"/>
                </a:lnTo>
                <a:lnTo>
                  <a:pt x="692163" y="282959"/>
                </a:lnTo>
                <a:lnTo>
                  <a:pt x="400497" y="282959"/>
                </a:lnTo>
                <a:cubicBezTo>
                  <a:pt x="397594" y="291666"/>
                  <a:pt x="391790" y="306176"/>
                  <a:pt x="383084" y="326491"/>
                </a:cubicBezTo>
                <a:cubicBezTo>
                  <a:pt x="374377" y="349709"/>
                  <a:pt x="368573" y="365670"/>
                  <a:pt x="365671" y="374377"/>
                </a:cubicBezTo>
                <a:lnTo>
                  <a:pt x="757461" y="374377"/>
                </a:lnTo>
                <a:lnTo>
                  <a:pt x="757461" y="448382"/>
                </a:lnTo>
                <a:lnTo>
                  <a:pt x="326492" y="448382"/>
                </a:lnTo>
                <a:cubicBezTo>
                  <a:pt x="300372" y="489012"/>
                  <a:pt x="271351" y="526740"/>
                  <a:pt x="239427" y="561565"/>
                </a:cubicBezTo>
                <a:lnTo>
                  <a:pt x="522387" y="561565"/>
                </a:lnTo>
                <a:lnTo>
                  <a:pt x="557213" y="509327"/>
                </a:lnTo>
                <a:lnTo>
                  <a:pt x="692163" y="548506"/>
                </a:lnTo>
                <a:lnTo>
                  <a:pt x="657337" y="600744"/>
                </a:lnTo>
                <a:lnTo>
                  <a:pt x="657337" y="1057833"/>
                </a:lnTo>
                <a:lnTo>
                  <a:pt x="531093" y="1057833"/>
                </a:lnTo>
                <a:lnTo>
                  <a:pt x="531093" y="1009947"/>
                </a:lnTo>
                <a:lnTo>
                  <a:pt x="252487" y="1009947"/>
                </a:lnTo>
                <a:lnTo>
                  <a:pt x="252487" y="1057833"/>
                </a:lnTo>
                <a:lnTo>
                  <a:pt x="126244" y="1057833"/>
                </a:lnTo>
                <a:lnTo>
                  <a:pt x="126244" y="661690"/>
                </a:lnTo>
                <a:cubicBezTo>
                  <a:pt x="120439" y="664592"/>
                  <a:pt x="110282" y="670396"/>
                  <a:pt x="95771" y="679102"/>
                </a:cubicBezTo>
                <a:cubicBezTo>
                  <a:pt x="63847" y="699418"/>
                  <a:pt x="33375" y="716830"/>
                  <a:pt x="4353" y="731341"/>
                </a:cubicBezTo>
                <a:lnTo>
                  <a:pt x="0" y="722635"/>
                </a:lnTo>
                <a:cubicBezTo>
                  <a:pt x="84162" y="635570"/>
                  <a:pt x="149461" y="544153"/>
                  <a:pt x="195895" y="448382"/>
                </a:cubicBezTo>
                <a:lnTo>
                  <a:pt x="8707" y="448382"/>
                </a:lnTo>
                <a:lnTo>
                  <a:pt x="8707" y="374377"/>
                </a:lnTo>
                <a:lnTo>
                  <a:pt x="230721" y="374377"/>
                </a:lnTo>
                <a:cubicBezTo>
                  <a:pt x="242330" y="342453"/>
                  <a:pt x="253938" y="311981"/>
                  <a:pt x="265547" y="282959"/>
                </a:cubicBezTo>
                <a:lnTo>
                  <a:pt x="74005" y="282959"/>
                </a:lnTo>
                <a:lnTo>
                  <a:pt x="74005" y="204601"/>
                </a:lnTo>
                <a:lnTo>
                  <a:pt x="287313" y="204601"/>
                </a:lnTo>
                <a:cubicBezTo>
                  <a:pt x="287313" y="198797"/>
                  <a:pt x="290215" y="184286"/>
                  <a:pt x="296019" y="161069"/>
                </a:cubicBezTo>
                <a:cubicBezTo>
                  <a:pt x="298921" y="152363"/>
                  <a:pt x="300372" y="145107"/>
                  <a:pt x="300372" y="139303"/>
                </a:cubicBezTo>
                <a:cubicBezTo>
                  <a:pt x="236525" y="136401"/>
                  <a:pt x="153814" y="124792"/>
                  <a:pt x="52239" y="104477"/>
                </a:cubicBezTo>
                <a:lnTo>
                  <a:pt x="52239" y="91417"/>
                </a:lnTo>
                <a:cubicBezTo>
                  <a:pt x="240878" y="82711"/>
                  <a:pt x="412105" y="52238"/>
                  <a:pt x="565919"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14486</TotalTime>
  <Words>10715</Words>
  <Application>Microsoft Office PowerPoint</Application>
  <PresentationFormat>宽屏</PresentationFormat>
  <Paragraphs>698</Paragraphs>
  <Slides>78</Slides>
  <Notes>65</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78</vt:i4>
      </vt:variant>
    </vt:vector>
  </HeadingPairs>
  <TitlesOfParts>
    <vt:vector size="99" baseType="lpstr">
      <vt:lpstr>-apple-system</vt:lpstr>
      <vt:lpstr>Helvetica Light</vt:lpstr>
      <vt:lpstr>Helvetica Neue</vt:lpstr>
      <vt:lpstr>等线</vt:lpstr>
      <vt:lpstr>方正美黑简体</vt:lpstr>
      <vt:lpstr>方正颜宋简体_大</vt:lpstr>
      <vt:lpstr>方正颜宋简体_中</vt:lpstr>
      <vt:lpstr>汉仪玄宋..</vt:lpstr>
      <vt:lpstr>黑体</vt:lpstr>
      <vt:lpstr>华文楷体</vt:lpstr>
      <vt:lpstr>华文中宋</vt:lpstr>
      <vt:lpstr>楷体_GB2312</vt:lpstr>
      <vt:lpstr>微软雅黑</vt:lpstr>
      <vt:lpstr>Arial</vt:lpstr>
      <vt:lpstr>Bauhaus 93</vt:lpstr>
      <vt:lpstr>Calibri</vt:lpstr>
      <vt:lpstr>Cambria</vt:lpstr>
      <vt:lpstr>Cambria Math</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dell</cp:lastModifiedBy>
  <cp:revision>863</cp:revision>
  <dcterms:created xsi:type="dcterms:W3CDTF">2023-07-27T09:00:19Z</dcterms:created>
  <dcterms:modified xsi:type="dcterms:W3CDTF">2026-07-15T08:27:17Z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99C1EA3A909EDAC79730C264AE7BE5BF_42</vt:lpwstr>
  </property>
  <property fmtid="{D5CDD505-2E9C-101B-9397-08002B2CF9AE}" pid="3" name="KSOProductBuildVer">
    <vt:lpwstr>2052-5.4.0.7910</vt:lpwstr>
  </property>
</Properties>
</file>