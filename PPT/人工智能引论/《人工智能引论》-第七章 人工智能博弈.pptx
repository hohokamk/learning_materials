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sldIdLst>
    <p:sldId id="256" r:id="rId2"/>
    <p:sldId id="257" r:id="rId3"/>
    <p:sldId id="263" r:id="rId4"/>
    <p:sldId id="258" r:id="rId5"/>
    <p:sldId id="273" r:id="rId6"/>
    <p:sldId id="2076139203" r:id="rId7"/>
    <p:sldId id="2076139204" r:id="rId8"/>
    <p:sldId id="2076139205" r:id="rId9"/>
    <p:sldId id="2076139206" r:id="rId10"/>
    <p:sldId id="2076139207" r:id="rId11"/>
    <p:sldId id="2076139208" r:id="rId12"/>
    <p:sldId id="2076139246" r:id="rId13"/>
    <p:sldId id="2076139209" r:id="rId14"/>
    <p:sldId id="2076139210" r:id="rId15"/>
    <p:sldId id="2076139211" r:id="rId16"/>
    <p:sldId id="2076139212" r:id="rId17"/>
    <p:sldId id="2076139213" r:id="rId18"/>
    <p:sldId id="2076139214" r:id="rId19"/>
    <p:sldId id="2076139215" r:id="rId20"/>
    <p:sldId id="2076139216" r:id="rId21"/>
    <p:sldId id="2076139217" r:id="rId22"/>
    <p:sldId id="2076139218" r:id="rId23"/>
    <p:sldId id="2076139219" r:id="rId24"/>
    <p:sldId id="2076139220" r:id="rId25"/>
    <p:sldId id="2076139221" r:id="rId26"/>
    <p:sldId id="2076139222" r:id="rId27"/>
    <p:sldId id="2076139223" r:id="rId28"/>
    <p:sldId id="2076139224" r:id="rId29"/>
    <p:sldId id="2076139225" r:id="rId30"/>
    <p:sldId id="2076139226" r:id="rId31"/>
    <p:sldId id="2076139227" r:id="rId32"/>
    <p:sldId id="2076139228" r:id="rId33"/>
    <p:sldId id="2076139229" r:id="rId34"/>
    <p:sldId id="2076139230" r:id="rId35"/>
    <p:sldId id="2076139231" r:id="rId36"/>
    <p:sldId id="2076139232" r:id="rId37"/>
    <p:sldId id="2076139233" r:id="rId38"/>
    <p:sldId id="2076139234" r:id="rId39"/>
    <p:sldId id="2076139235" r:id="rId40"/>
    <p:sldId id="2076139236" r:id="rId41"/>
    <p:sldId id="2076139237" r:id="rId42"/>
    <p:sldId id="2076139238" r:id="rId43"/>
    <p:sldId id="2076139239" r:id="rId44"/>
    <p:sldId id="2076139240" r:id="rId45"/>
    <p:sldId id="2076139241" r:id="rId46"/>
    <p:sldId id="2076139245" r:id="rId47"/>
    <p:sldId id="2076139242" r:id="rId48"/>
    <p:sldId id="2076139243" r:id="rId49"/>
    <p:sldId id="2076139244" r:id="rId50"/>
    <p:sldId id="264" r:id="rId51"/>
    <p:sldId id="269" r:id="rId52"/>
    <p:sldId id="270" r:id="rId5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7480"/>
    <a:srgbClr val="01717E"/>
    <a:srgbClr val="017C84"/>
    <a:srgbClr val="51ADB7"/>
    <a:srgbClr val="014D53"/>
    <a:srgbClr val="007684"/>
    <a:srgbClr val="222222"/>
    <a:srgbClr val="EEF7F8"/>
    <a:srgbClr val="F7FBFB"/>
    <a:srgbClr val="F2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85073" autoAdjust="0"/>
  </p:normalViewPr>
  <p:slideViewPr>
    <p:cSldViewPr snapToGrid="0">
      <p:cViewPr varScale="1">
        <p:scale>
          <a:sx n="94" d="100"/>
          <a:sy n="94" d="100"/>
        </p:scale>
        <p:origin x="1230" y="84"/>
      </p:cViewPr>
      <p:guideLst/>
    </p:cSldViewPr>
  </p:slideViewPr>
  <p:outlineViewPr>
    <p:cViewPr>
      <p:scale>
        <a:sx n="33" d="100"/>
        <a:sy n="33" d="100"/>
      </p:scale>
      <p:origin x="0" y="-752"/>
    </p:cViewPr>
  </p:outlineViewPr>
  <p:notesTextViewPr>
    <p:cViewPr>
      <p:scale>
        <a:sx n="1" d="1"/>
        <a:sy n="1" d="1"/>
      </p:scale>
      <p:origin x="0" y="0"/>
    </p:cViewPr>
  </p:notesTextViewPr>
  <p:sorterViewPr>
    <p:cViewPr varScale="1">
      <p:scale>
        <a:sx n="100" d="100"/>
        <a:sy n="100" d="100"/>
      </p:scale>
      <p:origin x="0" y="-214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224A5-F0C5-4B72-8135-2FAC1AE300C9}" type="datetimeFigureOut">
              <a:rPr lang="zh-CN" altLang="en-US" smtClean="0"/>
              <a:t>2026/7/15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AECDA-B852-4CA6-98F9-FDA299AD4FD3}" type="slidenum">
              <a:rPr lang="zh-CN" altLang="en-US" smtClean="0"/>
              <a:t>‹#›</a:t>
            </a:fld>
            <a:endParaRPr lang="zh-CN" altLang="en-US"/>
          </a:p>
        </p:txBody>
      </p:sp>
    </p:spTree>
    <p:extLst>
      <p:ext uri="{BB962C8B-B14F-4D97-AF65-F5344CB8AC3E}">
        <p14:creationId xmlns:p14="http://schemas.microsoft.com/office/powerpoint/2010/main" val="2262342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封面</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a:t>
            </a:fld>
            <a:endParaRPr lang="zh-CN" altLang="en-US"/>
          </a:p>
        </p:txBody>
      </p:sp>
    </p:spTree>
    <p:extLst>
      <p:ext uri="{BB962C8B-B14F-4D97-AF65-F5344CB8AC3E}">
        <p14:creationId xmlns:p14="http://schemas.microsoft.com/office/powerpoint/2010/main" val="2089099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章节页</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extLst>
      <p:ext uri="{BB962C8B-B14F-4D97-AF65-F5344CB8AC3E}">
        <p14:creationId xmlns:p14="http://schemas.microsoft.com/office/powerpoint/2010/main" val="2890064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知识卡片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a:t>
            </a:fld>
            <a:endParaRPr lang="zh-CN" altLang="en-US"/>
          </a:p>
        </p:txBody>
      </p:sp>
    </p:spTree>
    <p:extLst>
      <p:ext uri="{BB962C8B-B14F-4D97-AF65-F5344CB8AC3E}">
        <p14:creationId xmlns:p14="http://schemas.microsoft.com/office/powerpoint/2010/main" val="4008490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目录</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a:t>
            </a:fld>
            <a:endParaRPr lang="zh-CN" altLang="en-US"/>
          </a:p>
        </p:txBody>
      </p:sp>
    </p:spTree>
    <p:extLst>
      <p:ext uri="{BB962C8B-B14F-4D97-AF65-F5344CB8AC3E}">
        <p14:creationId xmlns:p14="http://schemas.microsoft.com/office/powerpoint/2010/main" val="1094465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a:t>
            </a:fld>
            <a:endParaRPr lang="zh-CN" altLang="en-US"/>
          </a:p>
        </p:txBody>
      </p:sp>
    </p:spTree>
    <p:extLst>
      <p:ext uri="{BB962C8B-B14F-4D97-AF65-F5344CB8AC3E}">
        <p14:creationId xmlns:p14="http://schemas.microsoft.com/office/powerpoint/2010/main" val="1566013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a:t>
            </a:fld>
            <a:endParaRPr lang="zh-CN" altLang="en-US"/>
          </a:p>
        </p:txBody>
      </p:sp>
    </p:spTree>
    <p:extLst>
      <p:ext uri="{BB962C8B-B14F-4D97-AF65-F5344CB8AC3E}">
        <p14:creationId xmlns:p14="http://schemas.microsoft.com/office/powerpoint/2010/main" val="3589703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a:t>
            </a:fld>
            <a:endParaRPr lang="zh-CN" altLang="en-US"/>
          </a:p>
        </p:txBody>
      </p:sp>
    </p:spTree>
    <p:extLst>
      <p:ext uri="{BB962C8B-B14F-4D97-AF65-F5344CB8AC3E}">
        <p14:creationId xmlns:p14="http://schemas.microsoft.com/office/powerpoint/2010/main" val="1119502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8</a:t>
            </a:fld>
            <a:endParaRPr lang="zh-CN" altLang="en-US"/>
          </a:p>
        </p:txBody>
      </p:sp>
    </p:spTree>
    <p:extLst>
      <p:ext uri="{BB962C8B-B14F-4D97-AF65-F5344CB8AC3E}">
        <p14:creationId xmlns:p14="http://schemas.microsoft.com/office/powerpoint/2010/main" val="127102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AutoNum type="arabicPeriod"/>
            </a:pPr>
            <a:r>
              <a:rPr lang="zh-CN" altLang="en-US" b="0" i="0" dirty="0">
                <a:solidFill>
                  <a:srgbClr val="000000"/>
                </a:solidFill>
                <a:effectLst/>
                <a:latin typeface="Inter"/>
              </a:rPr>
              <a:t>博弈规则：两个囚徒被单独审讯，无法沟通，选择</a:t>
            </a:r>
            <a:r>
              <a:rPr lang="zh-CN" altLang="en-US" sz="1200" b="0" i="0" kern="1200" dirty="0">
                <a:solidFill>
                  <a:srgbClr val="000000"/>
                </a:solidFill>
                <a:effectLst/>
                <a:latin typeface="Inter"/>
                <a:ea typeface="+mn-ea"/>
                <a:cs typeface="+mn-cs"/>
              </a:rPr>
              <a:t> “认罪” </a:t>
            </a:r>
            <a:r>
              <a:rPr lang="zh-CN" altLang="en-US" b="0" i="0" dirty="0">
                <a:solidFill>
                  <a:srgbClr val="000000"/>
                </a:solidFill>
                <a:effectLst/>
                <a:latin typeface="Inter"/>
              </a:rPr>
              <a:t>或 “沉默” 的收益如下（括号内为 “囚徒 </a:t>
            </a:r>
            <a:r>
              <a:rPr lang="en-US" altLang="zh-CN" b="0" i="0" dirty="0">
                <a:solidFill>
                  <a:srgbClr val="000000"/>
                </a:solidFill>
                <a:effectLst/>
                <a:latin typeface="Inter"/>
              </a:rPr>
              <a:t>A </a:t>
            </a:r>
            <a:r>
              <a:rPr lang="zh-CN" altLang="en-US" b="0" i="0" dirty="0">
                <a:solidFill>
                  <a:srgbClr val="000000"/>
                </a:solidFill>
                <a:effectLst/>
                <a:latin typeface="Inter"/>
              </a:rPr>
              <a:t>收益，囚徒 </a:t>
            </a:r>
            <a:r>
              <a:rPr lang="en-US" altLang="zh-CN" b="0" i="0" dirty="0">
                <a:solidFill>
                  <a:srgbClr val="000000"/>
                </a:solidFill>
                <a:effectLst/>
                <a:latin typeface="Inter"/>
              </a:rPr>
              <a:t>B </a:t>
            </a:r>
            <a:r>
              <a:rPr lang="zh-CN" altLang="en-US" b="0" i="0" dirty="0">
                <a:solidFill>
                  <a:srgbClr val="000000"/>
                </a:solidFill>
                <a:effectLst/>
                <a:latin typeface="Inter"/>
              </a:rPr>
              <a:t>收益”）：</a:t>
            </a:r>
          </a:p>
          <a:p>
            <a:pPr marL="742950" lvl="1" indent="-285750" algn="l">
              <a:buFont typeface="+mj-lt"/>
              <a:buAutoNum type="arabicPeriod"/>
            </a:pPr>
            <a:r>
              <a:rPr lang="zh-CN" altLang="en-US" b="0" i="0" dirty="0">
                <a:solidFill>
                  <a:srgbClr val="000000"/>
                </a:solidFill>
                <a:effectLst/>
                <a:latin typeface="Inter"/>
              </a:rPr>
              <a:t>都沉默：（</a:t>
            </a:r>
            <a:r>
              <a:rPr lang="en-US" altLang="zh-CN" b="0" i="0" dirty="0">
                <a:solidFill>
                  <a:srgbClr val="000000"/>
                </a:solidFill>
                <a:effectLst/>
                <a:latin typeface="Inter"/>
              </a:rPr>
              <a:t>-1</a:t>
            </a:r>
            <a:r>
              <a:rPr lang="zh-CN" altLang="en-US" b="0" i="0" dirty="0">
                <a:solidFill>
                  <a:srgbClr val="000000"/>
                </a:solidFill>
                <a:effectLst/>
                <a:latin typeface="Inter"/>
              </a:rPr>
              <a:t>，</a:t>
            </a:r>
            <a:r>
              <a:rPr lang="en-US" altLang="zh-CN" b="0" i="0" dirty="0">
                <a:solidFill>
                  <a:srgbClr val="000000"/>
                </a:solidFill>
                <a:effectLst/>
                <a:latin typeface="Inter"/>
              </a:rPr>
              <a:t>-1</a:t>
            </a:r>
            <a:r>
              <a:rPr lang="zh-CN" altLang="en-US" b="0" i="0" dirty="0">
                <a:solidFill>
                  <a:srgbClr val="000000"/>
                </a:solidFill>
                <a:effectLst/>
                <a:latin typeface="Inter"/>
              </a:rPr>
              <a:t>）（各判 </a:t>
            </a:r>
            <a:r>
              <a:rPr lang="en-US" altLang="zh-CN" b="0" i="0" dirty="0">
                <a:solidFill>
                  <a:srgbClr val="000000"/>
                </a:solidFill>
                <a:effectLst/>
                <a:latin typeface="Inter"/>
              </a:rPr>
              <a:t>1 </a:t>
            </a:r>
            <a:r>
              <a:rPr lang="zh-CN" altLang="en-US" b="0" i="0" dirty="0">
                <a:solidFill>
                  <a:srgbClr val="000000"/>
                </a:solidFill>
                <a:effectLst/>
                <a:latin typeface="Inter"/>
              </a:rPr>
              <a:t>年）</a:t>
            </a:r>
          </a:p>
          <a:p>
            <a:pPr marL="742950" lvl="1" indent="-285750" algn="l">
              <a:buFont typeface="+mj-lt"/>
              <a:buAutoNum type="arabicPeriod"/>
            </a:pPr>
            <a:r>
              <a:rPr lang="zh-CN" altLang="en-US" b="0" i="0" dirty="0">
                <a:solidFill>
                  <a:srgbClr val="000000"/>
                </a:solidFill>
                <a:effectLst/>
                <a:latin typeface="Inter"/>
              </a:rPr>
              <a:t>都</a:t>
            </a:r>
            <a:r>
              <a:rPr lang="zh-CN" altLang="en-US" sz="1200" b="0" i="0" kern="1200" dirty="0">
                <a:solidFill>
                  <a:srgbClr val="000000"/>
                </a:solidFill>
                <a:effectLst/>
                <a:latin typeface="Inter"/>
                <a:ea typeface="+mn-ea"/>
                <a:cs typeface="+mn-cs"/>
              </a:rPr>
              <a:t>认罪</a:t>
            </a:r>
            <a:r>
              <a:rPr lang="zh-CN" altLang="en-US" b="0" i="0" dirty="0">
                <a:solidFill>
                  <a:srgbClr val="000000"/>
                </a:solidFill>
                <a:effectLst/>
                <a:latin typeface="Inter"/>
              </a:rPr>
              <a:t>：（</a:t>
            </a:r>
            <a:r>
              <a:rPr lang="en-US" altLang="zh-CN" b="0" i="0" dirty="0">
                <a:solidFill>
                  <a:srgbClr val="000000"/>
                </a:solidFill>
                <a:effectLst/>
                <a:latin typeface="Inter"/>
              </a:rPr>
              <a:t>-5</a:t>
            </a:r>
            <a:r>
              <a:rPr lang="zh-CN" altLang="en-US" b="0" i="0" dirty="0">
                <a:solidFill>
                  <a:srgbClr val="000000"/>
                </a:solidFill>
                <a:effectLst/>
                <a:latin typeface="Inter"/>
              </a:rPr>
              <a:t>，</a:t>
            </a:r>
            <a:r>
              <a:rPr lang="en-US" altLang="zh-CN" b="0" i="0" dirty="0">
                <a:solidFill>
                  <a:srgbClr val="000000"/>
                </a:solidFill>
                <a:effectLst/>
                <a:latin typeface="Inter"/>
              </a:rPr>
              <a:t>-5</a:t>
            </a:r>
            <a:r>
              <a:rPr lang="zh-CN" altLang="en-US" b="0" i="0" dirty="0">
                <a:solidFill>
                  <a:srgbClr val="000000"/>
                </a:solidFill>
                <a:effectLst/>
                <a:latin typeface="Inter"/>
              </a:rPr>
              <a:t>）（各判 </a:t>
            </a:r>
            <a:r>
              <a:rPr lang="en-US" altLang="zh-CN" b="0" i="0" dirty="0">
                <a:solidFill>
                  <a:srgbClr val="000000"/>
                </a:solidFill>
                <a:effectLst/>
                <a:latin typeface="Inter"/>
              </a:rPr>
              <a:t>5 </a:t>
            </a:r>
            <a:r>
              <a:rPr lang="zh-CN" altLang="en-US" b="0" i="0" dirty="0">
                <a:solidFill>
                  <a:srgbClr val="000000"/>
                </a:solidFill>
                <a:effectLst/>
                <a:latin typeface="Inter"/>
              </a:rPr>
              <a:t>年）</a:t>
            </a:r>
          </a:p>
          <a:p>
            <a:pPr marL="742950" lvl="1" indent="-285750" algn="l">
              <a:buFont typeface="+mj-lt"/>
              <a:buAutoNum type="arabicPeriod"/>
            </a:pPr>
            <a:r>
              <a:rPr lang="zh-CN" altLang="en-US" b="0" i="0" dirty="0">
                <a:solidFill>
                  <a:srgbClr val="000000"/>
                </a:solidFill>
                <a:effectLst/>
                <a:latin typeface="Inter"/>
              </a:rPr>
              <a:t>一方</a:t>
            </a:r>
            <a:r>
              <a:rPr lang="zh-CN" altLang="en-US" sz="1200" b="0" i="0" kern="1200" dirty="0">
                <a:solidFill>
                  <a:srgbClr val="000000"/>
                </a:solidFill>
                <a:effectLst/>
                <a:latin typeface="Inter"/>
                <a:ea typeface="+mn-ea"/>
                <a:cs typeface="+mn-cs"/>
              </a:rPr>
              <a:t>认罪</a:t>
            </a:r>
            <a:r>
              <a:rPr lang="zh-CN" altLang="en-US" b="0" i="0" dirty="0">
                <a:solidFill>
                  <a:srgbClr val="000000"/>
                </a:solidFill>
                <a:effectLst/>
                <a:latin typeface="Inter"/>
              </a:rPr>
              <a:t>、一方沉默：</a:t>
            </a:r>
            <a:r>
              <a:rPr lang="zh-CN" altLang="en-US" sz="1200" b="0" i="0" kern="1200" dirty="0">
                <a:solidFill>
                  <a:srgbClr val="000000"/>
                </a:solidFill>
                <a:effectLst/>
                <a:latin typeface="Inter"/>
                <a:ea typeface="+mn-ea"/>
                <a:cs typeface="+mn-cs"/>
              </a:rPr>
              <a:t>认罪</a:t>
            </a:r>
            <a:r>
              <a:rPr lang="zh-CN" altLang="en-US" b="0" i="0" dirty="0">
                <a:solidFill>
                  <a:srgbClr val="000000"/>
                </a:solidFill>
                <a:effectLst/>
                <a:latin typeface="Inter"/>
              </a:rPr>
              <a:t>者（</a:t>
            </a:r>
            <a:r>
              <a:rPr lang="en-US" altLang="zh-CN" b="0" i="0" dirty="0">
                <a:solidFill>
                  <a:srgbClr val="000000"/>
                </a:solidFill>
                <a:effectLst/>
                <a:latin typeface="Inter"/>
              </a:rPr>
              <a:t>0</a:t>
            </a:r>
            <a:r>
              <a:rPr lang="zh-CN" altLang="en-US" b="0" i="0" dirty="0">
                <a:solidFill>
                  <a:srgbClr val="000000"/>
                </a:solidFill>
                <a:effectLst/>
                <a:latin typeface="Inter"/>
              </a:rPr>
              <a:t>，释放），沉默者（</a:t>
            </a:r>
            <a:r>
              <a:rPr lang="en-US" altLang="zh-CN" b="0" i="0" dirty="0">
                <a:solidFill>
                  <a:srgbClr val="000000"/>
                </a:solidFill>
                <a:effectLst/>
                <a:latin typeface="Inter"/>
              </a:rPr>
              <a:t>-10</a:t>
            </a:r>
            <a:r>
              <a:rPr lang="zh-CN" altLang="en-US" b="0" i="0" dirty="0">
                <a:solidFill>
                  <a:srgbClr val="000000"/>
                </a:solidFill>
                <a:effectLst/>
                <a:latin typeface="Inter"/>
              </a:rPr>
              <a:t>，判 </a:t>
            </a:r>
            <a:r>
              <a:rPr lang="en-US" altLang="zh-CN" b="0" i="0" dirty="0">
                <a:solidFill>
                  <a:srgbClr val="000000"/>
                </a:solidFill>
                <a:effectLst/>
                <a:latin typeface="Inter"/>
              </a:rPr>
              <a:t>10 </a:t>
            </a:r>
            <a:r>
              <a:rPr lang="zh-CN" altLang="en-US" b="0" i="0" dirty="0">
                <a:solidFill>
                  <a:srgbClr val="000000"/>
                </a:solidFill>
                <a:effectLst/>
                <a:latin typeface="Inter"/>
              </a:rPr>
              <a:t>年）</a:t>
            </a:r>
            <a:endParaRPr lang="en-US" altLang="zh-CN" b="0" i="0" dirty="0">
              <a:solidFill>
                <a:srgbClr val="000000"/>
              </a:solidFill>
              <a:effectLst/>
              <a:latin typeface="Inter"/>
            </a:endParaRPr>
          </a:p>
          <a:p>
            <a:pPr algn="l">
              <a:buFont typeface="+mj-lt"/>
              <a:buAutoNum type="arabicPeriod"/>
            </a:pPr>
            <a:r>
              <a:rPr lang="zh-CN" altLang="en-US" b="0" i="0" dirty="0">
                <a:solidFill>
                  <a:srgbClr val="000000"/>
                </a:solidFill>
                <a:effectLst/>
                <a:latin typeface="Inter"/>
              </a:rPr>
              <a:t>纳什均衡的定义：无论对方选择什么策略，自身的选择都是 “最优反应”，且双方都没有动力单独改变策略。</a:t>
            </a:r>
          </a:p>
          <a:p>
            <a:pPr marL="742950" lvl="1" indent="-285750" algn="l">
              <a:buFont typeface="+mj-lt"/>
              <a:buAutoNum type="arabicPeriod"/>
            </a:pPr>
            <a:r>
              <a:rPr lang="zh-CN" altLang="en-US" b="0" i="0" dirty="0">
                <a:solidFill>
                  <a:srgbClr val="000000"/>
                </a:solidFill>
                <a:effectLst/>
                <a:latin typeface="Inter"/>
              </a:rPr>
              <a:t>对囚徒 </a:t>
            </a:r>
            <a:r>
              <a:rPr lang="en-US" altLang="zh-CN" b="0" i="0" dirty="0">
                <a:solidFill>
                  <a:srgbClr val="000000"/>
                </a:solidFill>
                <a:effectLst/>
                <a:latin typeface="Inter"/>
              </a:rPr>
              <a:t>A </a:t>
            </a:r>
            <a:r>
              <a:rPr lang="zh-CN" altLang="en-US" b="0" i="0" dirty="0">
                <a:solidFill>
                  <a:srgbClr val="000000"/>
                </a:solidFill>
                <a:effectLst/>
                <a:latin typeface="Inter"/>
              </a:rPr>
              <a:t>来说：若 </a:t>
            </a:r>
            <a:r>
              <a:rPr lang="en-US" altLang="zh-CN" b="0" i="0" dirty="0">
                <a:solidFill>
                  <a:srgbClr val="000000"/>
                </a:solidFill>
                <a:effectLst/>
                <a:latin typeface="Inter"/>
              </a:rPr>
              <a:t>B </a:t>
            </a:r>
            <a:r>
              <a:rPr lang="zh-CN" altLang="en-US" b="0" i="0" dirty="0">
                <a:solidFill>
                  <a:srgbClr val="000000"/>
                </a:solidFill>
                <a:effectLst/>
                <a:latin typeface="Inter"/>
              </a:rPr>
              <a:t>沉默，</a:t>
            </a:r>
            <a:r>
              <a:rPr lang="en-US" altLang="zh-CN" b="0" i="0" dirty="0">
                <a:solidFill>
                  <a:srgbClr val="000000"/>
                </a:solidFill>
                <a:effectLst/>
                <a:latin typeface="Inter"/>
              </a:rPr>
              <a:t>A</a:t>
            </a:r>
            <a:r>
              <a:rPr lang="zh-CN" altLang="en-US" sz="1200" b="0" i="0" kern="1200" dirty="0">
                <a:solidFill>
                  <a:srgbClr val="000000"/>
                </a:solidFill>
                <a:effectLst/>
                <a:latin typeface="Inter"/>
                <a:ea typeface="+mn-ea"/>
                <a:cs typeface="+mn-cs"/>
              </a:rPr>
              <a:t>认罪</a:t>
            </a:r>
            <a:r>
              <a:rPr lang="zh-CN" altLang="en-US" b="0" i="0" dirty="0">
                <a:solidFill>
                  <a:srgbClr val="000000"/>
                </a:solidFill>
                <a:effectLst/>
                <a:latin typeface="Inter"/>
              </a:rPr>
              <a:t>（</a:t>
            </a:r>
            <a:r>
              <a:rPr lang="en-US" altLang="zh-CN" b="0" i="0" dirty="0">
                <a:solidFill>
                  <a:srgbClr val="000000"/>
                </a:solidFill>
                <a:effectLst/>
                <a:latin typeface="Inter"/>
              </a:rPr>
              <a:t>0 </a:t>
            </a:r>
            <a:r>
              <a:rPr lang="zh-CN" altLang="en-US" b="0" i="0" dirty="0">
                <a:solidFill>
                  <a:srgbClr val="000000"/>
                </a:solidFill>
                <a:effectLst/>
                <a:latin typeface="Inter"/>
              </a:rPr>
              <a:t>收益）比沉默（</a:t>
            </a:r>
            <a:r>
              <a:rPr lang="en-US" altLang="zh-CN" b="0" i="0" dirty="0">
                <a:solidFill>
                  <a:srgbClr val="000000"/>
                </a:solidFill>
                <a:effectLst/>
                <a:latin typeface="Inter"/>
              </a:rPr>
              <a:t>-1</a:t>
            </a:r>
            <a:r>
              <a:rPr lang="zh-CN" altLang="en-US" b="0" i="0" dirty="0">
                <a:solidFill>
                  <a:srgbClr val="000000"/>
                </a:solidFill>
                <a:effectLst/>
                <a:latin typeface="Inter"/>
              </a:rPr>
              <a:t>）更优；若 </a:t>
            </a:r>
            <a:r>
              <a:rPr lang="en-US" altLang="zh-CN" b="0" i="0" dirty="0">
                <a:solidFill>
                  <a:srgbClr val="000000"/>
                </a:solidFill>
                <a:effectLst/>
                <a:latin typeface="Inter"/>
              </a:rPr>
              <a:t>B</a:t>
            </a:r>
            <a:r>
              <a:rPr lang="zh-CN" altLang="en-US" sz="1200" b="0" i="0" kern="1200" dirty="0">
                <a:solidFill>
                  <a:srgbClr val="000000"/>
                </a:solidFill>
                <a:effectLst/>
                <a:latin typeface="Inter"/>
                <a:ea typeface="+mn-ea"/>
                <a:cs typeface="+mn-cs"/>
              </a:rPr>
              <a:t>认罪</a:t>
            </a:r>
            <a:r>
              <a:rPr lang="zh-CN" altLang="en-US" b="0" i="0" dirty="0">
                <a:solidFill>
                  <a:srgbClr val="000000"/>
                </a:solidFill>
                <a:effectLst/>
                <a:latin typeface="Inter"/>
              </a:rPr>
              <a:t>，</a:t>
            </a:r>
            <a:r>
              <a:rPr lang="en-US" altLang="zh-CN" b="0" i="0" dirty="0">
                <a:solidFill>
                  <a:srgbClr val="000000"/>
                </a:solidFill>
                <a:effectLst/>
                <a:latin typeface="Inter"/>
              </a:rPr>
              <a:t>A</a:t>
            </a:r>
            <a:r>
              <a:rPr lang="zh-CN" altLang="en-US" sz="1200" b="0" i="0" kern="1200" dirty="0">
                <a:solidFill>
                  <a:srgbClr val="000000"/>
                </a:solidFill>
                <a:effectLst/>
                <a:latin typeface="Inter"/>
                <a:ea typeface="+mn-ea"/>
                <a:cs typeface="+mn-cs"/>
              </a:rPr>
              <a:t>认罪</a:t>
            </a:r>
            <a:r>
              <a:rPr lang="zh-CN" altLang="en-US" b="0" i="0" dirty="0">
                <a:solidFill>
                  <a:srgbClr val="000000"/>
                </a:solidFill>
                <a:effectLst/>
                <a:latin typeface="Inter"/>
              </a:rPr>
              <a:t>（</a:t>
            </a:r>
            <a:r>
              <a:rPr lang="en-US" altLang="zh-CN" b="0" i="0" dirty="0">
                <a:solidFill>
                  <a:srgbClr val="000000"/>
                </a:solidFill>
                <a:effectLst/>
                <a:latin typeface="Inter"/>
              </a:rPr>
              <a:t>-5</a:t>
            </a:r>
            <a:r>
              <a:rPr lang="zh-CN" altLang="en-US" b="0" i="0" dirty="0">
                <a:solidFill>
                  <a:srgbClr val="000000"/>
                </a:solidFill>
                <a:effectLst/>
                <a:latin typeface="Inter"/>
              </a:rPr>
              <a:t>）比沉默（</a:t>
            </a:r>
            <a:r>
              <a:rPr lang="en-US" altLang="zh-CN" b="0" i="0" dirty="0">
                <a:solidFill>
                  <a:srgbClr val="000000"/>
                </a:solidFill>
                <a:effectLst/>
                <a:latin typeface="Inter"/>
              </a:rPr>
              <a:t>-10</a:t>
            </a:r>
            <a:r>
              <a:rPr lang="zh-CN" altLang="en-US" b="0" i="0" dirty="0">
                <a:solidFill>
                  <a:srgbClr val="000000"/>
                </a:solidFill>
                <a:effectLst/>
                <a:latin typeface="Inter"/>
              </a:rPr>
              <a:t>）更优。因此 “</a:t>
            </a:r>
            <a:r>
              <a:rPr lang="zh-CN" altLang="en-US" sz="1200" b="0" i="0" kern="1200" dirty="0">
                <a:solidFill>
                  <a:srgbClr val="000000"/>
                </a:solidFill>
                <a:effectLst/>
                <a:latin typeface="Inter"/>
                <a:ea typeface="+mn-ea"/>
                <a:cs typeface="+mn-cs"/>
              </a:rPr>
              <a:t>认罪</a:t>
            </a:r>
            <a:r>
              <a:rPr lang="zh-CN" altLang="en-US" b="0" i="0" dirty="0">
                <a:solidFill>
                  <a:srgbClr val="000000"/>
                </a:solidFill>
                <a:effectLst/>
                <a:latin typeface="Inter"/>
              </a:rPr>
              <a:t>” 是 </a:t>
            </a:r>
            <a:r>
              <a:rPr lang="en-US" altLang="zh-CN" b="0" i="0" dirty="0">
                <a:solidFill>
                  <a:srgbClr val="000000"/>
                </a:solidFill>
                <a:effectLst/>
                <a:latin typeface="Inter"/>
              </a:rPr>
              <a:t>A </a:t>
            </a:r>
            <a:r>
              <a:rPr lang="zh-CN" altLang="en-US" b="0" i="0" dirty="0">
                <a:solidFill>
                  <a:srgbClr val="000000"/>
                </a:solidFill>
                <a:effectLst/>
                <a:latin typeface="Inter"/>
              </a:rPr>
              <a:t>的占优策略。</a:t>
            </a:r>
          </a:p>
          <a:p>
            <a:pPr marL="742950" lvl="1" indent="-285750" algn="l">
              <a:buFont typeface="+mj-lt"/>
              <a:buAutoNum type="arabicPeriod"/>
            </a:pPr>
            <a:r>
              <a:rPr lang="zh-CN" altLang="en-US" b="0" i="0" dirty="0">
                <a:solidFill>
                  <a:srgbClr val="000000"/>
                </a:solidFill>
                <a:effectLst/>
                <a:latin typeface="Inter"/>
              </a:rPr>
              <a:t>对囚徒 </a:t>
            </a:r>
            <a:r>
              <a:rPr lang="en-US" altLang="zh-CN" b="0" i="0" dirty="0">
                <a:solidFill>
                  <a:srgbClr val="000000"/>
                </a:solidFill>
                <a:effectLst/>
                <a:latin typeface="Inter"/>
              </a:rPr>
              <a:t>B </a:t>
            </a:r>
            <a:r>
              <a:rPr lang="zh-CN" altLang="en-US" b="0" i="0" dirty="0">
                <a:solidFill>
                  <a:srgbClr val="000000"/>
                </a:solidFill>
                <a:effectLst/>
                <a:latin typeface="Inter"/>
              </a:rPr>
              <a:t>来说：逻辑完全相同，“</a:t>
            </a:r>
            <a:r>
              <a:rPr lang="zh-CN" altLang="en-US" sz="1200" b="0" i="0" kern="1200" dirty="0">
                <a:solidFill>
                  <a:srgbClr val="000000"/>
                </a:solidFill>
                <a:effectLst/>
                <a:latin typeface="Inter"/>
                <a:ea typeface="+mn-ea"/>
                <a:cs typeface="+mn-cs"/>
              </a:rPr>
              <a:t>认罪</a:t>
            </a:r>
            <a:r>
              <a:rPr lang="zh-CN" altLang="en-US" b="0" i="0" dirty="0">
                <a:solidFill>
                  <a:srgbClr val="000000"/>
                </a:solidFill>
                <a:effectLst/>
                <a:latin typeface="Inter"/>
              </a:rPr>
              <a:t>” 也是 </a:t>
            </a:r>
            <a:r>
              <a:rPr lang="en-US" altLang="zh-CN" b="0" i="0" dirty="0">
                <a:solidFill>
                  <a:srgbClr val="000000"/>
                </a:solidFill>
                <a:effectLst/>
                <a:latin typeface="Inter"/>
              </a:rPr>
              <a:t>B </a:t>
            </a:r>
            <a:r>
              <a:rPr lang="zh-CN" altLang="en-US" b="0" i="0" dirty="0">
                <a:solidFill>
                  <a:srgbClr val="000000"/>
                </a:solidFill>
                <a:effectLst/>
                <a:latin typeface="Inter"/>
              </a:rPr>
              <a:t>的占优策略。</a:t>
            </a:r>
          </a:p>
          <a:p>
            <a:pPr algn="l">
              <a:buFont typeface="+mj-lt"/>
              <a:buAutoNum type="arabicPeriod"/>
            </a:pPr>
            <a:r>
              <a:rPr lang="zh-CN" altLang="en-US" b="0" i="0" dirty="0">
                <a:solidFill>
                  <a:srgbClr val="000000"/>
                </a:solidFill>
                <a:effectLst/>
                <a:latin typeface="Inter"/>
              </a:rPr>
              <a:t>结果：双方都会选择占优策略 “</a:t>
            </a:r>
            <a:r>
              <a:rPr lang="zh-CN" altLang="en-US" sz="1200" b="0" i="0" kern="1200" dirty="0">
                <a:solidFill>
                  <a:srgbClr val="000000"/>
                </a:solidFill>
                <a:effectLst/>
                <a:latin typeface="Inter"/>
                <a:ea typeface="+mn-ea"/>
                <a:cs typeface="+mn-cs"/>
              </a:rPr>
              <a:t>认罪</a:t>
            </a:r>
            <a:r>
              <a:rPr lang="zh-CN" altLang="en-US" b="0" i="0" dirty="0">
                <a:solidFill>
                  <a:srgbClr val="000000"/>
                </a:solidFill>
                <a:effectLst/>
                <a:latin typeface="Inter"/>
              </a:rPr>
              <a:t>”，形成（</a:t>
            </a:r>
            <a:r>
              <a:rPr lang="zh-CN" altLang="en-US" sz="1200" b="0" i="0" kern="1200" dirty="0">
                <a:solidFill>
                  <a:srgbClr val="000000"/>
                </a:solidFill>
                <a:effectLst/>
                <a:latin typeface="Inter"/>
                <a:ea typeface="+mn-ea"/>
                <a:cs typeface="+mn-cs"/>
              </a:rPr>
              <a:t>认罪</a:t>
            </a:r>
            <a:r>
              <a:rPr lang="zh-CN" altLang="en-US" b="0" i="0" dirty="0">
                <a:solidFill>
                  <a:srgbClr val="000000"/>
                </a:solidFill>
                <a:effectLst/>
                <a:latin typeface="Inter"/>
              </a:rPr>
              <a:t>，</a:t>
            </a:r>
            <a:r>
              <a:rPr lang="zh-CN" altLang="en-US" sz="1200" b="0" i="0" kern="1200" dirty="0">
                <a:solidFill>
                  <a:srgbClr val="000000"/>
                </a:solidFill>
                <a:effectLst/>
                <a:latin typeface="Inter"/>
                <a:ea typeface="+mn-ea"/>
                <a:cs typeface="+mn-cs"/>
              </a:rPr>
              <a:t>认罪</a:t>
            </a:r>
            <a:r>
              <a:rPr lang="zh-CN" altLang="en-US" b="0" i="0" dirty="0">
                <a:solidFill>
                  <a:srgbClr val="000000"/>
                </a:solidFill>
                <a:effectLst/>
                <a:latin typeface="Inter"/>
              </a:rPr>
              <a:t>）的均衡。此时任何一方单独改为 “沉默”，收益都会从 </a:t>
            </a:r>
            <a:r>
              <a:rPr lang="en-US" altLang="zh-CN" b="0" i="0" dirty="0">
                <a:solidFill>
                  <a:srgbClr val="000000"/>
                </a:solidFill>
                <a:effectLst/>
                <a:latin typeface="Inter"/>
              </a:rPr>
              <a:t>- 5 </a:t>
            </a:r>
            <a:r>
              <a:rPr lang="zh-CN" altLang="en-US" b="0" i="0" dirty="0">
                <a:solidFill>
                  <a:srgbClr val="000000"/>
                </a:solidFill>
                <a:effectLst/>
                <a:latin typeface="Inter"/>
              </a:rPr>
              <a:t>变差为 </a:t>
            </a:r>
            <a:r>
              <a:rPr lang="en-US" altLang="zh-CN" b="0" i="0" dirty="0">
                <a:solidFill>
                  <a:srgbClr val="000000"/>
                </a:solidFill>
                <a:effectLst/>
                <a:latin typeface="Inter"/>
              </a:rPr>
              <a:t>- 10</a:t>
            </a:r>
            <a:r>
              <a:rPr lang="zh-CN" altLang="en-US" b="0" i="0" dirty="0">
                <a:solidFill>
                  <a:srgbClr val="000000"/>
                </a:solidFill>
                <a:effectLst/>
                <a:latin typeface="Inter"/>
              </a:rPr>
              <a:t>，因此无人会主动改变策略。</a:t>
            </a:r>
            <a:endParaRPr lang="en-US" altLang="zh-CN" b="0" i="0" dirty="0">
              <a:solidFill>
                <a:srgbClr val="000000"/>
              </a:solidFill>
              <a:effectLst/>
              <a:latin typeface="Inter"/>
            </a:endParaRPr>
          </a:p>
          <a:p>
            <a:pPr algn="l">
              <a:buFont typeface="+mj-lt"/>
              <a:buAutoNum type="arabicPeriod"/>
            </a:pPr>
            <a:endParaRPr lang="en-US" altLang="zh-CN" b="0" i="0" dirty="0">
              <a:solidFill>
                <a:srgbClr val="000000"/>
              </a:solidFill>
              <a:effectLst/>
              <a:latin typeface="Inter"/>
            </a:endParaRPr>
          </a:p>
          <a:p>
            <a:pPr algn="l">
              <a:buFont typeface="+mj-lt"/>
              <a:buNone/>
            </a:pPr>
            <a:r>
              <a:rPr lang="zh-CN" altLang="en-US" b="0" i="0" dirty="0">
                <a:effectLst/>
                <a:latin typeface="Inter"/>
              </a:rPr>
              <a:t>从 “个体理性” 角度看，（</a:t>
            </a:r>
            <a:r>
              <a:rPr lang="zh-CN" altLang="en-US" sz="1200" b="0" i="0" kern="1200" dirty="0">
                <a:solidFill>
                  <a:srgbClr val="000000"/>
                </a:solidFill>
                <a:effectLst/>
                <a:latin typeface="Inter"/>
                <a:ea typeface="+mn-ea"/>
                <a:cs typeface="+mn-cs"/>
              </a:rPr>
              <a:t>认罪</a:t>
            </a:r>
            <a:r>
              <a:rPr lang="zh-CN" altLang="en-US" b="0" i="0" dirty="0">
                <a:effectLst/>
                <a:latin typeface="Inter"/>
              </a:rPr>
              <a:t>，</a:t>
            </a:r>
            <a:r>
              <a:rPr lang="zh-CN" altLang="en-US" sz="1200" b="0" i="0" kern="1200" dirty="0">
                <a:solidFill>
                  <a:srgbClr val="000000"/>
                </a:solidFill>
                <a:effectLst/>
                <a:latin typeface="Inter"/>
                <a:ea typeface="+mn-ea"/>
                <a:cs typeface="+mn-cs"/>
              </a:rPr>
              <a:t>认罪</a:t>
            </a:r>
            <a:r>
              <a:rPr lang="zh-CN" altLang="en-US" b="0" i="0" dirty="0">
                <a:effectLst/>
                <a:latin typeface="Inter"/>
              </a:rPr>
              <a:t>）是纳什均衡对应的</a:t>
            </a:r>
            <a:r>
              <a:rPr lang="zh-CN" altLang="en-US" b="1" i="0" dirty="0">
                <a:solidFill>
                  <a:srgbClr val="000000"/>
                </a:solidFill>
                <a:effectLst/>
                <a:latin typeface="Inter"/>
              </a:rPr>
              <a:t>个体最优解</a:t>
            </a:r>
            <a:r>
              <a:rPr lang="zh-CN" altLang="en-US" b="0" i="0" dirty="0">
                <a:effectLst/>
                <a:latin typeface="Inter"/>
              </a:rPr>
              <a:t>；但从 “集体理性” 角度看，它</a:t>
            </a:r>
            <a:r>
              <a:rPr lang="zh-CN" altLang="en-US" b="1" i="0" dirty="0">
                <a:solidFill>
                  <a:srgbClr val="000000"/>
                </a:solidFill>
                <a:effectLst/>
                <a:latin typeface="Inter"/>
              </a:rPr>
              <a:t>不是全局最优解</a:t>
            </a:r>
            <a:r>
              <a:rPr lang="en-US" altLang="zh-CN" b="0" i="0" dirty="0">
                <a:effectLst/>
                <a:latin typeface="Inter"/>
              </a:rPr>
              <a:t>—— </a:t>
            </a:r>
            <a:r>
              <a:rPr lang="zh-CN" altLang="en-US" b="0" i="0" dirty="0">
                <a:effectLst/>
                <a:latin typeface="Inter"/>
              </a:rPr>
              <a:t>全局最优其实是（沉默，沉默）。</a:t>
            </a:r>
            <a:endParaRPr lang="zh-CN" altLang="en-US" b="0" i="0" dirty="0">
              <a:solidFill>
                <a:srgbClr val="000000"/>
              </a:solidFill>
              <a:effectLst/>
              <a:latin typeface="Inter"/>
            </a:endParaRPr>
          </a:p>
        </p:txBody>
      </p:sp>
      <p:sp>
        <p:nvSpPr>
          <p:cNvPr id="4" name="灯片编号占位符 3"/>
          <p:cNvSpPr>
            <a:spLocks noGrp="1"/>
          </p:cNvSpPr>
          <p:nvPr>
            <p:ph type="sldNum" sz="quarter" idx="10"/>
          </p:nvPr>
        </p:nvSpPr>
        <p:spPr/>
        <p:txBody>
          <a:bodyPr/>
          <a:lstStyle/>
          <a:p>
            <a:fld id="{FC8AECDA-B852-4CA6-98F9-FDA299AD4FD3}" type="slidenum">
              <a:rPr lang="zh-CN" altLang="en-US" smtClean="0"/>
              <a:t>9</a:t>
            </a:fld>
            <a:endParaRPr lang="zh-CN" altLang="en-US"/>
          </a:p>
        </p:txBody>
      </p:sp>
    </p:spTree>
    <p:extLst>
      <p:ext uri="{BB962C8B-B14F-4D97-AF65-F5344CB8AC3E}">
        <p14:creationId xmlns:p14="http://schemas.microsoft.com/office/powerpoint/2010/main" val="324086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完全 </a:t>
            </a:r>
            <a:r>
              <a:rPr lang="en-US" altLang="zh-CN" b="0" i="0" dirty="0">
                <a:effectLst/>
                <a:latin typeface="Inter"/>
              </a:rPr>
              <a:t>/ </a:t>
            </a:r>
            <a:r>
              <a:rPr lang="zh-CN" altLang="en-US" b="0" i="0" dirty="0">
                <a:effectLst/>
                <a:latin typeface="Inter"/>
              </a:rPr>
              <a:t>不完全信息博弈是按「信息是否透明」划分，静态 </a:t>
            </a:r>
            <a:r>
              <a:rPr lang="en-US" altLang="zh-CN" b="0" i="0" dirty="0">
                <a:effectLst/>
                <a:latin typeface="Inter"/>
              </a:rPr>
              <a:t>/ </a:t>
            </a:r>
            <a:r>
              <a:rPr lang="zh-CN" altLang="en-US" b="0" i="0" dirty="0">
                <a:effectLst/>
                <a:latin typeface="Inter"/>
              </a:rPr>
              <a:t>动态博弈是按「决策时机是否同步」划分，两者可交叉组合（如完全信息静态博弈、不完全信息动态博弈）。</a:t>
            </a:r>
            <a:endParaRPr lang="en-US" altLang="zh-CN" b="0" i="0" dirty="0">
              <a:effectLst/>
              <a:latin typeface="Inter"/>
            </a:endParaRPr>
          </a:p>
          <a:p>
            <a:endParaRPr lang="en-US" altLang="zh-CN" b="0" i="0" dirty="0">
              <a:effectLst/>
              <a:latin typeface="Inter"/>
            </a:endParaRPr>
          </a:p>
          <a:p>
            <a:pPr algn="l"/>
            <a:r>
              <a:rPr lang="zh-CN" altLang="en-US" b="1" i="0" dirty="0">
                <a:solidFill>
                  <a:srgbClr val="000000"/>
                </a:solidFill>
                <a:effectLst/>
                <a:latin typeface="Inter"/>
              </a:rPr>
              <a:t>一、完全信息博弈例子</a:t>
            </a:r>
          </a:p>
          <a:p>
            <a:pPr algn="l">
              <a:buFont typeface="+mj-lt"/>
              <a:buAutoNum type="arabicPeriod"/>
            </a:pPr>
            <a:r>
              <a:rPr lang="zh-CN" altLang="en-US" b="1" i="0" dirty="0">
                <a:solidFill>
                  <a:srgbClr val="000000"/>
                </a:solidFill>
                <a:effectLst/>
                <a:latin typeface="Inter"/>
              </a:rPr>
              <a:t>囚徒困境</a:t>
            </a:r>
            <a:r>
              <a:rPr lang="zh-CN" altLang="en-US" b="0" i="0" dirty="0">
                <a:solidFill>
                  <a:srgbClr val="000000"/>
                </a:solidFill>
                <a:effectLst/>
                <a:latin typeface="Inter"/>
              </a:rPr>
              <a:t>：两个囚徒都清楚对方的可选策略（坦白 </a:t>
            </a:r>
            <a:r>
              <a:rPr lang="en-US" altLang="zh-CN" b="0" i="0" dirty="0">
                <a:solidFill>
                  <a:srgbClr val="000000"/>
                </a:solidFill>
                <a:effectLst/>
                <a:latin typeface="Inter"/>
              </a:rPr>
              <a:t>/ </a:t>
            </a:r>
            <a:r>
              <a:rPr lang="zh-CN" altLang="en-US" b="0" i="0" dirty="0">
                <a:solidFill>
                  <a:srgbClr val="000000"/>
                </a:solidFill>
                <a:effectLst/>
                <a:latin typeface="Inter"/>
              </a:rPr>
              <a:t>沉默），以及每种策略组合对应的判决结果（收益），无任何信息隐藏。</a:t>
            </a:r>
          </a:p>
          <a:p>
            <a:pPr algn="l">
              <a:buFont typeface="+mj-lt"/>
              <a:buAutoNum type="arabicPeriod"/>
            </a:pPr>
            <a:r>
              <a:rPr lang="zh-CN" altLang="en-US" b="1" i="0" dirty="0">
                <a:solidFill>
                  <a:srgbClr val="000000"/>
                </a:solidFill>
                <a:effectLst/>
                <a:latin typeface="Inter"/>
              </a:rPr>
              <a:t>石头剪刀布</a:t>
            </a:r>
            <a:r>
              <a:rPr lang="zh-CN" altLang="en-US" b="0" i="0" dirty="0">
                <a:solidFill>
                  <a:srgbClr val="000000"/>
                </a:solidFill>
                <a:effectLst/>
                <a:latin typeface="Inter"/>
              </a:rPr>
              <a:t>：双方都知道所有可能的策略（石头 </a:t>
            </a:r>
            <a:r>
              <a:rPr lang="en-US" altLang="zh-CN" b="0" i="0" dirty="0">
                <a:solidFill>
                  <a:srgbClr val="000000"/>
                </a:solidFill>
                <a:effectLst/>
                <a:latin typeface="Inter"/>
              </a:rPr>
              <a:t>/ </a:t>
            </a:r>
            <a:r>
              <a:rPr lang="zh-CN" altLang="en-US" b="0" i="0" dirty="0">
                <a:solidFill>
                  <a:srgbClr val="000000"/>
                </a:solidFill>
                <a:effectLst/>
                <a:latin typeface="Inter"/>
              </a:rPr>
              <a:t>剪刀 </a:t>
            </a:r>
            <a:r>
              <a:rPr lang="en-US" altLang="zh-CN" b="0" i="0" dirty="0">
                <a:solidFill>
                  <a:srgbClr val="000000"/>
                </a:solidFill>
                <a:effectLst/>
                <a:latin typeface="Inter"/>
              </a:rPr>
              <a:t>/ </a:t>
            </a:r>
            <a:r>
              <a:rPr lang="zh-CN" altLang="en-US" b="0" i="0" dirty="0">
                <a:solidFill>
                  <a:srgbClr val="000000"/>
                </a:solidFill>
                <a:effectLst/>
                <a:latin typeface="Inter"/>
              </a:rPr>
              <a:t>布），且明确每种对决结果的胜负（收益），信息完全透明。</a:t>
            </a:r>
          </a:p>
          <a:p>
            <a:pPr algn="l"/>
            <a:r>
              <a:rPr lang="zh-CN" altLang="en-US" b="1" i="0" dirty="0">
                <a:solidFill>
                  <a:srgbClr val="000000"/>
                </a:solidFill>
                <a:effectLst/>
                <a:latin typeface="Inter"/>
              </a:rPr>
              <a:t>二、不完全信息博弈例子</a:t>
            </a:r>
          </a:p>
          <a:p>
            <a:pPr algn="l">
              <a:buFont typeface="+mj-lt"/>
              <a:buAutoNum type="arabicPeriod"/>
            </a:pPr>
            <a:r>
              <a:rPr lang="zh-CN" altLang="en-US" b="1" i="0" dirty="0">
                <a:solidFill>
                  <a:srgbClr val="000000"/>
                </a:solidFill>
                <a:effectLst/>
                <a:latin typeface="Inter"/>
              </a:rPr>
              <a:t>二手车交易</a:t>
            </a:r>
            <a:r>
              <a:rPr lang="zh-CN" altLang="en-US" b="0" i="0" dirty="0">
                <a:solidFill>
                  <a:srgbClr val="000000"/>
                </a:solidFill>
                <a:effectLst/>
                <a:latin typeface="Inter"/>
              </a:rPr>
              <a:t>：买家不清楚卖家车辆的真实车况（如是否为事故车、发动机状态），但卖家知晓；买家仅知道车况的概率分布（如优质车、问题车的比例），属于不完全信息。</a:t>
            </a:r>
          </a:p>
          <a:p>
            <a:pPr algn="l">
              <a:buFont typeface="+mj-lt"/>
              <a:buAutoNum type="arabicPeriod"/>
            </a:pPr>
            <a:r>
              <a:rPr lang="zh-CN" altLang="en-US" b="1" i="0" dirty="0">
                <a:solidFill>
                  <a:srgbClr val="000000"/>
                </a:solidFill>
                <a:effectLst/>
                <a:latin typeface="Inter"/>
              </a:rPr>
              <a:t>招聘面试</a:t>
            </a:r>
            <a:r>
              <a:rPr lang="zh-CN" altLang="en-US" b="0" i="0" dirty="0">
                <a:solidFill>
                  <a:srgbClr val="000000"/>
                </a:solidFill>
                <a:effectLst/>
                <a:latin typeface="Inter"/>
              </a:rPr>
              <a:t>：雇主不了解求职者的真实能力（如工作技能、责任心），求职者自己清楚；雇主只能通过简历、面试表现推测，无法获得完全信息。</a:t>
            </a:r>
          </a:p>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10</a:t>
            </a:fld>
            <a:endParaRPr lang="zh-CN" altLang="en-US"/>
          </a:p>
        </p:txBody>
      </p:sp>
    </p:spTree>
    <p:extLst>
      <p:ext uri="{BB962C8B-B14F-4D97-AF65-F5344CB8AC3E}">
        <p14:creationId xmlns:p14="http://schemas.microsoft.com/office/powerpoint/2010/main" val="3215730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11</a:t>
            </a:fld>
            <a:endParaRPr lang="zh-CN" altLang="en-US"/>
          </a:p>
        </p:txBody>
      </p:sp>
    </p:spTree>
    <p:extLst>
      <p:ext uri="{BB962C8B-B14F-4D97-AF65-F5344CB8AC3E}">
        <p14:creationId xmlns:p14="http://schemas.microsoft.com/office/powerpoint/2010/main" val="38942434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13</a:t>
            </a:fld>
            <a:endParaRPr lang="zh-CN" altLang="en-US"/>
          </a:p>
        </p:txBody>
      </p:sp>
    </p:spTree>
    <p:extLst>
      <p:ext uri="{BB962C8B-B14F-4D97-AF65-F5344CB8AC3E}">
        <p14:creationId xmlns:p14="http://schemas.microsoft.com/office/powerpoint/2010/main" val="153979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14</a:t>
            </a:fld>
            <a:endParaRPr lang="zh-CN" altLang="en-US"/>
          </a:p>
        </p:txBody>
      </p:sp>
    </p:spTree>
    <p:extLst>
      <p:ext uri="{BB962C8B-B14F-4D97-AF65-F5344CB8AC3E}">
        <p14:creationId xmlns:p14="http://schemas.microsoft.com/office/powerpoint/2010/main" val="7217613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15</a:t>
            </a:fld>
            <a:endParaRPr lang="zh-CN" altLang="en-US"/>
          </a:p>
        </p:txBody>
      </p:sp>
    </p:spTree>
    <p:extLst>
      <p:ext uri="{BB962C8B-B14F-4D97-AF65-F5344CB8AC3E}">
        <p14:creationId xmlns:p14="http://schemas.microsoft.com/office/powerpoint/2010/main" val="14511561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00000"/>
                </a:solidFill>
                <a:effectLst/>
                <a:latin typeface="Inter"/>
              </a:rPr>
              <a:t>策梅洛定理的核心应用场景是</a:t>
            </a:r>
            <a:r>
              <a:rPr lang="zh-CN" altLang="en-US" b="1" i="0" dirty="0">
                <a:solidFill>
                  <a:srgbClr val="000000"/>
                </a:solidFill>
                <a:effectLst/>
                <a:latin typeface="Inter"/>
              </a:rPr>
              <a:t>有限步、无随机因素、双人完全信息博弈</a:t>
            </a:r>
            <a:r>
              <a:rPr lang="zh-CN" altLang="en-US" b="0" i="0" dirty="0">
                <a:solidFill>
                  <a:srgbClr val="000000"/>
                </a:solidFill>
                <a:effectLst/>
                <a:latin typeface="Inter"/>
              </a:rPr>
              <a:t>，只要满足这三个条件，定理就能直接适用，具体场景和典型例子如下：</a:t>
            </a:r>
          </a:p>
          <a:p>
            <a:pPr algn="l"/>
            <a:r>
              <a:rPr lang="zh-CN" altLang="en-US" b="1" i="0" dirty="0">
                <a:solidFill>
                  <a:srgbClr val="000000"/>
                </a:solidFill>
                <a:effectLst/>
                <a:latin typeface="Inter"/>
              </a:rPr>
              <a:t>一、经典棋类博弈（最核心应用）</a:t>
            </a:r>
          </a:p>
          <a:p>
            <a:pPr algn="l"/>
            <a:r>
              <a:rPr lang="zh-CN" altLang="en-US" b="0" i="0" dirty="0">
                <a:solidFill>
                  <a:srgbClr val="000000"/>
                </a:solidFill>
                <a:effectLst/>
                <a:latin typeface="Inter"/>
              </a:rPr>
              <a:t>这是定理最直观的落地场景，所有纯策略、无随机的棋类都符合条件：</a:t>
            </a:r>
          </a:p>
          <a:p>
            <a:pPr algn="l">
              <a:buFont typeface="Arial" panose="020B0604020202020204" pitchFamily="34" charset="0"/>
              <a:buChar char="•"/>
            </a:pPr>
            <a:r>
              <a:rPr lang="zh-CN" altLang="en-US" b="1" i="0" dirty="0">
                <a:solidFill>
                  <a:srgbClr val="000000"/>
                </a:solidFill>
                <a:effectLst/>
                <a:latin typeface="Inter"/>
              </a:rPr>
              <a:t>井字棋（</a:t>
            </a:r>
            <a:r>
              <a:rPr lang="en-US" altLang="zh-CN" b="1" i="0" dirty="0">
                <a:solidFill>
                  <a:srgbClr val="000000"/>
                </a:solidFill>
                <a:effectLst/>
                <a:latin typeface="Inter"/>
              </a:rPr>
              <a:t>Tic-Tac-Toe</a:t>
            </a:r>
            <a:r>
              <a:rPr lang="zh-CN" altLang="en-US" b="1" i="0" dirty="0">
                <a:solidFill>
                  <a:srgbClr val="000000"/>
                </a:solidFill>
                <a:effectLst/>
                <a:latin typeface="Inter"/>
              </a:rPr>
              <a:t>）</a:t>
            </a:r>
            <a:r>
              <a:rPr lang="zh-CN" altLang="en-US" b="0" i="0" dirty="0">
                <a:solidFill>
                  <a:srgbClr val="000000"/>
                </a:solidFill>
                <a:effectLst/>
                <a:latin typeface="Inter"/>
              </a:rPr>
              <a:t>：有限棋盘（</a:t>
            </a:r>
            <a:r>
              <a:rPr lang="en-US" altLang="zh-CN" b="0" i="0" dirty="0">
                <a:solidFill>
                  <a:srgbClr val="000000"/>
                </a:solidFill>
                <a:effectLst/>
                <a:latin typeface="Inter"/>
              </a:rPr>
              <a:t>3×3</a:t>
            </a:r>
            <a:r>
              <a:rPr lang="zh-CN" altLang="en-US" b="0" i="0" dirty="0">
                <a:solidFill>
                  <a:srgbClr val="000000"/>
                </a:solidFill>
                <a:effectLst/>
                <a:latin typeface="Inter"/>
              </a:rPr>
              <a:t>）、无随机落子、双方全程知晓棋局，最终证明 “双方都有必和策略”（完美发挥下永无胜负）。</a:t>
            </a:r>
          </a:p>
          <a:p>
            <a:pPr algn="l">
              <a:buFont typeface="Arial" panose="020B0604020202020204" pitchFamily="34" charset="0"/>
              <a:buChar char="•"/>
            </a:pPr>
            <a:r>
              <a:rPr lang="zh-CN" altLang="en-US" b="1" i="0" dirty="0">
                <a:solidFill>
                  <a:srgbClr val="000000"/>
                </a:solidFill>
                <a:effectLst/>
                <a:latin typeface="Inter"/>
              </a:rPr>
              <a:t>象棋 </a:t>
            </a:r>
            <a:r>
              <a:rPr lang="en-US" altLang="zh-CN" b="1" i="0" dirty="0">
                <a:solidFill>
                  <a:srgbClr val="000000"/>
                </a:solidFill>
                <a:effectLst/>
                <a:latin typeface="Inter"/>
              </a:rPr>
              <a:t>/ </a:t>
            </a:r>
            <a:r>
              <a:rPr lang="zh-CN" altLang="en-US" b="1" i="0" dirty="0">
                <a:solidFill>
                  <a:srgbClr val="000000"/>
                </a:solidFill>
                <a:effectLst/>
                <a:latin typeface="Inter"/>
              </a:rPr>
              <a:t>国际象棋</a:t>
            </a:r>
            <a:r>
              <a:rPr lang="zh-CN" altLang="en-US" b="0" i="0" dirty="0">
                <a:solidFill>
                  <a:srgbClr val="000000"/>
                </a:solidFill>
                <a:effectLst/>
                <a:latin typeface="Inter"/>
              </a:rPr>
              <a:t>：棋盘大小有限、棋子走法固定、无随机元素（如掷骰子），定理保证 “存在先手必胜、后手必胜或必和策略”（目前人类尚未找到全部最优策略，但理论上存在）。</a:t>
            </a:r>
          </a:p>
          <a:p>
            <a:pPr algn="l">
              <a:buFont typeface="Arial" panose="020B0604020202020204" pitchFamily="34" charset="0"/>
              <a:buChar char="•"/>
            </a:pPr>
            <a:r>
              <a:rPr lang="zh-CN" altLang="en-US" b="1" i="0" dirty="0">
                <a:solidFill>
                  <a:srgbClr val="000000"/>
                </a:solidFill>
                <a:effectLst/>
                <a:latin typeface="Inter"/>
              </a:rPr>
              <a:t>围棋</a:t>
            </a:r>
            <a:r>
              <a:rPr lang="zh-CN" altLang="en-US" b="0" i="0" dirty="0">
                <a:solidFill>
                  <a:srgbClr val="000000"/>
                </a:solidFill>
                <a:effectLst/>
                <a:latin typeface="Inter"/>
              </a:rPr>
              <a:t>：虽然棋盘（</a:t>
            </a:r>
            <a:r>
              <a:rPr lang="en-US" altLang="zh-CN" b="0" i="0" dirty="0">
                <a:solidFill>
                  <a:srgbClr val="000000"/>
                </a:solidFill>
                <a:effectLst/>
                <a:latin typeface="Inter"/>
              </a:rPr>
              <a:t>19×19</a:t>
            </a:r>
            <a:r>
              <a:rPr lang="zh-CN" altLang="en-US" b="0" i="0" dirty="0">
                <a:solidFill>
                  <a:srgbClr val="000000"/>
                </a:solidFill>
                <a:effectLst/>
                <a:latin typeface="Inter"/>
              </a:rPr>
              <a:t>）可选落子点极多，但仍是有限步博弈（终局条件明确），定理同样适用，只是最优策略的复杂度远超当前计算能力。</a:t>
            </a:r>
          </a:p>
          <a:p>
            <a:pPr algn="l">
              <a:buFont typeface="Arial" panose="020B0604020202020204" pitchFamily="34" charset="0"/>
              <a:buChar char="•"/>
            </a:pPr>
            <a:r>
              <a:rPr lang="zh-CN" altLang="en-US" b="1" i="0" dirty="0">
                <a:solidFill>
                  <a:srgbClr val="000000"/>
                </a:solidFill>
                <a:effectLst/>
                <a:latin typeface="Inter"/>
              </a:rPr>
              <a:t>五子棋（无禁手）</a:t>
            </a:r>
            <a:r>
              <a:rPr lang="zh-CN" altLang="en-US" b="0" i="0" dirty="0">
                <a:solidFill>
                  <a:srgbClr val="000000"/>
                </a:solidFill>
                <a:effectLst/>
                <a:latin typeface="Inter"/>
              </a:rPr>
              <a:t>：有限落子点、规则明确，定理证明 “先手有必胜策略”（因此职业比赛会加入禁手规则，打破这种先天优势）。</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16</a:t>
            </a:fld>
            <a:endParaRPr lang="zh-CN" altLang="en-US"/>
          </a:p>
        </p:txBody>
      </p:sp>
    </p:spTree>
    <p:extLst>
      <p:ext uri="{BB962C8B-B14F-4D97-AF65-F5344CB8AC3E}">
        <p14:creationId xmlns:p14="http://schemas.microsoft.com/office/powerpoint/2010/main" val="4856585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17</a:t>
            </a:fld>
            <a:endParaRPr lang="zh-CN" altLang="en-US"/>
          </a:p>
        </p:txBody>
      </p:sp>
    </p:spTree>
    <p:extLst>
      <p:ext uri="{BB962C8B-B14F-4D97-AF65-F5344CB8AC3E}">
        <p14:creationId xmlns:p14="http://schemas.microsoft.com/office/powerpoint/2010/main" val="435365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18</a:t>
            </a:fld>
            <a:endParaRPr lang="zh-CN" altLang="en-US"/>
          </a:p>
        </p:txBody>
      </p:sp>
    </p:spTree>
    <p:extLst>
      <p:ext uri="{BB962C8B-B14F-4D97-AF65-F5344CB8AC3E}">
        <p14:creationId xmlns:p14="http://schemas.microsoft.com/office/powerpoint/2010/main" val="2826036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19</a:t>
            </a:fld>
            <a:endParaRPr lang="zh-CN" altLang="en-US"/>
          </a:p>
        </p:txBody>
      </p:sp>
    </p:spTree>
    <p:extLst>
      <p:ext uri="{BB962C8B-B14F-4D97-AF65-F5344CB8AC3E}">
        <p14:creationId xmlns:p14="http://schemas.microsoft.com/office/powerpoint/2010/main" val="1921110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20</a:t>
            </a:fld>
            <a:endParaRPr lang="zh-CN" altLang="en-US"/>
          </a:p>
        </p:txBody>
      </p:sp>
    </p:spTree>
    <p:extLst>
      <p:ext uri="{BB962C8B-B14F-4D97-AF65-F5344CB8AC3E}">
        <p14:creationId xmlns:p14="http://schemas.microsoft.com/office/powerpoint/2010/main" val="3360517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21</a:t>
            </a:fld>
            <a:endParaRPr lang="zh-CN" altLang="en-US"/>
          </a:p>
        </p:txBody>
      </p:sp>
    </p:spTree>
    <p:extLst>
      <p:ext uri="{BB962C8B-B14F-4D97-AF65-F5344CB8AC3E}">
        <p14:creationId xmlns:p14="http://schemas.microsoft.com/office/powerpoint/2010/main" val="40874415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22</a:t>
            </a:fld>
            <a:endParaRPr lang="zh-CN" altLang="en-US"/>
          </a:p>
        </p:txBody>
      </p:sp>
    </p:spTree>
    <p:extLst>
      <p:ext uri="{BB962C8B-B14F-4D97-AF65-F5344CB8AC3E}">
        <p14:creationId xmlns:p14="http://schemas.microsoft.com/office/powerpoint/2010/main" val="9548079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23</a:t>
            </a:fld>
            <a:endParaRPr lang="zh-CN" altLang="en-US"/>
          </a:p>
        </p:txBody>
      </p:sp>
    </p:spTree>
    <p:extLst>
      <p:ext uri="{BB962C8B-B14F-4D97-AF65-F5344CB8AC3E}">
        <p14:creationId xmlns:p14="http://schemas.microsoft.com/office/powerpoint/2010/main" val="11350012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24</a:t>
            </a:fld>
            <a:endParaRPr lang="zh-CN" altLang="en-US"/>
          </a:p>
        </p:txBody>
      </p:sp>
    </p:spTree>
    <p:extLst>
      <p:ext uri="{BB962C8B-B14F-4D97-AF65-F5344CB8AC3E}">
        <p14:creationId xmlns:p14="http://schemas.microsoft.com/office/powerpoint/2010/main" val="35455458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25</a:t>
            </a:fld>
            <a:endParaRPr lang="zh-CN" altLang="en-US"/>
          </a:p>
        </p:txBody>
      </p:sp>
    </p:spTree>
    <p:extLst>
      <p:ext uri="{BB962C8B-B14F-4D97-AF65-F5344CB8AC3E}">
        <p14:creationId xmlns:p14="http://schemas.microsoft.com/office/powerpoint/2010/main" val="3902324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26</a:t>
            </a:fld>
            <a:endParaRPr lang="zh-CN" altLang="en-US"/>
          </a:p>
        </p:txBody>
      </p:sp>
    </p:spTree>
    <p:extLst>
      <p:ext uri="{BB962C8B-B14F-4D97-AF65-F5344CB8AC3E}">
        <p14:creationId xmlns:p14="http://schemas.microsoft.com/office/powerpoint/2010/main" val="40626265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在虚拟价值中采用</a:t>
                </a:r>
                <a14:m>
                  <m:oMath xmlns:m="http://schemas.openxmlformats.org/officeDocument/2006/math">
                    <m:groupChr>
                      <m:groupChrPr>
                        <m:chr m:val="⏟"/>
                        <m:ctrlPr>
                          <a:rPr lang="zh-CN" altLang="zh-CN" sz="12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groupChrPr>
                      <m:e>
                        <m:sSubSup>
                          <m:sSubSupPr>
                            <m:ctrlPr>
                              <a:rPr lang="zh-CN" altLang="zh-CN" sz="12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𝜎</m:t>
                            </m:r>
                          </m:sup>
                        </m:sSubSup>
                        <m:r>
                          <a:rPr lang="en-US" altLang="zh-CN" sz="12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200" kern="100">
                            <a:effectLst/>
                            <a:latin typeface="Cambria Math" panose="02040503050406030204" pitchFamily="18" charset="0"/>
                            <a:ea typeface="华文楷体" panose="02010600040101010101" pitchFamily="2" charset="-122"/>
                            <a:cs typeface="Times New Roman" panose="02020603050405020304" pitchFamily="18" charset="0"/>
                          </a:rPr>
                          <m:t>)</m:t>
                        </m:r>
                      </m:e>
                    </m:groupChr>
                  </m:oMath>
                </a14:m>
                <a:r>
                  <a:rPr lang="zh-CN" altLang="en-US" dirty="0"/>
                  <a:t>这个概率，实际上可以与</a:t>
                </a:r>
                <a14:m>
                  <m:oMath xmlns:m="http://schemas.openxmlformats.org/officeDocument/2006/math">
                    <m:sSub>
                      <m:sSubPr>
                        <m:ctrlPr>
                          <a:rPr lang="zh-CN" altLang="zh-CN" sz="12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𝑟</m:t>
                        </m:r>
                      </m:e>
                      <m:sub>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2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2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200" kern="100">
                        <a:effectLst/>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undOvr"/>
                        <m:grow m:val="on"/>
                        <m:supHide m:val="on"/>
                        <m:ctrlPr>
                          <a:rPr lang="zh-CN" altLang="zh-CN" sz="12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2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𝐼</m:t>
                        </m:r>
                      </m:sub>
                      <m:sup/>
                      <m:e>
                        <m:sSub>
                          <m:sSubPr>
                            <m:ctrlPr>
                              <a:rPr lang="zh-CN" altLang="zh-CN" sz="12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𝑟</m:t>
                            </m:r>
                          </m:e>
                          <m:sub>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2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2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m:t>
                        </m:r>
                      </m:e>
                    </m:nary>
                  </m:oMath>
                </a14:m>
                <a:r>
                  <a:rPr lang="zh-CN" altLang="en-US" dirty="0"/>
                  <a:t>联系起来，即</a:t>
                </a:r>
                <a14:m>
                  <m:oMath xmlns:m="http://schemas.openxmlformats.org/officeDocument/2006/math">
                    <m:sSub>
                      <m:sSubPr>
                        <m:ctrlPr>
                          <a:rPr lang="zh-CN" altLang="zh-CN" sz="12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𝑟</m:t>
                        </m:r>
                      </m:e>
                      <m:sub>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2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2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200"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en-US" dirty="0"/>
                  <a:t>计算的是信息集中所有行动序列的期望遗憾</a:t>
                </a:r>
              </a:p>
            </p:txBody>
          </p:sp>
        </mc:Choice>
        <mc:Fallback xmlns="">
          <p:sp>
            <p:nvSpPr>
              <p:cNvPr id="3" name="备注占位符 2"/>
              <p:cNvSpPr>
                <a:spLocks noGrp="1"/>
              </p:cNvSpPr>
              <p:nvPr>
                <p:ph type="body" idx="1"/>
              </p:nvPr>
            </p:nvSpPr>
            <p:spPr/>
            <p:txBody>
              <a:bodyPr/>
              <a:lstStyle/>
              <a:p>
                <a:r>
                  <a:rPr lang="zh-CN" altLang="en-US" dirty="0"/>
                  <a:t>在虚拟价值中采用</a:t>
                </a:r>
                <a:r>
                  <a:rPr lang="zh-CN" altLang="zh-CN" sz="1200" i="0" kern="100">
                    <a:effectLst/>
                    <a:latin typeface="Cambria Math" panose="02040503050406030204" pitchFamily="18" charset="0"/>
                    <a:cs typeface="Times New Roman" panose="02020603050405020304" pitchFamily="18" charset="0"/>
                  </a:rPr>
                  <a:t>⏟(</a:t>
                </a:r>
                <a:r>
                  <a:rPr lang="en-US"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𝜋</a:t>
                </a:r>
                <a:r>
                  <a:rPr lang="zh-CN"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_(</a:t>
                </a:r>
                <a:r>
                  <a:rPr lang="en-US"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−𝑖</a:t>
                </a:r>
                <a:r>
                  <a:rPr lang="zh-CN"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a:t>
                </a:r>
                <a:r>
                  <a:rPr lang="en-US"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^𝜎 (ℎ)</a:t>
                </a:r>
                <a:r>
                  <a:rPr lang="zh-CN"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a:t>
                </a:r>
                <a:r>
                  <a:rPr lang="zh-CN" altLang="en-US" dirty="0"/>
                  <a:t>这个概率，实际上可以与</a:t>
                </a:r>
                <a:r>
                  <a:rPr lang="en-US"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𝑟</a:t>
                </a:r>
                <a:r>
                  <a:rPr lang="zh-CN"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_</a:t>
                </a:r>
                <a:r>
                  <a:rPr lang="en-US"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𝑖 (𝐼,𝑎)=</a:t>
                </a:r>
                <a:r>
                  <a:rPr lang="zh-CN" altLang="zh-CN" sz="1200" i="0" kern="100">
                    <a:effectLst/>
                    <a:latin typeface="Cambria Math" panose="02040503050406030204" pitchFamily="18" charset="0"/>
                    <a:cs typeface="Times New Roman" panose="02020603050405020304" pitchFamily="18" charset="0"/>
                  </a:rPr>
                  <a:t>∑129</a:t>
                </a:r>
                <a:r>
                  <a:rPr lang="en-US" altLang="zh-CN" sz="1200" i="0" kern="100">
                    <a:effectLst/>
                    <a:latin typeface="Cambria Math" panose="02040503050406030204" pitchFamily="18" charset="0"/>
                    <a:cs typeface="Times New Roman" panose="02020603050405020304" pitchFamily="18" charset="0"/>
                  </a:rPr>
                  <a:t>_</a:t>
                </a:r>
                <a:r>
                  <a:rPr lang="zh-CN" altLang="zh-CN" sz="1200" i="0" kern="100">
                    <a:effectLst/>
                    <a:latin typeface="Cambria Math" panose="02040503050406030204" pitchFamily="18" charset="0"/>
                    <a:cs typeface="Times New Roman" panose="02020603050405020304" pitchFamily="18" charset="0"/>
                  </a:rPr>
                  <a:t>(</a:t>
                </a:r>
                <a:r>
                  <a:rPr lang="en-US"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ℎ∈𝐼</a:t>
                </a:r>
                <a:r>
                  <a:rPr lang="zh-CN"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a:t>
                </a:r>
                <a:r>
                  <a:rPr lang="en-US"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a:t>
                </a:r>
                <a:r>
                  <a:rPr lang="zh-CN"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a:t>
                </a:r>
                <a:r>
                  <a:rPr lang="en-US"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𝑟</a:t>
                </a:r>
                <a:r>
                  <a:rPr lang="zh-CN"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_</a:t>
                </a:r>
                <a:r>
                  <a:rPr lang="en-US"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𝑖 (ℎ,𝑎)</a:t>
                </a:r>
                <a:r>
                  <a:rPr lang="zh-CN"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a:t>
                </a:r>
                <a:r>
                  <a:rPr lang="zh-CN" altLang="en-US" dirty="0"/>
                  <a:t>联系起来，即</a:t>
                </a:r>
                <a:r>
                  <a:rPr lang="en-US"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𝑟</a:t>
                </a:r>
                <a:r>
                  <a:rPr lang="zh-CN"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_</a:t>
                </a:r>
                <a:r>
                  <a:rPr lang="en-US" altLang="zh-CN" sz="1200" i="0" kern="100">
                    <a:effectLst/>
                    <a:latin typeface="Cambria Math" panose="02040503050406030204" pitchFamily="18" charset="0"/>
                    <a:ea typeface="华文楷体" panose="02010600040101010101" pitchFamily="2" charset="-122"/>
                    <a:cs typeface="Times New Roman" panose="02020603050405020304" pitchFamily="18" charset="0"/>
                  </a:rPr>
                  <a:t>𝑖 (𝐼,𝑎)</a:t>
                </a:r>
                <a:r>
                  <a:rPr lang="zh-CN" altLang="en-US" dirty="0"/>
                  <a:t>计算的是信息集中所有行动序列的期望遗憾</a:t>
                </a:r>
              </a:p>
            </p:txBody>
          </p:sp>
        </mc:Fallback>
      </mc:AlternateContent>
      <p:sp>
        <p:nvSpPr>
          <p:cNvPr id="4" name="灯片编号占位符 3"/>
          <p:cNvSpPr>
            <a:spLocks noGrp="1"/>
          </p:cNvSpPr>
          <p:nvPr>
            <p:ph type="sldNum" sz="quarter" idx="10"/>
          </p:nvPr>
        </p:nvSpPr>
        <p:spPr/>
        <p:txBody>
          <a:bodyPr/>
          <a:lstStyle/>
          <a:p>
            <a:fld id="{FC8AECDA-B852-4CA6-98F9-FDA299AD4FD3}" type="slidenum">
              <a:rPr lang="zh-CN" altLang="en-US" smtClean="0"/>
              <a:t>27</a:t>
            </a:fld>
            <a:endParaRPr lang="zh-CN" altLang="en-US"/>
          </a:p>
        </p:txBody>
      </p:sp>
    </p:spTree>
    <p:extLst>
      <p:ext uri="{BB962C8B-B14F-4D97-AF65-F5344CB8AC3E}">
        <p14:creationId xmlns:p14="http://schemas.microsoft.com/office/powerpoint/2010/main" val="13293599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28</a:t>
            </a:fld>
            <a:endParaRPr lang="zh-CN" altLang="en-US"/>
          </a:p>
        </p:txBody>
      </p:sp>
    </p:spTree>
    <p:extLst>
      <p:ext uri="{BB962C8B-B14F-4D97-AF65-F5344CB8AC3E}">
        <p14:creationId xmlns:p14="http://schemas.microsoft.com/office/powerpoint/2010/main" val="21247312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29</a:t>
            </a:fld>
            <a:endParaRPr lang="zh-CN" altLang="en-US"/>
          </a:p>
        </p:txBody>
      </p:sp>
    </p:spTree>
    <p:extLst>
      <p:ext uri="{BB962C8B-B14F-4D97-AF65-F5344CB8AC3E}">
        <p14:creationId xmlns:p14="http://schemas.microsoft.com/office/powerpoint/2010/main" val="9878977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30</a:t>
            </a:fld>
            <a:endParaRPr lang="zh-CN" altLang="en-US"/>
          </a:p>
        </p:txBody>
      </p:sp>
    </p:spTree>
    <p:extLst>
      <p:ext uri="{BB962C8B-B14F-4D97-AF65-F5344CB8AC3E}">
        <p14:creationId xmlns:p14="http://schemas.microsoft.com/office/powerpoint/2010/main" val="25933359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31</a:t>
            </a:fld>
            <a:endParaRPr lang="zh-CN" altLang="en-US"/>
          </a:p>
        </p:txBody>
      </p:sp>
    </p:spTree>
    <p:extLst>
      <p:ext uri="{BB962C8B-B14F-4D97-AF65-F5344CB8AC3E}">
        <p14:creationId xmlns:p14="http://schemas.microsoft.com/office/powerpoint/2010/main" val="15068646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32</a:t>
            </a:fld>
            <a:endParaRPr lang="zh-CN" altLang="en-US"/>
          </a:p>
        </p:txBody>
      </p:sp>
    </p:spTree>
    <p:extLst>
      <p:ext uri="{BB962C8B-B14F-4D97-AF65-F5344CB8AC3E}">
        <p14:creationId xmlns:p14="http://schemas.microsoft.com/office/powerpoint/2010/main" val="5200425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33</a:t>
            </a:fld>
            <a:endParaRPr lang="zh-CN" altLang="en-US"/>
          </a:p>
        </p:txBody>
      </p:sp>
    </p:spTree>
    <p:extLst>
      <p:ext uri="{BB962C8B-B14F-4D97-AF65-F5344CB8AC3E}">
        <p14:creationId xmlns:p14="http://schemas.microsoft.com/office/powerpoint/2010/main" val="11736024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34</a:t>
            </a:fld>
            <a:endParaRPr lang="zh-CN" altLang="en-US"/>
          </a:p>
        </p:txBody>
      </p:sp>
    </p:spTree>
    <p:extLst>
      <p:ext uri="{BB962C8B-B14F-4D97-AF65-F5344CB8AC3E}">
        <p14:creationId xmlns:p14="http://schemas.microsoft.com/office/powerpoint/2010/main" val="4155345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35</a:t>
            </a:fld>
            <a:endParaRPr lang="zh-CN" altLang="en-US"/>
          </a:p>
        </p:txBody>
      </p:sp>
    </p:spTree>
    <p:extLst>
      <p:ext uri="{BB962C8B-B14F-4D97-AF65-F5344CB8AC3E}">
        <p14:creationId xmlns:p14="http://schemas.microsoft.com/office/powerpoint/2010/main" val="5657005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36</a:t>
            </a:fld>
            <a:endParaRPr lang="zh-CN" altLang="en-US"/>
          </a:p>
        </p:txBody>
      </p:sp>
    </p:spTree>
    <p:extLst>
      <p:ext uri="{BB962C8B-B14F-4D97-AF65-F5344CB8AC3E}">
        <p14:creationId xmlns:p14="http://schemas.microsoft.com/office/powerpoint/2010/main" val="30678623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37</a:t>
            </a:fld>
            <a:endParaRPr lang="zh-CN" altLang="en-US"/>
          </a:p>
        </p:txBody>
      </p:sp>
    </p:spTree>
    <p:extLst>
      <p:ext uri="{BB962C8B-B14F-4D97-AF65-F5344CB8AC3E}">
        <p14:creationId xmlns:p14="http://schemas.microsoft.com/office/powerpoint/2010/main" val="32323884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38</a:t>
            </a:fld>
            <a:endParaRPr lang="zh-CN" altLang="en-US"/>
          </a:p>
        </p:txBody>
      </p:sp>
    </p:spTree>
    <p:extLst>
      <p:ext uri="{BB962C8B-B14F-4D97-AF65-F5344CB8AC3E}">
        <p14:creationId xmlns:p14="http://schemas.microsoft.com/office/powerpoint/2010/main" val="42821273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39</a:t>
            </a:fld>
            <a:endParaRPr lang="zh-CN" altLang="en-US"/>
          </a:p>
        </p:txBody>
      </p:sp>
    </p:spTree>
    <p:extLst>
      <p:ext uri="{BB962C8B-B14F-4D97-AF65-F5344CB8AC3E}">
        <p14:creationId xmlns:p14="http://schemas.microsoft.com/office/powerpoint/2010/main" val="20109872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40</a:t>
            </a:fld>
            <a:endParaRPr lang="zh-CN" altLang="en-US"/>
          </a:p>
        </p:txBody>
      </p:sp>
    </p:spTree>
    <p:extLst>
      <p:ext uri="{BB962C8B-B14F-4D97-AF65-F5344CB8AC3E}">
        <p14:creationId xmlns:p14="http://schemas.microsoft.com/office/powerpoint/2010/main" val="13513601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41</a:t>
            </a:fld>
            <a:endParaRPr lang="zh-CN" altLang="en-US"/>
          </a:p>
        </p:txBody>
      </p:sp>
    </p:spTree>
    <p:extLst>
      <p:ext uri="{BB962C8B-B14F-4D97-AF65-F5344CB8AC3E}">
        <p14:creationId xmlns:p14="http://schemas.microsoft.com/office/powerpoint/2010/main" val="3498320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42</a:t>
            </a:fld>
            <a:endParaRPr lang="zh-CN" altLang="en-US"/>
          </a:p>
        </p:txBody>
      </p:sp>
    </p:spTree>
    <p:extLst>
      <p:ext uri="{BB962C8B-B14F-4D97-AF65-F5344CB8AC3E}">
        <p14:creationId xmlns:p14="http://schemas.microsoft.com/office/powerpoint/2010/main" val="32344776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43</a:t>
            </a:fld>
            <a:endParaRPr lang="zh-CN" altLang="en-US"/>
          </a:p>
        </p:txBody>
      </p:sp>
    </p:spTree>
    <p:extLst>
      <p:ext uri="{BB962C8B-B14F-4D97-AF65-F5344CB8AC3E}">
        <p14:creationId xmlns:p14="http://schemas.microsoft.com/office/powerpoint/2010/main" val="2696104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44</a:t>
            </a:fld>
            <a:endParaRPr lang="zh-CN" altLang="en-US"/>
          </a:p>
        </p:txBody>
      </p:sp>
    </p:spTree>
    <p:extLst>
      <p:ext uri="{BB962C8B-B14F-4D97-AF65-F5344CB8AC3E}">
        <p14:creationId xmlns:p14="http://schemas.microsoft.com/office/powerpoint/2010/main" val="21257221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45</a:t>
            </a:fld>
            <a:endParaRPr lang="zh-CN" altLang="en-US"/>
          </a:p>
        </p:txBody>
      </p:sp>
    </p:spTree>
    <p:extLst>
      <p:ext uri="{BB962C8B-B14F-4D97-AF65-F5344CB8AC3E}">
        <p14:creationId xmlns:p14="http://schemas.microsoft.com/office/powerpoint/2010/main" val="27353038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46</a:t>
            </a:fld>
            <a:endParaRPr lang="zh-CN" altLang="en-US"/>
          </a:p>
        </p:txBody>
      </p:sp>
    </p:spTree>
    <p:extLst>
      <p:ext uri="{BB962C8B-B14F-4D97-AF65-F5344CB8AC3E}">
        <p14:creationId xmlns:p14="http://schemas.microsoft.com/office/powerpoint/2010/main" val="19551113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47</a:t>
            </a:fld>
            <a:endParaRPr lang="zh-CN" altLang="en-US"/>
          </a:p>
        </p:txBody>
      </p:sp>
    </p:spTree>
    <p:extLst>
      <p:ext uri="{BB962C8B-B14F-4D97-AF65-F5344CB8AC3E}">
        <p14:creationId xmlns:p14="http://schemas.microsoft.com/office/powerpoint/2010/main" val="23566050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48</a:t>
            </a:fld>
            <a:endParaRPr lang="zh-CN" altLang="en-US"/>
          </a:p>
        </p:txBody>
      </p:sp>
    </p:spTree>
    <p:extLst>
      <p:ext uri="{BB962C8B-B14F-4D97-AF65-F5344CB8AC3E}">
        <p14:creationId xmlns:p14="http://schemas.microsoft.com/office/powerpoint/2010/main" val="25961925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49</a:t>
            </a:fld>
            <a:endParaRPr lang="zh-CN" altLang="en-US"/>
          </a:p>
        </p:txBody>
      </p:sp>
    </p:spTree>
    <p:extLst>
      <p:ext uri="{BB962C8B-B14F-4D97-AF65-F5344CB8AC3E}">
        <p14:creationId xmlns:p14="http://schemas.microsoft.com/office/powerpoint/2010/main" val="13006738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延伸阅读</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50</a:t>
            </a:fld>
            <a:endParaRPr lang="zh-CN" altLang="en-US"/>
          </a:p>
        </p:txBody>
      </p:sp>
    </p:spTree>
    <p:extLst>
      <p:ext uri="{BB962C8B-B14F-4D97-AF65-F5344CB8AC3E}">
        <p14:creationId xmlns:p14="http://schemas.microsoft.com/office/powerpoint/2010/main" val="17457680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本章小结</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51</a:t>
            </a:fld>
            <a:endParaRPr lang="zh-CN" altLang="en-US"/>
          </a:p>
        </p:txBody>
      </p:sp>
    </p:spTree>
    <p:extLst>
      <p:ext uri="{BB962C8B-B14F-4D97-AF65-F5344CB8AC3E}">
        <p14:creationId xmlns:p14="http://schemas.microsoft.com/office/powerpoint/2010/main" val="40254240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结语</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52</a:t>
            </a:fld>
            <a:endParaRPr lang="zh-CN" altLang="en-US"/>
          </a:p>
        </p:txBody>
      </p:sp>
    </p:spTree>
    <p:extLst>
      <p:ext uri="{BB962C8B-B14F-4D97-AF65-F5344CB8AC3E}">
        <p14:creationId xmlns:p14="http://schemas.microsoft.com/office/powerpoint/2010/main" val="4216212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语">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一">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0.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330.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28.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5.xml"/><Relationship Id="rId1"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3.png"/></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684"/>
        </a:solid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 y="-46319"/>
            <a:ext cx="12192000" cy="5716503"/>
          </a:xfrm>
          <a:prstGeom prst="rect">
            <a:avLst/>
          </a:prstGeom>
        </p:spPr>
      </p:pic>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7288" t="60187" r="62545" b="13687"/>
          <a:stretch>
            <a:fillRect/>
          </a:stretch>
        </p:blipFill>
        <p:spPr>
          <a:xfrm flipH="1" flipV="1">
            <a:off x="8544560" y="5394960"/>
            <a:ext cx="3677920" cy="1493520"/>
          </a:xfrm>
          <a:prstGeom prst="rect">
            <a:avLst/>
          </a:prstGeom>
        </p:spPr>
      </p:pic>
      <p:grpSp>
        <p:nvGrpSpPr>
          <p:cNvPr id="12" name="组合 11"/>
          <p:cNvGrpSpPr/>
          <p:nvPr/>
        </p:nvGrpSpPr>
        <p:grpSpPr>
          <a:xfrm>
            <a:off x="-905689" y="342255"/>
            <a:ext cx="14873910" cy="7227071"/>
            <a:chOff x="2275139" y="1708487"/>
            <a:chExt cx="7788686" cy="3784438"/>
          </a:xfrm>
        </p:grpSpPr>
        <p:sp>
          <p:nvSpPr>
            <p:cNvPr id="9" name="六边形 8"/>
            <p:cNvSpPr/>
            <p:nvPr/>
          </p:nvSpPr>
          <p:spPr>
            <a:xfrm rot="5400000">
              <a:off x="5811401" y="1880190"/>
              <a:ext cx="3784438"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10"/>
            <p:cNvSpPr/>
            <p:nvPr/>
          </p:nvSpPr>
          <p:spPr>
            <a:xfrm>
              <a:off x="2275139" y="3590090"/>
              <a:ext cx="5733603" cy="45719"/>
            </a:xfrm>
            <a:prstGeom prst="round1Rect">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2727158" y="2057400"/>
            <a:ext cx="6737684" cy="1015663"/>
          </a:xfrm>
          <a:prstGeom prst="rect">
            <a:avLst/>
          </a:prstGeom>
          <a:noFill/>
        </p:spPr>
        <p:txBody>
          <a:bodyPr wrap="square" rtlCol="0">
            <a:spAutoFit/>
          </a:bodyPr>
          <a:lstStyle/>
          <a:p>
            <a:pPr algn="ctr"/>
            <a:r>
              <a:rPr lang="zh-CN" altLang="en-US" sz="60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人工智能引论</a:t>
            </a:r>
          </a:p>
        </p:txBody>
      </p:sp>
      <p:sp>
        <p:nvSpPr>
          <p:cNvPr id="19" name="文本框 18"/>
          <p:cNvSpPr txBox="1"/>
          <p:nvPr/>
        </p:nvSpPr>
        <p:spPr>
          <a:xfrm rot="1849986">
            <a:off x="8195789" y="4908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99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9900" b="1" dirty="0">
              <a:gradFill>
                <a:gsLst>
                  <a:gs pos="30000">
                    <a:srgbClr val="007684"/>
                  </a:gs>
                  <a:gs pos="83000">
                    <a:srgbClr val="016773"/>
                  </a:gs>
                </a:gsLst>
                <a:lin ang="5400000" scaled="0"/>
              </a:gradFill>
              <a:latin typeface="Bauhaus 93" panose="04030905020B02020C02" pitchFamily="82" charset="0"/>
            </a:endParaRPr>
          </a:p>
        </p:txBody>
      </p:sp>
      <p:pic>
        <p:nvPicPr>
          <p:cNvPr id="2" name="图片 1">
            <a:extLst>
              <a:ext uri="{FF2B5EF4-FFF2-40B4-BE49-F238E27FC236}">
                <a16:creationId xmlns:a16="http://schemas.microsoft.com/office/drawing/2014/main" id="{C5DE79D5-3CBA-D071-000F-08CC0290DA0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132080" y="4453337"/>
            <a:ext cx="9165288" cy="2546903"/>
          </a:xfrm>
          <a:prstGeom prst="rect">
            <a:avLst/>
          </a:prstGeom>
        </p:spPr>
      </p:pic>
      <p:sp>
        <p:nvSpPr>
          <p:cNvPr id="3" name="文本框 2">
            <a:extLst>
              <a:ext uri="{FF2B5EF4-FFF2-40B4-BE49-F238E27FC236}">
                <a16:creationId xmlns:a16="http://schemas.microsoft.com/office/drawing/2014/main" id="{9E2FFE1C-89AB-D245-D7BA-C6C6E11BB4A6}"/>
              </a:ext>
            </a:extLst>
          </p:cNvPr>
          <p:cNvSpPr txBox="1"/>
          <p:nvPr/>
        </p:nvSpPr>
        <p:spPr>
          <a:xfrm>
            <a:off x="5269479" y="4299065"/>
            <a:ext cx="1653043"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高俊龙</a:t>
            </a:r>
          </a:p>
        </p:txBody>
      </p:sp>
      <p:sp>
        <p:nvSpPr>
          <p:cNvPr id="13" name="文本框 12">
            <a:extLst>
              <a:ext uri="{FF2B5EF4-FFF2-40B4-BE49-F238E27FC236}">
                <a16:creationId xmlns:a16="http://schemas.microsoft.com/office/drawing/2014/main" id="{AD7925B4-51D0-5F7D-85D4-035EF9CBA81E}"/>
              </a:ext>
            </a:extLst>
          </p:cNvPr>
          <p:cNvSpPr txBox="1"/>
          <p:nvPr/>
        </p:nvSpPr>
        <p:spPr>
          <a:xfrm>
            <a:off x="3546133" y="4941202"/>
            <a:ext cx="509973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厦门大学信息学院</a:t>
            </a:r>
            <a:endParaRPr lang="en-US" altLang="zh-CN"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130" name="图片 129"/>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128" name="图片 127"/>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92" name="图片 91"/>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8" name="组合 17"/>
          <p:cNvGrpSpPr/>
          <p:nvPr/>
        </p:nvGrpSpPr>
        <p:grpSpPr>
          <a:xfrm>
            <a:off x="10001700" y="2854959"/>
            <a:ext cx="2268815" cy="2101347"/>
            <a:chOff x="6175344" y="342254"/>
            <a:chExt cx="7803037" cy="7227071"/>
          </a:xfrm>
        </p:grpSpPr>
        <p:sp>
          <p:nvSpPr>
            <p:cNvPr id="19" name="六边形 18"/>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9863825" y="4346576"/>
            <a:ext cx="2963878" cy="2745105"/>
            <a:chOff x="6175344" y="342254"/>
            <a:chExt cx="7803037"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4335558" y="3439840"/>
            <a:ext cx="3570208" cy="769441"/>
          </a:xfrm>
          <a:prstGeom prst="rect">
            <a:avLst/>
          </a:prstGeom>
        </p:spPr>
        <p:txBody>
          <a:bodyPr wrap="none">
            <a:spAutoFit/>
          </a:bodyPr>
          <a:lstStyle/>
          <a:p>
            <a:pPr algn="ctr"/>
            <a:r>
              <a:rPr lang="zh-CN" altLang="en-US" sz="4400" b="1">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人工智能博弈</a:t>
            </a:r>
            <a:endParaRPr lang="zh-CN" altLang="zh-CN"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8" name="矩形 7"/>
          <p:cNvSpPr/>
          <p:nvPr/>
        </p:nvSpPr>
        <p:spPr>
          <a:xfrm>
            <a:off x="5311170" y="2445722"/>
            <a:ext cx="1569661" cy="646331"/>
          </a:xfrm>
          <a:prstGeom prst="rect">
            <a:avLst/>
          </a:prstGeom>
        </p:spPr>
        <p:txBody>
          <a:bodyPr wrap="none">
            <a:spAutoFit/>
          </a:bodyPr>
          <a:lstStyle/>
          <a:p>
            <a:pPr algn="ct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第七章</a:t>
            </a:r>
          </a:p>
        </p:txBody>
      </p:sp>
      <p:cxnSp>
        <p:nvCxnSpPr>
          <p:cNvPr id="9" name="直接连接符 8"/>
          <p:cNvCxnSpPr/>
          <p:nvPr/>
        </p:nvCxnSpPr>
        <p:spPr>
          <a:xfrm>
            <a:off x="3024554" y="3265946"/>
            <a:ext cx="6116350" cy="0"/>
          </a:xfrm>
          <a:prstGeom prst="line">
            <a:avLst/>
          </a:prstGeom>
          <a:ln w="22225">
            <a:solidFill>
              <a:schemeClr val="bg1"/>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2221671" y="2179434"/>
            <a:ext cx="7748658" cy="2397279"/>
            <a:chOff x="2221671" y="2179434"/>
            <a:chExt cx="7748658" cy="2397279"/>
          </a:xfrm>
        </p:grpSpPr>
        <p:sp>
          <p:nvSpPr>
            <p:cNvPr id="6" name="标题 9801"/>
            <p:cNvSpPr txBox="1"/>
            <p:nvPr/>
          </p:nvSpPr>
          <p:spPr>
            <a:xfrm rot="16200000">
              <a:off x="8719085" y="3325468"/>
              <a:ext cx="2397277" cy="105210"/>
            </a:xfrm>
            <a:prstGeom prst="parallelogram">
              <a:avLst>
                <a:gd name="adj" fmla="val 98875"/>
              </a:avLst>
            </a:prstGeom>
            <a:gradFill flip="none" rotWithShape="1">
              <a:gsLst>
                <a:gs pos="100000">
                  <a:srgbClr val="016773"/>
                </a:gs>
                <a:gs pos="0">
                  <a:srgbClr val="00ABA5"/>
                </a:gs>
              </a:gsLst>
              <a:lin ang="6000000" scaled="0"/>
              <a:tileRect/>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0" name="标题 9801"/>
            <p:cNvSpPr txBox="1"/>
            <p:nvPr/>
          </p:nvSpPr>
          <p:spPr>
            <a:xfrm flipH="1">
              <a:off x="2221671" y="4468236"/>
              <a:ext cx="7748657" cy="108477"/>
            </a:xfrm>
            <a:prstGeom prst="parallelogram">
              <a:avLst>
                <a:gd name="adj" fmla="val 102209"/>
              </a:avLst>
            </a:prstGeom>
            <a:gradFill>
              <a:gsLst>
                <a:gs pos="55000">
                  <a:srgbClr val="016773"/>
                </a:gs>
                <a:gs pos="0">
                  <a:srgbClr val="00ABA5"/>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cxnSp>
          <p:nvCxnSpPr>
            <p:cNvPr id="11" name="直接连接符 10"/>
            <p:cNvCxnSpPr/>
            <p:nvPr/>
          </p:nvCxnSpPr>
          <p:spPr>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933514" y="5200219"/>
            <a:ext cx="1549536" cy="1435160"/>
            <a:chOff x="6175344" y="342254"/>
            <a:chExt cx="7803037" cy="7227071"/>
          </a:xfrm>
        </p:grpSpPr>
        <p:sp>
          <p:nvSpPr>
            <p:cNvPr id="22" name="六边形 2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75295" y="-875664"/>
            <a:ext cx="2974038" cy="2745105"/>
            <a:chOff x="6175344" y="342254"/>
            <a:chExt cx="7829785" cy="7227071"/>
          </a:xfrm>
        </p:grpSpPr>
        <p:sp>
          <p:nvSpPr>
            <p:cNvPr id="25" name="六边形 2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1259840" y="635784"/>
            <a:ext cx="823697" cy="760292"/>
            <a:chOff x="6175344" y="342254"/>
            <a:chExt cx="7829785" cy="7227071"/>
          </a:xfrm>
        </p:grpSpPr>
        <p:sp>
          <p:nvSpPr>
            <p:cNvPr id="28" name="六边形 2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0" y="2500444"/>
            <a:ext cx="12192000" cy="4357556"/>
          </a:xfrm>
          <a:prstGeom prst="rect">
            <a:avLst/>
          </a:prstGeom>
          <a:pattFill prst="dashUpDiag">
            <a:fgClr>
              <a:schemeClr val="bg1">
                <a:lumMod val="95000"/>
              </a:schemeClr>
            </a:fgClr>
            <a:bgClr>
              <a:schemeClr val="bg1"/>
            </a:bgClr>
          </a:pattFill>
          <a:ln>
            <a:noFill/>
          </a:ln>
          <a:effectLst>
            <a:innerShdw blurRad="279400" dist="254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327129" y="3867301"/>
            <a:ext cx="9709192" cy="2481715"/>
            <a:chOff x="1241404" y="3150817"/>
            <a:chExt cx="9709192" cy="2481715"/>
          </a:xfrm>
        </p:grpSpPr>
        <p:grpSp>
          <p:nvGrpSpPr>
            <p:cNvPr id="9" name="组合 8"/>
            <p:cNvGrpSpPr/>
            <p:nvPr/>
          </p:nvGrpSpPr>
          <p:grpSpPr>
            <a:xfrm>
              <a:off x="1241404" y="3150817"/>
              <a:ext cx="9709192" cy="2481715"/>
              <a:chOff x="1685472" y="920193"/>
              <a:chExt cx="9759953" cy="4937875"/>
            </a:xfrm>
          </p:grpSpPr>
          <p:sp>
            <p:nvSpPr>
              <p:cNvPr id="11" name="矩形: 圆顶角 38"/>
              <p:cNvSpPr/>
              <p:nvPr/>
            </p:nvSpPr>
            <p:spPr>
              <a:xfrm rot="16200000">
                <a:off x="4361101" y="-1226256"/>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圆顶角 39"/>
              <p:cNvSpPr/>
              <p:nvPr/>
            </p:nvSpPr>
            <p:spPr>
              <a:xfrm rot="16200000">
                <a:off x="4265598" y="-1381975"/>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圆顶角 40"/>
              <p:cNvSpPr/>
              <p:nvPr/>
            </p:nvSpPr>
            <p:spPr>
              <a:xfrm rot="16200000">
                <a:off x="4154777" y="-1549112"/>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10" name="直接连接符 9"/>
            <p:cNvCxnSpPr/>
            <p:nvPr/>
          </p:nvCxnSpPr>
          <p:spPr>
            <a:xfrm flipV="1">
              <a:off x="1305272" y="3499098"/>
              <a:ext cx="0" cy="1579796"/>
            </a:xfrm>
            <a:prstGeom prst="line">
              <a:avLst/>
            </a:prstGeom>
            <a:ln w="152400">
              <a:solidFill>
                <a:srgbClr val="007684"/>
              </a:solidFill>
            </a:ln>
            <a:effectLst>
              <a:outerShdw blurRad="635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3" name="矩形 2"/>
          <p:cNvSpPr/>
          <p:nvPr/>
        </p:nvSpPr>
        <p:spPr>
          <a:xfrm>
            <a:off x="1116817" y="1099999"/>
            <a:ext cx="7924801" cy="2032211"/>
          </a:xfrm>
          <a:prstGeom prst="rect">
            <a:avLst/>
          </a:prstGeom>
          <a:gradFill>
            <a:gsLst>
              <a:gs pos="0">
                <a:srgbClr val="0093A2"/>
              </a:gs>
              <a:gs pos="100000">
                <a:srgbClr val="222222">
                  <a:alpha val="0"/>
                </a:srgbClr>
              </a:gs>
              <a:gs pos="96000">
                <a:srgbClr val="222222"/>
              </a:gs>
              <a:gs pos="36000">
                <a:srgbClr val="01717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383999" y="1722531"/>
            <a:ext cx="5034364" cy="418833"/>
          </a:xfrm>
          <a:prstGeom prst="rect">
            <a:avLst/>
          </a:prstGeom>
        </p:spPr>
        <p:txBody>
          <a:bodyPr wrap="square">
            <a:spAutoFit/>
          </a:bodyPr>
          <a:lstStyle/>
          <a:p>
            <a:pPr indent="575945" algn="just">
              <a:lnSpc>
                <a:spcPct val="130000"/>
              </a:lnSpc>
              <a:spcBef>
                <a:spcPts val="600"/>
              </a:spcBef>
            </a:pPr>
            <a:r>
              <a:rPr lang="zh-CN" altLang="zh-CN" b="1" dirty="0">
                <a:solidFill>
                  <a:schemeClr val="bg1"/>
                </a:solidFill>
              </a:rPr>
              <a:t>两害相权取其轻，两利相权取其重</a:t>
            </a:r>
            <a:endParaRPr lang="en-US" altLang="zh-CN" sz="2400" b="1" dirty="0">
              <a:solidFill>
                <a:schemeClr val="bg1"/>
              </a:solidFill>
            </a:endParaRPr>
          </a:p>
        </p:txBody>
      </p:sp>
      <p:sp>
        <p:nvSpPr>
          <p:cNvPr id="6" name="矩形 5"/>
          <p:cNvSpPr/>
          <p:nvPr/>
        </p:nvSpPr>
        <p:spPr>
          <a:xfrm>
            <a:off x="1504507" y="3940814"/>
            <a:ext cx="9360364" cy="1815882"/>
          </a:xfrm>
          <a:prstGeom prst="rect">
            <a:avLst/>
          </a:prstGeom>
        </p:spPr>
        <p:txBody>
          <a:bodyPr wrap="square">
            <a:spAutoFit/>
          </a:bodyPr>
          <a:lstStyle/>
          <a:p>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竞争博弈中的博弈行为是多个带有相互竞争性质的主体，为了达到各自目标和利益，采取的带有对抗性质的行为，即</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两害相权取其轻，两利相权取其重</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p>
          <a:p>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现代博弈论主要研究博弈行为中最优的对抗策略及其稳定局势，协助对弈者在一定规则范围内寻求最合理的行为方式，推动机器学习从</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数据拟合</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过程中以</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求取最优解</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为核心向博弈对抗过程中以</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求取均衡解</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为核心的转变。</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sp>
        <p:nvSpPr>
          <p:cNvPr id="2" name="标题 9801"/>
          <p:cNvSpPr txBox="1"/>
          <p:nvPr/>
        </p:nvSpPr>
        <p:spPr>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5" name="六边形 4"/>
          <p:cNvSpPr/>
          <p:nvPr/>
        </p:nvSpPr>
        <p:spPr>
          <a:xfrm rot="5400000">
            <a:off x="-5678865"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9714174">
            <a:off x="-2503449" y="2643987"/>
            <a:ext cx="7581286" cy="4086054"/>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20891" y="2740372"/>
            <a:ext cx="540023" cy="1384403"/>
          </a:xfrm>
          <a:custGeom>
            <a:avLst/>
            <a:gdLst/>
            <a:ahLst/>
            <a:cxnLst/>
            <a:rect l="l" t="t" r="r" b="b"/>
            <a:pathLst>
              <a:path w="540023" h="1384403">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4400" dirty="0">
              <a:solidFill>
                <a:schemeClr val="bg1"/>
              </a:solidFill>
              <a:effectLst>
                <a:outerShdw blurRad="38100" dist="38100" dir="2700000" algn="tl">
                  <a:srgbClr val="000000">
                    <a:alpha val="43137"/>
                  </a:srgbClr>
                </a:outerShdw>
              </a:effectLst>
              <a:latin typeface="方正颜宋简体_中" panose="02000000000000000000" pitchFamily="2" charset="-122"/>
              <a:ea typeface="方正颜宋简体_中" panose="02000000000000000000" pitchFamily="2" charset="-122"/>
              <a:cs typeface="方正颜宋简体_中" panose="02000000000000000000" pitchFamily="2" charset="-122"/>
            </a:endParaRPr>
          </a:p>
        </p:txBody>
      </p:sp>
      <p:sp>
        <p:nvSpPr>
          <p:cNvPr id="9" name="文本框 8"/>
          <p:cNvSpPr txBox="1"/>
          <p:nvPr/>
        </p:nvSpPr>
        <p:spPr>
          <a:xfrm>
            <a:off x="4184747" y="1477578"/>
            <a:ext cx="6533560" cy="3172343"/>
          </a:xfrm>
          <a:prstGeom prst="rect">
            <a:avLst/>
          </a:prstGeom>
          <a:noFill/>
        </p:spPr>
        <p:txBody>
          <a:bodyPr wrap="square" rtlCol="0">
            <a:spAutoFit/>
          </a:bodyPr>
          <a:lstStyle/>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一、博弈论相关概念</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二、博弈策略求解</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三、博弈规则设计</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四、非完全信息博弈</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中国古代博弈思想</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一、博弈论</a:t>
            </a:r>
            <a:r>
              <a:rPr lang="zh-CN" altLang="en-US" sz="1600">
                <a:solidFill>
                  <a:srgbClr val="000000"/>
                </a:solidFill>
                <a:latin typeface="Times New Roman" panose="02020603050405020304" pitchFamily="18" charset="0"/>
                <a:ea typeface="楷体_GB2312"/>
              </a:rPr>
              <a:t>相关概念</a:t>
            </a:r>
            <a:endParaRPr lang="zh-CN" altLang="en-US" sz="1600" dirty="0">
              <a:solidFill>
                <a:srgbClr val="000000"/>
              </a:solidFill>
              <a:latin typeface="Times New Roman" panose="02020603050405020304" pitchFamily="18" charset="0"/>
            </a:endParaRPr>
          </a:p>
        </p:txBody>
      </p:sp>
      <p:sp>
        <p:nvSpPr>
          <p:cNvPr id="24" name="矩形: 圆角 6">
            <a:extLst>
              <a:ext uri="{FF2B5EF4-FFF2-40B4-BE49-F238E27FC236}">
                <a16:creationId xmlns:a16="http://schemas.microsoft.com/office/drawing/2014/main" id="{15B72201-1606-4C88-8F91-839FBCDACE0A}"/>
              </a:ext>
            </a:extLst>
          </p:cNvPr>
          <p:cNvSpPr/>
          <p:nvPr/>
        </p:nvSpPr>
        <p:spPr>
          <a:xfrm>
            <a:off x="368875" y="2124223"/>
            <a:ext cx="6491470" cy="3539430"/>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368875" y="2321191"/>
            <a:ext cx="6242940" cy="3539430"/>
          </a:xfrm>
          <a:prstGeom prst="rect">
            <a:avLst/>
          </a:prstGeom>
        </p:spPr>
        <p:txBody>
          <a:bodyPr wrap="square">
            <a:spAutoFit/>
          </a:bodyPr>
          <a:lstStyle/>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子曰</a:t>
            </a:r>
            <a:r>
              <a:rPr lang="zh-CN" altLang="en-US"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：饱食终日，无所用心，难矣哉！不有博弈者乎？为之，犹贤乎已。</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论语</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阳货</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p>
          <a:p>
            <a:pPr marL="285750" indent="-285750" algn="just">
              <a:buFont typeface="Wingdings" panose="05000000000000000000" pitchFamily="2" charset="2"/>
              <a:buChar char="l"/>
            </a:pPr>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朱熹</a:t>
            </a:r>
            <a:r>
              <a:rPr lang="zh-CN" altLang="en-US"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集注曰：“博，局戏；弈，围棋也。”；颜师古注：“博，六博；弈，围碁也。”</a:t>
            </a:r>
            <a:endPar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zh-CN" altLang="en-US"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古语博弈所指下围棋，围棋之道蕴含古人谋划策略的智慧。</a:t>
            </a:r>
            <a:endPar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zh-CN" altLang="en-US"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略观围棋，法于用兵，怯者无功，贪者先亡。</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围棋赋</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p>
          <a:p>
            <a:pPr marL="285750" indent="-285750" algn="just">
              <a:buFont typeface="Wingdings" panose="05000000000000000000" pitchFamily="2" charset="2"/>
              <a:buChar char="l"/>
            </a:pPr>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孙子兵法</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等讲述兵书战法的古代典籍更是凸显了古人对策略的重视。</a:t>
            </a:r>
            <a:endPar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图片 9">
            <a:extLst>
              <a:ext uri="{FF2B5EF4-FFF2-40B4-BE49-F238E27FC236}">
                <a16:creationId xmlns:a16="http://schemas.microsoft.com/office/drawing/2014/main" id="{D3A735E4-8CE0-42F0-BAF6-15853712C12D}"/>
              </a:ext>
            </a:extLst>
          </p:cNvPr>
          <p:cNvPicPr>
            <a:picLocks noChangeAspect="1"/>
          </p:cNvPicPr>
          <p:nvPr/>
        </p:nvPicPr>
        <p:blipFill>
          <a:blip r:embed="rId3"/>
          <a:stretch>
            <a:fillRect/>
          </a:stretch>
        </p:blipFill>
        <p:spPr>
          <a:xfrm>
            <a:off x="7492493" y="2166601"/>
            <a:ext cx="3514865" cy="3539431"/>
          </a:xfrm>
          <a:prstGeom prst="rect">
            <a:avLst/>
          </a:prstGeom>
        </p:spPr>
      </p:pic>
    </p:spTree>
    <p:extLst>
      <p:ext uri="{BB962C8B-B14F-4D97-AF65-F5344CB8AC3E}">
        <p14:creationId xmlns:p14="http://schemas.microsoft.com/office/powerpoint/2010/main" val="2068928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中国古代博弈例子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一、博弈论</a:t>
            </a:r>
            <a:r>
              <a:rPr lang="zh-CN" altLang="en-US" sz="1600">
                <a:solidFill>
                  <a:srgbClr val="000000"/>
                </a:solidFill>
                <a:latin typeface="Times New Roman" panose="02020603050405020304" pitchFamily="18" charset="0"/>
                <a:ea typeface="楷体_GB2312"/>
              </a:rPr>
              <a:t>相关概念</a:t>
            </a:r>
            <a:endParaRPr lang="zh-CN" altLang="en-US" sz="1600" dirty="0">
              <a:solidFill>
                <a:srgbClr val="000000"/>
              </a:solidFill>
              <a:latin typeface="Times New Roman" panose="02020603050405020304" pitchFamily="18" charset="0"/>
            </a:endParaRPr>
          </a:p>
        </p:txBody>
      </p:sp>
      <p:sp>
        <p:nvSpPr>
          <p:cNvPr id="11" name="内容占位符 4">
            <a:extLst>
              <a:ext uri="{FF2B5EF4-FFF2-40B4-BE49-F238E27FC236}">
                <a16:creationId xmlns:a16="http://schemas.microsoft.com/office/drawing/2014/main" id="{02546595-3FEA-4AD7-ACB8-EDAE4D16B1E7}"/>
              </a:ext>
            </a:extLst>
          </p:cNvPr>
          <p:cNvSpPr txBox="1">
            <a:spLocks/>
          </p:cNvSpPr>
          <p:nvPr/>
        </p:nvSpPr>
        <p:spPr>
          <a:xfrm>
            <a:off x="319076" y="1380812"/>
            <a:ext cx="11690044" cy="198698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pP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齐将田忌善而客待之。忌数与齐诸公子驰逐重射。孙子见其马足不甚相远，马有上、中、下辈。于是孙子谓田忌曰：“君弟重射，臣能令君胜。”田忌信然之，与王及诸公子逐射千金。及临质，孙子曰：“今以君之下驷与彼上驷，取君上驷与彼中驷，取君中驷与彼下驷。”既驰三辈毕，而田忌一不胜而再胜，卒得王千金。于是忌进孙子于威王。威王问兵法，遂以为师。                                                                                                  </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史记</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孙子吴起列传</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p>
          <a:p>
            <a:pPr marL="0" indent="0">
              <a:buFont typeface="Arial" panose="020B0604020202020204" pitchFamily="34" charset="0"/>
              <a:buNone/>
            </a:pPr>
            <a:r>
              <a:rPr lang="en-US" altLang="zh-CN" sz="1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1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2" name="图片 1">
            <a:extLst>
              <a:ext uri="{FF2B5EF4-FFF2-40B4-BE49-F238E27FC236}">
                <a16:creationId xmlns:a16="http://schemas.microsoft.com/office/drawing/2014/main" id="{F3B83255-8B47-4D54-9D99-66DD558EFB5E}"/>
              </a:ext>
            </a:extLst>
          </p:cNvPr>
          <p:cNvPicPr>
            <a:picLocks noChangeAspect="1"/>
          </p:cNvPicPr>
          <p:nvPr/>
        </p:nvPicPr>
        <p:blipFill>
          <a:blip r:embed="rId3"/>
          <a:stretch>
            <a:fillRect/>
          </a:stretch>
        </p:blipFill>
        <p:spPr>
          <a:xfrm>
            <a:off x="3715877" y="3745072"/>
            <a:ext cx="4600811" cy="1374846"/>
          </a:xfrm>
          <a:prstGeom prst="rect">
            <a:avLst/>
          </a:prstGeom>
        </p:spPr>
      </p:pic>
      <p:sp>
        <p:nvSpPr>
          <p:cNvPr id="7" name="矩形 6">
            <a:extLst>
              <a:ext uri="{FF2B5EF4-FFF2-40B4-BE49-F238E27FC236}">
                <a16:creationId xmlns:a16="http://schemas.microsoft.com/office/drawing/2014/main" id="{D5E332B7-1644-451C-8603-3FD18C052B4E}"/>
              </a:ext>
            </a:extLst>
          </p:cNvPr>
          <p:cNvSpPr/>
          <p:nvPr/>
        </p:nvSpPr>
        <p:spPr>
          <a:xfrm>
            <a:off x="3551754" y="4735197"/>
            <a:ext cx="4729428" cy="769441"/>
          </a:xfrm>
          <a:prstGeom prst="rect">
            <a:avLst/>
          </a:prstGeom>
        </p:spPr>
        <p:txBody>
          <a:bodyPr wrap="square">
            <a:spAutoFit/>
          </a:bodyPr>
          <a:lstStyle/>
          <a:p>
            <a:endParaRPr lang="zh-CN" altLang="en-US" sz="2800" dirty="0">
              <a:solidFill>
                <a:srgbClr val="000000"/>
              </a:solidFill>
              <a:latin typeface="汉仪玄宋褂"/>
            </a:endParaRPr>
          </a:p>
          <a:p>
            <a:pPr algn="ctr"/>
            <a:r>
              <a:rPr lang="zh-CN" altLang="en-US" sz="1600" dirty="0">
                <a:latin typeface="黑体" panose="02010609060101010101" pitchFamily="49" charset="-122"/>
                <a:ea typeface="黑体" panose="02010609060101010101" pitchFamily="49" charset="-122"/>
              </a:rPr>
              <a:t>“以己之长，攻彼之短” 的博弈思想</a:t>
            </a:r>
          </a:p>
        </p:txBody>
      </p:sp>
    </p:spTree>
    <p:extLst>
      <p:ext uri="{BB962C8B-B14F-4D97-AF65-F5344CB8AC3E}">
        <p14:creationId xmlns:p14="http://schemas.microsoft.com/office/powerpoint/2010/main" val="1942164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现代博弈论的诞生</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一、博弈论</a:t>
            </a:r>
            <a:r>
              <a:rPr lang="zh-CN" altLang="en-US" sz="1600">
                <a:solidFill>
                  <a:srgbClr val="000000"/>
                </a:solidFill>
                <a:latin typeface="Times New Roman" panose="02020603050405020304" pitchFamily="18" charset="0"/>
                <a:ea typeface="楷体_GB2312"/>
              </a:rPr>
              <a:t>相关概念</a:t>
            </a:r>
            <a:endParaRPr lang="zh-CN" altLang="en-US" sz="1600" dirty="0">
              <a:solidFill>
                <a:srgbClr val="000000"/>
              </a:solidFill>
              <a:latin typeface="Times New Roman" panose="02020603050405020304" pitchFamily="18" charset="0"/>
            </a:endParaRPr>
          </a:p>
        </p:txBody>
      </p:sp>
      <p:sp>
        <p:nvSpPr>
          <p:cNvPr id="10" name="内容占位符 4">
            <a:extLst>
              <a:ext uri="{FF2B5EF4-FFF2-40B4-BE49-F238E27FC236}">
                <a16:creationId xmlns:a16="http://schemas.microsoft.com/office/drawing/2014/main" id="{8B2CF903-E574-461D-90E9-5FD402712BB7}"/>
              </a:ext>
            </a:extLst>
          </p:cNvPr>
          <p:cNvSpPr txBox="1">
            <a:spLocks/>
          </p:cNvSpPr>
          <p:nvPr/>
        </p:nvSpPr>
        <p:spPr>
          <a:xfrm>
            <a:off x="6095963" y="1399007"/>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altLang="zh-CN" sz="1600" dirty="0"/>
          </a:p>
          <a:p>
            <a:pPr marL="0" indent="0">
              <a:buNone/>
            </a:pPr>
            <a:endParaRPr lang="zh-CN" altLang="en-US" sz="1600" dirty="0"/>
          </a:p>
        </p:txBody>
      </p:sp>
      <p:pic>
        <p:nvPicPr>
          <p:cNvPr id="12" name="图片 11">
            <a:extLst>
              <a:ext uri="{FF2B5EF4-FFF2-40B4-BE49-F238E27FC236}">
                <a16:creationId xmlns:a16="http://schemas.microsoft.com/office/drawing/2014/main" id="{0CFDF23A-9D81-4503-B177-ACACD13A5F15}"/>
              </a:ext>
            </a:extLst>
          </p:cNvPr>
          <p:cNvPicPr>
            <a:picLocks noChangeAspect="1"/>
          </p:cNvPicPr>
          <p:nvPr/>
        </p:nvPicPr>
        <p:blipFill>
          <a:blip r:embed="rId3"/>
          <a:stretch>
            <a:fillRect/>
          </a:stretch>
        </p:blipFill>
        <p:spPr>
          <a:xfrm>
            <a:off x="7981943" y="2171114"/>
            <a:ext cx="2315809" cy="2932901"/>
          </a:xfrm>
          <a:prstGeom prst="rect">
            <a:avLst/>
          </a:prstGeom>
        </p:spPr>
      </p:pic>
      <p:sp>
        <p:nvSpPr>
          <p:cNvPr id="13" name="文本框 12">
            <a:extLst>
              <a:ext uri="{FF2B5EF4-FFF2-40B4-BE49-F238E27FC236}">
                <a16:creationId xmlns:a16="http://schemas.microsoft.com/office/drawing/2014/main" id="{BAE62508-1099-47A1-ACCF-85E86BB575D0}"/>
              </a:ext>
            </a:extLst>
          </p:cNvPr>
          <p:cNvSpPr txBox="1"/>
          <p:nvPr/>
        </p:nvSpPr>
        <p:spPr>
          <a:xfrm>
            <a:off x="7278762" y="5266110"/>
            <a:ext cx="3722173" cy="646331"/>
          </a:xfrm>
          <a:prstGeom prst="rect">
            <a:avLst/>
          </a:prstGeom>
          <a:noFill/>
        </p:spPr>
        <p:txBody>
          <a:bodyPr wrap="square" rtlCol="0">
            <a:spAutoFit/>
          </a:bodyPr>
          <a:lstStyle/>
          <a:p>
            <a:pPr algn="just"/>
            <a:r>
              <a:rPr lang="de-DE" altLang="zh-CN" sz="1200" b="1" dirty="0">
                <a:latin typeface="Times New Roman" panose="02020603050405020304" pitchFamily="18" charset="0"/>
                <a:cs typeface="Times New Roman" panose="02020603050405020304" pitchFamily="18" charset="0"/>
              </a:rPr>
              <a:t>John von Neumann(1903-1957), Oskar Morgenstern(1902-1977)</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Theory of Games and Economic Behavior</a:t>
            </a:r>
            <a:r>
              <a:rPr lang="en-US" altLang="zh-CN" sz="1200" b="1" dirty="0">
                <a:latin typeface="Times New Roman" panose="02020603050405020304" pitchFamily="18" charset="0"/>
                <a:cs typeface="Times New Roman" panose="02020603050405020304" pitchFamily="18" charset="0"/>
              </a:rPr>
              <a:t>, Princeton University Press, 1944</a:t>
            </a:r>
            <a:endParaRPr lang="zh-CN" altLang="en-US" sz="1200" dirty="0">
              <a:latin typeface="Times New Roman" panose="02020603050405020304" pitchFamily="18" charset="0"/>
              <a:cs typeface="Times New Roman" panose="02020603050405020304" pitchFamily="18" charset="0"/>
            </a:endParaRPr>
          </a:p>
        </p:txBody>
      </p:sp>
      <p:sp>
        <p:nvSpPr>
          <p:cNvPr id="14" name="矩形: 圆角 6">
            <a:extLst>
              <a:ext uri="{FF2B5EF4-FFF2-40B4-BE49-F238E27FC236}">
                <a16:creationId xmlns:a16="http://schemas.microsoft.com/office/drawing/2014/main" id="{F0578761-3906-422A-8891-487347AA0F0B}"/>
              </a:ext>
            </a:extLst>
          </p:cNvPr>
          <p:cNvSpPr/>
          <p:nvPr/>
        </p:nvSpPr>
        <p:spPr>
          <a:xfrm>
            <a:off x="368875" y="2124223"/>
            <a:ext cx="6491470" cy="3539430"/>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02B28246-D346-4D06-A6B2-D3DBBE810528}"/>
              </a:ext>
            </a:extLst>
          </p:cNvPr>
          <p:cNvSpPr/>
          <p:nvPr/>
        </p:nvSpPr>
        <p:spPr>
          <a:xfrm>
            <a:off x="368875" y="2321191"/>
            <a:ext cx="6242940" cy="3539430"/>
          </a:xfrm>
          <a:prstGeom prst="rect">
            <a:avLst/>
          </a:prstGeom>
        </p:spPr>
        <p:txBody>
          <a:bodyPr wrap="square">
            <a:spAutoFit/>
          </a:bodyPr>
          <a:lstStyle/>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博弈论（</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game theory</a:t>
            </a:r>
            <a:r>
              <a:rPr lang="zh-CN" altLang="en-US"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又称对策论。</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博弈行为：带有相互竞争性质的主体，为了达到各自目标和利益，采取的带有对抗性质的行为。</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博弈论主要研究博弈行为中</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最优的对抗策略及其稳定局势</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，协助人们在一定规则范围内寻求最合理的行为方式。</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1944</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年冯</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诺伊曼与奥斯卡</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摩根斯特恩合著</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博弈论与经济行为</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，以数学形式来阐述博弈论及其应用，标志着现代系统博弈理论的初步形成，冯</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诺伊曼被称为现代博弈论之父。</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879037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博弈论的相关概念</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一、博弈论</a:t>
            </a:r>
            <a:r>
              <a:rPr lang="zh-CN" altLang="en-US" sz="1600">
                <a:solidFill>
                  <a:srgbClr val="000000"/>
                </a:solidFill>
                <a:latin typeface="Times New Roman" panose="02020603050405020304" pitchFamily="18" charset="0"/>
                <a:ea typeface="楷体_GB2312"/>
              </a:rPr>
              <a:t>相关概念</a:t>
            </a:r>
            <a:endParaRPr lang="zh-CN" altLang="en-US" sz="1600" dirty="0">
              <a:solidFill>
                <a:srgbClr val="000000"/>
              </a:solidFill>
              <a:latin typeface="Times New Roman" panose="02020603050405020304" pitchFamily="18" charset="0"/>
            </a:endParaRPr>
          </a:p>
        </p:txBody>
      </p:sp>
      <p:sp>
        <p:nvSpPr>
          <p:cNvPr id="10" name="内容占位符 4">
            <a:extLst>
              <a:ext uri="{FF2B5EF4-FFF2-40B4-BE49-F238E27FC236}">
                <a16:creationId xmlns:a16="http://schemas.microsoft.com/office/drawing/2014/main" id="{8B2CF903-E574-461D-90E9-5FD402712BB7}"/>
              </a:ext>
            </a:extLst>
          </p:cNvPr>
          <p:cNvSpPr txBox="1">
            <a:spLocks/>
          </p:cNvSpPr>
          <p:nvPr/>
        </p:nvSpPr>
        <p:spPr>
          <a:xfrm>
            <a:off x="6095963" y="1399007"/>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altLang="zh-CN" sz="1600" dirty="0"/>
          </a:p>
          <a:p>
            <a:pPr marL="0" indent="0">
              <a:buNone/>
            </a:pPr>
            <a:endParaRPr lang="zh-CN" altLang="en-US" sz="1600" dirty="0"/>
          </a:p>
        </p:txBody>
      </p:sp>
      <p:sp>
        <p:nvSpPr>
          <p:cNvPr id="14" name="矩形: 圆角 6">
            <a:extLst>
              <a:ext uri="{FF2B5EF4-FFF2-40B4-BE49-F238E27FC236}">
                <a16:creationId xmlns:a16="http://schemas.microsoft.com/office/drawing/2014/main" id="{F0578761-3906-422A-8891-487347AA0F0B}"/>
              </a:ext>
            </a:extLst>
          </p:cNvPr>
          <p:cNvSpPr/>
          <p:nvPr/>
        </p:nvSpPr>
        <p:spPr>
          <a:xfrm>
            <a:off x="368874" y="1563873"/>
            <a:ext cx="11471434" cy="4099780"/>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02B28246-D346-4D06-A6B2-D3DBBE810528}"/>
              </a:ext>
            </a:extLst>
          </p:cNvPr>
          <p:cNvSpPr/>
          <p:nvPr/>
        </p:nvSpPr>
        <p:spPr>
          <a:xfrm>
            <a:off x="351692" y="1786105"/>
            <a:ext cx="11405784" cy="4031873"/>
          </a:xfrm>
          <a:prstGeom prst="rect">
            <a:avLst/>
          </a:prstGeom>
        </p:spPr>
        <p:txBody>
          <a:bodyPr wrap="square">
            <a:spAutoFit/>
          </a:bodyPr>
          <a:lstStyle/>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参与者或玩家（</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player</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：参与博弈的决策主体</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策略（</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strategy</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：参与者可以采取的行动方案，是一整套在采取行动之前就已经准备好的完整方案。</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某个参与者可采纳策略的全体组合形成了策略集（</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strategy set</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）。所有参与者各自采取行动后形成的状态被称为局势（</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outcome</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）。如果参与者可以通过一定概率分布来选择若干个不同的策略，这样的策略称为混合策略（</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mixed strategy</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 若参与者每次行动都选择某个确定的策略，这样的策略称为纯策略（</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pure strategy</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收益（</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payoff</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：各个参与者在不同局势下得到的利益。混合策略意义下的收益应为期望收益（</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expected payoff</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规则（</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rule</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）：对参与者行动的先后顺序、参与者获得信息多少等内容的规定</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博弈论研究的范式：</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建模者对参与者（</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player</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）规定可采取的策略集</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(strategy sets)</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和取得的收益，观察当参与者选择若干策略以最大化其收益时会产生什么结果</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027AA7CC-9AEC-4685-85F3-1922C5BE6A4F}"/>
              </a:ext>
            </a:extLst>
          </p:cNvPr>
          <p:cNvSpPr/>
          <p:nvPr/>
        </p:nvSpPr>
        <p:spPr>
          <a:xfrm>
            <a:off x="4131747" y="5817978"/>
            <a:ext cx="3647152" cy="369332"/>
          </a:xfrm>
          <a:prstGeom prst="rect">
            <a:avLst/>
          </a:prstGeom>
        </p:spPr>
        <p:txBody>
          <a:bodyPr wrap="none">
            <a:spAutoFit/>
          </a:bodyPr>
          <a:lstStyle/>
          <a:p>
            <a:r>
              <a:rPr lang="zh-CN" altLang="en-US"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两害相权取其轻，两利相权取其重</a:t>
            </a:r>
          </a:p>
        </p:txBody>
      </p:sp>
    </p:spTree>
    <p:extLst>
      <p:ext uri="{BB962C8B-B14F-4D97-AF65-F5344CB8AC3E}">
        <p14:creationId xmlns:p14="http://schemas.microsoft.com/office/powerpoint/2010/main" val="45286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博弈论：</a:t>
              </a:r>
              <a:r>
                <a:rPr lang="zh-CN" altLang="en-US" sz="20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囚徒困境（</a:t>
              </a:r>
              <a:r>
                <a:rPr lang="en-US" altLang="zh-CN" sz="20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prisoner’s dilemma</a:t>
              </a:r>
              <a:r>
                <a:rPr lang="zh-CN" altLang="en-US" sz="20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一、博弈论</a:t>
            </a:r>
            <a:r>
              <a:rPr lang="zh-CN" altLang="en-US" sz="1600">
                <a:solidFill>
                  <a:srgbClr val="000000"/>
                </a:solidFill>
                <a:latin typeface="Times New Roman" panose="02020603050405020304" pitchFamily="18" charset="0"/>
                <a:ea typeface="楷体_GB2312"/>
              </a:rPr>
              <a:t>相关概念</a:t>
            </a:r>
            <a:endParaRPr lang="zh-CN" altLang="en-US" sz="1600" dirty="0">
              <a:solidFill>
                <a:srgbClr val="000000"/>
              </a:solidFill>
              <a:latin typeface="Times New Roman" panose="02020603050405020304" pitchFamily="18" charset="0"/>
            </a:endParaRPr>
          </a:p>
        </p:txBody>
      </p:sp>
      <p:sp>
        <p:nvSpPr>
          <p:cNvPr id="10" name="内容占位符 4">
            <a:extLst>
              <a:ext uri="{FF2B5EF4-FFF2-40B4-BE49-F238E27FC236}">
                <a16:creationId xmlns:a16="http://schemas.microsoft.com/office/drawing/2014/main" id="{8B2CF903-E574-461D-90E9-5FD402712BB7}"/>
              </a:ext>
            </a:extLst>
          </p:cNvPr>
          <p:cNvSpPr txBox="1">
            <a:spLocks/>
          </p:cNvSpPr>
          <p:nvPr/>
        </p:nvSpPr>
        <p:spPr>
          <a:xfrm>
            <a:off x="7061944" y="1432952"/>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altLang="zh-CN" sz="1600" dirty="0"/>
          </a:p>
          <a:p>
            <a:pPr marL="0" indent="0">
              <a:buNone/>
            </a:pPr>
            <a:endParaRPr lang="zh-CN" altLang="en-US" sz="1600" dirty="0"/>
          </a:p>
        </p:txBody>
      </p:sp>
      <p:sp>
        <p:nvSpPr>
          <p:cNvPr id="11" name="内容占位符 4">
            <a:extLst>
              <a:ext uri="{FF2B5EF4-FFF2-40B4-BE49-F238E27FC236}">
                <a16:creationId xmlns:a16="http://schemas.microsoft.com/office/drawing/2014/main" id="{F7883C04-FF78-464E-BE91-496921A30BC4}"/>
              </a:ext>
            </a:extLst>
          </p:cNvPr>
          <p:cNvSpPr txBox="1">
            <a:spLocks/>
          </p:cNvSpPr>
          <p:nvPr/>
        </p:nvSpPr>
        <p:spPr>
          <a:xfrm>
            <a:off x="6348375" y="1073709"/>
            <a:ext cx="5019203"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00000"/>
              </a:lnSpc>
            </a:pPr>
            <a:r>
              <a:rPr lang="zh-CN" altLang="en-US" sz="1800" b="1" dirty="0">
                <a:latin typeface="Times New Roman" panose="02020603050405020304" pitchFamily="18" charset="0"/>
                <a:ea typeface="华文楷体" panose="02010600040101010101" pitchFamily="2" charset="-122"/>
                <a:cs typeface="Times New Roman" panose="02020603050405020304" pitchFamily="18" charset="0"/>
              </a:rPr>
              <a:t>参与者</a:t>
            </a:r>
            <a:r>
              <a:rPr lang="zh-CN" altLang="en-US" sz="1800" dirty="0">
                <a:latin typeface="Times New Roman" panose="02020603050405020304" pitchFamily="18" charset="0"/>
                <a:ea typeface="华文楷体" panose="02010600040101010101" pitchFamily="2" charset="-122"/>
                <a:cs typeface="Times New Roman" panose="02020603050405020304" pitchFamily="18" charset="0"/>
              </a:rPr>
              <a:t>：甲、乙</a:t>
            </a:r>
            <a:endParaRPr lang="en-US" altLang="zh-CN" sz="1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00000"/>
              </a:lnSpc>
            </a:pPr>
            <a:r>
              <a:rPr lang="zh-CN" altLang="en-US" sz="1800" b="1" dirty="0">
                <a:latin typeface="Times New Roman" panose="02020603050405020304" pitchFamily="18" charset="0"/>
                <a:ea typeface="华文楷体" panose="02010600040101010101" pitchFamily="2" charset="-122"/>
                <a:cs typeface="Times New Roman" panose="02020603050405020304" pitchFamily="18" charset="0"/>
              </a:rPr>
              <a:t>规则</a:t>
            </a:r>
            <a:r>
              <a:rPr lang="zh-CN" altLang="en-US" sz="1800" dirty="0">
                <a:latin typeface="Times New Roman" panose="02020603050405020304" pitchFamily="18" charset="0"/>
                <a:ea typeface="华文楷体" panose="02010600040101010101" pitchFamily="2" charset="-122"/>
                <a:cs typeface="Times New Roman" panose="02020603050405020304" pitchFamily="18" charset="0"/>
              </a:rPr>
              <a:t>：甲、乙两人分别决策，无法得知对方的选择</a:t>
            </a:r>
            <a:endParaRPr lang="en-US" altLang="zh-CN" sz="1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00000"/>
              </a:lnSpc>
            </a:pPr>
            <a:r>
              <a:rPr lang="zh-CN" altLang="en-US" sz="1800" b="1" dirty="0">
                <a:latin typeface="Times New Roman" panose="02020603050405020304" pitchFamily="18" charset="0"/>
                <a:ea typeface="华文楷体" panose="02010600040101010101" pitchFamily="2" charset="-122"/>
                <a:cs typeface="Times New Roman" panose="02020603050405020304" pitchFamily="18" charset="0"/>
              </a:rPr>
              <a:t>策略集</a:t>
            </a:r>
            <a:r>
              <a:rPr lang="zh-CN" altLang="en-US" sz="1800" dirty="0">
                <a:latin typeface="Times New Roman" panose="02020603050405020304" pitchFamily="18" charset="0"/>
                <a:ea typeface="华文楷体" panose="02010600040101010101" pitchFamily="2" charset="-122"/>
                <a:cs typeface="Times New Roman" panose="02020603050405020304" pitchFamily="18" charset="0"/>
              </a:rPr>
              <a:t>：认罪、沉默（纯策略）</a:t>
            </a:r>
            <a:endParaRPr lang="en-US" altLang="zh-CN" sz="1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00000"/>
              </a:lnSpc>
            </a:pPr>
            <a:endParaRPr lang="en-US" altLang="zh-CN" sz="1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00000"/>
              </a:lnSpc>
            </a:pPr>
            <a:r>
              <a:rPr lang="zh-CN" altLang="en-US" sz="1800" b="1" dirty="0">
                <a:latin typeface="Times New Roman" panose="02020603050405020304" pitchFamily="18" charset="0"/>
                <a:ea typeface="华文楷体" panose="02010600040101010101" pitchFamily="2" charset="-122"/>
                <a:cs typeface="Times New Roman" panose="02020603050405020304" pitchFamily="18" charset="0"/>
              </a:rPr>
              <a:t>局势及对应收益（年）</a:t>
            </a:r>
            <a:endParaRPr lang="en-US" altLang="zh-CN" sz="1800" b="1"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00000"/>
              </a:lnSpc>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甲认罪：</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0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乙沉默：</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-10</a:t>
            </a:r>
          </a:p>
          <a:p>
            <a:pPr lvl="1">
              <a:lnSpc>
                <a:spcPct val="100000"/>
              </a:lnSpc>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甲认罪：</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-5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乙认罪：</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-5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均衡解</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00000"/>
              </a:lnSpc>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甲沉默：</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-10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乙认罪：</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0</a:t>
            </a:r>
          </a:p>
          <a:p>
            <a:pPr lvl="1">
              <a:lnSpc>
                <a:spcPct val="100000"/>
              </a:lnSpc>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甲沉默：</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-0.5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乙沉默：</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-0.5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最优解</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00000"/>
              </a:lnSpc>
            </a:pPr>
            <a:endParaRPr lang="en-US" altLang="zh-CN" sz="1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00000"/>
              </a:lnSpc>
            </a:pPr>
            <a:r>
              <a:rPr lang="zh-CN" altLang="en-US" sz="1800" dirty="0">
                <a:latin typeface="Times New Roman" panose="02020603050405020304" pitchFamily="18" charset="0"/>
                <a:ea typeface="华文楷体" panose="02010600040101010101" pitchFamily="2" charset="-122"/>
                <a:cs typeface="Times New Roman" panose="02020603050405020304" pitchFamily="18" charset="0"/>
              </a:rPr>
              <a:t>在囚徒困境中，</a:t>
            </a:r>
            <a:r>
              <a:rPr lang="zh-CN" altLang="en-US" sz="18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最优解</a:t>
            </a:r>
            <a:r>
              <a:rPr lang="zh-CN" altLang="en-US" sz="1800" dirty="0">
                <a:latin typeface="Times New Roman" panose="02020603050405020304" pitchFamily="18" charset="0"/>
                <a:ea typeface="华文楷体" panose="02010600040101010101" pitchFamily="2" charset="-122"/>
                <a:cs typeface="Times New Roman" panose="02020603050405020304" pitchFamily="18" charset="0"/>
              </a:rPr>
              <a:t>为两人同时沉默，但是两人实际倾向于选择同时认罪（</a:t>
            </a:r>
            <a:r>
              <a:rPr lang="zh-CN" altLang="en-US" sz="18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均衡解</a:t>
            </a:r>
            <a:r>
              <a:rPr lang="zh-CN" altLang="en-US" sz="1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00000"/>
              </a:lnSpc>
            </a:pPr>
            <a:r>
              <a:rPr lang="zh-CN" altLang="en-US" sz="1800" dirty="0">
                <a:latin typeface="Times New Roman" panose="02020603050405020304" pitchFamily="18" charset="0"/>
                <a:ea typeface="华文楷体" panose="02010600040101010101" pitchFamily="2" charset="-122"/>
                <a:cs typeface="Times New Roman" panose="02020603050405020304" pitchFamily="18" charset="0"/>
              </a:rPr>
              <a:t>囚徒困境的核心矛盾就是：个体理性的选择，最终导致了集体利益的损失。</a:t>
            </a:r>
            <a:endParaRPr lang="en-US" altLang="zh-CN" sz="18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ct val="100000"/>
              </a:lnSpc>
              <a:buNone/>
            </a:pP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 name="内容占位符 4">
            <a:extLst>
              <a:ext uri="{FF2B5EF4-FFF2-40B4-BE49-F238E27FC236}">
                <a16:creationId xmlns:a16="http://schemas.microsoft.com/office/drawing/2014/main" id="{088A6895-E7CF-42AD-B225-A3AB2B1837E6}"/>
              </a:ext>
            </a:extLst>
          </p:cNvPr>
          <p:cNvSpPr txBox="1">
            <a:spLocks/>
          </p:cNvSpPr>
          <p:nvPr/>
        </p:nvSpPr>
        <p:spPr>
          <a:xfrm>
            <a:off x="207819" y="1514200"/>
            <a:ext cx="5888182" cy="5532677"/>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lnSpc>
                <a:spcPct val="100000"/>
              </a:lnSpc>
            </a:pP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1950</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年，兰德公司的梅里尔</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弗勒德和梅尔文</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德雷希尔拟定了相关困境理论，后来美国普林斯顿大学数学家阿尔伯特</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塔克以“囚徒方式”阐述：</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 </a:t>
            </a:r>
          </a:p>
          <a:p>
            <a:pPr lvl="1">
              <a:lnSpc>
                <a:spcPct val="100000"/>
              </a:lnSpc>
            </a:pP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警方逮捕了共同犯罪的甲、乙两人，由于警方没有掌握充分的证据，所以将两人分开审讯：</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00000"/>
              </a:lnSpc>
            </a:pP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若一人认罪并指证对方，而另一方保持沉默，则此人会被当即释放，沉默者会被判监禁</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10</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年</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00000"/>
              </a:lnSpc>
            </a:pP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若两人都保持沉默，则根据已有的犯罪事实（无充分证据）两人各判半年</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00000"/>
              </a:lnSpc>
            </a:pP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若两人都认罪并相互指证，则两人各判</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5</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年</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00000"/>
              </a:lnSpc>
            </a:pP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00000"/>
              </a:lnSpc>
            </a:pPr>
            <a:endParaRPr lang="en-US" altLang="zh-CN" sz="1300" b="1" dirty="0">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13" name="表格 12">
            <a:extLst>
              <a:ext uri="{FF2B5EF4-FFF2-40B4-BE49-F238E27FC236}">
                <a16:creationId xmlns:a16="http://schemas.microsoft.com/office/drawing/2014/main" id="{9E1DD257-71E2-4D37-B121-1C12F3FFA46C}"/>
              </a:ext>
            </a:extLst>
          </p:cNvPr>
          <p:cNvGraphicFramePr>
            <a:graphicFrameLocks noGrp="1"/>
          </p:cNvGraphicFramePr>
          <p:nvPr>
            <p:extLst>
              <p:ext uri="{D42A27DB-BD31-4B8C-83A1-F6EECF244321}">
                <p14:modId xmlns:p14="http://schemas.microsoft.com/office/powerpoint/2010/main" val="2252228027"/>
              </p:ext>
            </p:extLst>
          </p:nvPr>
        </p:nvGraphicFramePr>
        <p:xfrm>
          <a:off x="596576" y="4498747"/>
          <a:ext cx="4650796" cy="1953280"/>
        </p:xfrm>
        <a:graphic>
          <a:graphicData uri="http://schemas.openxmlformats.org/drawingml/2006/table">
            <a:tbl>
              <a:tblPr firstRow="1" bandRow="1">
                <a:tableStyleId>{5940675A-B579-460E-94D1-54222C63F5DA}</a:tableStyleId>
              </a:tblPr>
              <a:tblGrid>
                <a:gridCol w="1481069">
                  <a:extLst>
                    <a:ext uri="{9D8B030D-6E8A-4147-A177-3AD203B41FA5}">
                      <a16:colId xmlns:a16="http://schemas.microsoft.com/office/drawing/2014/main" val="1101629448"/>
                    </a:ext>
                  </a:extLst>
                </a:gridCol>
                <a:gridCol w="1596980">
                  <a:extLst>
                    <a:ext uri="{9D8B030D-6E8A-4147-A177-3AD203B41FA5}">
                      <a16:colId xmlns:a16="http://schemas.microsoft.com/office/drawing/2014/main" val="3005556984"/>
                    </a:ext>
                  </a:extLst>
                </a:gridCol>
                <a:gridCol w="1572747">
                  <a:extLst>
                    <a:ext uri="{9D8B030D-6E8A-4147-A177-3AD203B41FA5}">
                      <a16:colId xmlns:a16="http://schemas.microsoft.com/office/drawing/2014/main" val="513799757"/>
                    </a:ext>
                  </a:extLst>
                </a:gridCol>
              </a:tblGrid>
              <a:tr h="652800">
                <a:tc>
                  <a:txBody>
                    <a:bodyPr/>
                    <a:lstStyle/>
                    <a:p>
                      <a:pPr algn="ctr"/>
                      <a:endParaRPr lang="zh-CN" altLang="en-US" sz="1700" b="1" dirty="0">
                        <a:latin typeface="华文楷体" panose="02010600040101010101" pitchFamily="2" charset="-122"/>
                        <a:ea typeface="华文楷体" panose="02010600040101010101" pitchFamily="2" charset="-122"/>
                        <a:cs typeface="Times New Roman" panose="02020603050405020304" pitchFamily="18" charset="0"/>
                      </a:endParaRP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乙沉默（合作）</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乙认罪（背叛）</a:t>
                      </a:r>
                    </a:p>
                  </a:txBody>
                  <a:tcPr marT="60960" marB="60960" anchor="ctr"/>
                </a:tc>
                <a:extLst>
                  <a:ext uri="{0D108BD9-81ED-4DB2-BD59-A6C34878D82A}">
                    <a16:rowId xmlns:a16="http://schemas.microsoft.com/office/drawing/2014/main" val="3358440443"/>
                  </a:ext>
                </a:extLst>
              </a:tr>
              <a:tr h="650240">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甲沉默（合作）</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二人各</a:t>
                      </a:r>
                      <a:endParaRPr lang="en-US" altLang="zh-CN" sz="17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服刑半年</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乙被释放，</a:t>
                      </a:r>
                      <a:endParaRPr lang="en-US" altLang="zh-CN" sz="17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甲服刑</a:t>
                      </a:r>
                      <a:r>
                        <a:rPr lang="en-US" altLang="zh-CN" sz="1700" b="1" dirty="0">
                          <a:latin typeface="华文楷体" panose="02010600040101010101" pitchFamily="2" charset="-122"/>
                          <a:ea typeface="华文楷体" panose="02010600040101010101" pitchFamily="2" charset="-122"/>
                          <a:cs typeface="Times New Roman" panose="02020603050405020304" pitchFamily="18" charset="0"/>
                        </a:rPr>
                        <a:t>10</a:t>
                      </a: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年</a:t>
                      </a:r>
                    </a:p>
                  </a:txBody>
                  <a:tcPr marT="60960" marB="60960" anchor="ctr"/>
                </a:tc>
                <a:extLst>
                  <a:ext uri="{0D108BD9-81ED-4DB2-BD59-A6C34878D82A}">
                    <a16:rowId xmlns:a16="http://schemas.microsoft.com/office/drawing/2014/main" val="196029410"/>
                  </a:ext>
                </a:extLst>
              </a:tr>
              <a:tr h="650240">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甲认罪（背叛）</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甲被释放，</a:t>
                      </a:r>
                      <a:endParaRPr lang="en-US" altLang="zh-CN" sz="17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乙服刑</a:t>
                      </a:r>
                      <a:r>
                        <a:rPr lang="en-US" altLang="zh-CN" sz="1700" b="1" dirty="0">
                          <a:latin typeface="华文楷体" panose="02010600040101010101" pitchFamily="2" charset="-122"/>
                          <a:ea typeface="华文楷体" panose="02010600040101010101" pitchFamily="2" charset="-122"/>
                          <a:cs typeface="Times New Roman" panose="02020603050405020304" pitchFamily="18" charset="0"/>
                        </a:rPr>
                        <a:t>10</a:t>
                      </a: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年</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二人各</a:t>
                      </a:r>
                      <a:endParaRPr lang="en-US" altLang="zh-CN" sz="17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服刑</a:t>
                      </a:r>
                      <a:r>
                        <a:rPr lang="en-US" altLang="zh-CN" sz="1700" b="1" dirty="0">
                          <a:latin typeface="华文楷体" panose="02010600040101010101" pitchFamily="2" charset="-122"/>
                          <a:ea typeface="华文楷体" panose="02010600040101010101" pitchFamily="2" charset="-122"/>
                          <a:cs typeface="Times New Roman" panose="02020603050405020304" pitchFamily="18" charset="0"/>
                        </a:rPr>
                        <a:t>5</a:t>
                      </a: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年</a:t>
                      </a:r>
                    </a:p>
                  </a:txBody>
                  <a:tcPr marT="60960" marB="60960" anchor="ctr"/>
                </a:tc>
                <a:extLst>
                  <a:ext uri="{0D108BD9-81ED-4DB2-BD59-A6C34878D82A}">
                    <a16:rowId xmlns:a16="http://schemas.microsoft.com/office/drawing/2014/main" val="2921546216"/>
                  </a:ext>
                </a:extLst>
              </a:tr>
            </a:tbl>
          </a:graphicData>
        </a:graphic>
      </p:graphicFrame>
    </p:spTree>
    <p:extLst>
      <p:ext uri="{BB962C8B-B14F-4D97-AF65-F5344CB8AC3E}">
        <p14:creationId xmlns:p14="http://schemas.microsoft.com/office/powerpoint/2010/main" val="2930598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博弈的分类</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一、博弈论</a:t>
            </a:r>
            <a:r>
              <a:rPr lang="zh-CN" altLang="en-US" sz="1600">
                <a:solidFill>
                  <a:srgbClr val="000000"/>
                </a:solidFill>
                <a:latin typeface="Times New Roman" panose="02020603050405020304" pitchFamily="18" charset="0"/>
                <a:ea typeface="楷体_GB2312"/>
              </a:rPr>
              <a:t>相关概念</a:t>
            </a:r>
            <a:endParaRPr lang="zh-CN" altLang="en-US" sz="1600" dirty="0">
              <a:solidFill>
                <a:srgbClr val="000000"/>
              </a:solidFill>
              <a:latin typeface="Times New Roman" panose="02020603050405020304" pitchFamily="18" charset="0"/>
            </a:endParaRPr>
          </a:p>
        </p:txBody>
      </p:sp>
      <p:sp>
        <p:nvSpPr>
          <p:cNvPr id="10" name="内容占位符 4">
            <a:extLst>
              <a:ext uri="{FF2B5EF4-FFF2-40B4-BE49-F238E27FC236}">
                <a16:creationId xmlns:a16="http://schemas.microsoft.com/office/drawing/2014/main" id="{8B2CF903-E574-461D-90E9-5FD402712BB7}"/>
              </a:ext>
            </a:extLst>
          </p:cNvPr>
          <p:cNvSpPr txBox="1">
            <a:spLocks/>
          </p:cNvSpPr>
          <p:nvPr/>
        </p:nvSpPr>
        <p:spPr>
          <a:xfrm>
            <a:off x="6095963" y="1399007"/>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altLang="zh-CN" sz="1600" dirty="0"/>
          </a:p>
          <a:p>
            <a:pPr marL="0" indent="0">
              <a:buNone/>
            </a:pPr>
            <a:endParaRPr lang="zh-CN" altLang="en-US" sz="1600" dirty="0"/>
          </a:p>
        </p:txBody>
      </p:sp>
      <p:sp>
        <p:nvSpPr>
          <p:cNvPr id="14" name="矩形: 圆角 6">
            <a:extLst>
              <a:ext uri="{FF2B5EF4-FFF2-40B4-BE49-F238E27FC236}">
                <a16:creationId xmlns:a16="http://schemas.microsoft.com/office/drawing/2014/main" id="{F0578761-3906-422A-8891-487347AA0F0B}"/>
              </a:ext>
            </a:extLst>
          </p:cNvPr>
          <p:cNvSpPr/>
          <p:nvPr/>
        </p:nvSpPr>
        <p:spPr>
          <a:xfrm>
            <a:off x="286042" y="1540498"/>
            <a:ext cx="11471434" cy="5317502"/>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02B28246-D346-4D06-A6B2-D3DBBE810528}"/>
              </a:ext>
            </a:extLst>
          </p:cNvPr>
          <p:cNvSpPr/>
          <p:nvPr/>
        </p:nvSpPr>
        <p:spPr>
          <a:xfrm>
            <a:off x="351692" y="1570432"/>
            <a:ext cx="11405784" cy="5509200"/>
          </a:xfrm>
          <a:prstGeom prst="rect">
            <a:avLst/>
          </a:prstGeom>
        </p:spPr>
        <p:txBody>
          <a:bodyPr wrap="square">
            <a:spAutoFit/>
          </a:bodyPr>
          <a:lstStyle/>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参与者或玩家（</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player</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）合作博弈与非合作博弈</a:t>
            </a:r>
            <a:endPar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lvl="1" algn="just">
              <a:lnSpc>
                <a:spcPct val="150000"/>
              </a:lnSpc>
            </a:pP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合作博弈（</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cooperative game</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）：部分参与者可以组成联盟以获得更大的收益</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lvl="1" algn="just">
              <a:lnSpc>
                <a:spcPct val="150000"/>
              </a:lnSpc>
            </a:pP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非合作博弈（</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non-cooperative game</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）：参与者在决策中都彼此独立，不事先达成合作意向</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lvl="1" algn="just">
              <a:lnSpc>
                <a:spcPct val="150000"/>
              </a:lnSpc>
            </a:pP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静态博弈与动态博弈</a:t>
            </a:r>
            <a:endPar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lvl="1" algn="just">
              <a:lnSpc>
                <a:spcPct val="150000"/>
              </a:lnSpc>
            </a:pP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静态博弈（</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static game</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）：所有参与者同时决策，或参与者互相不知道对方的决策</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lvl="1" algn="just">
              <a:lnSpc>
                <a:spcPct val="150000"/>
              </a:lnSpc>
            </a:pP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动态博弈（</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dynamic game</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）：参与者所采取行为的先后顺序由规则决定，且后行动者知道先行动者所采取的行为</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l"/>
            </a:pPr>
            <a:endPar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完全信息博弈与不完全信息博弈</a:t>
            </a:r>
            <a:endPar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lvl="1" algn="just">
              <a:lnSpc>
                <a:spcPct val="150000"/>
              </a:lnSpc>
            </a:pP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完全信息（</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complete information</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）：所有参与者均了解其他参与者的策略集、收益等信息</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lvl="1" algn="just">
              <a:lnSpc>
                <a:spcPct val="150000"/>
              </a:lnSpc>
            </a:pP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不完全信息（</a:t>
            </a:r>
            <a:r>
              <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incomplete information</a:t>
            </a:r>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）：并非所有参与者均掌握了所有信息</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零和博弈与非零和博弈</a:t>
            </a:r>
            <a:endPar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lvl="1" algn="just"/>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零和博弈：参与者总收益恒为零，一方收益等于另一方损失，如象棋。</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lvl="1" algn="just"/>
            <a:r>
              <a:rPr lang="zh-CN" altLang="en-US"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非零和博弈：正和博弈，参与者总收益为正，可通过合作实现双赢；负和博弈，参与者总收益为负，双方冲突导致集体损失。</a:t>
            </a:r>
            <a:endParaRPr lang="en-US" altLang="zh-CN" sz="1600"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151759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博弈论：</a:t>
              </a:r>
              <a:r>
                <a:rPr lang="zh-CN" altLang="en-US" sz="20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纳什均衡</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一、博弈论</a:t>
            </a:r>
            <a:r>
              <a:rPr lang="zh-CN" altLang="en-US" sz="1600">
                <a:solidFill>
                  <a:srgbClr val="000000"/>
                </a:solidFill>
                <a:latin typeface="Times New Roman" panose="02020603050405020304" pitchFamily="18" charset="0"/>
                <a:ea typeface="楷体_GB2312"/>
              </a:rPr>
              <a:t>相关概念</a:t>
            </a:r>
            <a:endParaRPr lang="zh-CN" altLang="en-US" sz="1600" dirty="0">
              <a:solidFill>
                <a:srgbClr val="000000"/>
              </a:solidFill>
              <a:latin typeface="Times New Roman" panose="02020603050405020304" pitchFamily="18" charset="0"/>
            </a:endParaRPr>
          </a:p>
        </p:txBody>
      </p:sp>
      <p:sp>
        <p:nvSpPr>
          <p:cNvPr id="10" name="内容占位符 4">
            <a:extLst>
              <a:ext uri="{FF2B5EF4-FFF2-40B4-BE49-F238E27FC236}">
                <a16:creationId xmlns:a16="http://schemas.microsoft.com/office/drawing/2014/main" id="{8B2CF903-E574-461D-90E9-5FD402712BB7}"/>
              </a:ext>
            </a:extLst>
          </p:cNvPr>
          <p:cNvSpPr txBox="1">
            <a:spLocks/>
          </p:cNvSpPr>
          <p:nvPr/>
        </p:nvSpPr>
        <p:spPr>
          <a:xfrm>
            <a:off x="8433544" y="1254816"/>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altLang="zh-CN" sz="1600" dirty="0"/>
          </a:p>
          <a:p>
            <a:pPr marL="0" indent="0">
              <a:buNone/>
            </a:pPr>
            <a:endParaRPr lang="zh-CN" altLang="en-US" sz="1600" dirty="0"/>
          </a:p>
        </p:txBody>
      </p:sp>
      <p:sp>
        <p:nvSpPr>
          <p:cNvPr id="14" name="内容占位符 4">
            <a:extLst>
              <a:ext uri="{FF2B5EF4-FFF2-40B4-BE49-F238E27FC236}">
                <a16:creationId xmlns:a16="http://schemas.microsoft.com/office/drawing/2014/main" id="{911E0F9A-5BD7-4E7E-8184-21FBD30C74C2}"/>
              </a:ext>
            </a:extLst>
          </p:cNvPr>
          <p:cNvSpPr txBox="1">
            <a:spLocks/>
          </p:cNvSpPr>
          <p:nvPr/>
        </p:nvSpPr>
        <p:spPr>
          <a:xfrm>
            <a:off x="7226982" y="1360708"/>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altLang="zh-CN" sz="1600" dirty="0"/>
          </a:p>
          <a:p>
            <a:pPr marL="0" indent="0">
              <a:buNone/>
            </a:pPr>
            <a:endParaRPr lang="zh-CN" altLang="en-US" sz="1600" dirty="0"/>
          </a:p>
        </p:txBody>
      </p:sp>
      <p:sp>
        <p:nvSpPr>
          <p:cNvPr id="15" name="内容占位符 4">
            <a:extLst>
              <a:ext uri="{FF2B5EF4-FFF2-40B4-BE49-F238E27FC236}">
                <a16:creationId xmlns:a16="http://schemas.microsoft.com/office/drawing/2014/main" id="{A98DD977-7ED3-40C5-99AF-B5771BCFB95E}"/>
              </a:ext>
            </a:extLst>
          </p:cNvPr>
          <p:cNvSpPr txBox="1">
            <a:spLocks/>
          </p:cNvSpPr>
          <p:nvPr/>
        </p:nvSpPr>
        <p:spPr>
          <a:xfrm>
            <a:off x="840730" y="1454332"/>
            <a:ext cx="5934589"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lnSpc>
                <a:spcPts val="2600"/>
              </a:lnSpc>
            </a:pP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博弈的稳定局势即为</a:t>
            </a:r>
            <a:r>
              <a:rPr lang="zh-CN" altLang="en-US" sz="16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纳什均衡</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Nash equilibrium</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指的是参与者所作出的这样一种策略组合，在该策略组合上，任何参与者单独改变策略都不会得到好处。换句话说，在多人博弈中，当所有参与者都选择了某一策略组合，且没人能通过单独改变自己的策略来让自己变好时，这个策略组合就是纳什均衡。</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ts val="2600"/>
              </a:lnSpc>
            </a:pPr>
            <a:r>
              <a:rPr lang="en-US" altLang="zh-CN" sz="16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Nash</a:t>
            </a:r>
            <a:r>
              <a:rPr lang="zh-CN" altLang="en-US" sz="16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定理</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：若参与者有限，每位参与者的策略集有限，收益函数为实值函数，则博弈必</a:t>
            </a:r>
            <a:r>
              <a:rPr lang="zh-CN" altLang="en-US" sz="16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存在</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混合策略意义下的纳什均衡。</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ts val="2600"/>
              </a:lnSpc>
            </a:pP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囚徒困境中两人同时认罪就是这一问题的纳什均衡。</a:t>
            </a:r>
            <a:endPar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ts val="2600"/>
              </a:lnSpc>
            </a:pP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当博弈的 “个体最优选择” 和 “全局最优选择” 一致时，纳什均衡就是最优解（这里的 “最优” 指帕累托最优，即没人能在不损害他人利益的前提下让自己变好）。</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ts val="2600"/>
              </a:lnSpc>
            </a:pPr>
            <a:r>
              <a:rPr lang="zh-CN" altLang="zh-CN" sz="1600" b="1" dirty="0">
                <a:latin typeface="Times New Roman" panose="02020603050405020304" pitchFamily="18" charset="0"/>
                <a:ea typeface="华文楷体" panose="02010600040101010101" pitchFamily="2" charset="-122"/>
                <a:cs typeface="Times New Roman" panose="02020603050405020304" pitchFamily="18" charset="0"/>
              </a:rPr>
              <a:t>理查德</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b="1" dirty="0">
                <a:latin typeface="Times New Roman" panose="02020603050405020304" pitchFamily="18" charset="0"/>
                <a:ea typeface="华文楷体" panose="02010600040101010101" pitchFamily="2" charset="-122"/>
                <a:cs typeface="Times New Roman" panose="02020603050405020304" pitchFamily="18" charset="0"/>
              </a:rPr>
              <a:t>达芬</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(Richard Duffin)</a:t>
            </a:r>
            <a:r>
              <a:rPr lang="zh-CN" altLang="zh-CN" sz="1600" b="1" dirty="0">
                <a:latin typeface="Times New Roman" panose="02020603050405020304" pitchFamily="18" charset="0"/>
                <a:ea typeface="华文楷体" panose="02010600040101010101" pitchFamily="2" charset="-122"/>
                <a:cs typeface="Times New Roman" panose="02020603050405020304" pitchFamily="18" charset="0"/>
              </a:rPr>
              <a:t>教授给纳什写了史上短短数行推荐信，内容如下：纳什先生今年</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19</a:t>
            </a:r>
            <a:r>
              <a:rPr lang="zh-CN" altLang="zh-CN" sz="1600" b="1" dirty="0">
                <a:latin typeface="Times New Roman" panose="02020603050405020304" pitchFamily="18" charset="0"/>
                <a:ea typeface="华文楷体" panose="02010600040101010101" pitchFamily="2" charset="-122"/>
                <a:cs typeface="Times New Roman" panose="02020603050405020304" pitchFamily="18" charset="0"/>
              </a:rPr>
              <a:t>岁，</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6</a:t>
            </a:r>
            <a:r>
              <a:rPr lang="zh-CN" altLang="zh-CN" sz="1600" b="1" dirty="0">
                <a:latin typeface="Times New Roman" panose="02020603050405020304" pitchFamily="18" charset="0"/>
                <a:ea typeface="华文楷体" panose="02010600040101010101" pitchFamily="2" charset="-122"/>
                <a:cs typeface="Times New Roman" panose="02020603050405020304" pitchFamily="18" charset="0"/>
              </a:rPr>
              <a:t>月即将从卡耐基技术学院毕业。他是个数学天才（</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he is a mathematical genius </a:t>
            </a:r>
            <a:r>
              <a:rPr lang="zh-CN" altLang="zh-CN" sz="1600"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ts val="2600"/>
              </a:lnSpc>
            </a:pP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16" name="图片 15">
            <a:extLst>
              <a:ext uri="{FF2B5EF4-FFF2-40B4-BE49-F238E27FC236}">
                <a16:creationId xmlns:a16="http://schemas.microsoft.com/office/drawing/2014/main" id="{D6A20A7E-326B-42AE-8D70-9EAAEB0AB1D9}"/>
              </a:ext>
            </a:extLst>
          </p:cNvPr>
          <p:cNvPicPr>
            <a:picLocks noChangeAspect="1"/>
          </p:cNvPicPr>
          <p:nvPr/>
        </p:nvPicPr>
        <p:blipFill rotWithShape="1">
          <a:blip r:embed="rId3"/>
          <a:srcRect t="450"/>
          <a:stretch/>
        </p:blipFill>
        <p:spPr>
          <a:xfrm>
            <a:off x="6899455" y="2954222"/>
            <a:ext cx="2308004" cy="2328867"/>
          </a:xfrm>
          <a:prstGeom prst="rect">
            <a:avLst/>
          </a:prstGeom>
        </p:spPr>
      </p:pic>
      <p:sp>
        <p:nvSpPr>
          <p:cNvPr id="17" name="文本框 16">
            <a:extLst>
              <a:ext uri="{FF2B5EF4-FFF2-40B4-BE49-F238E27FC236}">
                <a16:creationId xmlns:a16="http://schemas.microsoft.com/office/drawing/2014/main" id="{177DE0A8-E76B-4E56-98A3-99AEB919D98E}"/>
              </a:ext>
            </a:extLst>
          </p:cNvPr>
          <p:cNvSpPr txBox="1"/>
          <p:nvPr/>
        </p:nvSpPr>
        <p:spPr>
          <a:xfrm>
            <a:off x="8124601" y="5783459"/>
            <a:ext cx="3346101" cy="523220"/>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Nash, J, Non-Cooperative Games. </a:t>
            </a:r>
            <a:r>
              <a:rPr lang="en-US" altLang="zh-CN" sz="1400" i="1" dirty="0">
                <a:latin typeface="Times New Roman" panose="02020603050405020304" pitchFamily="18" charset="0"/>
                <a:cs typeface="Times New Roman" panose="02020603050405020304" pitchFamily="18" charset="0"/>
              </a:rPr>
              <a:t>The Annals of Mathematics</a:t>
            </a:r>
            <a:r>
              <a:rPr lang="en-US" altLang="zh-CN" sz="1400" dirty="0">
                <a:latin typeface="Times New Roman" panose="02020603050405020304" pitchFamily="18" charset="0"/>
                <a:cs typeface="Times New Roman" panose="02020603050405020304" pitchFamily="18" charset="0"/>
              </a:rPr>
              <a:t>. 54, 2 (1951), 286. </a:t>
            </a:r>
            <a:endParaRPr lang="zh-CN" altLang="en-US" sz="1400" dirty="0">
              <a:latin typeface="Times New Roman" panose="02020603050405020304" pitchFamily="18" charset="0"/>
              <a:cs typeface="Times New Roman" panose="02020603050405020304" pitchFamily="18" charset="0"/>
            </a:endParaRPr>
          </a:p>
        </p:txBody>
      </p:sp>
      <p:sp>
        <p:nvSpPr>
          <p:cNvPr id="18" name="圆角矩形 10">
            <a:extLst>
              <a:ext uri="{FF2B5EF4-FFF2-40B4-BE49-F238E27FC236}">
                <a16:creationId xmlns:a16="http://schemas.microsoft.com/office/drawing/2014/main" id="{25E73613-E0C2-4A42-891E-12B1DF1B9975}"/>
              </a:ext>
            </a:extLst>
          </p:cNvPr>
          <p:cNvSpPr/>
          <p:nvPr/>
        </p:nvSpPr>
        <p:spPr bwMode="auto">
          <a:xfrm>
            <a:off x="7425870" y="1661152"/>
            <a:ext cx="3563177" cy="536734"/>
          </a:xfrm>
          <a:prstGeom prst="roundRect">
            <a:avLst/>
          </a:prstGeom>
          <a:solidFill>
            <a:srgbClr val="FFC000"/>
          </a:solidFill>
          <a:ln>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style>
          <a:lnRef idx="1">
            <a:schemeClr val="accent2"/>
          </a:lnRef>
          <a:fillRef idx="2">
            <a:schemeClr val="accent2"/>
          </a:fillRef>
          <a:effectRef idx="1">
            <a:schemeClr val="accent2"/>
          </a:effectRef>
          <a:fontRef idx="minor">
            <a:schemeClr val="dk1"/>
          </a:fontRef>
        </p:style>
        <p:txBody>
          <a:bodyPr wrap="none" tIns="0" bIns="0" anchor="ctr"/>
          <a:lstStyle/>
          <a:p>
            <a:pPr algn="ctr">
              <a:buFont typeface="Arial" charset="0"/>
              <a:buNone/>
              <a:defRPr/>
            </a:pPr>
            <a:r>
              <a:rPr lang="zh-CN" altLang="en-US" b="1" dirty="0">
                <a:gradFill flip="none" rotWithShape="1">
                  <a:gsLst>
                    <a:gs pos="0">
                      <a:schemeClr val="tx1">
                        <a:shade val="30000"/>
                        <a:satMod val="115000"/>
                      </a:schemeClr>
                    </a:gs>
                    <a:gs pos="50000">
                      <a:schemeClr val="tx1">
                        <a:shade val="67500"/>
                        <a:satMod val="115000"/>
                      </a:schemeClr>
                    </a:gs>
                    <a:gs pos="100000">
                      <a:schemeClr val="tx1">
                        <a:shade val="100000"/>
                        <a:satMod val="115000"/>
                      </a:schemeClr>
                    </a:gs>
                  </a:gsLst>
                  <a:lin ang="16200000" scaled="1"/>
                  <a:tileRect/>
                </a:gradFill>
                <a:latin typeface="华文楷体" panose="02010600040101010101" pitchFamily="2" charset="-122"/>
                <a:ea typeface="华文楷体" panose="02010600040101010101" pitchFamily="2" charset="-122"/>
                <a:cs typeface="Times New Roman" pitchFamily="18" charset="0"/>
              </a:rPr>
              <a:t>纳什均衡的本质：不后悔</a:t>
            </a:r>
            <a:endParaRPr lang="en-US" altLang="zh-CN" b="1" dirty="0">
              <a:gradFill flip="none" rotWithShape="1">
                <a:gsLst>
                  <a:gs pos="0">
                    <a:schemeClr val="tx1">
                      <a:shade val="30000"/>
                      <a:satMod val="115000"/>
                    </a:schemeClr>
                  </a:gs>
                  <a:gs pos="50000">
                    <a:schemeClr val="tx1">
                      <a:shade val="67500"/>
                      <a:satMod val="115000"/>
                    </a:schemeClr>
                  </a:gs>
                  <a:gs pos="100000">
                    <a:schemeClr val="tx1">
                      <a:shade val="100000"/>
                      <a:satMod val="115000"/>
                    </a:schemeClr>
                  </a:gs>
                </a:gsLst>
                <a:lin ang="16200000" scaled="1"/>
                <a:tileRect/>
              </a:gradFill>
              <a:latin typeface="华文楷体" panose="02010600040101010101" pitchFamily="2" charset="-122"/>
              <a:ea typeface="华文楷体" panose="02010600040101010101" pitchFamily="2" charset="-122"/>
              <a:cs typeface="Times New Roman" pitchFamily="18" charset="0"/>
            </a:endParaRPr>
          </a:p>
        </p:txBody>
      </p:sp>
      <p:pic>
        <p:nvPicPr>
          <p:cNvPr id="19" name="图片 18">
            <a:extLst>
              <a:ext uri="{FF2B5EF4-FFF2-40B4-BE49-F238E27FC236}">
                <a16:creationId xmlns:a16="http://schemas.microsoft.com/office/drawing/2014/main" id="{B728F0C7-5202-4D52-9920-6760E1082401}"/>
              </a:ext>
            </a:extLst>
          </p:cNvPr>
          <p:cNvPicPr>
            <a:picLocks noChangeAspect="1"/>
          </p:cNvPicPr>
          <p:nvPr/>
        </p:nvPicPr>
        <p:blipFill>
          <a:blip r:embed="rId4"/>
          <a:stretch>
            <a:fillRect/>
          </a:stretch>
        </p:blipFill>
        <p:spPr>
          <a:xfrm>
            <a:off x="9295383" y="2954222"/>
            <a:ext cx="2177546" cy="2183314"/>
          </a:xfrm>
          <a:prstGeom prst="rect">
            <a:avLst/>
          </a:prstGeom>
        </p:spPr>
      </p:pic>
    </p:spTree>
    <p:extLst>
      <p:ext uri="{BB962C8B-B14F-4D97-AF65-F5344CB8AC3E}">
        <p14:creationId xmlns:p14="http://schemas.microsoft.com/office/powerpoint/2010/main" val="3362279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88C804C6-2A63-6E69-D632-D57DDEBC0AFF}"/>
              </a:ext>
            </a:extLst>
          </p:cNvPr>
          <p:cNvGraphicFramePr>
            <a:graphicFrameLocks noGrp="1"/>
          </p:cNvGraphicFramePr>
          <p:nvPr>
            <p:extLst>
              <p:ext uri="{D42A27DB-BD31-4B8C-83A1-F6EECF244321}">
                <p14:modId xmlns:p14="http://schemas.microsoft.com/office/powerpoint/2010/main" val="2181316033"/>
              </p:ext>
            </p:extLst>
          </p:nvPr>
        </p:nvGraphicFramePr>
        <p:xfrm>
          <a:off x="396551" y="2856737"/>
          <a:ext cx="4650796" cy="1953280"/>
        </p:xfrm>
        <a:graphic>
          <a:graphicData uri="http://schemas.openxmlformats.org/drawingml/2006/table">
            <a:tbl>
              <a:tblPr firstRow="1" bandRow="1">
                <a:tableStyleId>{5940675A-B579-460E-94D1-54222C63F5DA}</a:tableStyleId>
              </a:tblPr>
              <a:tblGrid>
                <a:gridCol w="1481069">
                  <a:extLst>
                    <a:ext uri="{9D8B030D-6E8A-4147-A177-3AD203B41FA5}">
                      <a16:colId xmlns:a16="http://schemas.microsoft.com/office/drawing/2014/main" val="1101629448"/>
                    </a:ext>
                  </a:extLst>
                </a:gridCol>
                <a:gridCol w="1596980">
                  <a:extLst>
                    <a:ext uri="{9D8B030D-6E8A-4147-A177-3AD203B41FA5}">
                      <a16:colId xmlns:a16="http://schemas.microsoft.com/office/drawing/2014/main" val="3005556984"/>
                    </a:ext>
                  </a:extLst>
                </a:gridCol>
                <a:gridCol w="1572747">
                  <a:extLst>
                    <a:ext uri="{9D8B030D-6E8A-4147-A177-3AD203B41FA5}">
                      <a16:colId xmlns:a16="http://schemas.microsoft.com/office/drawing/2014/main" val="513799757"/>
                    </a:ext>
                  </a:extLst>
                </a:gridCol>
              </a:tblGrid>
              <a:tr h="652800">
                <a:tc>
                  <a:txBody>
                    <a:bodyPr/>
                    <a:lstStyle/>
                    <a:p>
                      <a:pPr algn="ctr"/>
                      <a:endParaRPr lang="zh-CN" altLang="en-US" sz="1700" b="1" dirty="0">
                        <a:latin typeface="华文楷体" panose="02010600040101010101" pitchFamily="2" charset="-122"/>
                        <a:ea typeface="华文楷体" panose="02010600040101010101" pitchFamily="2" charset="-122"/>
                        <a:cs typeface="Times New Roman" panose="02020603050405020304" pitchFamily="18" charset="0"/>
                      </a:endParaRP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乙沉默（合作）</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乙认罪（背叛）</a:t>
                      </a:r>
                    </a:p>
                  </a:txBody>
                  <a:tcPr marT="60960" marB="60960" anchor="ctr"/>
                </a:tc>
                <a:extLst>
                  <a:ext uri="{0D108BD9-81ED-4DB2-BD59-A6C34878D82A}">
                    <a16:rowId xmlns:a16="http://schemas.microsoft.com/office/drawing/2014/main" val="3358440443"/>
                  </a:ext>
                </a:extLst>
              </a:tr>
              <a:tr h="650240">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甲沉默（合作）</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二人各</a:t>
                      </a:r>
                      <a:endParaRPr lang="en-US" altLang="zh-CN" sz="17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服刑半年</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乙被释放，</a:t>
                      </a:r>
                      <a:endParaRPr lang="en-US" altLang="zh-CN" sz="17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甲服刑</a:t>
                      </a:r>
                      <a:r>
                        <a:rPr lang="en-US" altLang="zh-CN" sz="1700" b="1" dirty="0">
                          <a:latin typeface="华文楷体" panose="02010600040101010101" pitchFamily="2" charset="-122"/>
                          <a:ea typeface="华文楷体" panose="02010600040101010101" pitchFamily="2" charset="-122"/>
                          <a:cs typeface="Times New Roman" panose="02020603050405020304" pitchFamily="18" charset="0"/>
                        </a:rPr>
                        <a:t>10</a:t>
                      </a: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年</a:t>
                      </a:r>
                    </a:p>
                  </a:txBody>
                  <a:tcPr marT="60960" marB="60960" anchor="ctr"/>
                </a:tc>
                <a:extLst>
                  <a:ext uri="{0D108BD9-81ED-4DB2-BD59-A6C34878D82A}">
                    <a16:rowId xmlns:a16="http://schemas.microsoft.com/office/drawing/2014/main" val="196029410"/>
                  </a:ext>
                </a:extLst>
              </a:tr>
              <a:tr h="650240">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甲认罪（背叛）</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甲被释放，</a:t>
                      </a:r>
                      <a:endParaRPr lang="en-US" altLang="zh-CN" sz="17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乙服刑</a:t>
                      </a:r>
                      <a:r>
                        <a:rPr lang="en-US" altLang="zh-CN" sz="1700" b="1" dirty="0">
                          <a:latin typeface="华文楷体" panose="02010600040101010101" pitchFamily="2" charset="-122"/>
                          <a:ea typeface="华文楷体" panose="02010600040101010101" pitchFamily="2" charset="-122"/>
                          <a:cs typeface="Times New Roman" panose="02020603050405020304" pitchFamily="18" charset="0"/>
                        </a:rPr>
                        <a:t>10</a:t>
                      </a: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年</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二人各</a:t>
                      </a:r>
                      <a:endParaRPr lang="en-US" altLang="zh-CN" sz="17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服刑</a:t>
                      </a:r>
                      <a:r>
                        <a:rPr lang="en-US" altLang="zh-CN" sz="1700" b="1" dirty="0">
                          <a:latin typeface="华文楷体" panose="02010600040101010101" pitchFamily="2" charset="-122"/>
                          <a:ea typeface="华文楷体" panose="02010600040101010101" pitchFamily="2" charset="-122"/>
                          <a:cs typeface="Times New Roman" panose="02020603050405020304" pitchFamily="18" charset="0"/>
                        </a:rPr>
                        <a:t>5</a:t>
                      </a: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年</a:t>
                      </a:r>
                    </a:p>
                  </a:txBody>
                  <a:tcPr marT="60960" marB="60960" anchor="ctr"/>
                </a:tc>
                <a:extLst>
                  <a:ext uri="{0D108BD9-81ED-4DB2-BD59-A6C34878D82A}">
                    <a16:rowId xmlns:a16="http://schemas.microsoft.com/office/drawing/2014/main" val="2921546216"/>
                  </a:ext>
                </a:extLst>
              </a:tr>
            </a:tbl>
          </a:graphicData>
        </a:graphic>
      </p:graphicFrame>
      <p:grpSp>
        <p:nvGrpSpPr>
          <p:cNvPr id="3" name="组合 2">
            <a:extLst>
              <a:ext uri="{FF2B5EF4-FFF2-40B4-BE49-F238E27FC236}">
                <a16:creationId xmlns:a16="http://schemas.microsoft.com/office/drawing/2014/main" id="{06CAD267-9867-791D-DC89-29053B23AF09}"/>
              </a:ext>
            </a:extLst>
          </p:cNvPr>
          <p:cNvGrpSpPr/>
          <p:nvPr/>
        </p:nvGrpSpPr>
        <p:grpSpPr>
          <a:xfrm>
            <a:off x="2583380" y="726948"/>
            <a:ext cx="7464387" cy="497934"/>
            <a:chOff x="4099943" y="2819853"/>
            <a:chExt cx="2570275" cy="497934"/>
          </a:xfrm>
        </p:grpSpPr>
        <p:sp>
          <p:nvSpPr>
            <p:cNvPr id="4" name="平行四边形 3">
              <a:extLst>
                <a:ext uri="{FF2B5EF4-FFF2-40B4-BE49-F238E27FC236}">
                  <a16:creationId xmlns:a16="http://schemas.microsoft.com/office/drawing/2014/main" id="{18608B0C-AEF5-D279-BC00-4A44443E2B40}"/>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a:extLst>
                <a:ext uri="{FF2B5EF4-FFF2-40B4-BE49-F238E27FC236}">
                  <a16:creationId xmlns:a16="http://schemas.microsoft.com/office/drawing/2014/main" id="{D0C7074C-58D5-A5B7-9B47-BB64DECEAA5E}"/>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a:extLst>
                <a:ext uri="{FF2B5EF4-FFF2-40B4-BE49-F238E27FC236}">
                  <a16:creationId xmlns:a16="http://schemas.microsoft.com/office/drawing/2014/main" id="{08B67872-5D6F-E740-3640-47DC096352D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博弈论：囚徒困境中改变什么设置，</a:t>
              </a:r>
              <a:r>
                <a:rPr lang="zh-CN" altLang="en-US" sz="20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纳什均衡达到最优解？</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cxnSp>
        <p:nvCxnSpPr>
          <p:cNvPr id="8" name="直接连接符 7">
            <a:extLst>
              <a:ext uri="{FF2B5EF4-FFF2-40B4-BE49-F238E27FC236}">
                <a16:creationId xmlns:a16="http://schemas.microsoft.com/office/drawing/2014/main" id="{56D4094C-4082-2F13-15BB-7C3EE8AC4339}"/>
              </a:ext>
            </a:extLst>
          </p:cNvPr>
          <p:cNvCxnSpPr>
            <a:cxnSpLocks/>
          </p:cNvCxnSpPr>
          <p:nvPr/>
        </p:nvCxnSpPr>
        <p:spPr>
          <a:xfrm>
            <a:off x="2305050" y="3615790"/>
            <a:ext cx="781050" cy="428625"/>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sp>
        <p:nvSpPr>
          <p:cNvPr id="11" name="文本框 10">
            <a:extLst>
              <a:ext uri="{FF2B5EF4-FFF2-40B4-BE49-F238E27FC236}">
                <a16:creationId xmlns:a16="http://schemas.microsoft.com/office/drawing/2014/main" id="{FC14E46F-52A8-5914-DAE7-49E49ADBAFCF}"/>
              </a:ext>
            </a:extLst>
          </p:cNvPr>
          <p:cNvSpPr txBox="1"/>
          <p:nvPr/>
        </p:nvSpPr>
        <p:spPr>
          <a:xfrm>
            <a:off x="2069823" y="1832148"/>
            <a:ext cx="2413554" cy="646331"/>
          </a:xfrm>
          <a:prstGeom prst="rect">
            <a:avLst/>
          </a:prstGeom>
          <a:noFill/>
        </p:spPr>
        <p:txBody>
          <a:bodyPr wrap="square">
            <a:spAutoFit/>
          </a:bodyPr>
          <a:lstStyle/>
          <a:p>
            <a:pPr algn="ctr"/>
            <a:r>
              <a:rPr lang="zh-CN" altLang="en-US" sz="1800" b="1" dirty="0">
                <a:latin typeface="华文楷体" panose="02010600040101010101" pitchFamily="2" charset="-122"/>
                <a:ea typeface="华文楷体" panose="02010600040101010101" pitchFamily="2" charset="-122"/>
                <a:cs typeface="Times New Roman" panose="02020603050405020304" pitchFamily="18" charset="0"/>
              </a:rPr>
              <a:t>二人各</a:t>
            </a:r>
            <a:endParaRPr lang="en-US" altLang="zh-CN" sz="18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800" b="1" dirty="0">
                <a:latin typeface="华文楷体" panose="02010600040101010101" pitchFamily="2" charset="-122"/>
                <a:ea typeface="华文楷体" panose="02010600040101010101" pitchFamily="2" charset="-122"/>
                <a:cs typeface="Times New Roman" panose="02020603050405020304" pitchFamily="18" charset="0"/>
              </a:rPr>
              <a:t>服刑</a:t>
            </a:r>
            <a:r>
              <a:rPr lang="en-US" altLang="zh-CN" sz="1800" b="1" dirty="0">
                <a:latin typeface="华文楷体" panose="02010600040101010101" pitchFamily="2" charset="-122"/>
                <a:ea typeface="华文楷体" panose="02010600040101010101" pitchFamily="2" charset="-122"/>
                <a:cs typeface="Times New Roman" panose="02020603050405020304" pitchFamily="18" charset="0"/>
              </a:rPr>
              <a:t>50</a:t>
            </a:r>
            <a:r>
              <a:rPr lang="zh-CN" altLang="en-US" sz="1800" b="1" dirty="0">
                <a:latin typeface="华文楷体" panose="02010600040101010101" pitchFamily="2" charset="-122"/>
                <a:ea typeface="华文楷体" panose="02010600040101010101" pitchFamily="2" charset="-122"/>
                <a:cs typeface="Times New Roman" panose="02020603050405020304" pitchFamily="18" charset="0"/>
              </a:rPr>
              <a:t>年</a:t>
            </a:r>
          </a:p>
        </p:txBody>
      </p:sp>
      <p:cxnSp>
        <p:nvCxnSpPr>
          <p:cNvPr id="15" name="连接符: 曲线 14">
            <a:extLst>
              <a:ext uri="{FF2B5EF4-FFF2-40B4-BE49-F238E27FC236}">
                <a16:creationId xmlns:a16="http://schemas.microsoft.com/office/drawing/2014/main" id="{B15C1CE2-752C-B7F5-2CCD-FC3BE497734E}"/>
              </a:ext>
            </a:extLst>
          </p:cNvPr>
          <p:cNvCxnSpPr>
            <a:cxnSpLocks/>
            <a:endCxn id="11" idx="2"/>
          </p:cNvCxnSpPr>
          <p:nvPr/>
        </p:nvCxnSpPr>
        <p:spPr>
          <a:xfrm rot="5400000" flipH="1" flipV="1">
            <a:off x="2398383" y="2842349"/>
            <a:ext cx="1242086" cy="514347"/>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8C219825-1A81-3ADC-181A-829792BE49FD}"/>
              </a:ext>
            </a:extLst>
          </p:cNvPr>
          <p:cNvSpPr txBox="1"/>
          <p:nvPr/>
        </p:nvSpPr>
        <p:spPr>
          <a:xfrm>
            <a:off x="2921974" y="5025852"/>
            <a:ext cx="6096000" cy="737831"/>
          </a:xfrm>
          <a:prstGeom prst="rect">
            <a:avLst/>
          </a:prstGeom>
          <a:noFill/>
        </p:spPr>
        <p:txBody>
          <a:bodyPr wrap="square">
            <a:spAutoFit/>
          </a:bodyPr>
          <a:lstStyle/>
          <a:p>
            <a:pPr algn="just">
              <a:lnSpc>
                <a:spcPts val="2600"/>
              </a:lnSpc>
            </a:pPr>
            <a:r>
              <a:rPr lang="zh-CN" altLang="en-US" sz="1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当博弈的 “个体最优选择” 和 “全局最优选择” 一致时，纳什均衡就是最优解。</a:t>
            </a:r>
            <a:endParaRPr lang="zh-CN" altLang="zh-CN" sz="1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21" name="表格 20">
            <a:extLst>
              <a:ext uri="{FF2B5EF4-FFF2-40B4-BE49-F238E27FC236}">
                <a16:creationId xmlns:a16="http://schemas.microsoft.com/office/drawing/2014/main" id="{334B84EF-3C1F-3087-4830-AF8C82A35A03}"/>
              </a:ext>
            </a:extLst>
          </p:cNvPr>
          <p:cNvGraphicFramePr>
            <a:graphicFrameLocks noGrp="1"/>
          </p:cNvGraphicFramePr>
          <p:nvPr>
            <p:extLst>
              <p:ext uri="{D42A27DB-BD31-4B8C-83A1-F6EECF244321}">
                <p14:modId xmlns:p14="http://schemas.microsoft.com/office/powerpoint/2010/main" val="3167608976"/>
              </p:ext>
            </p:extLst>
          </p:nvPr>
        </p:nvGraphicFramePr>
        <p:xfrm>
          <a:off x="5882951" y="2856737"/>
          <a:ext cx="4650796" cy="1953280"/>
        </p:xfrm>
        <a:graphic>
          <a:graphicData uri="http://schemas.openxmlformats.org/drawingml/2006/table">
            <a:tbl>
              <a:tblPr firstRow="1" bandRow="1">
                <a:tableStyleId>{5940675A-B579-460E-94D1-54222C63F5DA}</a:tableStyleId>
              </a:tblPr>
              <a:tblGrid>
                <a:gridCol w="1481069">
                  <a:extLst>
                    <a:ext uri="{9D8B030D-6E8A-4147-A177-3AD203B41FA5}">
                      <a16:colId xmlns:a16="http://schemas.microsoft.com/office/drawing/2014/main" val="1101629448"/>
                    </a:ext>
                  </a:extLst>
                </a:gridCol>
                <a:gridCol w="1596980">
                  <a:extLst>
                    <a:ext uri="{9D8B030D-6E8A-4147-A177-3AD203B41FA5}">
                      <a16:colId xmlns:a16="http://schemas.microsoft.com/office/drawing/2014/main" val="3005556984"/>
                    </a:ext>
                  </a:extLst>
                </a:gridCol>
                <a:gridCol w="1572747">
                  <a:extLst>
                    <a:ext uri="{9D8B030D-6E8A-4147-A177-3AD203B41FA5}">
                      <a16:colId xmlns:a16="http://schemas.microsoft.com/office/drawing/2014/main" val="513799757"/>
                    </a:ext>
                  </a:extLst>
                </a:gridCol>
              </a:tblGrid>
              <a:tr h="652800">
                <a:tc>
                  <a:txBody>
                    <a:bodyPr/>
                    <a:lstStyle/>
                    <a:p>
                      <a:pPr algn="ctr"/>
                      <a:endParaRPr lang="zh-CN" altLang="en-US" sz="1700" b="1" dirty="0">
                        <a:latin typeface="华文楷体" panose="02010600040101010101" pitchFamily="2" charset="-122"/>
                        <a:ea typeface="华文楷体" panose="02010600040101010101" pitchFamily="2" charset="-122"/>
                        <a:cs typeface="Times New Roman" panose="02020603050405020304" pitchFamily="18" charset="0"/>
                      </a:endParaRP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乙沉默（合作）</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乙认罪（背叛）</a:t>
                      </a:r>
                    </a:p>
                  </a:txBody>
                  <a:tcPr marT="60960" marB="60960" anchor="ctr"/>
                </a:tc>
                <a:extLst>
                  <a:ext uri="{0D108BD9-81ED-4DB2-BD59-A6C34878D82A}">
                    <a16:rowId xmlns:a16="http://schemas.microsoft.com/office/drawing/2014/main" val="3358440443"/>
                  </a:ext>
                </a:extLst>
              </a:tr>
              <a:tr h="650240">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甲沉默（合作）</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二人各</a:t>
                      </a:r>
                      <a:endParaRPr lang="en-US" altLang="zh-CN" sz="17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服刑半年</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乙被释放，</a:t>
                      </a:r>
                      <a:endParaRPr lang="en-US" altLang="zh-CN" sz="17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甲服刑</a:t>
                      </a:r>
                      <a:r>
                        <a:rPr lang="en-US" altLang="zh-CN" sz="1700" b="1" dirty="0">
                          <a:latin typeface="华文楷体" panose="02010600040101010101" pitchFamily="2" charset="-122"/>
                          <a:ea typeface="华文楷体" panose="02010600040101010101" pitchFamily="2" charset="-122"/>
                          <a:cs typeface="Times New Roman" panose="02020603050405020304" pitchFamily="18" charset="0"/>
                        </a:rPr>
                        <a:t>10</a:t>
                      </a: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年</a:t>
                      </a:r>
                    </a:p>
                  </a:txBody>
                  <a:tcPr marT="60960" marB="60960" anchor="ctr"/>
                </a:tc>
                <a:extLst>
                  <a:ext uri="{0D108BD9-81ED-4DB2-BD59-A6C34878D82A}">
                    <a16:rowId xmlns:a16="http://schemas.microsoft.com/office/drawing/2014/main" val="196029410"/>
                  </a:ext>
                </a:extLst>
              </a:tr>
              <a:tr h="650240">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甲认罪（背叛）</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甲被释放，</a:t>
                      </a:r>
                      <a:endParaRPr lang="en-US" altLang="zh-CN" sz="17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乙服刑</a:t>
                      </a:r>
                      <a:r>
                        <a:rPr lang="en-US" altLang="zh-CN" sz="1700" b="1" dirty="0">
                          <a:latin typeface="华文楷体" panose="02010600040101010101" pitchFamily="2" charset="-122"/>
                          <a:ea typeface="华文楷体" panose="02010600040101010101" pitchFamily="2" charset="-122"/>
                          <a:cs typeface="Times New Roman" panose="02020603050405020304" pitchFamily="18" charset="0"/>
                        </a:rPr>
                        <a:t>10</a:t>
                      </a: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年</a:t>
                      </a:r>
                    </a:p>
                  </a:txBody>
                  <a:tcPr marT="60960" marB="60960" anchor="ctr"/>
                </a:tc>
                <a:tc>
                  <a:txBody>
                    <a:bodyPr/>
                    <a:lstStyle/>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二人各</a:t>
                      </a:r>
                      <a:endParaRPr lang="en-US" altLang="zh-CN" sz="17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服刑</a:t>
                      </a:r>
                      <a:r>
                        <a:rPr lang="en-US" altLang="zh-CN" sz="1700" b="1" dirty="0">
                          <a:latin typeface="华文楷体" panose="02010600040101010101" pitchFamily="2" charset="-122"/>
                          <a:ea typeface="华文楷体" panose="02010600040101010101" pitchFamily="2" charset="-122"/>
                          <a:cs typeface="Times New Roman" panose="02020603050405020304" pitchFamily="18" charset="0"/>
                        </a:rPr>
                        <a:t>5</a:t>
                      </a:r>
                      <a:r>
                        <a:rPr lang="zh-CN" altLang="en-US" sz="1700" b="1" dirty="0">
                          <a:latin typeface="华文楷体" panose="02010600040101010101" pitchFamily="2" charset="-122"/>
                          <a:ea typeface="华文楷体" panose="02010600040101010101" pitchFamily="2" charset="-122"/>
                          <a:cs typeface="Times New Roman" panose="02020603050405020304" pitchFamily="18" charset="0"/>
                        </a:rPr>
                        <a:t>年</a:t>
                      </a:r>
                    </a:p>
                  </a:txBody>
                  <a:tcPr marT="60960" marB="60960" anchor="ctr"/>
                </a:tc>
                <a:extLst>
                  <a:ext uri="{0D108BD9-81ED-4DB2-BD59-A6C34878D82A}">
                    <a16:rowId xmlns:a16="http://schemas.microsoft.com/office/drawing/2014/main" val="2921546216"/>
                  </a:ext>
                </a:extLst>
              </a:tr>
            </a:tbl>
          </a:graphicData>
        </a:graphic>
      </p:graphicFrame>
      <p:cxnSp>
        <p:nvCxnSpPr>
          <p:cNvPr id="22" name="直接连接符 21">
            <a:extLst>
              <a:ext uri="{FF2B5EF4-FFF2-40B4-BE49-F238E27FC236}">
                <a16:creationId xmlns:a16="http://schemas.microsoft.com/office/drawing/2014/main" id="{B5CB9B76-1666-CEEC-4F4C-3C1CE8A54B79}"/>
              </a:ext>
            </a:extLst>
          </p:cNvPr>
          <p:cNvCxnSpPr>
            <a:cxnSpLocks/>
          </p:cNvCxnSpPr>
          <p:nvPr/>
        </p:nvCxnSpPr>
        <p:spPr>
          <a:xfrm>
            <a:off x="9384254" y="4233188"/>
            <a:ext cx="781050" cy="428625"/>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sp>
        <p:nvSpPr>
          <p:cNvPr id="23" name="文本框 22">
            <a:extLst>
              <a:ext uri="{FF2B5EF4-FFF2-40B4-BE49-F238E27FC236}">
                <a16:creationId xmlns:a16="http://schemas.microsoft.com/office/drawing/2014/main" id="{13F8C182-A7F1-93AC-E56D-1C4E7CABD00F}"/>
              </a:ext>
            </a:extLst>
          </p:cNvPr>
          <p:cNvSpPr txBox="1"/>
          <p:nvPr/>
        </p:nvSpPr>
        <p:spPr>
          <a:xfrm>
            <a:off x="9511192" y="1994571"/>
            <a:ext cx="2413554" cy="646331"/>
          </a:xfrm>
          <a:prstGeom prst="rect">
            <a:avLst/>
          </a:prstGeom>
          <a:noFill/>
        </p:spPr>
        <p:txBody>
          <a:bodyPr wrap="square">
            <a:spAutoFit/>
          </a:bodyPr>
          <a:lstStyle/>
          <a:p>
            <a:pPr algn="ctr"/>
            <a:r>
              <a:rPr lang="zh-CN" altLang="en-US" sz="1800" b="1" dirty="0">
                <a:latin typeface="华文楷体" panose="02010600040101010101" pitchFamily="2" charset="-122"/>
                <a:ea typeface="华文楷体" panose="02010600040101010101" pitchFamily="2" charset="-122"/>
                <a:cs typeface="Times New Roman" panose="02020603050405020304" pitchFamily="18" charset="0"/>
              </a:rPr>
              <a:t>二人各</a:t>
            </a:r>
            <a:endParaRPr lang="en-US" altLang="zh-CN" sz="1800" b="1" dirty="0">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800" b="1" dirty="0">
                <a:latin typeface="华文楷体" panose="02010600040101010101" pitchFamily="2" charset="-122"/>
                <a:ea typeface="华文楷体" panose="02010600040101010101" pitchFamily="2" charset="-122"/>
                <a:cs typeface="Times New Roman" panose="02020603050405020304" pitchFamily="18" charset="0"/>
              </a:rPr>
              <a:t>服刑</a:t>
            </a:r>
            <a:r>
              <a:rPr lang="en-US" altLang="zh-CN" sz="1800" b="1" dirty="0">
                <a:latin typeface="华文楷体" panose="02010600040101010101" pitchFamily="2" charset="-122"/>
                <a:ea typeface="华文楷体" panose="02010600040101010101" pitchFamily="2" charset="-122"/>
                <a:cs typeface="Times New Roman" panose="02020603050405020304" pitchFamily="18" charset="0"/>
              </a:rPr>
              <a:t>50</a:t>
            </a:r>
            <a:r>
              <a:rPr lang="zh-CN" altLang="en-US" sz="1800" b="1" dirty="0">
                <a:latin typeface="华文楷体" panose="02010600040101010101" pitchFamily="2" charset="-122"/>
                <a:ea typeface="华文楷体" panose="02010600040101010101" pitchFamily="2" charset="-122"/>
                <a:cs typeface="Times New Roman" panose="02020603050405020304" pitchFamily="18" charset="0"/>
              </a:rPr>
              <a:t>年</a:t>
            </a:r>
          </a:p>
        </p:txBody>
      </p:sp>
      <p:cxnSp>
        <p:nvCxnSpPr>
          <p:cNvPr id="24" name="连接符: 曲线 23">
            <a:extLst>
              <a:ext uri="{FF2B5EF4-FFF2-40B4-BE49-F238E27FC236}">
                <a16:creationId xmlns:a16="http://schemas.microsoft.com/office/drawing/2014/main" id="{5DFEC0CF-4346-917F-0CD8-0F8F7BBD45A7}"/>
              </a:ext>
            </a:extLst>
          </p:cNvPr>
          <p:cNvCxnSpPr>
            <a:cxnSpLocks/>
            <a:endCxn id="23" idx="2"/>
          </p:cNvCxnSpPr>
          <p:nvPr/>
        </p:nvCxnSpPr>
        <p:spPr>
          <a:xfrm rot="5400000" flipH="1" flipV="1">
            <a:off x="9594393" y="3334125"/>
            <a:ext cx="1816798" cy="430353"/>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D005DA95-FCE9-172D-8C23-F46BC36D4F89}"/>
              </a:ext>
            </a:extLst>
          </p:cNvPr>
          <p:cNvSpPr txBox="1"/>
          <p:nvPr/>
        </p:nvSpPr>
        <p:spPr>
          <a:xfrm>
            <a:off x="5236050" y="3705226"/>
            <a:ext cx="495302" cy="369332"/>
          </a:xfrm>
          <a:prstGeom prst="rect">
            <a:avLst/>
          </a:prstGeom>
          <a:noFill/>
        </p:spPr>
        <p:txBody>
          <a:bodyPr wrap="square">
            <a:spAutoFit/>
          </a:bodyPr>
          <a:lstStyle/>
          <a:p>
            <a:r>
              <a:rPr lang="en-US" altLang="zh-CN" dirty="0"/>
              <a:t>OR</a:t>
            </a:r>
            <a:endParaRPr lang="zh-CN" altLang="en-US" dirty="0"/>
          </a:p>
        </p:txBody>
      </p:sp>
      <p:sp>
        <p:nvSpPr>
          <p:cNvPr id="31" name="文本框 30">
            <a:extLst>
              <a:ext uri="{FF2B5EF4-FFF2-40B4-BE49-F238E27FC236}">
                <a16:creationId xmlns:a16="http://schemas.microsoft.com/office/drawing/2014/main" id="{C1064BB8-9EB0-9C3D-FB00-7DA1000296E9}"/>
              </a:ext>
            </a:extLst>
          </p:cNvPr>
          <p:cNvSpPr txBox="1"/>
          <p:nvPr/>
        </p:nvSpPr>
        <p:spPr>
          <a:xfrm>
            <a:off x="4550749" y="4202120"/>
            <a:ext cx="914400" cy="646331"/>
          </a:xfrm>
          <a:prstGeom prst="rect">
            <a:avLst/>
          </a:prstGeom>
          <a:noFill/>
        </p:spPr>
        <p:txBody>
          <a:bodyPr wrap="square" rtlCol="0">
            <a:spAutoFit/>
          </a:bodyPr>
          <a:lstStyle/>
          <a:p>
            <a:r>
              <a:rPr lang="zh-CN" altLang="en-US" sz="3600" dirty="0">
                <a:solidFill>
                  <a:srgbClr val="FF0000"/>
                </a:solidFill>
                <a:sym typeface="Wingdings 2" panose="05020102010507070707" pitchFamily="18" charset="2"/>
              </a:rPr>
              <a:t></a:t>
            </a:r>
            <a:endParaRPr lang="zh-CN" altLang="en-US" sz="3600" dirty="0">
              <a:solidFill>
                <a:srgbClr val="FF0000"/>
              </a:solidFill>
            </a:endParaRPr>
          </a:p>
        </p:txBody>
      </p:sp>
      <p:sp>
        <p:nvSpPr>
          <p:cNvPr id="33" name="文本框 32">
            <a:extLst>
              <a:ext uri="{FF2B5EF4-FFF2-40B4-BE49-F238E27FC236}">
                <a16:creationId xmlns:a16="http://schemas.microsoft.com/office/drawing/2014/main" id="{470312F5-3EFF-C2E2-C553-6F76AD510FBB}"/>
              </a:ext>
            </a:extLst>
          </p:cNvPr>
          <p:cNvSpPr txBox="1"/>
          <p:nvPr/>
        </p:nvSpPr>
        <p:spPr>
          <a:xfrm>
            <a:off x="8498213" y="3498156"/>
            <a:ext cx="914400" cy="646331"/>
          </a:xfrm>
          <a:prstGeom prst="rect">
            <a:avLst/>
          </a:prstGeom>
          <a:noFill/>
        </p:spPr>
        <p:txBody>
          <a:bodyPr wrap="square" rtlCol="0">
            <a:spAutoFit/>
          </a:bodyPr>
          <a:lstStyle/>
          <a:p>
            <a:r>
              <a:rPr lang="zh-CN" altLang="en-US" sz="3600" dirty="0">
                <a:solidFill>
                  <a:srgbClr val="FF0000"/>
                </a:solidFill>
                <a:sym typeface="Wingdings 2" panose="05020102010507070707" pitchFamily="18" charset="2"/>
              </a:rPr>
              <a:t></a:t>
            </a:r>
            <a:endParaRPr lang="zh-CN" altLang="en-US" sz="3600" dirty="0">
              <a:solidFill>
                <a:srgbClr val="FF0000"/>
              </a:solidFill>
            </a:endParaRPr>
          </a:p>
        </p:txBody>
      </p:sp>
    </p:spTree>
    <p:extLst>
      <p:ext uri="{BB962C8B-B14F-4D97-AF65-F5344CB8AC3E}">
        <p14:creationId xmlns:p14="http://schemas.microsoft.com/office/powerpoint/2010/main" val="2804386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3" grpId="0"/>
      <p:bldP spid="31" grpId="0"/>
      <p:bldP spid="3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博弈论：</a:t>
              </a:r>
              <a:r>
                <a:rPr lang="zh-CN" altLang="en-US" sz="20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混合策略下纳什均衡的例子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一、博弈论</a:t>
            </a:r>
            <a:r>
              <a:rPr lang="zh-CN" altLang="en-US" sz="1600">
                <a:solidFill>
                  <a:srgbClr val="000000"/>
                </a:solidFill>
                <a:latin typeface="Times New Roman" panose="02020603050405020304" pitchFamily="18" charset="0"/>
                <a:ea typeface="楷体_GB2312"/>
              </a:rPr>
              <a:t>相关概念</a:t>
            </a:r>
            <a:endParaRPr lang="zh-CN" altLang="en-US" sz="1600" dirty="0">
              <a:solidFill>
                <a:srgbClr val="000000"/>
              </a:solidFill>
              <a:latin typeface="Times New Roman" panose="02020603050405020304" pitchFamily="18" charset="0"/>
            </a:endParaRPr>
          </a:p>
        </p:txBody>
      </p:sp>
      <p:sp>
        <p:nvSpPr>
          <p:cNvPr id="10" name="内容占位符 4">
            <a:extLst>
              <a:ext uri="{FF2B5EF4-FFF2-40B4-BE49-F238E27FC236}">
                <a16:creationId xmlns:a16="http://schemas.microsoft.com/office/drawing/2014/main" id="{8B2CF903-E574-461D-90E9-5FD402712BB7}"/>
              </a:ext>
            </a:extLst>
          </p:cNvPr>
          <p:cNvSpPr txBox="1">
            <a:spLocks/>
          </p:cNvSpPr>
          <p:nvPr/>
        </p:nvSpPr>
        <p:spPr>
          <a:xfrm>
            <a:off x="7061944" y="1432952"/>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altLang="zh-CN" sz="1600" dirty="0"/>
          </a:p>
          <a:p>
            <a:pPr marL="0" indent="0">
              <a:buNone/>
            </a:pPr>
            <a:endParaRPr lang="zh-CN" altLang="en-US" sz="1600" dirty="0"/>
          </a:p>
        </p:txBody>
      </p:sp>
      <p:sp>
        <p:nvSpPr>
          <p:cNvPr id="14" name="内容占位符 4">
            <a:extLst>
              <a:ext uri="{FF2B5EF4-FFF2-40B4-BE49-F238E27FC236}">
                <a16:creationId xmlns:a16="http://schemas.microsoft.com/office/drawing/2014/main" id="{911E0F9A-5BD7-4E7E-8184-21FBD30C74C2}"/>
              </a:ext>
            </a:extLst>
          </p:cNvPr>
          <p:cNvSpPr txBox="1">
            <a:spLocks/>
          </p:cNvSpPr>
          <p:nvPr/>
        </p:nvSpPr>
        <p:spPr>
          <a:xfrm>
            <a:off x="5855382" y="1538844"/>
            <a:ext cx="388620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altLang="zh-CN" sz="1600" dirty="0"/>
          </a:p>
          <a:p>
            <a:pPr marL="0" indent="0">
              <a:buNone/>
            </a:pPr>
            <a:endParaRPr lang="zh-CN" altLang="en-US" sz="1600" dirty="0"/>
          </a:p>
        </p:txBody>
      </p:sp>
      <p:sp>
        <p:nvSpPr>
          <p:cNvPr id="20" name="内容占位符 4">
            <a:extLst>
              <a:ext uri="{FF2B5EF4-FFF2-40B4-BE49-F238E27FC236}">
                <a16:creationId xmlns:a16="http://schemas.microsoft.com/office/drawing/2014/main" id="{342FDB74-99E7-4920-B4E0-671BF89DA1F2}"/>
              </a:ext>
            </a:extLst>
          </p:cNvPr>
          <p:cNvSpPr txBox="1">
            <a:spLocks/>
          </p:cNvSpPr>
          <p:nvPr/>
        </p:nvSpPr>
        <p:spPr>
          <a:xfrm>
            <a:off x="6566165" y="1538844"/>
            <a:ext cx="5611417" cy="487714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zh-CN" altLang="en-US" sz="18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参与者：</a:t>
            </a:r>
            <a:endParaRPr lang="en-US" altLang="zh-CN" sz="18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50000"/>
              </a:lnSpc>
            </a:pP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雇员、雇主</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pPr>
            <a:r>
              <a:rPr lang="zh-CN" altLang="en-US" sz="18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规则：</a:t>
            </a:r>
            <a:endParaRPr lang="en-US" altLang="zh-CN" sz="18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50000"/>
              </a:lnSpc>
            </a:pP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雇员与雇主两人分别决策，事先无法得知对方的选择</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pPr>
            <a:r>
              <a:rPr lang="zh-CN" altLang="en-US" sz="18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混合策略集：</a:t>
            </a:r>
            <a:endParaRPr lang="en-US" altLang="zh-CN" sz="18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50000"/>
              </a:lnSpc>
            </a:pP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雇员：偷懒、不偷懒</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50000"/>
              </a:lnSpc>
            </a:pP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雇主：检查、不检查</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pPr>
            <a:r>
              <a:rPr lang="zh-CN" altLang="en-US" sz="18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局势及对应收益</a:t>
            </a:r>
            <a:endParaRPr lang="en-US" altLang="zh-CN" sz="18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50000"/>
              </a:lnSpc>
            </a:pP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雇主采取检查策略时雇员工作与偷懒对应的结果</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50000"/>
              </a:lnSpc>
            </a:pP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雇主采取不检查策略时雇员工作与偷懒对应的结果</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2" name="椭圆 21">
            <a:extLst>
              <a:ext uri="{FF2B5EF4-FFF2-40B4-BE49-F238E27FC236}">
                <a16:creationId xmlns:a16="http://schemas.microsoft.com/office/drawing/2014/main" id="{AE90D561-4FBF-44D3-BF17-9BC47BB72E56}"/>
              </a:ext>
            </a:extLst>
          </p:cNvPr>
          <p:cNvSpPr/>
          <p:nvPr/>
        </p:nvSpPr>
        <p:spPr>
          <a:xfrm>
            <a:off x="2170096" y="5284905"/>
            <a:ext cx="133685" cy="315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FB6C125A-2CDB-4AB5-9AC6-BDBDF97E6B91}"/>
              </a:ext>
            </a:extLst>
          </p:cNvPr>
          <p:cNvSpPr/>
          <p:nvPr/>
        </p:nvSpPr>
        <p:spPr>
          <a:xfrm>
            <a:off x="267204" y="5011945"/>
            <a:ext cx="6096000" cy="923330"/>
          </a:xfrm>
          <a:prstGeom prst="rect">
            <a:avLst/>
          </a:prstGeom>
        </p:spPr>
        <p:txBody>
          <a:bodyPr>
            <a:spAutoFit/>
          </a:bodyPr>
          <a:lstStyle/>
          <a:p>
            <a:r>
              <a:rPr lang="zh-CN" altLang="en-US" b="1"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求解问题：</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寻找雇主</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雇员两人博弈中所存在的稳定局势</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，即</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无论雇主以何种概率进行检查，雇员偷懒或不偷懒的收益都一样</a:t>
            </a:r>
            <a:endParaRPr lang="zh-CN" altLang="en-US" dirty="0"/>
          </a:p>
        </p:txBody>
      </p:sp>
      <p:grpSp>
        <p:nvGrpSpPr>
          <p:cNvPr id="11" name="组合 10">
            <a:extLst>
              <a:ext uri="{FF2B5EF4-FFF2-40B4-BE49-F238E27FC236}">
                <a16:creationId xmlns:a16="http://schemas.microsoft.com/office/drawing/2014/main" id="{5489A481-4BCE-4DBD-8B8C-4CAE2154F74E}"/>
              </a:ext>
            </a:extLst>
          </p:cNvPr>
          <p:cNvGrpSpPr/>
          <p:nvPr/>
        </p:nvGrpSpPr>
        <p:grpSpPr>
          <a:xfrm>
            <a:off x="365761" y="1514201"/>
            <a:ext cx="5671496" cy="2756212"/>
            <a:chOff x="365761" y="1514201"/>
            <a:chExt cx="5671496" cy="2756212"/>
          </a:xfrm>
        </p:grpSpPr>
        <mc:AlternateContent xmlns:mc="http://schemas.openxmlformats.org/markup-compatibility/2006" xmlns:a14="http://schemas.microsoft.com/office/drawing/2010/main">
          <mc:Choice Requires="a14">
            <p:sp>
              <p:nvSpPr>
                <p:cNvPr id="21" name="内容占位符 4">
                  <a:extLst>
                    <a:ext uri="{FF2B5EF4-FFF2-40B4-BE49-F238E27FC236}">
                      <a16:creationId xmlns:a16="http://schemas.microsoft.com/office/drawing/2014/main" id="{6453EC6E-312A-4333-9110-D1C5E14964B1}"/>
                    </a:ext>
                  </a:extLst>
                </p:cNvPr>
                <p:cNvSpPr txBox="1">
                  <a:spLocks/>
                </p:cNvSpPr>
                <p:nvPr/>
              </p:nvSpPr>
              <p:spPr>
                <a:xfrm>
                  <a:off x="365761" y="1514201"/>
                  <a:ext cx="5671496" cy="191479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lnSpc>
                      <a:spcPct val="150000"/>
                    </a:lnSpc>
                  </a:pP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例子：公司的雇主是否检查工作与雇员是否偷懒</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ct val="150000"/>
                    </a:lnSpc>
                  </a:pPr>
                  <a14:m>
                    <m:oMath xmlns:m="http://schemas.openxmlformats.org/officeDocument/2006/math">
                      <m:r>
                        <a:rPr lang="en-US" altLang="zh-CN" sz="1600" b="1" i="1" dirty="0" smtClean="0">
                          <a:latin typeface="Cambria Math" panose="02040503050406030204" pitchFamily="18" charset="0"/>
                        </a:rPr>
                        <m:t>𝑽</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是雇员的贡献，</a:t>
                  </a:r>
                  <a14:m>
                    <m:oMath xmlns:m="http://schemas.openxmlformats.org/officeDocument/2006/math">
                      <m:r>
                        <a:rPr lang="en-US" altLang="zh-CN" sz="1600" b="1" i="1" dirty="0" smtClean="0">
                          <a:latin typeface="Cambria Math" panose="02040503050406030204" pitchFamily="18" charset="0"/>
                        </a:rPr>
                        <m:t>𝑾</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是雇员的工资，</a:t>
                  </a:r>
                  <a14:m>
                    <m:oMath xmlns:m="http://schemas.openxmlformats.org/officeDocument/2006/math">
                      <m:r>
                        <a:rPr lang="en-US" altLang="zh-CN" sz="1600" b="1" i="1" dirty="0" smtClean="0">
                          <a:latin typeface="Cambria Math" panose="02040503050406030204" pitchFamily="18" charset="0"/>
                        </a:rPr>
                        <m:t>𝑯</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是雇员的付出，</a:t>
                  </a:r>
                  <a14:m>
                    <m:oMath xmlns:m="http://schemas.openxmlformats.org/officeDocument/2006/math">
                      <m:r>
                        <a:rPr lang="en-US" altLang="zh-CN" sz="1600" b="1" i="1" dirty="0" smtClean="0">
                          <a:latin typeface="Cambria Math" panose="02040503050406030204" pitchFamily="18" charset="0"/>
                        </a:rPr>
                        <m:t>𝑪</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是检查的成本，</a:t>
                  </a:r>
                  <a14:m>
                    <m:oMath xmlns:m="http://schemas.openxmlformats.org/officeDocument/2006/math">
                      <m:r>
                        <a:rPr lang="en-US" altLang="zh-CN" sz="1600" b="1" i="1" dirty="0" smtClean="0">
                          <a:latin typeface="Cambria Math" panose="02040503050406030204" pitchFamily="18" charset="0"/>
                        </a:rPr>
                        <m:t>𝑭</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是雇主发现雇员偷懒对雇员的惩罚（没收抵押金）。</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ct val="150000"/>
                    </a:lnSpc>
                  </a:pP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假定</a:t>
                  </a:r>
                  <a14:m>
                    <m:oMath xmlns:m="http://schemas.openxmlformats.org/officeDocument/2006/math">
                      <m:r>
                        <a:rPr lang="en-US" altLang="zh-CN" sz="1600" b="1" i="1" dirty="0" smtClean="0">
                          <a:latin typeface="Cambria Math" panose="02040503050406030204" pitchFamily="18" charset="0"/>
                        </a:rPr>
                        <m:t>𝑯</m:t>
                      </m:r>
                      <m:r>
                        <a:rPr lang="en-US" altLang="zh-CN" sz="1600" b="1" i="1" dirty="0" smtClean="0">
                          <a:latin typeface="Cambria Math" panose="02040503050406030204" pitchFamily="18" charset="0"/>
                        </a:rPr>
                        <m:t>   &lt;  </m:t>
                      </m:r>
                      <m:r>
                        <a:rPr lang="en-US" altLang="zh-CN" sz="1600" b="1" i="1" dirty="0" smtClean="0">
                          <a:latin typeface="Cambria Math" panose="02040503050406030204" pitchFamily="18" charset="0"/>
                        </a:rPr>
                        <m:t>𝑾</m:t>
                      </m:r>
                      <m:r>
                        <a:rPr lang="en-US" altLang="zh-CN" sz="1600" b="1" i="1" dirty="0" smtClean="0">
                          <a:latin typeface="Cambria Math" panose="02040503050406030204" pitchFamily="18" charset="0"/>
                        </a:rPr>
                        <m:t>  &lt;  </m:t>
                      </m:r>
                      <m:r>
                        <a:rPr lang="en-US" altLang="zh-CN" sz="1600" b="1" i="1" dirty="0" smtClean="0">
                          <a:latin typeface="Cambria Math" panose="02040503050406030204" pitchFamily="18" charset="0"/>
                        </a:rPr>
                        <m:t>𝑽</m:t>
                      </m:r>
                      <m:r>
                        <a:rPr lang="zh-CN" altLang="en-US" sz="1600" b="1" i="1" dirty="0" smtClean="0">
                          <a:latin typeface="Cambria Math" panose="02040503050406030204" pitchFamily="18" charset="0"/>
                        </a:rPr>
                        <m:t>，</m:t>
                      </m:r>
                      <m:r>
                        <a:rPr lang="en-US" altLang="zh-CN" sz="1600" b="1" i="1" dirty="0" smtClean="0">
                          <a:latin typeface="Cambria Math" panose="02040503050406030204" pitchFamily="18" charset="0"/>
                        </a:rPr>
                        <m:t>        </m:t>
                      </m:r>
                      <m:r>
                        <a:rPr lang="en-US" altLang="zh-CN" sz="1600" b="1" i="1" dirty="0" smtClean="0">
                          <a:latin typeface="Cambria Math" panose="02040503050406030204" pitchFamily="18" charset="0"/>
                        </a:rPr>
                        <m:t>𝑾</m:t>
                      </m:r>
                      <m:r>
                        <a:rPr lang="en-US" altLang="zh-CN" sz="1600" b="1" i="1" dirty="0" smtClean="0">
                          <a:latin typeface="Cambria Math" panose="02040503050406030204" pitchFamily="18" charset="0"/>
                        </a:rPr>
                        <m:t> &gt;  </m:t>
                      </m:r>
                      <m:r>
                        <a:rPr lang="en-US" altLang="zh-CN" sz="1600" b="1" i="1" dirty="0" smtClean="0">
                          <a:latin typeface="Cambria Math" panose="02040503050406030204" pitchFamily="18" charset="0"/>
                        </a:rPr>
                        <m:t>𝑪</m:t>
                      </m:r>
                    </m:oMath>
                  </a14:m>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ct val="100000"/>
                    </a:lnSpc>
                  </a:pP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lvl="1" algn="just">
                    <a:lnSpc>
                      <a:spcPct val="100000"/>
                    </a:lnSpc>
                  </a:pPr>
                  <a:endParaRPr lang="en-US" altLang="zh-CN" sz="1300"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1" name="内容占位符 4">
                  <a:extLst>
                    <a:ext uri="{FF2B5EF4-FFF2-40B4-BE49-F238E27FC236}">
                      <a16:creationId xmlns:a16="http://schemas.microsoft.com/office/drawing/2014/main" id="{6453EC6E-312A-4333-9110-D1C5E14964B1}"/>
                    </a:ext>
                  </a:extLst>
                </p:cNvPr>
                <p:cNvSpPr txBox="1">
                  <a:spLocks noRot="1" noChangeAspect="1" noMove="1" noResize="1" noEditPoints="1" noAdjustHandles="1" noChangeArrowheads="1" noChangeShapeType="1" noTextEdit="1"/>
                </p:cNvSpPr>
                <p:nvPr/>
              </p:nvSpPr>
              <p:spPr>
                <a:xfrm>
                  <a:off x="365761" y="1514201"/>
                  <a:ext cx="5671496" cy="1914799"/>
                </a:xfrm>
                <a:prstGeom prst="rect">
                  <a:avLst/>
                </a:prstGeom>
                <a:blipFill>
                  <a:blip r:embed="rId3"/>
                  <a:stretch>
                    <a:fillRect l="-430" r="-538" b="-13016"/>
                  </a:stretch>
                </a:blipFill>
              </p:spPr>
              <p:txBody>
                <a:bodyPr/>
                <a:lstStyle/>
                <a:p>
                  <a:r>
                    <a:rPr lang="zh-CN" altLang="en-US">
                      <a:noFill/>
                    </a:rPr>
                    <a:t> </a:t>
                  </a:r>
                </a:p>
              </p:txBody>
            </p:sp>
          </mc:Fallback>
        </mc:AlternateContent>
        <p:cxnSp>
          <p:nvCxnSpPr>
            <p:cNvPr id="8" name="直接连接符 7">
              <a:extLst>
                <a:ext uri="{FF2B5EF4-FFF2-40B4-BE49-F238E27FC236}">
                  <a16:creationId xmlns:a16="http://schemas.microsoft.com/office/drawing/2014/main" id="{E6B60516-7588-48D1-BD83-79162D5AF422}"/>
                </a:ext>
              </a:extLst>
            </p:cNvPr>
            <p:cNvCxnSpPr/>
            <p:nvPr/>
          </p:nvCxnSpPr>
          <p:spPr>
            <a:xfrm>
              <a:off x="919089" y="3751384"/>
              <a:ext cx="450166"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0C9A1417-0E9C-48E3-96BA-25EDD1BED49F}"/>
                </a:ext>
              </a:extLst>
            </p:cNvPr>
            <p:cNvSpPr/>
            <p:nvPr/>
          </p:nvSpPr>
          <p:spPr>
            <a:xfrm>
              <a:off x="857162" y="3796477"/>
              <a:ext cx="492443" cy="461665"/>
            </a:xfrm>
            <a:prstGeom prst="rect">
              <a:avLst/>
            </a:prstGeom>
          </p:spPr>
          <p:txBody>
            <a:bodyPr wrap="none">
              <a:spAutoFit/>
            </a:bodyPr>
            <a:lstStyle/>
            <a:p>
              <a:r>
                <a:rPr lang="zh-CN" altLang="en-US" sz="1200" b="1" dirty="0">
                  <a:latin typeface="Times New Roman" panose="02020603050405020304" pitchFamily="18" charset="0"/>
                  <a:ea typeface="华文楷体" panose="02010600040101010101" pitchFamily="2" charset="-122"/>
                  <a:cs typeface="Times New Roman" panose="02020603050405020304" pitchFamily="18" charset="0"/>
                </a:rPr>
                <a:t>雇员</a:t>
              </a:r>
              <a:endParaRPr lang="en-US" altLang="zh-CN" sz="12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200" b="1" dirty="0">
                  <a:latin typeface="Times New Roman" panose="02020603050405020304" pitchFamily="18" charset="0"/>
                  <a:ea typeface="华文楷体" panose="02010600040101010101" pitchFamily="2" charset="-122"/>
                  <a:cs typeface="Times New Roman" panose="02020603050405020304" pitchFamily="18" charset="0"/>
                </a:rPr>
                <a:t>付出</a:t>
              </a:r>
              <a:endParaRPr lang="zh-CN" altLang="en-US" sz="1200" dirty="0"/>
            </a:p>
          </p:txBody>
        </p:sp>
        <p:cxnSp>
          <p:nvCxnSpPr>
            <p:cNvPr id="16" name="直接连接符 15">
              <a:extLst>
                <a:ext uri="{FF2B5EF4-FFF2-40B4-BE49-F238E27FC236}">
                  <a16:creationId xmlns:a16="http://schemas.microsoft.com/office/drawing/2014/main" id="{D0AB11CF-2B71-4784-B874-8EF72A4E4AC5}"/>
                </a:ext>
              </a:extLst>
            </p:cNvPr>
            <p:cNvCxnSpPr/>
            <p:nvPr/>
          </p:nvCxnSpPr>
          <p:spPr>
            <a:xfrm>
              <a:off x="1580315" y="3763655"/>
              <a:ext cx="45016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33101A3D-88C4-4F21-B6EF-363ABD434247}"/>
                </a:ext>
              </a:extLst>
            </p:cNvPr>
            <p:cNvSpPr/>
            <p:nvPr/>
          </p:nvSpPr>
          <p:spPr>
            <a:xfrm>
              <a:off x="1460442" y="3808748"/>
              <a:ext cx="492443" cy="461665"/>
            </a:xfrm>
            <a:prstGeom prst="rect">
              <a:avLst/>
            </a:prstGeom>
          </p:spPr>
          <p:txBody>
            <a:bodyPr wrap="none">
              <a:spAutoFit/>
            </a:bodyPr>
            <a:lstStyle/>
            <a:p>
              <a:r>
                <a:rPr lang="zh-CN" altLang="en-US" sz="1200" b="1" dirty="0">
                  <a:latin typeface="Times New Roman" panose="02020603050405020304" pitchFamily="18" charset="0"/>
                  <a:ea typeface="华文楷体" panose="02010600040101010101" pitchFamily="2" charset="-122"/>
                  <a:cs typeface="Times New Roman" panose="02020603050405020304" pitchFamily="18" charset="0"/>
                </a:rPr>
                <a:t>雇员</a:t>
              </a:r>
              <a:endParaRPr lang="en-US" altLang="zh-CN" sz="12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200" b="1" dirty="0">
                  <a:latin typeface="Times New Roman" panose="02020603050405020304" pitchFamily="18" charset="0"/>
                  <a:ea typeface="华文楷体" panose="02010600040101010101" pitchFamily="2" charset="-122"/>
                  <a:cs typeface="Times New Roman" panose="02020603050405020304" pitchFamily="18" charset="0"/>
                </a:rPr>
                <a:t>工资</a:t>
              </a:r>
              <a:endParaRPr lang="zh-CN" altLang="en-US" sz="1200" dirty="0"/>
            </a:p>
          </p:txBody>
        </p:sp>
        <p:cxnSp>
          <p:nvCxnSpPr>
            <p:cNvPr id="18" name="直接连接符 17">
              <a:extLst>
                <a:ext uri="{FF2B5EF4-FFF2-40B4-BE49-F238E27FC236}">
                  <a16:creationId xmlns:a16="http://schemas.microsoft.com/office/drawing/2014/main" id="{2BB0C49D-4833-4EF9-98AC-FEB188893EB9}"/>
                </a:ext>
              </a:extLst>
            </p:cNvPr>
            <p:cNvCxnSpPr/>
            <p:nvPr/>
          </p:nvCxnSpPr>
          <p:spPr>
            <a:xfrm>
              <a:off x="2233442" y="3763655"/>
              <a:ext cx="450166"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4C23F05B-8211-4C7B-A5AD-D96BD016F86B}"/>
                </a:ext>
              </a:extLst>
            </p:cNvPr>
            <p:cNvSpPr/>
            <p:nvPr/>
          </p:nvSpPr>
          <p:spPr>
            <a:xfrm>
              <a:off x="2171515" y="3808748"/>
              <a:ext cx="492443" cy="461665"/>
            </a:xfrm>
            <a:prstGeom prst="rect">
              <a:avLst/>
            </a:prstGeom>
          </p:spPr>
          <p:txBody>
            <a:bodyPr wrap="none">
              <a:spAutoFit/>
            </a:bodyPr>
            <a:lstStyle/>
            <a:p>
              <a:r>
                <a:rPr lang="zh-CN" altLang="en-US" sz="1200" b="1" dirty="0">
                  <a:latin typeface="Times New Roman" panose="02020603050405020304" pitchFamily="18" charset="0"/>
                  <a:ea typeface="华文楷体" panose="02010600040101010101" pitchFamily="2" charset="-122"/>
                  <a:cs typeface="Times New Roman" panose="02020603050405020304" pitchFamily="18" charset="0"/>
                </a:rPr>
                <a:t>雇员</a:t>
              </a:r>
              <a:endParaRPr lang="en-US" altLang="zh-CN" sz="12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200" b="1" dirty="0">
                  <a:latin typeface="Times New Roman" panose="02020603050405020304" pitchFamily="18" charset="0"/>
                  <a:ea typeface="华文楷体" panose="02010600040101010101" pitchFamily="2" charset="-122"/>
                  <a:cs typeface="Times New Roman" panose="02020603050405020304" pitchFamily="18" charset="0"/>
                </a:rPr>
                <a:t>贡献</a:t>
              </a:r>
              <a:endParaRPr lang="zh-CN" altLang="en-US" sz="1200" dirty="0"/>
            </a:p>
          </p:txBody>
        </p:sp>
        <p:cxnSp>
          <p:nvCxnSpPr>
            <p:cNvPr id="24" name="直接连接符 23">
              <a:extLst>
                <a:ext uri="{FF2B5EF4-FFF2-40B4-BE49-F238E27FC236}">
                  <a16:creationId xmlns:a16="http://schemas.microsoft.com/office/drawing/2014/main" id="{048484EC-D5BB-4676-A1B8-FAE04A749686}"/>
                </a:ext>
              </a:extLst>
            </p:cNvPr>
            <p:cNvCxnSpPr/>
            <p:nvPr/>
          </p:nvCxnSpPr>
          <p:spPr>
            <a:xfrm>
              <a:off x="2944515" y="3763655"/>
              <a:ext cx="45016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8CEC0D20-1AB6-4769-A898-2CA500935B9A}"/>
                </a:ext>
              </a:extLst>
            </p:cNvPr>
            <p:cNvSpPr/>
            <p:nvPr/>
          </p:nvSpPr>
          <p:spPr>
            <a:xfrm>
              <a:off x="2882588" y="3808748"/>
              <a:ext cx="492443" cy="461665"/>
            </a:xfrm>
            <a:prstGeom prst="rect">
              <a:avLst/>
            </a:prstGeom>
          </p:spPr>
          <p:txBody>
            <a:bodyPr wrap="none">
              <a:spAutoFit/>
            </a:bodyPr>
            <a:lstStyle/>
            <a:p>
              <a:r>
                <a:rPr lang="zh-CN" altLang="en-US" sz="1200" b="1" dirty="0">
                  <a:latin typeface="Times New Roman" panose="02020603050405020304" pitchFamily="18" charset="0"/>
                  <a:ea typeface="华文楷体" panose="02010600040101010101" pitchFamily="2" charset="-122"/>
                  <a:cs typeface="Times New Roman" panose="02020603050405020304" pitchFamily="18" charset="0"/>
                </a:rPr>
                <a:t>雇员</a:t>
              </a:r>
              <a:endParaRPr lang="en-US" altLang="zh-CN" sz="12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200" b="1" dirty="0">
                  <a:latin typeface="Times New Roman" panose="02020603050405020304" pitchFamily="18" charset="0"/>
                  <a:ea typeface="华文楷体" panose="02010600040101010101" pitchFamily="2" charset="-122"/>
                  <a:cs typeface="Times New Roman" panose="02020603050405020304" pitchFamily="18" charset="0"/>
                </a:rPr>
                <a:t>工资</a:t>
              </a:r>
              <a:endParaRPr lang="zh-CN" altLang="en-US" sz="1200" dirty="0"/>
            </a:p>
          </p:txBody>
        </p:sp>
        <p:cxnSp>
          <p:nvCxnSpPr>
            <p:cNvPr id="26" name="直接连接符 25">
              <a:extLst>
                <a:ext uri="{FF2B5EF4-FFF2-40B4-BE49-F238E27FC236}">
                  <a16:creationId xmlns:a16="http://schemas.microsoft.com/office/drawing/2014/main" id="{66ED7B8C-A914-4ACB-A91A-77D0BB713F42}"/>
                </a:ext>
              </a:extLst>
            </p:cNvPr>
            <p:cNvCxnSpPr/>
            <p:nvPr/>
          </p:nvCxnSpPr>
          <p:spPr>
            <a:xfrm>
              <a:off x="3512415" y="3763655"/>
              <a:ext cx="45016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38EBEB96-913B-41F7-8436-67D2E5408140}"/>
                </a:ext>
              </a:extLst>
            </p:cNvPr>
            <p:cNvSpPr/>
            <p:nvPr/>
          </p:nvSpPr>
          <p:spPr>
            <a:xfrm>
              <a:off x="3450488" y="3808748"/>
              <a:ext cx="492443" cy="461665"/>
            </a:xfrm>
            <a:prstGeom prst="rect">
              <a:avLst/>
            </a:prstGeom>
          </p:spPr>
          <p:txBody>
            <a:bodyPr wrap="none">
              <a:spAutoFit/>
            </a:bodyPr>
            <a:lstStyle/>
            <a:p>
              <a:r>
                <a:rPr lang="zh-CN" altLang="en-US" sz="1200" b="1" dirty="0">
                  <a:latin typeface="Times New Roman" panose="02020603050405020304" pitchFamily="18" charset="0"/>
                  <a:ea typeface="华文楷体" panose="02010600040101010101" pitchFamily="2" charset="-122"/>
                  <a:cs typeface="Times New Roman" panose="02020603050405020304" pitchFamily="18" charset="0"/>
                </a:rPr>
                <a:t>检查</a:t>
              </a:r>
              <a:endParaRPr lang="en-US" altLang="zh-CN" sz="12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200" b="1" dirty="0">
                  <a:latin typeface="Times New Roman" panose="02020603050405020304" pitchFamily="18" charset="0"/>
                  <a:ea typeface="华文楷体" panose="02010600040101010101" pitchFamily="2" charset="-122"/>
                  <a:cs typeface="Times New Roman" panose="02020603050405020304" pitchFamily="18" charset="0"/>
                </a:rPr>
                <a:t>成本</a:t>
              </a:r>
              <a:endParaRPr lang="zh-CN" altLang="en-US" sz="1200" dirty="0"/>
            </a:p>
          </p:txBody>
        </p:sp>
      </p:grpSp>
    </p:spTree>
    <p:extLst>
      <p:ext uri="{BB962C8B-B14F-4D97-AF65-F5344CB8AC3E}">
        <p14:creationId xmlns:p14="http://schemas.microsoft.com/office/powerpoint/2010/main" val="4078747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博弈论：</a:t>
              </a:r>
              <a:r>
                <a:rPr lang="zh-CN" altLang="en-US" sz="20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混合策略下纳什均衡的例子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一、博弈论</a:t>
            </a:r>
            <a:r>
              <a:rPr lang="zh-CN" altLang="en-US" sz="1600">
                <a:solidFill>
                  <a:srgbClr val="000000"/>
                </a:solidFill>
                <a:latin typeface="Times New Roman" panose="02020603050405020304" pitchFamily="18" charset="0"/>
                <a:ea typeface="楷体_GB2312"/>
              </a:rPr>
              <a:t>相关概念</a:t>
            </a:r>
            <a:endParaRPr lang="zh-CN" altLang="en-US" sz="1600" dirty="0">
              <a:solidFill>
                <a:srgbClr val="000000"/>
              </a:solidFill>
              <a:latin typeface="Times New Roman" panose="02020603050405020304" pitchFamily="18" charset="0"/>
            </a:endParaRPr>
          </a:p>
        </p:txBody>
      </p:sp>
      <p:pic>
        <p:nvPicPr>
          <p:cNvPr id="7" name="图片 6">
            <a:extLst>
              <a:ext uri="{FF2B5EF4-FFF2-40B4-BE49-F238E27FC236}">
                <a16:creationId xmlns:a16="http://schemas.microsoft.com/office/drawing/2014/main" id="{55BEE8DE-2209-4286-BDC9-EB2A4A9FD2DC}"/>
              </a:ext>
            </a:extLst>
          </p:cNvPr>
          <p:cNvPicPr>
            <a:picLocks noChangeAspect="1"/>
          </p:cNvPicPr>
          <p:nvPr/>
        </p:nvPicPr>
        <p:blipFill>
          <a:blip r:embed="rId3"/>
          <a:stretch>
            <a:fillRect/>
          </a:stretch>
        </p:blipFill>
        <p:spPr>
          <a:xfrm>
            <a:off x="403610" y="3664827"/>
            <a:ext cx="5768591" cy="2254038"/>
          </a:xfrm>
          <a:prstGeom prst="rect">
            <a:avLst/>
          </a:prstGeom>
        </p:spPr>
      </p:pic>
      <p:pic>
        <p:nvPicPr>
          <p:cNvPr id="8" name="图片 7">
            <a:extLst>
              <a:ext uri="{FF2B5EF4-FFF2-40B4-BE49-F238E27FC236}">
                <a16:creationId xmlns:a16="http://schemas.microsoft.com/office/drawing/2014/main" id="{6A83A364-2EA8-48E2-AF35-D285E19931BE}"/>
              </a:ext>
            </a:extLst>
          </p:cNvPr>
          <p:cNvPicPr>
            <a:picLocks noChangeAspect="1"/>
          </p:cNvPicPr>
          <p:nvPr/>
        </p:nvPicPr>
        <p:blipFill>
          <a:blip r:embed="rId4"/>
          <a:stretch>
            <a:fillRect/>
          </a:stretch>
        </p:blipFill>
        <p:spPr>
          <a:xfrm>
            <a:off x="6172201" y="3678130"/>
            <a:ext cx="5642264" cy="2240735"/>
          </a:xfrm>
          <a:prstGeom prst="rect">
            <a:avLst/>
          </a:prstGeom>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130BF820-39C4-4CD9-AA69-3EFC13A95BE9}"/>
                  </a:ext>
                </a:extLst>
              </p:cNvPr>
              <p:cNvSpPr/>
              <p:nvPr/>
            </p:nvSpPr>
            <p:spPr>
              <a:xfrm>
                <a:off x="1340084" y="1307489"/>
                <a:ext cx="10622144" cy="2616101"/>
              </a:xfrm>
              <a:prstGeom prst="rect">
                <a:avLst/>
              </a:prstGeom>
            </p:spPr>
            <p:txBody>
              <a:bodyPr wrap="square">
                <a:spAutoFit/>
              </a:bodyPr>
              <a:lstStyle/>
              <a:p>
                <a:pPr algn="just"/>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记雇主检查工作的概率为</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α</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，雇员偷懒的概率为</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β</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，雇主和雇员对应的收益情况如表</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7.5</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所示。</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en-US" sz="2000" dirty="0"/>
              </a:p>
              <a:p>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现在寻找雇主</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雇员两人博弈中所存在的稳定局势：无论雇主以何种概率进行检查，雇员偷懒或不偷懒的收益都一样，即</a:t>
                </a:r>
                <a14:m>
                  <m:oMath xmlns:m="http://schemas.openxmlformats.org/officeDocument/2006/math">
                    <m:sSub>
                      <m:sSub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3</m:t>
                        </m:r>
                      </m:sub>
                    </m:sSub>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4</m:t>
                        </m:r>
                      </m:sub>
                    </m:sSub>
                  </m:oMath>
                </a14:m>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在稳定局势中，无论雇员如何改变自己的策略，都不会使得自己的收益增加。同理，无论雇员以何种概率偷懒，雇主检查或不检查的收益都一样，即</a:t>
                </a:r>
                <a14:m>
                  <m:oMath xmlns:m="http://schemas.openxmlformats.org/officeDocument/2006/math">
                    <m:sSub>
                      <m:sSub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2</m:t>
                        </m:r>
                      </m:sub>
                    </m:sSub>
                  </m:oMath>
                </a14:m>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，此时无论雇主如何改变自己的策略也不会使其收益增加。也就是说，在稳定局势下，如果其他参与者不改变行动，则任何一个参与者单独改变自己的行动，都不会使自己的收益增加。</a:t>
                </a:r>
              </a:p>
            </p:txBody>
          </p:sp>
        </mc:Choice>
        <mc:Fallback xmlns="">
          <p:sp>
            <p:nvSpPr>
              <p:cNvPr id="9" name="矩形 8">
                <a:extLst>
                  <a:ext uri="{FF2B5EF4-FFF2-40B4-BE49-F238E27FC236}">
                    <a16:creationId xmlns:a16="http://schemas.microsoft.com/office/drawing/2014/main" id="{130BF820-39C4-4CD9-AA69-3EFC13A95BE9}"/>
                  </a:ext>
                </a:extLst>
              </p:cNvPr>
              <p:cNvSpPr>
                <a:spLocks noRot="1" noChangeAspect="1" noMove="1" noResize="1" noEditPoints="1" noAdjustHandles="1" noChangeArrowheads="1" noChangeShapeType="1" noTextEdit="1"/>
              </p:cNvSpPr>
              <p:nvPr/>
            </p:nvSpPr>
            <p:spPr>
              <a:xfrm>
                <a:off x="1340084" y="1307489"/>
                <a:ext cx="10622144" cy="2616101"/>
              </a:xfrm>
              <a:prstGeom prst="rect">
                <a:avLst/>
              </a:prstGeom>
              <a:blipFill>
                <a:blip r:embed="rId5"/>
                <a:stretch>
                  <a:fillRect l="-517" t="-1395" b="-27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4BA8EB01-167A-47BC-8F90-16E239F6BBC6}"/>
                  </a:ext>
                </a:extLst>
              </p:cNvPr>
              <p:cNvSpPr/>
              <p:nvPr/>
            </p:nvSpPr>
            <p:spPr>
              <a:xfrm>
                <a:off x="1091188" y="5742277"/>
                <a:ext cx="10383166" cy="881460"/>
              </a:xfrm>
              <a:prstGeom prst="rect">
                <a:avLst/>
              </a:prstGeom>
            </p:spPr>
            <p:txBody>
              <a:bodyPr wrap="square">
                <a:spAutoFit/>
              </a:bodyPr>
              <a:lstStyle/>
              <a:p>
                <a:pPr algn="just">
                  <a:lnSpc>
                    <a:spcPct val="150000"/>
                  </a:lnSpc>
                </a:pPr>
                <a:r>
                  <a:rPr lang="zh-CN" altLang="en-US" b="1" dirty="0"/>
                  <a:t>注：</a:t>
                </a:r>
                <a14:m>
                  <m:oMath xmlns:m="http://schemas.openxmlformats.org/officeDocument/2006/math">
                    <m:r>
                      <a:rPr lang="en-US" altLang="zh-CN" b="1" i="1" dirty="0">
                        <a:latin typeface="Cambria Math" panose="02040503050406030204" pitchFamily="18" charset="0"/>
                      </a:rPr>
                      <m:t>𝑽</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是雇员的贡献，</a:t>
                </a:r>
                <a14:m>
                  <m:oMath xmlns:m="http://schemas.openxmlformats.org/officeDocument/2006/math">
                    <m:r>
                      <a:rPr lang="en-US" altLang="zh-CN" b="1" i="1" dirty="0">
                        <a:latin typeface="Cambria Math" panose="02040503050406030204" pitchFamily="18" charset="0"/>
                      </a:rPr>
                      <m:t>𝑾</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是雇员的工资，</a:t>
                </a:r>
                <a14:m>
                  <m:oMath xmlns:m="http://schemas.openxmlformats.org/officeDocument/2006/math">
                    <m:r>
                      <a:rPr lang="en-US" altLang="zh-CN" b="1" i="1" dirty="0">
                        <a:latin typeface="Cambria Math" panose="02040503050406030204" pitchFamily="18" charset="0"/>
                      </a:rPr>
                      <m:t>𝑯</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是雇员的付出，</a:t>
                </a:r>
                <a14:m>
                  <m:oMath xmlns:m="http://schemas.openxmlformats.org/officeDocument/2006/math">
                    <m:r>
                      <a:rPr lang="en-US" altLang="zh-CN" b="1" i="1" dirty="0">
                        <a:latin typeface="Cambria Math" panose="02040503050406030204" pitchFamily="18" charset="0"/>
                      </a:rPr>
                      <m:t>𝑪</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是检查的成本，</a:t>
                </a:r>
                <a14:m>
                  <m:oMath xmlns:m="http://schemas.openxmlformats.org/officeDocument/2006/math">
                    <m:r>
                      <a:rPr lang="en-US" altLang="zh-CN" b="1" i="1" dirty="0">
                        <a:latin typeface="Cambria Math" panose="02040503050406030204" pitchFamily="18" charset="0"/>
                      </a:rPr>
                      <m:t>𝑭</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是雇主发现雇员偷懒对雇员的惩罚（没收抵押金）。</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4BA8EB01-167A-47BC-8F90-16E239F6BBC6}"/>
                  </a:ext>
                </a:extLst>
              </p:cNvPr>
              <p:cNvSpPr>
                <a:spLocks noRot="1" noChangeAspect="1" noMove="1" noResize="1" noEditPoints="1" noAdjustHandles="1" noChangeArrowheads="1" noChangeShapeType="1" noTextEdit="1"/>
              </p:cNvSpPr>
              <p:nvPr/>
            </p:nvSpPr>
            <p:spPr>
              <a:xfrm>
                <a:off x="1091188" y="5742277"/>
                <a:ext cx="10383166" cy="881460"/>
              </a:xfrm>
              <a:prstGeom prst="rect">
                <a:avLst/>
              </a:prstGeom>
              <a:blipFill>
                <a:blip r:embed="rId6"/>
                <a:stretch>
                  <a:fillRect l="-470" r="-470" b="-103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05623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博弈论：</a:t>
              </a:r>
              <a:r>
                <a:rPr lang="zh-CN" altLang="en-US" sz="20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混合策略下纳什均衡的例子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一、博弈论</a:t>
            </a:r>
            <a:r>
              <a:rPr lang="zh-CN" altLang="en-US" sz="1600">
                <a:solidFill>
                  <a:srgbClr val="000000"/>
                </a:solidFill>
                <a:latin typeface="Times New Roman" panose="02020603050405020304" pitchFamily="18" charset="0"/>
                <a:ea typeface="楷体_GB2312"/>
              </a:rPr>
              <a:t>相关概念</a:t>
            </a:r>
            <a:endParaRPr lang="zh-CN" altLang="en-US" sz="1600" dirty="0">
              <a:solidFill>
                <a:srgbClr val="000000"/>
              </a:solidFill>
              <a:latin typeface="Times New Roman" panose="02020603050405020304" pitchFamily="18" charset="0"/>
            </a:endParaRPr>
          </a:p>
        </p:txBody>
      </p:sp>
      <p:pic>
        <p:nvPicPr>
          <p:cNvPr id="7" name="图片 6">
            <a:extLst>
              <a:ext uri="{FF2B5EF4-FFF2-40B4-BE49-F238E27FC236}">
                <a16:creationId xmlns:a16="http://schemas.microsoft.com/office/drawing/2014/main" id="{55BEE8DE-2209-4286-BDC9-EB2A4A9FD2DC}"/>
              </a:ext>
            </a:extLst>
          </p:cNvPr>
          <p:cNvPicPr>
            <a:picLocks noChangeAspect="1"/>
          </p:cNvPicPr>
          <p:nvPr/>
        </p:nvPicPr>
        <p:blipFill>
          <a:blip r:embed="rId3"/>
          <a:stretch>
            <a:fillRect/>
          </a:stretch>
        </p:blipFill>
        <p:spPr>
          <a:xfrm>
            <a:off x="6555735" y="2421081"/>
            <a:ext cx="5618556" cy="1496292"/>
          </a:xfrm>
          <a:prstGeom prst="rect">
            <a:avLst/>
          </a:prstGeom>
        </p:spPr>
      </p:pic>
      <p:pic>
        <p:nvPicPr>
          <p:cNvPr id="8" name="图片 7">
            <a:extLst>
              <a:ext uri="{FF2B5EF4-FFF2-40B4-BE49-F238E27FC236}">
                <a16:creationId xmlns:a16="http://schemas.microsoft.com/office/drawing/2014/main" id="{6A83A364-2EA8-48E2-AF35-D285E19931BE}"/>
              </a:ext>
            </a:extLst>
          </p:cNvPr>
          <p:cNvPicPr>
            <a:picLocks noChangeAspect="1"/>
          </p:cNvPicPr>
          <p:nvPr/>
        </p:nvPicPr>
        <p:blipFill>
          <a:blip r:embed="rId4"/>
          <a:stretch>
            <a:fillRect/>
          </a:stretch>
        </p:blipFill>
        <p:spPr>
          <a:xfrm>
            <a:off x="6527409" y="4436919"/>
            <a:ext cx="5654910" cy="2012632"/>
          </a:xfrm>
          <a:prstGeom prst="rect">
            <a:avLst/>
          </a:prstGeom>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1A3337E-D3AC-4C6F-899A-9EF216D30239}"/>
                  </a:ext>
                </a:extLst>
              </p:cNvPr>
              <p:cNvSpPr/>
              <p:nvPr/>
            </p:nvSpPr>
            <p:spPr>
              <a:xfrm>
                <a:off x="280608" y="1454332"/>
                <a:ext cx="6142892" cy="5121017"/>
              </a:xfrm>
              <a:prstGeom prst="rect">
                <a:avLst/>
              </a:prstGeom>
            </p:spPr>
            <p:txBody>
              <a:bodyPr wrap="square">
                <a:spAutoFit/>
              </a:bodyPr>
              <a:lstStyle/>
              <a:p>
                <a:pPr indent="266700" algn="just">
                  <a:lnSpc>
                    <a:spcPts val="2200"/>
                  </a:lnSpc>
                  <a:spcAft>
                    <a:spcPts val="0"/>
                  </a:spcAft>
                </a:pP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在纳什均衡下，由于</a:t>
                </a:r>
                <a14:m>
                  <m:oMath xmlns:m="http://schemas.openxmlformats.org/officeDocument/2006/math">
                    <m:sSub>
                      <m:sSub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3</m:t>
                        </m:r>
                      </m:sub>
                    </m:sSub>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4</m:t>
                        </m:r>
                      </m:sub>
                    </m:sSub>
                  </m:oMath>
                </a14:m>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，可知雇主检查工作的概率为：</a:t>
                </a:r>
              </a:p>
              <a:p>
                <a:pPr algn="just">
                  <a:spcAft>
                    <a:spcPts val="0"/>
                  </a:spcAft>
                </a:pPr>
                <a14:m>
                  <m:oMathPara xmlns:m="http://schemas.openxmlformats.org/officeDocument/2006/math">
                    <m:oMathParaPr>
                      <m:jc m:val="centerGroup"/>
                    </m:oMathParaPr>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𝛼</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b="1">
                              <a:latin typeface="Cambria Math" panose="02040503050406030204" pitchFamily="18" charset="0"/>
                              <a:ea typeface="华文楷体" panose="02010600040101010101" pitchFamily="2" charset="-122"/>
                              <a:cs typeface="Times New Roman" panose="02020603050405020304" pitchFamily="18" charset="0"/>
                            </a:rPr>
                            <m:t>𝐻</m:t>
                          </m:r>
                        </m:num>
                        <m:den>
                          <m:r>
                            <a:rPr lang="en-US" altLang="zh-CN" b="1">
                              <a:latin typeface="Cambria Math" panose="02040503050406030204" pitchFamily="18" charset="0"/>
                              <a:ea typeface="华文楷体" panose="02010600040101010101" pitchFamily="2" charset="-122"/>
                              <a:cs typeface="Times New Roman" panose="02020603050405020304" pitchFamily="18" charset="0"/>
                            </a:rPr>
                            <m:t>𝑊</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𝐹</m:t>
                          </m:r>
                        </m:den>
                      </m:f>
                    </m:oMath>
                  </m:oMathPara>
                </a14:m>
                <a:endParaRPr lang="zh-CN"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ts val="2200"/>
                  </a:lnSpc>
                  <a:spcAft>
                    <a:spcPts val="0"/>
                  </a:spcAft>
                </a:pP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同理，由于</a:t>
                </a:r>
                <a14:m>
                  <m:oMath xmlns:m="http://schemas.openxmlformats.org/officeDocument/2006/math">
                    <m:sSub>
                      <m:sSub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2</m:t>
                        </m:r>
                      </m:sub>
                    </m:sSub>
                  </m:oMath>
                </a14:m>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，可知雇员偷懒的概率为：</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ts val="2200"/>
                  </a:lnSpc>
                  <a:spcAft>
                    <a:spcPts val="0"/>
                  </a:spcAft>
                </a:pPr>
                <a:endParaRPr lang="zh-CN"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ts val="2200"/>
                  </a:lnSpc>
                  <a:spcAft>
                    <a:spcPts val="0"/>
                  </a:spcAft>
                </a:pPr>
                <a14:m>
                  <m:oMathPara xmlns:m="http://schemas.openxmlformats.org/officeDocument/2006/math">
                    <m:oMathParaPr>
                      <m:jc m:val="centerGroup"/>
                    </m:oMathParaPr>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𝛽</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b="1">
                              <a:latin typeface="Cambria Math" panose="02040503050406030204" pitchFamily="18" charset="0"/>
                              <a:ea typeface="华文楷体" panose="02010600040101010101" pitchFamily="2" charset="-122"/>
                              <a:cs typeface="Times New Roman" panose="02020603050405020304" pitchFamily="18" charset="0"/>
                            </a:rPr>
                            <m:t>𝐶</m:t>
                          </m:r>
                        </m:num>
                        <m:den>
                          <m:r>
                            <a:rPr lang="en-US" altLang="zh-CN" b="1">
                              <a:latin typeface="Cambria Math" panose="02040503050406030204" pitchFamily="18" charset="0"/>
                              <a:ea typeface="华文楷体" panose="02010600040101010101" pitchFamily="2" charset="-122"/>
                              <a:cs typeface="Times New Roman" panose="02020603050405020304" pitchFamily="18" charset="0"/>
                            </a:rPr>
                            <m:t>𝑊</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𝐹</m:t>
                          </m:r>
                        </m:den>
                      </m:f>
                    </m:oMath>
                  </m:oMathPara>
                </a14:m>
                <a:endParaRPr lang="zh-CN"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ts val="2200"/>
                  </a:lnSpc>
                  <a:spcAft>
                    <a:spcPts val="0"/>
                  </a:spcAft>
                </a:pP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ts val="2200"/>
                  </a:lnSpc>
                  <a:spcAft>
                    <a:spcPts val="0"/>
                  </a:spcAft>
                </a:pP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求解得到纳什均衡结果具有一定的指导性意义。将雇员偷懒的概率</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𝛽</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b="1">
                            <a:latin typeface="Cambria Math" panose="02040503050406030204" pitchFamily="18" charset="0"/>
                            <a:ea typeface="华文楷体" panose="02010600040101010101" pitchFamily="2" charset="-122"/>
                            <a:cs typeface="Times New Roman" panose="02020603050405020304" pitchFamily="18" charset="0"/>
                          </a:rPr>
                          <m:t>𝐶</m:t>
                        </m:r>
                      </m:num>
                      <m:den>
                        <m:r>
                          <a:rPr lang="en-US" altLang="zh-CN" b="1">
                            <a:latin typeface="Cambria Math" panose="02040503050406030204" pitchFamily="18" charset="0"/>
                            <a:ea typeface="华文楷体" panose="02010600040101010101" pitchFamily="2" charset="-122"/>
                            <a:cs typeface="Times New Roman" panose="02020603050405020304" pitchFamily="18" charset="0"/>
                          </a:rPr>
                          <m:t>𝑊</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𝐹</m:t>
                        </m:r>
                      </m:den>
                    </m:f>
                  </m:oMath>
                </a14:m>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代入雇主的期望收益，可得在均衡局势下，雇主的预期收益如下：</a:t>
                </a:r>
              </a:p>
              <a:p>
                <a:pPr indent="266700" algn="just">
                  <a:lnSpc>
                    <a:spcPts val="2200"/>
                  </a:lnSpc>
                  <a:spcAft>
                    <a:spcPts val="0"/>
                  </a:spcAft>
                </a:pPr>
                <a:endParaRPr lang="en-US" altLang="zh-CN" b="1" i="1" dirty="0">
                  <a:latin typeface="Cambria Math" panose="02040503050406030204" pitchFamily="18" charset="0"/>
                  <a:ea typeface="华文楷体" panose="02010600040101010101" pitchFamily="2" charset="-122"/>
                  <a:cs typeface="Times New Roman" panose="02020603050405020304" pitchFamily="18" charset="0"/>
                </a:endParaRPr>
              </a:p>
              <a:p>
                <a:pPr indent="266700" algn="just">
                  <a:lnSpc>
                    <a:spcPts val="2200"/>
                  </a:lnSpc>
                  <a:spcAft>
                    <a:spcPts val="0"/>
                  </a:spcAft>
                </a:pPr>
                <a14:m>
                  <m:oMathPara xmlns:m="http://schemas.openxmlformats.org/officeDocument/2006/math">
                    <m:oMathParaPr>
                      <m:jc m:val="centerGroup"/>
                    </m:oMathParaPr>
                    <m:oMath xmlns:m="http://schemas.openxmlformats.org/officeDocument/2006/math">
                      <m:sSub>
                        <m:sSub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𝑊</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b="1">
                              <a:latin typeface="Cambria Math" panose="02040503050406030204" pitchFamily="18" charset="0"/>
                              <a:ea typeface="华文楷体" panose="02010600040101010101" pitchFamily="2" charset="-122"/>
                              <a:cs typeface="Times New Roman" panose="02020603050405020304" pitchFamily="18" charset="0"/>
                            </a:rPr>
                            <m:t>𝐶𝑉</m:t>
                          </m:r>
                        </m:num>
                        <m:den>
                          <m:r>
                            <a:rPr lang="en-US" altLang="zh-CN" b="1">
                              <a:latin typeface="Cambria Math" panose="02040503050406030204" pitchFamily="18" charset="0"/>
                              <a:ea typeface="华文楷体" panose="02010600040101010101" pitchFamily="2" charset="-122"/>
                              <a:cs typeface="Times New Roman" panose="02020603050405020304" pitchFamily="18" charset="0"/>
                            </a:rPr>
                            <m:t>𝑊</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𝐹</m:t>
                          </m:r>
                        </m:den>
                      </m:f>
                    </m:oMath>
                  </m:oMathPara>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ts val="2200"/>
                  </a:lnSpc>
                  <a:spcAft>
                    <a:spcPts val="0"/>
                  </a:spcAft>
                </a:pP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ts val="2200"/>
                  </a:lnSpc>
                  <a:spcAft>
                    <a:spcPts val="0"/>
                  </a:spcAft>
                </a:pP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对上式中</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𝑊</m:t>
                    </m:r>
                  </m:oMath>
                </a14:m>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求导，可知当</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𝑊</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ad>
                      <m:radPr>
                        <m:degHide m:val="on"/>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radPr>
                      <m:deg/>
                      <m:e>
                        <m:r>
                          <a:rPr lang="en-US" altLang="zh-CN" b="1">
                            <a:latin typeface="Cambria Math" panose="02040503050406030204" pitchFamily="18" charset="0"/>
                            <a:ea typeface="华文楷体" panose="02010600040101010101" pitchFamily="2" charset="-122"/>
                            <a:cs typeface="Times New Roman" panose="02020603050405020304" pitchFamily="18" charset="0"/>
                          </a:rPr>
                          <m:t>𝐶𝑉</m:t>
                        </m:r>
                      </m:e>
                    </m:ra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𝐹</m:t>
                    </m:r>
                  </m:oMath>
                </a14:m>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时，雇主的收益最大，其值为</a:t>
                </a:r>
                <a14:m>
                  <m:oMath xmlns:m="http://schemas.openxmlformats.org/officeDocument/2006/math">
                    <m:sSub>
                      <m:sSubPr>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𝑚𝑎𝑥</m:t>
                        </m:r>
                      </m:sub>
                    </m:sSub>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r>
                      <a:rPr lang="en-US" altLang="zh-CN" b="1">
                        <a:latin typeface="Cambria Math" panose="02040503050406030204" pitchFamily="18" charset="0"/>
                        <a:ea typeface="华文楷体" panose="02010600040101010101" pitchFamily="2" charset="-122"/>
                        <a:cs typeface="Times New Roman" panose="02020603050405020304" pitchFamily="18" charset="0"/>
                      </a:rPr>
                      <m:t>−2</m:t>
                    </m:r>
                    <m:rad>
                      <m:radPr>
                        <m:degHide m:val="on"/>
                        <m:ctrlPr>
                          <a:rPr lang="zh-CN" altLang="zh-CN" b="1" i="1">
                            <a:latin typeface="Cambria Math" panose="02040503050406030204" pitchFamily="18" charset="0"/>
                            <a:ea typeface="华文楷体" panose="02010600040101010101" pitchFamily="2" charset="-122"/>
                            <a:cs typeface="Times New Roman" panose="02020603050405020304" pitchFamily="18" charset="0"/>
                          </a:rPr>
                        </m:ctrlPr>
                      </m:radPr>
                      <m:deg/>
                      <m:e>
                        <m:r>
                          <a:rPr lang="en-US" altLang="zh-CN" b="1">
                            <a:latin typeface="Cambria Math" panose="02040503050406030204" pitchFamily="18" charset="0"/>
                            <a:ea typeface="华文楷体" panose="02010600040101010101" pitchFamily="2" charset="-122"/>
                            <a:cs typeface="Times New Roman" panose="02020603050405020304" pitchFamily="18" charset="0"/>
                          </a:rPr>
                          <m:t>𝐶𝑉</m:t>
                        </m:r>
                      </m:e>
                    </m:ra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𝐹</m:t>
                    </m:r>
                  </m:oMath>
                </a14:m>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根据这一结论，雇主给雇员支付工资为</a:t>
                </a:r>
                <a14:m>
                  <m:oMath xmlns:m="http://schemas.openxmlformats.org/officeDocument/2006/math">
                    <m:rad>
                      <m:radPr>
                        <m:degHide m:val="on"/>
                        <m:ctrlPr>
                          <a:rPr lang="zh-CN" altLang="zh-CN" b="1" i="1">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ctrlPr>
                      </m:radPr>
                      <m:deg/>
                      <m:e>
                        <m:r>
                          <a:rPr lang="en-US" altLang="zh-CN" b="1">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𝐶𝑉</m:t>
                        </m:r>
                      </m:e>
                    </m:rad>
                    <m:r>
                      <a:rPr lang="en-US" altLang="zh-CN" b="1">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b="1">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𝐹</m:t>
                    </m:r>
                  </m:oMath>
                </a14:m>
                <a:r>
                  <a:rPr lang="zh-CN"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时，可使得自身的收益最大，这里可以看出博弈论对帮助人们科学决策具有重要作用。</a:t>
                </a:r>
                <a:endParaRPr lang="zh-CN" altLang="zh-CN"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E1A3337E-D3AC-4C6F-899A-9EF216D30239}"/>
                  </a:ext>
                </a:extLst>
              </p:cNvPr>
              <p:cNvSpPr>
                <a:spLocks noRot="1" noChangeAspect="1" noMove="1" noResize="1" noEditPoints="1" noAdjustHandles="1" noChangeArrowheads="1" noChangeShapeType="1" noTextEdit="1"/>
              </p:cNvSpPr>
              <p:nvPr/>
            </p:nvSpPr>
            <p:spPr>
              <a:xfrm>
                <a:off x="280608" y="1454332"/>
                <a:ext cx="6142892" cy="5121017"/>
              </a:xfrm>
              <a:prstGeom prst="rect">
                <a:avLst/>
              </a:prstGeom>
              <a:blipFill>
                <a:blip r:embed="rId5"/>
                <a:stretch>
                  <a:fillRect l="-794" t="-714" r="-893" b="-10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15261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博弈论：</a:t>
              </a:r>
              <a:r>
                <a:rPr lang="zh-CN" altLang="zh-CN" sz="20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策梅洛定理</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一、博弈论</a:t>
            </a:r>
            <a:r>
              <a:rPr lang="zh-CN" altLang="en-US" sz="1600">
                <a:solidFill>
                  <a:srgbClr val="000000"/>
                </a:solidFill>
                <a:latin typeface="Times New Roman" panose="02020603050405020304" pitchFamily="18" charset="0"/>
                <a:ea typeface="楷体_GB2312"/>
              </a:rPr>
              <a:t>相关概念</a:t>
            </a:r>
            <a:endParaRPr lang="zh-CN" altLang="en-US" sz="1600" dirty="0">
              <a:solidFill>
                <a:srgbClr val="000000"/>
              </a:solidFill>
              <a:latin typeface="Times New Roman" panose="02020603050405020304" pitchFamily="18" charset="0"/>
            </a:endParaRPr>
          </a:p>
        </p:txBody>
      </p:sp>
      <p:sp>
        <p:nvSpPr>
          <p:cNvPr id="10" name="矩形 9">
            <a:extLst>
              <a:ext uri="{FF2B5EF4-FFF2-40B4-BE49-F238E27FC236}">
                <a16:creationId xmlns:a16="http://schemas.microsoft.com/office/drawing/2014/main" id="{D3FBA2B5-8863-4DDD-B0D6-C40616B68F75}"/>
              </a:ext>
            </a:extLst>
          </p:cNvPr>
          <p:cNvSpPr/>
          <p:nvPr/>
        </p:nvSpPr>
        <p:spPr>
          <a:xfrm>
            <a:off x="1506683" y="1335981"/>
            <a:ext cx="9611590" cy="707886"/>
          </a:xfrm>
          <a:prstGeom prst="rect">
            <a:avLst/>
          </a:prstGeom>
        </p:spPr>
        <p:txBody>
          <a:bodyPr wrap="square">
            <a:spAutoFit/>
          </a:bodyPr>
          <a:lstStyle/>
          <a:p>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策梅洛定理（</a:t>
            </a:r>
            <a:r>
              <a:rPr lang="en-US" altLang="zh-CN" sz="2000" b="1" dirty="0" err="1">
                <a:latin typeface="Times New Roman" panose="02020603050405020304" pitchFamily="18" charset="0"/>
                <a:ea typeface="华文楷体" panose="02010600040101010101" pitchFamily="2" charset="-122"/>
              </a:rPr>
              <a:t>Zermelo's</a:t>
            </a:r>
            <a:r>
              <a:rPr lang="en-US" altLang="zh-CN" sz="2000" b="1" dirty="0">
                <a:latin typeface="Times New Roman" panose="02020603050405020304" pitchFamily="18" charset="0"/>
                <a:ea typeface="华文楷体" panose="02010600040101010101" pitchFamily="2" charset="-122"/>
              </a:rPr>
              <a:t> theorem</a:t>
            </a: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）：对于任意一个</a:t>
            </a:r>
            <a:r>
              <a:rPr lang="zh-CN"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有限步</a:t>
            </a: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的</a:t>
            </a:r>
            <a:r>
              <a:rPr lang="zh-CN"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双人完全信息零和动态博弈</a:t>
            </a: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，一定存在先手必胜策略或后手必胜策略或双方保平策略</a:t>
            </a:r>
            <a:endParaRPr lang="zh-CN" altLang="en-US" sz="2000" b="1" dirty="0"/>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2D8F8141-FBF8-4BF8-A874-8268F0FEC085}"/>
                  </a:ext>
                </a:extLst>
              </p:cNvPr>
              <p:cNvSpPr/>
              <p:nvPr/>
            </p:nvSpPr>
            <p:spPr>
              <a:xfrm>
                <a:off x="759654" y="2153801"/>
                <a:ext cx="10625797" cy="3970318"/>
              </a:xfrm>
              <a:prstGeom prst="rect">
                <a:avLst/>
              </a:prstGeom>
            </p:spPr>
            <p:txBody>
              <a:bodyPr wrap="square">
                <a:spAutoFit/>
              </a:bodyPr>
              <a:lstStyle/>
              <a:p>
                <a:pPr algn="just">
                  <a:spcAft>
                    <a:spcPts val="0"/>
                  </a:spcAft>
                </a:pP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假设双人博弈过程结果只有胜、负、和三种结果，博弈过程最长持续</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𝑁</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步，下面通过</a:t>
                </a:r>
                <a:r>
                  <a:rPr lang="zh-CN" altLang="zh-CN"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数学归纳法</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来如下证明策梅洛定理：</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lvl="0" indent="-342900" algn="just">
                  <a:spcAft>
                    <a:spcPts val="0"/>
                  </a:spcAft>
                  <a:buFont typeface="+mj-lt"/>
                  <a:buAutoNum type="arabicParenR"/>
                </a:pP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当</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𝑁</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时，先手玩家必选择自己收益最大的策略，若存在获胜的行动，则存在先手必胜策略。若不存在使先手玩家获胜的行动，则先手玩家会选择平局的行动，于是存在双方保平策略。若仅存在后手玩家获胜的行动，则存在后手必胜策略。</a:t>
                </a:r>
                <a:r>
                  <a:rPr lang="zh-CN" altLang="en-US" kern="100" dirty="0">
                    <a:latin typeface="Times New Roman" panose="02020603050405020304" pitchFamily="18" charset="0"/>
                    <a:ea typeface="华文楷体" panose="02010600040101010101" pitchFamily="2" charset="-122"/>
                    <a:cs typeface="Times New Roman" panose="02020603050405020304" pitchFamily="18" charset="0"/>
                  </a:rPr>
                  <a:t>（在下棋这个任务，</a:t>
                </a:r>
                <a:r>
                  <a:rPr lang="zh-CN" altLang="en-US" dirty="0"/>
                  <a:t>开局棋盘</a:t>
                </a:r>
                <a:r>
                  <a:rPr lang="zh-CN" altLang="en-US" b="1" dirty="0"/>
                  <a:t>可以是已经下了棋的状态</a:t>
                </a:r>
                <a:r>
                  <a:rPr lang="zh-CN" altLang="en-US"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lvl="0" indent="-342900" algn="just">
                  <a:spcAft>
                    <a:spcPts val="0"/>
                  </a:spcAft>
                  <a:buFont typeface="+mj-lt"/>
                  <a:buAutoNum type="arabicParenR"/>
                </a:pP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假设当</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𝑁</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=1,2…,</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𝑘</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时，均存在先手必胜策略、后手必胜策略或双方保平策略。</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lvl="0" indent="-342900" algn="just">
                  <a:spcAft>
                    <a:spcPts val="0"/>
                  </a:spcAft>
                  <a:buFont typeface="+mj-lt"/>
                  <a:buAutoNum type="arabicParenR"/>
                </a:pP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当</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𝑁</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𝑘</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时，将先手玩家</a:t>
                </a:r>
                <a:r>
                  <a:rPr lang="zh-CN" altLang="en-US" kern="100" dirty="0">
                    <a:latin typeface="Times New Roman" panose="02020603050405020304" pitchFamily="18" charset="0"/>
                    <a:ea typeface="华文楷体" panose="02010600040101010101" pitchFamily="2" charset="-122"/>
                    <a:cs typeface="Times New Roman" panose="02020603050405020304" pitchFamily="18" charset="0"/>
                  </a:rPr>
                  <a:t>采取第</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kern="100" dirty="0">
                    <a:latin typeface="Times New Roman" panose="02020603050405020304" pitchFamily="18" charset="0"/>
                    <a:ea typeface="华文楷体" panose="02010600040101010101" pitchFamily="2" charset="-122"/>
                    <a:cs typeface="Times New Roman" panose="02020603050405020304" pitchFamily="18" charset="0"/>
                  </a:rPr>
                  <a:t>个</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行动后的局势视为开启了一个新的博弈</a:t>
                </a:r>
                <a:r>
                  <a:rPr lang="zh-CN" altLang="en-US"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N=k</a:t>
                </a:r>
                <a:r>
                  <a:rPr lang="zh-CN" altLang="en-US" kern="100" dirty="0">
                    <a:latin typeface="Times New Roman" panose="02020603050405020304" pitchFamily="18" charset="0"/>
                    <a:ea typeface="华文楷体" panose="02010600040101010101" pitchFamily="2" charset="-122"/>
                    <a:cs typeface="Times New Roman" panose="02020603050405020304" pitchFamily="18" charset="0"/>
                  </a:rPr>
                  <a:t>步）</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。在这开启的新博弈中，先手玩家为原博弈的后手玩家，新博弈中的后手玩家为原博弈的先手，应用</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中的假设，新开启的博弈必存在先手必胜策略或后手必胜策略或双方保平策略，则原博弈亦必存在后手必胜策略或先手必胜策略或双方保平策略。</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lvl="0" indent="-342900" algn="just">
                  <a:spcAft>
                    <a:spcPts val="0"/>
                  </a:spcAft>
                  <a:buFont typeface="+mj-lt"/>
                  <a:buAutoNum type="arabicParenR"/>
                </a:pP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综上所述，对于任意一个有限步的双人完全信息零和动态博弈，一定存在先手必胜策略或后手必胜策略或双方保平策略。</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提醒注意的是，策梅洛定理仅对两人博弈有效，如果博弈竞技者超过了</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人，如对于三人博弈，策梅洛定理无法保证三方中一定有一方获胜、其他两方必败或者三方和局的策略。</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2D8F8141-FBF8-4BF8-A874-8268F0FEC085}"/>
                  </a:ext>
                </a:extLst>
              </p:cNvPr>
              <p:cNvSpPr>
                <a:spLocks noRot="1" noChangeAspect="1" noMove="1" noResize="1" noEditPoints="1" noAdjustHandles="1" noChangeArrowheads="1" noChangeShapeType="1" noTextEdit="1"/>
              </p:cNvSpPr>
              <p:nvPr/>
            </p:nvSpPr>
            <p:spPr>
              <a:xfrm>
                <a:off x="759654" y="2153801"/>
                <a:ext cx="10625797" cy="3970318"/>
              </a:xfrm>
              <a:prstGeom prst="rect">
                <a:avLst/>
              </a:prstGeom>
              <a:blipFill>
                <a:blip r:embed="rId3"/>
                <a:stretch>
                  <a:fillRect l="-516" t="-613" r="-2582" b="-15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48579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Regret Minimization</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BD7E65C-ADC3-4007-A0E6-FB2CEE1E1164}"/>
                  </a:ext>
                </a:extLst>
              </p:cNvPr>
              <p:cNvSpPr/>
              <p:nvPr/>
            </p:nvSpPr>
            <p:spPr>
              <a:xfrm>
                <a:off x="572086" y="1454332"/>
                <a:ext cx="10616418" cy="6086538"/>
              </a:xfrm>
              <a:prstGeom prst="rect">
                <a:avLst/>
              </a:prstGeom>
            </p:spPr>
            <p:txBody>
              <a:bodyPr wrap="square">
                <a:spAutoFit/>
              </a:bodyPr>
              <a:lstStyle/>
              <a:p>
                <a:pPr algn="just">
                  <a:lnSpc>
                    <a:spcPct val="250000"/>
                  </a:lnSpc>
                </a:pPr>
                <a:r>
                  <a:rPr lang="zh-CN" altLang="en-US" b="1" dirty="0">
                    <a:solidFill>
                      <a:srgbClr val="C00000"/>
                    </a:solidFill>
                    <a:latin typeface="黑体" panose="02010609060101010101" pitchFamily="49" charset="-122"/>
                    <a:ea typeface="黑体" panose="02010609060101010101" pitchFamily="49" charset="-122"/>
                  </a:rPr>
                  <a:t>定义</a:t>
                </a:r>
                <a:r>
                  <a:rPr lang="zh-CN" altLang="en-US" dirty="0">
                    <a:latin typeface="黑体" panose="02010609060101010101" pitchFamily="49" charset="-122"/>
                    <a:ea typeface="黑体" panose="02010609060101010101" pitchFamily="49" charset="-122"/>
                  </a:rPr>
                  <a:t>：</a:t>
                </a:r>
                <a:r>
                  <a:rPr lang="zh-CN" altLang="zh-CN" dirty="0">
                    <a:latin typeface="黑体" panose="02010609060101010101" pitchFamily="49" charset="-122"/>
                    <a:ea typeface="黑体" panose="02010609060101010101" pitchFamily="49" charset="-122"/>
                  </a:rPr>
                  <a:t>对于一个有</a:t>
                </a:r>
                <a14:m>
                  <m:oMath xmlns:m="http://schemas.openxmlformats.org/officeDocument/2006/math">
                    <m:r>
                      <a:rPr lang="en-US" altLang="zh-CN" i="1">
                        <a:latin typeface="Cambria Math" panose="02040503050406030204" pitchFamily="18" charset="0"/>
                      </a:rPr>
                      <m:t>𝑁</m:t>
                    </m:r>
                  </m:oMath>
                </a14:m>
                <a:r>
                  <a:rPr lang="zh-CN" altLang="zh-CN" dirty="0">
                    <a:latin typeface="黑体" panose="02010609060101010101" pitchFamily="49" charset="-122"/>
                    <a:ea typeface="黑体" panose="02010609060101010101" pitchFamily="49" charset="-122"/>
                  </a:rPr>
                  <a:t>个玩家参加的博弈，玩家</a:t>
                </a:r>
                <a14:m>
                  <m:oMath xmlns:m="http://schemas.openxmlformats.org/officeDocument/2006/math">
                    <m:r>
                      <a:rPr lang="en-US" altLang="zh-CN" i="1">
                        <a:latin typeface="Cambria Math" panose="02040503050406030204" pitchFamily="18" charset="0"/>
                      </a:rPr>
                      <m:t>𝑖</m:t>
                    </m:r>
                  </m:oMath>
                </a14:m>
                <a:r>
                  <a:rPr lang="zh-CN" altLang="zh-CN" dirty="0">
                    <a:latin typeface="黑体" panose="02010609060101010101" pitchFamily="49" charset="-122"/>
                    <a:ea typeface="黑体" panose="02010609060101010101" pitchFamily="49" charset="-122"/>
                  </a:rPr>
                  <a:t>在博弈中采取的策略记为</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r>
                          <a:rPr lang="en-US" altLang="zh-CN" i="1">
                            <a:latin typeface="Cambria Math" panose="02040503050406030204" pitchFamily="18" charset="0"/>
                          </a:rPr>
                          <m:t>𝑖</m:t>
                        </m:r>
                      </m:sub>
                    </m:sSub>
                  </m:oMath>
                </a14:m>
                <a:r>
                  <a:rPr lang="zh-CN" altLang="zh-CN" dirty="0">
                    <a:latin typeface="黑体" panose="02010609060101010101" pitchFamily="49" charset="-122"/>
                    <a:ea typeface="黑体" panose="02010609060101010101" pitchFamily="49" charset="-122"/>
                  </a:rPr>
                  <a:t>。对于所有玩家来说，他们的所有策略构成了一个策略组合，记作</a:t>
                </a:r>
                <a14:m>
                  <m:oMath xmlns:m="http://schemas.openxmlformats.org/officeDocument/2006/math">
                    <m:r>
                      <a:rPr lang="en-US" altLang="zh-CN" i="1">
                        <a:latin typeface="Cambria Math" panose="02040503050406030204" pitchFamily="18" charset="0"/>
                      </a:rPr>
                      <m:t>𝜎</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r>
                          <a:rPr lang="en-US" altLang="zh-CN" i="1">
                            <a:latin typeface="Cambria Math" panose="02040503050406030204" pitchFamily="18" charset="0"/>
                          </a:rPr>
                          <m:t>𝑁</m:t>
                        </m:r>
                      </m:sub>
                    </m:sSub>
                    <m:r>
                      <a:rPr lang="en-US" altLang="zh-CN" i="1">
                        <a:latin typeface="Cambria Math" panose="02040503050406030204" pitchFamily="18" charset="0"/>
                      </a:rPr>
                      <m:t>}</m:t>
                    </m:r>
                  </m:oMath>
                </a14:m>
                <a:r>
                  <a:rPr lang="zh-CN" altLang="zh-CN" dirty="0">
                    <a:latin typeface="黑体" panose="02010609060101010101" pitchFamily="49" charset="-122"/>
                    <a:ea typeface="黑体" panose="02010609060101010101" pitchFamily="49" charset="-122"/>
                  </a:rPr>
                  <a:t>。策略组中，除玩家</a:t>
                </a:r>
                <a14:m>
                  <m:oMath xmlns:m="http://schemas.openxmlformats.org/officeDocument/2006/math">
                    <m:r>
                      <a:rPr lang="en-US" altLang="zh-CN" i="1">
                        <a:latin typeface="Cambria Math" panose="02040503050406030204" pitchFamily="18" charset="0"/>
                      </a:rPr>
                      <m:t>𝑖</m:t>
                    </m:r>
                  </m:oMath>
                </a14:m>
                <a:r>
                  <a:rPr lang="zh-CN" altLang="zh-CN" dirty="0">
                    <a:latin typeface="黑体" panose="02010609060101010101" pitchFamily="49" charset="-122"/>
                    <a:ea typeface="黑体" panose="02010609060101010101" pitchFamily="49" charset="-122"/>
                  </a:rPr>
                  <a:t>外，其他玩家的策略组合记作</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r>
                          <a:rPr lang="en-US" altLang="zh-CN" i="1">
                            <a:latin typeface="Cambria Math" panose="02040503050406030204" pitchFamily="18" charset="0"/>
                          </a:rPr>
                          <m:t>−</m:t>
                        </m:r>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𝜎</m:t>
                        </m:r>
                      </m:e>
                      <m:sub>
                        <m:r>
                          <a:rPr lang="en-US" altLang="zh-CN" i="1">
                            <a:latin typeface="Cambria Math" panose="02040503050406030204" pitchFamily="18" charset="0"/>
                          </a:rPr>
                          <m:t>𝑁</m:t>
                        </m:r>
                      </m:sub>
                    </m:sSub>
                    <m:r>
                      <a:rPr lang="en-US" altLang="zh-CN" i="1">
                        <a:latin typeface="Cambria Math" panose="02040503050406030204" pitchFamily="18" charset="0"/>
                      </a:rPr>
                      <m:t>}</m:t>
                    </m:r>
                  </m:oMath>
                </a14:m>
                <a:r>
                  <a:rPr lang="zh-CN" altLang="zh-CN"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algn="just">
                  <a:lnSpc>
                    <a:spcPct val="250000"/>
                  </a:lnSpc>
                </a:pPr>
                <a:endParaRPr lang="en-US" altLang="zh-CN" dirty="0">
                  <a:latin typeface="黑体" panose="02010609060101010101" pitchFamily="49" charset="-122"/>
                  <a:ea typeface="黑体" panose="02010609060101010101" pitchFamily="49" charset="-122"/>
                </a:endParaRPr>
              </a:p>
              <a:p>
                <a:pPr>
                  <a:lnSpc>
                    <a:spcPct val="200000"/>
                  </a:lnSpc>
                </a:pPr>
                <a:r>
                  <a:rPr lang="zh-CN" altLang="en-US"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最优反应策略：</a:t>
                </a:r>
                <a:r>
                  <a:rPr lang="zh-CN" altLang="zh-CN" dirty="0">
                    <a:latin typeface="黑体" panose="02010609060101010101" pitchFamily="49" charset="-122"/>
                    <a:ea typeface="黑体" panose="02010609060101010101" pitchFamily="49" charset="-122"/>
                  </a:rPr>
                  <a:t>给定策略组合</a:t>
                </a:r>
                <a14:m>
                  <m:oMath xmlns:m="http://schemas.openxmlformats.org/officeDocument/2006/math">
                    <m:r>
                      <a:rPr lang="en-US" altLang="zh-CN" i="1">
                        <a:latin typeface="Cambria Math" panose="02040503050406030204" pitchFamily="18" charset="0"/>
                      </a:rPr>
                      <m:t>𝜎</m:t>
                    </m:r>
                  </m:oMath>
                </a14:m>
                <a:r>
                  <a:rPr lang="zh-CN" altLang="zh-CN" dirty="0">
                    <a:latin typeface="黑体" panose="02010609060101010101" pitchFamily="49" charset="-122"/>
                    <a:ea typeface="黑体" panose="02010609060101010101" pitchFamily="49" charset="-122"/>
                  </a:rPr>
                  <a:t>，玩家</a:t>
                </a:r>
                <a14:m>
                  <m:oMath xmlns:m="http://schemas.openxmlformats.org/officeDocument/2006/math">
                    <m:r>
                      <a:rPr lang="en-US" altLang="zh-CN" i="1">
                        <a:latin typeface="Cambria Math" panose="02040503050406030204" pitchFamily="18" charset="0"/>
                      </a:rPr>
                      <m:t>𝑖</m:t>
                    </m:r>
                  </m:oMath>
                </a14:m>
                <a:r>
                  <a:rPr lang="zh-CN" altLang="zh-CN" dirty="0">
                    <a:latin typeface="黑体" panose="02010609060101010101" pitchFamily="49" charset="-122"/>
                    <a:ea typeface="黑体" panose="02010609060101010101" pitchFamily="49" charset="-122"/>
                  </a:rPr>
                  <a:t>在终结局势下的</a:t>
                </a:r>
                <a:r>
                  <a:rPr lang="zh-CN" altLang="zh-CN" dirty="0">
                    <a:solidFill>
                      <a:srgbClr val="FF0000"/>
                    </a:solidFill>
                    <a:latin typeface="黑体" panose="02010609060101010101" pitchFamily="49" charset="-122"/>
                    <a:ea typeface="黑体" panose="02010609060101010101" pitchFamily="49" charset="-122"/>
                  </a:rPr>
                  <a:t>收益</a:t>
                </a:r>
                <a:r>
                  <a:rPr lang="zh-CN" altLang="zh-CN" dirty="0">
                    <a:latin typeface="黑体" panose="02010609060101010101" pitchFamily="49" charset="-122"/>
                    <a:ea typeface="黑体" panose="02010609060101010101" pitchFamily="49" charset="-122"/>
                  </a:rPr>
                  <a:t>记作</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𝑢</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𝜎</m:t>
                    </m:r>
                    <m:r>
                      <a:rPr lang="en-US" altLang="zh-CN" i="1">
                        <a:latin typeface="Cambria Math" panose="02040503050406030204" pitchFamily="18" charset="0"/>
                      </a:rPr>
                      <m:t>)</m:t>
                    </m:r>
                  </m:oMath>
                </a14:m>
                <a:r>
                  <a:rPr lang="zh-CN" altLang="zh-CN" dirty="0">
                    <a:latin typeface="黑体" panose="02010609060101010101" pitchFamily="49" charset="-122"/>
                    <a:ea typeface="黑体" panose="02010609060101010101" pitchFamily="49" charset="-122"/>
                  </a:rPr>
                  <a:t>。在给定其他玩家的策略组合</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r>
                          <a:rPr lang="en-US" altLang="zh-CN" i="1">
                            <a:latin typeface="Cambria Math" panose="02040503050406030204" pitchFamily="18" charset="0"/>
                          </a:rPr>
                          <m:t>−</m:t>
                        </m:r>
                        <m:r>
                          <a:rPr lang="en-US" altLang="zh-CN" i="1">
                            <a:latin typeface="Cambria Math" panose="02040503050406030204" pitchFamily="18" charset="0"/>
                          </a:rPr>
                          <m:t>𝑖</m:t>
                        </m:r>
                      </m:sub>
                    </m:sSub>
                  </m:oMath>
                </a14:m>
                <a:r>
                  <a:rPr lang="zh-CN" altLang="zh-CN" dirty="0">
                    <a:latin typeface="黑体" panose="02010609060101010101" pitchFamily="49" charset="-122"/>
                    <a:ea typeface="黑体" panose="02010609060101010101" pitchFamily="49" charset="-122"/>
                  </a:rPr>
                  <a:t>的情况下，对玩家</a:t>
                </a:r>
                <a14:m>
                  <m:oMath xmlns:m="http://schemas.openxmlformats.org/officeDocument/2006/math">
                    <m:r>
                      <a:rPr lang="en-US" altLang="zh-CN" i="1">
                        <a:latin typeface="Cambria Math" panose="02040503050406030204" pitchFamily="18" charset="0"/>
                      </a:rPr>
                      <m:t>𝑖</m:t>
                    </m:r>
                  </m:oMath>
                </a14:m>
                <a:r>
                  <a:rPr lang="zh-CN" altLang="zh-CN" dirty="0">
                    <a:latin typeface="黑体" panose="02010609060101010101" pitchFamily="49" charset="-122"/>
                    <a:ea typeface="黑体" panose="02010609060101010101" pitchFamily="49" charset="-122"/>
                  </a:rPr>
                  <a:t>而言的</a:t>
                </a:r>
                <a:r>
                  <a:rPr lang="zh-CN" altLang="zh-CN" sz="28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最优反应策略</a:t>
                </a:r>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𝜎</m:t>
                        </m:r>
                      </m:e>
                      <m:sub>
                        <m:r>
                          <a:rPr lang="en-US" altLang="zh-CN" i="1">
                            <a:latin typeface="Cambria Math" panose="02040503050406030204" pitchFamily="18" charset="0"/>
                          </a:rPr>
                          <m:t>𝑖</m:t>
                        </m:r>
                      </m:sub>
                      <m:sup>
                        <m:r>
                          <a:rPr lang="en-US" altLang="zh-CN" i="1">
                            <a:latin typeface="Cambria Math" panose="02040503050406030204" pitchFamily="18" charset="0"/>
                          </a:rPr>
                          <m:t>∗</m:t>
                        </m:r>
                      </m:sup>
                    </m:sSubSup>
                  </m:oMath>
                </a14:m>
                <a:r>
                  <a:rPr lang="zh-CN" altLang="zh-CN" dirty="0">
                    <a:latin typeface="黑体" panose="02010609060101010101" pitchFamily="49" charset="-122"/>
                    <a:ea typeface="黑体" panose="02010609060101010101" pitchFamily="49" charset="-122"/>
                  </a:rPr>
                  <a:t>满足如下条件：</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𝑢</m:t>
                        </m:r>
                      </m:e>
                      <m:sub>
                        <m:r>
                          <a:rPr lang="en-US" altLang="zh-CN" i="1">
                            <a:latin typeface="Cambria Math" panose="02040503050406030204" pitchFamily="18" charset="0"/>
                          </a:rPr>
                          <m:t>𝑖</m:t>
                        </m:r>
                      </m:sub>
                    </m:sSub>
                    <m:d>
                      <m:dPr>
                        <m:ctrlPr>
                          <a:rPr lang="zh-CN" altLang="zh-CN" i="1">
                            <a:latin typeface="Cambria Math" panose="02040503050406030204" pitchFamily="18" charset="0"/>
                          </a:rPr>
                        </m:ctrlPr>
                      </m:dPr>
                      <m:e>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𝜎</m:t>
                            </m:r>
                          </m:e>
                          <m:sub>
                            <m:r>
                              <a:rPr lang="en-US" altLang="zh-CN" i="1">
                                <a:latin typeface="Cambria Math" panose="02040503050406030204" pitchFamily="18" charset="0"/>
                              </a:rPr>
                              <m:t>𝑖</m:t>
                            </m:r>
                          </m:sub>
                          <m:sup>
                            <m:r>
                              <a:rPr lang="en-US" altLang="zh-CN" i="1">
                                <a:latin typeface="Cambria Math" panose="02040503050406030204" pitchFamily="18" charset="0"/>
                              </a:rPr>
                              <m:t>∗</m:t>
                            </m:r>
                          </m:sup>
                        </m:sSubSup>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r>
                              <a:rPr lang="en-US" altLang="zh-CN" i="1">
                                <a:latin typeface="Cambria Math" panose="02040503050406030204" pitchFamily="18" charset="0"/>
                              </a:rPr>
                              <m:t>−</m:t>
                            </m:r>
                            <m:r>
                              <a:rPr lang="en-US" altLang="zh-CN" i="1">
                                <a:latin typeface="Cambria Math" panose="02040503050406030204" pitchFamily="18" charset="0"/>
                              </a:rPr>
                              <m:t>𝑖</m:t>
                            </m:r>
                          </m:sub>
                        </m:sSub>
                      </m:e>
                    </m:d>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limLow>
                          <m:limLowPr>
                            <m:ctrlPr>
                              <a:rPr lang="zh-CN" altLang="zh-CN" i="1">
                                <a:latin typeface="Cambria Math" panose="02040503050406030204" pitchFamily="18" charset="0"/>
                              </a:rPr>
                            </m:ctrlPr>
                          </m:limLowPr>
                          <m:e>
                            <m:r>
                              <m:rPr>
                                <m:sty m:val="p"/>
                              </m:rPr>
                              <a:rPr lang="en-US" altLang="zh-CN">
                                <a:latin typeface="Cambria Math" panose="02040503050406030204" pitchFamily="18" charset="0"/>
                              </a:rPr>
                              <m:t>max</m:t>
                            </m:r>
                          </m:e>
                          <m:lim>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𝜎</m:t>
                                </m:r>
                              </m:e>
                              <m:sub>
                                <m:r>
                                  <a:rPr lang="en-US" altLang="zh-CN" i="1">
                                    <a:latin typeface="Cambria Math" panose="02040503050406030204" pitchFamily="18" charset="0"/>
                                  </a:rPr>
                                  <m:t>𝑖</m:t>
                                </m:r>
                              </m:sub>
                              <m:sup>
                                <m:r>
                                  <a:rPr lang="en-US" altLang="zh-CN" i="1">
                                    <a:latin typeface="Cambria Math" panose="02040503050406030204" pitchFamily="18" charset="0"/>
                                  </a:rPr>
                                  <m:t>′</m:t>
                                </m:r>
                              </m:sup>
                            </m:sSubSup>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Σ</m:t>
                                </m:r>
                              </m:e>
                              <m:sub>
                                <m:r>
                                  <a:rPr lang="en-US" altLang="zh-CN" i="1">
                                    <a:latin typeface="Cambria Math" panose="02040503050406030204" pitchFamily="18" charset="0"/>
                                  </a:rPr>
                                  <m:t>𝑖</m:t>
                                </m:r>
                              </m:sub>
                            </m:sSub>
                          </m:lim>
                        </m:limLow>
                      </m:fName>
                      <m:e>
                        <m:sSub>
                          <m:sSubPr>
                            <m:ctrlPr>
                              <a:rPr lang="zh-CN" altLang="zh-CN" i="1">
                                <a:latin typeface="Cambria Math" panose="02040503050406030204" pitchFamily="18" charset="0"/>
                              </a:rPr>
                            </m:ctrlPr>
                          </m:sSubPr>
                          <m:e>
                            <m:r>
                              <a:rPr lang="en-US" altLang="zh-CN" i="1">
                                <a:latin typeface="Cambria Math" panose="02040503050406030204" pitchFamily="18" charset="0"/>
                              </a:rPr>
                              <m:t>𝑢</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𝜎</m:t>
                            </m:r>
                          </m:e>
                          <m:sub>
                            <m:r>
                              <a:rPr lang="en-US" altLang="zh-CN" i="1">
                                <a:latin typeface="Cambria Math" panose="02040503050406030204" pitchFamily="18" charset="0"/>
                              </a:rPr>
                              <m:t>𝑖</m:t>
                            </m:r>
                          </m:sub>
                          <m:sup>
                            <m:r>
                              <a:rPr lang="en-US" altLang="zh-CN" i="1">
                                <a:latin typeface="Cambria Math" panose="02040503050406030204" pitchFamily="18" charset="0"/>
                              </a:rPr>
                              <m:t>′</m:t>
                            </m:r>
                          </m:sup>
                        </m:sSubSup>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r>
                              <a:rPr lang="en-US" altLang="zh-CN" i="1">
                                <a:latin typeface="Cambria Math" panose="02040503050406030204" pitchFamily="18" charset="0"/>
                              </a:rPr>
                              <m:t>−</m:t>
                            </m:r>
                            <m:r>
                              <a:rPr lang="en-US" altLang="zh-CN" i="1">
                                <a:latin typeface="Cambria Math" panose="02040503050406030204" pitchFamily="18" charset="0"/>
                              </a:rPr>
                              <m:t>𝑖</m:t>
                            </m:r>
                          </m:sub>
                        </m:sSub>
                        <m:r>
                          <a:rPr lang="en-US" altLang="zh-CN" i="1">
                            <a:latin typeface="Cambria Math" panose="02040503050406030204" pitchFamily="18" charset="0"/>
                          </a:rPr>
                          <m:t>)</m:t>
                        </m:r>
                      </m:e>
                    </m:func>
                  </m:oMath>
                </a14:m>
                <a:r>
                  <a:rPr lang="zh-CN" altLang="en-US" dirty="0">
                    <a:latin typeface="黑体" panose="02010609060101010101" pitchFamily="49" charset="-122"/>
                    <a:ea typeface="黑体" panose="02010609060101010101" pitchFamily="49" charset="-122"/>
                  </a:rPr>
                  <a:t>。这里</a:t>
                </a:r>
                <a14:m>
                  <m:oMath xmlns:m="http://schemas.openxmlformats.org/officeDocument/2006/math">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Σ</m:t>
                        </m:r>
                      </m:e>
                      <m:sub>
                        <m:r>
                          <a:rPr lang="en-US" altLang="zh-CN" i="1">
                            <a:latin typeface="Cambria Math" panose="02040503050406030204" pitchFamily="18" charset="0"/>
                          </a:rPr>
                          <m:t>𝑖</m:t>
                        </m:r>
                      </m:sub>
                    </m:sSub>
                  </m:oMath>
                </a14:m>
                <a:r>
                  <a:rPr lang="zh-CN" altLang="zh-CN" dirty="0">
                    <a:latin typeface="黑体" panose="02010609060101010101" pitchFamily="49" charset="-122"/>
                    <a:ea typeface="黑体" panose="02010609060101010101" pitchFamily="49" charset="-122"/>
                  </a:rPr>
                  <a:t>是玩家</a:t>
                </a:r>
                <a14:m>
                  <m:oMath xmlns:m="http://schemas.openxmlformats.org/officeDocument/2006/math">
                    <m:r>
                      <a:rPr lang="en-US" altLang="zh-CN" i="1">
                        <a:latin typeface="Cambria Math" panose="02040503050406030204" pitchFamily="18" charset="0"/>
                      </a:rPr>
                      <m:t>𝑖</m:t>
                    </m:r>
                  </m:oMath>
                </a14:m>
                <a:r>
                  <a:rPr lang="zh-CN" altLang="zh-CN" dirty="0">
                    <a:latin typeface="黑体" panose="02010609060101010101" pitchFamily="49" charset="-122"/>
                    <a:ea typeface="黑体" panose="02010609060101010101" pitchFamily="49" charset="-122"/>
                  </a:rPr>
                  <a:t>可以选择的所有策略，如上条件表示当玩家</a:t>
                </a:r>
                <a14:m>
                  <m:oMath xmlns:m="http://schemas.openxmlformats.org/officeDocument/2006/math">
                    <m:r>
                      <a:rPr lang="en-US" altLang="zh-CN" i="1">
                        <a:latin typeface="Cambria Math" panose="02040503050406030204" pitchFamily="18" charset="0"/>
                      </a:rPr>
                      <m:t>𝑖</m:t>
                    </m:r>
                  </m:oMath>
                </a14:m>
                <a:r>
                  <a:rPr lang="zh-CN" altLang="zh-CN" dirty="0">
                    <a:latin typeface="黑体" panose="02010609060101010101" pitchFamily="49" charset="-122"/>
                    <a:ea typeface="黑体" panose="02010609060101010101" pitchFamily="49" charset="-122"/>
                  </a:rPr>
                  <a:t>采用最优反应策略时，玩家</a:t>
                </a:r>
                <a14:m>
                  <m:oMath xmlns:m="http://schemas.openxmlformats.org/officeDocument/2006/math">
                    <m:r>
                      <a:rPr lang="en-US" altLang="zh-CN" i="1">
                        <a:latin typeface="Cambria Math" panose="02040503050406030204" pitchFamily="18" charset="0"/>
                      </a:rPr>
                      <m:t>𝑖</m:t>
                    </m:r>
                  </m:oMath>
                </a14:m>
                <a:r>
                  <a:rPr lang="zh-CN" altLang="zh-CN" dirty="0">
                    <a:latin typeface="黑体" panose="02010609060101010101" pitchFamily="49" charset="-122"/>
                    <a:ea typeface="黑体" panose="02010609060101010101" pitchFamily="49" charset="-122"/>
                  </a:rPr>
                  <a:t>能够获得最大收益。</a:t>
                </a:r>
              </a:p>
              <a:p>
                <a:pPr>
                  <a:lnSpc>
                    <a:spcPct val="100000"/>
                  </a:lnSpc>
                </a:pP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ct val="250000"/>
                  </a:lnSpc>
                </a:pPr>
                <a:endParaRPr lang="zh-CN" altLang="zh-CN" sz="1600" dirty="0">
                  <a:latin typeface="黑体" panose="02010609060101010101" pitchFamily="49" charset="-122"/>
                  <a:ea typeface="黑体" panose="02010609060101010101" pitchFamily="49" charset="-122"/>
                </a:endParaRPr>
              </a:p>
              <a:p>
                <a:pPr algn="just">
                  <a:lnSpc>
                    <a:spcPct val="150000"/>
                  </a:lnSpc>
                </a:pP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CBD7E65C-ADC3-4007-A0E6-FB2CEE1E1164}"/>
                  </a:ext>
                </a:extLst>
              </p:cNvPr>
              <p:cNvSpPr>
                <a:spLocks noRot="1" noChangeAspect="1" noMove="1" noResize="1" noEditPoints="1" noAdjustHandles="1" noChangeArrowheads="1" noChangeShapeType="1" noTextEdit="1"/>
              </p:cNvSpPr>
              <p:nvPr/>
            </p:nvSpPr>
            <p:spPr>
              <a:xfrm>
                <a:off x="572086" y="1454332"/>
                <a:ext cx="10616418" cy="6086538"/>
              </a:xfrm>
              <a:prstGeom prst="rect">
                <a:avLst/>
              </a:prstGeom>
              <a:blipFill>
                <a:blip r:embed="rId3"/>
                <a:stretch>
                  <a:fillRect l="-517" r="-46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77538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a:extLst>
              <a:ext uri="{FF2B5EF4-FFF2-40B4-BE49-F238E27FC236}">
                <a16:creationId xmlns:a16="http://schemas.microsoft.com/office/drawing/2014/main" id="{973B9593-7D86-4BDA-8416-77FE26E63B1A}"/>
              </a:ext>
            </a:extLst>
          </p:cNvPr>
          <p:cNvSpPr/>
          <p:nvPr/>
        </p:nvSpPr>
        <p:spPr>
          <a:xfrm>
            <a:off x="1934836" y="3239202"/>
            <a:ext cx="8322327" cy="1481621"/>
          </a:xfrm>
          <a:prstGeom prst="roundRect">
            <a:avLst/>
          </a:prstGeom>
          <a:solidFill>
            <a:schemeClr val="accent6">
              <a:lumMod val="60000"/>
              <a:lumOff val="40000"/>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黑体" panose="02010609060101010101" pitchFamily="49" charset="-122"/>
              <a:ea typeface="黑体" panose="02010609060101010101" pitchFamily="49" charset="-122"/>
            </a:endParaRPr>
          </a:p>
        </p:txBody>
      </p:sp>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虚拟遗憾最小化算法：纳什均衡</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内容占位符 4">
                <a:extLst>
                  <a:ext uri="{FF2B5EF4-FFF2-40B4-BE49-F238E27FC236}">
                    <a16:creationId xmlns:a16="http://schemas.microsoft.com/office/drawing/2014/main" id="{F59FFA24-62EA-4A88-BF88-CD2A9DAD2693}"/>
                  </a:ext>
                </a:extLst>
              </p:cNvPr>
              <p:cNvSpPr txBox="1">
                <a:spLocks/>
              </p:cNvSpPr>
              <p:nvPr/>
            </p:nvSpPr>
            <p:spPr>
              <a:xfrm>
                <a:off x="909711" y="1372834"/>
                <a:ext cx="10700824"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在策略组合</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𝜎</m:t>
                        </m:r>
                      </m:e>
                      <m:sup>
                        <m:r>
                          <a:rPr lang="en-US" altLang="zh-CN" sz="2000" i="1">
                            <a:latin typeface="Cambria Math" panose="02040503050406030204" pitchFamily="18" charset="0"/>
                          </a:rPr>
                          <m:t>∗</m:t>
                        </m:r>
                      </m:sup>
                    </m:sSup>
                  </m:oMath>
                </a14:m>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中，如果每个玩家的策略相对于其他玩家的策略而言都是最佳反应策略，那么策略组合</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𝜎</m:t>
                        </m:r>
                      </m:e>
                      <m:sup>
                        <m:r>
                          <a:rPr lang="en-US" altLang="zh-CN" sz="2000" i="1">
                            <a:latin typeface="Cambria Math" panose="02040503050406030204" pitchFamily="18" charset="0"/>
                          </a:rPr>
                          <m:t>∗</m:t>
                        </m:r>
                      </m:sup>
                    </m:sSup>
                  </m:oMath>
                </a14:m>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就是一个</a:t>
                </a:r>
                <a:r>
                  <a:rPr lang="zh-CN" altLang="zh-CN"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纳什均衡（</a:t>
                </a:r>
                <a:r>
                  <a:rPr lang="en-US" altLang="zh-CN"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Nash equilibrium</a:t>
                </a:r>
                <a:r>
                  <a:rPr lang="zh-CN" altLang="zh-CN"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）策略</a:t>
                </a: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在有限对手、有限策略情况下，纳什均衡一定存在。</a:t>
                </a:r>
                <a:endParaRPr lang="en-US" altLang="zh-CN" sz="20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a:p>
                <a:pPr marL="0" indent="0" algn="ctr">
                  <a:lnSpc>
                    <a:spcPct val="150000"/>
                  </a:lnSpc>
                  <a:buNone/>
                </a:pP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ctr">
                  <a:lnSpc>
                    <a:spcPct val="150000"/>
                  </a:lnSpc>
                  <a:buNone/>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策略组</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𝜎</m:t>
                        </m:r>
                      </m:e>
                      <m:sup>
                        <m:r>
                          <a:rPr lang="en-US" altLang="zh-CN" sz="2000" i="1">
                            <a:latin typeface="Cambria Math" panose="02040503050406030204" pitchFamily="18" charset="0"/>
                          </a:rPr>
                          <m:t>∗</m:t>
                        </m:r>
                      </m:sup>
                    </m:sSup>
                    <m:r>
                      <a:rPr lang="en-US" altLang="zh-CN" sz="2000" i="1">
                        <a:latin typeface="Cambria Math" panose="02040503050406030204" pitchFamily="18" charset="0"/>
                      </a:rPr>
                      <m:t>=</m:t>
                    </m:r>
                    <m:d>
                      <m:dPr>
                        <m:begChr m:val="{"/>
                        <m:endChr m:val="}"/>
                        <m:ctrlPr>
                          <a:rPr lang="zh-CN" altLang="zh-CN" sz="2000" i="1">
                            <a:latin typeface="Cambria Math" panose="02040503050406030204" pitchFamily="18" charset="0"/>
                          </a:rPr>
                        </m:ctrlPr>
                      </m:dPr>
                      <m:e>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𝜎</m:t>
                            </m:r>
                          </m:e>
                          <m:sub>
                            <m:r>
                              <a:rPr lang="en-US" altLang="zh-CN" sz="2000" i="1">
                                <a:latin typeface="Cambria Math" panose="02040503050406030204" pitchFamily="18" charset="0"/>
                              </a:rPr>
                              <m:t>1</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𝜎</m:t>
                            </m:r>
                          </m:e>
                          <m:sub>
                            <m:r>
                              <a:rPr lang="en-US" altLang="zh-CN" sz="2000" i="1">
                                <a:latin typeface="Cambria Math" panose="02040503050406030204" pitchFamily="18" charset="0"/>
                              </a:rPr>
                              <m:t>2</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𝜎</m:t>
                            </m:r>
                          </m:e>
                          <m:sub>
                            <m:r>
                              <a:rPr lang="en-US" altLang="zh-CN" sz="2000" i="1">
                                <a:latin typeface="Cambria Math" panose="02040503050406030204" pitchFamily="18" charset="0"/>
                              </a:rPr>
                              <m:t>𝑁</m:t>
                            </m:r>
                          </m:sub>
                          <m:sup>
                            <m:r>
                              <a:rPr lang="en-US" altLang="zh-CN" sz="2000" i="1">
                                <a:latin typeface="Cambria Math" panose="02040503050406030204" pitchFamily="18" charset="0"/>
                              </a:rPr>
                              <m:t>∗</m:t>
                            </m:r>
                          </m:sup>
                        </m:sSubSup>
                      </m:e>
                    </m:d>
                  </m:oMath>
                </a14:m>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对任意玩家</a:t>
                </a:r>
                <a14:m>
                  <m:oMath xmlns:m="http://schemas.openxmlformats.org/officeDocument/2006/math">
                    <m:r>
                      <a:rPr lang="en-US" altLang="zh-CN" sz="2000" i="1">
                        <a:latin typeface="Cambria Math" panose="02040503050406030204" pitchFamily="18" charset="0"/>
                      </a:rPr>
                      <m:t>𝑖</m:t>
                    </m:r>
                    <m:r>
                      <a:rPr lang="en-US" altLang="zh-CN" sz="2000" i="1">
                        <a:latin typeface="Cambria Math" panose="02040503050406030204" pitchFamily="18" charset="0"/>
                      </a:rPr>
                      <m:t>=1,..,</m:t>
                    </m:r>
                    <m:r>
                      <a:rPr lang="en-US" altLang="zh-CN" sz="2000" i="1">
                        <a:latin typeface="Cambria Math" panose="02040503050406030204" pitchFamily="18" charset="0"/>
                      </a:rPr>
                      <m:t>𝑁</m:t>
                    </m:r>
                  </m:oMath>
                </a14:m>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，满足如下条件：</a:t>
                </a:r>
                <a:endParaRPr lang="en-US" altLang="zh-CN" sz="2000" i="1" dirty="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𝑢</m:t>
                          </m:r>
                        </m:e>
                        <m:sub>
                          <m:r>
                            <a:rPr lang="en-US" altLang="zh-CN" sz="2000" i="1">
                              <a:latin typeface="Cambria Math" panose="02040503050406030204" pitchFamily="18" charset="0"/>
                            </a:rPr>
                            <m:t>𝑖</m:t>
                          </m:r>
                        </m:sub>
                      </m:sSub>
                      <m:d>
                        <m:dPr>
                          <m:ctrlPr>
                            <a:rPr lang="zh-CN" altLang="zh-CN" sz="2000" i="1">
                              <a:latin typeface="Cambria Math" panose="02040503050406030204" pitchFamily="18" charset="0"/>
                            </a:rPr>
                          </m:ctrlPr>
                        </m:dPr>
                        <m:e>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𝜎</m:t>
                              </m:r>
                            </m:e>
                            <m:sup>
                              <m:r>
                                <a:rPr lang="en-US" altLang="zh-CN" sz="2000" i="1">
                                  <a:latin typeface="Cambria Math" panose="02040503050406030204" pitchFamily="18" charset="0"/>
                                </a:rPr>
                                <m:t>∗</m:t>
                              </m:r>
                            </m:sup>
                          </m:sSup>
                        </m:e>
                      </m:d>
                      <m:r>
                        <a:rPr lang="en-US" altLang="zh-CN" sz="2000" i="1">
                          <a:latin typeface="Cambria Math" panose="02040503050406030204" pitchFamily="18" charset="0"/>
                        </a:rPr>
                        <m:t>≥</m:t>
                      </m:r>
                      <m:func>
                        <m:funcPr>
                          <m:ctrlPr>
                            <a:rPr lang="zh-CN" altLang="zh-CN" sz="2000" i="1">
                              <a:latin typeface="Cambria Math" panose="02040503050406030204" pitchFamily="18" charset="0"/>
                            </a:rPr>
                          </m:ctrlPr>
                        </m:funcPr>
                        <m:fName>
                          <m:limLow>
                            <m:limLowPr>
                              <m:ctrlPr>
                                <a:rPr lang="zh-CN" altLang="zh-CN" sz="2000" i="1">
                                  <a:latin typeface="Cambria Math" panose="02040503050406030204" pitchFamily="18" charset="0"/>
                                </a:rPr>
                              </m:ctrlPr>
                            </m:limLowPr>
                            <m:e>
                              <m:r>
                                <m:rPr>
                                  <m:sty m:val="p"/>
                                </m:rPr>
                                <a:rPr lang="en-US" altLang="zh-CN" sz="2000">
                                  <a:latin typeface="Cambria Math" panose="02040503050406030204" pitchFamily="18" charset="0"/>
                                </a:rPr>
                                <m:t>max</m:t>
                              </m:r>
                            </m:e>
                            <m:lim>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𝜎</m:t>
                                  </m:r>
                                </m:e>
                                <m:sub>
                                  <m:r>
                                    <a:rPr lang="en-US" altLang="zh-CN" sz="2000" i="1">
                                      <a:latin typeface="Cambria Math" panose="02040503050406030204" pitchFamily="18" charset="0"/>
                                    </a:rPr>
                                    <m:t>𝑖</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Σ</m:t>
                                  </m:r>
                                </m:e>
                                <m:sub>
                                  <m:r>
                                    <a:rPr lang="en-US" altLang="zh-CN" sz="2000" i="1">
                                      <a:latin typeface="Cambria Math" panose="02040503050406030204" pitchFamily="18" charset="0"/>
                                    </a:rPr>
                                    <m:t>𝑖</m:t>
                                  </m:r>
                                </m:sub>
                              </m:sSub>
                            </m:lim>
                          </m:limLow>
                        </m:fName>
                        <m:e>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𝜇</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𝜎</m:t>
                              </m:r>
                            </m:e>
                            <m:sub>
                              <m:r>
                                <a:rPr lang="en-US" altLang="zh-CN" sz="2000" i="1">
                                  <a:latin typeface="Cambria Math" panose="02040503050406030204" pitchFamily="18" charset="0"/>
                                </a:rPr>
                                <m:t>1</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𝜎</m:t>
                              </m:r>
                            </m:e>
                            <m:sub>
                              <m:r>
                                <a:rPr lang="en-US" altLang="zh-CN" sz="2000" i="1">
                                  <a:latin typeface="Cambria Math" panose="02040503050406030204" pitchFamily="18" charset="0"/>
                                </a:rPr>
                                <m:t>2</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𝜎</m:t>
                              </m:r>
                            </m:e>
                            <m:sub>
                              <m:r>
                                <a:rPr lang="en-US" altLang="zh-CN" sz="2000" i="1">
                                  <a:latin typeface="Cambria Math" panose="02040503050406030204" pitchFamily="18" charset="0"/>
                                </a:rPr>
                                <m:t>𝑖</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𝜎</m:t>
                              </m:r>
                            </m:e>
                            <m:sub>
                              <m:r>
                                <a:rPr lang="en-US" altLang="zh-CN" sz="2000" i="1">
                                  <a:latin typeface="Cambria Math" panose="02040503050406030204" pitchFamily="18" charset="0"/>
                                </a:rPr>
                                <m:t>𝑁</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e>
                      </m:func>
                    </m:oMath>
                  </m:oMathPara>
                </a14:m>
                <a:endParaRPr lang="zh-CN"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在博弈策略求解的过程中，希望求解得到每个玩家最优反应策略，若所有玩家都是理性的，则算法求解最优反应策略就是一个纳什均衡。考虑到计算资源有限这一前提，难以通过遍历博弈中所有策略组合来找到一个最优反应策略，因此需要找到一种能快速发现近似纳什均衡的方法。</a:t>
                </a:r>
              </a:p>
              <a:p>
                <a:pPr>
                  <a:lnSpc>
                    <a:spcPct val="100000"/>
                  </a:lnSpc>
                </a:pPr>
                <a:endParaRPr lang="en-US" altLang="zh-CN" sz="1800" b="1" dirty="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00000"/>
                  </a:lnSpc>
                  <a:buNone/>
                </a:pPr>
                <a:endParaRPr lang="en-US" altLang="zh-CN" sz="1600" b="1"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8" name="内容占位符 4">
                <a:extLst>
                  <a:ext uri="{FF2B5EF4-FFF2-40B4-BE49-F238E27FC236}">
                    <a16:creationId xmlns:a16="http://schemas.microsoft.com/office/drawing/2014/main" id="{F59FFA24-62EA-4A88-BF88-CD2A9DAD2693}"/>
                  </a:ext>
                </a:extLst>
              </p:cNvPr>
              <p:cNvSpPr txBox="1">
                <a:spLocks noRot="1" noChangeAspect="1" noMove="1" noResize="1" noEditPoints="1" noAdjustHandles="1" noChangeArrowheads="1" noChangeShapeType="1" noTextEdit="1"/>
              </p:cNvSpPr>
              <p:nvPr/>
            </p:nvSpPr>
            <p:spPr>
              <a:xfrm>
                <a:off x="909711" y="1372834"/>
                <a:ext cx="10700824" cy="4351339"/>
              </a:xfrm>
              <a:prstGeom prst="rect">
                <a:avLst/>
              </a:prstGeom>
              <a:blipFill>
                <a:blip r:embed="rId3"/>
                <a:stretch>
                  <a:fillRect l="-513" r="-513" b="-214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63770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p:sp>
        <p:nvSpPr>
          <p:cNvPr id="10" name="矩形 9">
            <a:extLst>
              <a:ext uri="{FF2B5EF4-FFF2-40B4-BE49-F238E27FC236}">
                <a16:creationId xmlns:a16="http://schemas.microsoft.com/office/drawing/2014/main" id="{C0525534-B8C3-498D-8996-62F7AADCD6D9}"/>
              </a:ext>
            </a:extLst>
          </p:cNvPr>
          <p:cNvSpPr/>
          <p:nvPr/>
        </p:nvSpPr>
        <p:spPr>
          <a:xfrm>
            <a:off x="1306286" y="1706305"/>
            <a:ext cx="9612085" cy="507447"/>
          </a:xfrm>
          <a:prstGeom prst="rect">
            <a:avLst/>
          </a:prstGeom>
        </p:spPr>
        <p:txBody>
          <a:bodyPr wrap="square">
            <a:spAutoFit/>
          </a:bodyPr>
          <a:lstStyle/>
          <a:p>
            <a:pPr indent="266700" algn="just">
              <a:lnSpc>
                <a:spcPct val="150000"/>
              </a:lnSpc>
              <a:spcAft>
                <a:spcPts val="0"/>
              </a:spcAft>
            </a:pPr>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遗憾最小化算法是一种根据以往博弈过程中所得遗憾程度来选择未来行为的方法。</a:t>
            </a:r>
            <a:endPar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30CEF8F0-7E4A-460C-A5D2-43C02B029E1B}"/>
                  </a:ext>
                </a:extLst>
              </p:cNvPr>
              <p:cNvSpPr/>
              <p:nvPr/>
            </p:nvSpPr>
            <p:spPr>
              <a:xfrm>
                <a:off x="1885848" y="2430294"/>
                <a:ext cx="8420304" cy="3674276"/>
              </a:xfrm>
              <a:prstGeom prst="rect">
                <a:avLst/>
              </a:prstGeom>
            </p:spPr>
            <p:txBody>
              <a:bodyPr wrap="square">
                <a:spAutoFit/>
              </a:bodyPr>
              <a:lstStyle/>
              <a:p>
                <a:pPr indent="266700" algn="just">
                  <a:lnSpc>
                    <a:spcPct val="150000"/>
                  </a:lnSpc>
                  <a:spcAft>
                    <a:spcPts val="0"/>
                  </a:spcAft>
                </a:pPr>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玩家</a:t>
                </a:r>
                <a14:m>
                  <m:oMath xmlns:m="http://schemas.openxmlformats.org/officeDocument/2006/math">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在过去</a:t>
                </a:r>
                <a14:m>
                  <m:oMath xmlns:m="http://schemas.openxmlformats.org/officeDocument/2006/math">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𝑇</m:t>
                    </m:r>
                  </m:oMath>
                </a14:m>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轮中采取策略</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𝑖</m:t>
                        </m:r>
                      </m:sub>
                    </m:sSub>
                  </m:oMath>
                </a14:m>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的累加遗憾值定义如下：</a:t>
                </a:r>
                <a:endPar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indent="266700" algn="ctr">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𝑇</m:t>
                          </m:r>
                        </m:sup>
                      </m:sSub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nary>
                        <m:naryPr>
                          <m:chr m:val="∑"/>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𝑇</m:t>
                          </m:r>
                        </m:sup>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𝑖</m:t>
                              </m:r>
                            </m:sub>
                          </m:sSub>
                          <m:d>
                            <m:d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sSubSup>
                                <m:sSub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sup>
                              </m:sSubSup>
                            </m:e>
                          </m:d>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𝑖</m:t>
                              </m:r>
                            </m:sub>
                          </m:sSub>
                          <m:d>
                            <m:d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𝜎</m:t>
                                  </m:r>
                                </m:e>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sup>
                              </m:sSup>
                            </m:e>
                          </m:d>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e>
                      </m:nary>
                    </m:oMath>
                  </m:oMathPara>
                </a14:m>
                <a:endPar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indent="266700" algn="r">
                  <a:lnSpc>
                    <a:spcPct val="150000"/>
                  </a:lnSpc>
                  <a:spcAft>
                    <a:spcPts val="0"/>
                  </a:spcAft>
                </a:pPr>
                <a:r>
                  <a:rPr lang="en-US" altLang="zh-CN" sz="2000" kern="1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150000"/>
                  </a:lnSpc>
                  <a:spcAft>
                    <a:spcPts val="0"/>
                  </a:spcAft>
                </a:pPr>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其中</a:t>
                </a:r>
                <a14:m>
                  <m:oMath xmlns:m="http://schemas.openxmlformats.org/officeDocument/2006/math">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𝜎</m:t>
                        </m:r>
                      </m:e>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sup>
                    </m:sSup>
                  </m:oMath>
                </a14:m>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和</a:t>
                </a:r>
                <a14:m>
                  <m:oMath xmlns:m="http://schemas.openxmlformats.org/officeDocument/2006/math">
                    <m:sSubSup>
                      <m:sSub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sup>
                    </m:sSubSup>
                  </m:oMath>
                </a14:m>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分别表示第</a:t>
                </a:r>
                <a14:m>
                  <m:oMath xmlns:m="http://schemas.openxmlformats.org/officeDocument/2006/math">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oMath>
                </a14:m>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轮中所有玩家的策略组合和除了玩家</a:t>
                </a:r>
                <a14:m>
                  <m:oMath xmlns:m="http://schemas.openxmlformats.org/officeDocument/2006/math">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以外的策略组合。简单地说，累加遗憾值代表着在过去</a:t>
                </a:r>
                <a14:m>
                  <m:oMath xmlns:m="http://schemas.openxmlformats.org/officeDocument/2006/math">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𝑇</m:t>
                    </m:r>
                  </m:oMath>
                </a14:m>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轮中，玩家</a:t>
                </a:r>
                <a14:m>
                  <m:oMath xmlns:m="http://schemas.openxmlformats.org/officeDocument/2006/math">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在每一轮中选择策略</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𝑖</m:t>
                        </m:r>
                      </m:sub>
                    </m:sSub>
                  </m:oMath>
                </a14:m>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所得收益与采取其他策略所得收益之差的累加。</a:t>
                </a:r>
                <a:endPar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30CEF8F0-7E4A-460C-A5D2-43C02B029E1B}"/>
                  </a:ext>
                </a:extLst>
              </p:cNvPr>
              <p:cNvSpPr>
                <a:spLocks noRot="1" noChangeAspect="1" noMove="1" noResize="1" noEditPoints="1" noAdjustHandles="1" noChangeArrowheads="1" noChangeShapeType="1" noTextEdit="1"/>
              </p:cNvSpPr>
              <p:nvPr/>
            </p:nvSpPr>
            <p:spPr>
              <a:xfrm>
                <a:off x="1885848" y="2430294"/>
                <a:ext cx="8420304" cy="3674276"/>
              </a:xfrm>
              <a:prstGeom prst="rect">
                <a:avLst/>
              </a:prstGeom>
              <a:blipFill>
                <a:blip r:embed="rId3"/>
                <a:stretch>
                  <a:fillRect l="-724" r="-724" b="-2326"/>
                </a:stretch>
              </a:blipFill>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F2C60F74-0068-31C9-0CB5-4665DAFEAB85}"/>
              </a:ext>
            </a:extLst>
          </p:cNvPr>
          <p:cNvPicPr>
            <a:picLocks noChangeAspect="1"/>
          </p:cNvPicPr>
          <p:nvPr/>
        </p:nvPicPr>
        <p:blipFill>
          <a:blip r:embed="rId4"/>
          <a:stretch>
            <a:fillRect/>
          </a:stretch>
        </p:blipFill>
        <p:spPr>
          <a:xfrm>
            <a:off x="353424" y="4829176"/>
            <a:ext cx="11517808" cy="1173242"/>
          </a:xfrm>
          <a:prstGeom prst="rect">
            <a:avLst/>
          </a:prstGeom>
          <a:ln w="38100" cap="sq">
            <a:solidFill>
              <a:srgbClr val="FF0000"/>
            </a:solidFill>
            <a:prstDash val="solid"/>
            <a:miter lim="800000"/>
          </a:ln>
          <a:effectLst>
            <a:outerShdw blurRad="50800" dist="38100" dir="2700000" algn="tl" rotWithShape="0">
              <a:srgbClr val="000000">
                <a:alpha val="43000"/>
              </a:srgbClr>
            </a:outerShdw>
          </a:effectLst>
        </p:spPr>
      </p:pic>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46D25DA-04F0-31B6-0CE5-BE42EC2EAFDF}"/>
                  </a:ext>
                </a:extLst>
              </p:cNvPr>
              <p:cNvSpPr txBox="1"/>
              <p:nvPr/>
            </p:nvSpPr>
            <p:spPr>
              <a:xfrm>
                <a:off x="3048000" y="4351573"/>
                <a:ext cx="6096000" cy="369332"/>
              </a:xfrm>
              <a:prstGeom prst="rect">
                <a:avLst/>
              </a:prstGeom>
              <a:noFill/>
            </p:spPr>
            <p:txBody>
              <a:bodyPr wrap="square">
                <a:spAutoFit/>
              </a:bodyPr>
              <a:lstStyle/>
              <a:p>
                <a:pPr algn="ctr"/>
                <a:r>
                  <a:rPr lang="zh-CN" altLang="en-US" kern="100" dirty="0">
                    <a:ea typeface="Cambria Math" panose="02040503050406030204" pitchFamily="18" charset="0"/>
                    <a:cs typeface="Times New Roman" panose="02020603050405020304" pitchFamily="18" charset="0"/>
                  </a:rPr>
                  <a:t>其中，</a:t>
                </a:r>
                <a14:m>
                  <m:oMath xmlns:m="http://schemas.openxmlformats.org/officeDocument/2006/math">
                    <m:sSup>
                      <m:sSupPr>
                        <m:ctrlPr>
                          <a:rPr lang="zh-CN" altLang="zh-CN" sz="1800" i="1" kern="100"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latin typeface="Cambria Math" panose="02040503050406030204" pitchFamily="18" charset="0"/>
                            <a:ea typeface="华文楷体" panose="02010600040101010101" pitchFamily="2" charset="-122"/>
                            <a:cs typeface="Times New Roman" panose="02020603050405020304" pitchFamily="18" charset="0"/>
                          </a:rPr>
                          <m:t>𝜎</m:t>
                        </m:r>
                      </m:e>
                      <m:sup>
                        <m:r>
                          <a:rPr lang="en-US" altLang="zh-CN" sz="1800" i="1" kern="100">
                            <a:latin typeface="Cambria Math" panose="02040503050406030204" pitchFamily="18" charset="0"/>
                            <a:ea typeface="华文楷体" panose="02010600040101010101" pitchFamily="2" charset="-122"/>
                            <a:cs typeface="Times New Roman" panose="02020603050405020304" pitchFamily="18" charset="0"/>
                          </a:rPr>
                          <m:t>𝑡</m:t>
                        </m:r>
                      </m:sup>
                    </m:sSup>
                  </m:oMath>
                </a14:m>
                <a:r>
                  <a:rPr lang="zh-CN" altLang="en-US" dirty="0"/>
                  <a:t>中玩家</a:t>
                </a:r>
                <a14:m>
                  <m:oMath xmlns:m="http://schemas.openxmlformats.org/officeDocument/2006/math">
                    <m:r>
                      <a:rPr lang="en-US" altLang="zh-CN" b="0" i="1" kern="100" smtClean="0">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en-US" dirty="0"/>
                  <a:t>的策略是他在第</a:t>
                </a:r>
                <a14:m>
                  <m:oMath xmlns:m="http://schemas.openxmlformats.org/officeDocument/2006/math">
                    <m:r>
                      <a:rPr lang="en-US" altLang="zh-CN" b="0" i="1" kern="100" smtClean="0">
                        <a:latin typeface="Cambria Math" panose="02040503050406030204" pitchFamily="18" charset="0"/>
                        <a:ea typeface="华文楷体" panose="02010600040101010101" pitchFamily="2" charset="-122"/>
                        <a:cs typeface="Times New Roman" panose="02020603050405020304" pitchFamily="18" charset="0"/>
                      </a:rPr>
                      <m:t>𝑡</m:t>
                    </m:r>
                  </m:oMath>
                </a14:m>
                <a:r>
                  <a:rPr lang="zh-CN" altLang="en-US" dirty="0"/>
                  <a:t>轮实际选择的策略</a:t>
                </a:r>
              </a:p>
            </p:txBody>
          </p:sp>
        </mc:Choice>
        <mc:Fallback xmlns="">
          <p:sp>
            <p:nvSpPr>
              <p:cNvPr id="18" name="文本框 17">
                <a:extLst>
                  <a:ext uri="{FF2B5EF4-FFF2-40B4-BE49-F238E27FC236}">
                    <a16:creationId xmlns:a16="http://schemas.microsoft.com/office/drawing/2014/main" id="{F46D25DA-04F0-31B6-0CE5-BE42EC2EAFDF}"/>
                  </a:ext>
                </a:extLst>
              </p:cNvPr>
              <p:cNvSpPr txBox="1">
                <a:spLocks noRot="1" noChangeAspect="1" noMove="1" noResize="1" noEditPoints="1" noAdjustHandles="1" noChangeArrowheads="1" noChangeShapeType="1" noTextEdit="1"/>
              </p:cNvSpPr>
              <p:nvPr/>
            </p:nvSpPr>
            <p:spPr>
              <a:xfrm>
                <a:off x="3048000" y="4351573"/>
                <a:ext cx="6096000" cy="369332"/>
              </a:xfrm>
              <a:prstGeom prst="rect">
                <a:avLst/>
              </a:prstGeom>
              <a:blipFill>
                <a:blip r:embed="rId5"/>
                <a:stretch>
                  <a:fillRect t="-15000" b="-21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36960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453D00CC-4AAE-45AD-A7FC-6AB72E0C730C}"/>
                  </a:ext>
                </a:extLst>
              </p:cNvPr>
              <p:cNvSpPr/>
              <p:nvPr/>
            </p:nvSpPr>
            <p:spPr>
              <a:xfrm>
                <a:off x="2173090" y="1893566"/>
                <a:ext cx="7809073" cy="3223703"/>
              </a:xfrm>
              <a:prstGeom prst="rect">
                <a:avLst/>
              </a:prstGeom>
            </p:spPr>
            <p:txBody>
              <a:bodyPr wrap="square">
                <a:spAutoFit/>
              </a:bodyPr>
              <a:lstStyle/>
              <a:p>
                <a:pPr indent="266700" algn="just">
                  <a:lnSpc>
                    <a:spcPct val="200000"/>
                  </a:lnSpc>
                  <a:spcAft>
                    <a:spcPts val="0"/>
                  </a:spcAft>
                </a:pP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在得到玩家</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的所有可选策略的遗憾值后，可以根据遗憾值的大小来选择后续第</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𝑇</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轮博弈的策略，这种选择方式被称为</a:t>
                </a:r>
                <a:r>
                  <a:rPr lang="zh-CN" altLang="zh-CN" b="1" kern="100" dirty="0">
                    <a:latin typeface="Times New Roman" panose="02020603050405020304" pitchFamily="18" charset="0"/>
                    <a:ea typeface="华文楷体" panose="02010600040101010101" pitchFamily="2" charset="-122"/>
                    <a:cs typeface="Times New Roman" panose="02020603050405020304" pitchFamily="18" charset="0"/>
                  </a:rPr>
                  <a:t>遗憾匹配</a:t>
                </a:r>
                <a:r>
                  <a:rPr lang="en-US" altLang="zh-CN"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[Greenwald 2006]</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。当然，通常遗憾值为负数的策略被认为不能提升下一时刻收益，所以如下定义有效遗憾值：</a:t>
                </a:r>
                <a:endParaRPr lang="en-US" altLang="zh-CN"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200000"/>
                  </a:lnSpc>
                  <a:spcAft>
                    <a:spcPts val="0"/>
                  </a:spcAft>
                </a:pP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𝑇</m:t>
                          </m:r>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kern="100">
                          <a:latin typeface="Cambria Math" panose="02040503050406030204" pitchFamily="18" charset="0"/>
                          <a:ea typeface="华文楷体" panose="02010600040101010101" pitchFamily="2" charset="-122"/>
                          <a:cs typeface="Times New Roman" panose="02020603050405020304" pitchFamily="18" charset="0"/>
                        </a:rPr>
                        <m:t>max</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𝑇</m:t>
                              </m:r>
                            </m:sup>
                          </m:sSubSup>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kern="100">
                              <a:latin typeface="Cambria Math" panose="02040503050406030204" pitchFamily="18" charset="0"/>
                              <a:ea typeface="华文楷体" panose="02010600040101010101" pitchFamily="2" charset="-122"/>
                              <a:cs typeface="Times New Roman" panose="02020603050405020304" pitchFamily="18" charset="0"/>
                            </a:rPr>
                            <m:t>),0</m:t>
                          </m:r>
                        </m:e>
                      </m:d>
                    </m:oMath>
                  </m:oMathPara>
                </a14:m>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453D00CC-4AAE-45AD-A7FC-6AB72E0C730C}"/>
                  </a:ext>
                </a:extLst>
              </p:cNvPr>
              <p:cNvSpPr>
                <a:spLocks noRot="1" noChangeAspect="1" noMove="1" noResize="1" noEditPoints="1" noAdjustHandles="1" noChangeArrowheads="1" noChangeShapeType="1" noTextEdit="1"/>
              </p:cNvSpPr>
              <p:nvPr/>
            </p:nvSpPr>
            <p:spPr>
              <a:xfrm>
                <a:off x="2173090" y="1893566"/>
                <a:ext cx="7809073" cy="3223703"/>
              </a:xfrm>
              <a:prstGeom prst="rect">
                <a:avLst/>
              </a:prstGeom>
              <a:blipFill>
                <a:blip r:embed="rId3"/>
                <a:stretch>
                  <a:fillRect l="-625" r="-35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圆角 1">
                <a:extLst>
                  <a:ext uri="{FF2B5EF4-FFF2-40B4-BE49-F238E27FC236}">
                    <a16:creationId xmlns:a16="http://schemas.microsoft.com/office/drawing/2014/main" id="{12EE30BE-B710-5770-4360-E363049B0CD4}"/>
                  </a:ext>
                </a:extLst>
              </p:cNvPr>
              <p:cNvSpPr/>
              <p:nvPr/>
            </p:nvSpPr>
            <p:spPr>
              <a:xfrm>
                <a:off x="2678614" y="5476875"/>
                <a:ext cx="7303549" cy="76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有遗憾（</a:t>
                </a:r>
                <a:r>
                  <a:rPr lang="zh-CN" altLang="zh-CN" kern="100" dirty="0">
                    <a:ea typeface="Cambria Math" panose="02040503050406030204" pitchFamily="18" charset="0"/>
                    <a:cs typeface="Times New Roman" panose="02020603050405020304" pitchFamily="18" charset="0"/>
                  </a:rPr>
                  <a:t> </a:t>
                </a:r>
                <a14:m>
                  <m:oMath xmlns:m="http://schemas.openxmlformats.org/officeDocument/2006/math">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𝑇</m:t>
                        </m:r>
                      </m:sup>
                    </m:sSubSup>
                    <m:d>
                      <m:dPr>
                        <m:ctrlPr>
                          <a:rPr lang="en-US" altLang="zh-CN" i="1" kern="100">
                            <a:latin typeface="Cambria Math" panose="02040503050406030204" pitchFamily="18" charset="0"/>
                            <a:ea typeface="华文楷体" panose="02010600040101010101" pitchFamily="2" charset="-122"/>
                            <a:cs typeface="Times New Roman" panose="02020603050405020304" pitchFamily="18" charset="0"/>
                          </a:rPr>
                        </m:ctrlPr>
                      </m:dPr>
                      <m:e>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e>
                    </m:d>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b="0" i="1" kern="100" smtClean="0">
                        <a:latin typeface="Cambria Math" panose="02040503050406030204" pitchFamily="18" charset="0"/>
                        <a:ea typeface="华文楷体" panose="02010600040101010101" pitchFamily="2" charset="-122"/>
                        <a:cs typeface="Times New Roman" panose="02020603050405020304" pitchFamily="18" charset="0"/>
                      </a:rPr>
                      <m:t>&gt;0</m:t>
                    </m:r>
                  </m:oMath>
                </a14:m>
                <a:r>
                  <a:rPr lang="zh-CN" altLang="en-US" dirty="0"/>
                  <a:t>），说明策略还有优化空间</a:t>
                </a:r>
              </a:p>
            </p:txBody>
          </p:sp>
        </mc:Choice>
        <mc:Fallback xmlns="">
          <p:sp>
            <p:nvSpPr>
              <p:cNvPr id="2" name="矩形: 圆角 1">
                <a:extLst>
                  <a:ext uri="{FF2B5EF4-FFF2-40B4-BE49-F238E27FC236}">
                    <a16:creationId xmlns:a16="http://schemas.microsoft.com/office/drawing/2014/main" id="{12EE30BE-B710-5770-4360-E363049B0CD4}"/>
                  </a:ext>
                </a:extLst>
              </p:cNvPr>
              <p:cNvSpPr>
                <a:spLocks noRot="1" noChangeAspect="1" noMove="1" noResize="1" noEditPoints="1" noAdjustHandles="1" noChangeArrowheads="1" noChangeShapeType="1" noTextEdit="1"/>
              </p:cNvSpPr>
              <p:nvPr/>
            </p:nvSpPr>
            <p:spPr>
              <a:xfrm>
                <a:off x="2678614" y="5476875"/>
                <a:ext cx="7303549" cy="762000"/>
              </a:xfrm>
              <a:prstGeom prst="round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92665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a:t>
              </a:r>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有效遗憾值</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458F6D7-6F5D-48EF-840B-90DBE27DBE40}"/>
                  </a:ext>
                </a:extLst>
              </p:cNvPr>
              <p:cNvSpPr txBox="1"/>
              <p:nvPr/>
            </p:nvSpPr>
            <p:spPr>
              <a:xfrm>
                <a:off x="1222519" y="1551156"/>
                <a:ext cx="8866915" cy="485710"/>
              </a:xfrm>
              <a:prstGeom prst="rect">
                <a:avLst/>
              </a:prstGeom>
              <a:noFill/>
            </p:spPr>
            <p:txBody>
              <a:bodyPr wrap="square">
                <a:spAutoFit/>
              </a:bodyPr>
              <a:lstStyle/>
              <a:p>
                <a:pPr algn="just">
                  <a:lnSpc>
                    <a:spcPct val="150000"/>
                  </a:lnSpc>
                </a:pP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利用有效遗憾值的遗憾匹配可得到玩家</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在</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轮后第</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轮选择策略</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的概率</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𝑃</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sup>
                    </m:sSub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为：</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B458F6D7-6F5D-48EF-840B-90DBE27DBE40}"/>
                  </a:ext>
                </a:extLst>
              </p:cNvPr>
              <p:cNvSpPr txBox="1">
                <a:spLocks noRot="1" noChangeAspect="1" noMove="1" noResize="1" noEditPoints="1" noAdjustHandles="1" noChangeArrowheads="1" noChangeShapeType="1" noTextEdit="1"/>
              </p:cNvSpPr>
              <p:nvPr/>
            </p:nvSpPr>
            <p:spPr>
              <a:xfrm>
                <a:off x="1222519" y="1551156"/>
                <a:ext cx="8866915" cy="485710"/>
              </a:xfrm>
              <a:prstGeom prst="rect">
                <a:avLst/>
              </a:prstGeom>
              <a:blipFill>
                <a:blip r:embed="rId3"/>
                <a:stretch>
                  <a:fillRect l="-619" r="-3164"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DA45820-FA42-4E86-9D9E-0A13C39FD1BC}"/>
                  </a:ext>
                </a:extLst>
              </p:cNvPr>
              <p:cNvSpPr txBox="1"/>
              <p:nvPr/>
            </p:nvSpPr>
            <p:spPr>
              <a:xfrm>
                <a:off x="1021335" y="2290775"/>
                <a:ext cx="8255358" cy="16630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i="1" kern="100" smtClean="0">
                          <a:effectLst/>
                          <a:latin typeface="Cambria Math" panose="02040503050406030204" pitchFamily="18" charset="0"/>
                          <a:ea typeface="华文楷体" panose="02010600040101010101" pitchFamily="2" charset="-122"/>
                          <a:cs typeface="Times New Roman" panose="02020603050405020304" pitchFamily="18" charset="0"/>
                        </a:rPr>
                        <m:t>𝑃</m:t>
                      </m:r>
                      <m:r>
                        <a:rPr lang="en-US" altLang="zh-CN" sz="1800" i="1" kern="100" smtClean="0">
                          <a:effectLst/>
                          <a:latin typeface="Cambria Math" panose="02040503050406030204" pitchFamily="18" charset="0"/>
                          <a:ea typeface="华文楷体" panose="02010600040101010101" pitchFamily="2" charset="-122"/>
                          <a:cs typeface="Times New Roman" panose="02020603050405020304" pitchFamily="18" charset="0"/>
                        </a:rPr>
                        <m:t>(</m:t>
                      </m:r>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sup>
                      </m:sSub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2"/>
                                    <m:mcJc m:val="center"/>
                                  </m:mcPr>
                                </m:mc>
                              </m:mcs>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num>
                                  <m:den>
                                    <m:nary>
                                      <m:naryPr>
                                        <m:chr m:val="∑"/>
                                        <m:limLoc m:val="undOvr"/>
                                        <m:grow m:val="on"/>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Σ</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sub>
                                      <m:sup/>
                                      <m:e>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e>
                                    </m:nary>
                                  </m:den>
                                </m:f>
                              </m:e>
                              <m:e>
                                <m:r>
                                  <m:rPr>
                                    <m:nor/>
                                  </m:rPr>
                                  <a:rPr lang="en-US" altLang="zh-CN" sz="1800" i="1" kern="100">
                                    <a:effectLst/>
                                    <a:latin typeface="Times New Roman" panose="02020603050405020304" pitchFamily="18" charset="0"/>
                                    <a:ea typeface="华文楷体" panose="02010600040101010101" pitchFamily="2" charset="-122"/>
                                    <a:cs typeface="Times New Roman" panose="02020603050405020304" pitchFamily="18" charset="0"/>
                                  </a:rPr>
                                  <m:t> </m:t>
                                </m:r>
                                <m:r>
                                  <m:rPr>
                                    <m:nor/>
                                  </m:rPr>
                                  <a:rPr lang="en-US" altLang="zh-CN" sz="1800" i="1" kern="100">
                                    <a:effectLst/>
                                    <a:latin typeface="Times New Roman" panose="02020603050405020304" pitchFamily="18" charset="0"/>
                                    <a:ea typeface="华文楷体" panose="02010600040101010101" pitchFamily="2" charset="-122"/>
                                    <a:cs typeface="Times New Roman" panose="02020603050405020304" pitchFamily="18" charset="0"/>
                                  </a:rPr>
                                  <m:t>if</m:t>
                                </m:r>
                                <m:nary>
                                  <m:naryPr>
                                    <m:chr m:val="∑"/>
                                    <m:limLoc m:val="undOvr"/>
                                    <m:grow m:val="on"/>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Σ</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sub>
                                  <m:sup/>
                                  <m:e>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e>
                                </m:nary>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&gt;0</m:t>
                                </m:r>
                              </m:e>
                            </m:mr>
                            <m:mr>
                              <m:e>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Σ</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den>
                                </m:f>
                              </m:e>
                              <m:e>
                                <m:r>
                                  <m:rPr>
                                    <m:nor/>
                                  </m:rPr>
                                  <a:rPr lang="en-US" altLang="zh-CN" sz="1800" i="1" kern="100">
                                    <a:effectLst/>
                                    <a:latin typeface="Times New Roman" panose="02020603050405020304" pitchFamily="18" charset="0"/>
                                    <a:ea typeface="华文楷体" panose="02010600040101010101" pitchFamily="2" charset="-122"/>
                                    <a:cs typeface="Times New Roman" panose="02020603050405020304" pitchFamily="18" charset="0"/>
                                  </a:rPr>
                                  <m:t> </m:t>
                                </m:r>
                                <m:r>
                                  <m:rPr>
                                    <m:nor/>
                                  </m:rPr>
                                  <a:rPr lang="en-US" altLang="zh-CN" sz="1800" kern="100">
                                    <a:effectLst/>
                                    <a:latin typeface="Times New Roman" panose="02020603050405020304" pitchFamily="18" charset="0"/>
                                    <a:ea typeface="华文楷体" panose="02010600040101010101" pitchFamily="2" charset="-122"/>
                                    <a:cs typeface="Times New Roman" panose="02020603050405020304" pitchFamily="18" charset="0"/>
                                  </a:rPr>
                                  <m:t>otherwise</m:t>
                                </m:r>
                                <m:r>
                                  <m:rPr>
                                    <m:nor/>
                                  </m:rPr>
                                  <a:rPr lang="en-US" altLang="zh-CN" sz="1800" i="1" kern="100">
                                    <a:effectLst/>
                                    <a:latin typeface="Times New Roman" panose="02020603050405020304" pitchFamily="18" charset="0"/>
                                    <a:ea typeface="华文楷体" panose="02010600040101010101" pitchFamily="2" charset="-122"/>
                                    <a:cs typeface="Times New Roman" panose="02020603050405020304" pitchFamily="18" charset="0"/>
                                  </a:rPr>
                                  <m:t> </m:t>
                                </m:r>
                              </m:e>
                            </m:mr>
                          </m:m>
                        </m:e>
                      </m:d>
                    </m:oMath>
                  </m:oMathPara>
                </a14:m>
                <a:endParaRPr lang="zh-CN" altLang="en-US" dirty="0"/>
              </a:p>
            </p:txBody>
          </p:sp>
        </mc:Choice>
        <mc:Fallback xmlns="">
          <p:sp>
            <p:nvSpPr>
              <p:cNvPr id="10" name="文本框 9">
                <a:extLst>
                  <a:ext uri="{FF2B5EF4-FFF2-40B4-BE49-F238E27FC236}">
                    <a16:creationId xmlns:a16="http://schemas.microsoft.com/office/drawing/2014/main" id="{CDA45820-FA42-4E86-9D9E-0A13C39FD1BC}"/>
                  </a:ext>
                </a:extLst>
              </p:cNvPr>
              <p:cNvSpPr txBox="1">
                <a:spLocks noRot="1" noChangeAspect="1" noMove="1" noResize="1" noEditPoints="1" noAdjustHandles="1" noChangeArrowheads="1" noChangeShapeType="1" noTextEdit="1"/>
              </p:cNvSpPr>
              <p:nvPr/>
            </p:nvSpPr>
            <p:spPr>
              <a:xfrm>
                <a:off x="1021335" y="2290775"/>
                <a:ext cx="8255358" cy="166301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995E49C3-187A-4BD8-8A56-7136F9A69442}"/>
                  </a:ext>
                </a:extLst>
              </p:cNvPr>
              <p:cNvSpPr/>
              <p:nvPr/>
            </p:nvSpPr>
            <p:spPr>
              <a:xfrm>
                <a:off x="1021336" y="4461612"/>
                <a:ext cx="10256264" cy="1494127"/>
              </a:xfrm>
              <a:prstGeom prst="rect">
                <a:avLst/>
              </a:prstGeom>
            </p:spPr>
            <p:txBody>
              <a:bodyPr wrap="square">
                <a:spAutoFit/>
              </a:bodyPr>
              <a:lstStyle/>
              <a:p>
                <a:pPr indent="266700" algn="just">
                  <a:spcAft>
                    <a:spcPts val="0"/>
                  </a:spcAft>
                </a:pPr>
                <a14:m>
                  <m:oMath xmlns:m="http://schemas.openxmlformats.org/officeDocument/2006/math">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kern="100">
                            <a:latin typeface="Cambria Math" panose="02040503050406030204" pitchFamily="18" charset="0"/>
                            <a:ea typeface="华文楷体" panose="02010600040101010101" pitchFamily="2" charset="-122"/>
                            <a:cs typeface="Times New Roman" panose="02020603050405020304" pitchFamily="18" charset="0"/>
                          </a:rPr>
                          <m:t>Σ</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表示玩家</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所有策略的总数。显然，如果在过往</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𝑇</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轮中策略</a:t>
                </a: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所带来的遗憾值大、其他策略</a:t>
                </a:r>
                <a14:m>
                  <m:oMath xmlns:m="http://schemas.openxmlformats.org/officeDocument/2006/math">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up>
                    </m:sSubSup>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所带来的遗憾值小，则在第</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𝑇</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轮选择策略</a:t>
                </a: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的概率值</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𝑃</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SubSup>
                      <m:sSub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𝑇</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p>
                    </m:sSub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就大。也就是说，带来越大遗憾值的策略具有更高的价值，因此其在后续被选择的概率就应该越大。</a:t>
                </a:r>
                <a:endParaRPr lang="en-US" altLang="zh-CN"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如果没有一个能够提升前</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𝑇</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轮收益的策略，则在后续轮次中随机选择一种策略。依照一定的概率选择行动是为了防止对手发现自己所采取的策略（如采取遗憾值最大的策略）。</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995E49C3-187A-4BD8-8A56-7136F9A69442}"/>
                  </a:ext>
                </a:extLst>
              </p:cNvPr>
              <p:cNvSpPr>
                <a:spLocks noRot="1" noChangeAspect="1" noMove="1" noResize="1" noEditPoints="1" noAdjustHandles="1" noChangeArrowheads="1" noChangeShapeType="1" noTextEdit="1"/>
              </p:cNvSpPr>
              <p:nvPr/>
            </p:nvSpPr>
            <p:spPr>
              <a:xfrm>
                <a:off x="1021336" y="4461612"/>
                <a:ext cx="10256264" cy="1494127"/>
              </a:xfrm>
              <a:prstGeom prst="rect">
                <a:avLst/>
              </a:prstGeom>
              <a:blipFill>
                <a:blip r:embed="rId5"/>
                <a:stretch>
                  <a:fillRect l="-535" t="-2041" r="-476" b="-6122"/>
                </a:stretch>
              </a:blipFill>
            </p:spPr>
            <p:txBody>
              <a:bodyPr/>
              <a:lstStyle/>
              <a:p>
                <a:r>
                  <a:rPr lang="zh-CN" altLang="en-US">
                    <a:noFill/>
                  </a:rPr>
                  <a:t> </a:t>
                </a:r>
              </a:p>
            </p:txBody>
          </p:sp>
        </mc:Fallback>
      </mc:AlternateContent>
      <p:sp>
        <p:nvSpPr>
          <p:cNvPr id="2" name="矩形: 圆角 1">
            <a:extLst>
              <a:ext uri="{FF2B5EF4-FFF2-40B4-BE49-F238E27FC236}">
                <a16:creationId xmlns:a16="http://schemas.microsoft.com/office/drawing/2014/main" id="{E60184D2-26AC-3D31-02A3-08716C3AEAC6}"/>
              </a:ext>
            </a:extLst>
          </p:cNvPr>
          <p:cNvSpPr/>
          <p:nvPr/>
        </p:nvSpPr>
        <p:spPr>
          <a:xfrm>
            <a:off x="1971676" y="5476874"/>
            <a:ext cx="8696324" cy="9016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这是应用于重复博弈场景中（比如多次囚徒困境）。博弈是重复且有规律的，长期来看基于历史遗憾的策略更新会逐渐趋近于全局最优的纳什均衡。</a:t>
            </a:r>
          </a:p>
        </p:txBody>
      </p:sp>
    </p:spTree>
    <p:extLst>
      <p:ext uri="{BB962C8B-B14F-4D97-AF65-F5344CB8AC3E}">
        <p14:creationId xmlns:p14="http://schemas.microsoft.com/office/powerpoint/2010/main" val="639707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遗憾最小化算法：</a:t>
              </a:r>
              <a:r>
                <a:rPr lang="zh-CN" altLang="en-US" sz="2000" kern="100" dirty="0">
                  <a:latin typeface="Times New Roman" panose="02020603050405020304" pitchFamily="18" charset="0"/>
                  <a:ea typeface="华文楷体" panose="02010600040101010101" pitchFamily="2" charset="-122"/>
                  <a:cs typeface="Times New Roman" panose="02020603050405020304" pitchFamily="18" charset="0"/>
                </a:rPr>
                <a:t>石头</a:t>
              </a:r>
              <a:r>
                <a:rPr lang="en-US" altLang="zh-CN" sz="2000" kern="1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kern="100" dirty="0">
                  <a:latin typeface="Times New Roman" panose="02020603050405020304" pitchFamily="18" charset="0"/>
                  <a:ea typeface="华文楷体" panose="02010600040101010101" pitchFamily="2" charset="-122"/>
                  <a:cs typeface="Times New Roman" panose="02020603050405020304" pitchFamily="18" charset="0"/>
                </a:rPr>
                <a:t>剪刀</a:t>
              </a:r>
              <a:r>
                <a:rPr lang="en-US" altLang="zh-CN" sz="2000" kern="1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kern="100" dirty="0">
                  <a:latin typeface="Times New Roman" panose="02020603050405020304" pitchFamily="18" charset="0"/>
                  <a:ea typeface="华文楷体" panose="02010600040101010101" pitchFamily="2" charset="-122"/>
                  <a:cs typeface="Times New Roman" panose="02020603050405020304" pitchFamily="18" charset="0"/>
                </a:rPr>
                <a:t>布例子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内容占位符 4">
                <a:extLst>
                  <a:ext uri="{FF2B5EF4-FFF2-40B4-BE49-F238E27FC236}">
                    <a16:creationId xmlns:a16="http://schemas.microsoft.com/office/drawing/2014/main" id="{04A87C5B-CD01-442F-9465-20CA30884776}"/>
                  </a:ext>
                </a:extLst>
              </p:cNvPr>
              <p:cNvSpPr txBox="1">
                <a:spLocks/>
              </p:cNvSpPr>
              <p:nvPr/>
            </p:nvSpPr>
            <p:spPr>
              <a:xfrm>
                <a:off x="211016" y="1668379"/>
                <a:ext cx="6944750" cy="4351339"/>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假设两个玩家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进行石头</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剪刀</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布（</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Rock-Paper-Scissors</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RPS</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）的游戏，获胜玩家收益为</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分，失败玩家收益为</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分，平局则两个玩家收益均为零分</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第一局时，若玩家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出石头（</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出布（</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），则此时玩家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的收益</a:t>
                </a:r>
                <a14:m>
                  <m:oMath xmlns:m="http://schemas.openxmlformats.org/officeDocument/2006/math">
                    <m:sSub>
                      <m:sSubPr>
                        <m:ctrlPr>
                          <a:rPr lang="en-US" altLang="zh-CN" sz="1600" i="1" smtClean="0">
                            <a:latin typeface="Cambria Math" panose="02040503050406030204" pitchFamily="18" charset="0"/>
                          </a:rPr>
                        </m:ctrlPr>
                      </m:sSubPr>
                      <m:e>
                        <m:r>
                          <a:rPr lang="zh-CN" altLang="en-US" sz="1600" b="0" i="1" smtClean="0">
                            <a:latin typeface="Cambria Math" panose="02040503050406030204" pitchFamily="18" charset="0"/>
                          </a:rPr>
                          <m:t>𝜇</m:t>
                        </m:r>
                      </m:e>
                      <m:sub>
                        <m:r>
                          <a:rPr lang="en-US" altLang="zh-CN" sz="1600" b="0" i="1" smtClean="0">
                            <a:latin typeface="Cambria Math" panose="02040503050406030204" pitchFamily="18" charset="0"/>
                          </a:rPr>
                          <m:t>𝐴</m:t>
                        </m:r>
                      </m:sub>
                    </m:sSub>
                    <m:d>
                      <m:dPr>
                        <m:ctrlPr>
                          <a:rPr lang="en-US" altLang="zh-CN" sz="1600" i="1" smtClean="0">
                            <a:latin typeface="Cambria Math" panose="02040503050406030204" pitchFamily="18" charset="0"/>
                          </a:rPr>
                        </m:ctrlPr>
                      </m:dPr>
                      <m:e>
                        <m:r>
                          <a:rPr lang="en-US" altLang="zh-CN" sz="1600" b="0" i="1" smtClean="0">
                            <a:latin typeface="Cambria Math" panose="02040503050406030204" pitchFamily="18" charset="0"/>
                          </a:rPr>
                          <m:t>𝑅</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=−1</m:t>
                    </m:r>
                  </m:oMath>
                </a14:m>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的收益为</a:t>
                </a:r>
                <a14:m>
                  <m:oMath xmlns:m="http://schemas.openxmlformats.org/officeDocument/2006/math">
                    <m:sSub>
                      <m:sSubPr>
                        <m:ctrlPr>
                          <a:rPr lang="en-US" altLang="zh-CN" sz="1600" i="1" smtClean="0">
                            <a:latin typeface="Cambria Math" panose="02040503050406030204" pitchFamily="18" charset="0"/>
                          </a:rPr>
                        </m:ctrlPr>
                      </m:sSubPr>
                      <m:e>
                        <m:r>
                          <a:rPr lang="zh-CN" altLang="en-US" sz="1600" b="0" i="1" smtClean="0">
                            <a:latin typeface="Cambria Math" panose="02040503050406030204" pitchFamily="18" charset="0"/>
                          </a:rPr>
                          <m:t>𝜇</m:t>
                        </m:r>
                      </m:e>
                      <m:sub>
                        <m:r>
                          <a:rPr lang="en-US" altLang="zh-CN" sz="1600" b="0" i="1" smtClean="0">
                            <a:latin typeface="Cambria Math" panose="02040503050406030204" pitchFamily="18" charset="0"/>
                          </a:rPr>
                          <m:t>𝐵</m:t>
                        </m:r>
                      </m:sub>
                    </m:sSub>
                    <m:d>
                      <m:dPr>
                        <m:ctrlPr>
                          <a:rPr lang="en-US" altLang="zh-CN" sz="1600" i="1" smtClean="0">
                            <a:latin typeface="Cambria Math" panose="02040503050406030204" pitchFamily="18" charset="0"/>
                          </a:rPr>
                        </m:ctrlPr>
                      </m:dPr>
                      <m:e>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𝑅</m:t>
                        </m:r>
                      </m:e>
                    </m:d>
                    <m:r>
                      <a:rPr lang="en-US" altLang="zh-CN" sz="1600" b="0" i="1" smtClean="0">
                        <a:latin typeface="Cambria Math" panose="02040503050406030204" pitchFamily="18" charset="0"/>
                      </a:rPr>
                      <m:t>=1</m:t>
                    </m:r>
                  </m:oMath>
                </a14:m>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对于玩家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来说，在玩家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出布（</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）这个策略情况下，如果玩家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选择出布（</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）或者剪刀（</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），则玩家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对应的收益值</a:t>
                </a:r>
                <a14:m>
                  <m:oMath xmlns:m="http://schemas.openxmlformats.org/officeDocument/2006/math">
                    <m:sSub>
                      <m:sSubPr>
                        <m:ctrlPr>
                          <a:rPr lang="en-US" altLang="zh-CN" sz="1600" i="1" smtClean="0">
                            <a:latin typeface="Cambria Math" panose="02040503050406030204" pitchFamily="18" charset="0"/>
                          </a:rPr>
                        </m:ctrlPr>
                      </m:sSubPr>
                      <m:e>
                        <m:r>
                          <a:rPr lang="zh-CN" altLang="en-US" sz="1600" b="0" i="1" smtClean="0">
                            <a:latin typeface="Cambria Math" panose="02040503050406030204" pitchFamily="18" charset="0"/>
                          </a:rPr>
                          <m:t>𝜇</m:t>
                        </m:r>
                      </m:e>
                      <m:sub>
                        <m:r>
                          <a:rPr lang="en-US" altLang="zh-CN" sz="1600" b="0" i="1" smtClean="0">
                            <a:latin typeface="Cambria Math" panose="02040503050406030204" pitchFamily="18" charset="0"/>
                          </a:rPr>
                          <m:t>𝐴</m:t>
                        </m:r>
                      </m:sub>
                    </m:sSub>
                    <m:d>
                      <m:dPr>
                        <m:ctrlPr>
                          <a:rPr lang="en-US" altLang="zh-CN" sz="1600" i="1" smtClean="0">
                            <a:latin typeface="Cambria Math" panose="02040503050406030204" pitchFamily="18" charset="0"/>
                          </a:rPr>
                        </m:ctrlPr>
                      </m:dPr>
                      <m:e>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=0</m:t>
                    </m:r>
                  </m:oMath>
                </a14:m>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或者</a:t>
                </a:r>
                <a14:m>
                  <m:oMath xmlns:m="http://schemas.openxmlformats.org/officeDocument/2006/math">
                    <m:sSub>
                      <m:sSubPr>
                        <m:ctrlPr>
                          <a:rPr lang="en-US" altLang="zh-CN" sz="1600" i="1">
                            <a:latin typeface="Cambria Math" panose="02040503050406030204" pitchFamily="18" charset="0"/>
                          </a:rPr>
                        </m:ctrlPr>
                      </m:sSubPr>
                      <m:e>
                        <m:r>
                          <a:rPr lang="zh-CN" altLang="en-US" sz="1600" b="0" i="1" smtClean="0">
                            <a:latin typeface="Cambria Math" panose="02040503050406030204" pitchFamily="18" charset="0"/>
                          </a:rPr>
                          <m:t>𝜇</m:t>
                        </m:r>
                      </m:e>
                      <m:sub>
                        <m:r>
                          <a:rPr lang="en-US" altLang="zh-CN" sz="1600" b="0" i="1" smtClean="0">
                            <a:latin typeface="Cambria Math" panose="02040503050406030204" pitchFamily="18" charset="0"/>
                          </a:rPr>
                          <m:t>𝐴</m:t>
                        </m:r>
                      </m:sub>
                    </m:sSub>
                    <m:d>
                      <m:dPr>
                        <m:ctrlPr>
                          <a:rPr lang="en-US" altLang="zh-CN" sz="1600" i="1">
                            <a:latin typeface="Cambria Math" panose="02040503050406030204" pitchFamily="18" charset="0"/>
                          </a:rPr>
                        </m:ctrlPr>
                      </m:dPr>
                      <m:e>
                        <m:r>
                          <a:rPr lang="en-US" altLang="zh-CN" sz="1600" b="0" i="1" smtClean="0">
                            <a:latin typeface="Cambria Math" panose="02040503050406030204" pitchFamily="18" charset="0"/>
                          </a:rPr>
                          <m:t>𝑆</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=1</m:t>
                    </m:r>
                  </m:oMath>
                </a14:m>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pPr>
                <a:r>
                  <a:rPr lang="zh-CN" altLang="en-US"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所以第一局之后，玩家</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没有出布的遗憾值为</a:t>
                </a:r>
                <a14:m>
                  <m:oMath xmlns:m="http://schemas.openxmlformats.org/officeDocument/2006/math">
                    <m:sSub>
                      <m:sSubPr>
                        <m:ctrlPr>
                          <a:rPr lang="en-US" altLang="zh-CN" sz="1600" i="1" smtClean="0">
                            <a:solidFill>
                              <a:srgbClr val="FF0000"/>
                            </a:solidFill>
                            <a:latin typeface="Cambria Math" panose="02040503050406030204" pitchFamily="18" charset="0"/>
                          </a:rPr>
                        </m:ctrlPr>
                      </m:sSubPr>
                      <m:e>
                        <m:r>
                          <a:rPr lang="zh-CN" altLang="en-US" sz="1600" b="0" i="1" smtClean="0">
                            <a:solidFill>
                              <a:srgbClr val="FF0000"/>
                            </a:solidFill>
                            <a:latin typeface="Cambria Math" panose="02040503050406030204" pitchFamily="18" charset="0"/>
                          </a:rPr>
                          <m:t>𝜇</m:t>
                        </m:r>
                      </m:e>
                      <m:sub>
                        <m:r>
                          <a:rPr lang="en-US" altLang="zh-CN" sz="1600" b="0" i="1" smtClean="0">
                            <a:solidFill>
                              <a:srgbClr val="FF0000"/>
                            </a:solidFill>
                            <a:latin typeface="Cambria Math" panose="02040503050406030204" pitchFamily="18" charset="0"/>
                          </a:rPr>
                          <m:t>𝐴</m:t>
                        </m:r>
                      </m:sub>
                    </m:sSub>
                    <m:d>
                      <m:dPr>
                        <m:ctrlPr>
                          <a:rPr lang="en-US" altLang="zh-CN" sz="1600" i="1" smtClean="0">
                            <a:solidFill>
                              <a:srgbClr val="FF0000"/>
                            </a:solidFill>
                            <a:latin typeface="Cambria Math" panose="02040503050406030204" pitchFamily="18" charset="0"/>
                          </a:rPr>
                        </m:ctrlPr>
                      </m:dPr>
                      <m:e>
                        <m:r>
                          <a:rPr lang="en-US" altLang="zh-CN" sz="1600" b="0" i="1" smtClean="0">
                            <a:solidFill>
                              <a:srgbClr val="FF0000"/>
                            </a:solidFill>
                            <a:latin typeface="Cambria Math" panose="02040503050406030204" pitchFamily="18" charset="0"/>
                          </a:rPr>
                          <m:t>𝑃</m:t>
                        </m:r>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𝑃</m:t>
                        </m:r>
                      </m:e>
                    </m:d>
                    <m:r>
                      <a:rPr lang="en-US" altLang="zh-CN" sz="1600" b="0" i="1" smtClean="0">
                        <a:solidFill>
                          <a:srgbClr val="FF0000"/>
                        </a:solidFill>
                        <a:latin typeface="Cambria Math" panose="02040503050406030204" pitchFamily="18" charset="0"/>
                      </a:rPr>
                      <m:t>−</m:t>
                    </m:r>
                    <m:sSub>
                      <m:sSubPr>
                        <m:ctrlPr>
                          <a:rPr lang="en-US" altLang="zh-CN" sz="1600" i="1" smtClean="0">
                            <a:solidFill>
                              <a:srgbClr val="FF0000"/>
                            </a:solidFill>
                            <a:latin typeface="Cambria Math" panose="02040503050406030204" pitchFamily="18" charset="0"/>
                          </a:rPr>
                        </m:ctrlPr>
                      </m:sSubPr>
                      <m:e>
                        <m:r>
                          <a:rPr lang="zh-CN" altLang="en-US" sz="1600" b="0" i="1" smtClean="0">
                            <a:solidFill>
                              <a:srgbClr val="FF0000"/>
                            </a:solidFill>
                            <a:latin typeface="Cambria Math" panose="02040503050406030204" pitchFamily="18" charset="0"/>
                          </a:rPr>
                          <m:t>𝜇</m:t>
                        </m:r>
                      </m:e>
                      <m:sub>
                        <m:r>
                          <a:rPr lang="en-US" altLang="zh-CN" sz="1600" b="0" i="1" smtClean="0">
                            <a:solidFill>
                              <a:srgbClr val="FF0000"/>
                            </a:solidFill>
                            <a:latin typeface="Cambria Math" panose="02040503050406030204" pitchFamily="18" charset="0"/>
                          </a:rPr>
                          <m:t>𝐴</m:t>
                        </m:r>
                      </m:sub>
                    </m:sSub>
                    <m:d>
                      <m:dPr>
                        <m:ctrlPr>
                          <a:rPr lang="en-US" altLang="zh-CN" sz="1600" i="1" smtClean="0">
                            <a:solidFill>
                              <a:srgbClr val="FF0000"/>
                            </a:solidFill>
                            <a:latin typeface="Cambria Math" panose="02040503050406030204" pitchFamily="18" charset="0"/>
                          </a:rPr>
                        </m:ctrlPr>
                      </m:dPr>
                      <m:e>
                        <m:r>
                          <a:rPr lang="en-US" altLang="zh-CN" sz="1600" b="0" i="1" smtClean="0">
                            <a:solidFill>
                              <a:srgbClr val="FF0000"/>
                            </a:solidFill>
                            <a:latin typeface="Cambria Math" panose="02040503050406030204" pitchFamily="18" charset="0"/>
                          </a:rPr>
                          <m:t>𝑅</m:t>
                        </m:r>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𝑃</m:t>
                        </m:r>
                      </m:e>
                    </m:d>
                    <m:r>
                      <a:rPr lang="en-US" altLang="zh-CN" sz="1600" b="0" i="1" smtClean="0">
                        <a:solidFill>
                          <a:srgbClr val="FF0000"/>
                        </a:solidFill>
                        <a:latin typeface="Cambria Math" panose="02040503050406030204" pitchFamily="18" charset="0"/>
                      </a:rPr>
                      <m:t>=0−</m:t>
                    </m:r>
                    <m:d>
                      <m:dPr>
                        <m:ctrlPr>
                          <a:rPr lang="en-US" altLang="zh-CN" sz="1600" i="1" smtClean="0">
                            <a:solidFill>
                              <a:srgbClr val="FF0000"/>
                            </a:solidFill>
                            <a:latin typeface="Cambria Math" panose="02040503050406030204" pitchFamily="18" charset="0"/>
                          </a:rPr>
                        </m:ctrlPr>
                      </m:dPr>
                      <m:e>
                        <m:r>
                          <a:rPr lang="en-US" altLang="zh-CN" sz="1600" b="0" i="1" smtClean="0">
                            <a:solidFill>
                              <a:srgbClr val="FF0000"/>
                            </a:solidFill>
                            <a:latin typeface="Cambria Math" panose="02040503050406030204" pitchFamily="18" charset="0"/>
                          </a:rPr>
                          <m:t>−1</m:t>
                        </m:r>
                      </m:e>
                    </m:d>
                    <m:r>
                      <a:rPr lang="en-US" altLang="zh-CN" sz="1600" b="0" i="1" smtClean="0">
                        <a:solidFill>
                          <a:srgbClr val="FF0000"/>
                        </a:solidFill>
                        <a:latin typeface="Cambria Math" panose="02040503050406030204" pitchFamily="18" charset="0"/>
                      </a:rPr>
                      <m:t>=1</m:t>
                    </m:r>
                    <m:r>
                      <a:rPr lang="zh-CN" altLang="en-US" sz="1600" b="0" i="1" smtClean="0">
                        <a:solidFill>
                          <a:srgbClr val="FF0000"/>
                        </a:solidFill>
                        <a:latin typeface="Cambria Math" panose="02040503050406030204" pitchFamily="18" charset="0"/>
                      </a:rPr>
                      <m:t>，</m:t>
                    </m:r>
                  </m:oMath>
                </a14:m>
                <a:r>
                  <a:rPr lang="zh-CN" altLang="en-US"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没有出剪刀的遗憾值为</a:t>
                </a:r>
                <a14:m>
                  <m:oMath xmlns:m="http://schemas.openxmlformats.org/officeDocument/2006/math">
                    <m:sSub>
                      <m:sSubPr>
                        <m:ctrlPr>
                          <a:rPr lang="en-US" altLang="zh-CN" sz="1600" i="1">
                            <a:solidFill>
                              <a:srgbClr val="FF0000"/>
                            </a:solidFill>
                            <a:latin typeface="Cambria Math" panose="02040503050406030204" pitchFamily="18" charset="0"/>
                          </a:rPr>
                        </m:ctrlPr>
                      </m:sSubPr>
                      <m:e>
                        <m:r>
                          <a:rPr lang="zh-CN" altLang="en-US" sz="1600" b="0" i="1" smtClean="0">
                            <a:solidFill>
                              <a:srgbClr val="FF0000"/>
                            </a:solidFill>
                            <a:latin typeface="Cambria Math" panose="02040503050406030204" pitchFamily="18" charset="0"/>
                          </a:rPr>
                          <m:t>𝜇</m:t>
                        </m:r>
                      </m:e>
                      <m:sub>
                        <m:r>
                          <a:rPr lang="en-US" altLang="zh-CN" sz="1600" b="0" i="1" smtClean="0">
                            <a:solidFill>
                              <a:srgbClr val="FF0000"/>
                            </a:solidFill>
                            <a:latin typeface="Cambria Math" panose="02040503050406030204" pitchFamily="18" charset="0"/>
                          </a:rPr>
                          <m:t>𝐴</m:t>
                        </m:r>
                      </m:sub>
                    </m:sSub>
                    <m:d>
                      <m:dPr>
                        <m:ctrlPr>
                          <a:rPr lang="en-US" altLang="zh-CN" sz="1600" i="1">
                            <a:solidFill>
                              <a:srgbClr val="FF0000"/>
                            </a:solidFill>
                            <a:latin typeface="Cambria Math" panose="02040503050406030204" pitchFamily="18" charset="0"/>
                          </a:rPr>
                        </m:ctrlPr>
                      </m:dPr>
                      <m:e>
                        <m:r>
                          <a:rPr lang="en-US" altLang="zh-CN" sz="1600" b="0" i="1" smtClean="0">
                            <a:solidFill>
                              <a:srgbClr val="FF0000"/>
                            </a:solidFill>
                            <a:latin typeface="Cambria Math" panose="02040503050406030204" pitchFamily="18" charset="0"/>
                          </a:rPr>
                          <m:t>𝑆</m:t>
                        </m:r>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𝑃</m:t>
                        </m:r>
                      </m:e>
                    </m:d>
                    <m:r>
                      <a:rPr lang="en-US" altLang="zh-CN" sz="1600" b="0" i="1" smtClean="0">
                        <a:solidFill>
                          <a:srgbClr val="FF0000"/>
                        </a:solidFill>
                        <a:latin typeface="Cambria Math" panose="02040503050406030204" pitchFamily="18" charset="0"/>
                      </a:rPr>
                      <m:t>−</m:t>
                    </m:r>
                    <m:sSub>
                      <m:sSubPr>
                        <m:ctrlPr>
                          <a:rPr lang="en-US" altLang="zh-CN" sz="1600" i="1">
                            <a:solidFill>
                              <a:srgbClr val="FF0000"/>
                            </a:solidFill>
                            <a:latin typeface="Cambria Math" panose="02040503050406030204" pitchFamily="18" charset="0"/>
                          </a:rPr>
                        </m:ctrlPr>
                      </m:sSubPr>
                      <m:e>
                        <m:r>
                          <a:rPr lang="zh-CN" altLang="en-US" sz="1600" b="0" i="1" smtClean="0">
                            <a:solidFill>
                              <a:srgbClr val="FF0000"/>
                            </a:solidFill>
                            <a:latin typeface="Cambria Math" panose="02040503050406030204" pitchFamily="18" charset="0"/>
                          </a:rPr>
                          <m:t>𝜇</m:t>
                        </m:r>
                      </m:e>
                      <m:sub>
                        <m:r>
                          <a:rPr lang="en-US" altLang="zh-CN" sz="1600" b="0" i="1" smtClean="0">
                            <a:solidFill>
                              <a:srgbClr val="FF0000"/>
                            </a:solidFill>
                            <a:latin typeface="Cambria Math" panose="02040503050406030204" pitchFamily="18" charset="0"/>
                          </a:rPr>
                          <m:t>𝐴</m:t>
                        </m:r>
                      </m:sub>
                    </m:sSub>
                    <m:d>
                      <m:dPr>
                        <m:ctrlPr>
                          <a:rPr lang="en-US" altLang="zh-CN" sz="1600" i="1">
                            <a:solidFill>
                              <a:srgbClr val="FF0000"/>
                            </a:solidFill>
                            <a:latin typeface="Cambria Math" panose="02040503050406030204" pitchFamily="18" charset="0"/>
                          </a:rPr>
                        </m:ctrlPr>
                      </m:dPr>
                      <m:e>
                        <m:r>
                          <a:rPr lang="en-US" altLang="zh-CN" sz="1600" b="0" i="1" smtClean="0">
                            <a:solidFill>
                              <a:srgbClr val="FF0000"/>
                            </a:solidFill>
                            <a:latin typeface="Cambria Math" panose="02040503050406030204" pitchFamily="18" charset="0"/>
                          </a:rPr>
                          <m:t>𝑅</m:t>
                        </m:r>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𝑃</m:t>
                        </m:r>
                      </m:e>
                    </m:d>
                    <m:r>
                      <a:rPr lang="en-US" altLang="zh-CN" sz="1600" b="0" i="1" smtClean="0">
                        <a:solidFill>
                          <a:srgbClr val="FF0000"/>
                        </a:solidFill>
                        <a:latin typeface="Cambria Math" panose="02040503050406030204" pitchFamily="18" charset="0"/>
                      </a:rPr>
                      <m:t>=1−</m:t>
                    </m:r>
                    <m:d>
                      <m:dPr>
                        <m:ctrlPr>
                          <a:rPr lang="en-US" altLang="zh-CN" sz="1600" i="1">
                            <a:solidFill>
                              <a:srgbClr val="FF0000"/>
                            </a:solidFill>
                            <a:latin typeface="Cambria Math" panose="02040503050406030204" pitchFamily="18" charset="0"/>
                          </a:rPr>
                        </m:ctrlPr>
                      </m:dPr>
                      <m:e>
                        <m:r>
                          <a:rPr lang="en-US" altLang="zh-CN" sz="1600" b="0" i="1" smtClean="0">
                            <a:solidFill>
                              <a:srgbClr val="FF0000"/>
                            </a:solidFill>
                            <a:latin typeface="Cambria Math" panose="02040503050406030204" pitchFamily="18" charset="0"/>
                          </a:rPr>
                          <m:t>−1</m:t>
                        </m:r>
                      </m:e>
                    </m:d>
                    <m:r>
                      <a:rPr lang="en-US" altLang="zh-CN" sz="1600" b="0" i="1" smtClean="0">
                        <a:solidFill>
                          <a:srgbClr val="FF0000"/>
                        </a:solidFill>
                        <a:latin typeface="Cambria Math" panose="02040503050406030204" pitchFamily="18" charset="0"/>
                      </a:rPr>
                      <m:t>=2</m:t>
                    </m:r>
                  </m:oMath>
                </a14:m>
                <a:endPar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所以在第二局中，玩家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选择石头、剪刀和布这三个策略的概率分别为</a:t>
                </a:r>
                <a14:m>
                  <m:oMath xmlns:m="http://schemas.openxmlformats.org/officeDocument/2006/math">
                    <m:r>
                      <a:rPr lang="en-US" altLang="zh-CN" sz="1600" b="0" i="1" smtClean="0">
                        <a:latin typeface="Cambria Math" panose="02040503050406030204" pitchFamily="18" charset="0"/>
                      </a:rPr>
                      <m:t>0</m:t>
                    </m:r>
                    <m:r>
                      <a:rPr lang="zh-CN" altLang="en-US" sz="1600" b="0" i="1" smtClean="0">
                        <a:latin typeface="Cambria Math" panose="02040503050406030204" pitchFamily="18" charset="0"/>
                      </a:rPr>
                      <m:t>、</m:t>
                    </m:r>
                    <m:r>
                      <a:rPr lang="en-US" altLang="zh-CN" sz="1600" b="0" i="1" smtClean="0">
                        <a:latin typeface="Cambria Math" panose="02040503050406030204" pitchFamily="18" charset="0"/>
                      </a:rPr>
                      <m:t>2/3</m:t>
                    </m:r>
                    <m:r>
                      <a:rPr lang="zh-CN" altLang="en-US" sz="1600" b="0" i="1" smtClean="0">
                        <a:latin typeface="Cambria Math" panose="02040503050406030204" pitchFamily="18" charset="0"/>
                      </a:rPr>
                      <m:t>、</m:t>
                    </m:r>
                    <m:r>
                      <a:rPr lang="en-US" altLang="zh-CN" sz="1600" b="0" i="1" smtClean="0">
                        <a:latin typeface="Cambria Math" panose="02040503050406030204" pitchFamily="18" charset="0"/>
                      </a:rPr>
                      <m:t>1/3</m:t>
                    </m:r>
                  </m:oMath>
                </a14:m>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因此，玩家</a:t>
                </a:r>
                <a:r>
                  <a:rPr lang="en-US" altLang="zh-CN" sz="1600"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1600"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趋向于在第二局中选择出剪刀这个策略</a:t>
                </a:r>
                <a:endParaRPr lang="en-US" altLang="zh-CN" sz="1600"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 name="内容占位符 4">
                <a:extLst>
                  <a:ext uri="{FF2B5EF4-FFF2-40B4-BE49-F238E27FC236}">
                    <a16:creationId xmlns:a16="http://schemas.microsoft.com/office/drawing/2014/main" id="{04A87C5B-CD01-442F-9465-20CA30884776}"/>
                  </a:ext>
                </a:extLst>
              </p:cNvPr>
              <p:cNvSpPr txBox="1">
                <a:spLocks noRot="1" noChangeAspect="1" noMove="1" noResize="1" noEditPoints="1" noAdjustHandles="1" noChangeArrowheads="1" noChangeShapeType="1" noTextEdit="1"/>
              </p:cNvSpPr>
              <p:nvPr/>
            </p:nvSpPr>
            <p:spPr>
              <a:xfrm>
                <a:off x="211016" y="1668379"/>
                <a:ext cx="6944750" cy="4351339"/>
              </a:xfrm>
              <a:prstGeom prst="rect">
                <a:avLst/>
              </a:prstGeom>
              <a:blipFill>
                <a:blip r:embed="rId3"/>
                <a:stretch>
                  <a:fillRect l="-351" r="-2546" b="-5189"/>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AF64F22D-A038-400F-91B9-8DCB591F001D}"/>
              </a:ext>
            </a:extLst>
          </p:cNvPr>
          <p:cNvPicPr>
            <a:picLocks noChangeAspect="1"/>
          </p:cNvPicPr>
          <p:nvPr/>
        </p:nvPicPr>
        <p:blipFill>
          <a:blip r:embed="rId4"/>
          <a:stretch>
            <a:fillRect/>
          </a:stretch>
        </p:blipFill>
        <p:spPr>
          <a:xfrm>
            <a:off x="6915816" y="3120380"/>
            <a:ext cx="5490411" cy="2220936"/>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24EB1DBA-F0EA-4604-921B-C501EFCAEADE}"/>
                  </a:ext>
                </a:extLst>
              </p:cNvPr>
              <p:cNvSpPr/>
              <p:nvPr/>
            </p:nvSpPr>
            <p:spPr>
              <a:xfrm>
                <a:off x="7428647" y="2613004"/>
                <a:ext cx="4464748" cy="338554"/>
              </a:xfrm>
              <a:prstGeom prst="rect">
                <a:avLst/>
              </a:prstGeom>
            </p:spPr>
            <p:txBody>
              <a:bodyPr wrap="none">
                <a:spAutoFit/>
              </a:bodyPr>
              <a:lstStyle/>
              <a:p>
                <a:pPr indent="266700" algn="ctr">
                  <a:spcAft>
                    <a:spcPts val="0"/>
                  </a:spcAft>
                </a:pPr>
                <a:r>
                  <a:rPr lang="zh-CN" altLang="en-US" sz="1600" kern="100" dirty="0">
                    <a:latin typeface="Times New Roman" panose="02020603050405020304" pitchFamily="18" charset="0"/>
                    <a:ea typeface="楷体_GB2312"/>
                    <a:cs typeface="Times New Roman" panose="02020603050405020304" pitchFamily="18" charset="0"/>
                  </a:rPr>
                  <a:t>表</a:t>
                </a:r>
                <a:r>
                  <a:rPr lang="en-US" altLang="zh-CN" sz="1600" kern="100" dirty="0">
                    <a:latin typeface="Times New Roman" panose="02020603050405020304" pitchFamily="18" charset="0"/>
                    <a:ea typeface="楷体_GB2312"/>
                    <a:cs typeface="Times New Roman" panose="02020603050405020304" pitchFamily="18" charset="0"/>
                  </a:rPr>
                  <a:t>7.6 </a:t>
                </a:r>
                <a:r>
                  <a:rPr lang="zh-CN" altLang="zh-CN" sz="1600" kern="100" dirty="0">
                    <a:latin typeface="Times New Roman" panose="02020603050405020304" pitchFamily="18" charset="0"/>
                    <a:ea typeface="楷体_GB2312"/>
                    <a:cs typeface="Times New Roman" panose="02020603050405020304" pitchFamily="18" charset="0"/>
                  </a:rPr>
                  <a:t>石头</a:t>
                </a:r>
                <a:r>
                  <a:rPr lang="en-US" altLang="zh-CN" sz="1600" kern="100" dirty="0">
                    <a:latin typeface="Times New Roman" panose="02020603050405020304" pitchFamily="18" charset="0"/>
                    <a:ea typeface="楷体_GB2312"/>
                    <a:cs typeface="Times New Roman" panose="02020603050405020304" pitchFamily="18" charset="0"/>
                  </a:rPr>
                  <a:t>-</a:t>
                </a:r>
                <a:r>
                  <a:rPr lang="zh-CN" altLang="zh-CN" sz="1600" kern="100" dirty="0">
                    <a:latin typeface="Times New Roman" panose="02020603050405020304" pitchFamily="18" charset="0"/>
                    <a:ea typeface="楷体_GB2312"/>
                    <a:cs typeface="Times New Roman" panose="02020603050405020304" pitchFamily="18" charset="0"/>
                  </a:rPr>
                  <a:t>剪刀</a:t>
                </a:r>
                <a:r>
                  <a:rPr lang="en-US" altLang="zh-CN" sz="1600" kern="100" dirty="0">
                    <a:latin typeface="Times New Roman" panose="02020603050405020304" pitchFamily="18" charset="0"/>
                    <a:ea typeface="楷体_GB2312"/>
                    <a:cs typeface="Times New Roman" panose="02020603050405020304" pitchFamily="18" charset="0"/>
                  </a:rPr>
                  <a:t>-</a:t>
                </a:r>
                <a:r>
                  <a:rPr lang="zh-CN" altLang="zh-CN" sz="1600" kern="100" dirty="0">
                    <a:latin typeface="Times New Roman" panose="02020603050405020304" pitchFamily="18" charset="0"/>
                    <a:ea typeface="楷体_GB2312"/>
                    <a:cs typeface="Times New Roman" panose="02020603050405020304" pitchFamily="18" charset="0"/>
                  </a:rPr>
                  <a:t>布游戏的局势及收益</a:t>
                </a:r>
                <a14:m>
                  <m:oMath xmlns:m="http://schemas.openxmlformats.org/officeDocument/2006/math">
                    <m:r>
                      <a:rPr lang="en-US" altLang="zh-CN" sz="1600" b="0" kern="100">
                        <a:latin typeface="Cambria Math" panose="02040503050406030204" pitchFamily="18" charset="0"/>
                        <a:ea typeface="楷体_GB231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0" i="1" kern="100">
                            <a:latin typeface="Cambria Math" panose="02040503050406030204" pitchFamily="18" charset="0"/>
                            <a:ea typeface="楷体_GB2312"/>
                            <a:cs typeface="Times New Roman" panose="02020603050405020304" pitchFamily="18" charset="0"/>
                          </a:rPr>
                          <m:t>𝑢</m:t>
                        </m:r>
                      </m:e>
                      <m:sub>
                        <m:r>
                          <a:rPr lang="en-US" altLang="zh-CN" sz="1600" b="0" i="1" kern="100">
                            <a:latin typeface="Cambria Math" panose="02040503050406030204" pitchFamily="18" charset="0"/>
                            <a:ea typeface="楷体_GB2312"/>
                            <a:cs typeface="Times New Roman" panose="02020603050405020304" pitchFamily="18" charset="0"/>
                          </a:rPr>
                          <m:t>𝐴</m:t>
                        </m:r>
                      </m:sub>
                    </m:sSub>
                    <m:r>
                      <a:rPr lang="en-US" altLang="zh-CN" sz="1600" b="0" i="1" kern="100">
                        <a:latin typeface="Cambria Math" panose="02040503050406030204" pitchFamily="18" charset="0"/>
                        <a:ea typeface="楷体_GB231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0" i="1" kern="100">
                            <a:latin typeface="Cambria Math" panose="02040503050406030204" pitchFamily="18" charset="0"/>
                            <a:ea typeface="楷体_GB2312"/>
                            <a:cs typeface="Times New Roman" panose="02020603050405020304" pitchFamily="18" charset="0"/>
                          </a:rPr>
                          <m:t>𝑢</m:t>
                        </m:r>
                      </m:e>
                      <m:sub>
                        <m:r>
                          <a:rPr lang="en-US" altLang="zh-CN" sz="1600" b="0" i="1" kern="100">
                            <a:latin typeface="Cambria Math" panose="02040503050406030204" pitchFamily="18" charset="0"/>
                            <a:ea typeface="楷体_GB2312"/>
                            <a:cs typeface="Times New Roman" panose="02020603050405020304" pitchFamily="18" charset="0"/>
                          </a:rPr>
                          <m:t>𝐵</m:t>
                        </m:r>
                      </m:sub>
                    </m:sSub>
                    <m:r>
                      <a:rPr lang="en-US" altLang="zh-CN" sz="1600" b="0" kern="100">
                        <a:latin typeface="Cambria Math" panose="02040503050406030204" pitchFamily="18" charset="0"/>
                        <a:ea typeface="楷体_GB2312"/>
                        <a:cs typeface="Times New Roman" panose="02020603050405020304" pitchFamily="18" charset="0"/>
                      </a:rPr>
                      <m:t>)</m:t>
                    </m:r>
                  </m:oMath>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24EB1DBA-F0EA-4604-921B-C501EFCAEADE}"/>
                  </a:ext>
                </a:extLst>
              </p:cNvPr>
              <p:cNvSpPr>
                <a:spLocks noRot="1" noChangeAspect="1" noMove="1" noResize="1" noEditPoints="1" noAdjustHandles="1" noChangeArrowheads="1" noChangeShapeType="1" noTextEdit="1"/>
              </p:cNvSpPr>
              <p:nvPr/>
            </p:nvSpPr>
            <p:spPr>
              <a:xfrm>
                <a:off x="7428647" y="2613004"/>
                <a:ext cx="4464748" cy="338554"/>
              </a:xfrm>
              <a:prstGeom prst="rect">
                <a:avLst/>
              </a:prstGeom>
              <a:blipFill>
                <a:blip r:embed="rId5"/>
                <a:stretch>
                  <a:fillRect t="-7273" b="-218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21055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遗憾最小化算法：</a:t>
              </a:r>
              <a:r>
                <a:rPr lang="zh-CN" altLang="en-US" sz="2000" kern="100" dirty="0">
                  <a:latin typeface="Times New Roman" panose="02020603050405020304" pitchFamily="18" charset="0"/>
                  <a:ea typeface="华文楷体" panose="02010600040101010101" pitchFamily="2" charset="-122"/>
                  <a:cs typeface="Times New Roman" panose="02020603050405020304" pitchFamily="18" charset="0"/>
                </a:rPr>
                <a:t>石头</a:t>
              </a:r>
              <a:r>
                <a:rPr lang="en-US" altLang="zh-CN" sz="2000" kern="1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kern="100" dirty="0">
                  <a:latin typeface="Times New Roman" panose="02020603050405020304" pitchFamily="18" charset="0"/>
                  <a:ea typeface="华文楷体" panose="02010600040101010101" pitchFamily="2" charset="-122"/>
                  <a:cs typeface="Times New Roman" panose="02020603050405020304" pitchFamily="18" charset="0"/>
                </a:rPr>
                <a:t>剪刀</a:t>
              </a:r>
              <a:r>
                <a:rPr lang="en-US" altLang="zh-CN" sz="2000" kern="1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kern="100" dirty="0">
                  <a:latin typeface="Times New Roman" panose="02020603050405020304" pitchFamily="18" charset="0"/>
                  <a:ea typeface="华文楷体" panose="02010600040101010101" pitchFamily="2" charset="-122"/>
                  <a:cs typeface="Times New Roman" panose="02020603050405020304" pitchFamily="18" charset="0"/>
                </a:rPr>
                <a:t>布例子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06C22078-7689-4592-B01D-E10B5F982F56}"/>
                  </a:ext>
                </a:extLst>
              </p:cNvPr>
              <p:cNvSpPr/>
              <p:nvPr/>
            </p:nvSpPr>
            <p:spPr>
              <a:xfrm>
                <a:off x="211015" y="1714333"/>
                <a:ext cx="6897857" cy="5719258"/>
              </a:xfrm>
              <a:prstGeom prst="rect">
                <a:avLst/>
              </a:prstGeom>
            </p:spPr>
            <p:txBody>
              <a:bodyPr wrap="square">
                <a:spAutoFit/>
              </a:bodyPr>
              <a:lstStyle/>
              <a:p>
                <a:pPr indent="266700" algn="just">
                  <a:spcAft>
                    <a:spcPts val="0"/>
                  </a:spcAft>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对于</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spcAft>
                    <a:spcPts val="0"/>
                  </a:spcAft>
                  <a:buFont typeface="Arial" panose="020B0604020202020204" pitchFamily="34" charset="0"/>
                  <a:buChar char="•"/>
                </a:pP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在第一局中没有选择</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石头</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这一策略的遗憾值</a:t>
                </a:r>
                <a14:m>
                  <m:oMath xmlns:m="http://schemas.openxmlformats.org/officeDocument/2006/math">
                    <m:sSubSup>
                      <m:sSubSup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sSubSup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sz="1600">
                            <a:latin typeface="Cambria Math" panose="02040503050406030204" pitchFamily="18" charset="0"/>
                            <a:ea typeface="华文楷体" panose="02010600040101010101" pitchFamily="2" charset="-122"/>
                            <a:cs typeface="Times New Roman" panose="02020603050405020304" pitchFamily="18" charset="0"/>
                          </a:rPr>
                          <m:t>𝐵</m:t>
                        </m:r>
                      </m:sub>
                      <m:sup>
                        <m:r>
                          <a:rPr lang="en-US" altLang="zh-CN" sz="1600">
                            <a:latin typeface="Cambria Math" panose="02040503050406030204" pitchFamily="18" charset="0"/>
                            <a:ea typeface="华文楷体" panose="02010600040101010101" pitchFamily="2" charset="-122"/>
                            <a:cs typeface="Times New Roman" panose="02020603050405020304" pitchFamily="18" charset="0"/>
                          </a:rPr>
                          <m:t>1</m:t>
                        </m:r>
                      </m:sup>
                    </m:sSubSup>
                    <m:d>
                      <m:d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𝑅</m:t>
                        </m:r>
                      </m:e>
                    </m:d>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600">
                            <a:latin typeface="Cambria Math" panose="02040503050406030204" pitchFamily="18" charset="0"/>
                            <a:ea typeface="华文楷体" panose="02010600040101010101" pitchFamily="2" charset="-122"/>
                            <a:cs typeface="Times New Roman" panose="02020603050405020304" pitchFamily="18" charset="0"/>
                          </a:rPr>
                          <m:t>𝐵</m:t>
                        </m:r>
                      </m:sub>
                    </m:sSub>
                    <m:d>
                      <m:d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𝑅</m:t>
                        </m:r>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a:latin typeface="Cambria Math" panose="02040503050406030204" pitchFamily="18" charset="0"/>
                            <a:ea typeface="华文楷体" panose="02010600040101010101" pitchFamily="2" charset="-122"/>
                            <a:cs typeface="Times New Roman" panose="02020603050405020304" pitchFamily="18" charset="0"/>
                          </a:rPr>
                          <m:t>𝑅</m:t>
                        </m:r>
                      </m:e>
                    </m:d>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600">
                            <a:latin typeface="Cambria Math" panose="02040503050406030204" pitchFamily="18" charset="0"/>
                            <a:ea typeface="华文楷体" panose="02010600040101010101" pitchFamily="2" charset="-122"/>
                            <a:cs typeface="Times New Roman" panose="02020603050405020304" pitchFamily="18" charset="0"/>
                          </a:rPr>
                          <m:t>𝐵</m:t>
                        </m:r>
                      </m:sub>
                    </m:sSub>
                    <m:d>
                      <m:d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𝑅</m:t>
                        </m:r>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a:latin typeface="Cambria Math" panose="02040503050406030204" pitchFamily="18" charset="0"/>
                            <a:ea typeface="华文楷体" panose="02010600040101010101" pitchFamily="2" charset="-122"/>
                            <a:cs typeface="Times New Roman" panose="02020603050405020304" pitchFamily="18" charset="0"/>
                          </a:rPr>
                          <m:t>𝑃</m:t>
                        </m:r>
                      </m:e>
                    </m:d>
                    <m:r>
                      <a:rPr lang="en-US" altLang="zh-CN" sz="1600">
                        <a:latin typeface="Cambria Math" panose="02040503050406030204" pitchFamily="18" charset="0"/>
                        <a:ea typeface="华文楷体" panose="02010600040101010101" pitchFamily="2" charset="-122"/>
                        <a:cs typeface="Times New Roman" panose="02020603050405020304" pitchFamily="18" charset="0"/>
                      </a:rPr>
                      <m:t>=0−1=−1</m:t>
                    </m:r>
                  </m:oMath>
                </a14:m>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spcAft>
                    <a:spcPts val="0"/>
                  </a:spcAft>
                  <a:buFont typeface="Arial" panose="020B0604020202020204" pitchFamily="34" charset="0"/>
                  <a:buChar char="•"/>
                </a:pP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在第一局中没有选择</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剪刀</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这一策略的遗憾值</a:t>
                </a:r>
                <a14:m>
                  <m:oMath xmlns:m="http://schemas.openxmlformats.org/officeDocument/2006/math">
                    <m:sSubSup>
                      <m:sSubSup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sSubSup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sz="1600">
                            <a:latin typeface="Cambria Math" panose="02040503050406030204" pitchFamily="18" charset="0"/>
                            <a:ea typeface="华文楷体" panose="02010600040101010101" pitchFamily="2" charset="-122"/>
                            <a:cs typeface="Times New Roman" panose="02020603050405020304" pitchFamily="18" charset="0"/>
                          </a:rPr>
                          <m:t>𝐵</m:t>
                        </m:r>
                      </m:sub>
                      <m:sup>
                        <m:r>
                          <a:rPr lang="en-US" altLang="zh-CN" sz="1600">
                            <a:latin typeface="Cambria Math" panose="02040503050406030204" pitchFamily="18" charset="0"/>
                            <a:ea typeface="华文楷体" panose="02010600040101010101" pitchFamily="2" charset="-122"/>
                            <a:cs typeface="Times New Roman" panose="02020603050405020304" pitchFamily="18" charset="0"/>
                          </a:rPr>
                          <m:t>1</m:t>
                        </m:r>
                      </m:sup>
                    </m:sSubSup>
                    <m:d>
                      <m:d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𝑆</m:t>
                        </m:r>
                      </m:e>
                    </m:d>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600">
                            <a:latin typeface="Cambria Math" panose="02040503050406030204" pitchFamily="18" charset="0"/>
                            <a:ea typeface="华文楷体" panose="02010600040101010101" pitchFamily="2" charset="-122"/>
                            <a:cs typeface="Times New Roman" panose="02020603050405020304" pitchFamily="18" charset="0"/>
                          </a:rPr>
                          <m:t>𝐵</m:t>
                        </m:r>
                      </m:sub>
                    </m:sSub>
                    <m:d>
                      <m:d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𝑅</m:t>
                        </m:r>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a:latin typeface="Cambria Math" panose="02040503050406030204" pitchFamily="18" charset="0"/>
                            <a:ea typeface="华文楷体" panose="02010600040101010101" pitchFamily="2" charset="-122"/>
                            <a:cs typeface="Times New Roman" panose="02020603050405020304" pitchFamily="18" charset="0"/>
                          </a:rPr>
                          <m:t>𝑆</m:t>
                        </m:r>
                      </m:e>
                    </m:d>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600">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𝑅</m:t>
                        </m:r>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a:latin typeface="Cambria Math" panose="02040503050406030204" pitchFamily="18" charset="0"/>
                            <a:ea typeface="华文楷体" panose="02010600040101010101" pitchFamily="2" charset="-122"/>
                            <a:cs typeface="Times New Roman" panose="02020603050405020304" pitchFamily="18" charset="0"/>
                          </a:rPr>
                          <m:t>𝑃</m:t>
                        </m:r>
                      </m:e>
                    </m:d>
                    <m:r>
                      <a:rPr lang="en-US" altLang="zh-CN" sz="1600">
                        <a:latin typeface="Cambria Math" panose="02040503050406030204" pitchFamily="18" charset="0"/>
                        <a:ea typeface="华文楷体" panose="02010600040101010101" pitchFamily="2" charset="-122"/>
                        <a:cs typeface="Times New Roman" panose="02020603050405020304" pitchFamily="18" charset="0"/>
                      </a:rPr>
                      <m:t>=−1−1=−2</m:t>
                    </m:r>
                  </m:oMath>
                </a14:m>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algn="just">
                  <a:spcAft>
                    <a:spcPts val="0"/>
                  </a:spcAft>
                </a:pP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对玩家</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而言，</a:t>
                </a:r>
                <a14:m>
                  <m:oMath xmlns:m="http://schemas.openxmlformats.org/officeDocument/2006/math">
                    <m:nary>
                      <m:naryPr>
                        <m:chr m:val="∑"/>
                        <m:limLoc m:val="undOvr"/>
                        <m:grow m:val="on"/>
                        <m:supHide m:val="on"/>
                        <m:ctrlPr>
                          <a:rPr lang="zh-CN" altLang="zh-CN" sz="1600" i="1">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ctrlPr>
                      </m:naryPr>
                      <m:sub>
                        <m:sSubSup>
                          <m:sSubSupPr>
                            <m:ctrlPr>
                              <a:rPr lang="zh-CN" altLang="zh-CN" sz="1600" i="1">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ctrlPr>
                          </m:sSubSupPr>
                          <m:e>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ctrlPr>
                          </m:sSubPr>
                          <m:e>
                            <m:r>
                              <m:rPr>
                                <m:sty m:val="p"/>
                              </m:rP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Σ</m:t>
                            </m:r>
                          </m:e>
                          <m:sub>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𝑖</m:t>
                            </m:r>
                          </m:sub>
                        </m:sSub>
                      </m:sub>
                      <m:sup/>
                      <m:e>
                        <m:sSubSup>
                          <m:sSubSupPr>
                            <m:ctrlPr>
                              <a:rPr lang="zh-CN" altLang="zh-CN" sz="1600" i="1">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ctrlPr>
                          </m:sSubSupPr>
                          <m:e>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𝑇</m:t>
                            </m:r>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m:t>
                        </m:r>
                        <m:sSubSup>
                          <m:sSubSupPr>
                            <m:ctrlPr>
                              <a:rPr lang="zh-CN" altLang="zh-CN" sz="1600" i="1">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ctrlPr>
                          </m:sSubSupPr>
                          <m:e>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m:t>
                        </m:r>
                      </m:e>
                    </m:nary>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=−3&lt;0</m:t>
                    </m:r>
                  </m:oMath>
                </a14:m>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，因此下一轮中以</a:t>
                </a:r>
                <a14:m>
                  <m:oMath xmlns:m="http://schemas.openxmlformats.org/officeDocument/2006/math">
                    <m:f>
                      <m:fPr>
                        <m:ctrlPr>
                          <a:rPr lang="zh-CN" altLang="zh-CN" sz="1600" i="1">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ctrlPr>
                          </m:sSubPr>
                          <m:e>
                            <m:r>
                              <m:rPr>
                                <m:sty m:val="p"/>
                              </m:rP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Σ</m:t>
                            </m:r>
                          </m:e>
                          <m:sub>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m:t>
                        </m:r>
                      </m:den>
                    </m:f>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600" i="1">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16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3</m:t>
                        </m:r>
                      </m:den>
                    </m:f>
                  </m:oMath>
                </a14:m>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的概率从</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石头</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剪刀</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布</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中选择一个策略。</a:t>
                </a:r>
              </a:p>
              <a:p>
                <a:pPr indent="266700" algn="just">
                  <a:spcAft>
                    <a:spcPts val="0"/>
                  </a:spcAft>
                </a:pP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假设玩家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在第二局按照遗憾值最大的策略选择</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剪刀</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随机选择</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石头</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，根据公式</a:t>
                </a:r>
                <a14:m>
                  <m:oMath xmlns:m="http://schemas.openxmlformats.org/officeDocument/2006/math">
                    <m:sSubSup>
                      <m:sSubSup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sSubSup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sz="1600">
                            <a:latin typeface="Cambria Math" panose="02040503050406030204" pitchFamily="18" charset="0"/>
                            <a:ea typeface="华文楷体" panose="02010600040101010101" pitchFamily="2" charset="-122"/>
                            <a:cs typeface="Times New Roman" panose="02020603050405020304" pitchFamily="18" charset="0"/>
                          </a:rPr>
                          <m:t>𝐴</m:t>
                        </m:r>
                      </m:sub>
                      <m:sup>
                        <m:r>
                          <a:rPr lang="en-US" altLang="zh-CN" sz="1600">
                            <a:latin typeface="Cambria Math" panose="02040503050406030204" pitchFamily="18" charset="0"/>
                            <a:ea typeface="华文楷体" panose="02010600040101010101" pitchFamily="2" charset="-122"/>
                            <a:cs typeface="Times New Roman" panose="02020603050405020304" pitchFamily="18" charset="0"/>
                          </a:rPr>
                          <m:t>2</m:t>
                        </m:r>
                      </m:sup>
                    </m:sSubSup>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6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nary>
                      <m:naryPr>
                        <m:chr m:val="∑"/>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naryPr>
                      <m:sub>
                        <m:r>
                          <a:rPr lang="en-US" altLang="zh-CN" sz="1600">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1600">
                            <a:latin typeface="Cambria Math" panose="02040503050406030204" pitchFamily="18" charset="0"/>
                            <a:ea typeface="华文楷体" panose="02010600040101010101" pitchFamily="2" charset="-122"/>
                            <a:cs typeface="Times New Roman" panose="02020603050405020304" pitchFamily="18" charset="0"/>
                          </a:rPr>
                          <m:t>2</m:t>
                        </m:r>
                      </m:sup>
                      <m:e>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600">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dPr>
                          <m:e>
                            <m:sSub>
                              <m:sSub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6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sSubSup>
                              <m:sSubSup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sSubSup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600">
                                    <a:latin typeface="Cambria Math" panose="02040503050406030204" pitchFamily="18" charset="0"/>
                                    <a:ea typeface="华文楷体" panose="02010600040101010101" pitchFamily="2" charset="-122"/>
                                    <a:cs typeface="Times New Roman" panose="02020603050405020304" pitchFamily="18" charset="0"/>
                                  </a:rPr>
                                  <m:t>𝑡</m:t>
                                </m:r>
                              </m:sup>
                            </m:sSubSup>
                          </m:e>
                        </m:d>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600">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dPr>
                          <m:e>
                            <m:sSup>
                              <m:sSup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sz="1600">
                                    <a:latin typeface="Cambria Math" panose="02040503050406030204" pitchFamily="18" charset="0"/>
                                    <a:ea typeface="华文楷体" panose="02010600040101010101" pitchFamily="2" charset="-122"/>
                                    <a:cs typeface="Times New Roman" panose="02020603050405020304" pitchFamily="18" charset="0"/>
                                  </a:rPr>
                                  <m:t>𝜎</m:t>
                                </m:r>
                              </m:e>
                              <m:sup>
                                <m:r>
                                  <a:rPr lang="en-US" altLang="zh-CN" sz="1600">
                                    <a:latin typeface="Cambria Math" panose="02040503050406030204" pitchFamily="18" charset="0"/>
                                    <a:ea typeface="华文楷体" panose="02010600040101010101" pitchFamily="2" charset="-122"/>
                                    <a:cs typeface="Times New Roman" panose="02020603050405020304" pitchFamily="18" charset="0"/>
                                  </a:rPr>
                                  <m:t>𝑡</m:t>
                                </m:r>
                              </m:sup>
                            </m:sSup>
                          </m:e>
                        </m:d>
                        <m:r>
                          <a:rPr lang="en-US" altLang="zh-CN" sz="1600">
                            <a:latin typeface="Cambria Math" panose="02040503050406030204" pitchFamily="18" charset="0"/>
                            <a:ea typeface="华文楷体" panose="02010600040101010101" pitchFamily="2" charset="-122"/>
                            <a:cs typeface="Times New Roman" panose="02020603050405020304" pitchFamily="18" charset="0"/>
                          </a:rPr>
                          <m:t>)</m:t>
                        </m:r>
                      </m:e>
                    </m:nary>
                  </m:oMath>
                </a14:m>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可计算得到玩家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的累加遗憾值（如表</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7.7</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所示）。</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从上表可知，前二局结束后，在第三局时，玩家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选择</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石头</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剪刀</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布</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的概率分别为</a:t>
                </a:r>
                <a14:m>
                  <m:oMath xmlns:m="http://schemas.openxmlformats.org/officeDocument/2006/math">
                    <m:f>
                      <m:f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sz="16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1600">
                            <a:latin typeface="Cambria Math" panose="02040503050406030204" pitchFamily="18" charset="0"/>
                            <a:ea typeface="华文楷体" panose="02010600040101010101" pitchFamily="2" charset="-122"/>
                            <a:cs typeface="Times New Roman" panose="02020603050405020304" pitchFamily="18" charset="0"/>
                          </a:rPr>
                          <m:t>6</m:t>
                        </m:r>
                      </m:den>
                    </m:f>
                    <m:r>
                      <a:rPr lang="zh-CN" altLang="zh-CN" sz="16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sz="1600">
                            <a:latin typeface="Cambria Math" panose="02040503050406030204" pitchFamily="18" charset="0"/>
                            <a:ea typeface="华文楷体" panose="02010600040101010101" pitchFamily="2" charset="-122"/>
                            <a:cs typeface="Times New Roman" panose="02020603050405020304" pitchFamily="18" charset="0"/>
                          </a:rPr>
                          <m:t>2</m:t>
                        </m:r>
                      </m:num>
                      <m:den>
                        <m:r>
                          <a:rPr lang="en-US" altLang="zh-CN" sz="1600">
                            <a:latin typeface="Cambria Math" panose="02040503050406030204" pitchFamily="18" charset="0"/>
                            <a:ea typeface="华文楷体" panose="02010600040101010101" pitchFamily="2" charset="-122"/>
                            <a:cs typeface="Times New Roman" panose="02020603050405020304" pitchFamily="18" charset="0"/>
                          </a:rPr>
                          <m:t>6</m:t>
                        </m:r>
                      </m:den>
                    </m:f>
                    <m:r>
                      <a:rPr lang="zh-CN" altLang="zh-CN" sz="16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sz="16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1600">
                            <a:latin typeface="Cambria Math" panose="02040503050406030204" pitchFamily="18" charset="0"/>
                            <a:ea typeface="华文楷体" panose="02010600040101010101" pitchFamily="2" charset="-122"/>
                            <a:cs typeface="Times New Roman" panose="02020603050405020304" pitchFamily="18" charset="0"/>
                          </a:rPr>
                          <m:t>3</m:t>
                        </m:r>
                      </m:den>
                    </m:f>
                    <m:r>
                      <a:rPr lang="zh-CN" altLang="zh-CN" sz="16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sz="1600">
                            <a:latin typeface="Cambria Math" panose="02040503050406030204" pitchFamily="18" charset="0"/>
                            <a:ea typeface="华文楷体" panose="02010600040101010101" pitchFamily="2" charset="-122"/>
                            <a:cs typeface="Times New Roman" panose="02020603050405020304" pitchFamily="18" charset="0"/>
                          </a:rPr>
                          <m:t>3</m:t>
                        </m:r>
                      </m:num>
                      <m:den>
                        <m:r>
                          <a:rPr lang="en-US" altLang="zh-CN" sz="1600">
                            <a:latin typeface="Cambria Math" panose="02040503050406030204" pitchFamily="18" charset="0"/>
                            <a:ea typeface="华文楷体" panose="02010600040101010101" pitchFamily="2" charset="-122"/>
                            <a:cs typeface="Times New Roman" panose="02020603050405020304" pitchFamily="18" charset="0"/>
                          </a:rPr>
                          <m:t>6</m:t>
                        </m:r>
                      </m:den>
                    </m:f>
                    <m:r>
                      <a:rPr lang="zh-CN" altLang="zh-CN" sz="16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600" i="1">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sz="16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1600">
                            <a:latin typeface="Cambria Math" panose="02040503050406030204" pitchFamily="18" charset="0"/>
                            <a:ea typeface="华文楷体" panose="02010600040101010101" pitchFamily="2" charset="-122"/>
                            <a:cs typeface="Times New Roman" panose="02020603050405020304" pitchFamily="18" charset="0"/>
                          </a:rPr>
                          <m:t>2</m:t>
                        </m:r>
                      </m:den>
                    </m:f>
                    <m:r>
                      <a:rPr lang="zh-CN" altLang="zh-CN" sz="1600">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。需要注意的是，玩家</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既可以按照遗憾值最小在第三轮来选择</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布</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这一策略，又可以随机选择</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石头</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或</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剪刀</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以防止自己的策略被对手察觉。</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1200" dirty="0">
                    <a:latin typeface="Times New Roman" panose="02020603050405020304" pitchFamily="18" charset="0"/>
                    <a:ea typeface="华文楷体" panose="02010600040101010101" pitchFamily="2" charset="-122"/>
                    <a:cs typeface="Times New Roman" panose="02020603050405020304" pitchFamily="18" charset="0"/>
                  </a:rPr>
                  <a:t>遗憾最小化算法在实际使用中需要</a:t>
                </a:r>
                <a:r>
                  <a:rPr lang="zh-CN" altLang="zh-CN" sz="1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反复模拟博弈多次</a:t>
                </a:r>
                <a:r>
                  <a:rPr lang="zh-CN" altLang="zh-CN" sz="1200" dirty="0">
                    <a:latin typeface="Times New Roman" panose="02020603050405020304" pitchFamily="18" charset="0"/>
                    <a:ea typeface="华文楷体" panose="02010600040101010101" pitchFamily="2" charset="-122"/>
                    <a:cs typeface="Times New Roman" panose="02020603050405020304" pitchFamily="18" charset="0"/>
                  </a:rPr>
                  <a:t>，才能拟合到近似的最优反应策略。当然，并不是所有的博弈都像石头</a:t>
                </a:r>
                <a:r>
                  <a:rPr lang="en-US" altLang="zh-CN" sz="1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200" dirty="0">
                    <a:latin typeface="Times New Roman" panose="02020603050405020304" pitchFamily="18" charset="0"/>
                    <a:ea typeface="华文楷体" panose="02010600040101010101" pitchFamily="2" charset="-122"/>
                    <a:cs typeface="Times New Roman" panose="02020603050405020304" pitchFamily="18" charset="0"/>
                  </a:rPr>
                  <a:t>剪刀</a:t>
                </a:r>
                <a:r>
                  <a:rPr lang="en-US" altLang="zh-CN" sz="1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200" dirty="0">
                    <a:latin typeface="Times New Roman" panose="02020603050405020304" pitchFamily="18" charset="0"/>
                    <a:ea typeface="华文楷体" panose="02010600040101010101" pitchFamily="2" charset="-122"/>
                    <a:cs typeface="Times New Roman" panose="02020603050405020304" pitchFamily="18" charset="0"/>
                  </a:rPr>
                  <a:t>布游戏这样一次决策就可以得出胜负，对于围棋和扑克等需要</a:t>
                </a:r>
                <a:r>
                  <a:rPr lang="zh-CN" altLang="zh-CN" sz="1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多轮决策</a:t>
                </a:r>
                <a:r>
                  <a:rPr lang="zh-CN" altLang="zh-CN" sz="1200" dirty="0">
                    <a:latin typeface="Times New Roman" panose="02020603050405020304" pitchFamily="18" charset="0"/>
                    <a:ea typeface="华文楷体" panose="02010600040101010101" pitchFamily="2" charset="-122"/>
                    <a:cs typeface="Times New Roman" panose="02020603050405020304" pitchFamily="18" charset="0"/>
                  </a:rPr>
                  <a:t>（即序贯决策）才能判断胜负的博弈问题，那么应该怎么办呢？为了解决这个问题，需要计算状态转移序列中</a:t>
                </a:r>
                <a:r>
                  <a:rPr lang="zh-CN" altLang="zh-CN" sz="1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每个状态的</a:t>
                </a:r>
                <a:r>
                  <a:rPr lang="en-US" altLang="zh-CN" sz="1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虚拟遗憾值</a:t>
                </a:r>
                <a:r>
                  <a:rPr lang="en-US" altLang="zh-CN" sz="1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200" dirty="0">
                    <a:latin typeface="Times New Roman" panose="02020603050405020304" pitchFamily="18" charset="0"/>
                    <a:ea typeface="华文楷体" panose="02010600040101010101" pitchFamily="2" charset="-122"/>
                    <a:cs typeface="Times New Roman" panose="02020603050405020304" pitchFamily="18" charset="0"/>
                  </a:rPr>
                  <a:t>，这就是</a:t>
                </a:r>
                <a:r>
                  <a:rPr lang="zh-CN" altLang="zh-CN" sz="1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虚拟遗憾值最小化算法</a:t>
                </a:r>
                <a:r>
                  <a:rPr lang="en-US" altLang="zh-CN" sz="1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(counterfactual regret minimization)</a:t>
                </a:r>
                <a:r>
                  <a:rPr lang="zh-CN" altLang="zh-CN" sz="1200" dirty="0">
                    <a:latin typeface="Times New Roman" panose="02020603050405020304" pitchFamily="18" charset="0"/>
                    <a:ea typeface="华文楷体" panose="02010600040101010101" pitchFamily="2" charset="-122"/>
                    <a:cs typeface="Times New Roman" panose="02020603050405020304" pitchFamily="18" charset="0"/>
                  </a:rPr>
                  <a:t>。</a:t>
                </a:r>
              </a:p>
              <a:p>
                <a:pPr indent="266700" algn="just">
                  <a:lnSpc>
                    <a:spcPct val="150000"/>
                  </a:lnSpc>
                </a:pPr>
                <a:endParaRPr lang="zh-CN" altLang="zh-CN" sz="1200" kern="100" dirty="0">
                  <a:latin typeface="Times New Roman" panose="02020603050405020304" pitchFamily="18" charset="0"/>
                  <a:ea typeface="楷体_GB2312"/>
                  <a:cs typeface="Times New Roman" panose="02020603050405020304" pitchFamily="18" charset="0"/>
                </a:endParaRPr>
              </a:p>
              <a:p>
                <a:pPr indent="266700" algn="just">
                  <a:lnSpc>
                    <a:spcPts val="3500"/>
                  </a:lnSpc>
                  <a:spcAft>
                    <a:spcPts val="0"/>
                  </a:spcAft>
                </a:pP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5" name="矩形 14">
                <a:extLst>
                  <a:ext uri="{FF2B5EF4-FFF2-40B4-BE49-F238E27FC236}">
                    <a16:creationId xmlns:a16="http://schemas.microsoft.com/office/drawing/2014/main" id="{06C22078-7689-4592-B01D-E10B5F982F56}"/>
                  </a:ext>
                </a:extLst>
              </p:cNvPr>
              <p:cNvSpPr>
                <a:spLocks noRot="1" noChangeAspect="1" noMove="1" noResize="1" noEditPoints="1" noAdjustHandles="1" noChangeArrowheads="1" noChangeShapeType="1" noTextEdit="1"/>
              </p:cNvSpPr>
              <p:nvPr/>
            </p:nvSpPr>
            <p:spPr>
              <a:xfrm>
                <a:off x="211015" y="1714333"/>
                <a:ext cx="6897857" cy="5719258"/>
              </a:xfrm>
              <a:prstGeom prst="rect">
                <a:avLst/>
              </a:prstGeom>
              <a:blipFill>
                <a:blip r:embed="rId3"/>
                <a:stretch>
                  <a:fillRect l="-531" t="-426" r="-1061"/>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DD206820-EC58-4832-83A1-76E14676E056}"/>
              </a:ext>
            </a:extLst>
          </p:cNvPr>
          <p:cNvPicPr>
            <a:picLocks noChangeAspect="1"/>
          </p:cNvPicPr>
          <p:nvPr/>
        </p:nvPicPr>
        <p:blipFill>
          <a:blip r:embed="rId4"/>
          <a:stretch>
            <a:fillRect/>
          </a:stretch>
        </p:blipFill>
        <p:spPr>
          <a:xfrm>
            <a:off x="7108871" y="2676526"/>
            <a:ext cx="5075635" cy="2467142"/>
          </a:xfrm>
          <a:prstGeom prst="rect">
            <a:avLst/>
          </a:prstGeom>
        </p:spPr>
      </p:pic>
    </p:spTree>
    <p:extLst>
      <p:ext uri="{BB962C8B-B14F-4D97-AF65-F5344CB8AC3E}">
        <p14:creationId xmlns:p14="http://schemas.microsoft.com/office/powerpoint/2010/main" val="2403144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F2868FF-6557-4787-A2D6-715B19AA7888}"/>
                  </a:ext>
                </a:extLst>
              </p:cNvPr>
              <p:cNvSpPr/>
              <p:nvPr/>
            </p:nvSpPr>
            <p:spPr>
              <a:xfrm>
                <a:off x="656492" y="1926918"/>
                <a:ext cx="10452295" cy="3374450"/>
              </a:xfrm>
              <a:prstGeom prst="rect">
                <a:avLst/>
              </a:prstGeom>
            </p:spPr>
            <p:txBody>
              <a:bodyPr wrap="square">
                <a:spAutoFit/>
              </a:bodyPr>
              <a:lstStyle/>
              <a:p>
                <a:pPr indent="266700" algn="just">
                  <a:lnSpc>
                    <a:spcPct val="150000"/>
                  </a:lnSpc>
                  <a:spcAft>
                    <a:spcPts val="0"/>
                  </a:spcAft>
                </a:pPr>
                <a:r>
                  <a:rPr lang="zh-CN" altLang="zh-CN"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对于任何序贯决策的博弈对抗，可将博弈过程表示成一棵博弈树，博弈树中的每一个中间节点都是一个</a:t>
                </a:r>
                <a:r>
                  <a:rPr lang="zh-CN" altLang="zh-CN" b="1"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信息集</a:t>
                </a:r>
                <a14:m>
                  <m:oMath xmlns:m="http://schemas.openxmlformats.org/officeDocument/2006/math">
                    <m:r>
                      <a:rPr lang="en-US" altLang="zh-CN" i="1"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𝐼</m:t>
                    </m:r>
                  </m:oMath>
                </a14:m>
                <a:r>
                  <a:rPr lang="zh-CN" altLang="zh-CN"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，信息集中包含了博弈中当前的状态。</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给定博弈树的每一个节点，玩家都可以从一系列的动作中选择一个，然后状态发生转换，如此周而复始，直到终局（博弈树的叶子节点）。</a:t>
                </a:r>
                <a:r>
                  <a:rPr lang="zh-CN" altLang="zh-CN"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玩家在当前状态下可采取的策略就是当前状态下所有可能动作的一个概率分布。</a:t>
                </a:r>
                <a:endParaRPr lang="zh-CN" altLang="zh-CN" sz="14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150000"/>
                  </a:lnSpc>
                  <a:spcAft>
                    <a:spcPts val="0"/>
                  </a:spcAft>
                </a:pP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具体而言，在信息集</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下，玩家可以采取的行动集合记作</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𝐴</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m:t>
                        </m:r>
                      </m:e>
                    </m:d>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。玩家</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所采取的行动</a:t>
                </a: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𝑎</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𝐴</m:t>
                    </m:r>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m:t>
                    </m:r>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可认为是其采取的策略</a:t>
                </a: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的一部分。</a:t>
                </a:r>
                <a:r>
                  <a:rPr lang="zh-CN" altLang="zh-CN"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在信息集</a:t>
                </a:r>
                <a14:m>
                  <m:oMath xmlns:m="http://schemas.openxmlformats.org/officeDocument/2006/math">
                    <m:r>
                      <a:rPr lang="en-US" altLang="zh-CN" i="1"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𝐼</m:t>
                    </m:r>
                  </m:oMath>
                </a14:m>
                <a:r>
                  <a:rPr lang="zh-CN" altLang="zh-CN"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下采取行动</a:t>
                </a:r>
                <a14:m>
                  <m:oMath xmlns:m="http://schemas.openxmlformats.org/officeDocument/2006/math">
                    <m:r>
                      <a:rPr lang="en-US" altLang="zh-CN" i="1"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𝑎</m:t>
                    </m:r>
                  </m:oMath>
                </a14:m>
                <a:r>
                  <a:rPr lang="zh-CN" altLang="zh-CN"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所代表的策略记为</a:t>
                </a:r>
                <a14:m>
                  <m:oMath xmlns:m="http://schemas.openxmlformats.org/officeDocument/2006/math">
                    <m:sSub>
                      <m:sSubPr>
                        <m:ctrlPr>
                          <a:rPr lang="zh-CN" altLang="zh-CN"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i="1"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𝐼</m:t>
                        </m:r>
                        <m:r>
                          <a:rPr lang="en-US" altLang="zh-CN"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𝑎</m:t>
                        </m:r>
                      </m:sub>
                    </m:sSub>
                  </m:oMath>
                </a14:m>
                <a:r>
                  <a:rPr lang="zh-CN" altLang="zh-CN"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这样，要计算虚拟遗憾值的对象就是博弈树中每个中间节点在信息集下所采取的行动，并根据遗憾值匹配得到该节点在信息集下应该采取的策略</a:t>
                </a: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m:t>
                        </m:r>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𝑎</m:t>
                        </m:r>
                      </m:sub>
                    </m:sSub>
                  </m:oMath>
                </a14:m>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14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AF2868FF-6557-4787-A2D6-715B19AA7888}"/>
                  </a:ext>
                </a:extLst>
              </p:cNvPr>
              <p:cNvSpPr>
                <a:spLocks noRot="1" noChangeAspect="1" noMove="1" noResize="1" noEditPoints="1" noAdjustHandles="1" noChangeArrowheads="1" noChangeShapeType="1" noTextEdit="1"/>
              </p:cNvSpPr>
              <p:nvPr/>
            </p:nvSpPr>
            <p:spPr>
              <a:xfrm>
                <a:off x="656492" y="1926918"/>
                <a:ext cx="10452295" cy="3374450"/>
              </a:xfrm>
              <a:prstGeom prst="rect">
                <a:avLst/>
              </a:prstGeom>
              <a:blipFill>
                <a:blip r:embed="rId3"/>
                <a:stretch>
                  <a:fillRect l="-525" r="-467" b="-19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98940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2D5FF2E-CBAF-41DF-A29D-B5754ECC7745}"/>
                  </a:ext>
                </a:extLst>
              </p:cNvPr>
              <p:cNvSpPr txBox="1"/>
              <p:nvPr/>
            </p:nvSpPr>
            <p:spPr>
              <a:xfrm>
                <a:off x="575353" y="1659105"/>
                <a:ext cx="10577245" cy="3970318"/>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在一次博弈中，所有玩家交替采取的行动序列记为</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h</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（从根节点到当前节点的路径），对于所有玩家的策略组合</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，行动序列</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h</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出现的概率记为</a:t>
                </a:r>
                <a14:m>
                  <m:oMath xmlns:m="http://schemas.openxmlformats.org/officeDocument/2006/math">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sup>
                    </m:s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，不同的行动序列可以从根节点到达当前节点的信息集</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𝐼</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（即不同决策路径可到达博弈树中同一个中间节点）。</a:t>
                </a: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在策略组合</a:t>
                </a:r>
                <a14:m>
                  <m:oMath xmlns:m="http://schemas.openxmlformats.org/officeDocument/2006/math">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oMath>
                </a14:m>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下，所有能够到达该信息集的行动序列的概率累加就是该信息集的出现概率，即</a:t>
                </a:r>
                <a14:m>
                  <m:oMath xmlns:m="http://schemas.openxmlformats.org/officeDocument/2006/math">
                    <m:sSup>
                      <m:sSup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sup>
                    </m:sSup>
                    <m:r>
                      <a:rPr lang="en-US" altLang="zh-CN" sz="18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8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subSup"/>
                        <m:supHide m:val="on"/>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8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𝐼</m:t>
                        </m:r>
                      </m:sub>
                      <m:sup/>
                      <m:e>
                        <m:sSup>
                          <m:sSup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sup>
                        </m:sSup>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8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e>
                    </m:nary>
                  </m:oMath>
                </a14:m>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200000"/>
                  </a:lnSpc>
                  <a:buFont typeface="Arial" panose="020B0604020202020204" pitchFamily="34" charset="0"/>
                  <a:buChar char="•"/>
                </a:pP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博弈的终结局势集合也就是博弈树中叶子节点的集合，记为</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𝑍</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。对于任意一个终结局势</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𝑧</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𝑍</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，玩家</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在此终点局势下的收益记作</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𝑧</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给定行动序列</a:t>
                </a:r>
                <a14:m>
                  <m:oMath xmlns:m="http://schemas.openxmlformats.org/officeDocument/2006/math">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oMath>
                </a14:m>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，依照策略组合</a:t>
                </a:r>
                <a14:m>
                  <m:oMath xmlns:m="http://schemas.openxmlformats.org/officeDocument/2006/math">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oMath>
                </a14:m>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最终到达终结局势</a:t>
                </a:r>
                <a14:m>
                  <m:oMath xmlns:m="http://schemas.openxmlformats.org/officeDocument/2006/math">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𝑧</m:t>
                    </m:r>
                  </m:oMath>
                </a14:m>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的概率记作</a:t>
                </a:r>
                <a14:m>
                  <m:oMath xmlns:m="http://schemas.openxmlformats.org/officeDocument/2006/math">
                    <m:sSup>
                      <m:sSup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sup>
                    </m:sSup>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𝑧</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F2D5FF2E-CBAF-41DF-A29D-B5754ECC7745}"/>
                  </a:ext>
                </a:extLst>
              </p:cNvPr>
              <p:cNvSpPr txBox="1">
                <a:spLocks noRot="1" noChangeAspect="1" noMove="1" noResize="1" noEditPoints="1" noAdjustHandles="1" noChangeArrowheads="1" noChangeShapeType="1" noTextEdit="1"/>
              </p:cNvSpPr>
              <p:nvPr/>
            </p:nvSpPr>
            <p:spPr>
              <a:xfrm>
                <a:off x="575353" y="1659105"/>
                <a:ext cx="10577245" cy="3970318"/>
              </a:xfrm>
              <a:prstGeom prst="rect">
                <a:avLst/>
              </a:prstGeom>
              <a:blipFill>
                <a:blip r:embed="rId3"/>
                <a:stretch>
                  <a:fillRect l="-346" r="-519"/>
                </a:stretch>
              </a:blipFill>
            </p:spPr>
            <p:txBody>
              <a:bodyPr/>
              <a:lstStyle/>
              <a:p>
                <a:r>
                  <a:rPr lang="zh-CN" altLang="en-US">
                    <a:noFill/>
                  </a:rPr>
                  <a:t> </a:t>
                </a:r>
              </a:p>
            </p:txBody>
          </p:sp>
        </mc:Fallback>
      </mc:AlternateContent>
      <p:sp>
        <p:nvSpPr>
          <p:cNvPr id="2" name="椭圆 1">
            <a:extLst>
              <a:ext uri="{FF2B5EF4-FFF2-40B4-BE49-F238E27FC236}">
                <a16:creationId xmlns:a16="http://schemas.microsoft.com/office/drawing/2014/main" id="{95EB2C68-62B6-7CCB-EE96-15EC937CD5C6}"/>
              </a:ext>
            </a:extLst>
          </p:cNvPr>
          <p:cNvSpPr/>
          <p:nvPr/>
        </p:nvSpPr>
        <p:spPr>
          <a:xfrm>
            <a:off x="2710180" y="5005629"/>
            <a:ext cx="266700" cy="2571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FC9DDE1E-3F5D-8C61-DDA2-18C6CFC69FB6}"/>
              </a:ext>
            </a:extLst>
          </p:cNvPr>
          <p:cNvSpPr/>
          <p:nvPr/>
        </p:nvSpPr>
        <p:spPr>
          <a:xfrm>
            <a:off x="2310130" y="5356474"/>
            <a:ext cx="266700" cy="25717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DDCD7F12-55D1-8817-894E-5040DAE48484}"/>
              </a:ext>
            </a:extLst>
          </p:cNvPr>
          <p:cNvSpPr/>
          <p:nvPr/>
        </p:nvSpPr>
        <p:spPr>
          <a:xfrm>
            <a:off x="2710180" y="5366295"/>
            <a:ext cx="266700" cy="2571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3F48FC84-433E-C7CA-07BF-62A2B1DA55A8}"/>
              </a:ext>
            </a:extLst>
          </p:cNvPr>
          <p:cNvSpPr/>
          <p:nvPr/>
        </p:nvSpPr>
        <p:spPr>
          <a:xfrm>
            <a:off x="3110230" y="5366443"/>
            <a:ext cx="266700" cy="25717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7EC5728-2F7A-4466-7035-700F3278222E}"/>
              </a:ext>
            </a:extLst>
          </p:cNvPr>
          <p:cNvSpPr/>
          <p:nvPr/>
        </p:nvSpPr>
        <p:spPr>
          <a:xfrm>
            <a:off x="2700655" y="5774106"/>
            <a:ext cx="266700" cy="2571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1228ADEA-3F85-3317-48FD-EDFCBD37806C}"/>
              </a:ext>
            </a:extLst>
          </p:cNvPr>
          <p:cNvSpPr/>
          <p:nvPr/>
        </p:nvSpPr>
        <p:spPr>
          <a:xfrm>
            <a:off x="3205480" y="5792422"/>
            <a:ext cx="266700" cy="25717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4202A7F1-072D-5058-163A-3D44D68361AE}"/>
              </a:ext>
            </a:extLst>
          </p:cNvPr>
          <p:cNvSpPr/>
          <p:nvPr/>
        </p:nvSpPr>
        <p:spPr>
          <a:xfrm>
            <a:off x="2195830" y="5781903"/>
            <a:ext cx="266700" cy="25717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E21E0FF5-C524-A682-04B5-AA672CF8A08F}"/>
              </a:ext>
            </a:extLst>
          </p:cNvPr>
          <p:cNvSpPr/>
          <p:nvPr/>
        </p:nvSpPr>
        <p:spPr>
          <a:xfrm>
            <a:off x="2443480" y="6157666"/>
            <a:ext cx="266700" cy="2571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7D6718B4-E1E5-D43F-F876-34ABF636D72D}"/>
              </a:ext>
            </a:extLst>
          </p:cNvPr>
          <p:cNvSpPr/>
          <p:nvPr/>
        </p:nvSpPr>
        <p:spPr>
          <a:xfrm>
            <a:off x="2967355" y="6157666"/>
            <a:ext cx="266700" cy="25717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F2AB6197-125C-FF3B-ACFF-254A91939377}"/>
              </a:ext>
            </a:extLst>
          </p:cNvPr>
          <p:cNvSpPr/>
          <p:nvPr/>
        </p:nvSpPr>
        <p:spPr>
          <a:xfrm>
            <a:off x="2700655" y="6471815"/>
            <a:ext cx="266700" cy="2571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94B5CC0-1813-4B75-D1C8-7602DC2C75B0}"/>
              </a:ext>
            </a:extLst>
          </p:cNvPr>
          <p:cNvSpPr/>
          <p:nvPr/>
        </p:nvSpPr>
        <p:spPr>
          <a:xfrm>
            <a:off x="2062480" y="6471815"/>
            <a:ext cx="266700" cy="25717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20" name="直接箭头连接符 19">
            <a:extLst>
              <a:ext uri="{FF2B5EF4-FFF2-40B4-BE49-F238E27FC236}">
                <a16:creationId xmlns:a16="http://schemas.microsoft.com/office/drawing/2014/main" id="{9F739A89-C84E-A79A-F4F4-39B5B7434921}"/>
              </a:ext>
            </a:extLst>
          </p:cNvPr>
          <p:cNvCxnSpPr>
            <a:endCxn id="10" idx="0"/>
          </p:cNvCxnSpPr>
          <p:nvPr/>
        </p:nvCxnSpPr>
        <p:spPr>
          <a:xfrm>
            <a:off x="2843530" y="5262804"/>
            <a:ext cx="0" cy="103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7F0B1177-13EE-65D2-0DBB-4C6DEBC2E611}"/>
              </a:ext>
            </a:extLst>
          </p:cNvPr>
          <p:cNvCxnSpPr>
            <a:cxnSpLocks/>
            <a:stCxn id="10" idx="4"/>
            <a:endCxn id="12" idx="0"/>
          </p:cNvCxnSpPr>
          <p:nvPr/>
        </p:nvCxnSpPr>
        <p:spPr>
          <a:xfrm flipH="1">
            <a:off x="2834005" y="5623470"/>
            <a:ext cx="9525" cy="1506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CE281E03-F418-F483-9724-CBECEB97244F}"/>
              </a:ext>
            </a:extLst>
          </p:cNvPr>
          <p:cNvCxnSpPr>
            <a:cxnSpLocks/>
            <a:stCxn id="12" idx="4"/>
            <a:endCxn id="15" idx="7"/>
          </p:cNvCxnSpPr>
          <p:nvPr/>
        </p:nvCxnSpPr>
        <p:spPr>
          <a:xfrm flipH="1">
            <a:off x="2671123" y="6031281"/>
            <a:ext cx="162882" cy="164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CC63D9B4-2C3A-E701-9263-D2DAA93B9687}"/>
              </a:ext>
            </a:extLst>
          </p:cNvPr>
          <p:cNvCxnSpPr>
            <a:cxnSpLocks/>
            <a:stCxn id="15" idx="4"/>
            <a:endCxn id="18" idx="7"/>
          </p:cNvCxnSpPr>
          <p:nvPr/>
        </p:nvCxnSpPr>
        <p:spPr>
          <a:xfrm flipH="1">
            <a:off x="2290123" y="6414841"/>
            <a:ext cx="286707" cy="946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F91192F-CA47-03B4-E202-4F1601EDC602}"/>
              </a:ext>
            </a:extLst>
          </p:cNvPr>
          <p:cNvCxnSpPr>
            <a:cxnSpLocks/>
            <a:stCxn id="15" idx="4"/>
            <a:endCxn id="17" idx="1"/>
          </p:cNvCxnSpPr>
          <p:nvPr/>
        </p:nvCxnSpPr>
        <p:spPr>
          <a:xfrm>
            <a:off x="2576830" y="6414841"/>
            <a:ext cx="162882" cy="946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A2AAAF55-849D-DBA2-7EF6-E92B0D32550C}"/>
              </a:ext>
            </a:extLst>
          </p:cNvPr>
          <p:cNvCxnSpPr>
            <a:cxnSpLocks/>
            <a:stCxn id="12" idx="4"/>
            <a:endCxn id="16" idx="1"/>
          </p:cNvCxnSpPr>
          <p:nvPr/>
        </p:nvCxnSpPr>
        <p:spPr>
          <a:xfrm>
            <a:off x="2834005" y="6031281"/>
            <a:ext cx="172407" cy="164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6BD82F5E-0B11-EEC3-11F0-3CFBDF9750C1}"/>
              </a:ext>
            </a:extLst>
          </p:cNvPr>
          <p:cNvCxnSpPr>
            <a:cxnSpLocks/>
            <a:stCxn id="2" idx="4"/>
            <a:endCxn id="9" idx="7"/>
          </p:cNvCxnSpPr>
          <p:nvPr/>
        </p:nvCxnSpPr>
        <p:spPr>
          <a:xfrm flipH="1">
            <a:off x="2537773" y="5262804"/>
            <a:ext cx="305757" cy="131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C5FF80C1-0B53-1B03-57C3-6E455F330D75}"/>
              </a:ext>
            </a:extLst>
          </p:cNvPr>
          <p:cNvCxnSpPr>
            <a:cxnSpLocks/>
            <a:stCxn id="2" idx="4"/>
            <a:endCxn id="11" idx="1"/>
          </p:cNvCxnSpPr>
          <p:nvPr/>
        </p:nvCxnSpPr>
        <p:spPr>
          <a:xfrm>
            <a:off x="2843530" y="5262804"/>
            <a:ext cx="305757" cy="1413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685529EB-6A51-496D-24CE-81F373B3D885}"/>
              </a:ext>
            </a:extLst>
          </p:cNvPr>
          <p:cNvCxnSpPr>
            <a:cxnSpLocks/>
            <a:stCxn id="10" idx="4"/>
            <a:endCxn id="14" idx="7"/>
          </p:cNvCxnSpPr>
          <p:nvPr/>
        </p:nvCxnSpPr>
        <p:spPr>
          <a:xfrm flipH="1">
            <a:off x="2423473" y="5623470"/>
            <a:ext cx="420057" cy="196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1F20A184-99F4-BFE0-57AB-5381BC1C9106}"/>
              </a:ext>
            </a:extLst>
          </p:cNvPr>
          <p:cNvCxnSpPr>
            <a:cxnSpLocks/>
            <a:stCxn id="10" idx="4"/>
            <a:endCxn id="13" idx="1"/>
          </p:cNvCxnSpPr>
          <p:nvPr/>
        </p:nvCxnSpPr>
        <p:spPr>
          <a:xfrm>
            <a:off x="2843530" y="5623470"/>
            <a:ext cx="401007" cy="206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右大括号 51">
            <a:extLst>
              <a:ext uri="{FF2B5EF4-FFF2-40B4-BE49-F238E27FC236}">
                <a16:creationId xmlns:a16="http://schemas.microsoft.com/office/drawing/2014/main" id="{CA48887E-45E2-751D-1E2E-D7E10080E5E5}"/>
              </a:ext>
            </a:extLst>
          </p:cNvPr>
          <p:cNvSpPr/>
          <p:nvPr/>
        </p:nvSpPr>
        <p:spPr>
          <a:xfrm>
            <a:off x="3948430" y="5134216"/>
            <a:ext cx="266700" cy="89706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3" name="直接箭头连接符 52">
            <a:extLst>
              <a:ext uri="{FF2B5EF4-FFF2-40B4-BE49-F238E27FC236}">
                <a16:creationId xmlns:a16="http://schemas.microsoft.com/office/drawing/2014/main" id="{0FFD80FE-F6B3-4CB5-470A-434257E36129}"/>
              </a:ext>
            </a:extLst>
          </p:cNvPr>
          <p:cNvCxnSpPr/>
          <p:nvPr/>
        </p:nvCxnSpPr>
        <p:spPr>
          <a:xfrm>
            <a:off x="2995930" y="5415204"/>
            <a:ext cx="0" cy="103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右大括号 53">
            <a:extLst>
              <a:ext uri="{FF2B5EF4-FFF2-40B4-BE49-F238E27FC236}">
                <a16:creationId xmlns:a16="http://schemas.microsoft.com/office/drawing/2014/main" id="{BA626E98-CEB1-3389-0FBD-9EF402A3B032}"/>
              </a:ext>
            </a:extLst>
          </p:cNvPr>
          <p:cNvSpPr/>
          <p:nvPr/>
        </p:nvSpPr>
        <p:spPr>
          <a:xfrm>
            <a:off x="3948430" y="6031280"/>
            <a:ext cx="266700" cy="69770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5D5A5FEE-0078-E98A-AE30-BE23EF4551BA}"/>
                  </a:ext>
                </a:extLst>
              </p:cNvPr>
              <p:cNvSpPr txBox="1"/>
              <p:nvPr/>
            </p:nvSpPr>
            <p:spPr>
              <a:xfrm>
                <a:off x="4252273" y="5404105"/>
                <a:ext cx="76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zh-CN" sz="1800"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sup>
                      </m:sSup>
                      <m:r>
                        <a:rPr lang="en-US" altLang="zh-CN" sz="18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h</m:t>
                      </m:r>
                      <m:r>
                        <a:rPr lang="en-US" altLang="zh-CN" sz="18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en-US" dirty="0"/>
              </a:p>
            </p:txBody>
          </p:sp>
        </mc:Choice>
        <mc:Fallback xmlns="">
          <p:sp>
            <p:nvSpPr>
              <p:cNvPr id="56" name="文本框 55">
                <a:extLst>
                  <a:ext uri="{FF2B5EF4-FFF2-40B4-BE49-F238E27FC236}">
                    <a16:creationId xmlns:a16="http://schemas.microsoft.com/office/drawing/2014/main" id="{5D5A5FEE-0078-E98A-AE30-BE23EF4551BA}"/>
                  </a:ext>
                </a:extLst>
              </p:cNvPr>
              <p:cNvSpPr txBox="1">
                <a:spLocks noRot="1" noChangeAspect="1" noMove="1" noResize="1" noEditPoints="1" noAdjustHandles="1" noChangeArrowheads="1" noChangeShapeType="1" noTextEdit="1"/>
              </p:cNvSpPr>
              <p:nvPr/>
            </p:nvSpPr>
            <p:spPr>
              <a:xfrm>
                <a:off x="4252273" y="5404105"/>
                <a:ext cx="762000" cy="369332"/>
              </a:xfrm>
              <a:prstGeom prst="rect">
                <a:avLst/>
              </a:prstGeom>
              <a:blipFill>
                <a:blip r:embed="rId4"/>
                <a:stretch>
                  <a:fillRect r="-4800"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E4E4520D-58CD-9C65-D732-47856F8FE83B}"/>
                  </a:ext>
                </a:extLst>
              </p:cNvPr>
              <p:cNvSpPr txBox="1"/>
              <p:nvPr/>
            </p:nvSpPr>
            <p:spPr>
              <a:xfrm>
                <a:off x="4176073" y="6125596"/>
                <a:ext cx="98964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zh-CN" sz="1800"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sup>
                      </m:sSup>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𝑧</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en-US" dirty="0"/>
              </a:p>
            </p:txBody>
          </p:sp>
        </mc:Choice>
        <mc:Fallback xmlns="">
          <p:sp>
            <p:nvSpPr>
              <p:cNvPr id="58" name="文本框 57">
                <a:extLst>
                  <a:ext uri="{FF2B5EF4-FFF2-40B4-BE49-F238E27FC236}">
                    <a16:creationId xmlns:a16="http://schemas.microsoft.com/office/drawing/2014/main" id="{E4E4520D-58CD-9C65-D732-47856F8FE83B}"/>
                  </a:ext>
                </a:extLst>
              </p:cNvPr>
              <p:cNvSpPr txBox="1">
                <a:spLocks noRot="1" noChangeAspect="1" noMove="1" noResize="1" noEditPoints="1" noAdjustHandles="1" noChangeArrowheads="1" noChangeShapeType="1" noTextEdit="1"/>
              </p:cNvSpPr>
              <p:nvPr/>
            </p:nvSpPr>
            <p:spPr>
              <a:xfrm>
                <a:off x="4176073" y="6125596"/>
                <a:ext cx="989643" cy="369332"/>
              </a:xfrm>
              <a:prstGeom prst="rect">
                <a:avLst/>
              </a:prstGeom>
              <a:blipFill>
                <a:blip r:embed="rId5"/>
                <a:stretch>
                  <a:fillRect r="-1852" b="-1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539179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虚拟遗憾最小化算法：虚拟价值</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4CAC850-D3CF-4144-BA3B-76C139273DC3}"/>
                  </a:ext>
                </a:extLst>
              </p:cNvPr>
              <p:cNvSpPr txBox="1"/>
              <p:nvPr/>
            </p:nvSpPr>
            <p:spPr>
              <a:xfrm>
                <a:off x="911257" y="2145202"/>
                <a:ext cx="10743028" cy="2104166"/>
              </a:xfrm>
              <a:prstGeom prst="rect">
                <a:avLst/>
              </a:prstGeom>
              <a:noFill/>
            </p:spPr>
            <p:txBody>
              <a:bodyPr wrap="square">
                <a:spAutoFit/>
              </a:bodyPr>
              <a:lstStyle/>
              <a:p>
                <a:pPr indent="266700"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𝑣</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zh-CN" altLang="en-US"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undOvr"/>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𝑧</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𝑍</m:t>
                          </m:r>
                        </m:sub>
                        <m:sup/>
                        <m:e>
                          <m:limLow>
                            <m:limLow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groupChrPr>
                                <m:e>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sup>
                                  </m:sSubSup>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e>
                              </m:groupChr>
                            </m:e>
                            <m:lim>
                              <m:r>
                                <a:rPr lang="zh-CN" altLang="zh-CN" sz="1800" kern="100">
                                  <a:effectLst/>
                                  <a:latin typeface="Cambria Math" panose="02040503050406030204" pitchFamily="18" charset="0"/>
                                  <a:ea typeface="华文楷体" panose="02010600040101010101" pitchFamily="2" charset="-122"/>
                                  <a:cs typeface="Times New Roman" panose="02020603050405020304" pitchFamily="18" charset="0"/>
                                </a:rPr>
                                <m:t>不考虑玩家</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r>
                                <a:rPr lang="zh-CN" altLang="zh-CN" sz="1800" kern="100">
                                  <a:effectLst/>
                                  <a:latin typeface="Cambria Math" panose="02040503050406030204" pitchFamily="18" charset="0"/>
                                  <a:ea typeface="华文楷体" panose="02010600040101010101" pitchFamily="2" charset="-122"/>
                                  <a:cs typeface="Times New Roman" panose="02020603050405020304" pitchFamily="18" charset="0"/>
                                </a:rPr>
                                <m:t>的策略到达当前节点概率</m:t>
                              </m:r>
                            </m:lim>
                          </m:limLow>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e>
                      </m:nary>
                      <m:limLow>
                        <m:limLow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groupChrPr>
                            <m:e>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sup>
                              </m:sSup>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𝑧</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e>
                          </m:groupChr>
                        </m:e>
                        <m:lim>
                          <m:r>
                            <a:rPr lang="zh-CN" altLang="zh-CN" sz="1800" kern="100">
                              <a:effectLst/>
                              <a:latin typeface="Cambria Math" panose="02040503050406030204" pitchFamily="18" charset="0"/>
                              <a:ea typeface="华文楷体" panose="02010600040101010101" pitchFamily="2" charset="-122"/>
                              <a:cs typeface="Times New Roman" panose="02020603050405020304" pitchFamily="18" charset="0"/>
                            </a:rPr>
                            <m:t>从当前节点到叶子结点概率</m:t>
                          </m:r>
                        </m:lim>
                      </m:limLow>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limLow>
                        <m:limLow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groupChrPr>
                            <m:e>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𝑧</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e>
                          </m:groupChr>
                        </m:e>
                        <m:lim>
                          <m:r>
                            <a:rPr lang="zh-CN" altLang="zh-CN" sz="1800" kern="100">
                              <a:effectLst/>
                              <a:latin typeface="Cambria Math" panose="02040503050406030204" pitchFamily="18" charset="0"/>
                              <a:ea typeface="华文楷体" panose="02010600040101010101" pitchFamily="2" charset="-122"/>
                              <a:cs typeface="Times New Roman" panose="02020603050405020304" pitchFamily="18" charset="0"/>
                            </a:rPr>
                            <m:t>叶子结点</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𝑧</m:t>
                          </m:r>
                          <m:r>
                            <a:rPr lang="zh-CN" altLang="zh-CN" sz="1800" kern="100">
                              <a:effectLst/>
                              <a:latin typeface="Cambria Math" panose="02040503050406030204" pitchFamily="18" charset="0"/>
                              <a:ea typeface="华文楷体" panose="02010600040101010101" pitchFamily="2" charset="-122"/>
                              <a:cs typeface="Times New Roman" panose="02020603050405020304" pitchFamily="18" charset="0"/>
                            </a:rPr>
                            <m:t>收益</m:t>
                          </m:r>
                        </m:lim>
                      </m:limLow>
                    </m:oMath>
                  </m:oMathPara>
                </a14:m>
                <a:endParaRPr lang="en-US"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150000"/>
                  </a:lnSpc>
                </a:pPr>
                <a14:m>
                  <m:oMathPara xmlns:m="http://schemas.openxmlformats.org/officeDocument/2006/math">
                    <m:oMathParaPr>
                      <m:jc m:val="centerGroup"/>
                    </m:oMathParaPr>
                    <m:oMath xmlns:m="http://schemas.openxmlformats.org/officeDocument/2006/math">
                      <m:r>
                        <a:rPr lang="en-US" altLang="zh-CN" sz="1400" b="0" i="1" kern="100" smtClean="0">
                          <a:effectLst/>
                          <a:latin typeface="Cambria Math" panose="02040503050406030204" pitchFamily="18" charset="0"/>
                          <a:ea typeface="Cambria Math" panose="02040503050406030204" pitchFamily="18" charset="0"/>
                          <a:cs typeface="Times New Roman" panose="02020603050405020304" pitchFamily="18" charset="0"/>
                        </a:rPr>
                        <m:t>=</m:t>
                      </m:r>
                      <m:limLow>
                        <m:limLow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groupChrPr>
                            <m:e>
                              <m:sSubSup>
                                <m:sSubSup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𝜎</m:t>
                                  </m:r>
                                </m:sup>
                              </m:sSubSup>
                              <m:r>
                                <a:rPr lang="en-US" altLang="zh-CN" sz="14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h</m:t>
                              </m:r>
                              <m:r>
                                <a:rPr lang="en-US" altLang="zh-CN" sz="1400" kern="100">
                                  <a:latin typeface="Cambria Math" panose="02040503050406030204" pitchFamily="18" charset="0"/>
                                  <a:ea typeface="华文楷体" panose="02010600040101010101" pitchFamily="2" charset="-122"/>
                                  <a:cs typeface="Times New Roman" panose="02020603050405020304" pitchFamily="18" charset="0"/>
                                </a:rPr>
                                <m:t>)</m:t>
                              </m:r>
                            </m:e>
                          </m:groupChr>
                        </m:e>
                        <m:lim>
                          <m:r>
                            <a:rPr lang="zh-CN" altLang="zh-CN" sz="1400" kern="100">
                              <a:latin typeface="Cambria Math" panose="02040503050406030204" pitchFamily="18" charset="0"/>
                              <a:ea typeface="华文楷体" panose="02010600040101010101" pitchFamily="2" charset="-122"/>
                              <a:cs typeface="Times New Roman" panose="02020603050405020304" pitchFamily="18" charset="0"/>
                            </a:rPr>
                            <m:t>不考虑玩家</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𝑖</m:t>
                          </m:r>
                          <m:r>
                            <a:rPr lang="zh-CN" altLang="zh-CN" sz="1400" kern="100">
                              <a:latin typeface="Cambria Math" panose="02040503050406030204" pitchFamily="18" charset="0"/>
                              <a:ea typeface="华文楷体" panose="02010600040101010101" pitchFamily="2" charset="-122"/>
                              <a:cs typeface="Times New Roman" panose="02020603050405020304" pitchFamily="18" charset="0"/>
                            </a:rPr>
                            <m:t>的策略到达当前节点概率</m:t>
                          </m:r>
                        </m:lim>
                      </m:limLow>
                      <m:nary>
                        <m:naryPr>
                          <m:chr m:val="∑"/>
                          <m:limLoc m:val="undOvr"/>
                          <m:supHide m:val="on"/>
                          <m:ctrlPr>
                            <a:rPr lang="zh-CN" altLang="zh-CN" sz="14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𝑧</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𝑍</m:t>
                          </m:r>
                        </m:sub>
                        <m:sup/>
                        <m:e>
                          <m:limLow>
                            <m:limLow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groupChrPr>
                                <m:e>
                                  <m:sSup>
                                    <m:sSup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𝜎</m:t>
                                      </m:r>
                                    </m:sup>
                                  </m:sSup>
                                  <m:r>
                                    <a:rPr lang="en-US" altLang="zh-CN" sz="14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h</m:t>
                                  </m:r>
                                  <m:r>
                                    <a:rPr lang="en-US" altLang="zh-CN" sz="14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𝑧</m:t>
                                  </m:r>
                                  <m:r>
                                    <a:rPr lang="en-US" altLang="zh-CN" sz="1400" kern="100">
                                      <a:latin typeface="Cambria Math" panose="02040503050406030204" pitchFamily="18" charset="0"/>
                                      <a:ea typeface="华文楷体" panose="02010600040101010101" pitchFamily="2" charset="-122"/>
                                      <a:cs typeface="Times New Roman" panose="02020603050405020304" pitchFamily="18" charset="0"/>
                                    </a:rPr>
                                    <m:t>)</m:t>
                                  </m:r>
                                </m:e>
                              </m:groupChr>
                            </m:e>
                            <m:lim>
                              <m:r>
                                <a:rPr lang="zh-CN" altLang="zh-CN" sz="1400" kern="100">
                                  <a:latin typeface="Cambria Math" panose="02040503050406030204" pitchFamily="18" charset="0"/>
                                  <a:ea typeface="华文楷体" panose="02010600040101010101" pitchFamily="2" charset="-122"/>
                                  <a:cs typeface="Times New Roman" panose="02020603050405020304" pitchFamily="18" charset="0"/>
                                </a:rPr>
                                <m:t>从当前节点到叶子结点概率</m:t>
                              </m:r>
                            </m:lim>
                          </m:limLow>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limLow>
                            <m:limLow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groupChrPr>
                                <m:e>
                                  <m:sSub>
                                    <m:sSub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4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𝑧</m:t>
                                  </m:r>
                                  <m:r>
                                    <a:rPr lang="en-US" altLang="zh-CN" sz="1400" kern="100">
                                      <a:latin typeface="Cambria Math" panose="02040503050406030204" pitchFamily="18" charset="0"/>
                                      <a:ea typeface="华文楷体" panose="02010600040101010101" pitchFamily="2" charset="-122"/>
                                      <a:cs typeface="Times New Roman" panose="02020603050405020304" pitchFamily="18" charset="0"/>
                                    </a:rPr>
                                    <m:t>)</m:t>
                                  </m:r>
                                </m:e>
                              </m:groupChr>
                            </m:e>
                            <m:lim>
                              <m:r>
                                <a:rPr lang="zh-CN" altLang="zh-CN" sz="1400" kern="100">
                                  <a:latin typeface="Cambria Math" panose="02040503050406030204" pitchFamily="18" charset="0"/>
                                  <a:ea typeface="华文楷体" panose="02010600040101010101" pitchFamily="2" charset="-122"/>
                                  <a:cs typeface="Times New Roman" panose="02020603050405020304" pitchFamily="18" charset="0"/>
                                </a:rPr>
                                <m:t>叶子结点</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𝑧</m:t>
                              </m:r>
                              <m:r>
                                <a:rPr lang="zh-CN" altLang="zh-CN" sz="1400" kern="100">
                                  <a:latin typeface="Cambria Math" panose="02040503050406030204" pitchFamily="18" charset="0"/>
                                  <a:ea typeface="华文楷体" panose="02010600040101010101" pitchFamily="2" charset="-122"/>
                                  <a:cs typeface="Times New Roman" panose="02020603050405020304" pitchFamily="18" charset="0"/>
                                </a:rPr>
                                <m:t>收益</m:t>
                              </m:r>
                            </m:lim>
                          </m:limLow>
                        </m:e>
                      </m:nary>
                    </m:oMath>
                  </m:oMathPara>
                </a14:m>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9" name="文本框 8">
                <a:extLst>
                  <a:ext uri="{FF2B5EF4-FFF2-40B4-BE49-F238E27FC236}">
                    <a16:creationId xmlns:a16="http://schemas.microsoft.com/office/drawing/2014/main" id="{64CAC850-D3CF-4144-BA3B-76C139273DC3}"/>
                  </a:ext>
                </a:extLst>
              </p:cNvPr>
              <p:cNvSpPr txBox="1">
                <a:spLocks noRot="1" noChangeAspect="1" noMove="1" noResize="1" noEditPoints="1" noAdjustHandles="1" noChangeArrowheads="1" noChangeShapeType="1" noTextEdit="1"/>
              </p:cNvSpPr>
              <p:nvPr/>
            </p:nvSpPr>
            <p:spPr>
              <a:xfrm>
                <a:off x="911257" y="2145202"/>
                <a:ext cx="10743028" cy="210416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2D2425C-2E2D-41AF-A719-965DDED7E74A}"/>
                  </a:ext>
                </a:extLst>
              </p:cNvPr>
              <p:cNvSpPr txBox="1"/>
              <p:nvPr/>
            </p:nvSpPr>
            <p:spPr>
              <a:xfrm>
                <a:off x="1498460" y="1520001"/>
                <a:ext cx="9894789" cy="465961"/>
              </a:xfrm>
              <a:prstGeom prst="rect">
                <a:avLst/>
              </a:prstGeom>
              <a:noFill/>
            </p:spPr>
            <p:txBody>
              <a:bodyPr wrap="square">
                <a:spAutoFit/>
              </a:bodyPr>
              <a:lstStyle/>
              <a:p>
                <a:pPr algn="just">
                  <a:lnSpc>
                    <a:spcPct val="150000"/>
                  </a:lnSpc>
                </a:pP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在策略组合</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下，对玩家</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而言，如下计算</a:t>
                </a: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从根节点到当前节点的行动序列路径</a:t>
                </a:r>
                <a14:m>
                  <m:oMath xmlns:m="http://schemas.openxmlformats.org/officeDocument/2006/math">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oMath>
                </a14:m>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的虚拟价值</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92D2425C-2E2D-41AF-A719-965DDED7E74A}"/>
                  </a:ext>
                </a:extLst>
              </p:cNvPr>
              <p:cNvSpPr txBox="1">
                <a:spLocks noRot="1" noChangeAspect="1" noMove="1" noResize="1" noEditPoints="1" noAdjustHandles="1" noChangeArrowheads="1" noChangeShapeType="1" noTextEdit="1"/>
              </p:cNvSpPr>
              <p:nvPr/>
            </p:nvSpPr>
            <p:spPr>
              <a:xfrm>
                <a:off x="1498460" y="1520001"/>
                <a:ext cx="9894789" cy="465961"/>
              </a:xfrm>
              <a:prstGeom prst="rect">
                <a:avLst/>
              </a:prstGeom>
              <a:blipFill>
                <a:blip r:embed="rId4"/>
                <a:stretch>
                  <a:fillRect l="-555" b="-207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1ECF72C1-08CA-418C-84A9-60EA55667811}"/>
                  </a:ext>
                </a:extLst>
              </p:cNvPr>
              <p:cNvSpPr/>
              <p:nvPr/>
            </p:nvSpPr>
            <p:spPr>
              <a:xfrm>
                <a:off x="1351188" y="4194086"/>
                <a:ext cx="10578215" cy="1533690"/>
              </a:xfrm>
              <a:prstGeom prst="rect">
                <a:avLst/>
              </a:prstGeom>
            </p:spPr>
            <p:txBody>
              <a:bodyPr wrap="square">
                <a:spAutoFit/>
              </a:bodyPr>
              <a:lstStyle/>
              <a:p>
                <a:pPr indent="266700" algn="just">
                  <a:lnSpc>
                    <a:spcPct val="150000"/>
                  </a:lnSpc>
                  <a:spcAft>
                    <a:spcPts val="0"/>
                  </a:spcAft>
                </a:pPr>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在上式中，</a:t>
                </a:r>
                <a14:m>
                  <m:oMath xmlns:m="http://schemas.openxmlformats.org/officeDocument/2006/math">
                    <m:sSubSup>
                      <m:sSub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𝜎</m:t>
                        </m:r>
                      </m:sup>
                    </m:sSubSup>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h</m:t>
                    </m:r>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表示从根节点出发，不考虑玩家</a:t>
                </a:r>
                <a14:m>
                  <m:oMath xmlns:m="http://schemas.openxmlformats.org/officeDocument/2006/math">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的策略，仅考虑其他玩家策略而经过路径</a:t>
                </a:r>
                <a14:m>
                  <m:oMath xmlns:m="http://schemas.openxmlformats.org/officeDocument/2006/math">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h</m:t>
                    </m:r>
                  </m:oMath>
                </a14:m>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到达当前节点的概率。也就是说，即使玩家</a:t>
                </a:r>
                <a14:m>
                  <m:oMath xmlns:m="http://schemas.openxmlformats.org/officeDocument/2006/math">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有其他策略，总是要求玩家</a:t>
                </a:r>
                <a14:m>
                  <m:oMath xmlns:m="http://schemas.openxmlformats.org/officeDocument/2006/math">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在每次选择时都选择路径</a:t>
                </a:r>
                <a14:m>
                  <m:oMath xmlns:m="http://schemas.openxmlformats.org/officeDocument/2006/math">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h</m:t>
                    </m:r>
                  </m:oMath>
                </a14:m>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中对应的动作，以保证从根节点出发能够到达当前节点。</a:t>
                </a:r>
                <a:r>
                  <a:rPr lang="zh-CN" altLang="en-US" sz="1600" kern="100" dirty="0">
                    <a:latin typeface="Times New Roman" panose="02020603050405020304" pitchFamily="18" charset="0"/>
                    <a:ea typeface="华文楷体" panose="02010600040101010101" pitchFamily="2" charset="-122"/>
                    <a:cs typeface="Times New Roman" panose="02020603050405020304" pitchFamily="18" charset="0"/>
                  </a:rPr>
                  <a:t>“假定当前路径可以达到” 是虚拟价值的分析前提，</a:t>
                </a:r>
                <a:r>
                  <a:rPr lang="zh-CN" altLang="en-US" sz="1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该变量用来量化 “这个前提实际成立的概率”。</a:t>
                </a:r>
                <a:endParaRPr lang="zh-CN" altLang="zh-CN" sz="16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1ECF72C1-08CA-418C-84A9-60EA55667811}"/>
                  </a:ext>
                </a:extLst>
              </p:cNvPr>
              <p:cNvSpPr>
                <a:spLocks noRot="1" noChangeAspect="1" noMove="1" noResize="1" noEditPoints="1" noAdjustHandles="1" noChangeArrowheads="1" noChangeShapeType="1" noTextEdit="1"/>
              </p:cNvSpPr>
              <p:nvPr/>
            </p:nvSpPr>
            <p:spPr>
              <a:xfrm>
                <a:off x="1351188" y="4194086"/>
                <a:ext cx="10578215" cy="1533690"/>
              </a:xfrm>
              <a:prstGeom prst="rect">
                <a:avLst/>
              </a:prstGeom>
              <a:blipFill>
                <a:blip r:embed="rId5"/>
                <a:stretch>
                  <a:fillRect l="-346" r="-2248" b="-4365"/>
                </a:stretch>
              </a:blipFill>
            </p:spPr>
            <p:txBody>
              <a:bodyPr/>
              <a:lstStyle/>
              <a:p>
                <a:r>
                  <a:rPr lang="zh-CN" altLang="en-US">
                    <a:noFill/>
                  </a:rPr>
                  <a:t> </a:t>
                </a:r>
              </a:p>
            </p:txBody>
          </p:sp>
        </mc:Fallback>
      </mc:AlternateContent>
      <p:sp>
        <p:nvSpPr>
          <p:cNvPr id="2" name="矩形: 圆角 1">
            <a:extLst>
              <a:ext uri="{FF2B5EF4-FFF2-40B4-BE49-F238E27FC236}">
                <a16:creationId xmlns:a16="http://schemas.microsoft.com/office/drawing/2014/main" id="{826930FF-3688-7483-E292-9E3B201A28CA}"/>
              </a:ext>
            </a:extLst>
          </p:cNvPr>
          <p:cNvSpPr/>
          <p:nvPr/>
        </p:nvSpPr>
        <p:spPr>
          <a:xfrm>
            <a:off x="2678614" y="5476875"/>
            <a:ext cx="7303549" cy="76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虚拟价值：从当前节点到所有可能的叶子节点的期望收益</a:t>
            </a:r>
          </a:p>
        </p:txBody>
      </p:sp>
    </p:spTree>
    <p:extLst>
      <p:ext uri="{BB962C8B-B14F-4D97-AF65-F5344CB8AC3E}">
        <p14:creationId xmlns:p14="http://schemas.microsoft.com/office/powerpoint/2010/main" val="1526358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虚拟遗憾最小化算法：遗憾值</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A8C6E280-1CFB-4CBA-9BEE-446B1262CEAB}"/>
                  </a:ext>
                </a:extLst>
              </p:cNvPr>
              <p:cNvSpPr txBox="1"/>
              <p:nvPr/>
            </p:nvSpPr>
            <p:spPr>
              <a:xfrm>
                <a:off x="661181" y="1454332"/>
                <a:ext cx="11319804" cy="491442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计算玩家</a:t>
                </a:r>
                <a14:m>
                  <m:oMath xmlns:m="http://schemas.openxmlformats.org/officeDocument/2006/math">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在基于路径</a:t>
                </a:r>
                <a14:m>
                  <m:oMath xmlns:m="http://schemas.openxmlformats.org/officeDocument/2006/math">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h</m:t>
                    </m:r>
                  </m:oMath>
                </a14:m>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到达当前节点采取行动</a:t>
                </a:r>
                <a14:m>
                  <m:oMath xmlns:m="http://schemas.openxmlformats.org/officeDocument/2006/math">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𝑎</m:t>
                    </m:r>
                  </m:oMath>
                </a14:m>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的</a:t>
                </a:r>
                <a:r>
                  <a:rPr lang="zh-CN" altLang="zh-CN" sz="1600" b="1" kern="10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遗憾值</a:t>
                </a:r>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a:t>
                </a:r>
              </a:p>
              <a:p>
                <a:pPr indent="266700" algn="ctr">
                  <a:lnSpc>
                    <a:spcPct val="150000"/>
                  </a:lnSpc>
                </a:pPr>
                <a14:m>
                  <m:oMathPara xmlns:m="http://schemas.openxmlformats.org/officeDocument/2006/math">
                    <m:oMathParaPr>
                      <m:jc m:val="centerGroup"/>
                    </m:oMathParaPr>
                    <m:oMath xmlns:m="http://schemas.openxmlformats.org/officeDocument/2006/math">
                      <m:d>
                        <m:dPr>
                          <m:begChr m:val=""/>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𝑟</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h</m:t>
                          </m:r>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𝑣</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sub>
                          </m:sSub>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𝑎</m:t>
                                  </m:r>
                                </m:sub>
                              </m:sSub>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h</m:t>
                              </m:r>
                            </m:e>
                          </m:d>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𝑣</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𝜎</m:t>
                          </m:r>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h</m:t>
                          </m:r>
                        </m:e>
                      </m:d>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   </m:t>
                      </m:r>
                    </m:oMath>
                  </m:oMathPara>
                </a14:m>
                <a:endParaRPr lang="en-US" altLang="zh-CN" sz="16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nSpc>
                    <a:spcPct val="150000"/>
                  </a:lnSpc>
                </a:pPr>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该遗憾值是</a:t>
                </a:r>
                <a:r>
                  <a:rPr lang="zh-CN" altLang="zh-CN" sz="1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玩家</a:t>
                </a:r>
                <a14:m>
                  <m:oMath xmlns:m="http://schemas.openxmlformats.org/officeDocument/2006/math">
                    <m:r>
                      <a:rPr lang="en-US" altLang="zh-CN" sz="16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sz="1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通过行动序列</a:t>
                </a:r>
                <a14:m>
                  <m:oMath xmlns:m="http://schemas.openxmlformats.org/officeDocument/2006/math">
                    <m:r>
                      <a:rPr lang="en-US" altLang="zh-CN" sz="16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h</m:t>
                    </m:r>
                  </m:oMath>
                </a14:m>
                <a:r>
                  <a:rPr lang="zh-CN" altLang="zh-CN" sz="1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到达当前节点采取行动</a:t>
                </a:r>
                <a14:m>
                  <m:oMath xmlns:m="http://schemas.openxmlformats.org/officeDocument/2006/math">
                    <m:r>
                      <a:rPr lang="en-US" altLang="zh-CN" sz="16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𝑎</m:t>
                    </m:r>
                  </m:oMath>
                </a14:m>
                <a:r>
                  <a:rPr lang="zh-CN" altLang="en-US" sz="1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所</a:t>
                </a:r>
                <a:r>
                  <a:rPr lang="zh-CN" altLang="zh-CN" sz="1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得虚拟价值</a:t>
                </a:r>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减去</a:t>
                </a:r>
                <a:r>
                  <a:rPr lang="zh-CN" altLang="zh-CN" sz="1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采用策略</a:t>
                </a:r>
                <a14:m>
                  <m:oMath xmlns:m="http://schemas.openxmlformats.org/officeDocument/2006/math">
                    <m:r>
                      <a:rPr lang="en-US" altLang="zh-CN" sz="16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𝜎</m:t>
                    </m:r>
                  </m:oMath>
                </a14:m>
                <a:r>
                  <a:rPr lang="zh-CN" altLang="zh-CN" sz="1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所得路径</a:t>
                </a:r>
                <a14:m>
                  <m:oMath xmlns:m="http://schemas.openxmlformats.org/officeDocument/2006/math">
                    <m:r>
                      <a:rPr lang="en-US" altLang="zh-CN" sz="16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h</m:t>
                    </m:r>
                  </m:oMath>
                </a14:m>
                <a:r>
                  <a:rPr lang="zh-CN" altLang="zh-CN" sz="1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的虚拟价值</a:t>
                </a:r>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a:t>
                </a:r>
              </a:p>
              <a:p>
                <a:pPr marL="285750" indent="-285750" algn="just">
                  <a:lnSpc>
                    <a:spcPct val="150000"/>
                  </a:lnSpc>
                  <a:buFont typeface="Arial" panose="020B0604020202020204" pitchFamily="34" charset="0"/>
                  <a:buChar char="•"/>
                </a:pPr>
                <a:endPar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对能够到达同一个信息集</a:t>
                </a:r>
                <a14:m>
                  <m:oMath xmlns:m="http://schemas.openxmlformats.org/officeDocument/2006/math">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𝐼</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（即博弈树中同一个中间节点）的所有行动序列的遗憾值进行累加，即可得到</a:t>
                </a:r>
                <a:r>
                  <a:rPr lang="zh-CN" altLang="zh-CN" sz="16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信息集</a:t>
                </a:r>
                <a14:m>
                  <m:oMath xmlns:m="http://schemas.openxmlformats.org/officeDocument/2006/math">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𝐼</m:t>
                    </m:r>
                  </m:oMath>
                </a14:m>
                <a:r>
                  <a:rPr lang="zh-CN" altLang="zh-CN" sz="16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的遗憾值</a:t>
                </a: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a:t>
                </a:r>
              </a:p>
              <a:p>
                <a:pPr indent="266700"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𝑟</m:t>
                          </m:r>
                        </m:e>
                        <m:sub>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undOvr"/>
                          <m:grow m:val="on"/>
                          <m:supHide m:val="on"/>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𝐼</m:t>
                          </m:r>
                        </m:sub>
                        <m:sup/>
                        <m:e>
                          <m:sSub>
                            <m:sSubPr>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𝑟</m:t>
                              </m:r>
                            </m:e>
                            <m:sub>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m:t>
                          </m:r>
                        </m:e>
                      </m:nary>
                    </m:oMath>
                  </m:oMathPara>
                </a14:m>
                <a:endPar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6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类似于遗憾最小化算法，虚拟遗憾最小化的遗憾值是</a:t>
                </a:r>
                <a14:m>
                  <m:oMath xmlns:m="http://schemas.openxmlformats.org/officeDocument/2006/math">
                    <m:r>
                      <a:rPr lang="en-US" altLang="zh-CN" sz="1600" i="1" kern="100" smtClean="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𝑇</m:t>
                    </m:r>
                  </m:oMath>
                </a14:m>
                <a:r>
                  <a:rPr lang="zh-CN" altLang="zh-CN" sz="16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轮重复博弈后的累加值</a:t>
                </a: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a:t>
                </a:r>
              </a:p>
              <a:p>
                <a:pPr indent="266700" algn="just">
                  <a:lnSpc>
                    <a:spcPct val="150000"/>
                  </a:lnSpc>
                </a:pPr>
                <a14:m>
                  <m:oMathPara xmlns:m="http://schemas.openxmlformats.org/officeDocument/2006/math">
                    <m:oMathParaPr>
                      <m:jc m:val="centerGroup"/>
                    </m:oMathParaPr>
                    <m:oMath xmlns:m="http://schemas.openxmlformats.org/officeDocument/2006/math">
                      <m:sSubSup>
                        <m:sSubSupPr>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𝑇</m:t>
                          </m:r>
                        </m:sup>
                      </m:sSubSup>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undOvr"/>
                          <m:grow m:val="on"/>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𝑇</m:t>
                          </m:r>
                        </m:sup>
                        <m:e>
                          <m:sSubSup>
                            <m:sSubSupPr>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𝑟</m:t>
                              </m:r>
                            </m:e>
                            <m:sub>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𝑡</m:t>
                              </m:r>
                            </m:sup>
                          </m:sSubSup>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m:t>
                          </m:r>
                        </m:e>
                      </m:nary>
                    </m:oMath>
                  </m:oMathPara>
                </a14:m>
                <a:endPar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ct val="150000"/>
                  </a:lnSpc>
                </a:pPr>
                <a:r>
                  <a:rPr lang="en-US" altLang="zh-CN" sz="1600" kern="100" dirty="0">
                    <a:effectLst/>
                    <a:ea typeface="Cambria Math" panose="02040503050406030204" pitchFamily="18" charset="0"/>
                    <a:cs typeface="Times New Roman" panose="02020603050405020304" pitchFamily="18" charset="0"/>
                  </a:rPr>
                  <a:t>    </a:t>
                </a:r>
                <a14:m>
                  <m:oMath xmlns:m="http://schemas.openxmlformats.org/officeDocument/2006/math">
                    <m:sSubSup>
                      <m:sSubSupPr>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𝑟</m:t>
                        </m:r>
                      </m:e>
                      <m:sub>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𝑡</m:t>
                        </m:r>
                      </m:sup>
                    </m:sSubSup>
                    <m:d>
                      <m:dPr>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𝑎</m:t>
                        </m:r>
                      </m:e>
                    </m:d>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表示玩家</a:t>
                </a:r>
                <a14:m>
                  <m:oMath xmlns:m="http://schemas.openxmlformats.org/officeDocument/2006/math">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在第</a:t>
                </a:r>
                <a14:m>
                  <m:oMath xmlns:m="http://schemas.openxmlformats.org/officeDocument/2006/math">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𝑡</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轮中于当前节点选择行动</a:t>
                </a:r>
                <a14:m>
                  <m:oMath xmlns:m="http://schemas.openxmlformats.org/officeDocument/2006/math">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𝑎</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的遗憾值</a:t>
                </a:r>
                <a:r>
                  <a:rPr lang="zh-CN" altLang="en-US" sz="1600" kern="100" dirty="0">
                    <a:effectLst/>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150000"/>
                  </a:lnSpc>
                </a:pP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 name="文本框 11">
                <a:extLst>
                  <a:ext uri="{FF2B5EF4-FFF2-40B4-BE49-F238E27FC236}">
                    <a16:creationId xmlns:a16="http://schemas.microsoft.com/office/drawing/2014/main" id="{A8C6E280-1CFB-4CBA-9BEE-446B1262CEAB}"/>
                  </a:ext>
                </a:extLst>
              </p:cNvPr>
              <p:cNvSpPr txBox="1">
                <a:spLocks noRot="1" noChangeAspect="1" noMove="1" noResize="1" noEditPoints="1" noAdjustHandles="1" noChangeArrowheads="1" noChangeShapeType="1" noTextEdit="1"/>
              </p:cNvSpPr>
              <p:nvPr/>
            </p:nvSpPr>
            <p:spPr>
              <a:xfrm>
                <a:off x="661181" y="1454332"/>
                <a:ext cx="11319804" cy="4914422"/>
              </a:xfrm>
              <a:prstGeom prst="rect">
                <a:avLst/>
              </a:prstGeom>
              <a:blipFill>
                <a:blip r:embed="rId3"/>
                <a:stretch>
                  <a:fillRect l="-215" r="-21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811640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虚拟遗憾最小化算法：虚拟遗憾值</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96980C4-0B00-48B8-A75E-DA85293589EA}"/>
                  </a:ext>
                </a:extLst>
              </p:cNvPr>
              <p:cNvSpPr txBox="1"/>
              <p:nvPr/>
            </p:nvSpPr>
            <p:spPr>
              <a:xfrm>
                <a:off x="215704" y="1831931"/>
                <a:ext cx="12046634" cy="372095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进一步可以定义有效虚拟遗憾值：</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150000"/>
                  </a:lnSpc>
                </a:pPr>
                <a14:m>
                  <m:oMathPara xmlns:m="http://schemas.openxmlformats.org/officeDocument/2006/math">
                    <m:oMathParaPr>
                      <m:jc m:val="centerGroup"/>
                    </m:oMathParaPr>
                    <m:oMath xmlns:m="http://schemas.openxmlformats.org/officeDocument/2006/math">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max</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sup>
                          </m:sSubSup>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),0</m:t>
                          </m:r>
                        </m:e>
                      </m:d>
                    </m:oMath>
                  </m:oMathPara>
                </a14:m>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根据有效虚拟遗憾值进行遗憾匹配以计算经过</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轮博弈后，玩家</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在信息集</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𝐼</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情况下于后续</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轮选择行动</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的概率：</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150000"/>
                  </a:lnSpc>
                </a:pPr>
                <a14:m>
                  <m:oMathPara xmlns:m="http://schemas.openxmlformats.org/officeDocument/2006/math">
                    <m:oMathParaPr>
                      <m:jc m:val="centerGroup"/>
                    </m:oMathParaPr>
                    <m:oMath xmlns:m="http://schemas.openxmlformats.org/officeDocument/2006/math">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+1</m:t>
                          </m:r>
                        </m:sup>
                      </m:sSubSup>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2"/>
                                    <m:mcJc m:val="center"/>
                                  </m:mcPr>
                                </m:mc>
                              </m:mcs>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num>
                                  <m:den>
                                    <m:nary>
                                      <m:naryPr>
                                        <m:chr m:val="∑"/>
                                        <m:limLoc m:val="undOvr"/>
                                        <m:grow m:val="on"/>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d>
                                          <m:dPr>
                                            <m:beg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𝐴</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𝐼</m:t>
                                            </m:r>
                                          </m:e>
                                        </m:d>
                                      </m:sub>
                                      <m:sup/>
                                      <m:e>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sup>
                                        </m:sSubSup>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e>
                                    </m:nary>
                                  </m:den>
                                </m:f>
                              </m:e>
                              <m:e>
                                <m:r>
                                  <m:rPr>
                                    <m:nor/>
                                  </m:rPr>
                                  <a:rPr lang="en-US" altLang="zh-CN" sz="1800" i="1" kern="100">
                                    <a:effectLst/>
                                    <a:latin typeface="Times New Roman" panose="02020603050405020304" pitchFamily="18" charset="0"/>
                                    <a:ea typeface="华文楷体" panose="02010600040101010101" pitchFamily="2" charset="-122"/>
                                    <a:cs typeface="Times New Roman" panose="02020603050405020304" pitchFamily="18" charset="0"/>
                                  </a:rPr>
                                  <m:t> </m:t>
                                </m:r>
                                <m:r>
                                  <m:rPr>
                                    <m:nor/>
                                  </m:rPr>
                                  <a:rPr lang="en-US" altLang="zh-CN" sz="1800" i="1" kern="100">
                                    <a:effectLst/>
                                    <a:latin typeface="Times New Roman" panose="02020603050405020304" pitchFamily="18" charset="0"/>
                                    <a:ea typeface="华文楷体" panose="02010600040101010101" pitchFamily="2" charset="-122"/>
                                    <a:cs typeface="Times New Roman" panose="02020603050405020304" pitchFamily="18" charset="0"/>
                                  </a:rPr>
                                  <m:t>if</m:t>
                                </m:r>
                                <m:nary>
                                  <m:naryPr>
                                    <m:chr m:val="∑"/>
                                    <m:limLoc m:val="undOvr"/>
                                    <m:grow m:val="on"/>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d>
                                      <m:dPr>
                                        <m:beg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𝐴</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𝐼</m:t>
                                        </m:r>
                                      </m:e>
                                    </m:d>
                                  </m:sub>
                                  <m:sup/>
                                  <m:e>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sup>
                                    </m:sSubSup>
                                  </m:e>
                                </m:nary>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&gt;0</m:t>
                                </m:r>
                              </m:e>
                            </m:mr>
                            <m:mr>
                              <m:e>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𝐴</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𝐼</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den>
                                </m:f>
                              </m:e>
                              <m:e>
                                <m:r>
                                  <m:rPr>
                                    <m:nor/>
                                  </m:rPr>
                                  <a:rPr lang="en-US" altLang="zh-CN" sz="1800" i="1" kern="100">
                                    <a:effectLst/>
                                    <a:latin typeface="Times New Roman" panose="02020603050405020304" pitchFamily="18" charset="0"/>
                                    <a:ea typeface="华文楷体" panose="02010600040101010101" pitchFamily="2" charset="-122"/>
                                    <a:cs typeface="Times New Roman" panose="02020603050405020304" pitchFamily="18" charset="0"/>
                                  </a:rPr>
                                  <m:t> </m:t>
                                </m:r>
                                <m:r>
                                  <m:rPr>
                                    <m:nor/>
                                  </m:rPr>
                                  <a:rPr lang="en-US" altLang="zh-CN" sz="1800" kern="100">
                                    <a:effectLst/>
                                    <a:latin typeface="Times New Roman" panose="02020603050405020304" pitchFamily="18" charset="0"/>
                                    <a:ea typeface="华文楷体" panose="02010600040101010101" pitchFamily="2" charset="-122"/>
                                    <a:cs typeface="Times New Roman" panose="02020603050405020304" pitchFamily="18" charset="0"/>
                                  </a:rPr>
                                  <m:t>otherwise</m:t>
                                </m:r>
                                <m:r>
                                  <m:rPr>
                                    <m:nor/>
                                  </m:rPr>
                                  <a:rPr lang="en-US" altLang="zh-CN" sz="1800" i="1" kern="100">
                                    <a:effectLst/>
                                    <a:latin typeface="Times New Roman" panose="02020603050405020304" pitchFamily="18" charset="0"/>
                                    <a:ea typeface="华文楷体" panose="02010600040101010101" pitchFamily="2" charset="-122"/>
                                    <a:cs typeface="Times New Roman" panose="02020603050405020304" pitchFamily="18" charset="0"/>
                                  </a:rPr>
                                  <m:t> </m:t>
                                </m:r>
                              </m:e>
                            </m:mr>
                          </m:m>
                        </m:e>
                      </m:d>
                    </m:oMath>
                  </m:oMathPara>
                </a14:m>
                <a:endParaRPr lang="zh-CN" altLang="en-US" dirty="0"/>
              </a:p>
            </p:txBody>
          </p:sp>
        </mc:Choice>
        <mc:Fallback xmlns="">
          <p:sp>
            <p:nvSpPr>
              <p:cNvPr id="8" name="文本框 7">
                <a:extLst>
                  <a:ext uri="{FF2B5EF4-FFF2-40B4-BE49-F238E27FC236}">
                    <a16:creationId xmlns:a16="http://schemas.microsoft.com/office/drawing/2014/main" id="{696980C4-0B00-48B8-A75E-DA85293589EA}"/>
                  </a:ext>
                </a:extLst>
              </p:cNvPr>
              <p:cNvSpPr txBox="1">
                <a:spLocks noRot="1" noChangeAspect="1" noMove="1" noResize="1" noEditPoints="1" noAdjustHandles="1" noChangeArrowheads="1" noChangeShapeType="1" noTextEdit="1"/>
              </p:cNvSpPr>
              <p:nvPr/>
            </p:nvSpPr>
            <p:spPr>
              <a:xfrm>
                <a:off x="215704" y="1831931"/>
                <a:ext cx="12046634" cy="3720955"/>
              </a:xfrm>
              <a:prstGeom prst="rect">
                <a:avLst/>
              </a:prstGeom>
              <a:blipFill>
                <a:blip r:embed="rId3"/>
                <a:stretch>
                  <a:fillRect l="-3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24538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虚拟遗憾最小化算法：算法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p:sp>
        <p:nvSpPr>
          <p:cNvPr id="9" name="文本框 8">
            <a:extLst>
              <a:ext uri="{FF2B5EF4-FFF2-40B4-BE49-F238E27FC236}">
                <a16:creationId xmlns:a16="http://schemas.microsoft.com/office/drawing/2014/main" id="{78BA9C1E-B706-4CEC-AE18-BA2F704AF121}"/>
              </a:ext>
            </a:extLst>
          </p:cNvPr>
          <p:cNvSpPr txBox="1"/>
          <p:nvPr/>
        </p:nvSpPr>
        <p:spPr>
          <a:xfrm>
            <a:off x="2136949" y="1454332"/>
            <a:ext cx="7507706" cy="4456285"/>
          </a:xfrm>
          <a:prstGeom prst="rect">
            <a:avLst/>
          </a:prstGeom>
          <a:noFill/>
        </p:spPr>
        <p:txBody>
          <a:bodyPr wrap="square">
            <a:spAutoFit/>
          </a:bodyPr>
          <a:lstStyle/>
          <a:p>
            <a:pPr algn="just">
              <a:lnSpc>
                <a:spcPct val="200000"/>
              </a:lnSpc>
            </a:pP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在虚拟最小化算法的求解过程中，同样需要反复模拟多轮博弈来拟合最佳反应策略，算法步骤如下：</a:t>
            </a:r>
          </a:p>
          <a:p>
            <a:pPr marL="742950" lvl="1" indent="-285750" algn="l">
              <a:lnSpc>
                <a:spcPct val="200000"/>
              </a:lnSpc>
              <a:buFont typeface="+mj-lt"/>
              <a:buAutoNum type="arabicParenR"/>
              <a:tabLst>
                <a:tab pos="498475" algn="l"/>
              </a:tabLst>
            </a:pPr>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初始化遗憾值和累加策略表为</a:t>
            </a:r>
            <a:r>
              <a:rPr lang="en-US"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0</a:t>
            </a:r>
            <a:endPar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742950" lvl="1" indent="-285750" algn="l">
              <a:lnSpc>
                <a:spcPct val="200000"/>
              </a:lnSpc>
              <a:buFont typeface="+mj-lt"/>
              <a:buAutoNum type="arabicParenR"/>
              <a:tabLst>
                <a:tab pos="498475" algn="l"/>
              </a:tabLst>
            </a:pPr>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采用随机选择的方法来决定策略</a:t>
            </a:r>
          </a:p>
          <a:p>
            <a:pPr marL="742950" lvl="1" indent="-285750" algn="l">
              <a:lnSpc>
                <a:spcPct val="200000"/>
              </a:lnSpc>
              <a:buFont typeface="+mj-lt"/>
              <a:buAutoNum type="arabicParenR"/>
              <a:tabLst>
                <a:tab pos="498475" algn="l"/>
              </a:tabLst>
            </a:pPr>
            <a:r>
              <a:rPr lang="zh-CN" altLang="zh-CN" sz="16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利用当前策略与对手进行博弈</a:t>
            </a:r>
          </a:p>
          <a:p>
            <a:pPr marL="742950" lvl="1" indent="-285750" algn="l">
              <a:lnSpc>
                <a:spcPct val="200000"/>
              </a:lnSpc>
              <a:buFont typeface="+mj-lt"/>
              <a:buAutoNum type="arabicParenR"/>
              <a:tabLst>
                <a:tab pos="498475" algn="l"/>
              </a:tabLst>
            </a:pPr>
            <a:r>
              <a:rPr lang="zh-CN" altLang="zh-CN" sz="16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计算每个玩家采取每次行为后的遗憾值</a:t>
            </a:r>
          </a:p>
          <a:p>
            <a:pPr marL="742950" lvl="1" indent="-285750" algn="l">
              <a:lnSpc>
                <a:spcPct val="200000"/>
              </a:lnSpc>
              <a:buFont typeface="+mj-lt"/>
              <a:buAutoNum type="arabicParenR"/>
              <a:tabLst>
                <a:tab pos="498475" algn="l"/>
              </a:tabLst>
            </a:pPr>
            <a:r>
              <a:rPr lang="zh-CN" altLang="zh-CN" sz="16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根据博弈结果计算每个行动的累加遗憾值大小来更新策略</a:t>
            </a:r>
          </a:p>
          <a:p>
            <a:pPr marL="742950" lvl="1" indent="-285750" algn="l">
              <a:lnSpc>
                <a:spcPct val="200000"/>
              </a:lnSpc>
              <a:buFont typeface="+mj-lt"/>
              <a:buAutoNum type="arabicParenR"/>
              <a:tabLst>
                <a:tab pos="498475" algn="l"/>
              </a:tabLst>
            </a:pPr>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重复</a:t>
            </a:r>
            <a:r>
              <a:rPr lang="en-US"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3)</a:t>
            </a:r>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到</a:t>
            </a:r>
            <a:r>
              <a:rPr lang="en-US"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5)</a:t>
            </a:r>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步若干次，不断的优化策略</a:t>
            </a:r>
          </a:p>
          <a:p>
            <a:pPr marL="742950" lvl="1" indent="-285750" algn="l">
              <a:lnSpc>
                <a:spcPct val="200000"/>
              </a:lnSpc>
              <a:buFont typeface="+mj-lt"/>
              <a:buAutoNum type="arabicParenR"/>
              <a:tabLst>
                <a:tab pos="498475" algn="l"/>
              </a:tabLst>
            </a:pPr>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根据重复博弈最终的策略，完成最终的动作选择</a:t>
            </a:r>
          </a:p>
        </p:txBody>
      </p:sp>
    </p:spTree>
    <p:extLst>
      <p:ext uri="{BB962C8B-B14F-4D97-AF65-F5344CB8AC3E}">
        <p14:creationId xmlns:p14="http://schemas.microsoft.com/office/powerpoint/2010/main" val="405327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虚拟遗憾最小化算法：库恩扑克例子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p:sp>
        <p:nvSpPr>
          <p:cNvPr id="2" name="矩形 1">
            <a:extLst>
              <a:ext uri="{FF2B5EF4-FFF2-40B4-BE49-F238E27FC236}">
                <a16:creationId xmlns:a16="http://schemas.microsoft.com/office/drawing/2014/main" id="{F3912A72-54A4-4806-ACC2-62B92F566008}"/>
              </a:ext>
            </a:extLst>
          </p:cNvPr>
          <p:cNvSpPr/>
          <p:nvPr/>
        </p:nvSpPr>
        <p:spPr>
          <a:xfrm>
            <a:off x="1359877" y="1663656"/>
            <a:ext cx="9566031" cy="1029256"/>
          </a:xfrm>
          <a:prstGeom prst="rect">
            <a:avLst/>
          </a:prstGeom>
        </p:spPr>
        <p:txBody>
          <a:bodyPr wrap="square">
            <a:spAutoFit/>
          </a:bodyPr>
          <a:lstStyle/>
          <a:p>
            <a:pPr>
              <a:lnSpc>
                <a:spcPct val="150000"/>
              </a:lnSpc>
            </a:pPr>
            <a:r>
              <a:rPr lang="zh-CN" altLang="en-US" sz="1400" kern="100" dirty="0">
                <a:latin typeface="Times New Roman" panose="02020603050405020304" pitchFamily="18" charset="0"/>
                <a:ea typeface="华文楷体" panose="02010600040101010101" pitchFamily="2" charset="-122"/>
                <a:cs typeface="Times New Roman" panose="02020603050405020304" pitchFamily="18" charset="0"/>
              </a:rPr>
              <a:t>库恩扑克是一种简单的有限注扑克游戏，由两名玩家进行游戏博弈，游戏中仅提供牌值为</a:t>
            </a:r>
            <a:r>
              <a:rPr lang="en-US" altLang="zh-CN" sz="1400" kern="1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14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400" kern="1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1400" kern="1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1400" kern="100"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1400" kern="100" dirty="0">
                <a:latin typeface="Times New Roman" panose="02020603050405020304" pitchFamily="18" charset="0"/>
                <a:ea typeface="华文楷体" panose="02010600040101010101" pitchFamily="2" charset="-122"/>
                <a:cs typeface="Times New Roman" panose="02020603050405020304" pitchFamily="18" charset="0"/>
              </a:rPr>
              <a:t>的三张纸牌。每轮中每位玩家各持一张纸牌，每位玩家根据各自的判断决定是否追加定额赌注。摊牌阶段比较未弃牌玩家的底牌大小，底牌值最大的玩家即为胜者。双人库恩扑克游戏的规则及游戏中定义的收益如表</a:t>
            </a:r>
            <a:r>
              <a:rPr lang="en-US" altLang="zh-CN" sz="1400" kern="100" dirty="0">
                <a:latin typeface="Times New Roman" panose="02020603050405020304" pitchFamily="18" charset="0"/>
                <a:ea typeface="华文楷体" panose="02010600040101010101" pitchFamily="2" charset="-122"/>
                <a:cs typeface="Times New Roman" panose="02020603050405020304" pitchFamily="18" charset="0"/>
              </a:rPr>
              <a:t>7.8</a:t>
            </a:r>
            <a:r>
              <a:rPr lang="zh-CN" altLang="en-US" sz="1400" kern="100" dirty="0">
                <a:latin typeface="Times New Roman" panose="02020603050405020304" pitchFamily="18" charset="0"/>
                <a:ea typeface="华文楷体" panose="02010600040101010101" pitchFamily="2" charset="-122"/>
                <a:cs typeface="Times New Roman" panose="02020603050405020304" pitchFamily="18" charset="0"/>
              </a:rPr>
              <a:t>所示。</a:t>
            </a:r>
          </a:p>
        </p:txBody>
      </p:sp>
      <p:pic>
        <p:nvPicPr>
          <p:cNvPr id="7" name="图片 6">
            <a:extLst>
              <a:ext uri="{FF2B5EF4-FFF2-40B4-BE49-F238E27FC236}">
                <a16:creationId xmlns:a16="http://schemas.microsoft.com/office/drawing/2014/main" id="{3EAE37BB-E986-45B9-B2DC-0B5063BA4B1C}"/>
              </a:ext>
            </a:extLst>
          </p:cNvPr>
          <p:cNvPicPr>
            <a:picLocks noChangeAspect="1"/>
          </p:cNvPicPr>
          <p:nvPr/>
        </p:nvPicPr>
        <p:blipFill>
          <a:blip r:embed="rId3"/>
          <a:stretch>
            <a:fillRect/>
          </a:stretch>
        </p:blipFill>
        <p:spPr>
          <a:xfrm>
            <a:off x="852473" y="2692912"/>
            <a:ext cx="10832170" cy="3697728"/>
          </a:xfrm>
          <a:prstGeom prst="rect">
            <a:avLst/>
          </a:prstGeom>
        </p:spPr>
      </p:pic>
    </p:spTree>
    <p:extLst>
      <p:ext uri="{BB962C8B-B14F-4D97-AF65-F5344CB8AC3E}">
        <p14:creationId xmlns:p14="http://schemas.microsoft.com/office/powerpoint/2010/main" val="4188179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虚拟遗憾最小化算法：库恩扑克例子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C8FCB1EF-3DA7-41C3-A655-BEEB227DA1D5}"/>
                  </a:ext>
                </a:extLst>
              </p:cNvPr>
              <p:cNvSpPr/>
              <p:nvPr/>
            </p:nvSpPr>
            <p:spPr>
              <a:xfrm>
                <a:off x="173505" y="1893579"/>
                <a:ext cx="4819749" cy="3070841"/>
              </a:xfrm>
              <a:prstGeom prst="rect">
                <a:avLst/>
              </a:prstGeom>
            </p:spPr>
            <p:txBody>
              <a:bodyPr wrap="square">
                <a:spAutoFit/>
              </a:bodyPr>
              <a:lstStyle/>
              <a:p>
                <a:pPr indent="266700" algn="just">
                  <a:lnSpc>
                    <a:spcPct val="200000"/>
                  </a:lnSpc>
                  <a:spcAft>
                    <a:spcPts val="0"/>
                  </a:spcAft>
                </a:pPr>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在初始根结点下，三条边分别代表玩家</a:t>
                </a:r>
                <a:r>
                  <a:rPr lang="en-US" altLang="zh-CN" sz="2000" kern="1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拿到三张不同手牌的情况。有</a:t>
                </a:r>
                <a:r>
                  <a:rPr lang="en-US" altLang="zh-CN" sz="2000" kern="100" dirty="0">
                    <a:latin typeface="Times New Roman" panose="02020603050405020304" pitchFamily="18" charset="0"/>
                    <a:ea typeface="华文楷体" panose="02010600040101010101" pitchFamily="2" charset="-122"/>
                    <a:cs typeface="Times New Roman" panose="02020603050405020304" pitchFamily="18" charset="0"/>
                  </a:rPr>
                  <a:t>12</a:t>
                </a:r>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个库恩扑克的信息集（即博弈树的中间结点）：</a:t>
                </a:r>
                <a14:m>
                  <m:oMath xmlns:m="http://schemas.openxmlformats.org/officeDocument/2006/math">
                    <m:d>
                      <m:dPr>
                        <m:begChr m:val="{"/>
                        <m:endChr m:val="}"/>
                        <m:ctrlPr>
                          <a:rPr lang="zh-CN" altLang="zh-CN" sz="2000" i="1" kern="100">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sz="20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1,1</m:t>
                        </m:r>
                        <m:r>
                          <a:rPr lang="en-US" altLang="zh-CN" sz="20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𝑃</m:t>
                        </m:r>
                        <m:r>
                          <a:rPr lang="en-US" altLang="zh-CN" sz="20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,1</m:t>
                        </m:r>
                        <m:r>
                          <a:rPr lang="en-US" altLang="zh-CN" sz="20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𝐵</m:t>
                        </m:r>
                        <m:r>
                          <a:rPr lang="en-US" altLang="zh-CN" sz="20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,1</m:t>
                        </m:r>
                        <m:r>
                          <a:rPr lang="en-US" altLang="zh-CN" sz="20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sz="20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kern="1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rPr>
                          <m:t>2,2</m:t>
                        </m:r>
                        <m:r>
                          <a:rPr lang="en-US" altLang="zh-CN" sz="2000" kern="1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rPr>
                          <m:t>𝑃</m:t>
                        </m:r>
                        <m:r>
                          <a:rPr lang="en-US" altLang="zh-CN" sz="2000" kern="1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rPr>
                          <m:t>,2</m:t>
                        </m:r>
                        <m:r>
                          <a:rPr lang="en-US" altLang="zh-CN" sz="2000" kern="1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rPr>
                          <m:t>𝐵</m:t>
                        </m:r>
                        <m:r>
                          <a:rPr lang="en-US" altLang="zh-CN" sz="2000" kern="1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rPr>
                          <m:t>,2</m:t>
                        </m:r>
                        <m:r>
                          <a:rPr lang="en-US" altLang="zh-CN" sz="2000" kern="1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sz="20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kern="100" smtClean="0">
                            <a:solidFill>
                              <a:schemeClr val="accent6"/>
                            </a:solidFill>
                            <a:latin typeface="Cambria Math" panose="02040503050406030204" pitchFamily="18" charset="0"/>
                            <a:ea typeface="华文楷体" panose="02010600040101010101" pitchFamily="2" charset="-122"/>
                            <a:cs typeface="Times New Roman" panose="02020603050405020304" pitchFamily="18" charset="0"/>
                          </a:rPr>
                          <m:t>3,3</m:t>
                        </m:r>
                        <m:r>
                          <a:rPr lang="en-US" altLang="zh-CN" sz="2000" kern="100" smtClean="0">
                            <a:solidFill>
                              <a:schemeClr val="accent6"/>
                            </a:solidFill>
                            <a:latin typeface="Cambria Math" panose="02040503050406030204" pitchFamily="18" charset="0"/>
                            <a:ea typeface="华文楷体" panose="02010600040101010101" pitchFamily="2" charset="-122"/>
                            <a:cs typeface="Times New Roman" panose="02020603050405020304" pitchFamily="18" charset="0"/>
                          </a:rPr>
                          <m:t>𝑃</m:t>
                        </m:r>
                        <m:r>
                          <a:rPr lang="en-US" altLang="zh-CN" sz="2000" kern="100" smtClean="0">
                            <a:solidFill>
                              <a:schemeClr val="accent6"/>
                            </a:solidFill>
                            <a:latin typeface="Cambria Math" panose="02040503050406030204" pitchFamily="18" charset="0"/>
                            <a:ea typeface="华文楷体" panose="02010600040101010101" pitchFamily="2" charset="-122"/>
                            <a:cs typeface="Times New Roman" panose="02020603050405020304" pitchFamily="18" charset="0"/>
                          </a:rPr>
                          <m:t>,3</m:t>
                        </m:r>
                        <m:r>
                          <a:rPr lang="en-US" altLang="zh-CN" sz="2000" kern="100" smtClean="0">
                            <a:solidFill>
                              <a:schemeClr val="accent6"/>
                            </a:solidFill>
                            <a:latin typeface="Cambria Math" panose="02040503050406030204" pitchFamily="18" charset="0"/>
                            <a:ea typeface="华文楷体" panose="02010600040101010101" pitchFamily="2" charset="-122"/>
                            <a:cs typeface="Times New Roman" panose="02020603050405020304" pitchFamily="18" charset="0"/>
                          </a:rPr>
                          <m:t>𝐵</m:t>
                        </m:r>
                        <m:r>
                          <a:rPr lang="en-US" altLang="zh-CN" sz="2000" kern="100" smtClean="0">
                            <a:solidFill>
                              <a:schemeClr val="accent6"/>
                            </a:solidFill>
                            <a:latin typeface="Cambria Math" panose="02040503050406030204" pitchFamily="18" charset="0"/>
                            <a:ea typeface="华文楷体" panose="02010600040101010101" pitchFamily="2" charset="-122"/>
                            <a:cs typeface="Times New Roman" panose="02020603050405020304" pitchFamily="18" charset="0"/>
                          </a:rPr>
                          <m:t>,3</m:t>
                        </m:r>
                        <m:r>
                          <a:rPr lang="en-US" altLang="zh-CN" sz="2000" kern="100" smtClean="0">
                            <a:solidFill>
                              <a:schemeClr val="accent6"/>
                            </a:solidFill>
                            <a:latin typeface="Cambria Math" panose="02040503050406030204" pitchFamily="18" charset="0"/>
                            <a:ea typeface="华文楷体" panose="02010600040101010101" pitchFamily="2" charset="-122"/>
                            <a:cs typeface="Times New Roman" panose="02020603050405020304" pitchFamily="18" charset="0"/>
                          </a:rPr>
                          <m:t>𝑃𝐵</m:t>
                        </m:r>
                      </m:e>
                    </m:d>
                  </m:oMath>
                </a14:m>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。在信息集中</a:t>
                </a:r>
                <a:r>
                  <a:rPr lang="zh-CN" altLang="zh-CN" sz="20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14:m>
                  <m:oMath xmlns:m="http://schemas.openxmlformats.org/officeDocument/2006/math">
                    <m:r>
                      <a:rPr lang="zh-CN" altLang="zh-CN" sz="20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 </m:t>
                    </m:r>
                    <m:r>
                      <a:rPr lang="en-US" altLang="zh-CN" sz="20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𝑃</m:t>
                    </m:r>
                  </m:oMath>
                </a14:m>
                <a:r>
                  <a:rPr lang="zh-CN" altLang="zh-CN" sz="20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表示过牌、</a:t>
                </a:r>
                <a14:m>
                  <m:oMath xmlns:m="http://schemas.openxmlformats.org/officeDocument/2006/math">
                    <m:r>
                      <a:rPr lang="en-US" altLang="zh-CN" sz="2000" kern="100">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𝐵</m:t>
                    </m:r>
                  </m:oMath>
                </a14:m>
                <a:r>
                  <a:rPr lang="zh-CN" altLang="zh-CN" sz="20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表示下注</a:t>
                </a:r>
                <a:r>
                  <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rPr>
                  <a:t>。</a:t>
                </a:r>
              </a:p>
            </p:txBody>
          </p:sp>
        </mc:Choice>
        <mc:Fallback xmlns="">
          <p:sp>
            <p:nvSpPr>
              <p:cNvPr id="10" name="矩形 9">
                <a:extLst>
                  <a:ext uri="{FF2B5EF4-FFF2-40B4-BE49-F238E27FC236}">
                    <a16:creationId xmlns:a16="http://schemas.microsoft.com/office/drawing/2014/main" id="{C8FCB1EF-3DA7-41C3-A655-BEEB227DA1D5}"/>
                  </a:ext>
                </a:extLst>
              </p:cNvPr>
              <p:cNvSpPr>
                <a:spLocks noRot="1" noChangeAspect="1" noMove="1" noResize="1" noEditPoints="1" noAdjustHandles="1" noChangeArrowheads="1" noChangeShapeType="1" noTextEdit="1"/>
              </p:cNvSpPr>
              <p:nvPr/>
            </p:nvSpPr>
            <p:spPr>
              <a:xfrm>
                <a:off x="173505" y="1893579"/>
                <a:ext cx="4819749" cy="3070841"/>
              </a:xfrm>
              <a:prstGeom prst="rect">
                <a:avLst/>
              </a:prstGeom>
              <a:blipFill>
                <a:blip r:embed="rId3"/>
                <a:stretch>
                  <a:fillRect l="-1264" r="-6448" b="-2982"/>
                </a:stretch>
              </a:blipFill>
            </p:spPr>
            <p:txBody>
              <a:bodyPr/>
              <a:lstStyle/>
              <a:p>
                <a:r>
                  <a:rPr lang="zh-CN" altLang="en-US">
                    <a:noFill/>
                  </a:rPr>
                  <a:t> </a:t>
                </a:r>
              </a:p>
            </p:txBody>
          </p:sp>
        </mc:Fallback>
      </mc:AlternateContent>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1440" y="1285296"/>
            <a:ext cx="6758042" cy="5123951"/>
          </a:xfrm>
          <a:prstGeom prst="rect">
            <a:avLst/>
          </a:prstGeom>
        </p:spPr>
      </p:pic>
    </p:spTree>
    <p:extLst>
      <p:ext uri="{BB962C8B-B14F-4D97-AF65-F5344CB8AC3E}">
        <p14:creationId xmlns:p14="http://schemas.microsoft.com/office/powerpoint/2010/main" val="10846462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虚拟遗憾最小化算法：库恩扑克例子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7A48383-6A89-4650-84DE-18CC72DDE92A}"/>
                  </a:ext>
                </a:extLst>
              </p:cNvPr>
              <p:cNvSpPr txBox="1"/>
              <p:nvPr/>
            </p:nvSpPr>
            <p:spPr>
              <a:xfrm>
                <a:off x="56303" y="1379584"/>
                <a:ext cx="6299618" cy="169655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这里以信息集</a:t>
                </a:r>
                <a14:m>
                  <m:oMath xmlns:m="http://schemas.openxmlformats.org/officeDocument/2006/math">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为例，来计算玩家</a:t>
                </a:r>
                <a:r>
                  <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通过路径</a:t>
                </a:r>
                <a14:m>
                  <m:oMath xmlns:m="http://schemas.openxmlformats.org/officeDocument/2006/math">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1</m:t>
                    </m:r>
                    <m:groupChr>
                      <m:groupChrPr>
                        <m:chr m:val="→"/>
                        <m:vertJc m:val="bot"/>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𝑃</m:t>
                        </m:r>
                      </m:e>
                    </m:groupCh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𝑃</m:t>
                    </m:r>
                    <m:groupChr>
                      <m:groupChrPr>
                        <m:chr m:val="→"/>
                        <m:vertJc m:val="bot"/>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𝐵</m:t>
                        </m:r>
                      </m:e>
                    </m:groupCh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𝑃𝐵</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到达当前节点</a:t>
                </a:r>
                <a14:m>
                  <m:oMath xmlns:m="http://schemas.openxmlformats.org/officeDocument/2006/math">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后选择</a:t>
                </a:r>
                <a:r>
                  <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b="1" kern="100" dirty="0">
                    <a:solidFill>
                      <a:srgbClr val="C00000"/>
                    </a:solidFill>
                    <a:effectLst/>
                    <a:latin typeface="Times New Roman" panose="02020603050405020304" pitchFamily="18" charset="0"/>
                    <a:ea typeface="华文楷体" panose="02010600040101010101" pitchFamily="2" charset="-122"/>
                    <a:cs typeface="Times New Roman" panose="02020603050405020304" pitchFamily="18" charset="0"/>
                  </a:rPr>
                  <a:t>过牌</a:t>
                </a:r>
                <a:r>
                  <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行动的遗憾值。</a:t>
                </a:r>
              </a:p>
              <a:p>
                <a:pPr marL="285750" indent="-285750" algn="just">
                  <a:lnSpc>
                    <a:spcPct val="150000"/>
                  </a:lnSpc>
                  <a:buFont typeface="Arial" panose="020B0604020202020204" pitchFamily="34" charset="0"/>
                  <a:buChar char="•"/>
                </a:pP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在当前策略下，行动序列路径</a:t>
                </a:r>
                <a14:m>
                  <m:oMath xmlns:m="http://schemas.openxmlformats.org/officeDocument/2006/math">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𝑃</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𝐵</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产生的概率：</a:t>
                </a:r>
              </a:p>
              <a:p>
                <a:pPr algn="just">
                  <a:lnSpc>
                    <a:spcPct val="150000"/>
                  </a:lnSpc>
                </a:pPr>
                <a14:m>
                  <m:oMathPara xmlns:m="http://schemas.openxmlformats.org/officeDocument/2006/math">
                    <m:oMathParaPr>
                      <m:jc m:val="centerGroup"/>
                    </m:oMathParaPr>
                    <m:oMath xmlns:m="http://schemas.openxmlformats.org/officeDocument/2006/math">
                      <m:sSubSup>
                        <m:sSubSupPr>
                          <m:ctrlPr>
                            <a:rPr lang="zh-CN" altLang="zh-CN" sz="1600"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sSubSup>
                            <m:sSubSup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up>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sup>
                          </m:sSubSup>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e>
                          </m:d>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𝐵</m:t>
                          </m:r>
                        </m:sub>
                        <m:sup>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sup>
                      </m:sSubSup>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e>
                      </m:d>
                      <m:r>
                        <a:rPr lang="en-US" altLang="zh-CN" sz="1600" i="1" kern="100" smtClean="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=1×0.5=0.5</m:t>
                      </m:r>
                    </m:oMath>
                  </m:oMathPara>
                </a14:m>
                <a:endPar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1" name="文本框 10">
                <a:extLst>
                  <a:ext uri="{FF2B5EF4-FFF2-40B4-BE49-F238E27FC236}">
                    <a16:creationId xmlns:a16="http://schemas.microsoft.com/office/drawing/2014/main" id="{17A48383-6A89-4650-84DE-18CC72DDE92A}"/>
                  </a:ext>
                </a:extLst>
              </p:cNvPr>
              <p:cNvSpPr txBox="1">
                <a:spLocks noRot="1" noChangeAspect="1" noMove="1" noResize="1" noEditPoints="1" noAdjustHandles="1" noChangeArrowheads="1" noChangeShapeType="1" noTextEdit="1"/>
              </p:cNvSpPr>
              <p:nvPr/>
            </p:nvSpPr>
            <p:spPr>
              <a:xfrm>
                <a:off x="56303" y="1379584"/>
                <a:ext cx="6299618" cy="1696555"/>
              </a:xfrm>
              <a:prstGeom prst="rect">
                <a:avLst/>
              </a:prstGeom>
              <a:blipFill>
                <a:blip r:embed="rId3"/>
                <a:stretch>
                  <a:fillRect l="-387" r="-4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A5B6480-FFAE-4B31-AA89-B7F137A9D328}"/>
                  </a:ext>
                </a:extLst>
              </p:cNvPr>
              <p:cNvSpPr txBox="1"/>
              <p:nvPr/>
            </p:nvSpPr>
            <p:spPr>
              <a:xfrm>
                <a:off x="65681" y="2818076"/>
                <a:ext cx="6485173" cy="415498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按照先前的定义，</a:t>
                </a:r>
                <a14:m>
                  <m:oMath xmlns:m="http://schemas.openxmlformats.org/officeDocument/2006/math">
                    <m:sSubSup>
                      <m:sSubSupPr>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𝐴</m:t>
                        </m:r>
                      </m:sub>
                      <m:sup>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𝜎</m:t>
                        </m:r>
                      </m:sup>
                    </m:sSubSup>
                    <m:d>
                      <m:dPr>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h</m:t>
                        </m:r>
                      </m:e>
                    </m:d>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表示不考虑玩家</a:t>
                </a:r>
                <a:r>
                  <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的策略能够通过路径</a:t>
                </a:r>
                <a14:m>
                  <m:oMath xmlns:m="http://schemas.openxmlformats.org/officeDocument/2006/math">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h</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到达当前节点</a:t>
                </a:r>
                <a14:m>
                  <m:oMath xmlns:m="http://schemas.openxmlformats.org/officeDocument/2006/math">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的概率，那么玩家</a:t>
                </a:r>
                <a:r>
                  <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选择过牌的概率为</a:t>
                </a:r>
                <a:r>
                  <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（而不管其实际以</a:t>
                </a:r>
                <a:r>
                  <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50%</a:t>
                </a: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的概率选择过牌的行动）、玩家</a:t>
                </a:r>
                <a:r>
                  <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在玩家</a:t>
                </a:r>
                <a:r>
                  <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做出选择后以</a:t>
                </a:r>
                <a:r>
                  <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50%</a:t>
                </a: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概率选择加注行动。</a:t>
                </a:r>
              </a:p>
              <a:p>
                <a:pPr marL="285750" indent="-285750" algn="just">
                  <a:lnSpc>
                    <a:spcPct val="150000"/>
                  </a:lnSpc>
                  <a:buFont typeface="Arial" panose="020B0604020202020204" pitchFamily="34" charset="0"/>
                  <a:buChar char="•"/>
                </a:pP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由于在</a:t>
                </a:r>
                <a14:m>
                  <m:oMath xmlns:m="http://schemas.openxmlformats.org/officeDocument/2006/math">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节点选择加注和过牌的概率均为</a:t>
                </a:r>
                <a:r>
                  <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50%</a:t>
                </a: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，所以当前策略下从当前节点到达终结状态</a:t>
                </a:r>
                <a14:m>
                  <m:oMath xmlns:m="http://schemas.openxmlformats.org/officeDocument/2006/math">
                    <m:sSub>
                      <m:sSubPr>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z</m:t>
                        </m:r>
                      </m:e>
                      <m:sub>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1</m:t>
                        </m:r>
                      </m:sub>
                    </m:sSub>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和</a:t>
                </a:r>
                <a14:m>
                  <m:oMath xmlns:m="http://schemas.openxmlformats.org/officeDocument/2006/math">
                    <m:sSub>
                      <m:sSubPr>
                        <m:ctrlPr>
                          <a:rPr lang="zh-CN" altLang="zh-CN"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z</m:t>
                        </m:r>
                      </m:e>
                      <m:sub>
                        <m:r>
                          <a:rPr lang="en-US" altLang="zh-CN" sz="1600" kern="100">
                            <a:effectLst/>
                            <a:latin typeface="Cambria Math" panose="02040503050406030204" pitchFamily="18" charset="0"/>
                            <a:ea typeface="华文楷体" panose="02010600040101010101" pitchFamily="2" charset="-122"/>
                            <a:cs typeface="Times New Roman" panose="02020603050405020304" pitchFamily="18" charset="0"/>
                          </a:rPr>
                          <m:t>2</m:t>
                        </m:r>
                      </m:sub>
                    </m:sSub>
                    <m:r>
                      <a:rPr lang="zh-CN"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的</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概率分别为：</a:t>
                </a:r>
              </a:p>
              <a:p>
                <a:pPr algn="ctr">
                  <a:lnSpc>
                    <a:spcPct val="150000"/>
                  </a:lnSpc>
                </a:pPr>
                <a14:m>
                  <m:oMathPara xmlns:m="http://schemas.openxmlformats.org/officeDocument/2006/math">
                    <m:oMathParaPr>
                      <m:jc m:val="centerGroup"/>
                    </m:oMathParaPr>
                    <m:oMath xmlns:m="http://schemas.openxmlformats.org/officeDocument/2006/math">
                      <m:sSup>
                        <m:sSupPr>
                          <m:ctrlPr>
                            <a:rPr lang="zh-CN" altLang="zh-CN" sz="1600"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sup>
                      </m:sSup>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𝑧</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e>
                      </m:d>
                      <m:r>
                        <a:rPr lang="en-US" altLang="zh-CN" sz="1600" i="1" kern="100" smtClean="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=0.5,</m:t>
                      </m:r>
                      <m:sSup>
                        <m:sSup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sup>
                      </m:sSup>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𝑧</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2</m:t>
                              </m:r>
                            </m:sub>
                          </m:sSub>
                        </m:e>
                      </m:d>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=0.5</m:t>
                      </m:r>
                    </m:oMath>
                  </m:oMathPara>
                </a14:m>
                <a:endParaRPr lang="zh-CN" altLang="zh-CN" sz="16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由于已知</a:t>
                </a:r>
                <a14:m>
                  <m:oMath xmlns:m="http://schemas.openxmlformats.org/officeDocument/2006/math">
                    <m:sSub>
                      <m:sSubPr>
                        <m:ctrlPr>
                          <a:rPr lang="zh-CN" altLang="zh-CN" sz="1600"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𝑧</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e>
                    </m:d>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oMath>
                </a14:m>
                <a:r>
                  <a:rPr lang="zh-CN" altLang="zh-CN" sz="16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和</a:t>
                </a:r>
                <a14:m>
                  <m:oMath xmlns:m="http://schemas.openxmlformats.org/officeDocument/2006/math">
                    <m:sSub>
                      <m:sSub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𝑧</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2</m:t>
                            </m:r>
                          </m:sub>
                        </m:sSub>
                      </m:e>
                    </m:d>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=−2</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，可知玩家</a:t>
                </a:r>
                <a:r>
                  <a:rPr lang="en-US"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在策略</a:t>
                </a:r>
                <a14:m>
                  <m:oMath xmlns:m="http://schemas.openxmlformats.org/officeDocument/2006/math">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𝜎</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作用下从根节点出发、经过路径</a:t>
                </a:r>
                <a14:m>
                  <m:oMath xmlns:m="http://schemas.openxmlformats.org/officeDocument/2006/math">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𝑃</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𝐵</m:t>
                    </m:r>
                    <m:r>
                      <a:rPr lang="en-US" altLang="zh-CN" sz="1600"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rPr>
                  <a:t>到达当前节点后的虚拟价值：</a:t>
                </a:r>
              </a:p>
              <a:p>
                <a:pPr algn="ctr">
                  <a:lnSpc>
                    <a:spcPct val="150000"/>
                  </a:lnSpc>
                </a:pPr>
                <a14:m>
                  <m:oMath xmlns:m="http://schemas.openxmlformats.org/officeDocument/2006/math">
                    <m:sSub>
                      <m:sSubPr>
                        <m:ctrlPr>
                          <a:rPr lang="zh-CN" altLang="zh-CN" sz="1600"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𝑣</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e>
                    </m:d>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bSup>
                      <m:sSubSup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𝐵</m:t>
                        </m:r>
                      </m:sub>
                      <m:sup>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sup>
                    </m:sSubSup>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e>
                    </m:d>
                    <m:r>
                      <a:rPr lang="en-US" altLang="zh-CN" sz="16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sup>
                    </m:sSup>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𝑧</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e>
                    </m:d>
                  </m:oMath>
                </a14:m>
                <a:r>
                  <a:rPr lang="en-US" altLang="zh-CN" sz="16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sz="16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𝑧</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e>
                    </m:d>
                  </m:oMath>
                </a14:m>
                <a:r>
                  <a:rPr lang="en-US" altLang="zh-CN" sz="16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14:m>
                  <m:oMath xmlns:m="http://schemas.openxmlformats.org/officeDocument/2006/math">
                    <m:sSubSup>
                      <m:sSubSup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𝐵</m:t>
                        </m:r>
                      </m:sub>
                      <m:sup>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sup>
                    </m:sSubSup>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e>
                    </m:d>
                    <m:r>
                      <a:rPr lang="en-US" altLang="zh-CN" sz="16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sup>
                    </m:sSup>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𝑧</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2</m:t>
                            </m:r>
                          </m:sub>
                        </m:sSub>
                      </m:e>
                    </m:d>
                  </m:oMath>
                </a14:m>
                <a:r>
                  <a:rPr lang="en-US" altLang="zh-CN" sz="16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sz="16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𝑧</m:t>
                            </m:r>
                          </m:e>
                          <m:sub>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2</m:t>
                            </m:r>
                          </m:sub>
                        </m:sSub>
                      </m:e>
                    </m:d>
                  </m:oMath>
                </a14:m>
                <a:endParaRPr lang="zh-CN" altLang="zh-CN" sz="16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=0.5×0.5×</m:t>
                      </m:r>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e>
                      </m:d>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+0.5×0.5×</m:t>
                      </m:r>
                      <m:d>
                        <m:dPr>
                          <m:ctrlPr>
                            <a:rPr lang="zh-CN" altLang="zh-CN" sz="16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−2</m:t>
                          </m:r>
                        </m:e>
                      </m:d>
                      <m:r>
                        <a:rPr lang="en-US" altLang="zh-CN" sz="16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=−0.75  </m:t>
                      </m:r>
                    </m:oMath>
                  </m:oMathPara>
                </a14:m>
                <a:endParaRPr lang="zh-CN" altLang="zh-CN" sz="16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 name="文本框 11">
                <a:extLst>
                  <a:ext uri="{FF2B5EF4-FFF2-40B4-BE49-F238E27FC236}">
                    <a16:creationId xmlns:a16="http://schemas.microsoft.com/office/drawing/2014/main" id="{4A5B6480-FFAE-4B31-AA89-B7F137A9D328}"/>
                  </a:ext>
                </a:extLst>
              </p:cNvPr>
              <p:cNvSpPr txBox="1">
                <a:spLocks noRot="1" noChangeAspect="1" noMove="1" noResize="1" noEditPoints="1" noAdjustHandles="1" noChangeArrowheads="1" noChangeShapeType="1" noTextEdit="1"/>
              </p:cNvSpPr>
              <p:nvPr/>
            </p:nvSpPr>
            <p:spPr>
              <a:xfrm>
                <a:off x="65681" y="2818076"/>
                <a:ext cx="6485173" cy="4154984"/>
              </a:xfrm>
              <a:prstGeom prst="rect">
                <a:avLst/>
              </a:prstGeom>
              <a:blipFill>
                <a:blip r:embed="rId4"/>
                <a:stretch>
                  <a:fillRect l="-376" r="-470"/>
                </a:stretch>
              </a:blipFill>
            </p:spPr>
            <p:txBody>
              <a:bodyPr/>
              <a:lstStyle/>
              <a:p>
                <a:r>
                  <a:rPr lang="zh-CN" altLang="en-US">
                    <a:noFill/>
                  </a:rPr>
                  <a:t> </a:t>
                </a:r>
              </a:p>
            </p:txBody>
          </p:sp>
        </mc:Fallback>
      </mc:AlternateContent>
      <p:pic>
        <p:nvPicPr>
          <p:cNvPr id="10"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1814" y="2118942"/>
            <a:ext cx="5453545" cy="4134881"/>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1EFEF7A-118B-2926-78F8-AC5C7CE0A1CD}"/>
                  </a:ext>
                </a:extLst>
              </p:cNvPr>
              <p:cNvSpPr txBox="1"/>
              <p:nvPr/>
            </p:nvSpPr>
            <p:spPr>
              <a:xfrm>
                <a:off x="6840214" y="905045"/>
                <a:ext cx="4859623" cy="1098378"/>
              </a:xfrm>
              <a:prstGeom prst="rect">
                <a:avLst/>
              </a:prstGeom>
              <a:noFill/>
            </p:spPr>
            <p:txBody>
              <a:bodyPr wrap="square">
                <a:spAutoFit/>
              </a:bodyPr>
              <a:lstStyle/>
              <a:p>
                <a:pPr indent="266700"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𝑣</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zh-CN" altLang="en-US"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undOvr"/>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𝑧</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𝑍</m:t>
                          </m:r>
                        </m:sub>
                        <m:sup/>
                        <m:e>
                          <m:limLow>
                            <m:limLow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groupChrPr>
                                <m:e>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sup>
                                  </m:sSubSup>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e>
                              </m:groupChr>
                            </m:e>
                            <m:lim/>
                          </m:limLow>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e>
                      </m:nary>
                      <m:limLow>
                        <m:limLow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groupChrPr>
                            <m:e>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sup>
                              </m:sSup>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𝑧</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e>
                          </m:groupChr>
                        </m:e>
                        <m:lim/>
                      </m:limLow>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limLow>
                        <m:limLow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groupChrPr>
                            <m:e>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𝑧</m:t>
                              </m:r>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m:t>
                              </m:r>
                            </m:e>
                          </m:groupChr>
                        </m:e>
                        <m:lim/>
                      </m:limLow>
                    </m:oMath>
                  </m:oMathPara>
                </a14:m>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id="{C1EFEF7A-118B-2926-78F8-AC5C7CE0A1CD}"/>
                  </a:ext>
                </a:extLst>
              </p:cNvPr>
              <p:cNvSpPr txBox="1">
                <a:spLocks noRot="1" noChangeAspect="1" noMove="1" noResize="1" noEditPoints="1" noAdjustHandles="1" noChangeArrowheads="1" noChangeShapeType="1" noTextEdit="1"/>
              </p:cNvSpPr>
              <p:nvPr/>
            </p:nvSpPr>
            <p:spPr>
              <a:xfrm>
                <a:off x="6840214" y="905045"/>
                <a:ext cx="4859623" cy="1098378"/>
              </a:xfrm>
              <a:prstGeom prst="rect">
                <a:avLst/>
              </a:prstGeom>
              <a:blipFill>
                <a:blip r:embed="rId6"/>
                <a:stretch>
                  <a:fillRect/>
                </a:stretch>
              </a:blipFill>
            </p:spPr>
            <p:txBody>
              <a:bodyPr/>
              <a:lstStyle/>
              <a:p>
                <a:r>
                  <a:rPr lang="zh-CN" altLang="en-US">
                    <a:noFill/>
                  </a:rPr>
                  <a:t> </a:t>
                </a:r>
              </a:p>
            </p:txBody>
          </p:sp>
        </mc:Fallback>
      </mc:AlternateContent>
      <p:sp>
        <p:nvSpPr>
          <p:cNvPr id="7" name="椭圆 6">
            <a:extLst>
              <a:ext uri="{FF2B5EF4-FFF2-40B4-BE49-F238E27FC236}">
                <a16:creationId xmlns:a16="http://schemas.microsoft.com/office/drawing/2014/main" id="{E2422C9C-915E-A777-A170-6E3646EA707D}"/>
              </a:ext>
            </a:extLst>
          </p:cNvPr>
          <p:cNvSpPr/>
          <p:nvPr/>
        </p:nvSpPr>
        <p:spPr>
          <a:xfrm>
            <a:off x="7000240" y="4283760"/>
            <a:ext cx="447040" cy="471119"/>
          </a:xfrm>
          <a:prstGeom prst="ellipse">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0152767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虚拟遗憾最小化算法：库恩扑克例子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48B24C0-6BB3-47DF-85D7-16534DD356C8}"/>
                  </a:ext>
                </a:extLst>
              </p:cNvPr>
              <p:cNvSpPr txBox="1"/>
              <p:nvPr/>
            </p:nvSpPr>
            <p:spPr>
              <a:xfrm>
                <a:off x="437318" y="1952265"/>
                <a:ext cx="5911057" cy="367395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下面计算玩家</a:t>
                </a:r>
                <a:r>
                  <a:rPr lang="en-US"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在当前节点选择</a:t>
                </a:r>
                <a:r>
                  <a:rPr lang="en-US"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过牌</a:t>
                </a:r>
                <a:r>
                  <a:rPr lang="en-US"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行动后的虚拟价值。</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若玩家</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在当前节点选择</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过牌</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行动，即</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𝑃</m:t>
                        </m:r>
                      </m:sub>
                    </m:sSub>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，此时玩家</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促使行动序列</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𝑃</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𝐵</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发生的概率仍然</a:t>
                </a:r>
                <a14:m>
                  <m:oMath xmlns:m="http://schemas.openxmlformats.org/officeDocument/2006/math">
                    <m:r>
                      <a:rPr lang="zh-CN"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为</m:t>
                    </m:r>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𝐵</m:t>
                        </m:r>
                      </m:sub>
                      <m:sup>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𝑃</m:t>
                            </m:r>
                          </m:sub>
                        </m:sSub>
                      </m:sup>
                    </m:sSubSup>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h</m:t>
                        </m:r>
                      </m:e>
                    </m:d>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=0.5</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。由于从当前节点出发抵达的终结状态只有</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z</m:t>
                        </m:r>
                      </m:e>
                      <m:sub>
                        <m:r>
                          <a:rPr lang="en-US" altLang="zh-CN" sz="1800" kern="100">
                            <a:effectLst/>
                            <a:latin typeface="Cambria Math" panose="02040503050406030204" pitchFamily="18" charset="0"/>
                            <a:ea typeface="华文楷体" panose="02010600040101010101" pitchFamily="2" charset="-122"/>
                            <a:cs typeface="Times New Roman" panose="02020603050405020304" pitchFamily="18" charset="0"/>
                          </a:rPr>
                          <m:t>1</m:t>
                        </m:r>
                      </m:sub>
                    </m:sSub>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，所以</a:t>
                </a:r>
                <a14:m>
                  <m:oMath xmlns:m="http://schemas.openxmlformats.org/officeDocument/2006/math">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𝜋</m:t>
                        </m:r>
                      </m:e>
                      <m:sup>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𝜎</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𝑃</m:t>
                            </m:r>
                          </m:sub>
                        </m:sSub>
                      </m:sup>
                    </m:sSup>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𝑧</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sub>
                        </m:sSub>
                      </m:e>
                    </m:d>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oMath>
                </a14:m>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则玩家</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在当前节点选择</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过牌</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行动后的虚拟价值为：</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zh-CN" altLang="zh-CN" sz="1800"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𝑣</m:t>
                          </m:r>
                        </m:e>
                        <m:sub>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e>
                            <m:sub>
                              <m:d>
                                <m:dPr>
                                  <m:begChr m:val="{"/>
                                  <m:endChr m:val="}"/>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𝑃𝐵</m:t>
                                  </m:r>
                                </m:e>
                              </m:d>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m:t>
                              </m:r>
                            </m:sub>
                          </m:sSub>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e>
                      </m:d>
                      <m:r>
                        <m:rPr>
                          <m:aln/>
                        </m:rP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bSup>
                        <m:sSubSup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𝐵</m:t>
                          </m:r>
                        </m:sub>
                        <m:sup>
                          <m:sSub>
                            <m:sSub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e>
                            <m:sub>
                              <m:d>
                                <m:dPr>
                                  <m:begChr m:val="{"/>
                                  <m:endChr m:val="}"/>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𝑃𝐵</m:t>
                                  </m:r>
                                </m:e>
                              </m:d>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m:t>
                              </m:r>
                            </m:sub>
                          </m:sSub>
                        </m:sup>
                      </m:sSubSup>
                      <m:d>
                        <m:d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e>
                      </m:d>
                      <m:r>
                        <a:rPr lang="en-US" altLang="zh-CN" sz="18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𝜋</m:t>
                          </m:r>
                        </m:e>
                        <m:sup>
                          <m:sSub>
                            <m:sSub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e>
                            <m:sub>
                              <m:d>
                                <m:dPr>
                                  <m:begChr m:val="{"/>
                                  <m:endChr m:val="}"/>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𝑃𝐵</m:t>
                                  </m:r>
                                </m:e>
                              </m:d>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m:t>
                              </m:r>
                            </m:sub>
                          </m:sSub>
                        </m:sup>
                      </m:sSup>
                      <m:d>
                        <m:d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𝑧</m:t>
                              </m:r>
                            </m:e>
                            <m:sub>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e>
                      </m:d>
                      <m:r>
                        <a:rPr lang="en-US" altLang="zh-CN" sz="18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𝑢</m:t>
                          </m:r>
                        </m:e>
                        <m:sub>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𝑧</m:t>
                              </m:r>
                            </m:e>
                            <m:sub>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e>
                      </m:d>
                    </m:oMath>
                    <m:oMath xmlns:m="http://schemas.openxmlformats.org/officeDocument/2006/math">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0.5</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d>
                        <m:dPr>
                          <m:ctrlPr>
                            <a:rPr lang="zh-CN" altLang="zh-CN" sz="1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e>
                      </m:d>
                      <m:r>
                        <a:rPr lang="en-US" altLang="zh-CN" sz="1800"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=−0.5</m:t>
                      </m:r>
                    </m:oMath>
                  </m:oMathPara>
                </a14:m>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248B24C0-6BB3-47DF-85D7-16534DD356C8}"/>
                  </a:ext>
                </a:extLst>
              </p:cNvPr>
              <p:cNvSpPr txBox="1">
                <a:spLocks noRot="1" noChangeAspect="1" noMove="1" noResize="1" noEditPoints="1" noAdjustHandles="1" noChangeArrowheads="1" noChangeShapeType="1" noTextEdit="1"/>
              </p:cNvSpPr>
              <p:nvPr/>
            </p:nvSpPr>
            <p:spPr>
              <a:xfrm>
                <a:off x="437318" y="1952265"/>
                <a:ext cx="5911057" cy="3673954"/>
              </a:xfrm>
              <a:prstGeom prst="rect">
                <a:avLst/>
              </a:prstGeom>
              <a:blipFill>
                <a:blip r:embed="rId3"/>
                <a:stretch>
                  <a:fillRect l="-722" r="-4850"/>
                </a:stretch>
              </a:blipFill>
            </p:spPr>
            <p:txBody>
              <a:bodyPr/>
              <a:lstStyle/>
              <a:p>
                <a:r>
                  <a:rPr lang="zh-CN" altLang="en-US">
                    <a:noFill/>
                  </a:rPr>
                  <a:t> </a:t>
                </a:r>
              </a:p>
            </p:txBody>
          </p:sp>
        </mc:Fallback>
      </mc:AlternateContent>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99175" y="1514200"/>
            <a:ext cx="5701385" cy="4322793"/>
          </a:xfrm>
          <a:prstGeom prst="rect">
            <a:avLst/>
          </a:prstGeom>
        </p:spPr>
      </p:pic>
    </p:spTree>
    <p:extLst>
      <p:ext uri="{BB962C8B-B14F-4D97-AF65-F5344CB8AC3E}">
        <p14:creationId xmlns:p14="http://schemas.microsoft.com/office/powerpoint/2010/main" val="3171958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虚拟遗憾最小化算法：库恩扑克例子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7F9108B-FAEA-48FE-B901-B502C11531F9}"/>
                  </a:ext>
                </a:extLst>
              </p:cNvPr>
              <p:cNvSpPr txBox="1"/>
              <p:nvPr/>
            </p:nvSpPr>
            <p:spPr>
              <a:xfrm>
                <a:off x="140787" y="1454332"/>
                <a:ext cx="6954020" cy="423474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最终，在信息集</a:t>
                </a:r>
                <a14:m>
                  <m:oMath xmlns:m="http://schemas.openxmlformats.org/officeDocument/2006/math">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上采取</a:t>
                </a:r>
                <a:r>
                  <a:rPr lang="en-US"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kern="100"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过牌</a:t>
                </a:r>
                <a:r>
                  <a:rPr lang="en-US"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的虚拟遗憾值如下计算：</a:t>
                </a:r>
              </a:p>
              <a:p>
                <a:pPr algn="ctr">
                  <a:lnSpc>
                    <a:spcPct val="150000"/>
                  </a:lnSpc>
                </a:pPr>
                <a14:m>
                  <m:oMathPara xmlns:m="http://schemas.openxmlformats.org/officeDocument/2006/math">
                    <m:oMathParaPr>
                      <m:jc m:val="centerGroup"/>
                    </m:oMathParaPr>
                    <m:oMath xmlns:m="http://schemas.openxmlformats.org/officeDocument/2006/math">
                      <m:sSub>
                        <m:sSubPr>
                          <m:ctrlPr>
                            <a:rPr lang="zh-CN" altLang="zh-CN"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𝑟</m:t>
                          </m:r>
                        </m:e>
                        <m:sub>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d>
                            <m:dPr>
                              <m:begChr m:val="{"/>
                              <m:endChr m:val="}"/>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𝑃𝐵</m:t>
                              </m:r>
                            </m:e>
                          </m:d>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m:t>
                          </m:r>
                        </m:e>
                      </m:d>
                      <m:r>
                        <m:rPr>
                          <m:aln/>
                        </m:rP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𝑟</m:t>
                          </m:r>
                        </m:e>
                        <m:sub>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m:t>
                          </m:r>
                        </m:e>
                      </m:d>
                    </m:oMath>
                    <m:oMath xmlns:m="http://schemas.openxmlformats.org/officeDocument/2006/math">
                      <m:r>
                        <m:rPr>
                          <m:aln/>
                        </m:rP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𝑣</m:t>
                          </m:r>
                        </m:e>
                        <m:sub>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e>
                            <m:sub>
                              <m:d>
                                <m:dPr>
                                  <m:begChr m:val="{"/>
                                  <m:endChr m:val="}"/>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𝑃𝐵</m:t>
                                  </m:r>
                                </m:e>
                              </m:d>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m:t>
                              </m:r>
                            </m:sub>
                          </m:sSub>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e>
                      </m:d>
                      <m:sSub>
                        <m:sSubPr>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𝑣</m:t>
                          </m:r>
                        </m:e>
                        <m:sub>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𝜎</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h</m:t>
                          </m:r>
                        </m:e>
                      </m:d>
                    </m:oMath>
                    <m:oMath xmlns:m="http://schemas.openxmlformats.org/officeDocument/2006/math">
                      <m:r>
                        <m:rPr>
                          <m:aln/>
                        </m:rP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d>
                        <m:dPr>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−0.5</m:t>
                          </m:r>
                        </m:e>
                      </m:d>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d>
                        <m:dPr>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−0.75</m:t>
                          </m:r>
                        </m:e>
                      </m:d>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=0.25</m:t>
                      </m:r>
                    </m:oMath>
                  </m:oMathPara>
                </a14:m>
                <a:endParaRPr lang="zh-CN" altLang="zh-CN"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在</a:t>
                </a:r>
                <a:r>
                  <a:rPr lang="zh-CN" altLang="zh-CN"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第一轮博弈</a:t>
                </a:r>
                <a:r>
                  <a:rPr lang="zh-CN"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中，累加虚拟遗憾值与行为遗憾值相同：</a:t>
                </a:r>
              </a:p>
              <a:p>
                <a:pPr algn="ctr">
                  <a:lnSpc>
                    <a:spcPct val="150000"/>
                  </a:lnSpc>
                </a:pPr>
                <a14:m>
                  <m:oMathPara xmlns:m="http://schemas.openxmlformats.org/officeDocument/2006/math">
                    <m:oMathParaPr>
                      <m:jc m:val="centerGroup"/>
                    </m:oMathParaPr>
                    <m:oMath xmlns:m="http://schemas.openxmlformats.org/officeDocument/2006/math">
                      <m:sSubSup>
                        <m:sSubSupPr>
                          <m:ctrlPr>
                            <a:rPr lang="zh-CN" altLang="zh-CN"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up>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sup>
                      </m:sSubSup>
                      <m:r>
                        <a:rPr lang="en-US" altLang="zh-CN"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m:t>
                      </m:r>
                      <m:r>
                        <a:rPr lang="en-US" altLang="zh-CN"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undOvr"/>
                          <m:grow m:val="on"/>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sup>
                        <m:e>
                          <m:sSubSup>
                            <m:sSubSupPr>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𝑟</m:t>
                              </m:r>
                            </m:e>
                            <m:sub>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𝐴</m:t>
                              </m:r>
                            </m:sub>
                            <m:sup>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𝑡</m:t>
                              </m:r>
                            </m:sup>
                          </m:sSubSup>
                        </m:e>
                      </m:nary>
                      <m:r>
                        <a:rPr lang="en-US" altLang="zh-CN"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𝑃</m:t>
                      </m:r>
                      <m:r>
                        <a:rPr lang="en-US" altLang="zh-CN"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类似的，可以计算信息集</a:t>
                </a:r>
                <a14:m>
                  <m:oMath xmlns:m="http://schemas.openxmlformats.org/officeDocument/2006/math">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上采取</a:t>
                </a:r>
                <a:r>
                  <a:rPr lang="en-US"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kern="100"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加注</a:t>
                </a:r>
                <a:r>
                  <a:rPr lang="en-US"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策略的遗憾值：</a:t>
                </a:r>
              </a:p>
              <a:p>
                <a:pPr algn="just">
                  <a:lnSpc>
                    <a:spcPct val="150000"/>
                  </a:lnSpc>
                </a:pPr>
                <a14:m>
                  <m:oMathPara xmlns:m="http://schemas.openxmlformats.org/officeDocument/2006/math">
                    <m:oMathParaPr>
                      <m:jc m:val="centerGroup"/>
                    </m:oMathParaPr>
                    <m:oMath xmlns:m="http://schemas.openxmlformats.org/officeDocument/2006/math">
                      <m:sSubSup>
                        <m:sSubSup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𝑅𝑒𝑔𝑟𝑒𝑡</m:t>
                          </m:r>
                        </m:e>
                        <m:sub>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𝐴</m:t>
                          </m:r>
                        </m:sub>
                        <m:sup>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1</m:t>
                          </m:r>
                        </m:sup>
                      </m:sSubSup>
                      <m:d>
                        <m:d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dPr>
                        <m:e>
                          <m:d>
                            <m:dPr>
                              <m:begChr m:val="{"/>
                              <m:endChr m:val="}"/>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𝑃𝐵</m:t>
                              </m:r>
                            </m:e>
                          </m:d>
                          <m:r>
                            <a:rPr lang="en-US" altLang="zh-CN"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𝐵</m:t>
                          </m:r>
                        </m:e>
                      </m:d>
                      <m:r>
                        <a:rPr lang="en-US" altLang="zh-CN"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𝑟</m:t>
                          </m:r>
                        </m:e>
                        <m:sub>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𝑃𝐵</m:t>
                          </m:r>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𝐵</m:t>
                          </m:r>
                        </m:e>
                      </m:d>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𝑟</m:t>
                          </m:r>
                        </m:e>
                        <m:sub>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𝐴</m:t>
                          </m:r>
                        </m:sub>
                      </m:sSub>
                      <m:d>
                        <m:d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h</m:t>
                          </m:r>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𝐵</m:t>
                          </m:r>
                        </m:e>
                      </m:d>
                      <m:r>
                        <a:rPr lang="en-US" altLang="zh-CN" i="1" kern="100">
                          <a:effectLst/>
                          <a:latin typeface="Cambria Math" panose="02040503050406030204" pitchFamily="18" charset="0"/>
                          <a:ea typeface="华文楷体" panose="02010600040101010101" pitchFamily="2" charset="-122"/>
                          <a:cs typeface="Times New Roman" panose="02020603050405020304" pitchFamily="18" charset="0"/>
                        </a:rPr>
                        <m:t>=−0.25</m:t>
                      </m:r>
                    </m:oMath>
                  </m:oMathPara>
                </a14:m>
                <a:endParaRPr lang="zh-CN" altLang="zh-CN"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1" name="文本框 10">
                <a:extLst>
                  <a:ext uri="{FF2B5EF4-FFF2-40B4-BE49-F238E27FC236}">
                    <a16:creationId xmlns:a16="http://schemas.microsoft.com/office/drawing/2014/main" id="{47F9108B-FAEA-48FE-B901-B502C11531F9}"/>
                  </a:ext>
                </a:extLst>
              </p:cNvPr>
              <p:cNvSpPr txBox="1">
                <a:spLocks noRot="1" noChangeAspect="1" noMove="1" noResize="1" noEditPoints="1" noAdjustHandles="1" noChangeArrowheads="1" noChangeShapeType="1" noTextEdit="1"/>
              </p:cNvSpPr>
              <p:nvPr/>
            </p:nvSpPr>
            <p:spPr>
              <a:xfrm>
                <a:off x="140787" y="1454332"/>
                <a:ext cx="6954020" cy="4234749"/>
              </a:xfrm>
              <a:prstGeom prst="rect">
                <a:avLst/>
              </a:prstGeom>
              <a:blipFill>
                <a:blip r:embed="rId3"/>
                <a:stretch>
                  <a:fillRect l="-526"/>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F4C3D80F-1FE2-4B7F-B084-E35DE8567529}"/>
              </a:ext>
            </a:extLst>
          </p:cNvPr>
          <p:cNvSpPr/>
          <p:nvPr/>
        </p:nvSpPr>
        <p:spPr>
          <a:xfrm>
            <a:off x="140787" y="5643288"/>
            <a:ext cx="6592738" cy="881460"/>
          </a:xfrm>
          <a:prstGeom prst="rect">
            <a:avLst/>
          </a:prstGeom>
        </p:spPr>
        <p:txBody>
          <a:bodyPr wrap="square">
            <a:spAutoFit/>
          </a:bodyPr>
          <a:lstStyle/>
          <a:p>
            <a:pPr algn="just">
              <a:lnSpc>
                <a:spcPct val="150000"/>
              </a:lnSpc>
              <a:spcAft>
                <a:spcPts val="0"/>
              </a:spcAft>
            </a:pPr>
            <a:r>
              <a:rPr lang="zh-CN" altLang="zh-CN" b="1" kern="100"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于是，根据遗憾值匹配算法计算结果，在下一轮的策略中会选择</a:t>
            </a:r>
            <a:r>
              <a:rPr lang="en-US" altLang="zh-CN" b="1" kern="100"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kern="100"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过牌</a:t>
            </a:r>
            <a:r>
              <a:rPr lang="en-US" altLang="zh-CN" b="1" kern="100"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kern="100"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策略。</a:t>
            </a:r>
            <a:endParaRPr lang="zh-CN" altLang="zh-CN" b="1" kern="100" dirty="0">
              <a:solidFill>
                <a:srgbClr val="C00000"/>
              </a:solidFill>
              <a:effectLst/>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870" y="1589885"/>
            <a:ext cx="5389850" cy="4086587"/>
          </a:xfrm>
          <a:prstGeom prst="rect">
            <a:avLst/>
          </a:prstGeom>
        </p:spPr>
      </p:pic>
    </p:spTree>
    <p:extLst>
      <p:ext uri="{BB962C8B-B14F-4D97-AF65-F5344CB8AC3E}">
        <p14:creationId xmlns:p14="http://schemas.microsoft.com/office/powerpoint/2010/main" val="26826046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虚拟遗憾最小化算法：库恩扑克例子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AE8722D3-1572-4405-AC43-BDED4202E607}"/>
              </a:ext>
            </a:extLst>
          </p:cNvPr>
          <p:cNvPicPr>
            <a:picLocks noChangeAspect="1"/>
          </p:cNvPicPr>
          <p:nvPr/>
        </p:nvPicPr>
        <p:blipFill>
          <a:blip r:embed="rId3"/>
          <a:stretch>
            <a:fillRect/>
          </a:stretch>
        </p:blipFill>
        <p:spPr>
          <a:xfrm>
            <a:off x="-406400" y="2509520"/>
            <a:ext cx="7582612" cy="2472103"/>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870" y="1589885"/>
            <a:ext cx="5389850" cy="4086587"/>
          </a:xfrm>
          <a:prstGeom prst="rect">
            <a:avLst/>
          </a:prstGeom>
        </p:spPr>
      </p:pic>
      <p:sp>
        <p:nvSpPr>
          <p:cNvPr id="7" name="椭圆 6">
            <a:extLst>
              <a:ext uri="{FF2B5EF4-FFF2-40B4-BE49-F238E27FC236}">
                <a16:creationId xmlns:a16="http://schemas.microsoft.com/office/drawing/2014/main" id="{D618FC30-437C-9888-40F8-8B290794A7E3}"/>
              </a:ext>
            </a:extLst>
          </p:cNvPr>
          <p:cNvSpPr/>
          <p:nvPr/>
        </p:nvSpPr>
        <p:spPr>
          <a:xfrm>
            <a:off x="2136340" y="3891280"/>
            <a:ext cx="447040" cy="863599"/>
          </a:xfrm>
          <a:prstGeom prst="ellipse">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505587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安全子博弈</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p:sp>
        <p:nvSpPr>
          <p:cNvPr id="10" name="文本框 9">
            <a:extLst>
              <a:ext uri="{FF2B5EF4-FFF2-40B4-BE49-F238E27FC236}">
                <a16:creationId xmlns:a16="http://schemas.microsoft.com/office/drawing/2014/main" id="{E1D0AA81-DAE2-4734-BEBD-804176D4E735}"/>
              </a:ext>
            </a:extLst>
          </p:cNvPr>
          <p:cNvSpPr txBox="1"/>
          <p:nvPr/>
        </p:nvSpPr>
        <p:spPr>
          <a:xfrm>
            <a:off x="1348695" y="1419341"/>
            <a:ext cx="10236050" cy="646331"/>
          </a:xfrm>
          <a:prstGeom prst="rect">
            <a:avLst/>
          </a:prstGeom>
          <a:noFill/>
        </p:spPr>
        <p:txBody>
          <a:bodyPr wrap="square">
            <a:spAutoFit/>
          </a:bodyPr>
          <a:lstStyle/>
          <a:p>
            <a:r>
              <a:rPr lang="zh-CN" altLang="zh-CN" sz="1800" b="1" dirty="0">
                <a:effectLst/>
                <a:latin typeface="Times New Roman" panose="02020603050405020304" pitchFamily="18" charset="0"/>
                <a:ea typeface="华文楷体" panose="02010600040101010101" pitchFamily="2" charset="-122"/>
                <a:cs typeface="Times New Roman" panose="02020603050405020304" pitchFamily="18" charset="0"/>
              </a:rPr>
              <a:t>从当前已经完成的部分博弈出发，将接下来博弈过程视为是一个单独子博弈，然后找到子博弈的最优反应策略，这样可以减小计算量，以便在接近叶节点的情况下得到更加精确的结果</a:t>
            </a:r>
            <a:endParaRPr lang="zh-CN" altLang="en-US" b="1" dirty="0"/>
          </a:p>
        </p:txBody>
      </p:sp>
      <p:pic>
        <p:nvPicPr>
          <p:cNvPr id="7" name="图片 6">
            <a:extLst>
              <a:ext uri="{FF2B5EF4-FFF2-40B4-BE49-F238E27FC236}">
                <a16:creationId xmlns:a16="http://schemas.microsoft.com/office/drawing/2014/main" id="{DF25AF3C-F4C9-459A-81A7-3F270CB8EDD0}"/>
              </a:ext>
            </a:extLst>
          </p:cNvPr>
          <p:cNvPicPr>
            <a:picLocks noChangeAspect="1"/>
          </p:cNvPicPr>
          <p:nvPr/>
        </p:nvPicPr>
        <p:blipFill>
          <a:blip r:embed="rId3"/>
          <a:stretch>
            <a:fillRect/>
          </a:stretch>
        </p:blipFill>
        <p:spPr>
          <a:xfrm>
            <a:off x="4080873" y="2065672"/>
            <a:ext cx="4403795" cy="4744135"/>
          </a:xfrm>
          <a:prstGeom prst="rect">
            <a:avLst/>
          </a:prstGeom>
        </p:spPr>
      </p:pic>
    </p:spTree>
    <p:extLst>
      <p:ext uri="{BB962C8B-B14F-4D97-AF65-F5344CB8AC3E}">
        <p14:creationId xmlns:p14="http://schemas.microsoft.com/office/powerpoint/2010/main" val="5506051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安全子博弈</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p:sp>
        <p:nvSpPr>
          <p:cNvPr id="9" name="文本框 8">
            <a:extLst>
              <a:ext uri="{FF2B5EF4-FFF2-40B4-BE49-F238E27FC236}">
                <a16:creationId xmlns:a16="http://schemas.microsoft.com/office/drawing/2014/main" id="{BACC9E4C-E12B-4DD7-8988-CEC37682031B}"/>
              </a:ext>
            </a:extLst>
          </p:cNvPr>
          <p:cNvSpPr txBox="1"/>
          <p:nvPr/>
        </p:nvSpPr>
        <p:spPr>
          <a:xfrm>
            <a:off x="512023" y="1875693"/>
            <a:ext cx="6564808" cy="3739101"/>
          </a:xfrm>
          <a:prstGeom prst="rect">
            <a:avLst/>
          </a:prstGeom>
          <a:noFill/>
        </p:spPr>
        <p:txBody>
          <a:bodyPr wrap="square">
            <a:spAutoFit/>
          </a:bodyPr>
          <a:lstStyle/>
          <a:p>
            <a:pPr marL="285750" indent="-285750" algn="just">
              <a:lnSpc>
                <a:spcPct val="150000"/>
              </a:lnSpc>
              <a:buFont typeface="Wingdings" panose="05000000000000000000" pitchFamily="2" charset="2"/>
              <a:buChar char="l"/>
            </a:pP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玩家</a:t>
            </a:r>
            <a:r>
              <a:rPr lang="en-US" altLang="zh-CN" sz="2000" dirty="0">
                <a:effectLst/>
                <a:latin typeface="Times New Roman" panose="02020603050405020304" pitchFamily="18" charset="0"/>
                <a:ea typeface="华文楷体" panose="02010600040101010101" pitchFamily="2" charset="-122"/>
              </a:rPr>
              <a:t>A</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随机抛一个硬币，然后根据硬币的正反面可以决定将硬币卖掉或者让玩家</a:t>
            </a:r>
            <a:r>
              <a:rPr lang="en-US" altLang="zh-CN" sz="2000" dirty="0">
                <a:effectLst/>
                <a:latin typeface="Times New Roman" panose="02020603050405020304" pitchFamily="18" charset="0"/>
                <a:ea typeface="华文楷体" panose="02010600040101010101" pitchFamily="2" charset="-122"/>
              </a:rPr>
              <a:t>B</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来猜测硬币的正反面。如果硬币抛掷结果是正面，玩家</a:t>
            </a:r>
            <a:r>
              <a:rPr lang="en-US" altLang="zh-CN" sz="2000" dirty="0">
                <a:effectLst/>
                <a:latin typeface="Times New Roman" panose="02020603050405020304" pitchFamily="18" charset="0"/>
                <a:ea typeface="华文楷体" panose="02010600040101010101" pitchFamily="2" charset="-122"/>
              </a:rPr>
              <a:t>A</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卖掉这一硬币可以获得</a:t>
            </a:r>
            <a:r>
              <a:rPr lang="en-US" altLang="zh-CN" sz="2000" dirty="0">
                <a:effectLst/>
                <a:latin typeface="Times New Roman" panose="02020603050405020304" pitchFamily="18" charset="0"/>
                <a:ea typeface="华文楷体" panose="02010600040101010101" pitchFamily="2" charset="-122"/>
              </a:rPr>
              <a:t>0.5</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元收益，如果硬币抛掷结果是负面，则玩家</a:t>
            </a:r>
            <a:r>
              <a:rPr lang="en-US" altLang="zh-CN" sz="2000" dirty="0">
                <a:effectLst/>
                <a:latin typeface="Times New Roman" panose="02020603050405020304" pitchFamily="18" charset="0"/>
                <a:ea typeface="华文楷体" panose="02010600040101010101" pitchFamily="2" charset="-122"/>
              </a:rPr>
              <a:t>A</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卖掉这一硬币会亏损</a:t>
            </a:r>
            <a:r>
              <a:rPr lang="en-US" altLang="zh-CN" sz="2000" dirty="0">
                <a:effectLst/>
                <a:latin typeface="Times New Roman" panose="02020603050405020304" pitchFamily="18" charset="0"/>
                <a:ea typeface="华文楷体" panose="02010600040101010101" pitchFamily="2" charset="-122"/>
              </a:rPr>
              <a:t>0.5</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元（收益为</a:t>
            </a:r>
            <a:r>
              <a:rPr lang="en-US" altLang="zh-CN" sz="2000" dirty="0">
                <a:effectLst/>
                <a:latin typeface="Times New Roman" panose="02020603050405020304" pitchFamily="18" charset="0"/>
                <a:ea typeface="华文楷体" panose="02010600040101010101" pitchFamily="2" charset="-122"/>
              </a:rPr>
              <a:t>-0.5</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0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如果玩家</a:t>
            </a:r>
            <a:r>
              <a:rPr lang="en-US" altLang="zh-CN" sz="2000" dirty="0">
                <a:effectLst/>
                <a:latin typeface="Times New Roman" panose="02020603050405020304" pitchFamily="18" charset="0"/>
                <a:ea typeface="华文楷体" panose="02010600040101010101" pitchFamily="2" charset="-122"/>
              </a:rPr>
              <a:t>A</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不采取售卖硬币的行动，而是让玩家</a:t>
            </a:r>
            <a:r>
              <a:rPr lang="en-US" altLang="zh-CN" sz="2000" dirty="0">
                <a:effectLst/>
                <a:latin typeface="Times New Roman" panose="02020603050405020304" pitchFamily="18" charset="0"/>
                <a:ea typeface="华文楷体" panose="02010600040101010101" pitchFamily="2" charset="-122"/>
              </a:rPr>
              <a:t>B</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猜硬币的正反，则玩家</a:t>
            </a:r>
            <a:r>
              <a:rPr lang="en-US" altLang="zh-CN" sz="2000" dirty="0">
                <a:effectLst/>
                <a:latin typeface="Times New Roman" panose="02020603050405020304" pitchFamily="18" charset="0"/>
                <a:ea typeface="华文楷体" panose="02010600040101010101" pitchFamily="2" charset="-122"/>
              </a:rPr>
              <a:t>B</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猜错正反前提下玩家</a:t>
            </a:r>
            <a:r>
              <a:rPr lang="en-US" altLang="zh-CN" sz="2000" dirty="0">
                <a:effectLst/>
                <a:latin typeface="Times New Roman" panose="02020603050405020304" pitchFamily="18" charset="0"/>
                <a:ea typeface="华文楷体" panose="02010600040101010101" pitchFamily="2" charset="-122"/>
              </a:rPr>
              <a:t>A</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可以获得</a:t>
            </a:r>
            <a:r>
              <a:rPr lang="en-US" altLang="zh-CN" sz="2000" dirty="0">
                <a:effectLst/>
                <a:latin typeface="Times New Roman" panose="02020603050405020304" pitchFamily="18" charset="0"/>
                <a:ea typeface="华文楷体" panose="02010600040101010101" pitchFamily="2" charset="-122"/>
              </a:rPr>
              <a:t>1</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元或者玩家</a:t>
            </a:r>
            <a:r>
              <a:rPr lang="en-US" altLang="zh-CN" sz="2000" dirty="0">
                <a:effectLst/>
                <a:latin typeface="Times New Roman" panose="02020603050405020304" pitchFamily="18" charset="0"/>
                <a:ea typeface="华文楷体" panose="02010600040101010101" pitchFamily="2" charset="-122"/>
              </a:rPr>
              <a:t>B</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猜对正反前提下玩家</a:t>
            </a:r>
            <a:r>
              <a:rPr lang="en-US" altLang="zh-CN" sz="2000" dirty="0">
                <a:effectLst/>
                <a:latin typeface="Times New Roman" panose="02020603050405020304" pitchFamily="18" charset="0"/>
                <a:ea typeface="华文楷体" panose="02010600040101010101" pitchFamily="2" charset="-122"/>
              </a:rPr>
              <a:t>A</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会亏损</a:t>
            </a:r>
            <a:r>
              <a:rPr lang="en-US" altLang="zh-CN" sz="2000" dirty="0">
                <a:effectLst/>
                <a:latin typeface="Times New Roman" panose="02020603050405020304" pitchFamily="18" charset="0"/>
                <a:ea typeface="华文楷体" panose="02010600040101010101" pitchFamily="2" charset="-122"/>
              </a:rPr>
              <a:t>1</a:t>
            </a:r>
            <a:r>
              <a:rPr lang="zh-CN" altLang="zh-CN" sz="2000" dirty="0">
                <a:effectLst/>
                <a:latin typeface="Times New Roman" panose="02020603050405020304" pitchFamily="18" charset="0"/>
                <a:ea typeface="华文楷体" panose="02010600040101010101" pitchFamily="2" charset="-122"/>
                <a:cs typeface="Times New Roman" panose="02020603050405020304" pitchFamily="18" charset="0"/>
              </a:rPr>
              <a:t>元。</a:t>
            </a:r>
            <a:endParaRPr lang="zh-CN" altLang="en-US" sz="2000" dirty="0"/>
          </a:p>
        </p:txBody>
      </p:sp>
      <p:pic>
        <p:nvPicPr>
          <p:cNvPr id="2" name="图片 1">
            <a:extLst>
              <a:ext uri="{FF2B5EF4-FFF2-40B4-BE49-F238E27FC236}">
                <a16:creationId xmlns:a16="http://schemas.microsoft.com/office/drawing/2014/main" id="{FBF51E03-634A-467E-88B6-C6A74E9C3C34}"/>
              </a:ext>
            </a:extLst>
          </p:cNvPr>
          <p:cNvPicPr>
            <a:picLocks noChangeAspect="1"/>
          </p:cNvPicPr>
          <p:nvPr/>
        </p:nvPicPr>
        <p:blipFill>
          <a:blip r:embed="rId3"/>
          <a:stretch>
            <a:fillRect/>
          </a:stretch>
        </p:blipFill>
        <p:spPr>
          <a:xfrm>
            <a:off x="7271616" y="1371334"/>
            <a:ext cx="4408361" cy="5136551"/>
          </a:xfrm>
          <a:prstGeom prst="rect">
            <a:avLst/>
          </a:prstGeom>
        </p:spPr>
      </p:pic>
    </p:spTree>
    <p:extLst>
      <p:ext uri="{BB962C8B-B14F-4D97-AF65-F5344CB8AC3E}">
        <p14:creationId xmlns:p14="http://schemas.microsoft.com/office/powerpoint/2010/main" val="1896332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安全子博弈</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p:grpSp>
        <p:nvGrpSpPr>
          <p:cNvPr id="10" name="组合 9">
            <a:extLst>
              <a:ext uri="{FF2B5EF4-FFF2-40B4-BE49-F238E27FC236}">
                <a16:creationId xmlns:a16="http://schemas.microsoft.com/office/drawing/2014/main" id="{DC4CF88F-3122-474A-A7FD-727D79AC7C3A}"/>
              </a:ext>
            </a:extLst>
          </p:cNvPr>
          <p:cNvGrpSpPr/>
          <p:nvPr/>
        </p:nvGrpSpPr>
        <p:grpSpPr>
          <a:xfrm>
            <a:off x="384653" y="1580941"/>
            <a:ext cx="11297475" cy="4209226"/>
            <a:chOff x="256845" y="990098"/>
            <a:chExt cx="8094372" cy="4209226"/>
          </a:xfrm>
        </p:grpSpPr>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023FEBE-8997-4BBF-B48E-4F831D2DF7CB}"/>
                    </a:ext>
                  </a:extLst>
                </p:cNvPr>
                <p:cNvSpPr txBox="1"/>
                <p:nvPr/>
              </p:nvSpPr>
              <p:spPr>
                <a:xfrm>
                  <a:off x="256846" y="990098"/>
                  <a:ext cx="8094371" cy="2862322"/>
                </a:xfrm>
                <a:prstGeom prst="rect">
                  <a:avLst/>
                </a:prstGeom>
                <a:noFill/>
              </p:spPr>
              <p:txBody>
                <a:bodyPr wrap="square">
                  <a:spAutoFit/>
                </a:bodyPr>
                <a:lstStyle/>
                <a:p>
                  <a:pPr marL="285750" indent="-285750" algn="just">
                    <a:buFont typeface="Arial" panose="020B0604020202020204" pitchFamily="34" charset="0"/>
                    <a:buChar cha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在硬币投掷结果为正面情况下，玩家</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卖掉硬币的收益</a:t>
                  </a:r>
                  <a14:m>
                    <m:oMath xmlns:m="http://schemas.openxmlformats.org/officeDocument/2006/math">
                      <m:sSub>
                        <m:sSubPr>
                          <m:ctrlPr>
                            <a:rPr lang="zh-CN" altLang="zh-CN"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a:latin typeface="Cambria Math" panose="02040503050406030204" pitchFamily="18" charset="0"/>
                          <a:ea typeface="华文楷体" panose="02010600040101010101" pitchFamily="2" charset="-122"/>
                          <a:cs typeface="Times New Roman" panose="02020603050405020304" pitchFamily="18" charset="0"/>
                        </a:rPr>
                        <m:t>=0.5</m:t>
                      </m:r>
                    </m:oMath>
                  </a14:m>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，在硬币投掷结果为反面情况下，玩家</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卖掉硬币的收益</a:t>
                  </a:r>
                  <a14:m>
                    <m:oMath xmlns:m="http://schemas.openxmlformats.org/officeDocument/2006/math">
                      <m:sSub>
                        <m:sSubPr>
                          <m:ctrlPr>
                            <a:rPr lang="zh-CN" altLang="zh-CN"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a:latin typeface="Cambria Math" panose="02040503050406030204" pitchFamily="18" charset="0"/>
                          <a:ea typeface="华文楷体" panose="02010600040101010101" pitchFamily="2" charset="-122"/>
                          <a:cs typeface="Times New Roman" panose="02020603050405020304" pitchFamily="18" charset="0"/>
                        </a:rPr>
                        <m:t>=−0.5</m:t>
                      </m:r>
                    </m:oMath>
                  </a14:m>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Arial" panose="020B0604020202020204" pitchFamily="34" charset="0"/>
                    <a:buChar char="•"/>
                  </a:pPr>
                  <a:r>
                    <a:rPr lang="zh-CN" alt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为了</a:t>
                  </a:r>
                  <a:r>
                    <a:rPr lang="zh-CN" altLang="en-US"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使得</a:t>
                  </a: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玩家</a:t>
                  </a:r>
                  <a:r>
                    <a:rPr lang="en-US"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来猜测硬币投掷结果为正面或反面的情况下，使得玩家</a:t>
                  </a:r>
                  <a:r>
                    <a:rPr lang="en-US"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的最终期望收益为</a:t>
                  </a:r>
                  <a:r>
                    <a:rPr lang="en-US"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Arial" panose="020B0604020202020204" pitchFamily="34" charset="0"/>
                    <a:buChar char="•"/>
                  </a:pP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Arial" panose="020B0604020202020204" pitchFamily="34" charset="0"/>
                    <a:buChar cha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在硬币投掷结果为正面或反面的概率相等情况下，要使玩家</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选择卖硬币和猜硬币的收益一样，则玩家</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的策略要使得玩家</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在硬币投掷结果为正面情况下，选择猜硬币这一行动使得玩家</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获得的期望收益</a:t>
                  </a:r>
                  <a14:m>
                    <m:oMath xmlns:m="http://schemas.openxmlformats.org/officeDocument/2006/math">
                      <m:sSub>
                        <m:sSubPr>
                          <m:ctrlPr>
                            <a:rPr lang="zh-CN" altLang="zh-CN"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a:latin typeface="Cambria Math" panose="02040503050406030204" pitchFamily="18" charset="0"/>
                              <a:ea typeface="华文楷体" panose="02010600040101010101" pitchFamily="2" charset="-122"/>
                              <a:cs typeface="Times New Roman" panose="02020603050405020304" pitchFamily="18" charset="0"/>
                            </a:rPr>
                            <m:t>3</m:t>
                          </m:r>
                        </m:sub>
                      </m:sSub>
                      <m:r>
                        <a:rPr lang="en-US" altLang="zh-CN">
                          <a:latin typeface="Cambria Math" panose="02040503050406030204" pitchFamily="18" charset="0"/>
                          <a:ea typeface="华文楷体" panose="02010600040101010101" pitchFamily="2" charset="-122"/>
                          <a:cs typeface="Times New Roman" panose="02020603050405020304" pitchFamily="18" charset="0"/>
                        </a:rPr>
                        <m:t>=0.5</m:t>
                      </m:r>
                    </m:oMath>
                  </a14:m>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，在硬币投掷结果为反面情况下，选择猜硬币这一行动使得玩家</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获得的的期望收益</a:t>
                  </a:r>
                  <a14:m>
                    <m:oMath xmlns:m="http://schemas.openxmlformats.org/officeDocument/2006/math">
                      <m:sSub>
                        <m:sSubPr>
                          <m:ctrlPr>
                            <a:rPr lang="zh-CN" altLang="zh-CN"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a:latin typeface="Cambria Math" panose="02040503050406030204" pitchFamily="18" charset="0"/>
                              <a:ea typeface="华文楷体" panose="02010600040101010101" pitchFamily="2" charset="-122"/>
                              <a:cs typeface="Times New Roman" panose="02020603050405020304" pitchFamily="18" charset="0"/>
                            </a:rPr>
                            <m:t>4</m:t>
                          </m:r>
                        </m:sub>
                      </m:sSub>
                      <m:r>
                        <a:rPr lang="en-US" altLang="zh-CN">
                          <a:latin typeface="Cambria Math" panose="02040503050406030204" pitchFamily="18" charset="0"/>
                          <a:ea typeface="华文楷体" panose="02010600040101010101" pitchFamily="2" charset="-122"/>
                          <a:cs typeface="Times New Roman" panose="02020603050405020304" pitchFamily="18" charset="0"/>
                        </a:rPr>
                        <m:t>=−0.5</m:t>
                      </m:r>
                    </m:oMath>
                  </a14:m>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algn="just"/>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algn="just"/>
                  <a:endParaRPr lang="zh-CN"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Arial" panose="020B0604020202020204" pitchFamily="34" charset="0"/>
                    <a:buChar char="•"/>
                  </a:pPr>
                  <a:endParaRPr lang="zh-CN" altLang="en-US" dirty="0"/>
                </a:p>
              </p:txBody>
            </p:sp>
          </mc:Choice>
          <mc:Fallback xmlns="">
            <p:sp>
              <p:nvSpPr>
                <p:cNvPr id="11" name="文本框 10">
                  <a:extLst>
                    <a:ext uri="{FF2B5EF4-FFF2-40B4-BE49-F238E27FC236}">
                      <a16:creationId xmlns:a16="http://schemas.microsoft.com/office/drawing/2014/main" id="{8023FEBE-8997-4BBF-B48E-4F831D2DF7CB}"/>
                    </a:ext>
                  </a:extLst>
                </p:cNvPr>
                <p:cNvSpPr txBox="1">
                  <a:spLocks noRot="1" noChangeAspect="1" noMove="1" noResize="1" noEditPoints="1" noAdjustHandles="1" noChangeArrowheads="1" noChangeShapeType="1" noTextEdit="1"/>
                </p:cNvSpPr>
                <p:nvPr/>
              </p:nvSpPr>
              <p:spPr>
                <a:xfrm>
                  <a:off x="256846" y="990098"/>
                  <a:ext cx="8094371" cy="2862322"/>
                </a:xfrm>
                <a:prstGeom prst="rect">
                  <a:avLst/>
                </a:prstGeom>
                <a:blipFill>
                  <a:blip r:embed="rId3"/>
                  <a:stretch>
                    <a:fillRect l="-324" t="-1277" r="-4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0059D02-A14D-44CD-9B3E-E1CF79B43F80}"/>
                    </a:ext>
                  </a:extLst>
                </p:cNvPr>
                <p:cNvSpPr txBox="1"/>
                <p:nvPr/>
              </p:nvSpPr>
              <p:spPr>
                <a:xfrm>
                  <a:off x="256845" y="3306498"/>
                  <a:ext cx="8094372" cy="189282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假设玩家</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猜硬币投掷结果为正面的概率为</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，对应的其猜硬币投掷结果为反面的概率为</a:t>
                  </a:r>
                  <a14:m>
                    <m:oMath xmlns:m="http://schemas.openxmlformats.org/officeDocument/2006/math">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，则有：</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3</m:t>
                            </m:r>
                          </m:sub>
                        </m:s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e>
                        </m:d>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=0.5,</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4</m:t>
                            </m:r>
                          </m:sub>
                        </m:s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e>
                        </m:d>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=−0.5</m:t>
                        </m:r>
                      </m:oMath>
                    </m:oMathPara>
                  </a14:m>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从而可求得玩家</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猜测硬币投掷结果为正面的概率为</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0.25</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、猜测硬币投掷结果为反面的概率为</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0.75</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buFont typeface="Arial" panose="020B0604020202020204" pitchFamily="34" charset="0"/>
                    <a:buChar char="•"/>
                  </a:pPr>
                  <a:r>
                    <a:rPr lang="zh-CN" altLang="zh-CN" sz="18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在这场博弈中，即使玩家</a:t>
                  </a:r>
                  <a:r>
                    <a:rPr lang="en-US" altLang="zh-CN" sz="1800" dirty="0">
                      <a:solidFill>
                        <a:srgbClr val="FF0000"/>
                      </a:solidFill>
                      <a:effectLst/>
                      <a:latin typeface="Times New Roman" panose="02020603050405020304" pitchFamily="18" charset="0"/>
                      <a:ea typeface="华文楷体" panose="02010600040101010101" pitchFamily="2" charset="-122"/>
                    </a:rPr>
                    <a:t>A</a:t>
                  </a:r>
                  <a:r>
                    <a:rPr lang="zh-CN" altLang="zh-CN" sz="18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选择了让玩家</a:t>
                  </a:r>
                  <a:r>
                    <a:rPr lang="en-US" altLang="zh-CN" sz="1800" dirty="0">
                      <a:solidFill>
                        <a:srgbClr val="FF0000"/>
                      </a:solidFill>
                      <a:effectLst/>
                      <a:latin typeface="Times New Roman" panose="02020603050405020304" pitchFamily="18" charset="0"/>
                      <a:ea typeface="华文楷体" panose="02010600040101010101" pitchFamily="2" charset="-122"/>
                    </a:rPr>
                    <a:t>B</a:t>
                  </a:r>
                  <a:r>
                    <a:rPr lang="zh-CN" altLang="zh-CN" sz="18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来猜测硬币投掷结果的正反，玩家</a:t>
                  </a:r>
                  <a:r>
                    <a:rPr lang="en-US" altLang="zh-CN" sz="1800" dirty="0">
                      <a:solidFill>
                        <a:srgbClr val="FF0000"/>
                      </a:solidFill>
                      <a:effectLst/>
                      <a:latin typeface="Times New Roman" panose="02020603050405020304" pitchFamily="18" charset="0"/>
                      <a:ea typeface="华文楷体" panose="02010600040101010101" pitchFamily="2" charset="-122"/>
                    </a:rPr>
                    <a:t>B</a:t>
                  </a:r>
                  <a:r>
                    <a:rPr lang="zh-CN" altLang="zh-CN" sz="18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也必须根据玩家</a:t>
                  </a:r>
                  <a:r>
                    <a:rPr lang="en-US" altLang="zh-CN" sz="1800" dirty="0">
                      <a:solidFill>
                        <a:srgbClr val="FF0000"/>
                      </a:solidFill>
                      <a:effectLst/>
                      <a:latin typeface="Times New Roman" panose="02020603050405020304" pitchFamily="18" charset="0"/>
                      <a:ea typeface="华文楷体" panose="02010600040101010101" pitchFamily="2" charset="-122"/>
                    </a:rPr>
                    <a:t>A</a:t>
                  </a:r>
                  <a:r>
                    <a:rPr lang="zh-CN" altLang="zh-CN" sz="18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选择卖掉硬币的期望收益来计算自己纳什均衡的策略。</a:t>
                  </a:r>
                  <a:endParaRPr lang="zh-CN" altLang="en-US" dirty="0">
                    <a:solidFill>
                      <a:srgbClr val="FF0000"/>
                    </a:solidFill>
                  </a:endParaRPr>
                </a:p>
              </p:txBody>
            </p:sp>
          </mc:Choice>
          <mc:Fallback xmlns="">
            <p:sp>
              <p:nvSpPr>
                <p:cNvPr id="12" name="文本框 11">
                  <a:extLst>
                    <a:ext uri="{FF2B5EF4-FFF2-40B4-BE49-F238E27FC236}">
                      <a16:creationId xmlns:a16="http://schemas.microsoft.com/office/drawing/2014/main" id="{40059D02-A14D-44CD-9B3E-E1CF79B43F80}"/>
                    </a:ext>
                  </a:extLst>
                </p:cNvPr>
                <p:cNvSpPr txBox="1">
                  <a:spLocks noRot="1" noChangeAspect="1" noMove="1" noResize="1" noEditPoints="1" noAdjustHandles="1" noChangeArrowheads="1" noChangeShapeType="1" noTextEdit="1"/>
                </p:cNvSpPr>
                <p:nvPr/>
              </p:nvSpPr>
              <p:spPr>
                <a:xfrm>
                  <a:off x="256845" y="3306498"/>
                  <a:ext cx="8094372" cy="1892826"/>
                </a:xfrm>
                <a:prstGeom prst="rect">
                  <a:avLst/>
                </a:prstGeom>
                <a:blipFill>
                  <a:blip r:embed="rId4"/>
                  <a:stretch>
                    <a:fillRect l="-324" b="-4180"/>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2977487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安全子博弈</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二、博弈策略求解</a:t>
            </a:r>
            <a:endParaRPr lang="zh-CN" altLang="en-US" sz="1600" dirty="0">
              <a:solidFill>
                <a:srgbClr val="000000"/>
              </a:solidFill>
              <a:latin typeface="Times New Roman" panose="02020603050405020304" pitchFamily="18" charset="0"/>
            </a:endParaRPr>
          </a:p>
        </p:txBody>
      </p:sp>
      <p:sp>
        <p:nvSpPr>
          <p:cNvPr id="13" name="文本框 12">
            <a:extLst>
              <a:ext uri="{FF2B5EF4-FFF2-40B4-BE49-F238E27FC236}">
                <a16:creationId xmlns:a16="http://schemas.microsoft.com/office/drawing/2014/main" id="{C17C1490-C1AC-4535-AD9E-BE23544EF20F}"/>
              </a:ext>
            </a:extLst>
          </p:cNvPr>
          <p:cNvSpPr txBox="1"/>
          <p:nvPr/>
        </p:nvSpPr>
        <p:spPr>
          <a:xfrm>
            <a:off x="852473" y="1454332"/>
            <a:ext cx="10603513" cy="245432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在上面抛硬币的例子当中，在猜硬币的过程中，如果玩家</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的行动是通过预测玩家</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卖掉硬币的收益来决定，猜硬币这个子博弈就是安全的。</a:t>
            </a:r>
            <a:r>
              <a:rPr lang="zh-CN" altLang="en-US" kern="100" dirty="0">
                <a:latin typeface="Times New Roman" panose="02020603050405020304" pitchFamily="18" charset="0"/>
                <a:ea typeface="华文楷体" panose="02010600040101010101" pitchFamily="2" charset="-122"/>
                <a:cs typeface="Times New Roman" panose="02020603050405020304" pitchFamily="18" charset="0"/>
              </a:rPr>
              <a:t>（完全信息博弈）</a:t>
            </a:r>
            <a:endParaRPr lang="en-US" altLang="zh-CN" kern="1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en-US" altLang="zh-CN" kern="1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如果玩家</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的行动仅考虑猜硬币的过程（本例中为不考虑</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kern="100" dirty="0">
                <a:latin typeface="Times New Roman" panose="02020603050405020304" pitchFamily="18" charset="0"/>
                <a:ea typeface="华文楷体" panose="02010600040101010101" pitchFamily="2" charset="-122"/>
                <a:cs typeface="Times New Roman" panose="02020603050405020304" pitchFamily="18" charset="0"/>
              </a:rPr>
              <a:t>卖</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硬币的收益），则猜硬币这个子博弈就是不安全的。</a:t>
            </a:r>
            <a:r>
              <a:rPr lang="zh-CN" altLang="en-US" kern="100" dirty="0">
                <a:latin typeface="Times New Roman" panose="02020603050405020304" pitchFamily="18" charset="0"/>
                <a:ea typeface="华文楷体" panose="02010600040101010101" pitchFamily="2" charset="-122"/>
                <a:cs typeface="Times New Roman" panose="02020603050405020304" pitchFamily="18" charset="0"/>
              </a:rPr>
              <a:t>（非完全信息博弈）</a:t>
            </a:r>
            <a:endParaRPr lang="zh-CN" altLang="zh-CN" kern="1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3152190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博弈规则设计：研究问题</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三、博弈规则设计</a:t>
            </a:r>
            <a:endParaRPr lang="zh-CN" altLang="en-US" sz="1600" dirty="0">
              <a:solidFill>
                <a:srgbClr val="000000"/>
              </a:solidFill>
              <a:latin typeface="Times New Roman" panose="02020603050405020304" pitchFamily="18" charset="0"/>
            </a:endParaRPr>
          </a:p>
        </p:txBody>
      </p:sp>
      <p:sp>
        <p:nvSpPr>
          <p:cNvPr id="8" name="文本框 7">
            <a:extLst>
              <a:ext uri="{FF2B5EF4-FFF2-40B4-BE49-F238E27FC236}">
                <a16:creationId xmlns:a16="http://schemas.microsoft.com/office/drawing/2014/main" id="{E9C6AD40-3030-4790-917E-4692FEFB4E9E}"/>
              </a:ext>
            </a:extLst>
          </p:cNvPr>
          <p:cNvSpPr txBox="1"/>
          <p:nvPr/>
        </p:nvSpPr>
        <p:spPr>
          <a:xfrm>
            <a:off x="1665700" y="1726804"/>
            <a:ext cx="9133598" cy="328211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在现实生活中，如果所有博弈者都追求自己利益最大化，很可能会导致两败俱伤的下场，那么应该如何设计博弈的规则使得博弈的最终局势能</a:t>
            </a: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尽可能达到整体利益的最大化</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呢？</a:t>
            </a:r>
            <a:endPar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例如许多城市为了避免机动车过快增长造成城市拥堵，因此限制了车牌的发放量。这样，车牌的发放方式就是需要决策者经过周密的考虑后决定的。通常而言，车牌的发放既要能满足有紧迫需求的人，又要满足普通家庭的日常需求，所以很多城市都采取了车牌竞价和随机摇号两种方式发放车牌。</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7888336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博弈规则设计：双边匹配问题</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三、博弈规则设计</a:t>
            </a:r>
            <a:endParaRPr lang="zh-CN" altLang="en-US" sz="1600" dirty="0">
              <a:solidFill>
                <a:srgbClr val="000000"/>
              </a:solidFill>
              <a:latin typeface="Times New Roman" panose="02020603050405020304" pitchFamily="18" charset="0"/>
            </a:endParaRPr>
          </a:p>
        </p:txBody>
      </p:sp>
      <p:sp>
        <p:nvSpPr>
          <p:cNvPr id="9" name="文本框 8">
            <a:extLst>
              <a:ext uri="{FF2B5EF4-FFF2-40B4-BE49-F238E27FC236}">
                <a16:creationId xmlns:a16="http://schemas.microsoft.com/office/drawing/2014/main" id="{3EE6064F-4D2C-4198-8FE0-074F944FA8E1}"/>
              </a:ext>
            </a:extLst>
          </p:cNvPr>
          <p:cNvSpPr txBox="1"/>
          <p:nvPr/>
        </p:nvSpPr>
        <p:spPr>
          <a:xfrm>
            <a:off x="665872" y="1484266"/>
            <a:ext cx="10986866" cy="88146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en-US" sz="1800" kern="100" dirty="0">
                <a:effectLst/>
                <a:latin typeface="Times New Roman" panose="02020603050405020304" pitchFamily="18" charset="0"/>
                <a:ea typeface="华文楷体" panose="02010600040101010101" pitchFamily="2" charset="-122"/>
                <a:cs typeface="Times New Roman" panose="02020603050405020304" pitchFamily="18" charset="0"/>
              </a:rPr>
              <a:t>在生活中，人们常常会碰到与资源匹配相关的决策问题</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华文楷体" panose="02010600040101010101" pitchFamily="2" charset="-122"/>
                <a:cs typeface="Times New Roman" panose="02020603050405020304" pitchFamily="18" charset="0"/>
              </a:rPr>
              <a:t>如</a:t>
            </a:r>
            <a:r>
              <a:rPr lang="zh-CN" altLang="en-US"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求职就业、报考录取</a:t>
            </a:r>
            <a:r>
              <a:rPr lang="zh-CN" altLang="en-US" sz="1800" kern="100" dirty="0">
                <a:effectLst/>
                <a:latin typeface="Times New Roman" panose="02020603050405020304" pitchFamily="18" charset="0"/>
                <a:ea typeface="华文楷体" panose="02010600040101010101" pitchFamily="2" charset="-122"/>
                <a:cs typeface="Times New Roman" panose="02020603050405020304" pitchFamily="18" charset="0"/>
              </a:rPr>
              <a:t>等</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华文楷体" panose="02010600040101010101" pitchFamily="2" charset="-122"/>
                <a:cs typeface="Times New Roman" panose="02020603050405020304" pitchFamily="18" charset="0"/>
              </a:rPr>
              <a:t>，这些需要</a:t>
            </a:r>
            <a:r>
              <a:rPr lang="zh-CN" altLang="en-US"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双向选择</a:t>
            </a:r>
            <a:r>
              <a:rPr lang="zh-CN" altLang="en-US" sz="1800" kern="100" dirty="0">
                <a:effectLst/>
                <a:latin typeface="Times New Roman" panose="02020603050405020304" pitchFamily="18" charset="0"/>
                <a:ea typeface="华文楷体" panose="02010600040101010101" pitchFamily="2" charset="-122"/>
                <a:cs typeface="Times New Roman" panose="02020603050405020304" pitchFamily="18" charset="0"/>
              </a:rPr>
              <a:t>的情况被称为是</a:t>
            </a:r>
            <a:r>
              <a:rPr lang="zh-CN" altLang="en-US" sz="1800" b="1" kern="100" dirty="0">
                <a:effectLst/>
                <a:latin typeface="Times New Roman" panose="02020603050405020304" pitchFamily="18" charset="0"/>
                <a:ea typeface="华文楷体" panose="02010600040101010101" pitchFamily="2" charset="-122"/>
                <a:cs typeface="Times New Roman" panose="02020603050405020304" pitchFamily="18" charset="0"/>
              </a:rPr>
              <a:t>双边匹配问题</a:t>
            </a:r>
            <a:r>
              <a:rPr lang="zh-CN" altLang="en-US" sz="1800" kern="100" dirty="0">
                <a:effectLst/>
                <a:latin typeface="Times New Roman" panose="02020603050405020304" pitchFamily="18" charset="0"/>
                <a:ea typeface="华文楷体" panose="02010600040101010101" pitchFamily="2" charset="-122"/>
                <a:cs typeface="Times New Roman" panose="02020603050405020304" pitchFamily="18" charset="0"/>
              </a:rPr>
              <a:t>。在双边匹配问题中，需要双方互相满足对方的需求才会达成匹配。</a:t>
            </a:r>
            <a:endParaRPr lang="zh-CN" altLang="zh-CN" sz="14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AA35866B-B6FD-4062-A265-EB63B6DB0336}"/>
                  </a:ext>
                </a:extLst>
              </p:cNvPr>
              <p:cNvSpPr txBox="1"/>
              <p:nvPr/>
            </p:nvSpPr>
            <p:spPr>
              <a:xfrm>
                <a:off x="1022042" y="3480069"/>
                <a:ext cx="10652665" cy="2453749"/>
              </a:xfrm>
              <a:prstGeom prst="rect">
                <a:avLst/>
              </a:prstGeom>
              <a:noFill/>
            </p:spPr>
            <p:txBody>
              <a:bodyPr wrap="square">
                <a:spAutoFit/>
              </a:bodyPr>
              <a:lstStyle/>
              <a:p>
                <a:pPr indent="266700" algn="just">
                  <a:lnSpc>
                    <a:spcPct val="150000"/>
                  </a:lnSpc>
                </a:pPr>
                <a:r>
                  <a:rPr lang="zh-CN" altLang="en-US" sz="1600" b="1" kern="100" dirty="0">
                    <a:effectLst/>
                    <a:latin typeface="Times New Roman" panose="02020603050405020304" pitchFamily="18" charset="0"/>
                    <a:ea typeface="华文楷体" panose="02010600040101010101" pitchFamily="2" charset="-122"/>
                    <a:cs typeface="Times New Roman" panose="02020603050405020304" pitchFamily="18" charset="0"/>
                  </a:rPr>
                  <a:t>该</a:t>
                </a:r>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问题指在给定成员偏好顺序的情况下，为两组成员寻找稳定的匹配。假设有</a:t>
                </a:r>
                <a14:m>
                  <m:oMath xmlns:m="http://schemas.openxmlformats.org/officeDocument/2006/math">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𝒏</m:t>
                    </m:r>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个单身男性构成的集合</a:t>
                </a:r>
                <a14:m>
                  <m:oMath xmlns:m="http://schemas.openxmlformats.org/officeDocument/2006/math">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𝑴</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𝒎</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𝟏</m:t>
                        </m:r>
                      </m:sub>
                    </m:s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𝒎</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𝟐</m:t>
                        </m:r>
                      </m:sub>
                    </m:s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𝒎</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𝒏</m:t>
                        </m:r>
                      </m:sub>
                    </m:s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，以及</a:t>
                </a:r>
                <a14:m>
                  <m:oMath xmlns:m="http://schemas.openxmlformats.org/officeDocument/2006/math">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𝒏</m:t>
                    </m:r>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个单身女性构成的集合</a:t>
                </a:r>
                <a14:m>
                  <m:oMath xmlns:m="http://schemas.openxmlformats.org/officeDocument/2006/math">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𝑭</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𝒇</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𝟏</m:t>
                        </m:r>
                      </m:sub>
                    </m:s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 </m:t>
                    </m:r>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𝒇</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𝟐</m:t>
                        </m:r>
                      </m:sub>
                    </m:s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𝒇</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𝒏</m:t>
                        </m:r>
                      </m:sub>
                    </m:s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。对于任意一名单身男性</a:t>
                </a:r>
                <a14:m>
                  <m:oMath xmlns:m="http://schemas.openxmlformats.org/officeDocument/2006/math">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𝒎</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sub>
                    </m:sSub>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，都有自己爱慕的单身女性的顺序</a:t>
                </a:r>
                <a14:m>
                  <m:oMath xmlns:m="http://schemas.openxmlformats.org/officeDocument/2006/math">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𝒔</m:t>
                        </m:r>
                      </m:e>
                      <m:sub>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𝒎</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sub>
                        </m:sSub>
                      </m:sub>
                    </m:s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𝒇</m:t>
                        </m:r>
                      </m:e>
                      <m:sub>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𝒎</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𝟏</m:t>
                            </m:r>
                          </m:sub>
                        </m:sSub>
                      </m:sub>
                    </m:s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𝒇</m:t>
                        </m:r>
                      </m:e>
                      <m:sub>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𝒎</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𝟐</m:t>
                            </m:r>
                          </m:sub>
                        </m:sSub>
                      </m:sub>
                    </m:s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 </m:t>
                    </m:r>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𝒇</m:t>
                        </m:r>
                      </m:e>
                      <m:sub>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𝒎</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𝒏</m:t>
                            </m:r>
                          </m:sub>
                        </m:sSub>
                      </m:sub>
                    </m:sSub>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，这里</a:t>
                </a:r>
                <a14:m>
                  <m:oMath xmlns:m="http://schemas.openxmlformats.org/officeDocument/2006/math">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𝒇</m:t>
                        </m:r>
                      </m:e>
                      <m:sub>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𝒎</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𝒋</m:t>
                            </m:r>
                          </m:sub>
                        </m:sSub>
                      </m:sub>
                    </m:sSub>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表示第</a:t>
                </a:r>
                <a14:m>
                  <m:oMath xmlns:m="http://schemas.openxmlformats.org/officeDocument/2006/math">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名男性所喜欢单身女性中排在第</a:t>
                </a:r>
                <a14:m>
                  <m:oMath xmlns:m="http://schemas.openxmlformats.org/officeDocument/2006/math">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𝒋</m:t>
                    </m:r>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位的单身女性，同理对于任意一名单身女性</a:t>
                </a:r>
                <a14:m>
                  <m:oMath xmlns:m="http://schemas.openxmlformats.org/officeDocument/2006/math">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𝒇</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sub>
                    </m:sSub>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也有其爱慕的单身男性顺序</a:t>
                </a:r>
                <a14:m>
                  <m:oMath xmlns:m="http://schemas.openxmlformats.org/officeDocument/2006/math">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𝒔</m:t>
                        </m:r>
                      </m:e>
                      <m:sub>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𝒇</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sub>
                        </m:sSub>
                      </m:sub>
                    </m:s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𝒎</m:t>
                        </m:r>
                      </m:e>
                      <m:sub>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𝒇</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𝟏</m:t>
                            </m:r>
                          </m:sub>
                        </m:sSub>
                      </m:sub>
                    </m:s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𝒎</m:t>
                        </m:r>
                      </m:e>
                      <m:sub>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𝒇</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𝟐</m:t>
                            </m:r>
                          </m:sub>
                        </m:sSub>
                      </m:sub>
                    </m:s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 </m:t>
                    </m:r>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𝒎</m:t>
                        </m:r>
                      </m:e>
                      <m:sub>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𝒇</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𝒏</m:t>
                            </m:r>
                          </m:sub>
                        </m:sSub>
                      </m:sub>
                    </m:sSub>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a:t>
                </a:r>
                <a14:m>
                  <m:oMath xmlns:m="http://schemas.openxmlformats.org/officeDocument/2006/math">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𝒎</m:t>
                        </m:r>
                      </m:e>
                      <m:sub>
                        <m:sSub>
                          <m:sSubPr>
                            <m:ctrlPr>
                              <a:rPr lang="zh-CN" altLang="zh-CN" sz="16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𝒇</m:t>
                            </m:r>
                          </m:e>
                          <m:sub>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𝒋</m:t>
                            </m:r>
                          </m:sub>
                        </m:sSub>
                      </m:sub>
                    </m:sSub>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表示第</a:t>
                </a:r>
                <a14:m>
                  <m:oMath xmlns:m="http://schemas.openxmlformats.org/officeDocument/2006/math">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𝒊</m:t>
                    </m:r>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名女性所喜欢单身男性中排在第</a:t>
                </a:r>
                <a14:m>
                  <m:oMath xmlns:m="http://schemas.openxmlformats.org/officeDocument/2006/math">
                    <m:r>
                      <a:rPr lang="en-US" altLang="zh-CN" sz="1600" b="1" i="1" kern="100">
                        <a:effectLst/>
                        <a:latin typeface="Cambria Math" panose="02040503050406030204" pitchFamily="18" charset="0"/>
                        <a:ea typeface="华文楷体" panose="02010600040101010101" pitchFamily="2" charset="-122"/>
                        <a:cs typeface="Times New Roman" panose="02020603050405020304" pitchFamily="18" charset="0"/>
                      </a:rPr>
                      <m:t>𝒋</m:t>
                    </m:r>
                  </m:oMath>
                </a14:m>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位的单身男性。</a:t>
                </a:r>
                <a:r>
                  <a:rPr lang="zh-CN" altLang="zh-CN" sz="16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算法的最终目标是为这</a:t>
                </a:r>
                <a14:m>
                  <m:oMath xmlns:m="http://schemas.openxmlformats.org/officeDocument/2006/math">
                    <m:r>
                      <a:rPr lang="en-US" altLang="zh-CN" sz="1600" b="1"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𝟐</m:t>
                    </m:r>
                    <m:r>
                      <a:rPr lang="en-US" altLang="zh-CN" sz="1600" b="1"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𝒏</m:t>
                    </m:r>
                  </m:oMath>
                </a14:m>
                <a:r>
                  <a:rPr lang="zh-CN" altLang="zh-CN" sz="16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个男士和女士匹配得到</a:t>
                </a:r>
                <a14:m>
                  <m:oMath xmlns:m="http://schemas.openxmlformats.org/officeDocument/2006/math">
                    <m:r>
                      <a:rPr lang="en-US" altLang="zh-CN" sz="1600" b="1"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𝒏</m:t>
                    </m:r>
                  </m:oMath>
                </a14:m>
                <a:r>
                  <a:rPr lang="zh-CN" altLang="zh-CN" sz="16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对伴侣，每一对伴侣可以表示为</a:t>
                </a:r>
                <a14:m>
                  <m:oMath xmlns:m="http://schemas.openxmlformats.org/officeDocument/2006/math">
                    <m:r>
                      <a:rPr lang="en-US" altLang="zh-CN" sz="1600" b="1"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b="1"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𝒎</m:t>
                        </m:r>
                      </m:e>
                      <m:sub>
                        <m:r>
                          <a:rPr lang="en-US" altLang="zh-CN" sz="1600" b="1"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𝒊</m:t>
                        </m:r>
                      </m:sub>
                    </m:sSub>
                    <m:r>
                      <a:rPr lang="en-US" altLang="zh-CN" sz="1600" b="1"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 </m:t>
                    </m:r>
                    <m:sSub>
                      <m:sSubPr>
                        <m:ctrlPr>
                          <a:rPr lang="zh-CN" altLang="zh-CN" sz="1600" b="1"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𝒇</m:t>
                        </m:r>
                      </m:e>
                      <m:sub>
                        <m:r>
                          <a:rPr lang="en-US" altLang="zh-CN" sz="1600" b="1"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𝒋</m:t>
                        </m:r>
                      </m:sub>
                    </m:sSub>
                    <m:r>
                      <a:rPr lang="en-US" altLang="zh-CN" sz="1600" b="1" i="1" kern="10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6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AA35866B-B6FD-4062-A265-EB63B6DB0336}"/>
                  </a:ext>
                </a:extLst>
              </p:cNvPr>
              <p:cNvSpPr txBox="1">
                <a:spLocks noRot="1" noChangeAspect="1" noMove="1" noResize="1" noEditPoints="1" noAdjustHandles="1" noChangeArrowheads="1" noChangeShapeType="1" noTextEdit="1"/>
              </p:cNvSpPr>
              <p:nvPr/>
            </p:nvSpPr>
            <p:spPr>
              <a:xfrm>
                <a:off x="1022042" y="3480069"/>
                <a:ext cx="10652665" cy="2453749"/>
              </a:xfrm>
              <a:prstGeom prst="rect">
                <a:avLst/>
              </a:prstGeom>
              <a:blipFill>
                <a:blip r:embed="rId3"/>
                <a:stretch>
                  <a:fillRect l="-343" r="-286" b="-1990"/>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2C8B6524-6C87-4E75-A24A-632DCECC92B6}"/>
              </a:ext>
            </a:extLst>
          </p:cNvPr>
          <p:cNvSpPr txBox="1"/>
          <p:nvPr/>
        </p:nvSpPr>
        <p:spPr>
          <a:xfrm>
            <a:off x="1936653" y="2759645"/>
            <a:ext cx="9317501" cy="461665"/>
          </a:xfrm>
          <a:prstGeom prst="rect">
            <a:avLst/>
          </a:prstGeom>
          <a:noFill/>
        </p:spPr>
        <p:txBody>
          <a:bodyPr wrap="square">
            <a:spAutoFit/>
          </a:bodyPr>
          <a:lstStyle/>
          <a:p>
            <a:r>
              <a:rPr lang="zh-CN" altLang="zh-CN" sz="2400" b="1" kern="100" dirty="0">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稳定婚姻问题</a:t>
            </a:r>
            <a:r>
              <a:rPr lang="zh-CN" altLang="zh-CN" sz="2400" kern="100" dirty="0">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kern="100" dirty="0">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stable marriage problem</a:t>
            </a:r>
            <a:r>
              <a:rPr lang="zh-CN" altLang="zh-CN" sz="2400" kern="100" dirty="0">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kern="100" dirty="0">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：典型的双匹配问题</a:t>
            </a:r>
            <a:endParaRPr lang="zh-CN" altLang="en-US" sz="2400" dirty="0">
              <a:solidFill>
                <a:schemeClr val="tx2"/>
              </a:solidFill>
            </a:endParaRPr>
          </a:p>
        </p:txBody>
      </p:sp>
    </p:spTree>
    <p:extLst>
      <p:ext uri="{BB962C8B-B14F-4D97-AF65-F5344CB8AC3E}">
        <p14:creationId xmlns:p14="http://schemas.microsoft.com/office/powerpoint/2010/main" val="3750907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E8FEEFEB-E2D7-4565-8532-8B158A282E6F}"/>
              </a:ext>
            </a:extLst>
          </p:cNvPr>
          <p:cNvPicPr>
            <a:picLocks noChangeAspect="1"/>
          </p:cNvPicPr>
          <p:nvPr/>
        </p:nvPicPr>
        <p:blipFill>
          <a:blip r:embed="rId3"/>
          <a:stretch>
            <a:fillRect/>
          </a:stretch>
        </p:blipFill>
        <p:spPr>
          <a:xfrm>
            <a:off x="6096000" y="2521666"/>
            <a:ext cx="6096000" cy="2490616"/>
          </a:xfrm>
          <a:prstGeom prst="rect">
            <a:avLst/>
          </a:prstGeom>
        </p:spPr>
      </p:pic>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博弈规则设计：双边匹配问题</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三、博弈规则设计</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EC902D1-71E6-4924-A630-E024C05EC53F}"/>
                  </a:ext>
                </a:extLst>
              </p:cNvPr>
              <p:cNvSpPr txBox="1"/>
              <p:nvPr/>
            </p:nvSpPr>
            <p:spPr>
              <a:xfrm>
                <a:off x="1443739" y="1437902"/>
                <a:ext cx="10001891" cy="923330"/>
              </a:xfrm>
              <a:prstGeom prst="rect">
                <a:avLst/>
              </a:prstGeom>
              <a:noFill/>
            </p:spPr>
            <p:txBody>
              <a:bodyPr wrap="square">
                <a:spAutoFit/>
              </a:bodyPr>
              <a:lstStyle/>
              <a:p>
                <a:pPr algn="ctr"/>
                <a:r>
                  <a:rPr lang="zh-CN" altLang="zh-CN" sz="1800" b="1" dirty="0">
                    <a:effectLst/>
                    <a:latin typeface="Times New Roman" panose="02020603050405020304" pitchFamily="18" charset="0"/>
                    <a:ea typeface="华文楷体" panose="02010600040101010101" pitchFamily="2" charset="-122"/>
                    <a:cs typeface="Times New Roman" panose="02020603050405020304" pitchFamily="18" charset="0"/>
                  </a:rPr>
                  <a:t>假设有</a:t>
                </a:r>
                <a:r>
                  <a:rPr lang="en-US" altLang="zh-CN" sz="1800" b="1" dirty="0">
                    <a:effectLst/>
                    <a:latin typeface="Times New Roman" panose="02020603050405020304" pitchFamily="18" charset="0"/>
                    <a:ea typeface="华文楷体" panose="02010600040101010101" pitchFamily="2" charset="-122"/>
                  </a:rPr>
                  <a:t>4</a:t>
                </a:r>
                <a:r>
                  <a:rPr lang="zh-CN" altLang="zh-CN" sz="1800" b="1" dirty="0">
                    <a:effectLst/>
                    <a:latin typeface="Times New Roman" panose="02020603050405020304" pitchFamily="18" charset="0"/>
                    <a:ea typeface="华文楷体" panose="02010600040101010101" pitchFamily="2" charset="-122"/>
                    <a:cs typeface="Times New Roman" panose="02020603050405020304" pitchFamily="18" charset="0"/>
                  </a:rPr>
                  <a:t>名单身男性</a:t>
                </a:r>
                <a14:m>
                  <m:oMath xmlns:m="http://schemas.openxmlformats.org/officeDocument/2006/math">
                    <m:r>
                      <a:rPr lang="en-US" altLang="zh-CN" sz="1800" b="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b="1" i="1">
                        <a:effectLst/>
                        <a:latin typeface="Cambria Math" panose="02040503050406030204" pitchFamily="18" charset="0"/>
                        <a:ea typeface="华文楷体" panose="02010600040101010101" pitchFamily="2" charset="-122"/>
                        <a:cs typeface="Times New Roman" panose="02020603050405020304" pitchFamily="18" charset="0"/>
                      </a:rPr>
                      <m:t>𝟏</m:t>
                    </m:r>
                    <m:r>
                      <a:rPr lang="en-US" altLang="zh-CN" sz="1800" b="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b="1" i="1">
                        <a:effectLst/>
                        <a:latin typeface="Cambria Math" panose="02040503050406030204" pitchFamily="18" charset="0"/>
                        <a:ea typeface="华文楷体" panose="02010600040101010101" pitchFamily="2" charset="-122"/>
                        <a:cs typeface="Times New Roman" panose="02020603050405020304" pitchFamily="18" charset="0"/>
                      </a:rPr>
                      <m:t>𝟐</m:t>
                    </m:r>
                    <m:r>
                      <a:rPr lang="en-US" altLang="zh-CN" sz="1800" b="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b="1" i="1">
                        <a:effectLst/>
                        <a:latin typeface="Cambria Math" panose="02040503050406030204" pitchFamily="18" charset="0"/>
                        <a:ea typeface="华文楷体" panose="02010600040101010101" pitchFamily="2" charset="-122"/>
                        <a:cs typeface="Times New Roman" panose="02020603050405020304" pitchFamily="18" charset="0"/>
                      </a:rPr>
                      <m:t>𝟑</m:t>
                    </m:r>
                    <m:r>
                      <a:rPr lang="en-US" altLang="zh-CN" sz="1800" b="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b="1" i="1">
                        <a:effectLst/>
                        <a:latin typeface="Cambria Math" panose="02040503050406030204" pitchFamily="18" charset="0"/>
                        <a:ea typeface="华文楷体" panose="02010600040101010101" pitchFamily="2" charset="-122"/>
                        <a:cs typeface="Times New Roman" panose="02020603050405020304" pitchFamily="18" charset="0"/>
                      </a:rPr>
                      <m:t>𝟒</m:t>
                    </m:r>
                    <m:r>
                      <a:rPr lang="en-US" altLang="zh-CN" sz="1800" b="1">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800" b="1" dirty="0">
                    <a:effectLst/>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1800" b="1" dirty="0">
                    <a:effectLst/>
                    <a:latin typeface="Times New Roman" panose="02020603050405020304" pitchFamily="18" charset="0"/>
                    <a:ea typeface="华文楷体" panose="02010600040101010101" pitchFamily="2" charset="-122"/>
                  </a:rPr>
                  <a:t>4</a:t>
                </a:r>
                <a:r>
                  <a:rPr lang="zh-CN" altLang="zh-CN" sz="1800" b="1" dirty="0">
                    <a:effectLst/>
                    <a:latin typeface="Times New Roman" panose="02020603050405020304" pitchFamily="18" charset="0"/>
                    <a:ea typeface="华文楷体" panose="02010600040101010101" pitchFamily="2" charset="-122"/>
                    <a:cs typeface="Times New Roman" panose="02020603050405020304" pitchFamily="18" charset="0"/>
                  </a:rPr>
                  <a:t>名单身女性</a:t>
                </a:r>
                <a14:m>
                  <m:oMath xmlns:m="http://schemas.openxmlformats.org/officeDocument/2006/math">
                    <m:r>
                      <a:rPr lang="en-US" altLang="zh-CN" sz="1800" b="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b="1" i="1">
                        <a:effectLst/>
                        <a:latin typeface="Cambria Math" panose="02040503050406030204" pitchFamily="18" charset="0"/>
                        <a:ea typeface="华文楷体" panose="02010600040101010101" pitchFamily="2" charset="-122"/>
                        <a:cs typeface="Times New Roman" panose="02020603050405020304" pitchFamily="18" charset="0"/>
                      </a:rPr>
                      <m:t>𝑨</m:t>
                    </m:r>
                    <m:r>
                      <a:rPr lang="en-US" altLang="zh-CN" sz="1800" b="1" i="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b="1" i="1">
                        <a:effectLst/>
                        <a:latin typeface="Cambria Math" panose="02040503050406030204" pitchFamily="18" charset="0"/>
                        <a:ea typeface="华文楷体" panose="02010600040101010101" pitchFamily="2" charset="-122"/>
                        <a:cs typeface="Times New Roman" panose="02020603050405020304" pitchFamily="18" charset="0"/>
                      </a:rPr>
                      <m:t>𝑩</m:t>
                    </m:r>
                    <m:r>
                      <a:rPr lang="en-US" altLang="zh-CN" sz="1800" b="1" i="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b="1" i="1">
                        <a:effectLst/>
                        <a:latin typeface="Cambria Math" panose="02040503050406030204" pitchFamily="18" charset="0"/>
                        <a:ea typeface="华文楷体" panose="02010600040101010101" pitchFamily="2" charset="-122"/>
                        <a:cs typeface="Times New Roman" panose="02020603050405020304" pitchFamily="18" charset="0"/>
                      </a:rPr>
                      <m:t>𝑪</m:t>
                    </m:r>
                    <m:r>
                      <a:rPr lang="en-US" altLang="zh-CN" sz="1800" b="1" i="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b="1" i="1">
                        <a:effectLst/>
                        <a:latin typeface="Cambria Math" panose="02040503050406030204" pitchFamily="18" charset="0"/>
                        <a:ea typeface="华文楷体" panose="02010600040101010101" pitchFamily="2" charset="-122"/>
                        <a:cs typeface="Times New Roman" panose="02020603050405020304" pitchFamily="18" charset="0"/>
                      </a:rPr>
                      <m:t>𝑫</m:t>
                    </m:r>
                    <m:r>
                      <a:rPr lang="en-US" altLang="zh-CN" sz="1800" b="1">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800" b="1" dirty="0">
                    <a:effectLst/>
                    <a:latin typeface="Times New Roman" panose="02020603050405020304" pitchFamily="18" charset="0"/>
                    <a:ea typeface="华文楷体" panose="02010600040101010101" pitchFamily="2" charset="-122"/>
                    <a:cs typeface="Times New Roman" panose="02020603050405020304" pitchFamily="18" charset="0"/>
                  </a:rPr>
                  <a:t>，他（她）们的</a:t>
                </a:r>
                <a:r>
                  <a:rPr lang="zh-CN" altLang="en-US" sz="1800" b="1"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b="1" dirty="0">
                    <a:effectLst/>
                    <a:latin typeface="Times New Roman" panose="02020603050405020304" pitchFamily="18" charset="0"/>
                    <a:ea typeface="华文楷体" panose="02010600040101010101" pitchFamily="2" charset="-122"/>
                    <a:cs typeface="Times New Roman" panose="02020603050405020304" pitchFamily="18" charset="0"/>
                  </a:rPr>
                  <a:t>爱慕序列如表</a:t>
                </a:r>
                <a:r>
                  <a:rPr lang="en-US" altLang="zh-CN" b="1" dirty="0">
                    <a:latin typeface="Times New Roman" panose="02020603050405020304" pitchFamily="18" charset="0"/>
                    <a:ea typeface="华文楷体" panose="02010600040101010101" pitchFamily="2" charset="-122"/>
                  </a:rPr>
                  <a:t>7</a:t>
                </a:r>
                <a:r>
                  <a:rPr lang="en-US" altLang="zh-CN" sz="1800" b="1" dirty="0">
                    <a:effectLst/>
                    <a:latin typeface="Times New Roman" panose="02020603050405020304" pitchFamily="18" charset="0"/>
                    <a:ea typeface="华文楷体" panose="02010600040101010101" pitchFamily="2" charset="-122"/>
                  </a:rPr>
                  <a:t>.10</a:t>
                </a:r>
                <a:r>
                  <a:rPr lang="zh-CN" altLang="zh-CN" sz="1800" b="1" dirty="0">
                    <a:effectLst/>
                    <a:latin typeface="Times New Roman" panose="02020603050405020304" pitchFamily="18" charset="0"/>
                    <a:ea typeface="华文楷体" panose="02010600040101010101" pitchFamily="2" charset="-122"/>
                    <a:cs typeface="Times New Roman" panose="02020603050405020304" pitchFamily="18" charset="0"/>
                  </a:rPr>
                  <a:t>所示</a:t>
                </a:r>
                <a:r>
                  <a:rPr lang="zh-CN" altLang="en-US" sz="1800" b="1" dirty="0">
                    <a:effectLst/>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800" b="1" dirty="0">
                  <a:effectLst/>
                  <a:latin typeface="Times New Roman" panose="02020603050405020304" pitchFamily="18" charset="0"/>
                  <a:ea typeface="华文楷体" panose="02010600040101010101" pitchFamily="2" charset="-122"/>
                  <a:cs typeface="Times New Roman" panose="02020603050405020304" pitchFamily="18" charset="0"/>
                </a:endParaRPr>
              </a:p>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一种最简单的方法是“修补”策略，即先随机配对，再对不稳定的匹配重新匹配，直到都稳定了。但这种方式容易陷入死循环。</a:t>
                </a:r>
                <a:endParaRPr lang="zh-CN" altLang="en-US" b="1" dirty="0"/>
              </a:p>
            </p:txBody>
          </p:sp>
        </mc:Choice>
        <mc:Fallback xmlns="">
          <p:sp>
            <p:nvSpPr>
              <p:cNvPr id="12" name="文本框 11">
                <a:extLst>
                  <a:ext uri="{FF2B5EF4-FFF2-40B4-BE49-F238E27FC236}">
                    <a16:creationId xmlns:a16="http://schemas.microsoft.com/office/drawing/2014/main" id="{EEC902D1-71E6-4924-A630-E024C05EC53F}"/>
                  </a:ext>
                </a:extLst>
              </p:cNvPr>
              <p:cNvSpPr txBox="1">
                <a:spLocks noRot="1" noChangeAspect="1" noMove="1" noResize="1" noEditPoints="1" noAdjustHandles="1" noChangeArrowheads="1" noChangeShapeType="1" noTextEdit="1"/>
              </p:cNvSpPr>
              <p:nvPr/>
            </p:nvSpPr>
            <p:spPr>
              <a:xfrm>
                <a:off x="1443739" y="1437902"/>
                <a:ext cx="10001891" cy="923330"/>
              </a:xfrm>
              <a:prstGeom prst="rect">
                <a:avLst/>
              </a:prstGeom>
              <a:blipFill>
                <a:blip r:embed="rId4"/>
                <a:stretch>
                  <a:fillRect l="-609" t="-4636" r="-488" b="-10596"/>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DFCFEF56-9F3F-44A3-8300-4DF67AFF656A}"/>
              </a:ext>
            </a:extLst>
          </p:cNvPr>
          <p:cNvPicPr>
            <a:picLocks noChangeAspect="1"/>
          </p:cNvPicPr>
          <p:nvPr/>
        </p:nvPicPr>
        <p:blipFill>
          <a:blip r:embed="rId5"/>
          <a:stretch>
            <a:fillRect/>
          </a:stretch>
        </p:blipFill>
        <p:spPr>
          <a:xfrm>
            <a:off x="0" y="2286222"/>
            <a:ext cx="6264418" cy="2784780"/>
          </a:xfrm>
          <a:prstGeom prst="rect">
            <a:avLst/>
          </a:prstGeom>
        </p:spPr>
      </p:pic>
      <p:sp>
        <p:nvSpPr>
          <p:cNvPr id="2" name="椭圆 1">
            <a:extLst>
              <a:ext uri="{FF2B5EF4-FFF2-40B4-BE49-F238E27FC236}">
                <a16:creationId xmlns:a16="http://schemas.microsoft.com/office/drawing/2014/main" id="{E6118EFD-1B92-D545-DDE4-F926F8E1643F}"/>
              </a:ext>
            </a:extLst>
          </p:cNvPr>
          <p:cNvSpPr/>
          <p:nvPr/>
        </p:nvSpPr>
        <p:spPr>
          <a:xfrm>
            <a:off x="6992820" y="3619892"/>
            <a:ext cx="596700" cy="863599"/>
          </a:xfrm>
          <a:prstGeom prst="ellipse">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2086BA67-1036-F679-1D1D-49969440A1EE}"/>
              </a:ext>
            </a:extLst>
          </p:cNvPr>
          <p:cNvSpPr txBox="1"/>
          <p:nvPr/>
        </p:nvSpPr>
        <p:spPr>
          <a:xfrm>
            <a:off x="3860800" y="5228334"/>
            <a:ext cx="6756400" cy="1200329"/>
          </a:xfrm>
          <a:prstGeom prst="rect">
            <a:avLst/>
          </a:prstGeom>
          <a:noFill/>
        </p:spPr>
        <p:txBody>
          <a:bodyPr wrap="square" rtlCol="0">
            <a:spAutoFit/>
          </a:bodyPr>
          <a:lstStyle/>
          <a:p>
            <a:r>
              <a:rPr lang="zh-CN" altLang="en-US" dirty="0"/>
              <a:t>对于男性</a:t>
            </a:r>
            <a:r>
              <a:rPr lang="en-US" altLang="zh-CN" dirty="0"/>
              <a:t>2</a:t>
            </a:r>
            <a:r>
              <a:rPr lang="zh-CN" altLang="en-US" dirty="0"/>
              <a:t>而言，相比于女性</a:t>
            </a:r>
            <a:r>
              <a:rPr lang="en-US" altLang="zh-CN" dirty="0"/>
              <a:t>B</a:t>
            </a:r>
            <a:r>
              <a:rPr lang="zh-CN" altLang="en-US" dirty="0"/>
              <a:t>，他更喜欢女性</a:t>
            </a:r>
            <a:r>
              <a:rPr lang="en-US" altLang="zh-CN" dirty="0"/>
              <a:t>A</a:t>
            </a:r>
            <a:r>
              <a:rPr lang="zh-CN" altLang="en-US" dirty="0"/>
              <a:t>；</a:t>
            </a:r>
            <a:endParaRPr lang="en-US" altLang="zh-CN" dirty="0"/>
          </a:p>
          <a:p>
            <a:r>
              <a:rPr lang="zh-CN" altLang="en-US" dirty="0"/>
              <a:t>对于女性</a:t>
            </a:r>
            <a:r>
              <a:rPr lang="en-US" altLang="zh-CN" dirty="0"/>
              <a:t>A</a:t>
            </a:r>
            <a:r>
              <a:rPr lang="zh-CN" altLang="en-US" dirty="0"/>
              <a:t>而言，相比于男性</a:t>
            </a:r>
            <a:r>
              <a:rPr lang="en-US" altLang="zh-CN" dirty="0"/>
              <a:t>1</a:t>
            </a:r>
            <a:r>
              <a:rPr lang="zh-CN" altLang="en-US" dirty="0"/>
              <a:t>，她更喜欢男性</a:t>
            </a:r>
            <a:r>
              <a:rPr lang="en-US" altLang="zh-CN" dirty="0"/>
              <a:t>2.</a:t>
            </a:r>
          </a:p>
          <a:p>
            <a:r>
              <a:rPr lang="zh-CN" altLang="en-US" dirty="0"/>
              <a:t>因此（</a:t>
            </a:r>
            <a:r>
              <a:rPr lang="en-US" altLang="zh-CN" dirty="0"/>
              <a:t>1</a:t>
            </a:r>
            <a:r>
              <a:rPr lang="zh-CN" altLang="en-US" dirty="0"/>
              <a:t>，</a:t>
            </a:r>
            <a:r>
              <a:rPr lang="en-US" altLang="zh-CN" dirty="0"/>
              <a:t>A</a:t>
            </a:r>
            <a:r>
              <a:rPr lang="zh-CN" altLang="en-US" dirty="0"/>
              <a:t>），（</a:t>
            </a:r>
            <a:r>
              <a:rPr lang="en-US" altLang="zh-CN" dirty="0"/>
              <a:t>2</a:t>
            </a:r>
            <a:r>
              <a:rPr lang="zh-CN" altLang="en-US" dirty="0"/>
              <a:t>，</a:t>
            </a:r>
            <a:r>
              <a:rPr lang="en-US" altLang="zh-CN" dirty="0"/>
              <a:t>B</a:t>
            </a:r>
            <a:r>
              <a:rPr lang="zh-CN" altLang="en-US" dirty="0"/>
              <a:t>）不是稳定的匹配，因为男性</a:t>
            </a:r>
            <a:r>
              <a:rPr lang="en-US" altLang="zh-CN" dirty="0"/>
              <a:t>2</a:t>
            </a:r>
            <a:r>
              <a:rPr lang="zh-CN" altLang="en-US" dirty="0"/>
              <a:t>和女性</a:t>
            </a:r>
            <a:r>
              <a:rPr lang="en-US" altLang="zh-CN" dirty="0"/>
              <a:t>A</a:t>
            </a:r>
            <a:r>
              <a:rPr lang="zh-CN" altLang="en-US" dirty="0"/>
              <a:t>更加相互喜欢一些，会选择其更希望的匹配。</a:t>
            </a:r>
          </a:p>
        </p:txBody>
      </p:sp>
      <p:cxnSp>
        <p:nvCxnSpPr>
          <p:cNvPr id="11" name="直接箭头连接符 10">
            <a:extLst>
              <a:ext uri="{FF2B5EF4-FFF2-40B4-BE49-F238E27FC236}">
                <a16:creationId xmlns:a16="http://schemas.microsoft.com/office/drawing/2014/main" id="{4C7CE679-7D2E-BAC4-84E1-4AB0F923F5BF}"/>
              </a:ext>
            </a:extLst>
          </p:cNvPr>
          <p:cNvCxnSpPr>
            <a:stCxn id="2" idx="4"/>
            <a:endCxn id="9" idx="0"/>
          </p:cNvCxnSpPr>
          <p:nvPr/>
        </p:nvCxnSpPr>
        <p:spPr>
          <a:xfrm flipH="1">
            <a:off x="7239000" y="4483491"/>
            <a:ext cx="52170" cy="74484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7352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博弈规则设计：双边匹配问题</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三、博弈规则设计</a:t>
            </a:r>
            <a:endParaRPr lang="zh-CN" altLang="en-US" sz="1600" dirty="0">
              <a:solidFill>
                <a:srgbClr val="000000"/>
              </a:solidFill>
              <a:latin typeface="Times New Roman" panose="02020603050405020304" pitchFamily="18" charset="0"/>
            </a:endParaRPr>
          </a:p>
        </p:txBody>
      </p:sp>
      <p:sp>
        <p:nvSpPr>
          <p:cNvPr id="10" name="文本框 9">
            <a:extLst>
              <a:ext uri="{FF2B5EF4-FFF2-40B4-BE49-F238E27FC236}">
                <a16:creationId xmlns:a16="http://schemas.microsoft.com/office/drawing/2014/main" id="{E01320FE-8FFD-41A9-8375-335DDA7F12C1}"/>
              </a:ext>
            </a:extLst>
          </p:cNvPr>
          <p:cNvSpPr txBox="1"/>
          <p:nvPr/>
        </p:nvSpPr>
        <p:spPr>
          <a:xfrm>
            <a:off x="264327" y="1454332"/>
            <a:ext cx="7158726" cy="5341847"/>
          </a:xfrm>
          <a:prstGeom prst="rect">
            <a:avLst/>
          </a:prstGeom>
          <a:noFill/>
        </p:spPr>
        <p:txBody>
          <a:bodyPr wrap="square">
            <a:spAutoFit/>
          </a:bodyPr>
          <a:lstStyle/>
          <a:p>
            <a:pPr algn="just">
              <a:lnSpc>
                <a:spcPct val="200000"/>
              </a:lnSpc>
            </a:pPr>
            <a:r>
              <a:rPr lang="en-US"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1962</a:t>
            </a:r>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年，美国数学家大卫</a:t>
            </a:r>
            <a:r>
              <a:rPr lang="en-US"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盖尔和博弈论学家沙普利提出了针对双边稳定匹配问题的解决算法（也被称为</a:t>
            </a:r>
            <a:r>
              <a:rPr lang="en-US"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Gale-Shapely</a:t>
            </a:r>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算法或</a:t>
            </a:r>
            <a:r>
              <a:rPr lang="en-US"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G-S</a:t>
            </a:r>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算法），并将其应用于稳定婚姻问题的求解</a:t>
            </a:r>
            <a:r>
              <a:rPr lang="en-US"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[Gale 1962]</a:t>
            </a:r>
            <a:r>
              <a:rPr lang="zh-CN"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rPr>
              <a:t>，算法过程如下：</a:t>
            </a:r>
            <a:endParaRPr lang="en-US" altLang="zh-CN" sz="1600" b="1" kern="100" dirty="0">
              <a:effectLst/>
              <a:latin typeface="Times New Roman" panose="02020603050405020304" pitchFamily="18" charset="0"/>
              <a:ea typeface="华文楷体" panose="02010600040101010101" pitchFamily="2" charset="-122"/>
              <a:cs typeface="Times New Roman" panose="02020603050405020304" pitchFamily="18" charset="0"/>
            </a:endParaRPr>
          </a:p>
          <a:p>
            <a:pPr marL="742950" lvl="1" indent="-285750" algn="just">
              <a:lnSpc>
                <a:spcPct val="200000"/>
              </a:lnSpc>
              <a:buFont typeface="+mj-lt"/>
              <a:buAutoNum type="arabicParenR"/>
              <a:tabLst>
                <a:tab pos="498475" algn="l"/>
              </a:tabLst>
            </a:pPr>
            <a:r>
              <a:rPr lang="zh-CN" altLang="zh-CN" sz="1600" b="1" kern="100" dirty="0">
                <a:solidFill>
                  <a:srgbClr val="4F80BD"/>
                </a:solidFill>
                <a:effectLst/>
                <a:latin typeface="Times New Roman" panose="02020603050405020304" pitchFamily="18" charset="0"/>
                <a:ea typeface="华文楷体" panose="02010600040101010101" pitchFamily="2" charset="-122"/>
                <a:cs typeface="Times New Roman" panose="02020603050405020304" pitchFamily="18" charset="0"/>
              </a:rPr>
              <a:t>单身男性向</a:t>
            </a:r>
            <a:r>
              <a:rPr lang="zh-CN" altLang="zh-CN" sz="16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最喜欢的女性</a:t>
            </a:r>
            <a:r>
              <a:rPr lang="zh-CN" altLang="zh-CN" sz="1600" b="1" kern="100" dirty="0">
                <a:solidFill>
                  <a:srgbClr val="4F80BD"/>
                </a:solidFill>
                <a:effectLst/>
                <a:latin typeface="Times New Roman" panose="02020603050405020304" pitchFamily="18" charset="0"/>
                <a:ea typeface="华文楷体" panose="02010600040101010101" pitchFamily="2" charset="-122"/>
                <a:cs typeface="Times New Roman" panose="02020603050405020304" pitchFamily="18" charset="0"/>
              </a:rPr>
              <a:t>表白</a:t>
            </a:r>
          </a:p>
          <a:p>
            <a:pPr marL="742950" lvl="1" indent="-285750" algn="just">
              <a:lnSpc>
                <a:spcPct val="200000"/>
              </a:lnSpc>
              <a:buFont typeface="+mj-lt"/>
              <a:buAutoNum type="arabicParenR"/>
              <a:tabLst>
                <a:tab pos="498475" algn="l"/>
              </a:tabLst>
            </a:pPr>
            <a:r>
              <a:rPr lang="zh-CN" altLang="zh-CN" sz="1600" b="1" kern="100" dirty="0">
                <a:solidFill>
                  <a:srgbClr val="4F80BD"/>
                </a:solidFill>
                <a:latin typeface="Times New Roman" panose="02020603050405020304" pitchFamily="18" charset="0"/>
                <a:ea typeface="华文楷体" panose="02010600040101010101" pitchFamily="2" charset="-122"/>
                <a:cs typeface="Times New Roman" panose="02020603050405020304" pitchFamily="18" charset="0"/>
              </a:rPr>
              <a:t>所有收到表白的女性从向其表白男性中选择</a:t>
            </a:r>
            <a:r>
              <a:rPr lang="zh-CN" altLang="zh-CN" sz="1600" b="1"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最喜欢的男性</a:t>
            </a:r>
            <a:r>
              <a:rPr lang="zh-CN" altLang="zh-CN" sz="1600" b="1" kern="100" dirty="0">
                <a:solidFill>
                  <a:srgbClr val="4F80BD"/>
                </a:solidFill>
                <a:latin typeface="Times New Roman" panose="02020603050405020304" pitchFamily="18" charset="0"/>
                <a:ea typeface="华文楷体" panose="02010600040101010101" pitchFamily="2" charset="-122"/>
                <a:cs typeface="Times New Roman" panose="02020603050405020304" pitchFamily="18" charset="0"/>
              </a:rPr>
              <a:t>，暂时匹配</a:t>
            </a:r>
          </a:p>
          <a:p>
            <a:pPr marL="742950" lvl="1" indent="-285750" algn="just">
              <a:lnSpc>
                <a:spcPct val="200000"/>
              </a:lnSpc>
              <a:buFont typeface="+mj-lt"/>
              <a:buAutoNum type="arabicParenR"/>
              <a:tabLst>
                <a:tab pos="498475" algn="l"/>
              </a:tabLst>
            </a:pPr>
            <a:r>
              <a:rPr lang="zh-CN" altLang="zh-CN" sz="1600" b="1" kern="100" dirty="0">
                <a:solidFill>
                  <a:srgbClr val="4F80BD"/>
                </a:solidFill>
                <a:latin typeface="Times New Roman" panose="02020603050405020304" pitchFamily="18" charset="0"/>
                <a:ea typeface="华文楷体" panose="02010600040101010101" pitchFamily="2" charset="-122"/>
                <a:cs typeface="Times New Roman" panose="02020603050405020304" pitchFamily="18" charset="0"/>
              </a:rPr>
              <a:t>未匹配的男性继续向</a:t>
            </a:r>
            <a:r>
              <a:rPr lang="zh-CN" altLang="zh-CN" sz="1600" b="1"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没有拒绝过他的女性</a:t>
            </a:r>
            <a:r>
              <a:rPr lang="zh-CN" altLang="zh-CN" sz="1600" b="1" kern="100" dirty="0">
                <a:solidFill>
                  <a:srgbClr val="4F80BD"/>
                </a:solidFill>
                <a:latin typeface="Times New Roman" panose="02020603050405020304" pitchFamily="18" charset="0"/>
                <a:ea typeface="华文楷体" panose="02010600040101010101" pitchFamily="2" charset="-122"/>
                <a:cs typeface="Times New Roman" panose="02020603050405020304" pitchFamily="18" charset="0"/>
              </a:rPr>
              <a:t>表白。收到表白的女性如果没有完成匹配，则从这一批表白者中选择最喜欢男性。即使收到表白的女性已经完成匹配，但是如果她认为有她更喜欢的男性，则可以拒绝之前的匹配者，重新匹配</a:t>
            </a:r>
          </a:p>
          <a:p>
            <a:pPr marL="742950" lvl="1" indent="-285750" algn="just">
              <a:lnSpc>
                <a:spcPct val="200000"/>
              </a:lnSpc>
              <a:buFont typeface="+mj-lt"/>
              <a:buAutoNum type="arabicParenR"/>
              <a:tabLst>
                <a:tab pos="498475" algn="l"/>
              </a:tabLst>
            </a:pPr>
            <a:r>
              <a:rPr lang="zh-CN" altLang="zh-CN" sz="1600" b="1" kern="10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如此循环迭代，直到所有人都成功匹配为止</a:t>
            </a:r>
          </a:p>
          <a:p>
            <a:pPr algn="just">
              <a:lnSpc>
                <a:spcPct val="150000"/>
              </a:lnSpc>
            </a:pPr>
            <a:endParaRPr lang="zh-CN" altLang="zh-CN" sz="1600" kern="1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2" name="图片 1">
            <a:extLst>
              <a:ext uri="{FF2B5EF4-FFF2-40B4-BE49-F238E27FC236}">
                <a16:creationId xmlns:a16="http://schemas.microsoft.com/office/drawing/2014/main" id="{7DFA26A7-604A-41FB-A8F3-5E6F8DDFB022}"/>
              </a:ext>
            </a:extLst>
          </p:cNvPr>
          <p:cNvPicPr>
            <a:picLocks noChangeAspect="1"/>
          </p:cNvPicPr>
          <p:nvPr/>
        </p:nvPicPr>
        <p:blipFill>
          <a:blip r:embed="rId3"/>
          <a:stretch>
            <a:fillRect/>
          </a:stretch>
        </p:blipFill>
        <p:spPr>
          <a:xfrm>
            <a:off x="7423053" y="3873322"/>
            <a:ext cx="4880707" cy="2665750"/>
          </a:xfrm>
          <a:prstGeom prst="rect">
            <a:avLst/>
          </a:prstGeom>
        </p:spPr>
      </p:pic>
      <p:pic>
        <p:nvPicPr>
          <p:cNvPr id="7" name="图片 6">
            <a:extLst>
              <a:ext uri="{FF2B5EF4-FFF2-40B4-BE49-F238E27FC236}">
                <a16:creationId xmlns:a16="http://schemas.microsoft.com/office/drawing/2014/main" id="{14D8AEBC-6BA8-3A16-C0B2-895AACFF6903}"/>
              </a:ext>
            </a:extLst>
          </p:cNvPr>
          <p:cNvPicPr>
            <a:picLocks noChangeAspect="1"/>
          </p:cNvPicPr>
          <p:nvPr/>
        </p:nvPicPr>
        <p:blipFill>
          <a:blip r:embed="rId4"/>
          <a:stretch>
            <a:fillRect/>
          </a:stretch>
        </p:blipFill>
        <p:spPr>
          <a:xfrm>
            <a:off x="7488657" y="1757680"/>
            <a:ext cx="4759179" cy="2115642"/>
          </a:xfrm>
          <a:prstGeom prst="rect">
            <a:avLst/>
          </a:prstGeom>
        </p:spPr>
      </p:pic>
    </p:spTree>
    <p:extLst>
      <p:ext uri="{BB962C8B-B14F-4D97-AF65-F5344CB8AC3E}">
        <p14:creationId xmlns:p14="http://schemas.microsoft.com/office/powerpoint/2010/main" val="3193618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博弈规则设计：双边匹配问题</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三、博弈规则设计</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7DFA26A7-604A-41FB-A8F3-5E6F8DDFB022}"/>
              </a:ext>
            </a:extLst>
          </p:cNvPr>
          <p:cNvPicPr>
            <a:picLocks noChangeAspect="1"/>
          </p:cNvPicPr>
          <p:nvPr/>
        </p:nvPicPr>
        <p:blipFill>
          <a:blip r:embed="rId3"/>
          <a:stretch>
            <a:fillRect/>
          </a:stretch>
        </p:blipFill>
        <p:spPr>
          <a:xfrm>
            <a:off x="6921305" y="2265680"/>
            <a:ext cx="5299180" cy="2894312"/>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C410E69C-EC68-4BF4-9BD4-34B5E68A68DA}"/>
                  </a:ext>
                </a:extLst>
              </p:cNvPr>
              <p:cNvSpPr/>
              <p:nvPr/>
            </p:nvSpPr>
            <p:spPr>
              <a:xfrm>
                <a:off x="356381" y="2084016"/>
                <a:ext cx="6564924" cy="3883114"/>
              </a:xfrm>
              <a:prstGeom prst="rect">
                <a:avLst/>
              </a:prstGeom>
            </p:spPr>
            <p:txBody>
              <a:bodyPr wrap="square">
                <a:spAutoFit/>
              </a:bodyPr>
              <a:lstStyle/>
              <a:p>
                <a:pPr indent="266700" algn="just">
                  <a:lnSpc>
                    <a:spcPct val="2000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在第一轮中，</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4</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名男性分别向自己最喜欢的女性告白，而收到</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人告白的女性</a:t>
                </a:r>
                <a14:m>
                  <m:oMath xmlns:m="http://schemas.openxmlformats.org/officeDocument/2006/math">
                    <m:r>
                      <a:rPr lang="en-US" altLang="zh-CN">
                        <a:solidFill>
                          <a:srgbClr val="000000"/>
                        </a:solidFill>
                        <a:latin typeface="Cambria Math" panose="02040503050406030204" pitchFamily="18" charset="0"/>
                        <a:ea typeface="楷体" panose="02010609060101010101" pitchFamily="49" charset="-122"/>
                        <a:cs typeface="Times New Roman" panose="02020603050405020304" pitchFamily="18" charset="0"/>
                      </a:rPr>
                      <m:t>𝐴</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选择了自己最喜欢的男性</a:t>
                </a:r>
                <a14:m>
                  <m:oMath xmlns:m="http://schemas.openxmlformats.org/officeDocument/2006/math">
                    <m:r>
                      <a:rPr lang="en-US" altLang="zh-CN">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，另一个收到告白的女性</a:t>
                </a:r>
                <a14:m>
                  <m:oMath xmlns:m="http://schemas.openxmlformats.org/officeDocument/2006/math">
                    <m:r>
                      <a:rPr lang="en-US" altLang="zh-CN">
                        <a:solidFill>
                          <a:srgbClr val="000000"/>
                        </a:solidFill>
                        <a:latin typeface="Cambria Math" panose="02040503050406030204" pitchFamily="18" charset="0"/>
                        <a:ea typeface="楷体" panose="02010609060101010101" pitchFamily="49" charset="-122"/>
                        <a:cs typeface="Times New Roman" panose="02020603050405020304" pitchFamily="18" charset="0"/>
                      </a:rPr>
                      <m:t>𝐵</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选择了男性</a:t>
                </a:r>
                <a14:m>
                  <m:oMath xmlns:m="http://schemas.openxmlformats.org/officeDocument/2006/math">
                    <m:r>
                      <a:rPr lang="en-US" altLang="zh-CN">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；在第二轮中，尚未匹配的男性</a:t>
                </a:r>
                <a14:m>
                  <m:oMath xmlns:m="http://schemas.openxmlformats.org/officeDocument/2006/math">
                    <m:r>
                      <a:rPr lang="en-US" altLang="zh-CN">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和男性</a:t>
                </a:r>
                <a14:m>
                  <m:oMath xmlns:m="http://schemas.openxmlformats.org/officeDocument/2006/math">
                    <m:r>
                      <a:rPr lang="en-US" altLang="zh-CN">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继续向自己第二喜欢的对象告白，收到告白的女性</a:t>
                </a:r>
                <a14:m>
                  <m:oMath xmlns:m="http://schemas.openxmlformats.org/officeDocument/2006/math">
                    <m:r>
                      <a:rPr lang="en-US" altLang="zh-CN">
                        <a:solidFill>
                          <a:srgbClr val="000000"/>
                        </a:solidFill>
                        <a:latin typeface="Cambria Math" panose="02040503050406030204" pitchFamily="18" charset="0"/>
                        <a:ea typeface="楷体" panose="02010609060101010101" pitchFamily="49" charset="-122"/>
                        <a:cs typeface="Times New Roman" panose="02020603050405020304" pitchFamily="18" charset="0"/>
                      </a:rPr>
                      <m:t>𝐵</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选择了自己更喜欢的男性</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而放弃了男性</a:t>
                </a:r>
                <a14:m>
                  <m:oMath xmlns:m="http://schemas.openxmlformats.org/officeDocument/2006/math">
                    <m:r>
                      <a:rPr lang="en-US" altLang="zh-CN">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，同理继续三轮告白和选择，所有人都找到了自己的伴侣，且所有匹配都是稳定的。可以看出，使用</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G-S</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算法得到了稳定匹配的结果。</a:t>
                </a:r>
              </a:p>
            </p:txBody>
          </p:sp>
        </mc:Choice>
        <mc:Fallback xmlns="">
          <p:sp>
            <p:nvSpPr>
              <p:cNvPr id="7" name="矩形 6">
                <a:extLst>
                  <a:ext uri="{FF2B5EF4-FFF2-40B4-BE49-F238E27FC236}">
                    <a16:creationId xmlns:a16="http://schemas.microsoft.com/office/drawing/2014/main" id="{C410E69C-EC68-4BF4-9BD4-34B5E68A68DA}"/>
                  </a:ext>
                </a:extLst>
              </p:cNvPr>
              <p:cNvSpPr>
                <a:spLocks noRot="1" noChangeAspect="1" noMove="1" noResize="1" noEditPoints="1" noAdjustHandles="1" noChangeArrowheads="1" noChangeShapeType="1" noTextEdit="1"/>
              </p:cNvSpPr>
              <p:nvPr/>
            </p:nvSpPr>
            <p:spPr>
              <a:xfrm>
                <a:off x="356381" y="2084016"/>
                <a:ext cx="6564924" cy="3883114"/>
              </a:xfrm>
              <a:prstGeom prst="rect">
                <a:avLst/>
              </a:prstGeom>
              <a:blipFill>
                <a:blip r:embed="rId4"/>
                <a:stretch>
                  <a:fillRect l="-743" r="-836" b="-172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90753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博弈规则设计：单边匹配算法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三、博弈规则设计</a:t>
            </a:r>
            <a:endParaRPr lang="zh-CN" altLang="en-US" sz="1600" dirty="0">
              <a:solidFill>
                <a:srgbClr val="000000"/>
              </a:solidFill>
              <a:latin typeface="Times New Roman" panose="02020603050405020304" pitchFamily="18" charset="0"/>
            </a:endParaRPr>
          </a:p>
        </p:txBody>
      </p:sp>
      <p:sp>
        <p:nvSpPr>
          <p:cNvPr id="9" name="文本框 8">
            <a:extLst>
              <a:ext uri="{FF2B5EF4-FFF2-40B4-BE49-F238E27FC236}">
                <a16:creationId xmlns:a16="http://schemas.microsoft.com/office/drawing/2014/main" id="{F85B7340-60D2-4E8C-8A63-6DE3A7A26A79}"/>
              </a:ext>
            </a:extLst>
          </p:cNvPr>
          <p:cNvSpPr txBox="1"/>
          <p:nvPr/>
        </p:nvSpPr>
        <p:spPr>
          <a:xfrm>
            <a:off x="553494" y="1309773"/>
            <a:ext cx="11085012" cy="881460"/>
          </a:xfrm>
          <a:prstGeom prst="rect">
            <a:avLst/>
          </a:prstGeom>
          <a:noFill/>
        </p:spPr>
        <p:txBody>
          <a:bodyPr wrap="square">
            <a:spAutoFit/>
          </a:bodyPr>
          <a:lstStyle/>
          <a:p>
            <a:pPr algn="just">
              <a:lnSpc>
                <a:spcPct val="150000"/>
              </a:lnSpc>
            </a:pPr>
            <a:r>
              <a:rPr lang="zh-CN"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在匹配问题中，除了需要双向选择的双边匹配问题，还有一种类似于以物易物方式的交换匹配问题，被称为</a:t>
            </a:r>
            <a:r>
              <a:rPr lang="zh-CN" altLang="zh-CN" b="1" kern="100" dirty="0">
                <a:solidFill>
                  <a:srgbClr val="002060"/>
                </a:solidFill>
                <a:effectLst/>
                <a:latin typeface="Times New Roman" panose="02020603050405020304" pitchFamily="18" charset="0"/>
                <a:ea typeface="华文楷体" panose="02010600040101010101" pitchFamily="2" charset="-122"/>
                <a:cs typeface="Times New Roman" panose="02020603050405020304" pitchFamily="18" charset="0"/>
              </a:rPr>
              <a:t>单边匹配问</a:t>
            </a:r>
            <a:r>
              <a:rPr lang="zh-CN" altLang="zh-CN" b="1" kern="100" dirty="0">
                <a:effectLst/>
                <a:latin typeface="Times New Roman" panose="02020603050405020304" pitchFamily="18" charset="0"/>
                <a:ea typeface="华文楷体" panose="02010600040101010101" pitchFamily="2" charset="-122"/>
                <a:cs typeface="Times New Roman" panose="02020603050405020304" pitchFamily="18" charset="0"/>
              </a:rPr>
              <a:t>题</a:t>
            </a:r>
            <a:r>
              <a:rPr lang="zh-CN" altLang="zh-CN" kern="100" dirty="0">
                <a:effectLst/>
                <a:latin typeface="Times New Roman" panose="02020603050405020304" pitchFamily="18" charset="0"/>
                <a:ea typeface="华文楷体" panose="02010600040101010101" pitchFamily="2" charset="-122"/>
                <a:cs typeface="Times New Roman" panose="02020603050405020304" pitchFamily="18" charset="0"/>
              </a:rPr>
              <a:t>，例如座位的分配。</a:t>
            </a:r>
          </a:p>
        </p:txBody>
      </p:sp>
      <p:pic>
        <p:nvPicPr>
          <p:cNvPr id="8" name="图片 7">
            <a:extLst>
              <a:ext uri="{FF2B5EF4-FFF2-40B4-BE49-F238E27FC236}">
                <a16:creationId xmlns:a16="http://schemas.microsoft.com/office/drawing/2014/main" id="{82AB477A-509F-4C86-9796-D664B70BDEE2}"/>
              </a:ext>
            </a:extLst>
          </p:cNvPr>
          <p:cNvPicPr>
            <a:picLocks noChangeAspect="1"/>
          </p:cNvPicPr>
          <p:nvPr/>
        </p:nvPicPr>
        <p:blipFill>
          <a:blip r:embed="rId3"/>
          <a:stretch>
            <a:fillRect/>
          </a:stretch>
        </p:blipFill>
        <p:spPr>
          <a:xfrm>
            <a:off x="6593535" y="2003212"/>
            <a:ext cx="5521604" cy="1992411"/>
          </a:xfrm>
          <a:prstGeom prst="rect">
            <a:avLst/>
          </a:prstGeom>
        </p:spPr>
      </p:pic>
      <p:pic>
        <p:nvPicPr>
          <p:cNvPr id="10" name="图片 9">
            <a:extLst>
              <a:ext uri="{FF2B5EF4-FFF2-40B4-BE49-F238E27FC236}">
                <a16:creationId xmlns:a16="http://schemas.microsoft.com/office/drawing/2014/main" id="{E33AC563-2901-4F23-BED0-176CC7931A52}"/>
              </a:ext>
            </a:extLst>
          </p:cNvPr>
          <p:cNvPicPr>
            <a:picLocks noChangeAspect="1"/>
          </p:cNvPicPr>
          <p:nvPr/>
        </p:nvPicPr>
        <p:blipFill>
          <a:blip r:embed="rId4"/>
          <a:stretch>
            <a:fillRect/>
          </a:stretch>
        </p:blipFill>
        <p:spPr>
          <a:xfrm>
            <a:off x="9139207" y="3974377"/>
            <a:ext cx="3004049" cy="2558742"/>
          </a:xfrm>
          <a:prstGeom prst="rect">
            <a:avLst/>
          </a:prstGeom>
        </p:spPr>
      </p:pic>
      <p:sp>
        <p:nvSpPr>
          <p:cNvPr id="11" name="矩形 10">
            <a:extLst>
              <a:ext uri="{FF2B5EF4-FFF2-40B4-BE49-F238E27FC236}">
                <a16:creationId xmlns:a16="http://schemas.microsoft.com/office/drawing/2014/main" id="{E26BEB19-49AC-4186-8C73-B541F47A052E}"/>
              </a:ext>
            </a:extLst>
          </p:cNvPr>
          <p:cNvSpPr/>
          <p:nvPr/>
        </p:nvSpPr>
        <p:spPr>
          <a:xfrm>
            <a:off x="391185" y="2335993"/>
            <a:ext cx="5880296" cy="4305025"/>
          </a:xfrm>
          <a:prstGeom prst="rect">
            <a:avLst/>
          </a:prstGeom>
        </p:spPr>
        <p:txBody>
          <a:bodyPr wrap="square">
            <a:spAutoFit/>
          </a:bodyPr>
          <a:lstStyle/>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对于这种单边匹配问题，</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1974</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年，沙普利和斯卡夫提出了针对单边匹配问题的稳定匹配算法</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最大交易圈算法（</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Top-trading cycle</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TTC</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，算法过程如下：</a:t>
            </a:r>
          </a:p>
          <a:p>
            <a:pPr marL="342900" lvl="0" indent="-342900">
              <a:lnSpc>
                <a:spcPts val="2200"/>
              </a:lnSpc>
              <a:buFont typeface="+mj-lt"/>
              <a:buAutoNum type="arabicParenR"/>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首先记录每个标的物的初始占有者，或者对物品进行随机分配。</a:t>
            </a:r>
          </a:p>
          <a:p>
            <a:pPr marL="342900" lvl="0" indent="-342900">
              <a:lnSpc>
                <a:spcPts val="2200"/>
              </a:lnSpc>
              <a:buFont typeface="+mj-lt"/>
              <a:buAutoNum type="arabicParenR"/>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每个交易者连接一条指向他最喜欢的标的物的边，并从每一个标的物连接到其占有者或是具有高优先权的交易者。</a:t>
            </a:r>
          </a:p>
          <a:p>
            <a:pPr marL="342900" lvl="0" indent="-342900">
              <a:lnSpc>
                <a:spcPts val="2200"/>
              </a:lnSpc>
              <a:buFont typeface="+mj-lt"/>
              <a:buAutoNum type="arabicParenR"/>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此时形成一张有向图，且必存在环，这种环被称为</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交易圈</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，对于交易圈中的交易者，将每人指向结点所代表的标的物赋予交易者，同时交易者放弃原先占有的标的物，占有者和匹配成功的标的物离开匹配市场。</a:t>
            </a:r>
          </a:p>
          <a:p>
            <a:pPr marL="342900" lvl="0" indent="-342900">
              <a:lnSpc>
                <a:spcPts val="2200"/>
              </a:lnSpc>
              <a:buFont typeface="+mj-lt"/>
              <a:buAutoNum type="arabicParenR"/>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接着从剩余的交易者和标的物之间重复进行交易圈匹配，直到无法形成交易圈，算法停止。</a:t>
            </a:r>
          </a:p>
        </p:txBody>
      </p:sp>
      <p:sp>
        <p:nvSpPr>
          <p:cNvPr id="2" name="矩形 1"/>
          <p:cNvSpPr/>
          <p:nvPr/>
        </p:nvSpPr>
        <p:spPr>
          <a:xfrm>
            <a:off x="6452200" y="4370728"/>
            <a:ext cx="2687007" cy="1323439"/>
          </a:xfrm>
          <a:prstGeom prst="rect">
            <a:avLst/>
          </a:prstGeom>
        </p:spPr>
        <p:txBody>
          <a:bodyPr wrap="square">
            <a:spAutoFit/>
          </a:bodyPr>
          <a:lstStyle/>
          <a:p>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假设某寝室有</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A</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B</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C</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D</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四位同学和</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1</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2</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3</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4</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四个床位，当前给</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A</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B</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C</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D</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四位同学随机分配</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4</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3</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2</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latin typeface="Times New Roman" panose="02020603050405020304" pitchFamily="18" charset="0"/>
                <a:ea typeface="等线" panose="02010600030101010101" pitchFamily="2" charset="-122"/>
                <a:cs typeface="Times New Roman" panose="02020603050405020304" pitchFamily="18" charset="0"/>
              </a:rPr>
              <a:t>1</a:t>
            </a:r>
            <a:r>
              <a:rPr lang="zh-CN" altLang="zh-CN" sz="1600" dirty="0">
                <a:latin typeface="Times New Roman" panose="02020603050405020304" pitchFamily="18" charset="0"/>
                <a:ea typeface="等线" panose="02010600030101010101" pitchFamily="2" charset="-122"/>
                <a:cs typeface="Times New Roman" panose="02020603050405020304" pitchFamily="18" charset="0"/>
              </a:rPr>
              <a:t>四个床位</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23768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博弈规则设计：单边匹配算法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三、博弈规则设计</a:t>
            </a:r>
            <a:endParaRPr lang="zh-CN" altLang="en-US" sz="1600" dirty="0">
              <a:solidFill>
                <a:srgbClr val="000000"/>
              </a:solidFill>
              <a:latin typeface="Times New Roman" panose="02020603050405020304" pitchFamily="18" charset="0"/>
            </a:endParaRPr>
          </a:p>
        </p:txBody>
      </p:sp>
      <p:pic>
        <p:nvPicPr>
          <p:cNvPr id="8" name="图片 7">
            <a:extLst>
              <a:ext uri="{FF2B5EF4-FFF2-40B4-BE49-F238E27FC236}">
                <a16:creationId xmlns:a16="http://schemas.microsoft.com/office/drawing/2014/main" id="{82AB477A-509F-4C86-9796-D664B70BDEE2}"/>
              </a:ext>
            </a:extLst>
          </p:cNvPr>
          <p:cNvPicPr>
            <a:picLocks noChangeAspect="1"/>
          </p:cNvPicPr>
          <p:nvPr/>
        </p:nvPicPr>
        <p:blipFill>
          <a:blip r:embed="rId3"/>
          <a:stretch>
            <a:fillRect/>
          </a:stretch>
        </p:blipFill>
        <p:spPr>
          <a:xfrm>
            <a:off x="73942" y="1727200"/>
            <a:ext cx="4361326" cy="2696148"/>
          </a:xfrm>
          <a:prstGeom prst="rect">
            <a:avLst/>
          </a:prstGeom>
        </p:spPr>
      </p:pic>
      <p:pic>
        <p:nvPicPr>
          <p:cNvPr id="10" name="图片 9">
            <a:extLst>
              <a:ext uri="{FF2B5EF4-FFF2-40B4-BE49-F238E27FC236}">
                <a16:creationId xmlns:a16="http://schemas.microsoft.com/office/drawing/2014/main" id="{E33AC563-2901-4F23-BED0-176CC7931A52}"/>
              </a:ext>
            </a:extLst>
          </p:cNvPr>
          <p:cNvPicPr>
            <a:picLocks noChangeAspect="1"/>
          </p:cNvPicPr>
          <p:nvPr/>
        </p:nvPicPr>
        <p:blipFill>
          <a:blip r:embed="rId4"/>
          <a:stretch>
            <a:fillRect/>
          </a:stretch>
        </p:blipFill>
        <p:spPr>
          <a:xfrm>
            <a:off x="4538824" y="1543648"/>
            <a:ext cx="3457096" cy="2944632"/>
          </a:xfrm>
          <a:prstGeom prst="rect">
            <a:avLst/>
          </a:prstGeom>
        </p:spPr>
      </p:pic>
      <p:sp>
        <p:nvSpPr>
          <p:cNvPr id="2" name="矩形 1"/>
          <p:cNvSpPr/>
          <p:nvPr/>
        </p:nvSpPr>
        <p:spPr>
          <a:xfrm>
            <a:off x="962404" y="4925665"/>
            <a:ext cx="9505973" cy="1384995"/>
          </a:xfrm>
          <a:prstGeom prst="rect">
            <a:avLst/>
          </a:prstGeom>
        </p:spPr>
        <p:txBody>
          <a:bodyPr wrap="square">
            <a:spAutoFit/>
          </a:bodyPr>
          <a:lstStyle/>
          <a:p>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假设某寝室有</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A</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B</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C</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D</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四位同学和</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1</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2</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3</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4</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四个床位，当前给</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A</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B</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C</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D</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四位同学随机分配</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4</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3</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2</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1</a:t>
            </a:r>
            <a:r>
              <a:rPr lang="zh-CN" altLang="zh-CN" sz="1400" dirty="0">
                <a:latin typeface="Times New Roman" panose="02020603050405020304" pitchFamily="18" charset="0"/>
                <a:ea typeface="等线" panose="02010600030101010101" pitchFamily="2" charset="-122"/>
                <a:cs typeface="Times New Roman" panose="02020603050405020304" pitchFamily="18" charset="0"/>
              </a:rPr>
              <a:t>四个床位</a:t>
            </a:r>
            <a:endParaRPr lang="en-US" altLang="zh-CN" sz="1400" dirty="0">
              <a:latin typeface="Times New Roman" panose="02020603050405020304" pitchFamily="18" charset="0"/>
              <a:ea typeface="等线" panose="02010600030101010101" pitchFamily="2" charset="-122"/>
              <a:cs typeface="Times New Roman" panose="02020603050405020304" pitchFamily="18" charset="0"/>
            </a:endParaRPr>
          </a:p>
          <a:p>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在图</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7.5</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可以看出，</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A</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和</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D</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之间构成一个交易圈，可达成交易，所以</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A</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得到床位</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1</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D</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得到床位</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4</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，之后将 </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A</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和</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D</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以及</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1</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和</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4</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从匹配图中移除。</a:t>
            </a:r>
          </a:p>
          <a:p>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从图</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7.6</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可以看出，</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B</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和</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C</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都希望得到床位</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2</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，无法再构成交易圈，但是由于</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C</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是床位的本身拥有者，所以</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C</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仍然得到床位</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2</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B</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只能选择床位</a:t>
            </a:r>
            <a:r>
              <a:rPr lang="en-US" altLang="zh-CN" sz="1400" dirty="0">
                <a:latin typeface="Times New Roman" panose="02020603050405020304" pitchFamily="18" charset="0"/>
                <a:ea typeface="等线" panose="02010600030101010101" pitchFamily="2" charset="-122"/>
                <a:cs typeface="Times New Roman" panose="02020603050405020304" pitchFamily="18" charset="0"/>
              </a:rPr>
              <a:t>3 </a:t>
            </a:r>
            <a:r>
              <a:rPr lang="zh-CN" altLang="en-US" sz="1400" dirty="0">
                <a:latin typeface="Times New Roman" panose="02020603050405020304" pitchFamily="18" charset="0"/>
                <a:ea typeface="等线" panose="02010600030101010101" pitchFamily="2" charset="-122"/>
                <a:cs typeface="Times New Roman" panose="02020603050405020304" pitchFamily="18" charset="0"/>
              </a:rPr>
              <a:t>。</a:t>
            </a:r>
          </a:p>
        </p:txBody>
      </p:sp>
      <p:pic>
        <p:nvPicPr>
          <p:cNvPr id="7" name="图片 6"/>
          <p:cNvPicPr>
            <a:picLocks noChangeAspect="1"/>
          </p:cNvPicPr>
          <p:nvPr/>
        </p:nvPicPr>
        <p:blipFill>
          <a:blip r:embed="rId5"/>
          <a:stretch>
            <a:fillRect/>
          </a:stretch>
        </p:blipFill>
        <p:spPr>
          <a:xfrm>
            <a:off x="7994116" y="1230122"/>
            <a:ext cx="4025163" cy="3580255"/>
          </a:xfrm>
          <a:prstGeom prst="rect">
            <a:avLst/>
          </a:prstGeom>
        </p:spPr>
      </p:pic>
    </p:spTree>
    <p:extLst>
      <p:ext uri="{BB962C8B-B14F-4D97-AF65-F5344CB8AC3E}">
        <p14:creationId xmlns:p14="http://schemas.microsoft.com/office/powerpoint/2010/main" val="7382352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博弈研究内容</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四、非完全信息博弈</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153F092C-DC4C-44FF-917E-787B855E9F50}"/>
              </a:ext>
            </a:extLst>
          </p:cNvPr>
          <p:cNvPicPr>
            <a:picLocks noChangeAspect="1"/>
          </p:cNvPicPr>
          <p:nvPr/>
        </p:nvPicPr>
        <p:blipFill>
          <a:blip r:embed="rId3"/>
          <a:stretch>
            <a:fillRect/>
          </a:stretch>
        </p:blipFill>
        <p:spPr>
          <a:xfrm>
            <a:off x="2398337" y="1194948"/>
            <a:ext cx="6103406" cy="5286283"/>
          </a:xfrm>
          <a:prstGeom prst="rect">
            <a:avLst/>
          </a:prstGeom>
        </p:spPr>
      </p:pic>
    </p:spTree>
    <p:extLst>
      <p:ext uri="{BB962C8B-B14F-4D97-AF65-F5344CB8AC3E}">
        <p14:creationId xmlns:p14="http://schemas.microsoft.com/office/powerpoint/2010/main" val="39477575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博弈研究内容</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四、非完全信息博弈</a:t>
            </a:r>
            <a:endParaRPr lang="zh-CN" altLang="en-US" sz="1600" dirty="0">
              <a:solidFill>
                <a:srgbClr val="000000"/>
              </a:solidFill>
              <a:latin typeface="Times New Roman" panose="02020603050405020304" pitchFamily="18" charset="0"/>
            </a:endParaRPr>
          </a:p>
        </p:txBody>
      </p:sp>
      <p:sp>
        <p:nvSpPr>
          <p:cNvPr id="7" name="矩形 6">
            <a:extLst>
              <a:ext uri="{FF2B5EF4-FFF2-40B4-BE49-F238E27FC236}">
                <a16:creationId xmlns:a16="http://schemas.microsoft.com/office/drawing/2014/main" id="{24B8F83E-1608-4345-AA82-3A384A0E1F13}"/>
              </a:ext>
            </a:extLst>
          </p:cNvPr>
          <p:cNvSpPr/>
          <p:nvPr/>
        </p:nvSpPr>
        <p:spPr>
          <a:xfrm>
            <a:off x="1022253" y="1592981"/>
            <a:ext cx="10789920" cy="494411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深度强化学习越来越多的被应用于博弈的策略求解。</a:t>
            </a:r>
            <a:r>
              <a:rPr lang="zh-CN" altLang="zh-CN"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强化学习的主要思想是通过试错和搜索来优化自身的行动</a:t>
            </a:r>
            <a:r>
              <a:rPr lang="en-US" altLang="zh-CN"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[Sutton 2018]</a:t>
            </a:r>
            <a:r>
              <a:rPr lang="zh-CN" altLang="zh-CN"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，这一过程可以直接被应用于博弈的决策中。</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在连续动态的环境中，通过强化学习的训练，可以让参与博弈的</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AI</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智能体在不同情况下能够找到可获得最大收益的最佳策略</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kern="100" dirty="0" err="1">
                <a:latin typeface="Times New Roman" panose="02020603050405020304" pitchFamily="18" charset="0"/>
                <a:ea typeface="华文楷体" panose="02010600040101010101" pitchFamily="2" charset="-122"/>
                <a:cs typeface="Times New Roman" panose="02020603050405020304" pitchFamily="18" charset="0"/>
              </a:rPr>
              <a:t>Racanière</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 2017]</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，在许多游戏</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AI</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中，都运用了这种方法来进行对战，并最终战胜人类玩家</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kern="100" dirty="0" err="1">
                <a:latin typeface="Times New Roman" panose="02020603050405020304" pitchFamily="18" charset="0"/>
                <a:ea typeface="华文楷体" panose="02010600040101010101" pitchFamily="2" charset="-122"/>
                <a:cs typeface="Times New Roman" panose="02020603050405020304" pitchFamily="18" charset="0"/>
              </a:rPr>
              <a:t>Jaderberg</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 2018] [</a:t>
            </a:r>
            <a:r>
              <a:rPr lang="en-US" altLang="zh-CN" kern="100" dirty="0" err="1">
                <a:latin typeface="Times New Roman" panose="02020603050405020304" pitchFamily="18" charset="0"/>
                <a:ea typeface="华文楷体" panose="02010600040101010101" pitchFamily="2" charset="-122"/>
                <a:cs typeface="Times New Roman" panose="02020603050405020304" pitchFamily="18" charset="0"/>
              </a:rPr>
              <a:t>Arulkumaran</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 2019]</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强化学习和博弈论的核心交集是 “决策优化”，但前者聚焦 “智能体与环境的单 </a:t>
            </a:r>
            <a:r>
              <a:rPr lang="en-US" altLang="zh-CN"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多主体交互学习”，后者聚焦 “多主体策略互动的均衡分析”，关键差异在研究对象、目标和核心问题。</a:t>
            </a:r>
          </a:p>
          <a:p>
            <a:pPr marL="285750" indent="-285750" algn="just">
              <a:lnSpc>
                <a:spcPct val="150000"/>
              </a:lnSpc>
              <a:buFont typeface="Arial" panose="020B0604020202020204" pitchFamily="34" charset="0"/>
              <a:buChar char="•"/>
            </a:pPr>
            <a:endParaRPr lang="zh-CN" altLang="zh-CN" sz="1400" kern="1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近年来，非完全信息下的德州扑克智能系统</a:t>
            </a:r>
            <a:r>
              <a:rPr lang="en-US" altLang="zh-CN" kern="100" dirty="0" err="1">
                <a:latin typeface="Times New Roman" panose="02020603050405020304" pitchFamily="18" charset="0"/>
                <a:ea typeface="华文楷体" panose="02010600040101010101" pitchFamily="2" charset="-122"/>
                <a:cs typeface="Times New Roman" panose="02020603050405020304" pitchFamily="18" charset="0"/>
              </a:rPr>
              <a:t>Libratus</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在与人类选手对弈比赛中屡战屡捷，</a:t>
            </a:r>
            <a:r>
              <a:rPr lang="zh-CN" altLang="zh-CN"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德州扑克就是一种典型的非完全信息博弈</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。在进行游戏前，</a:t>
            </a:r>
            <a:r>
              <a:rPr lang="en-US" altLang="zh-CN" kern="100" dirty="0" err="1">
                <a:latin typeface="Times New Roman" panose="02020603050405020304" pitchFamily="18" charset="0"/>
                <a:ea typeface="华文楷体" panose="02010600040101010101" pitchFamily="2" charset="-122"/>
                <a:cs typeface="Times New Roman" panose="02020603050405020304" pitchFamily="18" charset="0"/>
              </a:rPr>
              <a:t>Libratus</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首先通过虚拟遗憾值最小化算法，反复进行迭代，进行自我博弈，锻炼进行游戏的能力。在实际对局中，</a:t>
            </a:r>
            <a:r>
              <a:rPr lang="en-US" altLang="zh-CN" kern="100" dirty="0" err="1">
                <a:latin typeface="Times New Roman" panose="02020603050405020304" pitchFamily="18" charset="0"/>
                <a:ea typeface="华文楷体" panose="02010600040101010101" pitchFamily="2" charset="-122"/>
                <a:cs typeface="Times New Roman" panose="02020603050405020304" pitchFamily="18" charset="0"/>
              </a:rPr>
              <a:t>Libratus</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在博弈中不断寻找安全子博弈，进一步缩小搜索空间，并找到子博弈的最佳策略。在每局比赛结束后，将游戏最终结果通过强化学习反馈给决策网络以进一步优化参数</a:t>
            </a:r>
            <a:r>
              <a:rPr lang="en-US" altLang="zh-CN" kern="100" dirty="0">
                <a:latin typeface="Times New Roman" panose="02020603050405020304" pitchFamily="18" charset="0"/>
                <a:ea typeface="华文楷体" panose="02010600040101010101" pitchFamily="2" charset="-122"/>
                <a:cs typeface="Times New Roman" panose="02020603050405020304" pitchFamily="18" charset="0"/>
              </a:rPr>
              <a:t>[Brown 2018]</a:t>
            </a:r>
            <a:r>
              <a:rPr lang="zh-CN" altLang="zh-CN"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14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0437854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博弈研究内容</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四、非完全信息博弈</a:t>
            </a:r>
            <a:endParaRPr lang="zh-CN" altLang="en-US" sz="1600" dirty="0">
              <a:solidFill>
                <a:srgbClr val="000000"/>
              </a:solidFill>
              <a:latin typeface="Times New Roman" panose="02020603050405020304" pitchFamily="18" charset="0"/>
            </a:endParaRPr>
          </a:p>
        </p:txBody>
      </p:sp>
      <p:sp>
        <p:nvSpPr>
          <p:cNvPr id="8" name="文本框 7">
            <a:extLst>
              <a:ext uri="{FF2B5EF4-FFF2-40B4-BE49-F238E27FC236}">
                <a16:creationId xmlns:a16="http://schemas.microsoft.com/office/drawing/2014/main" id="{A9E5D92E-AA55-4F8D-BAE5-8DA781E47572}"/>
              </a:ext>
            </a:extLst>
          </p:cNvPr>
          <p:cNvSpPr txBox="1"/>
          <p:nvPr/>
        </p:nvSpPr>
        <p:spPr>
          <a:xfrm>
            <a:off x="461244" y="1872597"/>
            <a:ext cx="11425955" cy="3374450"/>
          </a:xfrm>
          <a:prstGeom prst="rect">
            <a:avLst/>
          </a:prstGeom>
          <a:noFill/>
        </p:spPr>
        <p:txBody>
          <a:bodyPr wrap="square">
            <a:spAutoFit/>
          </a:bodyPr>
          <a:lstStyle/>
          <a:p>
            <a:pPr algn="just">
              <a:lnSpc>
                <a:spcPct val="150000"/>
              </a:lnSpc>
            </a:pP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最近，</a:t>
            </a:r>
            <a:r>
              <a:rPr lang="en-US" altLang="zh-CN" sz="1800" kern="100" dirty="0" err="1">
                <a:effectLst/>
                <a:latin typeface="Times New Roman" panose="02020603050405020304" pitchFamily="18" charset="0"/>
                <a:ea typeface="华文楷体" panose="02010600040101010101" pitchFamily="2" charset="-122"/>
                <a:cs typeface="Times New Roman" panose="02020603050405020304" pitchFamily="18" charset="0"/>
              </a:rPr>
              <a:t>Libratus</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被拓展到德州扑克多人博弈系统</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Pluribus</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Pluribus</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在六人无限注德州扑克的较为简单场景下击败人类专业选手</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[Brown 2019]</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在训练中，</a:t>
            </a:r>
            <a:r>
              <a:rPr lang="en-US"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Pluribus </a:t>
            </a: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采用了蒙特卡洛虚拟遗憾最小化算法（</a:t>
            </a:r>
            <a:r>
              <a:rPr lang="en-US"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Monte Carlo counterfactual regret minimization, MCCFR</a:t>
            </a: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MCCFR</a:t>
            </a:r>
            <a:r>
              <a:rPr lang="zh-CN" altLang="zh-CN" sz="1800"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随机考虑一部分行动，来选择应该采取的决定。</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在每一次迭代中，</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Pluribus</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根据在场玩家已经展示出来策略来模拟一盘游戏，然后在模拟游戏中寻找最适合自己的最优策略。每一回合，</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Pluribus</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都会加入一个虚拟遗憾值，使它会后悔上次没有用其他更好的策略，以保证</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Pluribus</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在下一轮倾向于选择上次后悔没选的策略。</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Pluribus</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就这样在“吾日三省吾身”中不断提高自己的水平。在实际对决了，为了应对对手可能会改变策略这一情况，</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Pluribus</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采用了有限前瞻搜索（</a:t>
            </a:r>
            <a:r>
              <a:rPr lang="en-US"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Depth-limited search</a:t>
            </a:r>
            <a:r>
              <a:rPr lang="zh-CN" altLang="zh-CN" sz="1800" kern="100" dirty="0">
                <a:effectLst/>
                <a:latin typeface="Times New Roman" panose="02020603050405020304" pitchFamily="18" charset="0"/>
                <a:ea typeface="华文楷体" panose="02010600040101010101" pitchFamily="2" charset="-122"/>
                <a:cs typeface="Times New Roman" panose="02020603050405020304" pitchFamily="18" charset="0"/>
              </a:rPr>
              <a:t>）方法，不苛求对所有可能结果进行采样，而是在搜索中可“截断搜索”、以自适应来应对对手策略变化，达到更为精细搜索的目的。</a:t>
            </a:r>
          </a:p>
        </p:txBody>
      </p:sp>
    </p:spTree>
    <p:extLst>
      <p:ext uri="{BB962C8B-B14F-4D97-AF65-F5344CB8AC3E}">
        <p14:creationId xmlns:p14="http://schemas.microsoft.com/office/powerpoint/2010/main" val="23992012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21547" y="725888"/>
            <a:ext cx="11595798" cy="5601196"/>
          </a:xfrm>
          <a:prstGeom prst="rect">
            <a:avLst/>
          </a:prstGeom>
          <a:solidFill>
            <a:srgbClr val="EEF7F8"/>
          </a:solidFill>
          <a:ln>
            <a:noFill/>
          </a:ln>
          <a:effectLst>
            <a:outerShdw blurRad="495300" dist="241300" dir="2700000" algn="tl" rotWithShape="0">
              <a:srgbClr val="222222">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590994" y="584180"/>
            <a:ext cx="2579459" cy="708913"/>
            <a:chOff x="3509228" y="1296644"/>
            <a:chExt cx="2754111" cy="756910"/>
          </a:xfrm>
          <a:effectLst/>
        </p:grpSpPr>
        <p:sp>
          <p:nvSpPr>
            <p:cNvPr id="8" name="立方体 7"/>
            <p:cNvSpPr/>
            <p:nvPr/>
          </p:nvSpPr>
          <p:spPr>
            <a:xfrm>
              <a:off x="3522589" y="1312169"/>
              <a:ext cx="2740750" cy="738665"/>
            </a:xfrm>
            <a:prstGeom prst="cube">
              <a:avLst>
                <a:gd name="adj" fmla="val 9465"/>
              </a:avLst>
            </a:prstGeom>
            <a:solidFill>
              <a:srgbClr val="0076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3520104" y="1385123"/>
              <a:ext cx="2658236" cy="668431"/>
              <a:chOff x="766780" y="725067"/>
              <a:chExt cx="3103577" cy="780415"/>
            </a:xfrm>
          </p:grpSpPr>
          <p:grpSp>
            <p:nvGrpSpPr>
              <p:cNvPr id="14" name="组合 13"/>
              <p:cNvGrpSpPr/>
              <p:nvPr/>
            </p:nvGrpSpPr>
            <p:grpSpPr>
              <a:xfrm>
                <a:off x="766780" y="728242"/>
                <a:ext cx="777240" cy="777240"/>
                <a:chOff x="1908810" y="1131040"/>
                <a:chExt cx="777240" cy="777240"/>
              </a:xfrm>
            </p:grpSpPr>
            <p:sp>
              <p:nvSpPr>
                <p:cNvPr id="33" name="矩形 3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3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41549" y="725067"/>
                <a:ext cx="777240" cy="777240"/>
                <a:chOff x="1908810" y="1131040"/>
                <a:chExt cx="777240" cy="777240"/>
              </a:xfrm>
            </p:grpSpPr>
            <p:sp>
              <p:nvSpPr>
                <p:cNvPr id="28" name="矩形 2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316784" y="725067"/>
                <a:ext cx="777240" cy="777240"/>
                <a:chOff x="1908810" y="1131040"/>
                <a:chExt cx="777240" cy="777240"/>
              </a:xfrm>
            </p:grpSpPr>
            <p:sp>
              <p:nvSpPr>
                <p:cNvPr id="23" name="矩形 2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3093117" y="725067"/>
                <a:ext cx="777240" cy="777240"/>
                <a:chOff x="1908810" y="1131040"/>
                <a:chExt cx="777240" cy="777240"/>
              </a:xfrm>
            </p:grpSpPr>
            <p:sp>
              <p:nvSpPr>
                <p:cNvPr id="18" name="矩形 1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0" name="矩形 9"/>
            <p:cNvSpPr/>
            <p:nvPr/>
          </p:nvSpPr>
          <p:spPr>
            <a:xfrm>
              <a:off x="3509228" y="1300957"/>
              <a:ext cx="671979" cy="677107"/>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延</a:t>
              </a:r>
            </a:p>
          </p:txBody>
        </p:sp>
        <p:sp>
          <p:nvSpPr>
            <p:cNvPr id="11" name="矩形 10"/>
            <p:cNvSpPr/>
            <p:nvPr/>
          </p:nvSpPr>
          <p:spPr>
            <a:xfrm>
              <a:off x="4183692" y="1298239"/>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伸</a:t>
              </a:r>
            </a:p>
          </p:txBody>
        </p:sp>
        <p:sp>
          <p:nvSpPr>
            <p:cNvPr id="12" name="矩形 11"/>
            <p:cNvSpPr/>
            <p:nvPr/>
          </p:nvSpPr>
          <p:spPr>
            <a:xfrm>
              <a:off x="4846347" y="1297103"/>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阅</a:t>
              </a:r>
            </a:p>
          </p:txBody>
        </p:sp>
        <p:sp>
          <p:nvSpPr>
            <p:cNvPr id="13" name="矩形 12"/>
            <p:cNvSpPr/>
            <p:nvPr/>
          </p:nvSpPr>
          <p:spPr>
            <a:xfrm>
              <a:off x="5506300" y="1296644"/>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读</a:t>
              </a:r>
            </a:p>
          </p:txBody>
        </p:sp>
      </p:grpSp>
      <p:sp>
        <p:nvSpPr>
          <p:cNvPr id="40" name="矩形 39"/>
          <p:cNvSpPr/>
          <p:nvPr/>
        </p:nvSpPr>
        <p:spPr>
          <a:xfrm>
            <a:off x="518122" y="1326427"/>
            <a:ext cx="11530866" cy="4785926"/>
          </a:xfrm>
          <a:prstGeom prst="rect">
            <a:avLst/>
          </a:prstGeom>
        </p:spPr>
        <p:txBody>
          <a:bodyPr wrap="square">
            <a:spAutoFit/>
          </a:bodyPr>
          <a:lstStyle/>
          <a:p>
            <a:pPr>
              <a:lnSpc>
                <a:spcPct val="150000"/>
              </a:lnSpc>
            </a:pPr>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投骰子和占卜术</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：古代先民在预测诸如重大战事和重要出行等超越了人类能力的活动时，往往通过投骰子和占卜术来完成，从而以骰子和占卜结果来规避随机性和命运。占卜术最早诞生在商朝，其中</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占</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意为观察，</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卜</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是以火灼龟壳，即通过观察火烧之后龟壳的裂纹形状来预测吉凶福祸。</a:t>
            </a:r>
          </a:p>
          <a:p>
            <a:pPr>
              <a:lnSpc>
                <a:spcPct val="150000"/>
              </a:lnSpc>
            </a:pP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最优解向均衡解迈进</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给定你的策略，我的策略是我最好的策略；给定我的策略，你的策略也是你最好的策略</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，这是博弈中所达成均衡态势的通俗表达。博弈论拥抱人工智能，推动人工智能从感知智能向决策智能转变，这一转变使人工智能从追求最优解向探索均衡解迈进。</a:t>
            </a:r>
          </a:p>
          <a:p>
            <a:pPr>
              <a:lnSpc>
                <a:spcPct val="150000"/>
              </a:lnSpc>
            </a:pPr>
            <a:endParaRPr lang="zh-CN"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博弈迷雾给算法博弈带来的重重挑战</a:t>
            </a:r>
            <a:r>
              <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与骰子占卜和兵棋推演不同，人工智能和博弈论的结合开辟了以数据驱动机器学习方法来规避随机性和命运的手段，以算法博弈（</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Algorithmic game theory</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来解决复杂现实问题。英国数学家布鲁诺斯基曾回忆过与冯诺依曼的一次交流。冯诺依曼认为围棋不是博弈，虽然因为计算复杂而难以找到答案，但是在理论上围棋一定有个最佳落子。但是，真正的博弈就像我们现实生活，充满虚张声势以及欺骗小伎俩，自以为别人也认为我会如此行事。</a:t>
            </a:r>
          </a:p>
          <a:p>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8" name="组合 47"/>
          <p:cNvGrpSpPr/>
          <p:nvPr/>
        </p:nvGrpSpPr>
        <p:grpSpPr>
          <a:xfrm flipH="1">
            <a:off x="11065702" y="671669"/>
            <a:ext cx="851673" cy="853582"/>
            <a:chOff x="5244327" y="2299574"/>
            <a:chExt cx="851673" cy="853582"/>
          </a:xfrm>
        </p:grpSpPr>
        <p:sp>
          <p:nvSpPr>
            <p:cNvPr id="49" name="L 形 48"/>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L 形 49"/>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flipV="1">
            <a:off x="321517" y="5450957"/>
            <a:ext cx="851673" cy="853582"/>
            <a:chOff x="5244327" y="2299574"/>
            <a:chExt cx="851673" cy="853582"/>
          </a:xfrm>
        </p:grpSpPr>
        <p:sp>
          <p:nvSpPr>
            <p:cNvPr id="53" name="L 形 52"/>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L 形 53"/>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flipH="1" flipV="1">
            <a:off x="11065672" y="5470438"/>
            <a:ext cx="851673" cy="853582"/>
            <a:chOff x="5244327" y="2299574"/>
            <a:chExt cx="851673" cy="853582"/>
          </a:xfrm>
        </p:grpSpPr>
        <p:sp>
          <p:nvSpPr>
            <p:cNvPr id="56" name="L 形 55"/>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L 形 56"/>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469AA995-01A2-4488-8818-4A8D7139E178}"/>
              </a:ext>
            </a:extLst>
          </p:cNvPr>
          <p:cNvSpPr/>
          <p:nvPr/>
        </p:nvSpPr>
        <p:spPr>
          <a:xfrm>
            <a:off x="4016794" y="805251"/>
            <a:ext cx="5724644" cy="461665"/>
          </a:xfrm>
          <a:prstGeom prst="rect">
            <a:avLst/>
          </a:prstGeom>
        </p:spPr>
        <p:txBody>
          <a:bodyPr wrap="none">
            <a:spAutoFit/>
          </a:bodyPr>
          <a:lstStyle/>
          <a:p>
            <a:r>
              <a:rPr lang="zh-CN" altLang="zh-CN" sz="2400" b="1" dirty="0">
                <a:solidFill>
                  <a:srgbClr val="C00000"/>
                </a:solidFill>
                <a:latin typeface="微软雅黑" panose="020B0503020204020204" pitchFamily="34" charset="-122"/>
                <a:ea typeface="微软雅黑" panose="020B0503020204020204" pitchFamily="34" charset="-122"/>
              </a:rPr>
              <a:t>规避随机性与命运：骰子占卜到算法博弈</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gradFill>
          <a:gsLst>
            <a:gs pos="1000">
              <a:srgbClr val="0093A2">
                <a:alpha val="63000"/>
              </a:srgbClr>
            </a:gs>
            <a:gs pos="91000">
              <a:srgbClr val="013F45"/>
            </a:gs>
          </a:gsLst>
          <a:lin ang="5400000" scaled="0"/>
        </a:gradFill>
        <a:effectLst/>
      </p:bgPr>
    </p:bg>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24826" t="20686" b="9518"/>
          <a:stretch>
            <a:fillRect/>
          </a:stretch>
        </p:blipFill>
        <p:spPr>
          <a:xfrm rot="992355" flipH="1">
            <a:off x="3875496" y="-237272"/>
            <a:ext cx="9134310" cy="3976491"/>
          </a:xfrm>
          <a:prstGeom prst="rect">
            <a:avLst/>
          </a:prstGeom>
        </p:spPr>
      </p:pic>
      <p:sp>
        <p:nvSpPr>
          <p:cNvPr id="2" name="iṩḻíḑe"/>
          <p:cNvSpPr/>
          <p:nvPr/>
        </p:nvSpPr>
        <p:spPr>
          <a:xfrm>
            <a:off x="1234134" y="823236"/>
            <a:ext cx="10080000" cy="5034224"/>
          </a:xfrm>
          <a:prstGeom prst="snip2DiagRect">
            <a:avLst>
              <a:gd name="adj1" fmla="val 0"/>
              <a:gd name="adj2" fmla="val 0"/>
            </a:avLst>
          </a:prstGeom>
          <a:gradFill>
            <a:gsLst>
              <a:gs pos="100000">
                <a:srgbClr val="016773"/>
              </a:gs>
              <a:gs pos="52000">
                <a:srgbClr val="007684"/>
              </a:gs>
              <a:gs pos="0">
                <a:srgbClr val="449FA8"/>
              </a:gs>
            </a:gsLst>
            <a:lin ang="2700000" scaled="0"/>
          </a:gradFill>
          <a:ln>
            <a:gradFill flip="none" rotWithShape="1">
              <a:gsLst>
                <a:gs pos="100000">
                  <a:srgbClr val="FCFCFC"/>
                </a:gs>
                <a:gs pos="75000">
                  <a:srgbClr val="FCFCFC">
                    <a:alpha val="0"/>
                  </a:srgbClr>
                </a:gs>
                <a:gs pos="65000">
                  <a:srgbClr val="FCFCFC">
                    <a:alpha val="0"/>
                  </a:srgbClr>
                </a:gs>
                <a:gs pos="30000">
                  <a:srgbClr val="FCFCFC">
                    <a:alpha val="50000"/>
                  </a:srgbClr>
                </a:gs>
                <a:gs pos="10000">
                  <a:srgbClr val="FAFAFA">
                    <a:alpha val="0"/>
                  </a:srgbClr>
                </a:gs>
              </a:gsLst>
              <a:lin ang="2700000" scaled="0"/>
              <a:tileRect/>
            </a:gradFill>
          </a:ln>
          <a:effectLst>
            <a:outerShdw blurRad="50800" dist="508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700" dirty="0">
              <a:solidFill>
                <a:schemeClr val="lt1"/>
              </a:solidFill>
            </a:endParaRPr>
          </a:p>
        </p:txBody>
      </p:sp>
      <p:sp>
        <p:nvSpPr>
          <p:cNvPr id="7" name="矩形 6"/>
          <p:cNvSpPr/>
          <p:nvPr/>
        </p:nvSpPr>
        <p:spPr>
          <a:xfrm>
            <a:off x="1312990" y="1361537"/>
            <a:ext cx="9818367" cy="3332772"/>
          </a:xfrm>
          <a:prstGeom prst="rect">
            <a:avLst/>
          </a:prstGeom>
        </p:spPr>
        <p:txBody>
          <a:bodyPr wrap="square">
            <a:spAutoFit/>
          </a:bodyPr>
          <a:lstStyle/>
          <a:p>
            <a:pPr marL="285750" indent="-285750">
              <a:lnSpc>
                <a:spcPct val="200000"/>
              </a:lnSpc>
              <a:buClr>
                <a:schemeClr val="bg1"/>
              </a:buClr>
              <a:buSzPct val="80000"/>
              <a:buFont typeface="Wingdings" panose="05000000000000000000" pitchFamily="2" charset="2"/>
              <a:buChar char="u"/>
            </a:pPr>
            <a:r>
              <a:rPr lang="zh-CN" altLang="zh-CN" dirty="0">
                <a:solidFill>
                  <a:schemeClr val="bg1"/>
                </a:solidFill>
                <a:latin typeface="微软雅黑" panose="020B0503020204020204" pitchFamily="34" charset="-122"/>
                <a:ea typeface="微软雅黑" panose="020B0503020204020204" pitchFamily="34" charset="-122"/>
              </a:rPr>
              <a:t>围棋、扑克和即时战略游戏本质上都是博弈问题。人工智能在这些领域取得进展正是</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人工智能与博弈论相结合的结果</a:t>
            </a:r>
            <a:r>
              <a:rPr lang="zh-CN" altLang="zh-CN"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20 </a:t>
            </a:r>
            <a:r>
              <a:rPr lang="zh-CN" altLang="zh-CN" dirty="0">
                <a:solidFill>
                  <a:schemeClr val="bg1"/>
                </a:solidFill>
                <a:latin typeface="微软雅黑" panose="020B0503020204020204" pitchFamily="34" charset="-122"/>
                <a:ea typeface="微软雅黑" panose="020B0503020204020204" pitchFamily="34" charset="-122"/>
              </a:rPr>
              <a:t>世纪</a:t>
            </a:r>
            <a:r>
              <a:rPr lang="en-US" altLang="zh-CN" dirty="0">
                <a:solidFill>
                  <a:schemeClr val="bg1"/>
                </a:solidFill>
                <a:latin typeface="微软雅黑" panose="020B0503020204020204" pitchFamily="34" charset="-122"/>
                <a:ea typeface="微软雅黑" panose="020B0503020204020204" pitchFamily="34" charset="-122"/>
              </a:rPr>
              <a:t>90 </a:t>
            </a:r>
            <a:r>
              <a:rPr lang="zh-CN" altLang="zh-CN" dirty="0">
                <a:solidFill>
                  <a:schemeClr val="bg1"/>
                </a:solidFill>
                <a:latin typeface="微软雅黑" panose="020B0503020204020204" pitchFamily="34" charset="-122"/>
                <a:ea typeface="微软雅黑" panose="020B0503020204020204" pitchFamily="34" charset="-122"/>
              </a:rPr>
              <a:t>年代中后期，博弈论和计算科学融合形成算法博弈论，这个新的研究领域发展迅速。</a:t>
            </a:r>
            <a:endParaRPr lang="en-US" altLang="zh-CN" dirty="0">
              <a:solidFill>
                <a:schemeClr val="bg1"/>
              </a:solidFill>
              <a:latin typeface="微软雅黑" panose="020B0503020204020204" pitchFamily="34" charset="-122"/>
              <a:ea typeface="微软雅黑" panose="020B0503020204020204" pitchFamily="34" charset="-122"/>
            </a:endParaRPr>
          </a:p>
          <a:p>
            <a:pPr marL="285750" indent="-285750">
              <a:lnSpc>
                <a:spcPct val="200000"/>
              </a:lnSpc>
              <a:buClr>
                <a:schemeClr val="bg1"/>
              </a:buClr>
              <a:buSzPct val="80000"/>
              <a:buFont typeface="Wingdings" panose="05000000000000000000" pitchFamily="2" charset="2"/>
              <a:buChar char="u"/>
            </a:pPr>
            <a:r>
              <a:rPr lang="zh-CN" altLang="zh-CN" dirty="0">
                <a:solidFill>
                  <a:schemeClr val="bg1"/>
                </a:solidFill>
                <a:latin typeface="微软雅黑" panose="020B0503020204020204" pitchFamily="34" charset="-122"/>
                <a:ea typeface="微软雅黑" panose="020B0503020204020204" pitchFamily="34" charset="-122"/>
              </a:rPr>
              <a:t>人工智能正在</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从感知智能向决策智能转变，从集中式结构向多智能体分布式结构演进</a:t>
            </a:r>
            <a:r>
              <a:rPr lang="zh-CN" altLang="zh-CN" dirty="0">
                <a:solidFill>
                  <a:schemeClr val="bg1"/>
                </a:solidFill>
                <a:latin typeface="微软雅黑" panose="020B0503020204020204" pitchFamily="34" charset="-122"/>
                <a:ea typeface="微软雅黑" panose="020B0503020204020204" pitchFamily="34" charset="-122"/>
              </a:rPr>
              <a:t>，这使得人工智能博弈成为重要研究内容，其核心内容包括算法博弈论及计算经济学、算法与机器学习相结合的机器学习理论、博弈论与机器学习相结合的多智能体学习等。</a:t>
            </a:r>
          </a:p>
        </p:txBody>
      </p:sp>
      <p:sp>
        <p:nvSpPr>
          <p:cNvPr id="9" name="矩形: 圆角 42"/>
          <p:cNvSpPr/>
          <p:nvPr/>
        </p:nvSpPr>
        <p:spPr>
          <a:xfrm>
            <a:off x="5218279" y="785408"/>
            <a:ext cx="1847895" cy="504454"/>
          </a:xfrm>
          <a:prstGeom prst="roundRect">
            <a:avLst>
              <a:gd name="adj" fmla="val 10365"/>
            </a:avLst>
          </a:prstGeom>
          <a:solidFill>
            <a:srgbClr val="9ACBCA"/>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47"/>
          <p:cNvSpPr/>
          <p:nvPr/>
        </p:nvSpPr>
        <p:spPr>
          <a:xfrm>
            <a:off x="5165205" y="732108"/>
            <a:ext cx="1847895" cy="504454"/>
          </a:xfrm>
          <a:prstGeom prst="roundRect">
            <a:avLst>
              <a:gd name="adj" fmla="val 10365"/>
            </a:avLst>
          </a:prstGeom>
          <a:solidFill>
            <a:srgbClr val="FAFCFC"/>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a:stretch>
            <a:fillRect/>
          </a:stretch>
        </p:blipFill>
        <p:spPr>
          <a:xfrm>
            <a:off x="5139195" y="627721"/>
            <a:ext cx="2165958" cy="208773"/>
          </a:xfrm>
          <a:prstGeom prst="rect">
            <a:avLst/>
          </a:prstGeom>
        </p:spPr>
      </p:pic>
      <p:pic>
        <p:nvPicPr>
          <p:cNvPr id="13" name="图片 12"/>
          <p:cNvPicPr>
            <a:picLocks noChangeAspect="1"/>
          </p:cNvPicPr>
          <p:nvPr/>
        </p:nvPicPr>
        <p:blipFill>
          <a:blip r:embed="rId4"/>
          <a:stretch>
            <a:fillRect/>
          </a:stretch>
        </p:blipFill>
        <p:spPr>
          <a:xfrm flipH="1">
            <a:off x="4554375" y="1126723"/>
            <a:ext cx="2458725" cy="195194"/>
          </a:xfrm>
          <a:prstGeom prst="rect">
            <a:avLst/>
          </a:prstGeom>
        </p:spPr>
      </p:pic>
      <p:sp>
        <p:nvSpPr>
          <p:cNvPr id="18" name="文本框 17"/>
          <p:cNvSpPr txBox="1"/>
          <p:nvPr/>
        </p:nvSpPr>
        <p:spPr>
          <a:xfrm>
            <a:off x="5379329" y="823236"/>
            <a:ext cx="1397310" cy="337970"/>
          </a:xfrm>
          <a:custGeom>
            <a:avLst/>
            <a:gdLst/>
            <a:ahLst/>
            <a:cxnLst/>
            <a:rect l="l" t="t" r="r" b="b"/>
            <a:pathLst>
              <a:path w="1397310" h="337970">
                <a:moveTo>
                  <a:pt x="1317464" y="206499"/>
                </a:moveTo>
                <a:lnTo>
                  <a:pt x="1263774" y="209252"/>
                </a:lnTo>
                <a:lnTo>
                  <a:pt x="1262397" y="275332"/>
                </a:lnTo>
                <a:lnTo>
                  <a:pt x="1294060" y="273955"/>
                </a:lnTo>
                <a:cubicBezTo>
                  <a:pt x="1298649" y="273955"/>
                  <a:pt x="1304156" y="273497"/>
                  <a:pt x="1310580" y="272579"/>
                </a:cubicBezTo>
                <a:cubicBezTo>
                  <a:pt x="1314251" y="272579"/>
                  <a:pt x="1316546" y="272579"/>
                  <a:pt x="1317464" y="272579"/>
                </a:cubicBezTo>
                <a:close/>
                <a:moveTo>
                  <a:pt x="1326412" y="165199"/>
                </a:moveTo>
                <a:cubicBezTo>
                  <a:pt x="1327789" y="164740"/>
                  <a:pt x="1329395" y="165199"/>
                  <a:pt x="1331230" y="166576"/>
                </a:cubicBezTo>
                <a:cubicBezTo>
                  <a:pt x="1356928" y="181260"/>
                  <a:pt x="1373448" y="191356"/>
                  <a:pt x="1380790" y="196862"/>
                </a:cubicBezTo>
                <a:cubicBezTo>
                  <a:pt x="1385379" y="199616"/>
                  <a:pt x="1387673" y="201910"/>
                  <a:pt x="1387673" y="203746"/>
                </a:cubicBezTo>
                <a:cubicBezTo>
                  <a:pt x="1387673" y="205581"/>
                  <a:pt x="1385379" y="207417"/>
                  <a:pt x="1380790" y="209252"/>
                </a:cubicBezTo>
                <a:cubicBezTo>
                  <a:pt x="1376201" y="212006"/>
                  <a:pt x="1374365" y="215677"/>
                  <a:pt x="1375283" y="220266"/>
                </a:cubicBezTo>
                <a:cubicBezTo>
                  <a:pt x="1374365" y="238621"/>
                  <a:pt x="1373907" y="267990"/>
                  <a:pt x="1373907" y="308372"/>
                </a:cubicBezTo>
                <a:cubicBezTo>
                  <a:pt x="1374824" y="313879"/>
                  <a:pt x="1373448" y="316632"/>
                  <a:pt x="1369777" y="316632"/>
                </a:cubicBezTo>
                <a:cubicBezTo>
                  <a:pt x="1366105" y="320303"/>
                  <a:pt x="1353716" y="325351"/>
                  <a:pt x="1332607" y="331775"/>
                </a:cubicBezTo>
                <a:cubicBezTo>
                  <a:pt x="1330771" y="332693"/>
                  <a:pt x="1329395" y="333152"/>
                  <a:pt x="1328477" y="333152"/>
                </a:cubicBezTo>
                <a:cubicBezTo>
                  <a:pt x="1321135" y="335905"/>
                  <a:pt x="1317464" y="334070"/>
                  <a:pt x="1317464" y="327645"/>
                </a:cubicBezTo>
                <a:lnTo>
                  <a:pt x="1317464" y="295982"/>
                </a:lnTo>
                <a:cubicBezTo>
                  <a:pt x="1316546" y="295982"/>
                  <a:pt x="1314251" y="295982"/>
                  <a:pt x="1310580" y="295982"/>
                </a:cubicBezTo>
                <a:cubicBezTo>
                  <a:pt x="1305991" y="296900"/>
                  <a:pt x="1301861" y="297359"/>
                  <a:pt x="1298190" y="297359"/>
                </a:cubicBezTo>
                <a:lnTo>
                  <a:pt x="1262397" y="298735"/>
                </a:lnTo>
                <a:lnTo>
                  <a:pt x="1262397" y="306995"/>
                </a:lnTo>
                <a:cubicBezTo>
                  <a:pt x="1263315" y="315255"/>
                  <a:pt x="1261020" y="320303"/>
                  <a:pt x="1255514" y="322139"/>
                </a:cubicBezTo>
                <a:cubicBezTo>
                  <a:pt x="1243583" y="327645"/>
                  <a:pt x="1228898" y="332693"/>
                  <a:pt x="1211461" y="337282"/>
                </a:cubicBezTo>
                <a:cubicBezTo>
                  <a:pt x="1206872" y="338200"/>
                  <a:pt x="1204577" y="335905"/>
                  <a:pt x="1204577" y="330399"/>
                </a:cubicBezTo>
                <a:cubicBezTo>
                  <a:pt x="1206413" y="303783"/>
                  <a:pt x="1207331" y="277627"/>
                  <a:pt x="1207331" y="251929"/>
                </a:cubicBezTo>
                <a:cubicBezTo>
                  <a:pt x="1195400" y="259271"/>
                  <a:pt x="1191270" y="261566"/>
                  <a:pt x="1194941" y="258812"/>
                </a:cubicBezTo>
                <a:cubicBezTo>
                  <a:pt x="1144463" y="287263"/>
                  <a:pt x="1111423" y="306078"/>
                  <a:pt x="1095821" y="315255"/>
                </a:cubicBezTo>
                <a:cubicBezTo>
                  <a:pt x="1090315" y="318009"/>
                  <a:pt x="1086185" y="317091"/>
                  <a:pt x="1083431" y="312502"/>
                </a:cubicBezTo>
                <a:cubicBezTo>
                  <a:pt x="1073336" y="295064"/>
                  <a:pt x="1065535" y="279462"/>
                  <a:pt x="1060028" y="265696"/>
                </a:cubicBezTo>
                <a:lnTo>
                  <a:pt x="1207331" y="234032"/>
                </a:lnTo>
                <a:cubicBezTo>
                  <a:pt x="1207331" y="232197"/>
                  <a:pt x="1207790" y="229902"/>
                  <a:pt x="1208707" y="227149"/>
                </a:cubicBezTo>
                <a:cubicBezTo>
                  <a:pt x="1208707" y="224396"/>
                  <a:pt x="1208707" y="222560"/>
                  <a:pt x="1208707" y="221642"/>
                </a:cubicBezTo>
                <a:cubicBezTo>
                  <a:pt x="1208707" y="203287"/>
                  <a:pt x="1208249" y="189061"/>
                  <a:pt x="1207331" y="178966"/>
                </a:cubicBezTo>
                <a:cubicBezTo>
                  <a:pt x="1206413" y="174377"/>
                  <a:pt x="1206872" y="171624"/>
                  <a:pt x="1208707" y="170706"/>
                </a:cubicBezTo>
                <a:cubicBezTo>
                  <a:pt x="1209625" y="169788"/>
                  <a:pt x="1211920" y="170247"/>
                  <a:pt x="1215591" y="172083"/>
                </a:cubicBezTo>
                <a:cubicBezTo>
                  <a:pt x="1218344" y="173000"/>
                  <a:pt x="1222474" y="174377"/>
                  <a:pt x="1227981" y="176213"/>
                </a:cubicBezTo>
                <a:cubicBezTo>
                  <a:pt x="1240829" y="180801"/>
                  <a:pt x="1250466" y="184014"/>
                  <a:pt x="1256891" y="185849"/>
                </a:cubicBezTo>
                <a:lnTo>
                  <a:pt x="1309204" y="184473"/>
                </a:lnTo>
                <a:cubicBezTo>
                  <a:pt x="1309204" y="184473"/>
                  <a:pt x="1309662" y="184473"/>
                  <a:pt x="1310580" y="184473"/>
                </a:cubicBezTo>
                <a:cubicBezTo>
                  <a:pt x="1316087" y="183555"/>
                  <a:pt x="1319299" y="181260"/>
                  <a:pt x="1320217" y="177589"/>
                </a:cubicBezTo>
                <a:cubicBezTo>
                  <a:pt x="1322052" y="174836"/>
                  <a:pt x="1322970" y="172541"/>
                  <a:pt x="1322970" y="170706"/>
                </a:cubicBezTo>
                <a:cubicBezTo>
                  <a:pt x="1322970" y="170706"/>
                  <a:pt x="1322970" y="170247"/>
                  <a:pt x="1322970" y="169329"/>
                </a:cubicBezTo>
                <a:cubicBezTo>
                  <a:pt x="1323888" y="167035"/>
                  <a:pt x="1325035" y="165658"/>
                  <a:pt x="1326412" y="165199"/>
                </a:cubicBezTo>
                <a:close/>
                <a:moveTo>
                  <a:pt x="585080" y="150056"/>
                </a:moveTo>
                <a:lnTo>
                  <a:pt x="468064" y="155563"/>
                </a:lnTo>
                <a:lnTo>
                  <a:pt x="468064" y="172083"/>
                </a:lnTo>
                <a:cubicBezTo>
                  <a:pt x="472653" y="172083"/>
                  <a:pt x="479078" y="171624"/>
                  <a:pt x="487338" y="170706"/>
                </a:cubicBezTo>
                <a:cubicBezTo>
                  <a:pt x="491926" y="170706"/>
                  <a:pt x="495139" y="170706"/>
                  <a:pt x="496974" y="170706"/>
                </a:cubicBezTo>
                <a:lnTo>
                  <a:pt x="536897" y="167953"/>
                </a:lnTo>
                <a:cubicBezTo>
                  <a:pt x="546993" y="167953"/>
                  <a:pt x="555712" y="167035"/>
                  <a:pt x="563054" y="165199"/>
                </a:cubicBezTo>
                <a:cubicBezTo>
                  <a:pt x="568561" y="170706"/>
                  <a:pt x="573149" y="176213"/>
                  <a:pt x="576820" y="181719"/>
                </a:cubicBezTo>
                <a:cubicBezTo>
                  <a:pt x="578656" y="183555"/>
                  <a:pt x="579115" y="184473"/>
                  <a:pt x="578197" y="184473"/>
                </a:cubicBezTo>
                <a:cubicBezTo>
                  <a:pt x="578197" y="185390"/>
                  <a:pt x="576820" y="185849"/>
                  <a:pt x="574067" y="185849"/>
                </a:cubicBezTo>
                <a:cubicBezTo>
                  <a:pt x="572232" y="185849"/>
                  <a:pt x="568561" y="185849"/>
                  <a:pt x="563054" y="185849"/>
                </a:cubicBezTo>
                <a:cubicBezTo>
                  <a:pt x="553876" y="186767"/>
                  <a:pt x="547452" y="187226"/>
                  <a:pt x="543781" y="187226"/>
                </a:cubicBezTo>
                <a:lnTo>
                  <a:pt x="505234" y="189979"/>
                </a:lnTo>
                <a:cubicBezTo>
                  <a:pt x="504316" y="189979"/>
                  <a:pt x="499728" y="190438"/>
                  <a:pt x="491468" y="191356"/>
                </a:cubicBezTo>
                <a:cubicBezTo>
                  <a:pt x="481372" y="192274"/>
                  <a:pt x="475407" y="192733"/>
                  <a:pt x="473571" y="192733"/>
                </a:cubicBezTo>
                <a:lnTo>
                  <a:pt x="468064" y="184473"/>
                </a:lnTo>
                <a:lnTo>
                  <a:pt x="468064" y="207876"/>
                </a:lnTo>
                <a:lnTo>
                  <a:pt x="541027" y="205122"/>
                </a:lnTo>
                <a:cubicBezTo>
                  <a:pt x="546534" y="205122"/>
                  <a:pt x="557547" y="204205"/>
                  <a:pt x="574067" y="202369"/>
                </a:cubicBezTo>
                <a:cubicBezTo>
                  <a:pt x="577738" y="201451"/>
                  <a:pt x="580033" y="200992"/>
                  <a:pt x="580950" y="200992"/>
                </a:cubicBezTo>
                <a:lnTo>
                  <a:pt x="583704" y="205122"/>
                </a:lnTo>
                <a:close/>
                <a:moveTo>
                  <a:pt x="589210" y="114263"/>
                </a:moveTo>
                <a:lnTo>
                  <a:pt x="429518" y="121146"/>
                </a:lnTo>
                <a:cubicBezTo>
                  <a:pt x="425847" y="121146"/>
                  <a:pt x="421258" y="121146"/>
                  <a:pt x="415751" y="121146"/>
                </a:cubicBezTo>
                <a:cubicBezTo>
                  <a:pt x="432271" y="124817"/>
                  <a:pt x="448791" y="129406"/>
                  <a:pt x="465311" y="134913"/>
                </a:cubicBezTo>
                <a:lnTo>
                  <a:pt x="576820" y="129406"/>
                </a:lnTo>
                <a:cubicBezTo>
                  <a:pt x="580492" y="129406"/>
                  <a:pt x="583704" y="127571"/>
                  <a:pt x="586457" y="123899"/>
                </a:cubicBezTo>
                <a:cubicBezTo>
                  <a:pt x="587375" y="122982"/>
                  <a:pt x="587834" y="122064"/>
                  <a:pt x="587834" y="121146"/>
                </a:cubicBezTo>
                <a:cubicBezTo>
                  <a:pt x="588752" y="119311"/>
                  <a:pt x="589210" y="117934"/>
                  <a:pt x="589210" y="117016"/>
                </a:cubicBezTo>
                <a:cubicBezTo>
                  <a:pt x="589210" y="115181"/>
                  <a:pt x="589210" y="114263"/>
                  <a:pt x="589210" y="114263"/>
                </a:cubicBezTo>
                <a:close/>
                <a:moveTo>
                  <a:pt x="952649" y="92236"/>
                </a:moveTo>
                <a:cubicBezTo>
                  <a:pt x="995784" y="131701"/>
                  <a:pt x="1024694" y="163823"/>
                  <a:pt x="1039378" y="188603"/>
                </a:cubicBezTo>
                <a:cubicBezTo>
                  <a:pt x="1046720" y="199616"/>
                  <a:pt x="1044885" y="211547"/>
                  <a:pt x="1033872" y="224396"/>
                </a:cubicBezTo>
                <a:cubicBezTo>
                  <a:pt x="1021023" y="240916"/>
                  <a:pt x="1005880" y="255141"/>
                  <a:pt x="988442" y="267072"/>
                </a:cubicBezTo>
                <a:cubicBezTo>
                  <a:pt x="979264" y="223019"/>
                  <a:pt x="963662" y="167035"/>
                  <a:pt x="941635" y="99120"/>
                </a:cubicBezTo>
                <a:close/>
                <a:moveTo>
                  <a:pt x="777297" y="87762"/>
                </a:moveTo>
                <a:cubicBezTo>
                  <a:pt x="779017" y="87992"/>
                  <a:pt x="781025" y="88565"/>
                  <a:pt x="783320" y="89483"/>
                </a:cubicBezTo>
                <a:cubicBezTo>
                  <a:pt x="798922" y="94990"/>
                  <a:pt x="814983" y="101414"/>
                  <a:pt x="831503" y="108756"/>
                </a:cubicBezTo>
                <a:cubicBezTo>
                  <a:pt x="834256" y="109674"/>
                  <a:pt x="836091" y="110592"/>
                  <a:pt x="837009" y="111510"/>
                </a:cubicBezTo>
                <a:cubicBezTo>
                  <a:pt x="837009" y="112427"/>
                  <a:pt x="836091" y="114263"/>
                  <a:pt x="834256" y="117016"/>
                </a:cubicBezTo>
                <a:cubicBezTo>
                  <a:pt x="832420" y="118852"/>
                  <a:pt x="825996" y="131242"/>
                  <a:pt x="814983" y="154186"/>
                </a:cubicBezTo>
                <a:cubicBezTo>
                  <a:pt x="788367" y="209252"/>
                  <a:pt x="759457" y="246881"/>
                  <a:pt x="728253" y="267072"/>
                </a:cubicBezTo>
                <a:lnTo>
                  <a:pt x="722746" y="260189"/>
                </a:lnTo>
                <a:cubicBezTo>
                  <a:pt x="735595" y="227149"/>
                  <a:pt x="748444" y="186308"/>
                  <a:pt x="761293" y="137666"/>
                </a:cubicBezTo>
                <a:cubicBezTo>
                  <a:pt x="765882" y="117475"/>
                  <a:pt x="768635" y="103250"/>
                  <a:pt x="769553" y="94990"/>
                </a:cubicBezTo>
                <a:cubicBezTo>
                  <a:pt x="769553" y="89483"/>
                  <a:pt x="772134" y="87074"/>
                  <a:pt x="777297" y="87762"/>
                </a:cubicBezTo>
                <a:close/>
                <a:moveTo>
                  <a:pt x="563054" y="61950"/>
                </a:moveTo>
                <a:lnTo>
                  <a:pt x="483208" y="66080"/>
                </a:lnTo>
                <a:cubicBezTo>
                  <a:pt x="491468" y="67915"/>
                  <a:pt x="497892" y="70210"/>
                  <a:pt x="502481" y="72963"/>
                </a:cubicBezTo>
                <a:cubicBezTo>
                  <a:pt x="510741" y="77552"/>
                  <a:pt x="512117" y="82600"/>
                  <a:pt x="506611" y="88106"/>
                </a:cubicBezTo>
                <a:lnTo>
                  <a:pt x="499728" y="94990"/>
                </a:lnTo>
                <a:lnTo>
                  <a:pt x="545157" y="93613"/>
                </a:lnTo>
                <a:cubicBezTo>
                  <a:pt x="548828" y="87189"/>
                  <a:pt x="553417" y="79387"/>
                  <a:pt x="558924" y="70210"/>
                </a:cubicBezTo>
                <a:cubicBezTo>
                  <a:pt x="560759" y="67456"/>
                  <a:pt x="562136" y="64703"/>
                  <a:pt x="563054" y="61950"/>
                </a:cubicBezTo>
                <a:close/>
                <a:moveTo>
                  <a:pt x="1267904" y="8260"/>
                </a:moveTo>
                <a:cubicBezTo>
                  <a:pt x="1290848" y="11931"/>
                  <a:pt x="1306909" y="15602"/>
                  <a:pt x="1316087" y="19273"/>
                </a:cubicBezTo>
                <a:cubicBezTo>
                  <a:pt x="1318840" y="20191"/>
                  <a:pt x="1319758" y="22027"/>
                  <a:pt x="1318840" y="24780"/>
                </a:cubicBezTo>
                <a:cubicBezTo>
                  <a:pt x="1318840" y="35793"/>
                  <a:pt x="1318840" y="47265"/>
                  <a:pt x="1318840" y="59196"/>
                </a:cubicBezTo>
                <a:lnTo>
                  <a:pt x="1318840" y="60573"/>
                </a:lnTo>
                <a:lnTo>
                  <a:pt x="1335360" y="60573"/>
                </a:lnTo>
                <a:cubicBezTo>
                  <a:pt x="1337196" y="60573"/>
                  <a:pt x="1340867" y="60114"/>
                  <a:pt x="1346373" y="59196"/>
                </a:cubicBezTo>
                <a:cubicBezTo>
                  <a:pt x="1361976" y="58279"/>
                  <a:pt x="1372071" y="56902"/>
                  <a:pt x="1376660" y="55066"/>
                </a:cubicBezTo>
                <a:cubicBezTo>
                  <a:pt x="1385838" y="66080"/>
                  <a:pt x="1391803" y="72963"/>
                  <a:pt x="1394557" y="75716"/>
                </a:cubicBezTo>
                <a:cubicBezTo>
                  <a:pt x="1396392" y="77552"/>
                  <a:pt x="1396851" y="78929"/>
                  <a:pt x="1395933" y="79846"/>
                </a:cubicBezTo>
                <a:cubicBezTo>
                  <a:pt x="1395015" y="80764"/>
                  <a:pt x="1393180" y="81223"/>
                  <a:pt x="1390427" y="81223"/>
                </a:cubicBezTo>
                <a:cubicBezTo>
                  <a:pt x="1387673" y="81223"/>
                  <a:pt x="1379872" y="81223"/>
                  <a:pt x="1367023" y="81223"/>
                </a:cubicBezTo>
                <a:cubicBezTo>
                  <a:pt x="1354175" y="82141"/>
                  <a:pt x="1345915" y="82600"/>
                  <a:pt x="1342243" y="82600"/>
                </a:cubicBezTo>
                <a:lnTo>
                  <a:pt x="1317464" y="83976"/>
                </a:lnTo>
                <a:lnTo>
                  <a:pt x="1317464" y="128029"/>
                </a:lnTo>
                <a:lnTo>
                  <a:pt x="1329853" y="128029"/>
                </a:lnTo>
                <a:cubicBezTo>
                  <a:pt x="1346373" y="128029"/>
                  <a:pt x="1361976" y="126653"/>
                  <a:pt x="1376660" y="123899"/>
                </a:cubicBezTo>
                <a:cubicBezTo>
                  <a:pt x="1378495" y="125735"/>
                  <a:pt x="1381708" y="129406"/>
                  <a:pt x="1386297" y="134913"/>
                </a:cubicBezTo>
                <a:cubicBezTo>
                  <a:pt x="1390885" y="140419"/>
                  <a:pt x="1393639" y="143632"/>
                  <a:pt x="1394557" y="144549"/>
                </a:cubicBezTo>
                <a:cubicBezTo>
                  <a:pt x="1396392" y="147303"/>
                  <a:pt x="1397310" y="149138"/>
                  <a:pt x="1397310" y="150056"/>
                </a:cubicBezTo>
                <a:cubicBezTo>
                  <a:pt x="1396392" y="150974"/>
                  <a:pt x="1394557" y="151433"/>
                  <a:pt x="1391803" y="151433"/>
                </a:cubicBezTo>
                <a:cubicBezTo>
                  <a:pt x="1374365" y="151433"/>
                  <a:pt x="1356469" y="151433"/>
                  <a:pt x="1338113" y="151433"/>
                </a:cubicBezTo>
                <a:lnTo>
                  <a:pt x="1254137" y="155563"/>
                </a:lnTo>
                <a:cubicBezTo>
                  <a:pt x="1251384" y="155563"/>
                  <a:pt x="1244959" y="156022"/>
                  <a:pt x="1234864" y="156939"/>
                </a:cubicBezTo>
                <a:cubicBezTo>
                  <a:pt x="1222933" y="157857"/>
                  <a:pt x="1215132" y="158316"/>
                  <a:pt x="1211461" y="158316"/>
                </a:cubicBezTo>
                <a:lnTo>
                  <a:pt x="1194941" y="133536"/>
                </a:lnTo>
                <a:cubicBezTo>
                  <a:pt x="1216967" y="133536"/>
                  <a:pt x="1233946" y="133536"/>
                  <a:pt x="1245877" y="133536"/>
                </a:cubicBezTo>
                <a:lnTo>
                  <a:pt x="1259644" y="132159"/>
                </a:lnTo>
                <a:lnTo>
                  <a:pt x="1259644" y="86730"/>
                </a:lnTo>
                <a:cubicBezTo>
                  <a:pt x="1256891" y="86730"/>
                  <a:pt x="1251384" y="87189"/>
                  <a:pt x="1243124" y="88106"/>
                </a:cubicBezTo>
                <a:cubicBezTo>
                  <a:pt x="1229357" y="89024"/>
                  <a:pt x="1217885" y="89942"/>
                  <a:pt x="1208707" y="90860"/>
                </a:cubicBezTo>
                <a:lnTo>
                  <a:pt x="1190811" y="64703"/>
                </a:lnTo>
                <a:cubicBezTo>
                  <a:pt x="1222015" y="64703"/>
                  <a:pt x="1242206" y="64244"/>
                  <a:pt x="1251384" y="63326"/>
                </a:cubicBezTo>
                <a:lnTo>
                  <a:pt x="1259644" y="63326"/>
                </a:lnTo>
                <a:lnTo>
                  <a:pt x="1259644" y="60573"/>
                </a:lnTo>
                <a:cubicBezTo>
                  <a:pt x="1259644" y="43135"/>
                  <a:pt x="1259644" y="27992"/>
                  <a:pt x="1259644" y="15143"/>
                </a:cubicBezTo>
                <a:cubicBezTo>
                  <a:pt x="1259644" y="8719"/>
                  <a:pt x="1262397" y="6425"/>
                  <a:pt x="1267904" y="8260"/>
                </a:cubicBezTo>
                <a:close/>
                <a:moveTo>
                  <a:pt x="861101" y="6883"/>
                </a:moveTo>
                <a:cubicBezTo>
                  <a:pt x="862936" y="6883"/>
                  <a:pt x="865460" y="7342"/>
                  <a:pt x="868672" y="8260"/>
                </a:cubicBezTo>
                <a:cubicBezTo>
                  <a:pt x="892534" y="14684"/>
                  <a:pt x="907678" y="19732"/>
                  <a:pt x="914102" y="23403"/>
                </a:cubicBezTo>
                <a:cubicBezTo>
                  <a:pt x="917773" y="24321"/>
                  <a:pt x="919609" y="27074"/>
                  <a:pt x="919609" y="31663"/>
                </a:cubicBezTo>
                <a:cubicBezTo>
                  <a:pt x="918691" y="41759"/>
                  <a:pt x="918232" y="55984"/>
                  <a:pt x="918232" y="74340"/>
                </a:cubicBezTo>
                <a:cubicBezTo>
                  <a:pt x="918232" y="157857"/>
                  <a:pt x="917314" y="221642"/>
                  <a:pt x="915479" y="265696"/>
                </a:cubicBezTo>
                <a:cubicBezTo>
                  <a:pt x="915479" y="294147"/>
                  <a:pt x="909054" y="309749"/>
                  <a:pt x="896206" y="312502"/>
                </a:cubicBezTo>
                <a:cubicBezTo>
                  <a:pt x="884275" y="318926"/>
                  <a:pt x="874638" y="324892"/>
                  <a:pt x="867296" y="330399"/>
                </a:cubicBezTo>
                <a:cubicBezTo>
                  <a:pt x="859036" y="335905"/>
                  <a:pt x="853529" y="338200"/>
                  <a:pt x="850776" y="337282"/>
                </a:cubicBezTo>
                <a:cubicBezTo>
                  <a:pt x="847105" y="335446"/>
                  <a:pt x="845728" y="330399"/>
                  <a:pt x="846646" y="322139"/>
                </a:cubicBezTo>
                <a:cubicBezTo>
                  <a:pt x="847564" y="307454"/>
                  <a:pt x="843434" y="298735"/>
                  <a:pt x="834256" y="295982"/>
                </a:cubicBezTo>
                <a:cubicBezTo>
                  <a:pt x="827831" y="292311"/>
                  <a:pt x="813606" y="285887"/>
                  <a:pt x="791579" y="276709"/>
                </a:cubicBezTo>
                <a:cubicBezTo>
                  <a:pt x="786991" y="274873"/>
                  <a:pt x="783320" y="273497"/>
                  <a:pt x="780566" y="272579"/>
                </a:cubicBezTo>
                <a:lnTo>
                  <a:pt x="783320" y="260189"/>
                </a:lnTo>
                <a:lnTo>
                  <a:pt x="850776" y="267072"/>
                </a:lnTo>
                <a:cubicBezTo>
                  <a:pt x="855365" y="262483"/>
                  <a:pt x="858118" y="196404"/>
                  <a:pt x="859036" y="68833"/>
                </a:cubicBezTo>
                <a:cubicBezTo>
                  <a:pt x="859036" y="66080"/>
                  <a:pt x="859036" y="59655"/>
                  <a:pt x="859036" y="49560"/>
                </a:cubicBezTo>
                <a:cubicBezTo>
                  <a:pt x="858118" y="34875"/>
                  <a:pt x="857659" y="24321"/>
                  <a:pt x="857659" y="17897"/>
                </a:cubicBezTo>
                <a:cubicBezTo>
                  <a:pt x="856741" y="11472"/>
                  <a:pt x="856741" y="8260"/>
                  <a:pt x="857659" y="8260"/>
                </a:cubicBezTo>
                <a:cubicBezTo>
                  <a:pt x="858118" y="7342"/>
                  <a:pt x="859265" y="6883"/>
                  <a:pt x="861101" y="6883"/>
                </a:cubicBezTo>
                <a:close/>
                <a:moveTo>
                  <a:pt x="1136433" y="4818"/>
                </a:moveTo>
                <a:cubicBezTo>
                  <a:pt x="1137809" y="4360"/>
                  <a:pt x="1139416" y="4589"/>
                  <a:pt x="1141251" y="5507"/>
                </a:cubicBezTo>
                <a:cubicBezTo>
                  <a:pt x="1144004" y="7342"/>
                  <a:pt x="1150429" y="10554"/>
                  <a:pt x="1160524" y="15143"/>
                </a:cubicBezTo>
                <a:cubicBezTo>
                  <a:pt x="1177044" y="23403"/>
                  <a:pt x="1186222" y="28451"/>
                  <a:pt x="1188057" y="30287"/>
                </a:cubicBezTo>
                <a:cubicBezTo>
                  <a:pt x="1190811" y="32122"/>
                  <a:pt x="1190352" y="34875"/>
                  <a:pt x="1186681" y="38547"/>
                </a:cubicBezTo>
                <a:cubicBezTo>
                  <a:pt x="1183928" y="40382"/>
                  <a:pt x="1177962" y="46807"/>
                  <a:pt x="1168784" y="57820"/>
                </a:cubicBezTo>
                <a:cubicBezTo>
                  <a:pt x="1145840" y="82600"/>
                  <a:pt x="1126108" y="100496"/>
                  <a:pt x="1109588" y="111510"/>
                </a:cubicBezTo>
                <a:lnTo>
                  <a:pt x="1150888" y="108756"/>
                </a:lnTo>
                <a:cubicBezTo>
                  <a:pt x="1150888" y="106921"/>
                  <a:pt x="1151805" y="105085"/>
                  <a:pt x="1153641" y="103250"/>
                </a:cubicBezTo>
                <a:cubicBezTo>
                  <a:pt x="1158230" y="94990"/>
                  <a:pt x="1161901" y="86271"/>
                  <a:pt x="1164654" y="77093"/>
                </a:cubicBezTo>
                <a:cubicBezTo>
                  <a:pt x="1166490" y="73422"/>
                  <a:pt x="1169243" y="72504"/>
                  <a:pt x="1172914" y="74340"/>
                </a:cubicBezTo>
                <a:cubicBezTo>
                  <a:pt x="1184845" y="80764"/>
                  <a:pt x="1199071" y="89024"/>
                  <a:pt x="1215591" y="99120"/>
                </a:cubicBezTo>
                <a:cubicBezTo>
                  <a:pt x="1220180" y="101873"/>
                  <a:pt x="1220180" y="104626"/>
                  <a:pt x="1215591" y="107380"/>
                </a:cubicBezTo>
                <a:cubicBezTo>
                  <a:pt x="1211002" y="111968"/>
                  <a:pt x="1204577" y="118393"/>
                  <a:pt x="1196317" y="126653"/>
                </a:cubicBezTo>
                <a:cubicBezTo>
                  <a:pt x="1167866" y="156939"/>
                  <a:pt x="1145381" y="177589"/>
                  <a:pt x="1128861" y="188603"/>
                </a:cubicBezTo>
                <a:lnTo>
                  <a:pt x="1190811" y="181719"/>
                </a:lnTo>
                <a:lnTo>
                  <a:pt x="1196317" y="195486"/>
                </a:lnTo>
                <a:lnTo>
                  <a:pt x="1121978" y="225772"/>
                </a:lnTo>
                <a:cubicBezTo>
                  <a:pt x="1110965" y="229443"/>
                  <a:pt x="1101328" y="234950"/>
                  <a:pt x="1093068" y="242292"/>
                </a:cubicBezTo>
                <a:lnTo>
                  <a:pt x="1072418" y="194109"/>
                </a:lnTo>
                <a:cubicBezTo>
                  <a:pt x="1088938" y="192274"/>
                  <a:pt x="1100410" y="186767"/>
                  <a:pt x="1106835" y="177589"/>
                </a:cubicBezTo>
                <a:cubicBezTo>
                  <a:pt x="1117848" y="163823"/>
                  <a:pt x="1127026" y="150515"/>
                  <a:pt x="1134368" y="137666"/>
                </a:cubicBezTo>
                <a:lnTo>
                  <a:pt x="1109588" y="145926"/>
                </a:lnTo>
                <a:cubicBezTo>
                  <a:pt x="1096739" y="150515"/>
                  <a:pt x="1087561" y="155104"/>
                  <a:pt x="1082055" y="159693"/>
                </a:cubicBezTo>
                <a:lnTo>
                  <a:pt x="1061405" y="115640"/>
                </a:lnTo>
                <a:cubicBezTo>
                  <a:pt x="1074254" y="112886"/>
                  <a:pt x="1082055" y="108756"/>
                  <a:pt x="1084808" y="103250"/>
                </a:cubicBezTo>
                <a:cubicBezTo>
                  <a:pt x="1094903" y="86730"/>
                  <a:pt x="1107752" y="63785"/>
                  <a:pt x="1123354" y="34417"/>
                </a:cubicBezTo>
                <a:cubicBezTo>
                  <a:pt x="1124272" y="31663"/>
                  <a:pt x="1125649" y="27992"/>
                  <a:pt x="1127484" y="23403"/>
                </a:cubicBezTo>
                <a:cubicBezTo>
                  <a:pt x="1129320" y="19732"/>
                  <a:pt x="1131156" y="14684"/>
                  <a:pt x="1132991" y="8260"/>
                </a:cubicBezTo>
                <a:cubicBezTo>
                  <a:pt x="1133909" y="6424"/>
                  <a:pt x="1135056" y="5277"/>
                  <a:pt x="1136433" y="4818"/>
                </a:cubicBezTo>
                <a:close/>
                <a:moveTo>
                  <a:pt x="143173" y="1377"/>
                </a:moveTo>
                <a:cubicBezTo>
                  <a:pt x="144090" y="459"/>
                  <a:pt x="146385" y="459"/>
                  <a:pt x="150056" y="1377"/>
                </a:cubicBezTo>
                <a:cubicBezTo>
                  <a:pt x="170247" y="6883"/>
                  <a:pt x="187685" y="12849"/>
                  <a:pt x="202369" y="19273"/>
                </a:cubicBezTo>
                <a:cubicBezTo>
                  <a:pt x="205122" y="20191"/>
                  <a:pt x="206040" y="22486"/>
                  <a:pt x="205122" y="26157"/>
                </a:cubicBezTo>
                <a:cubicBezTo>
                  <a:pt x="203287" y="39923"/>
                  <a:pt x="202369" y="56443"/>
                  <a:pt x="202369" y="75716"/>
                </a:cubicBezTo>
                <a:lnTo>
                  <a:pt x="246422" y="74340"/>
                </a:lnTo>
                <a:cubicBezTo>
                  <a:pt x="272120" y="71586"/>
                  <a:pt x="292770" y="69292"/>
                  <a:pt x="308372" y="67456"/>
                </a:cubicBezTo>
                <a:cubicBezTo>
                  <a:pt x="318467" y="75716"/>
                  <a:pt x="325351" y="82600"/>
                  <a:pt x="329022" y="88106"/>
                </a:cubicBezTo>
                <a:cubicBezTo>
                  <a:pt x="331775" y="90860"/>
                  <a:pt x="332693" y="92695"/>
                  <a:pt x="331775" y="93613"/>
                </a:cubicBezTo>
                <a:cubicBezTo>
                  <a:pt x="331775" y="95449"/>
                  <a:pt x="329939" y="96366"/>
                  <a:pt x="326268" y="96366"/>
                </a:cubicBezTo>
                <a:cubicBezTo>
                  <a:pt x="306077" y="96366"/>
                  <a:pt x="284051" y="96366"/>
                  <a:pt x="260189" y="96366"/>
                </a:cubicBezTo>
                <a:lnTo>
                  <a:pt x="213382" y="99120"/>
                </a:lnTo>
                <a:cubicBezTo>
                  <a:pt x="256518" y="158775"/>
                  <a:pt x="301947" y="201910"/>
                  <a:pt x="349672" y="228526"/>
                </a:cubicBezTo>
                <a:lnTo>
                  <a:pt x="348295" y="236786"/>
                </a:lnTo>
                <a:cubicBezTo>
                  <a:pt x="334528" y="246881"/>
                  <a:pt x="319385" y="261566"/>
                  <a:pt x="302865" y="280839"/>
                </a:cubicBezTo>
                <a:cubicBezTo>
                  <a:pt x="299194" y="285428"/>
                  <a:pt x="295523" y="285428"/>
                  <a:pt x="291852" y="280839"/>
                </a:cubicBezTo>
                <a:cubicBezTo>
                  <a:pt x="255141" y="246881"/>
                  <a:pt x="224854" y="188144"/>
                  <a:pt x="200992" y="104626"/>
                </a:cubicBezTo>
                <a:cubicBezTo>
                  <a:pt x="200992" y="149597"/>
                  <a:pt x="200992" y="195027"/>
                  <a:pt x="200992" y="240916"/>
                </a:cubicBezTo>
                <a:cubicBezTo>
                  <a:pt x="204663" y="240916"/>
                  <a:pt x="210170" y="240457"/>
                  <a:pt x="217512" y="239539"/>
                </a:cubicBezTo>
                <a:cubicBezTo>
                  <a:pt x="227608" y="238621"/>
                  <a:pt x="234491" y="237703"/>
                  <a:pt x="238162" y="236786"/>
                </a:cubicBezTo>
                <a:cubicBezTo>
                  <a:pt x="247340" y="245963"/>
                  <a:pt x="253305" y="252388"/>
                  <a:pt x="256059" y="256059"/>
                </a:cubicBezTo>
                <a:cubicBezTo>
                  <a:pt x="257894" y="257894"/>
                  <a:pt x="258812" y="259730"/>
                  <a:pt x="258812" y="261566"/>
                </a:cubicBezTo>
                <a:cubicBezTo>
                  <a:pt x="257894" y="262483"/>
                  <a:pt x="256059" y="262942"/>
                  <a:pt x="253305" y="262942"/>
                </a:cubicBezTo>
                <a:cubicBezTo>
                  <a:pt x="229443" y="262942"/>
                  <a:pt x="212464" y="263401"/>
                  <a:pt x="202369" y="264319"/>
                </a:cubicBezTo>
                <a:lnTo>
                  <a:pt x="200992" y="264319"/>
                </a:lnTo>
                <a:cubicBezTo>
                  <a:pt x="200992" y="279921"/>
                  <a:pt x="200992" y="295064"/>
                  <a:pt x="200992" y="309749"/>
                </a:cubicBezTo>
                <a:cubicBezTo>
                  <a:pt x="201910" y="317091"/>
                  <a:pt x="199616" y="321680"/>
                  <a:pt x="194109" y="323515"/>
                </a:cubicBezTo>
                <a:cubicBezTo>
                  <a:pt x="178507" y="329022"/>
                  <a:pt x="161987" y="333611"/>
                  <a:pt x="144549" y="337282"/>
                </a:cubicBezTo>
                <a:cubicBezTo>
                  <a:pt x="141796" y="338200"/>
                  <a:pt x="139960" y="338200"/>
                  <a:pt x="139043" y="337282"/>
                </a:cubicBezTo>
                <a:cubicBezTo>
                  <a:pt x="138125" y="337282"/>
                  <a:pt x="137666" y="335446"/>
                  <a:pt x="137666" y="331775"/>
                </a:cubicBezTo>
                <a:cubicBezTo>
                  <a:pt x="138584" y="324433"/>
                  <a:pt x="139043" y="313879"/>
                  <a:pt x="139043" y="300112"/>
                </a:cubicBezTo>
                <a:cubicBezTo>
                  <a:pt x="139960" y="285428"/>
                  <a:pt x="140419" y="274414"/>
                  <a:pt x="140419" y="267072"/>
                </a:cubicBezTo>
                <a:lnTo>
                  <a:pt x="128029" y="267072"/>
                </a:lnTo>
                <a:cubicBezTo>
                  <a:pt x="111509" y="268908"/>
                  <a:pt x="99578" y="269826"/>
                  <a:pt x="92236" y="269826"/>
                </a:cubicBezTo>
                <a:lnTo>
                  <a:pt x="74340" y="245046"/>
                </a:lnTo>
                <a:cubicBezTo>
                  <a:pt x="92695" y="245046"/>
                  <a:pt x="108297" y="244587"/>
                  <a:pt x="121146" y="243669"/>
                </a:cubicBezTo>
                <a:lnTo>
                  <a:pt x="140419" y="243669"/>
                </a:lnTo>
                <a:cubicBezTo>
                  <a:pt x="141337" y="217971"/>
                  <a:pt x="141796" y="192733"/>
                  <a:pt x="141796" y="167953"/>
                </a:cubicBezTo>
                <a:cubicBezTo>
                  <a:pt x="106003" y="221183"/>
                  <a:pt x="60114" y="262483"/>
                  <a:pt x="4130" y="291852"/>
                </a:cubicBezTo>
                <a:lnTo>
                  <a:pt x="0" y="284969"/>
                </a:lnTo>
                <a:cubicBezTo>
                  <a:pt x="47724" y="229902"/>
                  <a:pt x="85812" y="169329"/>
                  <a:pt x="114263" y="103250"/>
                </a:cubicBezTo>
                <a:lnTo>
                  <a:pt x="83976" y="104626"/>
                </a:lnTo>
                <a:cubicBezTo>
                  <a:pt x="66538" y="105544"/>
                  <a:pt x="51395" y="106462"/>
                  <a:pt x="38546" y="107380"/>
                </a:cubicBezTo>
                <a:lnTo>
                  <a:pt x="17897" y="81223"/>
                </a:lnTo>
                <a:cubicBezTo>
                  <a:pt x="26156" y="82141"/>
                  <a:pt x="42218" y="82141"/>
                  <a:pt x="66080" y="81223"/>
                </a:cubicBezTo>
                <a:cubicBezTo>
                  <a:pt x="71586" y="81223"/>
                  <a:pt x="75257" y="81223"/>
                  <a:pt x="77093" y="81223"/>
                </a:cubicBezTo>
                <a:lnTo>
                  <a:pt x="143173" y="78470"/>
                </a:lnTo>
                <a:cubicBezTo>
                  <a:pt x="143173" y="55525"/>
                  <a:pt x="142714" y="32581"/>
                  <a:pt x="141796" y="9637"/>
                </a:cubicBezTo>
                <a:cubicBezTo>
                  <a:pt x="141796" y="5048"/>
                  <a:pt x="142255" y="2295"/>
                  <a:pt x="143173" y="1377"/>
                </a:cubicBezTo>
                <a:close/>
                <a:moveTo>
                  <a:pt x="488714" y="0"/>
                </a:moveTo>
                <a:cubicBezTo>
                  <a:pt x="522672" y="1836"/>
                  <a:pt x="545616" y="6425"/>
                  <a:pt x="557547" y="13767"/>
                </a:cubicBezTo>
                <a:cubicBezTo>
                  <a:pt x="565807" y="17438"/>
                  <a:pt x="567184" y="22944"/>
                  <a:pt x="561677" y="30287"/>
                </a:cubicBezTo>
                <a:cubicBezTo>
                  <a:pt x="558924" y="33040"/>
                  <a:pt x="555712" y="35793"/>
                  <a:pt x="552041" y="38547"/>
                </a:cubicBezTo>
                <a:lnTo>
                  <a:pt x="593340" y="37170"/>
                </a:lnTo>
                <a:cubicBezTo>
                  <a:pt x="611696" y="35334"/>
                  <a:pt x="627757" y="33040"/>
                  <a:pt x="641524" y="30287"/>
                </a:cubicBezTo>
                <a:cubicBezTo>
                  <a:pt x="644277" y="32122"/>
                  <a:pt x="648407" y="35793"/>
                  <a:pt x="653913" y="41300"/>
                </a:cubicBezTo>
                <a:cubicBezTo>
                  <a:pt x="658502" y="45889"/>
                  <a:pt x="661715" y="49101"/>
                  <a:pt x="663550" y="50937"/>
                </a:cubicBezTo>
                <a:cubicBezTo>
                  <a:pt x="666303" y="53690"/>
                  <a:pt x="667221" y="55525"/>
                  <a:pt x="666303" y="56443"/>
                </a:cubicBezTo>
                <a:cubicBezTo>
                  <a:pt x="665386" y="57361"/>
                  <a:pt x="662632" y="57820"/>
                  <a:pt x="658043" y="57820"/>
                </a:cubicBezTo>
                <a:cubicBezTo>
                  <a:pt x="654372" y="57820"/>
                  <a:pt x="647030" y="57820"/>
                  <a:pt x="636017" y="57820"/>
                </a:cubicBezTo>
                <a:cubicBezTo>
                  <a:pt x="619497" y="58738"/>
                  <a:pt x="608025" y="59196"/>
                  <a:pt x="601600" y="59196"/>
                </a:cubicBezTo>
                <a:cubicBezTo>
                  <a:pt x="603436" y="61032"/>
                  <a:pt x="606189" y="62868"/>
                  <a:pt x="609860" y="64703"/>
                </a:cubicBezTo>
                <a:cubicBezTo>
                  <a:pt x="612614" y="66539"/>
                  <a:pt x="615367" y="68374"/>
                  <a:pt x="618120" y="70210"/>
                </a:cubicBezTo>
                <a:cubicBezTo>
                  <a:pt x="619956" y="71128"/>
                  <a:pt x="620874" y="72504"/>
                  <a:pt x="620874" y="74340"/>
                </a:cubicBezTo>
                <a:cubicBezTo>
                  <a:pt x="619956" y="75258"/>
                  <a:pt x="618579" y="76175"/>
                  <a:pt x="616744" y="77093"/>
                </a:cubicBezTo>
                <a:cubicBezTo>
                  <a:pt x="614908" y="78011"/>
                  <a:pt x="611696" y="79387"/>
                  <a:pt x="607107" y="81223"/>
                </a:cubicBezTo>
                <a:cubicBezTo>
                  <a:pt x="603436" y="83059"/>
                  <a:pt x="600224" y="84435"/>
                  <a:pt x="597470" y="85353"/>
                </a:cubicBezTo>
                <a:cubicBezTo>
                  <a:pt x="593799" y="88106"/>
                  <a:pt x="589669" y="89942"/>
                  <a:pt x="585080" y="90860"/>
                </a:cubicBezTo>
                <a:lnTo>
                  <a:pt x="619497" y="89483"/>
                </a:lnTo>
                <a:cubicBezTo>
                  <a:pt x="620415" y="89483"/>
                  <a:pt x="622250" y="89483"/>
                  <a:pt x="625004" y="89483"/>
                </a:cubicBezTo>
                <a:cubicBezTo>
                  <a:pt x="647948" y="87647"/>
                  <a:pt x="664009" y="85353"/>
                  <a:pt x="673187" y="82600"/>
                </a:cubicBezTo>
                <a:cubicBezTo>
                  <a:pt x="685118" y="94531"/>
                  <a:pt x="692001" y="101873"/>
                  <a:pt x="693837" y="104626"/>
                </a:cubicBezTo>
                <a:cubicBezTo>
                  <a:pt x="695672" y="107380"/>
                  <a:pt x="696590" y="109215"/>
                  <a:pt x="696590" y="110133"/>
                </a:cubicBezTo>
                <a:cubicBezTo>
                  <a:pt x="695672" y="111051"/>
                  <a:pt x="693378" y="111510"/>
                  <a:pt x="689707" y="111510"/>
                </a:cubicBezTo>
                <a:cubicBezTo>
                  <a:pt x="669516" y="111510"/>
                  <a:pt x="648866" y="111968"/>
                  <a:pt x="627757" y="112886"/>
                </a:cubicBezTo>
                <a:lnTo>
                  <a:pt x="598847" y="114263"/>
                </a:lnTo>
                <a:lnTo>
                  <a:pt x="600224" y="114263"/>
                </a:lnTo>
                <a:cubicBezTo>
                  <a:pt x="608484" y="118852"/>
                  <a:pt x="621791" y="126653"/>
                  <a:pt x="640147" y="137666"/>
                </a:cubicBezTo>
                <a:cubicBezTo>
                  <a:pt x="642900" y="139502"/>
                  <a:pt x="644736" y="140878"/>
                  <a:pt x="645654" y="141796"/>
                </a:cubicBezTo>
                <a:cubicBezTo>
                  <a:pt x="650242" y="144549"/>
                  <a:pt x="652537" y="146844"/>
                  <a:pt x="652537" y="148679"/>
                </a:cubicBezTo>
                <a:cubicBezTo>
                  <a:pt x="652537" y="150515"/>
                  <a:pt x="650701" y="152350"/>
                  <a:pt x="647030" y="154186"/>
                </a:cubicBezTo>
                <a:cubicBezTo>
                  <a:pt x="643359" y="155104"/>
                  <a:pt x="641524" y="157857"/>
                  <a:pt x="641524" y="162446"/>
                </a:cubicBezTo>
                <a:cubicBezTo>
                  <a:pt x="640606" y="170706"/>
                  <a:pt x="640147" y="186308"/>
                  <a:pt x="640147" y="209252"/>
                </a:cubicBezTo>
                <a:cubicBezTo>
                  <a:pt x="640147" y="214759"/>
                  <a:pt x="638311" y="218889"/>
                  <a:pt x="634640" y="221642"/>
                </a:cubicBezTo>
                <a:cubicBezTo>
                  <a:pt x="621791" y="227149"/>
                  <a:pt x="608484" y="231738"/>
                  <a:pt x="594717" y="235409"/>
                </a:cubicBezTo>
                <a:cubicBezTo>
                  <a:pt x="587375" y="238162"/>
                  <a:pt x="583704" y="235868"/>
                  <a:pt x="583704" y="228526"/>
                </a:cubicBezTo>
                <a:lnTo>
                  <a:pt x="583704" y="224396"/>
                </a:lnTo>
                <a:cubicBezTo>
                  <a:pt x="574526" y="224396"/>
                  <a:pt x="563513" y="224855"/>
                  <a:pt x="550664" y="225772"/>
                </a:cubicBezTo>
                <a:cubicBezTo>
                  <a:pt x="550664" y="225772"/>
                  <a:pt x="551582" y="226231"/>
                  <a:pt x="553417" y="227149"/>
                </a:cubicBezTo>
                <a:cubicBezTo>
                  <a:pt x="556171" y="228067"/>
                  <a:pt x="557088" y="229443"/>
                  <a:pt x="556171" y="231279"/>
                </a:cubicBezTo>
                <a:cubicBezTo>
                  <a:pt x="556171" y="236786"/>
                  <a:pt x="556171" y="242292"/>
                  <a:pt x="556171" y="247799"/>
                </a:cubicBezTo>
                <a:lnTo>
                  <a:pt x="607107" y="245046"/>
                </a:lnTo>
                <a:cubicBezTo>
                  <a:pt x="630969" y="245046"/>
                  <a:pt x="655290" y="243210"/>
                  <a:pt x="680070" y="239539"/>
                </a:cubicBezTo>
                <a:cubicBezTo>
                  <a:pt x="683741" y="243210"/>
                  <a:pt x="689707" y="250552"/>
                  <a:pt x="697967" y="261566"/>
                </a:cubicBezTo>
                <a:cubicBezTo>
                  <a:pt x="699802" y="264319"/>
                  <a:pt x="700720" y="266154"/>
                  <a:pt x="700720" y="267072"/>
                </a:cubicBezTo>
                <a:cubicBezTo>
                  <a:pt x="699802" y="267990"/>
                  <a:pt x="697967" y="268449"/>
                  <a:pt x="695213" y="268449"/>
                </a:cubicBezTo>
                <a:cubicBezTo>
                  <a:pt x="658502" y="268449"/>
                  <a:pt x="632346" y="268908"/>
                  <a:pt x="616744" y="269826"/>
                </a:cubicBezTo>
                <a:lnTo>
                  <a:pt x="556171" y="271202"/>
                </a:lnTo>
                <a:lnTo>
                  <a:pt x="556171" y="315255"/>
                </a:lnTo>
                <a:cubicBezTo>
                  <a:pt x="557088" y="320762"/>
                  <a:pt x="554794" y="323974"/>
                  <a:pt x="549287" y="324892"/>
                </a:cubicBezTo>
                <a:cubicBezTo>
                  <a:pt x="533685" y="329481"/>
                  <a:pt x="516706" y="332693"/>
                  <a:pt x="498351" y="334529"/>
                </a:cubicBezTo>
                <a:cubicBezTo>
                  <a:pt x="494680" y="335446"/>
                  <a:pt x="492844" y="333611"/>
                  <a:pt x="492844" y="329022"/>
                </a:cubicBezTo>
                <a:cubicBezTo>
                  <a:pt x="493762" y="322598"/>
                  <a:pt x="494221" y="303783"/>
                  <a:pt x="494221" y="272579"/>
                </a:cubicBezTo>
                <a:lnTo>
                  <a:pt x="426765" y="275332"/>
                </a:lnTo>
                <a:cubicBezTo>
                  <a:pt x="414834" y="275332"/>
                  <a:pt x="397855" y="276250"/>
                  <a:pt x="375828" y="278085"/>
                </a:cubicBezTo>
                <a:lnTo>
                  <a:pt x="359308" y="253306"/>
                </a:lnTo>
                <a:cubicBezTo>
                  <a:pt x="394184" y="253306"/>
                  <a:pt x="415292" y="252847"/>
                  <a:pt x="422635" y="251929"/>
                </a:cubicBezTo>
                <a:lnTo>
                  <a:pt x="494221" y="250552"/>
                </a:lnTo>
                <a:lnTo>
                  <a:pt x="494221" y="227149"/>
                </a:lnTo>
                <a:lnTo>
                  <a:pt x="466688" y="228526"/>
                </a:lnTo>
                <a:cubicBezTo>
                  <a:pt x="466688" y="229443"/>
                  <a:pt x="464852" y="230820"/>
                  <a:pt x="461181" y="232656"/>
                </a:cubicBezTo>
                <a:cubicBezTo>
                  <a:pt x="451086" y="237245"/>
                  <a:pt x="435942" y="241375"/>
                  <a:pt x="415751" y="245046"/>
                </a:cubicBezTo>
                <a:cubicBezTo>
                  <a:pt x="412080" y="246881"/>
                  <a:pt x="410245" y="244587"/>
                  <a:pt x="410245" y="238162"/>
                </a:cubicBezTo>
                <a:cubicBezTo>
                  <a:pt x="411162" y="227149"/>
                  <a:pt x="411621" y="203287"/>
                  <a:pt x="411621" y="166576"/>
                </a:cubicBezTo>
                <a:cubicBezTo>
                  <a:pt x="411621" y="155563"/>
                  <a:pt x="411621" y="143173"/>
                  <a:pt x="411621" y="129406"/>
                </a:cubicBezTo>
                <a:cubicBezTo>
                  <a:pt x="411621" y="124817"/>
                  <a:pt x="412080" y="122523"/>
                  <a:pt x="412998" y="122523"/>
                </a:cubicBezTo>
                <a:cubicBezTo>
                  <a:pt x="402902" y="122523"/>
                  <a:pt x="391430" y="123441"/>
                  <a:pt x="378581" y="125276"/>
                </a:cubicBezTo>
                <a:lnTo>
                  <a:pt x="357932" y="99120"/>
                </a:lnTo>
                <a:cubicBezTo>
                  <a:pt x="382711" y="99120"/>
                  <a:pt x="403820" y="99120"/>
                  <a:pt x="421258" y="99120"/>
                </a:cubicBezTo>
                <a:lnTo>
                  <a:pt x="459804" y="96366"/>
                </a:lnTo>
                <a:cubicBezTo>
                  <a:pt x="457051" y="90860"/>
                  <a:pt x="451086" y="81223"/>
                  <a:pt x="441908" y="67456"/>
                </a:cubicBezTo>
                <a:cubicBezTo>
                  <a:pt x="438237" y="68374"/>
                  <a:pt x="431812" y="68833"/>
                  <a:pt x="422635" y="68833"/>
                </a:cubicBezTo>
                <a:cubicBezTo>
                  <a:pt x="412539" y="69751"/>
                  <a:pt x="405656" y="70210"/>
                  <a:pt x="401985" y="70210"/>
                </a:cubicBezTo>
                <a:lnTo>
                  <a:pt x="382711" y="46807"/>
                </a:lnTo>
                <a:cubicBezTo>
                  <a:pt x="390971" y="46807"/>
                  <a:pt x="402902" y="46348"/>
                  <a:pt x="418505" y="45430"/>
                </a:cubicBezTo>
                <a:cubicBezTo>
                  <a:pt x="429518" y="45430"/>
                  <a:pt x="436860" y="45430"/>
                  <a:pt x="440531" y="45430"/>
                </a:cubicBezTo>
                <a:lnTo>
                  <a:pt x="506611" y="41300"/>
                </a:lnTo>
                <a:cubicBezTo>
                  <a:pt x="502940" y="33958"/>
                  <a:pt x="494680" y="22027"/>
                  <a:pt x="481831" y="5507"/>
                </a:cubicBezTo>
                <a:close/>
              </a:path>
            </a:pathLst>
          </a:custGeom>
          <a:solidFill>
            <a:srgbClr val="007684"/>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2800" dirty="0">
              <a:solidFill>
                <a:srgbClr val="007684"/>
              </a:solidFill>
              <a:latin typeface="方正颜宋简体_大" panose="02000000000000000000" pitchFamily="2" charset="-122"/>
              <a:ea typeface="方正颜宋简体_大" panose="02000000000000000000" pitchFamily="2" charset="-122"/>
              <a:cs typeface="方正颜宋简体_大" panose="02000000000000000000"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4" name="组合 13"/>
          <p:cNvGrpSpPr/>
          <p:nvPr/>
        </p:nvGrpSpPr>
        <p:grpSpPr>
          <a:xfrm>
            <a:off x="-875295" y="-875664"/>
            <a:ext cx="2974038" cy="2745105"/>
            <a:chOff x="6175344" y="342254"/>
            <a:chExt cx="7829785"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1259840" y="635784"/>
            <a:ext cx="823697" cy="760292"/>
            <a:chOff x="6175344" y="342254"/>
            <a:chExt cx="7829785" cy="7227071"/>
          </a:xfrm>
        </p:grpSpPr>
        <p:sp>
          <p:nvSpPr>
            <p:cNvPr id="18" name="六边形 1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圆角 7"/>
          <p:cNvSpPr/>
          <p:nvPr/>
        </p:nvSpPr>
        <p:spPr>
          <a:xfrm>
            <a:off x="2421652" y="2038221"/>
            <a:ext cx="7054775" cy="3118500"/>
          </a:xfrm>
          <a:prstGeom prst="roundRect">
            <a:avLst>
              <a:gd name="adj" fmla="val 0"/>
            </a:avLst>
          </a:prstGeom>
          <a:solidFill>
            <a:schemeClr val="tx1">
              <a:lumMod val="95000"/>
              <a:lumOff val="5000"/>
              <a:alpha val="5000"/>
            </a:schemeClr>
          </a:solidFill>
          <a:ln>
            <a:solidFill>
              <a:schemeClr val="bg1"/>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7" name="组合 36"/>
          <p:cNvGrpSpPr/>
          <p:nvPr/>
        </p:nvGrpSpPr>
        <p:grpSpPr>
          <a:xfrm>
            <a:off x="7558543" y="954064"/>
            <a:ext cx="5262302" cy="5007863"/>
            <a:chOff x="6175345" y="153244"/>
            <a:chExt cx="7792878" cy="7416082"/>
          </a:xfrm>
        </p:grpSpPr>
        <p:grpSp>
          <p:nvGrpSpPr>
            <p:cNvPr id="32" name="组合 31"/>
            <p:cNvGrpSpPr/>
            <p:nvPr/>
          </p:nvGrpSpPr>
          <p:grpSpPr>
            <a:xfrm>
              <a:off x="6175345" y="342257"/>
              <a:ext cx="7792878" cy="7227069"/>
              <a:chOff x="5983104" y="1708488"/>
              <a:chExt cx="4080721" cy="3784437"/>
            </a:xfrm>
          </p:grpSpPr>
          <p:sp>
            <p:nvSpPr>
              <p:cNvPr id="33" name="六边形 32"/>
              <p:cNvSpPr/>
              <p:nvPr/>
            </p:nvSpPr>
            <p:spPr>
              <a:xfrm rot="5400000">
                <a:off x="5811401" y="1880191"/>
                <a:ext cx="3784437"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rot="1849986">
              <a:off x="8151150" y="15324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15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1500" b="1" dirty="0">
                <a:gradFill>
                  <a:gsLst>
                    <a:gs pos="30000">
                      <a:srgbClr val="007684"/>
                    </a:gs>
                    <a:gs pos="83000">
                      <a:srgbClr val="016773"/>
                    </a:gs>
                  </a:gsLst>
                  <a:lin ang="5400000" scaled="0"/>
                </a:gradFill>
                <a:latin typeface="Bauhaus 93" panose="04030905020B02020C02" pitchFamily="82" charset="0"/>
              </a:endParaRPr>
            </a:p>
          </p:txBody>
        </p:sp>
      </p:grpSp>
      <p:grpSp>
        <p:nvGrpSpPr>
          <p:cNvPr id="23" name="组合 22"/>
          <p:cNvGrpSpPr/>
          <p:nvPr/>
        </p:nvGrpSpPr>
        <p:grpSpPr>
          <a:xfrm>
            <a:off x="3774000" y="4177005"/>
            <a:ext cx="4644000" cy="124808"/>
            <a:chOff x="3774000" y="4177005"/>
            <a:chExt cx="4644000" cy="124808"/>
          </a:xfrm>
        </p:grpSpPr>
        <p:pic>
          <p:nvPicPr>
            <p:cNvPr id="24" name="图片 23"/>
            <p:cNvPicPr>
              <a:picLocks noChangeAspect="1" noChangeArrowheads="1"/>
            </p:cNvPicPr>
            <p:nvPr/>
          </p:nvPicPr>
          <p:blipFill>
            <a:blip r:embed="rId6">
              <a:biLevel thresh="50000"/>
              <a:grayscl/>
              <a:extLst>
                <a:ext uri="{28A0092B-C50C-407E-A947-70E740481C1C}">
                  <a14:useLocalDpi xmlns:a14="http://schemas.microsoft.com/office/drawing/2010/main" val="0"/>
                </a:ext>
              </a:extLst>
            </a:blip>
            <a:srcRect l="88019" t="22713" r="2956" b="25211"/>
            <a:stretch>
              <a:fillRect/>
            </a:stretch>
          </p:blipFill>
          <p:spPr bwMode="auto">
            <a:xfrm rot="5400000">
              <a:off x="6033596" y="1917409"/>
              <a:ext cx="124808" cy="46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cxnSp>
          <p:nvCxnSpPr>
            <p:cNvPr id="25" name="直接连接符 24"/>
            <p:cNvCxnSpPr/>
            <p:nvPr/>
          </p:nvCxnSpPr>
          <p:spPr>
            <a:xfrm>
              <a:off x="3936000" y="4177005"/>
              <a:ext cx="4320000" cy="0"/>
            </a:xfrm>
            <a:prstGeom prst="line">
              <a:avLst/>
            </a:prstGeom>
            <a:ln w="12700">
              <a:gradFill>
                <a:gsLst>
                  <a:gs pos="0">
                    <a:schemeClr val="accent1">
                      <a:lumMod val="5000"/>
                      <a:lumOff val="95000"/>
                      <a:alpha val="0"/>
                    </a:schemeClr>
                  </a:gs>
                  <a:gs pos="69000">
                    <a:schemeClr val="bg1"/>
                  </a:gs>
                  <a:gs pos="100000">
                    <a:schemeClr val="bg1">
                      <a:alpha val="0"/>
                    </a:schemeClr>
                  </a:gs>
                  <a:gs pos="4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90173" y="4315438"/>
            <a:ext cx="2268815" cy="2101347"/>
            <a:chOff x="6175344" y="342254"/>
            <a:chExt cx="7803037" cy="7227071"/>
          </a:xfrm>
        </p:grpSpPr>
        <p:sp>
          <p:nvSpPr>
            <p:cNvPr id="6" name="六边形 5"/>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74548" y="5375868"/>
            <a:ext cx="1123874" cy="1040917"/>
            <a:chOff x="6175344" y="342254"/>
            <a:chExt cx="7803037" cy="7227071"/>
          </a:xfrm>
        </p:grpSpPr>
        <p:sp>
          <p:nvSpPr>
            <p:cNvPr id="12" name="六边形 1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0709077" y="4985964"/>
            <a:ext cx="1077639" cy="994687"/>
            <a:chOff x="6175344" y="342254"/>
            <a:chExt cx="7829785" cy="7227071"/>
          </a:xfrm>
        </p:grpSpPr>
        <p:sp>
          <p:nvSpPr>
            <p:cNvPr id="45" name="六边形 4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453603"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38" name="文本框 37"/>
          <p:cNvSpPr txBox="1"/>
          <p:nvPr/>
        </p:nvSpPr>
        <p:spPr>
          <a:xfrm>
            <a:off x="5307690"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0" name="文本框 39"/>
          <p:cNvSpPr txBox="1"/>
          <p:nvPr/>
        </p:nvSpPr>
        <p:spPr>
          <a:xfrm>
            <a:off x="6148718" y="2830973"/>
            <a:ext cx="766167" cy="1054879"/>
          </a:xfrm>
          <a:custGeom>
            <a:avLst/>
            <a:gdLst/>
            <a:ahLst/>
            <a:cxnLst/>
            <a:rect l="l" t="t" r="r" b="b"/>
            <a:pathLst>
              <a:path w="766167" h="1054879">
                <a:moveTo>
                  <a:pt x="478854" y="261193"/>
                </a:moveTo>
                <a:lnTo>
                  <a:pt x="578978" y="261193"/>
                </a:lnTo>
                <a:lnTo>
                  <a:pt x="578978" y="470148"/>
                </a:lnTo>
                <a:cubicBezTo>
                  <a:pt x="578978" y="548506"/>
                  <a:pt x="570272" y="619608"/>
                  <a:pt x="552859" y="683456"/>
                </a:cubicBezTo>
                <a:lnTo>
                  <a:pt x="635570" y="683456"/>
                </a:lnTo>
                <a:lnTo>
                  <a:pt x="635570" y="914177"/>
                </a:lnTo>
                <a:cubicBezTo>
                  <a:pt x="635570" y="922883"/>
                  <a:pt x="638472" y="927236"/>
                  <a:pt x="644277" y="927236"/>
                </a:cubicBezTo>
                <a:cubicBezTo>
                  <a:pt x="650081" y="927236"/>
                  <a:pt x="655885" y="924334"/>
                  <a:pt x="661690" y="918530"/>
                </a:cubicBezTo>
                <a:cubicBezTo>
                  <a:pt x="687809" y="874998"/>
                  <a:pt x="712477" y="824210"/>
                  <a:pt x="735694" y="766167"/>
                </a:cubicBezTo>
                <a:lnTo>
                  <a:pt x="748754" y="770520"/>
                </a:lnTo>
                <a:cubicBezTo>
                  <a:pt x="716830" y="854682"/>
                  <a:pt x="718281" y="908372"/>
                  <a:pt x="753107" y="931589"/>
                </a:cubicBezTo>
                <a:cubicBezTo>
                  <a:pt x="761814" y="937394"/>
                  <a:pt x="764716" y="941747"/>
                  <a:pt x="761814" y="944649"/>
                </a:cubicBezTo>
                <a:cubicBezTo>
                  <a:pt x="735694" y="1020105"/>
                  <a:pt x="690711" y="1056382"/>
                  <a:pt x="626864" y="1053480"/>
                </a:cubicBezTo>
                <a:cubicBezTo>
                  <a:pt x="539799" y="1062186"/>
                  <a:pt x="499169" y="1030262"/>
                  <a:pt x="504973" y="957709"/>
                </a:cubicBezTo>
                <a:lnTo>
                  <a:pt x="504973" y="792286"/>
                </a:lnTo>
                <a:cubicBezTo>
                  <a:pt x="458539" y="885155"/>
                  <a:pt x="358415" y="972220"/>
                  <a:pt x="204601" y="1053480"/>
                </a:cubicBezTo>
                <a:lnTo>
                  <a:pt x="200248" y="1040420"/>
                </a:lnTo>
                <a:cubicBezTo>
                  <a:pt x="385985" y="895313"/>
                  <a:pt x="478854" y="705222"/>
                  <a:pt x="478854" y="470148"/>
                </a:cubicBezTo>
                <a:close/>
                <a:moveTo>
                  <a:pt x="644277" y="0"/>
                </a:moveTo>
                <a:lnTo>
                  <a:pt x="766167" y="47885"/>
                </a:lnTo>
                <a:lnTo>
                  <a:pt x="726988" y="100124"/>
                </a:lnTo>
                <a:lnTo>
                  <a:pt x="726988" y="626864"/>
                </a:lnTo>
                <a:lnTo>
                  <a:pt x="605098" y="626864"/>
                </a:lnTo>
                <a:lnTo>
                  <a:pt x="605098" y="134950"/>
                </a:lnTo>
                <a:lnTo>
                  <a:pt x="452735" y="134950"/>
                </a:lnTo>
                <a:lnTo>
                  <a:pt x="452735" y="622511"/>
                </a:lnTo>
                <a:lnTo>
                  <a:pt x="335198" y="622511"/>
                </a:lnTo>
                <a:lnTo>
                  <a:pt x="330845" y="626864"/>
                </a:lnTo>
                <a:lnTo>
                  <a:pt x="330845" y="69651"/>
                </a:lnTo>
                <a:lnTo>
                  <a:pt x="300372" y="117537"/>
                </a:lnTo>
                <a:cubicBezTo>
                  <a:pt x="300372" y="280057"/>
                  <a:pt x="284410" y="415007"/>
                  <a:pt x="252487" y="522386"/>
                </a:cubicBezTo>
                <a:cubicBezTo>
                  <a:pt x="301823" y="618157"/>
                  <a:pt x="327942" y="703771"/>
                  <a:pt x="330845" y="779227"/>
                </a:cubicBezTo>
                <a:cubicBezTo>
                  <a:pt x="330845" y="837270"/>
                  <a:pt x="314883" y="872095"/>
                  <a:pt x="282959" y="883704"/>
                </a:cubicBezTo>
                <a:cubicBezTo>
                  <a:pt x="242329" y="889508"/>
                  <a:pt x="217661" y="866291"/>
                  <a:pt x="208954" y="814052"/>
                </a:cubicBezTo>
                <a:cubicBezTo>
                  <a:pt x="203150" y="767618"/>
                  <a:pt x="197346" y="726988"/>
                  <a:pt x="191541" y="692162"/>
                </a:cubicBezTo>
                <a:cubicBezTo>
                  <a:pt x="142205" y="790835"/>
                  <a:pt x="81260" y="869193"/>
                  <a:pt x="8706" y="927236"/>
                </a:cubicBezTo>
                <a:lnTo>
                  <a:pt x="0" y="922883"/>
                </a:lnTo>
                <a:cubicBezTo>
                  <a:pt x="63847" y="812601"/>
                  <a:pt x="111732" y="679102"/>
                  <a:pt x="143656" y="522386"/>
                </a:cubicBezTo>
                <a:cubicBezTo>
                  <a:pt x="120439" y="444028"/>
                  <a:pt x="87064" y="351160"/>
                  <a:pt x="43532" y="243780"/>
                </a:cubicBezTo>
                <a:cubicBezTo>
                  <a:pt x="40630" y="235074"/>
                  <a:pt x="37728" y="229269"/>
                  <a:pt x="34826" y="226367"/>
                </a:cubicBezTo>
                <a:lnTo>
                  <a:pt x="43532" y="217661"/>
                </a:lnTo>
                <a:cubicBezTo>
                  <a:pt x="84162" y="261193"/>
                  <a:pt x="126243" y="316334"/>
                  <a:pt x="169775" y="383083"/>
                </a:cubicBezTo>
                <a:cubicBezTo>
                  <a:pt x="181384" y="296019"/>
                  <a:pt x="187188" y="216210"/>
                  <a:pt x="187188" y="143656"/>
                </a:cubicBezTo>
                <a:lnTo>
                  <a:pt x="17413" y="143656"/>
                </a:lnTo>
                <a:lnTo>
                  <a:pt x="17413" y="65298"/>
                </a:lnTo>
                <a:lnTo>
                  <a:pt x="187188" y="65298"/>
                </a:lnTo>
                <a:lnTo>
                  <a:pt x="226367" y="13059"/>
                </a:lnTo>
                <a:lnTo>
                  <a:pt x="330845" y="56592"/>
                </a:lnTo>
                <a:lnTo>
                  <a:pt x="330845" y="8706"/>
                </a:lnTo>
                <a:lnTo>
                  <a:pt x="452735" y="8706"/>
                </a:lnTo>
                <a:lnTo>
                  <a:pt x="452735" y="56592"/>
                </a:lnTo>
                <a:lnTo>
                  <a:pt x="600744" y="56592"/>
                </a:ln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2" name="文本框 41"/>
          <p:cNvSpPr txBox="1"/>
          <p:nvPr/>
        </p:nvSpPr>
        <p:spPr>
          <a:xfrm>
            <a:off x="7011511" y="2830973"/>
            <a:ext cx="757461" cy="1057833"/>
          </a:xfrm>
          <a:custGeom>
            <a:avLst/>
            <a:gdLst/>
            <a:ahLst/>
            <a:cxnLst/>
            <a:rect l="l" t="t" r="r" b="b"/>
            <a:pathLst>
              <a:path w="757461" h="1057833">
                <a:moveTo>
                  <a:pt x="252487" y="892410"/>
                </a:moveTo>
                <a:lnTo>
                  <a:pt x="252487" y="940296"/>
                </a:lnTo>
                <a:lnTo>
                  <a:pt x="531093" y="940296"/>
                </a:lnTo>
                <a:lnTo>
                  <a:pt x="531093" y="892410"/>
                </a:lnTo>
                <a:close/>
                <a:moveTo>
                  <a:pt x="252487" y="761814"/>
                </a:moveTo>
                <a:lnTo>
                  <a:pt x="252487" y="818406"/>
                </a:lnTo>
                <a:lnTo>
                  <a:pt x="531093" y="818406"/>
                </a:lnTo>
                <a:lnTo>
                  <a:pt x="531093" y="761814"/>
                </a:lnTo>
                <a:close/>
                <a:moveTo>
                  <a:pt x="252487" y="635570"/>
                </a:moveTo>
                <a:lnTo>
                  <a:pt x="252487" y="692162"/>
                </a:lnTo>
                <a:lnTo>
                  <a:pt x="531093" y="692162"/>
                </a:lnTo>
                <a:lnTo>
                  <a:pt x="531093" y="635570"/>
                </a:lnTo>
                <a:close/>
                <a:moveTo>
                  <a:pt x="565919" y="0"/>
                </a:moveTo>
                <a:lnTo>
                  <a:pt x="687809" y="100124"/>
                </a:lnTo>
                <a:cubicBezTo>
                  <a:pt x="609451" y="123341"/>
                  <a:pt x="525289" y="136401"/>
                  <a:pt x="435322" y="139303"/>
                </a:cubicBezTo>
                <a:cubicBezTo>
                  <a:pt x="435322" y="145107"/>
                  <a:pt x="433871" y="155265"/>
                  <a:pt x="430969" y="169775"/>
                </a:cubicBezTo>
                <a:cubicBezTo>
                  <a:pt x="428067" y="187188"/>
                  <a:pt x="425165" y="198797"/>
                  <a:pt x="422263" y="204601"/>
                </a:cubicBezTo>
                <a:lnTo>
                  <a:pt x="692163" y="204601"/>
                </a:lnTo>
                <a:lnTo>
                  <a:pt x="692163" y="282959"/>
                </a:lnTo>
                <a:lnTo>
                  <a:pt x="400497" y="282959"/>
                </a:lnTo>
                <a:cubicBezTo>
                  <a:pt x="397594" y="291666"/>
                  <a:pt x="391790" y="306176"/>
                  <a:pt x="383084" y="326491"/>
                </a:cubicBezTo>
                <a:cubicBezTo>
                  <a:pt x="374377" y="349709"/>
                  <a:pt x="368573" y="365670"/>
                  <a:pt x="365671" y="374377"/>
                </a:cubicBezTo>
                <a:lnTo>
                  <a:pt x="757461" y="374377"/>
                </a:lnTo>
                <a:lnTo>
                  <a:pt x="757461" y="448382"/>
                </a:lnTo>
                <a:lnTo>
                  <a:pt x="326492" y="448382"/>
                </a:lnTo>
                <a:cubicBezTo>
                  <a:pt x="300372" y="489012"/>
                  <a:pt x="271351" y="526740"/>
                  <a:pt x="239427" y="561565"/>
                </a:cubicBezTo>
                <a:lnTo>
                  <a:pt x="522387" y="561565"/>
                </a:lnTo>
                <a:lnTo>
                  <a:pt x="557213" y="509327"/>
                </a:lnTo>
                <a:lnTo>
                  <a:pt x="692163" y="548506"/>
                </a:lnTo>
                <a:lnTo>
                  <a:pt x="657337" y="600744"/>
                </a:lnTo>
                <a:lnTo>
                  <a:pt x="657337" y="1057833"/>
                </a:lnTo>
                <a:lnTo>
                  <a:pt x="531093" y="1057833"/>
                </a:lnTo>
                <a:lnTo>
                  <a:pt x="531093" y="1009947"/>
                </a:lnTo>
                <a:lnTo>
                  <a:pt x="252487" y="1009947"/>
                </a:lnTo>
                <a:lnTo>
                  <a:pt x="252487" y="1057833"/>
                </a:lnTo>
                <a:lnTo>
                  <a:pt x="126244" y="1057833"/>
                </a:lnTo>
                <a:lnTo>
                  <a:pt x="126244" y="661690"/>
                </a:lnTo>
                <a:cubicBezTo>
                  <a:pt x="120439" y="664592"/>
                  <a:pt x="110282" y="670396"/>
                  <a:pt x="95771" y="679102"/>
                </a:cubicBezTo>
                <a:cubicBezTo>
                  <a:pt x="63847" y="699418"/>
                  <a:pt x="33375" y="716830"/>
                  <a:pt x="4353" y="731341"/>
                </a:cubicBezTo>
                <a:lnTo>
                  <a:pt x="0" y="722635"/>
                </a:lnTo>
                <a:cubicBezTo>
                  <a:pt x="84162" y="635570"/>
                  <a:pt x="149461" y="544153"/>
                  <a:pt x="195895" y="448382"/>
                </a:cubicBezTo>
                <a:lnTo>
                  <a:pt x="8707" y="448382"/>
                </a:lnTo>
                <a:lnTo>
                  <a:pt x="8707" y="374377"/>
                </a:lnTo>
                <a:lnTo>
                  <a:pt x="230721" y="374377"/>
                </a:lnTo>
                <a:cubicBezTo>
                  <a:pt x="242330" y="342453"/>
                  <a:pt x="253938" y="311981"/>
                  <a:pt x="265547" y="282959"/>
                </a:cubicBezTo>
                <a:lnTo>
                  <a:pt x="74005" y="282959"/>
                </a:lnTo>
                <a:lnTo>
                  <a:pt x="74005" y="204601"/>
                </a:lnTo>
                <a:lnTo>
                  <a:pt x="287313" y="204601"/>
                </a:lnTo>
                <a:cubicBezTo>
                  <a:pt x="287313" y="198797"/>
                  <a:pt x="290215" y="184286"/>
                  <a:pt x="296019" y="161069"/>
                </a:cubicBezTo>
                <a:cubicBezTo>
                  <a:pt x="298921" y="152363"/>
                  <a:pt x="300372" y="145107"/>
                  <a:pt x="300372" y="139303"/>
                </a:cubicBezTo>
                <a:cubicBezTo>
                  <a:pt x="236525" y="136401"/>
                  <a:pt x="153814" y="124792"/>
                  <a:pt x="52239" y="104477"/>
                </a:cubicBezTo>
                <a:lnTo>
                  <a:pt x="52239" y="91417"/>
                </a:lnTo>
                <a:cubicBezTo>
                  <a:pt x="240878" y="82711"/>
                  <a:pt x="412105" y="52238"/>
                  <a:pt x="565919"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13810</TotalTime>
  <Words>9507</Words>
  <Application>Microsoft Office PowerPoint</Application>
  <PresentationFormat>宽屏</PresentationFormat>
  <Paragraphs>545</Paragraphs>
  <Slides>52</Slides>
  <Notes>51</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52</vt:i4>
      </vt:variant>
    </vt:vector>
  </HeadingPairs>
  <TitlesOfParts>
    <vt:vector size="70" baseType="lpstr">
      <vt:lpstr>Inter</vt:lpstr>
      <vt:lpstr>等线</vt:lpstr>
      <vt:lpstr>方正美黑简体</vt:lpstr>
      <vt:lpstr>方正颜宋简体_大</vt:lpstr>
      <vt:lpstr>方正颜宋简体_中</vt:lpstr>
      <vt:lpstr>汉仪玄宋褂</vt:lpstr>
      <vt:lpstr>黑体</vt:lpstr>
      <vt:lpstr>华文楷体</vt:lpstr>
      <vt:lpstr>华文中宋</vt:lpstr>
      <vt:lpstr>微软雅黑</vt:lpstr>
      <vt:lpstr>Arial</vt:lpstr>
      <vt:lpstr>Bauhaus 93</vt:lpstr>
      <vt:lpstr>Calibri</vt:lpstr>
      <vt:lpstr>Cambria Math</vt:lpstr>
      <vt:lpstr>Times New Roman</vt:lpstr>
      <vt:lpstr>Wingdings</vt:lpstr>
      <vt:lpstr>Wingdings 2</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dell</cp:lastModifiedBy>
  <cp:revision>1037</cp:revision>
  <dcterms:created xsi:type="dcterms:W3CDTF">2023-07-27T09:00:19Z</dcterms:created>
  <dcterms:modified xsi:type="dcterms:W3CDTF">2026-07-15T10:47:00Z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99C1EA3A909EDAC79730C264AE7BE5BF_42</vt:lpwstr>
  </property>
  <property fmtid="{D5CDD505-2E9C-101B-9397-08002B2CF9AE}" pid="3" name="KSOProductBuildVer">
    <vt:lpwstr>2052-5.4.0.7910</vt:lpwstr>
  </property>
</Properties>
</file>