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8"/>
  </p:notesMasterIdLst>
  <p:sldIdLst>
    <p:sldId id="256" r:id="rId2"/>
    <p:sldId id="257" r:id="rId3"/>
    <p:sldId id="263" r:id="rId4"/>
    <p:sldId id="258" r:id="rId5"/>
    <p:sldId id="273" r:id="rId6"/>
    <p:sldId id="2076139155" r:id="rId7"/>
    <p:sldId id="2076139203" r:id="rId8"/>
    <p:sldId id="2076139118" r:id="rId9"/>
    <p:sldId id="2076139156" r:id="rId10"/>
    <p:sldId id="2076139157" r:id="rId11"/>
    <p:sldId id="2076139158" r:id="rId12"/>
    <p:sldId id="2076139159" r:id="rId13"/>
    <p:sldId id="2076139160" r:id="rId14"/>
    <p:sldId id="2076139162" r:id="rId15"/>
    <p:sldId id="2076139221" r:id="rId16"/>
    <p:sldId id="2076139163" r:id="rId17"/>
    <p:sldId id="2076139164" r:id="rId18"/>
    <p:sldId id="2076139218" r:id="rId19"/>
    <p:sldId id="2076139165" r:id="rId20"/>
    <p:sldId id="2076139220" r:id="rId21"/>
    <p:sldId id="2076139222" r:id="rId22"/>
    <p:sldId id="2076139167" r:id="rId23"/>
    <p:sldId id="2076139168" r:id="rId24"/>
    <p:sldId id="2076139169" r:id="rId25"/>
    <p:sldId id="2076139166" r:id="rId26"/>
    <p:sldId id="2076139170" r:id="rId27"/>
    <p:sldId id="2076139171" r:id="rId28"/>
    <p:sldId id="2076139172" r:id="rId29"/>
    <p:sldId id="2076139173" r:id="rId30"/>
    <p:sldId id="2076139227" r:id="rId31"/>
    <p:sldId id="2076139174" r:id="rId32"/>
    <p:sldId id="2076139204" r:id="rId33"/>
    <p:sldId id="2076139175" r:id="rId34"/>
    <p:sldId id="2076139176" r:id="rId35"/>
    <p:sldId id="2076139205" r:id="rId36"/>
    <p:sldId id="2076139207" r:id="rId37"/>
    <p:sldId id="2076139208" r:id="rId38"/>
    <p:sldId id="2076139209" r:id="rId39"/>
    <p:sldId id="2076139210" r:id="rId40"/>
    <p:sldId id="2076139211" r:id="rId41"/>
    <p:sldId id="2076139212" r:id="rId42"/>
    <p:sldId id="2076139177" r:id="rId43"/>
    <p:sldId id="2076139214" r:id="rId44"/>
    <p:sldId id="2076139213" r:id="rId45"/>
    <p:sldId id="2076139215" r:id="rId46"/>
    <p:sldId id="2076139178" r:id="rId47"/>
    <p:sldId id="2076139179" r:id="rId48"/>
    <p:sldId id="2076139223" r:id="rId49"/>
    <p:sldId id="2076139180" r:id="rId50"/>
    <p:sldId id="2076139182" r:id="rId51"/>
    <p:sldId id="2076139181" r:id="rId52"/>
    <p:sldId id="2076139183" r:id="rId53"/>
    <p:sldId id="2076139217" r:id="rId54"/>
    <p:sldId id="2076139184" r:id="rId55"/>
    <p:sldId id="2076139185" r:id="rId56"/>
    <p:sldId id="2076139186" r:id="rId57"/>
    <p:sldId id="2076139187" r:id="rId58"/>
    <p:sldId id="2076139188" r:id="rId59"/>
    <p:sldId id="2076139189" r:id="rId60"/>
    <p:sldId id="2076139190" r:id="rId61"/>
    <p:sldId id="2076139191" r:id="rId62"/>
    <p:sldId id="2076139194" r:id="rId63"/>
    <p:sldId id="2076139224" r:id="rId64"/>
    <p:sldId id="2076139193" r:id="rId65"/>
    <p:sldId id="2076139195" r:id="rId66"/>
    <p:sldId id="2076139196" r:id="rId67"/>
    <p:sldId id="2076139197" r:id="rId68"/>
    <p:sldId id="2076139198" r:id="rId69"/>
    <p:sldId id="2076139199" r:id="rId70"/>
    <p:sldId id="2076139200" r:id="rId71"/>
    <p:sldId id="2076139201" r:id="rId72"/>
    <p:sldId id="2076139226" r:id="rId73"/>
    <p:sldId id="2076139202" r:id="rId74"/>
    <p:sldId id="264" r:id="rId75"/>
    <p:sldId id="269" r:id="rId76"/>
    <p:sldId id="270" r:id="rId7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7480"/>
    <a:srgbClr val="01717E"/>
    <a:srgbClr val="017C84"/>
    <a:srgbClr val="51ADB7"/>
    <a:srgbClr val="014D53"/>
    <a:srgbClr val="007684"/>
    <a:srgbClr val="222222"/>
    <a:srgbClr val="EEF7F8"/>
    <a:srgbClr val="F7FBFB"/>
    <a:srgbClr val="F2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86400" autoAdjust="0"/>
  </p:normalViewPr>
  <p:slideViewPr>
    <p:cSldViewPr snapToGrid="0">
      <p:cViewPr varScale="1">
        <p:scale>
          <a:sx n="110" d="100"/>
          <a:sy n="110" d="100"/>
        </p:scale>
        <p:origin x="630" y="108"/>
      </p:cViewPr>
      <p:guideLst/>
    </p:cSldViewPr>
  </p:slideViewPr>
  <p:outlineViewPr>
    <p:cViewPr>
      <p:scale>
        <a:sx n="33" d="100"/>
        <a:sy n="33" d="100"/>
      </p:scale>
      <p:origin x="0" y="-752"/>
    </p:cViewPr>
  </p:outlineViewPr>
  <p:notesTextViewPr>
    <p:cViewPr>
      <p:scale>
        <a:sx n="1" d="1"/>
        <a:sy n="1" d="1"/>
      </p:scale>
      <p:origin x="0" y="0"/>
    </p:cViewPr>
  </p:notesTextViewPr>
  <p:sorterViewPr>
    <p:cViewPr varScale="1">
      <p:scale>
        <a:sx n="100" d="100"/>
        <a:sy n="100" d="100"/>
      </p:scale>
      <p:origin x="0" y="-5739"/>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5224A5-F0C5-4B72-8135-2FAC1AE300C9}" type="datetimeFigureOut">
              <a:rPr lang="zh-CN" altLang="en-US" smtClean="0"/>
              <a:t>2026/7/15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8AECDA-B852-4CA6-98F9-FDA299AD4FD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封面</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章节页</a:t>
            </a:r>
            <a:endParaRPr lang="en-US" altLang="zh-CN"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知识卡片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目录</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a:t>
            </a:fld>
            <a:endParaRPr lang="zh-CN" altLang="en-US"/>
          </a:p>
        </p:txBody>
      </p:sp>
    </p:spTree>
    <p:extLst>
      <p:ext uri="{BB962C8B-B14F-4D97-AF65-F5344CB8AC3E}">
        <p14:creationId xmlns:p14="http://schemas.microsoft.com/office/powerpoint/2010/main" val="15660134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a:t>
            </a:fld>
            <a:endParaRPr lang="zh-CN" altLang="en-US"/>
          </a:p>
        </p:txBody>
      </p:sp>
    </p:spTree>
    <p:extLst>
      <p:ext uri="{BB962C8B-B14F-4D97-AF65-F5344CB8AC3E}">
        <p14:creationId xmlns:p14="http://schemas.microsoft.com/office/powerpoint/2010/main" val="29409157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8</a:t>
            </a:fld>
            <a:endParaRPr lang="zh-CN" altLang="en-US"/>
          </a:p>
        </p:txBody>
      </p:sp>
    </p:spTree>
    <p:extLst>
      <p:ext uri="{BB962C8B-B14F-4D97-AF65-F5344CB8AC3E}">
        <p14:creationId xmlns:p14="http://schemas.microsoft.com/office/powerpoint/2010/main" val="25873503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9</a:t>
            </a:fld>
            <a:endParaRPr lang="zh-CN" altLang="en-US"/>
          </a:p>
        </p:txBody>
      </p:sp>
    </p:spTree>
    <p:extLst>
      <p:ext uri="{BB962C8B-B14F-4D97-AF65-F5344CB8AC3E}">
        <p14:creationId xmlns:p14="http://schemas.microsoft.com/office/powerpoint/2010/main" val="13956644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10</a:t>
            </a:fld>
            <a:endParaRPr lang="zh-CN" altLang="en-US"/>
          </a:p>
        </p:txBody>
      </p:sp>
    </p:spTree>
    <p:extLst>
      <p:ext uri="{BB962C8B-B14F-4D97-AF65-F5344CB8AC3E}">
        <p14:creationId xmlns:p14="http://schemas.microsoft.com/office/powerpoint/2010/main" val="18365371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11</a:t>
            </a:fld>
            <a:endParaRPr lang="zh-CN" altLang="en-US"/>
          </a:p>
        </p:txBody>
      </p:sp>
    </p:spTree>
    <p:extLst>
      <p:ext uri="{BB962C8B-B14F-4D97-AF65-F5344CB8AC3E}">
        <p14:creationId xmlns:p14="http://schemas.microsoft.com/office/powerpoint/2010/main" val="38819701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12</a:t>
            </a:fld>
            <a:endParaRPr lang="zh-CN" altLang="en-US"/>
          </a:p>
        </p:txBody>
      </p:sp>
    </p:spTree>
    <p:extLst>
      <p:ext uri="{BB962C8B-B14F-4D97-AF65-F5344CB8AC3E}">
        <p14:creationId xmlns:p14="http://schemas.microsoft.com/office/powerpoint/2010/main" val="38800901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13</a:t>
            </a:fld>
            <a:endParaRPr lang="zh-CN" altLang="en-US"/>
          </a:p>
        </p:txBody>
      </p:sp>
    </p:spTree>
    <p:extLst>
      <p:ext uri="{BB962C8B-B14F-4D97-AF65-F5344CB8AC3E}">
        <p14:creationId xmlns:p14="http://schemas.microsoft.com/office/powerpoint/2010/main" val="6286171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14</a:t>
            </a:fld>
            <a:endParaRPr lang="zh-CN" altLang="en-US"/>
          </a:p>
        </p:txBody>
      </p:sp>
    </p:spTree>
    <p:extLst>
      <p:ext uri="{BB962C8B-B14F-4D97-AF65-F5344CB8AC3E}">
        <p14:creationId xmlns:p14="http://schemas.microsoft.com/office/powerpoint/2010/main" val="12124714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16</a:t>
            </a:fld>
            <a:endParaRPr lang="zh-CN" altLang="en-US"/>
          </a:p>
        </p:txBody>
      </p:sp>
    </p:spTree>
    <p:extLst>
      <p:ext uri="{BB962C8B-B14F-4D97-AF65-F5344CB8AC3E}">
        <p14:creationId xmlns:p14="http://schemas.microsoft.com/office/powerpoint/2010/main" val="471129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17</a:t>
            </a:fld>
            <a:endParaRPr lang="zh-CN" altLang="en-US"/>
          </a:p>
        </p:txBody>
      </p:sp>
    </p:spTree>
    <p:extLst>
      <p:ext uri="{BB962C8B-B14F-4D97-AF65-F5344CB8AC3E}">
        <p14:creationId xmlns:p14="http://schemas.microsoft.com/office/powerpoint/2010/main" val="19485321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19</a:t>
            </a:fld>
            <a:endParaRPr lang="zh-CN" altLang="en-US"/>
          </a:p>
        </p:txBody>
      </p:sp>
    </p:spTree>
    <p:extLst>
      <p:ext uri="{BB962C8B-B14F-4D97-AF65-F5344CB8AC3E}">
        <p14:creationId xmlns:p14="http://schemas.microsoft.com/office/powerpoint/2010/main" val="9501401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22</a:t>
            </a:fld>
            <a:endParaRPr lang="zh-CN" altLang="en-US"/>
          </a:p>
        </p:txBody>
      </p:sp>
    </p:spTree>
    <p:extLst>
      <p:ext uri="{BB962C8B-B14F-4D97-AF65-F5344CB8AC3E}">
        <p14:creationId xmlns:p14="http://schemas.microsoft.com/office/powerpoint/2010/main" val="3072870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23</a:t>
            </a:fld>
            <a:endParaRPr lang="zh-CN" altLang="en-US"/>
          </a:p>
        </p:txBody>
      </p:sp>
    </p:spTree>
    <p:extLst>
      <p:ext uri="{BB962C8B-B14F-4D97-AF65-F5344CB8AC3E}">
        <p14:creationId xmlns:p14="http://schemas.microsoft.com/office/powerpoint/2010/main" val="41552271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24</a:t>
            </a:fld>
            <a:endParaRPr lang="zh-CN" altLang="en-US"/>
          </a:p>
        </p:txBody>
      </p:sp>
    </p:spTree>
    <p:extLst>
      <p:ext uri="{BB962C8B-B14F-4D97-AF65-F5344CB8AC3E}">
        <p14:creationId xmlns:p14="http://schemas.microsoft.com/office/powerpoint/2010/main" val="27628580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25</a:t>
            </a:fld>
            <a:endParaRPr lang="zh-CN" altLang="en-US"/>
          </a:p>
        </p:txBody>
      </p:sp>
    </p:spTree>
    <p:extLst>
      <p:ext uri="{BB962C8B-B14F-4D97-AF65-F5344CB8AC3E}">
        <p14:creationId xmlns:p14="http://schemas.microsoft.com/office/powerpoint/2010/main" val="8804922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26</a:t>
            </a:fld>
            <a:endParaRPr lang="zh-CN" altLang="en-US"/>
          </a:p>
        </p:txBody>
      </p:sp>
    </p:spTree>
    <p:extLst>
      <p:ext uri="{BB962C8B-B14F-4D97-AF65-F5344CB8AC3E}">
        <p14:creationId xmlns:p14="http://schemas.microsoft.com/office/powerpoint/2010/main" val="3534493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27</a:t>
            </a:fld>
            <a:endParaRPr lang="zh-CN" altLang="en-US"/>
          </a:p>
        </p:txBody>
      </p:sp>
    </p:spTree>
    <p:extLst>
      <p:ext uri="{BB962C8B-B14F-4D97-AF65-F5344CB8AC3E}">
        <p14:creationId xmlns:p14="http://schemas.microsoft.com/office/powerpoint/2010/main" val="41056120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28</a:t>
            </a:fld>
            <a:endParaRPr lang="zh-CN" altLang="en-US"/>
          </a:p>
        </p:txBody>
      </p:sp>
    </p:spTree>
    <p:extLst>
      <p:ext uri="{BB962C8B-B14F-4D97-AF65-F5344CB8AC3E}">
        <p14:creationId xmlns:p14="http://schemas.microsoft.com/office/powerpoint/2010/main" val="28031216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29</a:t>
            </a:fld>
            <a:endParaRPr lang="zh-CN" altLang="en-US"/>
          </a:p>
        </p:txBody>
      </p:sp>
    </p:spTree>
    <p:extLst>
      <p:ext uri="{BB962C8B-B14F-4D97-AF65-F5344CB8AC3E}">
        <p14:creationId xmlns:p14="http://schemas.microsoft.com/office/powerpoint/2010/main" val="11678699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31</a:t>
            </a:fld>
            <a:endParaRPr lang="zh-CN" altLang="en-US"/>
          </a:p>
        </p:txBody>
      </p:sp>
    </p:spTree>
    <p:extLst>
      <p:ext uri="{BB962C8B-B14F-4D97-AF65-F5344CB8AC3E}">
        <p14:creationId xmlns:p14="http://schemas.microsoft.com/office/powerpoint/2010/main" val="5638665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33</a:t>
            </a:fld>
            <a:endParaRPr lang="zh-CN" altLang="en-US"/>
          </a:p>
        </p:txBody>
      </p:sp>
    </p:spTree>
    <p:extLst>
      <p:ext uri="{BB962C8B-B14F-4D97-AF65-F5344CB8AC3E}">
        <p14:creationId xmlns:p14="http://schemas.microsoft.com/office/powerpoint/2010/main" val="4216949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34</a:t>
            </a:fld>
            <a:endParaRPr lang="zh-CN" altLang="en-US"/>
          </a:p>
        </p:txBody>
      </p:sp>
    </p:spTree>
    <p:extLst>
      <p:ext uri="{BB962C8B-B14F-4D97-AF65-F5344CB8AC3E}">
        <p14:creationId xmlns:p14="http://schemas.microsoft.com/office/powerpoint/2010/main" val="24717568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35</a:t>
            </a:fld>
            <a:endParaRPr lang="zh-CN" altLang="en-US"/>
          </a:p>
        </p:txBody>
      </p:sp>
    </p:spTree>
    <p:extLst>
      <p:ext uri="{BB962C8B-B14F-4D97-AF65-F5344CB8AC3E}">
        <p14:creationId xmlns:p14="http://schemas.microsoft.com/office/powerpoint/2010/main" val="23916920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36</a:t>
            </a:fld>
            <a:endParaRPr lang="zh-CN" altLang="en-US"/>
          </a:p>
        </p:txBody>
      </p:sp>
    </p:spTree>
    <p:extLst>
      <p:ext uri="{BB962C8B-B14F-4D97-AF65-F5344CB8AC3E}">
        <p14:creationId xmlns:p14="http://schemas.microsoft.com/office/powerpoint/2010/main" val="6964287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37</a:t>
            </a:fld>
            <a:endParaRPr lang="zh-CN" altLang="en-US"/>
          </a:p>
        </p:txBody>
      </p:sp>
    </p:spTree>
    <p:extLst>
      <p:ext uri="{BB962C8B-B14F-4D97-AF65-F5344CB8AC3E}">
        <p14:creationId xmlns:p14="http://schemas.microsoft.com/office/powerpoint/2010/main" val="27700380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38</a:t>
            </a:fld>
            <a:endParaRPr lang="zh-CN" altLang="en-US"/>
          </a:p>
        </p:txBody>
      </p:sp>
    </p:spTree>
    <p:extLst>
      <p:ext uri="{BB962C8B-B14F-4D97-AF65-F5344CB8AC3E}">
        <p14:creationId xmlns:p14="http://schemas.microsoft.com/office/powerpoint/2010/main" val="6010548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39</a:t>
            </a:fld>
            <a:endParaRPr lang="zh-CN" altLang="en-US"/>
          </a:p>
        </p:txBody>
      </p:sp>
    </p:spTree>
    <p:extLst>
      <p:ext uri="{BB962C8B-B14F-4D97-AF65-F5344CB8AC3E}">
        <p14:creationId xmlns:p14="http://schemas.microsoft.com/office/powerpoint/2010/main" val="36664103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40</a:t>
            </a:fld>
            <a:endParaRPr lang="zh-CN" altLang="en-US"/>
          </a:p>
        </p:txBody>
      </p:sp>
    </p:spTree>
    <p:extLst>
      <p:ext uri="{BB962C8B-B14F-4D97-AF65-F5344CB8AC3E}">
        <p14:creationId xmlns:p14="http://schemas.microsoft.com/office/powerpoint/2010/main" val="26254590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41</a:t>
            </a:fld>
            <a:endParaRPr lang="zh-CN" altLang="en-US"/>
          </a:p>
        </p:txBody>
      </p:sp>
    </p:spTree>
    <p:extLst>
      <p:ext uri="{BB962C8B-B14F-4D97-AF65-F5344CB8AC3E}">
        <p14:creationId xmlns:p14="http://schemas.microsoft.com/office/powerpoint/2010/main" val="8773431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42</a:t>
            </a:fld>
            <a:endParaRPr lang="zh-CN" altLang="en-US"/>
          </a:p>
        </p:txBody>
      </p:sp>
    </p:spTree>
    <p:extLst>
      <p:ext uri="{BB962C8B-B14F-4D97-AF65-F5344CB8AC3E}">
        <p14:creationId xmlns:p14="http://schemas.microsoft.com/office/powerpoint/2010/main" val="3934725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45</a:t>
            </a:fld>
            <a:endParaRPr lang="zh-CN" altLang="en-US"/>
          </a:p>
        </p:txBody>
      </p:sp>
    </p:spTree>
    <p:extLst>
      <p:ext uri="{BB962C8B-B14F-4D97-AF65-F5344CB8AC3E}">
        <p14:creationId xmlns:p14="http://schemas.microsoft.com/office/powerpoint/2010/main" val="7898384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46</a:t>
            </a:fld>
            <a:endParaRPr lang="zh-CN" altLang="en-US"/>
          </a:p>
        </p:txBody>
      </p:sp>
    </p:spTree>
    <p:extLst>
      <p:ext uri="{BB962C8B-B14F-4D97-AF65-F5344CB8AC3E}">
        <p14:creationId xmlns:p14="http://schemas.microsoft.com/office/powerpoint/2010/main" val="24168695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47</a:t>
            </a:fld>
            <a:endParaRPr lang="zh-CN" altLang="en-US"/>
          </a:p>
        </p:txBody>
      </p:sp>
    </p:spTree>
    <p:extLst>
      <p:ext uri="{BB962C8B-B14F-4D97-AF65-F5344CB8AC3E}">
        <p14:creationId xmlns:p14="http://schemas.microsoft.com/office/powerpoint/2010/main" val="296465020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48</a:t>
            </a:fld>
            <a:endParaRPr lang="zh-CN" altLang="en-US"/>
          </a:p>
        </p:txBody>
      </p:sp>
    </p:spTree>
    <p:extLst>
      <p:ext uri="{BB962C8B-B14F-4D97-AF65-F5344CB8AC3E}">
        <p14:creationId xmlns:p14="http://schemas.microsoft.com/office/powerpoint/2010/main" val="103672220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49</a:t>
            </a:fld>
            <a:endParaRPr lang="zh-CN" altLang="en-US"/>
          </a:p>
        </p:txBody>
      </p:sp>
    </p:spTree>
    <p:extLst>
      <p:ext uri="{BB962C8B-B14F-4D97-AF65-F5344CB8AC3E}">
        <p14:creationId xmlns:p14="http://schemas.microsoft.com/office/powerpoint/2010/main" val="49797592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50</a:t>
            </a:fld>
            <a:endParaRPr lang="zh-CN" altLang="en-US"/>
          </a:p>
        </p:txBody>
      </p:sp>
    </p:spTree>
    <p:extLst>
      <p:ext uri="{BB962C8B-B14F-4D97-AF65-F5344CB8AC3E}">
        <p14:creationId xmlns:p14="http://schemas.microsoft.com/office/powerpoint/2010/main" val="337548458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51</a:t>
            </a:fld>
            <a:endParaRPr lang="zh-CN" altLang="en-US"/>
          </a:p>
        </p:txBody>
      </p:sp>
    </p:spTree>
    <p:extLst>
      <p:ext uri="{BB962C8B-B14F-4D97-AF65-F5344CB8AC3E}">
        <p14:creationId xmlns:p14="http://schemas.microsoft.com/office/powerpoint/2010/main" val="287707254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52</a:t>
            </a:fld>
            <a:endParaRPr lang="zh-CN" altLang="en-US"/>
          </a:p>
        </p:txBody>
      </p:sp>
    </p:spTree>
    <p:extLst>
      <p:ext uri="{BB962C8B-B14F-4D97-AF65-F5344CB8AC3E}">
        <p14:creationId xmlns:p14="http://schemas.microsoft.com/office/powerpoint/2010/main" val="390533728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53</a:t>
            </a:fld>
            <a:endParaRPr lang="zh-CN" altLang="en-US"/>
          </a:p>
        </p:txBody>
      </p:sp>
    </p:spTree>
    <p:extLst>
      <p:ext uri="{BB962C8B-B14F-4D97-AF65-F5344CB8AC3E}">
        <p14:creationId xmlns:p14="http://schemas.microsoft.com/office/powerpoint/2010/main" val="151686315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54</a:t>
            </a:fld>
            <a:endParaRPr lang="zh-CN" altLang="en-US"/>
          </a:p>
        </p:txBody>
      </p:sp>
    </p:spTree>
    <p:extLst>
      <p:ext uri="{BB962C8B-B14F-4D97-AF65-F5344CB8AC3E}">
        <p14:creationId xmlns:p14="http://schemas.microsoft.com/office/powerpoint/2010/main" val="18107622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55</a:t>
            </a:fld>
            <a:endParaRPr lang="zh-CN" altLang="en-US"/>
          </a:p>
        </p:txBody>
      </p:sp>
    </p:spTree>
    <p:extLst>
      <p:ext uri="{BB962C8B-B14F-4D97-AF65-F5344CB8AC3E}">
        <p14:creationId xmlns:p14="http://schemas.microsoft.com/office/powerpoint/2010/main" val="80590436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56</a:t>
            </a:fld>
            <a:endParaRPr lang="zh-CN" altLang="en-US"/>
          </a:p>
        </p:txBody>
      </p:sp>
    </p:spTree>
    <p:extLst>
      <p:ext uri="{BB962C8B-B14F-4D97-AF65-F5344CB8AC3E}">
        <p14:creationId xmlns:p14="http://schemas.microsoft.com/office/powerpoint/2010/main" val="179128844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57</a:t>
            </a:fld>
            <a:endParaRPr lang="zh-CN" altLang="en-US"/>
          </a:p>
        </p:txBody>
      </p:sp>
    </p:spTree>
    <p:extLst>
      <p:ext uri="{BB962C8B-B14F-4D97-AF65-F5344CB8AC3E}">
        <p14:creationId xmlns:p14="http://schemas.microsoft.com/office/powerpoint/2010/main" val="220330550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58</a:t>
            </a:fld>
            <a:endParaRPr lang="zh-CN" altLang="en-US"/>
          </a:p>
        </p:txBody>
      </p:sp>
    </p:spTree>
    <p:extLst>
      <p:ext uri="{BB962C8B-B14F-4D97-AF65-F5344CB8AC3E}">
        <p14:creationId xmlns:p14="http://schemas.microsoft.com/office/powerpoint/2010/main" val="237707299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59</a:t>
            </a:fld>
            <a:endParaRPr lang="zh-CN" altLang="en-US"/>
          </a:p>
        </p:txBody>
      </p:sp>
    </p:spTree>
    <p:extLst>
      <p:ext uri="{BB962C8B-B14F-4D97-AF65-F5344CB8AC3E}">
        <p14:creationId xmlns:p14="http://schemas.microsoft.com/office/powerpoint/2010/main" val="82856018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60</a:t>
            </a:fld>
            <a:endParaRPr lang="zh-CN" altLang="en-US"/>
          </a:p>
        </p:txBody>
      </p:sp>
    </p:spTree>
    <p:extLst>
      <p:ext uri="{BB962C8B-B14F-4D97-AF65-F5344CB8AC3E}">
        <p14:creationId xmlns:p14="http://schemas.microsoft.com/office/powerpoint/2010/main" val="106567585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61</a:t>
            </a:fld>
            <a:endParaRPr lang="zh-CN" altLang="en-US"/>
          </a:p>
        </p:txBody>
      </p:sp>
    </p:spTree>
    <p:extLst>
      <p:ext uri="{BB962C8B-B14F-4D97-AF65-F5344CB8AC3E}">
        <p14:creationId xmlns:p14="http://schemas.microsoft.com/office/powerpoint/2010/main" val="416885042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62</a:t>
            </a:fld>
            <a:endParaRPr lang="zh-CN" altLang="en-US"/>
          </a:p>
        </p:txBody>
      </p:sp>
    </p:spTree>
    <p:extLst>
      <p:ext uri="{BB962C8B-B14F-4D97-AF65-F5344CB8AC3E}">
        <p14:creationId xmlns:p14="http://schemas.microsoft.com/office/powerpoint/2010/main" val="202133724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63</a:t>
            </a:fld>
            <a:endParaRPr lang="zh-CN" altLang="en-US"/>
          </a:p>
        </p:txBody>
      </p:sp>
    </p:spTree>
    <p:extLst>
      <p:ext uri="{BB962C8B-B14F-4D97-AF65-F5344CB8AC3E}">
        <p14:creationId xmlns:p14="http://schemas.microsoft.com/office/powerpoint/2010/main" val="235275602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64</a:t>
            </a:fld>
            <a:endParaRPr lang="zh-CN" altLang="en-US"/>
          </a:p>
        </p:txBody>
      </p:sp>
    </p:spTree>
    <p:extLst>
      <p:ext uri="{BB962C8B-B14F-4D97-AF65-F5344CB8AC3E}">
        <p14:creationId xmlns:p14="http://schemas.microsoft.com/office/powerpoint/2010/main" val="424735601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65</a:t>
            </a:fld>
            <a:endParaRPr lang="zh-CN" altLang="en-US"/>
          </a:p>
        </p:txBody>
      </p:sp>
    </p:spTree>
    <p:extLst>
      <p:ext uri="{BB962C8B-B14F-4D97-AF65-F5344CB8AC3E}">
        <p14:creationId xmlns:p14="http://schemas.microsoft.com/office/powerpoint/2010/main" val="401220718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66</a:t>
            </a:fld>
            <a:endParaRPr lang="zh-CN" altLang="en-US"/>
          </a:p>
        </p:txBody>
      </p:sp>
    </p:spTree>
    <p:extLst>
      <p:ext uri="{BB962C8B-B14F-4D97-AF65-F5344CB8AC3E}">
        <p14:creationId xmlns:p14="http://schemas.microsoft.com/office/powerpoint/2010/main" val="5707844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67</a:t>
            </a:fld>
            <a:endParaRPr lang="zh-CN" altLang="en-US"/>
          </a:p>
        </p:txBody>
      </p:sp>
    </p:spTree>
    <p:extLst>
      <p:ext uri="{BB962C8B-B14F-4D97-AF65-F5344CB8AC3E}">
        <p14:creationId xmlns:p14="http://schemas.microsoft.com/office/powerpoint/2010/main" val="124867284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68</a:t>
            </a:fld>
            <a:endParaRPr lang="zh-CN" altLang="en-US"/>
          </a:p>
        </p:txBody>
      </p:sp>
    </p:spTree>
    <p:extLst>
      <p:ext uri="{BB962C8B-B14F-4D97-AF65-F5344CB8AC3E}">
        <p14:creationId xmlns:p14="http://schemas.microsoft.com/office/powerpoint/2010/main" val="131947540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69</a:t>
            </a:fld>
            <a:endParaRPr lang="zh-CN" altLang="en-US"/>
          </a:p>
        </p:txBody>
      </p:sp>
    </p:spTree>
    <p:extLst>
      <p:ext uri="{BB962C8B-B14F-4D97-AF65-F5344CB8AC3E}">
        <p14:creationId xmlns:p14="http://schemas.microsoft.com/office/powerpoint/2010/main" val="364799488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70</a:t>
            </a:fld>
            <a:endParaRPr lang="zh-CN" altLang="en-US"/>
          </a:p>
        </p:txBody>
      </p:sp>
    </p:spTree>
    <p:extLst>
      <p:ext uri="{BB962C8B-B14F-4D97-AF65-F5344CB8AC3E}">
        <p14:creationId xmlns:p14="http://schemas.microsoft.com/office/powerpoint/2010/main" val="102179891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71</a:t>
            </a:fld>
            <a:endParaRPr lang="zh-CN" altLang="en-US"/>
          </a:p>
        </p:txBody>
      </p:sp>
    </p:spTree>
    <p:extLst>
      <p:ext uri="{BB962C8B-B14F-4D97-AF65-F5344CB8AC3E}">
        <p14:creationId xmlns:p14="http://schemas.microsoft.com/office/powerpoint/2010/main" val="320145776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72</a:t>
            </a:fld>
            <a:endParaRPr lang="zh-CN" altLang="en-US"/>
          </a:p>
        </p:txBody>
      </p:sp>
    </p:spTree>
    <p:extLst>
      <p:ext uri="{BB962C8B-B14F-4D97-AF65-F5344CB8AC3E}">
        <p14:creationId xmlns:p14="http://schemas.microsoft.com/office/powerpoint/2010/main" val="170431850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73</a:t>
            </a:fld>
            <a:endParaRPr lang="zh-CN" altLang="en-US"/>
          </a:p>
        </p:txBody>
      </p:sp>
    </p:spTree>
    <p:extLst>
      <p:ext uri="{BB962C8B-B14F-4D97-AF65-F5344CB8AC3E}">
        <p14:creationId xmlns:p14="http://schemas.microsoft.com/office/powerpoint/2010/main" val="316598792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延伸阅读</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74</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本章小结</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75</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结语</a:t>
            </a:r>
            <a:endParaRPr lang="en-US" altLang="zh-CN"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76</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结语">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一">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gif"/><Relationship Id="rId1" Type="http://schemas.openxmlformats.org/officeDocument/2006/relationships/slideLayout" Target="../slideLayouts/slideLayout3.xml"/><Relationship Id="rId4" Type="http://schemas.openxmlformats.org/officeDocument/2006/relationships/image" Target="../media/image7.gif"/></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11.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80.png"/></Relationships>
</file>

<file path=ppt/slides/_rels/slide12.xml.rels><?xml version="1.0" encoding="UTF-8" standalone="yes"?>
<Relationships xmlns="http://schemas.openxmlformats.org/package/2006/relationships"><Relationship Id="rId3" Type="http://schemas.openxmlformats.org/officeDocument/2006/relationships/image" Target="../media/image1110.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121.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0.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18" Type="http://schemas.openxmlformats.org/officeDocument/2006/relationships/image" Target="../media/image38.png"/><Relationship Id="rId3" Type="http://schemas.openxmlformats.org/officeDocument/2006/relationships/image" Target="../media/image23.png"/><Relationship Id="rId21" Type="http://schemas.openxmlformats.org/officeDocument/2006/relationships/image" Target="../media/image41.png"/><Relationship Id="rId7" Type="http://schemas.openxmlformats.org/officeDocument/2006/relationships/image" Target="../media/image27.png"/><Relationship Id="rId12" Type="http://schemas.openxmlformats.org/officeDocument/2006/relationships/image" Target="../media/image32.png"/><Relationship Id="rId17" Type="http://schemas.openxmlformats.org/officeDocument/2006/relationships/image" Target="../media/image37.png"/><Relationship Id="rId2" Type="http://schemas.openxmlformats.org/officeDocument/2006/relationships/image" Target="../media/image22.png"/><Relationship Id="rId16" Type="http://schemas.openxmlformats.org/officeDocument/2006/relationships/image" Target="../media/image36.png"/><Relationship Id="rId20" Type="http://schemas.openxmlformats.org/officeDocument/2006/relationships/image" Target="../media/image40.png"/><Relationship Id="rId1" Type="http://schemas.openxmlformats.org/officeDocument/2006/relationships/slideLayout" Target="../slideLayouts/slideLayout3.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5" Type="http://schemas.openxmlformats.org/officeDocument/2006/relationships/image" Target="../media/image35.png"/><Relationship Id="rId23" Type="http://schemas.openxmlformats.org/officeDocument/2006/relationships/image" Target="../media/image43.png"/><Relationship Id="rId10" Type="http://schemas.openxmlformats.org/officeDocument/2006/relationships/image" Target="../media/image30.png"/><Relationship Id="rId19" Type="http://schemas.openxmlformats.org/officeDocument/2006/relationships/image" Target="../media/image39.png"/><Relationship Id="rId4" Type="http://schemas.openxmlformats.org/officeDocument/2006/relationships/image" Target="../media/image24.png"/><Relationship Id="rId9" Type="http://schemas.openxmlformats.org/officeDocument/2006/relationships/image" Target="../media/image29.png"/><Relationship Id="rId14" Type="http://schemas.openxmlformats.org/officeDocument/2006/relationships/image" Target="../media/image34.png"/><Relationship Id="rId22" Type="http://schemas.openxmlformats.org/officeDocument/2006/relationships/image" Target="../media/image42.png"/></Relationships>
</file>

<file path=ppt/slides/_rels/slide1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6.png"/><Relationship Id="rId18" Type="http://schemas.openxmlformats.org/officeDocument/2006/relationships/image" Target="../media/image61.png"/><Relationship Id="rId3" Type="http://schemas.openxmlformats.org/officeDocument/2006/relationships/image" Target="../media/image46.png"/><Relationship Id="rId21" Type="http://schemas.openxmlformats.org/officeDocument/2006/relationships/image" Target="../media/image64.png"/><Relationship Id="rId7" Type="http://schemas.openxmlformats.org/officeDocument/2006/relationships/image" Target="../media/image50.png"/><Relationship Id="rId12" Type="http://schemas.openxmlformats.org/officeDocument/2006/relationships/image" Target="../media/image55.png"/><Relationship Id="rId17" Type="http://schemas.openxmlformats.org/officeDocument/2006/relationships/image" Target="../media/image60.png"/><Relationship Id="rId2" Type="http://schemas.openxmlformats.org/officeDocument/2006/relationships/image" Target="../media/image45.png"/><Relationship Id="rId16" Type="http://schemas.openxmlformats.org/officeDocument/2006/relationships/image" Target="../media/image59.png"/><Relationship Id="rId20" Type="http://schemas.openxmlformats.org/officeDocument/2006/relationships/image" Target="../media/image63.png"/><Relationship Id="rId1" Type="http://schemas.openxmlformats.org/officeDocument/2006/relationships/slideLayout" Target="../slideLayouts/slideLayout3.xml"/><Relationship Id="rId6" Type="http://schemas.openxmlformats.org/officeDocument/2006/relationships/image" Target="../media/image49.png"/><Relationship Id="rId11" Type="http://schemas.openxmlformats.org/officeDocument/2006/relationships/image" Target="../media/image54.png"/><Relationship Id="rId5" Type="http://schemas.openxmlformats.org/officeDocument/2006/relationships/image" Target="../media/image48.png"/><Relationship Id="rId15" Type="http://schemas.openxmlformats.org/officeDocument/2006/relationships/image" Target="../media/image58.png"/><Relationship Id="rId23" Type="http://schemas.openxmlformats.org/officeDocument/2006/relationships/image" Target="../media/image66.png"/><Relationship Id="rId10" Type="http://schemas.openxmlformats.org/officeDocument/2006/relationships/image" Target="../media/image53.png"/><Relationship Id="rId19" Type="http://schemas.openxmlformats.org/officeDocument/2006/relationships/image" Target="../media/image62.png"/><Relationship Id="rId4" Type="http://schemas.openxmlformats.org/officeDocument/2006/relationships/image" Target="../media/image47.png"/><Relationship Id="rId9" Type="http://schemas.openxmlformats.org/officeDocument/2006/relationships/image" Target="../media/image52.png"/><Relationship Id="rId14" Type="http://schemas.openxmlformats.org/officeDocument/2006/relationships/image" Target="../media/image57.png"/><Relationship Id="rId22" Type="http://schemas.openxmlformats.org/officeDocument/2006/relationships/image" Target="../media/image65.png"/></Relationships>
</file>

<file path=ppt/slides/_rels/slide21.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6.png"/><Relationship Id="rId18" Type="http://schemas.openxmlformats.org/officeDocument/2006/relationships/image" Target="../media/image61.png"/><Relationship Id="rId3" Type="http://schemas.openxmlformats.org/officeDocument/2006/relationships/image" Target="../media/image46.png"/><Relationship Id="rId21" Type="http://schemas.openxmlformats.org/officeDocument/2006/relationships/image" Target="../media/image64.png"/><Relationship Id="rId7" Type="http://schemas.openxmlformats.org/officeDocument/2006/relationships/image" Target="../media/image50.png"/><Relationship Id="rId12" Type="http://schemas.openxmlformats.org/officeDocument/2006/relationships/image" Target="../media/image55.png"/><Relationship Id="rId17" Type="http://schemas.openxmlformats.org/officeDocument/2006/relationships/image" Target="../media/image60.png"/><Relationship Id="rId2" Type="http://schemas.openxmlformats.org/officeDocument/2006/relationships/image" Target="../media/image67.png"/><Relationship Id="rId16" Type="http://schemas.openxmlformats.org/officeDocument/2006/relationships/image" Target="../media/image59.png"/><Relationship Id="rId20" Type="http://schemas.openxmlformats.org/officeDocument/2006/relationships/image" Target="../media/image63.png"/><Relationship Id="rId1" Type="http://schemas.openxmlformats.org/officeDocument/2006/relationships/slideLayout" Target="../slideLayouts/slideLayout3.xml"/><Relationship Id="rId6" Type="http://schemas.openxmlformats.org/officeDocument/2006/relationships/image" Target="../media/image49.png"/><Relationship Id="rId11" Type="http://schemas.openxmlformats.org/officeDocument/2006/relationships/image" Target="../media/image54.png"/><Relationship Id="rId5" Type="http://schemas.openxmlformats.org/officeDocument/2006/relationships/image" Target="../media/image48.png"/><Relationship Id="rId15" Type="http://schemas.openxmlformats.org/officeDocument/2006/relationships/image" Target="../media/image58.png"/><Relationship Id="rId23" Type="http://schemas.openxmlformats.org/officeDocument/2006/relationships/image" Target="../media/image66.png"/><Relationship Id="rId10" Type="http://schemas.openxmlformats.org/officeDocument/2006/relationships/image" Target="../media/image53.png"/><Relationship Id="rId19" Type="http://schemas.openxmlformats.org/officeDocument/2006/relationships/image" Target="../media/image62.png"/><Relationship Id="rId4" Type="http://schemas.openxmlformats.org/officeDocument/2006/relationships/image" Target="../media/image47.png"/><Relationship Id="rId9" Type="http://schemas.openxmlformats.org/officeDocument/2006/relationships/image" Target="../media/image52.png"/><Relationship Id="rId14" Type="http://schemas.openxmlformats.org/officeDocument/2006/relationships/image" Target="../media/image57.png"/><Relationship Id="rId22" Type="http://schemas.openxmlformats.org/officeDocument/2006/relationships/image" Target="../media/image65.png"/></Relationships>
</file>

<file path=ppt/slides/_rels/slide22.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68.png"/><Relationship Id="rId5" Type="http://schemas.openxmlformats.org/officeDocument/2006/relationships/image" Target="../media/image280.png"/><Relationship Id="rId4" Type="http://schemas.openxmlformats.org/officeDocument/2006/relationships/image" Target="../media/image250.png"/></Relationships>
</file>

<file path=ppt/slides/_rels/slide23.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260.png"/></Relationships>
</file>

<file path=ppt/slides/_rels/slide24.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320.png"/></Relationships>
</file>

<file path=ppt/slides/_rels/slide25.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71.png"/></Relationships>
</file>

<file path=ppt/slides/_rels/slide27.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73.png"/></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75.png"/><Relationship Id="rId5" Type="http://schemas.openxmlformats.org/officeDocument/2006/relationships/image" Target="../media/image390.png"/></Relationships>
</file>

<file path=ppt/slides/_rels/slide3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image" Target="../media/image420.png"/><Relationship Id="rId4" Type="http://schemas.openxmlformats.org/officeDocument/2006/relationships/image" Target="../media/image350.png"/></Relationships>
</file>

<file path=ppt/slides/_rels/slide32.xml.rels><?xml version="1.0" encoding="UTF-8" standalone="yes"?>
<Relationships xmlns="http://schemas.openxmlformats.org/package/2006/relationships"><Relationship Id="rId3" Type="http://schemas.openxmlformats.org/officeDocument/2006/relationships/image" Target="../media/image761.png"/><Relationship Id="rId2" Type="http://schemas.openxmlformats.org/officeDocument/2006/relationships/image" Target="../media/image71.png"/><Relationship Id="rId1" Type="http://schemas.openxmlformats.org/officeDocument/2006/relationships/slideLayout" Target="../slideLayouts/slideLayout3.xml"/><Relationship Id="rId4" Type="http://schemas.openxmlformats.org/officeDocument/2006/relationships/image" Target="../media/image431.png"/></Relationships>
</file>

<file path=ppt/slides/_rels/slide33.xml.rels><?xml version="1.0" encoding="UTF-8" standalone="yes"?>
<Relationships xmlns="http://schemas.openxmlformats.org/package/2006/relationships"><Relationship Id="rId3" Type="http://schemas.openxmlformats.org/officeDocument/2006/relationships/image" Target="../media/image430.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450.png"/></Relationships>
</file>

<file path=ppt/slides/_rels/slide35.xml.rels><?xml version="1.0" encoding="UTF-8" standalone="yes"?>
<Relationships xmlns="http://schemas.openxmlformats.org/package/2006/relationships"><Relationship Id="rId3" Type="http://schemas.openxmlformats.org/officeDocument/2006/relationships/image" Target="../media/image460.png"/><Relationship Id="rId2" Type="http://schemas.openxmlformats.org/officeDocument/2006/relationships/notesSlide" Target="../notesSlides/notesSlide28.xml"/><Relationship Id="rId1" Type="http://schemas.openxmlformats.org/officeDocument/2006/relationships/slideLayout" Target="../slideLayouts/slideLayout3.xml"/><Relationship Id="rId5" Type="http://schemas.openxmlformats.org/officeDocument/2006/relationships/image" Target="../media/image69.png"/><Relationship Id="rId4" Type="http://schemas.openxmlformats.org/officeDocument/2006/relationships/image" Target="../media/image470.png"/></Relationships>
</file>

<file path=ppt/slides/_rels/slide36.xml.rels><?xml version="1.0" encoding="UTF-8" standalone="yes"?>
<Relationships xmlns="http://schemas.openxmlformats.org/package/2006/relationships"><Relationship Id="rId3" Type="http://schemas.openxmlformats.org/officeDocument/2006/relationships/image" Target="../media/image460.png"/><Relationship Id="rId2" Type="http://schemas.openxmlformats.org/officeDocument/2006/relationships/notesSlide" Target="../notesSlides/notesSlide29.xml"/><Relationship Id="rId1" Type="http://schemas.openxmlformats.org/officeDocument/2006/relationships/slideLayout" Target="../slideLayouts/slideLayout3.xml"/><Relationship Id="rId5" Type="http://schemas.openxmlformats.org/officeDocument/2006/relationships/image" Target="../media/image74.png"/><Relationship Id="rId4" Type="http://schemas.openxmlformats.org/officeDocument/2006/relationships/image" Target="../media/image491.png"/></Relationships>
</file>

<file path=ppt/slides/_rels/slide37.xml.rels><?xml version="1.0" encoding="UTF-8" standalone="yes"?>
<Relationships xmlns="http://schemas.openxmlformats.org/package/2006/relationships"><Relationship Id="rId3" Type="http://schemas.openxmlformats.org/officeDocument/2006/relationships/image" Target="../media/image460.png"/><Relationship Id="rId2" Type="http://schemas.openxmlformats.org/officeDocument/2006/relationships/notesSlide" Target="../notesSlides/notesSlide30.xml"/><Relationship Id="rId1" Type="http://schemas.openxmlformats.org/officeDocument/2006/relationships/slideLayout" Target="../slideLayouts/slideLayout3.xml"/><Relationship Id="rId5" Type="http://schemas.openxmlformats.org/officeDocument/2006/relationships/image" Target="../media/image79.png"/><Relationship Id="rId4" Type="http://schemas.openxmlformats.org/officeDocument/2006/relationships/image" Target="../media/image78.png"/></Relationships>
</file>

<file path=ppt/slides/_rels/slide38.xml.rels><?xml version="1.0" encoding="UTF-8" standalone="yes"?>
<Relationships xmlns="http://schemas.openxmlformats.org/package/2006/relationships"><Relationship Id="rId3" Type="http://schemas.openxmlformats.org/officeDocument/2006/relationships/image" Target="../media/image531.png"/><Relationship Id="rId2" Type="http://schemas.openxmlformats.org/officeDocument/2006/relationships/notesSlide" Target="../notesSlides/notesSlide31.xml"/><Relationship Id="rId1" Type="http://schemas.openxmlformats.org/officeDocument/2006/relationships/slideLayout" Target="../slideLayouts/slideLayout3.xml"/><Relationship Id="rId5" Type="http://schemas.openxmlformats.org/officeDocument/2006/relationships/image" Target="../media/image82.png"/><Relationship Id="rId4" Type="http://schemas.openxmlformats.org/officeDocument/2006/relationships/image" Target="../media/image81.png"/></Relationships>
</file>

<file path=ppt/slides/_rels/slide39.xml.rels><?xml version="1.0" encoding="UTF-8" standalone="yes"?>
<Relationships xmlns="http://schemas.openxmlformats.org/package/2006/relationships"><Relationship Id="rId3" Type="http://schemas.openxmlformats.org/officeDocument/2006/relationships/image" Target="../media/image531.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83.png"/></Relationships>
</file>

<file path=ppt/slides/_rels/slide40.xml.rels><?xml version="1.0" encoding="UTF-8" standalone="yes"?>
<Relationships xmlns="http://schemas.openxmlformats.org/package/2006/relationships"><Relationship Id="rId3" Type="http://schemas.openxmlformats.org/officeDocument/2006/relationships/image" Target="../media/image531.png"/><Relationship Id="rId2" Type="http://schemas.openxmlformats.org/officeDocument/2006/relationships/notesSlide" Target="../notesSlides/notesSlide33.xml"/><Relationship Id="rId1" Type="http://schemas.openxmlformats.org/officeDocument/2006/relationships/slideLayout" Target="../slideLayouts/slideLayout3.xml"/><Relationship Id="rId5" Type="http://schemas.openxmlformats.org/officeDocument/2006/relationships/image" Target="../media/image85.png"/><Relationship Id="rId4" Type="http://schemas.openxmlformats.org/officeDocument/2006/relationships/image" Target="../media/image84.png"/></Relationships>
</file>

<file path=ppt/slides/_rels/slide41.xml.rels><?xml version="1.0" encoding="UTF-8" standalone="yes"?>
<Relationships xmlns="http://schemas.openxmlformats.org/package/2006/relationships"><Relationship Id="rId3" Type="http://schemas.openxmlformats.org/officeDocument/2006/relationships/image" Target="../media/image531.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85.png"/></Relationships>
</file>

<file path=ppt/slides/_rels/slide42.xml.rels><?xml version="1.0" encoding="UTF-8" standalone="yes"?>
<Relationships xmlns="http://schemas.openxmlformats.org/package/2006/relationships"><Relationship Id="rId8" Type="http://schemas.openxmlformats.org/officeDocument/2006/relationships/image" Target="../media/image530.png"/><Relationship Id="rId13" Type="http://schemas.openxmlformats.org/officeDocument/2006/relationships/image" Target="../media/image580.png"/><Relationship Id="rId3" Type="http://schemas.openxmlformats.org/officeDocument/2006/relationships/image" Target="../media/image480.png"/><Relationship Id="rId7" Type="http://schemas.openxmlformats.org/officeDocument/2006/relationships/image" Target="../media/image520.png"/><Relationship Id="rId12" Type="http://schemas.openxmlformats.org/officeDocument/2006/relationships/image" Target="../media/image570.png"/><Relationship Id="rId2" Type="http://schemas.openxmlformats.org/officeDocument/2006/relationships/notesSlide" Target="../notesSlides/notesSlide35.xml"/><Relationship Id="rId1" Type="http://schemas.openxmlformats.org/officeDocument/2006/relationships/slideLayout" Target="../slideLayouts/slideLayout3.xml"/><Relationship Id="rId6" Type="http://schemas.openxmlformats.org/officeDocument/2006/relationships/image" Target="../media/image510.png"/><Relationship Id="rId11" Type="http://schemas.openxmlformats.org/officeDocument/2006/relationships/image" Target="../media/image560.png"/><Relationship Id="rId5" Type="http://schemas.openxmlformats.org/officeDocument/2006/relationships/image" Target="../media/image500.png"/><Relationship Id="rId10" Type="http://schemas.openxmlformats.org/officeDocument/2006/relationships/image" Target="../media/image550.png"/><Relationship Id="rId4" Type="http://schemas.openxmlformats.org/officeDocument/2006/relationships/image" Target="../media/image490.png"/><Relationship Id="rId9" Type="http://schemas.openxmlformats.org/officeDocument/2006/relationships/image" Target="../media/image540.png"/><Relationship Id="rId14" Type="http://schemas.openxmlformats.org/officeDocument/2006/relationships/image" Target="../media/image59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880.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notesSlide" Target="../notesSlides/notesSlide38.xml"/><Relationship Id="rId1" Type="http://schemas.openxmlformats.org/officeDocument/2006/relationships/slideLayout" Target="../slideLayouts/slideLayout3.xml"/><Relationship Id="rId5" Type="http://schemas.openxmlformats.org/officeDocument/2006/relationships/image" Target="../media/image630.png"/><Relationship Id="rId4" Type="http://schemas.openxmlformats.org/officeDocument/2006/relationships/image" Target="../media/image89.png"/></Relationships>
</file>

<file path=ppt/slides/_rels/slide48.xml.rels><?xml version="1.0" encoding="UTF-8" standalone="yes"?>
<Relationships xmlns="http://schemas.openxmlformats.org/package/2006/relationships"><Relationship Id="rId3" Type="http://schemas.openxmlformats.org/officeDocument/2006/relationships/image" Target="../media/image610.png"/><Relationship Id="rId7" Type="http://schemas.openxmlformats.org/officeDocument/2006/relationships/image" Target="../media/image88.png"/><Relationship Id="rId2" Type="http://schemas.openxmlformats.org/officeDocument/2006/relationships/notesSlide" Target="../notesSlides/notesSlide39.xml"/><Relationship Id="rId1" Type="http://schemas.openxmlformats.org/officeDocument/2006/relationships/slideLayout" Target="../slideLayouts/slideLayout3.xml"/><Relationship Id="rId6" Type="http://schemas.openxmlformats.org/officeDocument/2006/relationships/image" Target="../media/image87.png"/><Relationship Id="rId5" Type="http://schemas.openxmlformats.org/officeDocument/2006/relationships/image" Target="../media/image630.png"/></Relationships>
</file>

<file path=ppt/slides/_rels/slide49.xml.rels><?xml version="1.0" encoding="UTF-8" standalone="yes"?>
<Relationships xmlns="http://schemas.openxmlformats.org/package/2006/relationships"><Relationship Id="rId8" Type="http://schemas.openxmlformats.org/officeDocument/2006/relationships/image" Target="../media/image93.png"/><Relationship Id="rId7" Type="http://schemas.openxmlformats.org/officeDocument/2006/relationships/image" Target="../media/image640.png"/><Relationship Id="rId2" Type="http://schemas.openxmlformats.org/officeDocument/2006/relationships/notesSlide" Target="../notesSlides/notesSlide40.xml"/><Relationship Id="rId1" Type="http://schemas.openxmlformats.org/officeDocument/2006/relationships/slideLayout" Target="../slideLayouts/slideLayout3.xml"/><Relationship Id="rId6" Type="http://schemas.openxmlformats.org/officeDocument/2006/relationships/image" Target="../media/image670.png"/><Relationship Id="rId5" Type="http://schemas.openxmlformats.org/officeDocument/2006/relationships/image" Target="../media/image92.png"/><Relationship Id="rId4" Type="http://schemas.openxmlformats.org/officeDocument/2006/relationships/image" Target="../media/image650.png"/><Relationship Id="rId9" Type="http://schemas.openxmlformats.org/officeDocument/2006/relationships/image" Target="../media/image94.png"/></Relationships>
</file>

<file path=ppt/slides/_rels/slide50.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710.png"/><Relationship Id="rId7" Type="http://schemas.openxmlformats.org/officeDocument/2006/relationships/image" Target="../media/image98.png"/><Relationship Id="rId2" Type="http://schemas.openxmlformats.org/officeDocument/2006/relationships/notesSlide" Target="../notesSlides/notesSlide42.xml"/><Relationship Id="rId1" Type="http://schemas.openxmlformats.org/officeDocument/2006/relationships/slideLayout" Target="../slideLayouts/slideLayout3.xml"/><Relationship Id="rId6" Type="http://schemas.openxmlformats.org/officeDocument/2006/relationships/image" Target="../media/image95.png"/><Relationship Id="rId5" Type="http://schemas.openxmlformats.org/officeDocument/2006/relationships/image" Target="../media/image91.png"/><Relationship Id="rId4" Type="http://schemas.openxmlformats.org/officeDocument/2006/relationships/image" Target="../media/image720.png"/></Relationships>
</file>

<file path=ppt/slides/_rels/slide5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43.xml"/><Relationship Id="rId1" Type="http://schemas.openxmlformats.org/officeDocument/2006/relationships/slideLayout" Target="../slideLayouts/slideLayout3.xml"/><Relationship Id="rId4" Type="http://schemas.openxmlformats.org/officeDocument/2006/relationships/image" Target="../media/image760.png"/></Relationships>
</file>

<file path=ppt/slides/_rels/slide5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44.xml"/><Relationship Id="rId1" Type="http://schemas.openxmlformats.org/officeDocument/2006/relationships/slideLayout" Target="../slideLayouts/slideLayout3.xml"/><Relationship Id="rId5" Type="http://schemas.openxmlformats.org/officeDocument/2006/relationships/image" Target="../media/image87.png"/><Relationship Id="rId4" Type="http://schemas.openxmlformats.org/officeDocument/2006/relationships/image" Target="../media/image95.png"/></Relationships>
</file>

<file path=ppt/slides/_rels/slide54.xml.rels><?xml version="1.0" encoding="UTF-8" standalone="yes"?>
<Relationships xmlns="http://schemas.openxmlformats.org/package/2006/relationships"><Relationship Id="rId8" Type="http://schemas.openxmlformats.org/officeDocument/2006/relationships/image" Target="../media/image840.png"/><Relationship Id="rId3" Type="http://schemas.openxmlformats.org/officeDocument/2006/relationships/image" Target="../media/image100.png"/><Relationship Id="rId7" Type="http://schemas.openxmlformats.org/officeDocument/2006/relationships/image" Target="../media/image830.png"/><Relationship Id="rId2" Type="http://schemas.openxmlformats.org/officeDocument/2006/relationships/notesSlide" Target="../notesSlides/notesSlide45.xml"/><Relationship Id="rId1" Type="http://schemas.openxmlformats.org/officeDocument/2006/relationships/slideLayout" Target="../slideLayouts/slideLayout3.xml"/><Relationship Id="rId6" Type="http://schemas.openxmlformats.org/officeDocument/2006/relationships/image" Target="../media/image820.png"/><Relationship Id="rId5" Type="http://schemas.openxmlformats.org/officeDocument/2006/relationships/image" Target="../media/image810.png"/><Relationship Id="rId4" Type="http://schemas.openxmlformats.org/officeDocument/2006/relationships/image" Target="../media/image790.png"/><Relationship Id="rId9" Type="http://schemas.openxmlformats.org/officeDocument/2006/relationships/image" Target="../media/image101.png"/></Relationships>
</file>

<file path=ppt/slides/_rels/slide55.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46.xml"/><Relationship Id="rId1" Type="http://schemas.openxmlformats.org/officeDocument/2006/relationships/slideLayout" Target="../slideLayouts/slideLayout3.xml"/><Relationship Id="rId4" Type="http://schemas.openxmlformats.org/officeDocument/2006/relationships/image" Target="../media/image103.png"/></Relationships>
</file>

<file path=ppt/slides/_rels/slide56.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47.xml"/><Relationship Id="rId1" Type="http://schemas.openxmlformats.org/officeDocument/2006/relationships/slideLayout" Target="../slideLayouts/slideLayout3.xml"/><Relationship Id="rId4" Type="http://schemas.openxmlformats.org/officeDocument/2006/relationships/image" Target="../media/image104.png"/></Relationships>
</file>

<file path=ppt/slides/_rels/slide57.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48.xml"/><Relationship Id="rId1" Type="http://schemas.openxmlformats.org/officeDocument/2006/relationships/slideLayout" Target="../slideLayouts/slideLayout3.xml"/><Relationship Id="rId4" Type="http://schemas.openxmlformats.org/officeDocument/2006/relationships/image" Target="../media/image106.png"/></Relationships>
</file>

<file path=ppt/slides/_rels/slide58.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49.xml"/><Relationship Id="rId1" Type="http://schemas.openxmlformats.org/officeDocument/2006/relationships/slideLayout" Target="../slideLayouts/slideLayout3.xml"/><Relationship Id="rId4" Type="http://schemas.openxmlformats.org/officeDocument/2006/relationships/image" Target="../media/image108.png"/></Relationships>
</file>

<file path=ppt/slides/_rels/slide59.xml.rels><?xml version="1.0" encoding="UTF-8" standalone="yes"?>
<Relationships xmlns="http://schemas.openxmlformats.org/package/2006/relationships"><Relationship Id="rId3" Type="http://schemas.openxmlformats.org/officeDocument/2006/relationships/image" Target="../media/image920.png"/><Relationship Id="rId7" Type="http://schemas.openxmlformats.org/officeDocument/2006/relationships/image" Target="../media/image105.png"/><Relationship Id="rId2" Type="http://schemas.openxmlformats.org/officeDocument/2006/relationships/notesSlide" Target="../notesSlides/notesSlide50.xml"/><Relationship Id="rId1" Type="http://schemas.openxmlformats.org/officeDocument/2006/relationships/slideLayout" Target="../slideLayouts/slideLayout3.xml"/><Relationship Id="rId6" Type="http://schemas.openxmlformats.org/officeDocument/2006/relationships/image" Target="../media/image950.png"/><Relationship Id="rId5" Type="http://schemas.openxmlformats.org/officeDocument/2006/relationships/image" Target="../media/image940.png"/><Relationship Id="rId4" Type="http://schemas.openxmlformats.org/officeDocument/2006/relationships/image" Target="../media/image930.png"/></Relationships>
</file>

<file path=ppt/slides/_rels/slide60.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51.xml"/><Relationship Id="rId1" Type="http://schemas.openxmlformats.org/officeDocument/2006/relationships/slideLayout" Target="../slideLayouts/slideLayout3.xml"/><Relationship Id="rId6" Type="http://schemas.openxmlformats.org/officeDocument/2006/relationships/image" Target="../media/image113.png"/><Relationship Id="rId5" Type="http://schemas.openxmlformats.org/officeDocument/2006/relationships/image" Target="../media/image110.png"/><Relationship Id="rId4" Type="http://schemas.openxmlformats.org/officeDocument/2006/relationships/image" Target="../media/image109.png"/></Relationships>
</file>

<file path=ppt/slides/_rels/slide61.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52.xml"/><Relationship Id="rId1" Type="http://schemas.openxmlformats.org/officeDocument/2006/relationships/slideLayout" Target="../slideLayouts/slideLayout3.xml"/><Relationship Id="rId4" Type="http://schemas.openxmlformats.org/officeDocument/2006/relationships/image" Target="../media/image111.png"/></Relationships>
</file>

<file path=ppt/slides/_rels/slide62.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53.xml"/><Relationship Id="rId1" Type="http://schemas.openxmlformats.org/officeDocument/2006/relationships/slideLayout" Target="../slideLayouts/slideLayout3.xml"/><Relationship Id="rId5" Type="http://schemas.openxmlformats.org/officeDocument/2006/relationships/image" Target="../media/image110.png"/><Relationship Id="rId4" Type="http://schemas.openxmlformats.org/officeDocument/2006/relationships/image" Target="../media/image109.png"/></Relationships>
</file>

<file path=ppt/slides/_rels/slide63.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54.xml"/><Relationship Id="rId1" Type="http://schemas.openxmlformats.org/officeDocument/2006/relationships/slideLayout" Target="../slideLayouts/slideLayout3.xml"/><Relationship Id="rId4" Type="http://schemas.openxmlformats.org/officeDocument/2006/relationships/image" Target="../media/image111.png"/></Relationships>
</file>

<file path=ppt/slides/_rels/slide64.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56.xml"/><Relationship Id="rId1" Type="http://schemas.openxmlformats.org/officeDocument/2006/relationships/slideLayout" Target="../slideLayouts/slideLayout3.xml"/><Relationship Id="rId4" Type="http://schemas.openxmlformats.org/officeDocument/2006/relationships/image" Target="../media/image112.png"/></Relationships>
</file>

<file path=ppt/slides/_rels/slide66.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57.xml"/><Relationship Id="rId1" Type="http://schemas.openxmlformats.org/officeDocument/2006/relationships/slideLayout" Target="../slideLayouts/slideLayout3.xml"/><Relationship Id="rId5" Type="http://schemas.openxmlformats.org/officeDocument/2006/relationships/image" Target="../media/image123.png"/><Relationship Id="rId4" Type="http://schemas.openxmlformats.org/officeDocument/2006/relationships/image" Target="../media/image122.png"/></Relationships>
</file>

<file path=ppt/slides/_rels/slide67.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58.xml"/><Relationship Id="rId1" Type="http://schemas.openxmlformats.org/officeDocument/2006/relationships/slideLayout" Target="../slideLayouts/slideLayout3.xml"/><Relationship Id="rId4" Type="http://schemas.openxmlformats.org/officeDocument/2006/relationships/image" Target="../media/image1111.png"/></Relationships>
</file>

<file path=ppt/slides/_rels/slide68.xml.rels><?xml version="1.0" encoding="UTF-8" standalone="yes"?>
<Relationships xmlns="http://schemas.openxmlformats.org/package/2006/relationships"><Relationship Id="rId3" Type="http://schemas.openxmlformats.org/officeDocument/2006/relationships/image" Target="../media/image1120.png"/><Relationship Id="rId2" Type="http://schemas.openxmlformats.org/officeDocument/2006/relationships/notesSlide" Target="../notesSlides/notesSlide59.xml"/><Relationship Id="rId1" Type="http://schemas.openxmlformats.org/officeDocument/2006/relationships/slideLayout" Target="../slideLayouts/slideLayout3.xml"/><Relationship Id="rId4" Type="http://schemas.openxmlformats.org/officeDocument/2006/relationships/image" Target="../media/image1130.png"/></Relationships>
</file>

<file path=ppt/slides/_rels/slide69.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60.xml"/><Relationship Id="rId1" Type="http://schemas.openxmlformats.org/officeDocument/2006/relationships/slideLayout" Target="../slideLayouts/slideLayout3.xml"/><Relationship Id="rId5" Type="http://schemas.openxmlformats.org/officeDocument/2006/relationships/image" Target="../media/image126.png"/><Relationship Id="rId4" Type="http://schemas.openxmlformats.org/officeDocument/2006/relationships/image" Target="../media/image119.png"/></Relationships>
</file>

<file path=ppt/slides/_rels/slide70.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61.xml"/><Relationship Id="rId1" Type="http://schemas.openxmlformats.org/officeDocument/2006/relationships/slideLayout" Target="../slideLayouts/slideLayout3.xml"/><Relationship Id="rId6" Type="http://schemas.openxmlformats.org/officeDocument/2006/relationships/image" Target="../media/image127.png"/><Relationship Id="rId5" Type="http://schemas.openxmlformats.org/officeDocument/2006/relationships/image" Target="../media/image129.png"/><Relationship Id="rId4" Type="http://schemas.openxmlformats.org/officeDocument/2006/relationships/image" Target="../media/image125.png"/></Relationships>
</file>

<file path=ppt/slides/_rels/slide71.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62.xml"/><Relationship Id="rId1" Type="http://schemas.openxmlformats.org/officeDocument/2006/relationships/slideLayout" Target="../slideLayouts/slideLayout3.xml"/><Relationship Id="rId4" Type="http://schemas.openxmlformats.org/officeDocument/2006/relationships/image" Target="../media/image130.png"/></Relationships>
</file>

<file path=ppt/slides/_rels/slide72.xml.rels><?xml version="1.0" encoding="UTF-8" standalone="yes"?>
<Relationships xmlns="http://schemas.openxmlformats.org/package/2006/relationships"><Relationship Id="rId3" Type="http://schemas.openxmlformats.org/officeDocument/2006/relationships/image" Target="../media/image131.gif"/><Relationship Id="rId2" Type="http://schemas.openxmlformats.org/officeDocument/2006/relationships/notesSlide" Target="../notesSlides/notesSlide63.xml"/><Relationship Id="rId1" Type="http://schemas.openxmlformats.org/officeDocument/2006/relationships/slideLayout" Target="../slideLayouts/slideLayout3.xml"/><Relationship Id="rId4" Type="http://schemas.openxmlformats.org/officeDocument/2006/relationships/hyperlink" Target="mailto:23020251154393@stu.xmu.edu.cn" TargetMode="Externa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132.png"/></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7.xml"/><Relationship Id="rId1" Type="http://schemas.openxmlformats.org/officeDocument/2006/relationships/slideLayout" Target="../slideLayouts/slideLayout1.xml"/><Relationship Id="rId6" Type="http://schemas.openxmlformats.org/officeDocument/2006/relationships/image" Target="../media/image133.png"/><Relationship Id="rId5" Type="http://schemas.openxmlformats.org/officeDocument/2006/relationships/image" Target="../media/image1.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7684"/>
        </a:solidFill>
        <a:effectLst/>
      </p:bgPr>
    </p:bg>
    <p:spTree>
      <p:nvGrpSpPr>
        <p:cNvPr id="1" name=""/>
        <p:cNvGrpSpPr/>
        <p:nvPr/>
      </p:nvGrpSpPr>
      <p:grpSpPr>
        <a:xfrm>
          <a:off x="0" y="0"/>
          <a:ext cx="0" cy="0"/>
          <a:chOff x="0" y="0"/>
          <a:chExt cx="0" cy="0"/>
        </a:xfrm>
      </p:grpSpPr>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 y="-46319"/>
            <a:ext cx="12192000" cy="5716503"/>
          </a:xfrm>
          <a:prstGeom prst="rect">
            <a:avLst/>
          </a:prstGeom>
        </p:spPr>
      </p:pic>
      <p:pic>
        <p:nvPicPr>
          <p:cNvPr id="17" name="图片 16"/>
          <p:cNvPicPr>
            <a:picLocks noChangeAspect="1"/>
          </p:cNvPicPr>
          <p:nvPr/>
        </p:nvPicPr>
        <p:blipFill rotWithShape="1">
          <a:blip r:embed="rId3" cstate="print">
            <a:extLst>
              <a:ext uri="{28A0092B-C50C-407E-A947-70E740481C1C}">
                <a14:useLocalDpi xmlns:a14="http://schemas.microsoft.com/office/drawing/2010/main" val="0"/>
              </a:ext>
            </a:extLst>
          </a:blip>
          <a:srcRect l="7288" t="60187" r="62545" b="13687"/>
          <a:stretch>
            <a:fillRect/>
          </a:stretch>
        </p:blipFill>
        <p:spPr>
          <a:xfrm flipH="1" flipV="1">
            <a:off x="8544560" y="5394960"/>
            <a:ext cx="3677920" cy="1493520"/>
          </a:xfrm>
          <a:prstGeom prst="rect">
            <a:avLst/>
          </a:prstGeom>
        </p:spPr>
      </p:pic>
      <p:pic>
        <p:nvPicPr>
          <p:cNvPr id="15" name="图片 14"/>
          <p:cNvPicPr>
            <a:picLocks noChangeAspect="1"/>
          </p:cNvPicPr>
          <p:nvPr/>
        </p:nvPicPr>
        <p:blipFill rotWithShape="1">
          <a:blip r:embed="rId3" cstate="print">
            <a:extLst>
              <a:ext uri="{28A0092B-C50C-407E-A947-70E740481C1C}">
                <a14:useLocalDpi xmlns:a14="http://schemas.microsoft.com/office/drawing/2010/main" val="0"/>
              </a:ext>
            </a:extLst>
          </a:blip>
          <a:srcRect l="24826" b="55447"/>
          <a:stretch>
            <a:fillRect/>
          </a:stretch>
        </p:blipFill>
        <p:spPr>
          <a:xfrm>
            <a:off x="-132080" y="4453337"/>
            <a:ext cx="9165288" cy="2546903"/>
          </a:xfrm>
          <a:prstGeom prst="rect">
            <a:avLst/>
          </a:prstGeom>
        </p:spPr>
      </p:pic>
      <p:grpSp>
        <p:nvGrpSpPr>
          <p:cNvPr id="12" name="组合 11"/>
          <p:cNvGrpSpPr/>
          <p:nvPr/>
        </p:nvGrpSpPr>
        <p:grpSpPr>
          <a:xfrm>
            <a:off x="-905689" y="342255"/>
            <a:ext cx="14873910" cy="7227071"/>
            <a:chOff x="2275139" y="1708487"/>
            <a:chExt cx="7788686" cy="3784438"/>
          </a:xfrm>
        </p:grpSpPr>
        <p:sp>
          <p:nvSpPr>
            <p:cNvPr id="9" name="六边形 8"/>
            <p:cNvSpPr/>
            <p:nvPr/>
          </p:nvSpPr>
          <p:spPr>
            <a:xfrm rot="5400000">
              <a:off x="5811401" y="1880190"/>
              <a:ext cx="3784438" cy="3441032"/>
            </a:xfrm>
            <a:prstGeom prst="hexagon">
              <a:avLst>
                <a:gd name="adj" fmla="val 30493"/>
                <a:gd name="vf" fmla="val 115470"/>
              </a:avLst>
            </a:prstGeom>
            <a:gradFill>
              <a:gsLst>
                <a:gs pos="77000">
                  <a:srgbClr val="016773"/>
                </a:gs>
                <a:gs pos="100000">
                  <a:srgbClr val="007684"/>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平行四边形 9"/>
            <p:cNvSpPr/>
            <p:nvPr/>
          </p:nvSpPr>
          <p:spPr>
            <a:xfrm rot="19714174">
              <a:off x="7064019" y="3212601"/>
              <a:ext cx="2999806" cy="1616793"/>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单圆角矩形 10"/>
            <p:cNvSpPr/>
            <p:nvPr/>
          </p:nvSpPr>
          <p:spPr>
            <a:xfrm>
              <a:off x="2275139" y="3590090"/>
              <a:ext cx="5733603" cy="45719"/>
            </a:xfrm>
            <a:prstGeom prst="round1Rect">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文本框 3"/>
          <p:cNvSpPr txBox="1"/>
          <p:nvPr/>
        </p:nvSpPr>
        <p:spPr>
          <a:xfrm>
            <a:off x="2727158" y="2057400"/>
            <a:ext cx="6737684" cy="1015663"/>
          </a:xfrm>
          <a:prstGeom prst="rect">
            <a:avLst/>
          </a:prstGeom>
          <a:noFill/>
        </p:spPr>
        <p:txBody>
          <a:bodyPr wrap="square" rtlCol="0">
            <a:spAutoFit/>
          </a:bodyPr>
          <a:lstStyle/>
          <a:p>
            <a:pPr algn="ctr"/>
            <a:r>
              <a:rPr lang="zh-CN" altLang="en-US" sz="60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人工智能引论</a:t>
            </a:r>
          </a:p>
        </p:txBody>
      </p:sp>
      <p:sp>
        <p:nvSpPr>
          <p:cNvPr id="19" name="文本框 18"/>
          <p:cNvSpPr txBox="1"/>
          <p:nvPr/>
        </p:nvSpPr>
        <p:spPr>
          <a:xfrm rot="1849986">
            <a:off x="8195789" y="49084"/>
            <a:ext cx="4944370" cy="2163608"/>
          </a:xfrm>
          <a:prstGeom prst="rect">
            <a:avLst/>
          </a:prstGeom>
          <a:noFill/>
        </p:spPr>
        <p:txBody>
          <a:bodyPr wrap="square" rtlCol="0">
            <a:noAutofit/>
            <a:scene3d>
              <a:camera prst="isometricTopUp">
                <a:rot lat="19176265" lon="2388000" rev="19890000"/>
              </a:camera>
              <a:lightRig rig="threePt" dir="t"/>
            </a:scene3d>
          </a:bodyPr>
          <a:lstStyle/>
          <a:p>
            <a:pPr algn="ctr"/>
            <a:r>
              <a:rPr lang="en-US" altLang="zh-CN" sz="19900" b="1" dirty="0">
                <a:gradFill>
                  <a:gsLst>
                    <a:gs pos="30000">
                      <a:srgbClr val="007684"/>
                    </a:gs>
                    <a:gs pos="83000">
                      <a:srgbClr val="016773"/>
                    </a:gs>
                  </a:gsLst>
                  <a:lin ang="5400000" scaled="0"/>
                </a:gradFill>
                <a:latin typeface="Bauhaus 93" panose="04030905020B02020C02" pitchFamily="82" charset="0"/>
                <a:ea typeface="Segoe UI Black" panose="020B0A02040204020203" pitchFamily="34" charset="0"/>
              </a:rPr>
              <a:t>101</a:t>
            </a:r>
            <a:endParaRPr lang="zh-CN" altLang="en-US" sz="19900" b="1" dirty="0">
              <a:gradFill>
                <a:gsLst>
                  <a:gs pos="30000">
                    <a:srgbClr val="007684"/>
                  </a:gs>
                  <a:gs pos="83000">
                    <a:srgbClr val="016773"/>
                  </a:gs>
                </a:gsLst>
                <a:lin ang="5400000" scaled="0"/>
              </a:gradFill>
              <a:latin typeface="Bauhaus 93" panose="04030905020B02020C02" pitchFamily="82" charset="0"/>
            </a:endParaRPr>
          </a:p>
        </p:txBody>
      </p:sp>
      <p:sp>
        <p:nvSpPr>
          <p:cNvPr id="2" name="文本框 1">
            <a:extLst>
              <a:ext uri="{FF2B5EF4-FFF2-40B4-BE49-F238E27FC236}">
                <a16:creationId xmlns:a16="http://schemas.microsoft.com/office/drawing/2014/main" id="{E09B9566-C49C-9CE5-BB0D-D18B92CFACF9}"/>
              </a:ext>
            </a:extLst>
          </p:cNvPr>
          <p:cNvSpPr txBox="1"/>
          <p:nvPr/>
        </p:nvSpPr>
        <p:spPr>
          <a:xfrm>
            <a:off x="5269479" y="4299065"/>
            <a:ext cx="1653043" cy="430374"/>
          </a:xfrm>
          <a:prstGeom prst="rect">
            <a:avLst/>
          </a:prstGeom>
          <a:noFill/>
        </p:spPr>
        <p:txBody>
          <a:bodyPr wrap="square" rtlCol="0">
            <a:spAutoFit/>
          </a:bodyPr>
          <a:lstStyle/>
          <a:p>
            <a:pPr marL="0" lvl="1" algn="ctr">
              <a:lnSpc>
                <a:spcPct val="120000"/>
              </a:lnSpc>
            </a:pPr>
            <a:r>
              <a:rPr lang="zh-CN" altLang="en-US" sz="2000"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高俊龙</a:t>
            </a:r>
          </a:p>
        </p:txBody>
      </p:sp>
      <p:sp>
        <p:nvSpPr>
          <p:cNvPr id="3" name="文本框 2">
            <a:extLst>
              <a:ext uri="{FF2B5EF4-FFF2-40B4-BE49-F238E27FC236}">
                <a16:creationId xmlns:a16="http://schemas.microsoft.com/office/drawing/2014/main" id="{BD9A6C38-026A-5600-503F-C3B5D749FA6F}"/>
              </a:ext>
            </a:extLst>
          </p:cNvPr>
          <p:cNvSpPr txBox="1"/>
          <p:nvPr/>
        </p:nvSpPr>
        <p:spPr>
          <a:xfrm>
            <a:off x="3546133" y="4941202"/>
            <a:ext cx="5099734" cy="396583"/>
          </a:xfrm>
          <a:prstGeom prst="rect">
            <a:avLst/>
          </a:prstGeom>
          <a:noFill/>
        </p:spPr>
        <p:txBody>
          <a:bodyPr wrap="square" rtlCol="0">
            <a:spAutoFit/>
          </a:bodyPr>
          <a:lstStyle/>
          <a:p>
            <a:pPr marL="0" lvl="1" algn="ctr">
              <a:lnSpc>
                <a:spcPct val="120000"/>
              </a:lnSpc>
            </a:pPr>
            <a:r>
              <a:rPr lang="zh-CN" altLang="en-US"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厦门大学信息学院</a:t>
            </a:r>
            <a:endParaRPr lang="en-US" altLang="zh-CN"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pic>
        <p:nvPicPr>
          <p:cNvPr id="130" name="图片 129"/>
          <p:cNvPicPr>
            <a:picLocks noChangeAspect="1"/>
          </p:cNvPicPr>
          <p:nvPr/>
        </p:nvPicPr>
        <p:blipFill rotWithShape="1">
          <a:blip r:embed="rId3" cstate="print">
            <a:extLst>
              <a:ext uri="{28A0092B-C50C-407E-A947-70E740481C1C}">
                <a14:useLocalDpi xmlns:a14="http://schemas.microsoft.com/office/drawing/2010/main" val="0"/>
              </a:ext>
            </a:extLst>
          </a:blip>
          <a:srcRect l="20226" t="32053" r="20333"/>
          <a:stretch>
            <a:fillRect/>
          </a:stretch>
        </p:blipFill>
        <p:spPr>
          <a:xfrm>
            <a:off x="-38911" y="-77822"/>
            <a:ext cx="7247108" cy="3570513"/>
          </a:xfrm>
          <a:prstGeom prst="rect">
            <a:avLst/>
          </a:prstGeom>
        </p:spPr>
      </p:pic>
      <p:pic>
        <p:nvPicPr>
          <p:cNvPr id="128" name="图片 127"/>
          <p:cNvPicPr>
            <a:picLocks noChangeAspect="1"/>
          </p:cNvPicPr>
          <p:nvPr/>
        </p:nvPicPr>
        <p:blipFill rotWithShape="1">
          <a:blip r:embed="rId4" cstate="print">
            <a:extLst>
              <a:ext uri="{28A0092B-C50C-407E-A947-70E740481C1C}">
                <a14:useLocalDpi xmlns:a14="http://schemas.microsoft.com/office/drawing/2010/main" val="0"/>
              </a:ext>
            </a:extLst>
          </a:blip>
          <a:srcRect t="54756" r="67172"/>
          <a:stretch>
            <a:fillRect/>
          </a:stretch>
        </p:blipFill>
        <p:spPr>
          <a:xfrm>
            <a:off x="8244776" y="-48638"/>
            <a:ext cx="4002347" cy="2377520"/>
          </a:xfrm>
          <a:prstGeom prst="rect">
            <a:avLst/>
          </a:prstGeom>
        </p:spPr>
      </p:pic>
      <p:pic>
        <p:nvPicPr>
          <p:cNvPr id="92" name="图片 91"/>
          <p:cNvPicPr>
            <a:picLocks noChangeAspect="1"/>
          </p:cNvPicPr>
          <p:nvPr/>
        </p:nvPicPr>
        <p:blipFill rotWithShape="1">
          <a:blip r:embed="rId5" cstate="print">
            <a:extLst>
              <a:ext uri="{28A0092B-C50C-407E-A947-70E740481C1C}">
                <a14:useLocalDpi xmlns:a14="http://schemas.microsoft.com/office/drawing/2010/main" val="0"/>
              </a:ext>
            </a:extLst>
          </a:blip>
          <a:srcRect l="24826" b="55447"/>
          <a:stretch>
            <a:fillRect/>
          </a:stretch>
        </p:blipFill>
        <p:spPr>
          <a:xfrm>
            <a:off x="-24384" y="4587109"/>
            <a:ext cx="9165288" cy="2546903"/>
          </a:xfrm>
          <a:prstGeom prst="rect">
            <a:avLst/>
          </a:prstGeom>
        </p:spPr>
      </p:pic>
      <p:grpSp>
        <p:nvGrpSpPr>
          <p:cNvPr id="18" name="组合 17"/>
          <p:cNvGrpSpPr/>
          <p:nvPr/>
        </p:nvGrpSpPr>
        <p:grpSpPr>
          <a:xfrm>
            <a:off x="10001700" y="2854959"/>
            <a:ext cx="2268815" cy="2101347"/>
            <a:chOff x="6175344" y="342254"/>
            <a:chExt cx="7803037" cy="7227071"/>
          </a:xfrm>
        </p:grpSpPr>
        <p:sp>
          <p:nvSpPr>
            <p:cNvPr id="19" name="六边形 18"/>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平行四边形 19"/>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9863825" y="4346576"/>
            <a:ext cx="2963878" cy="2745105"/>
            <a:chOff x="6175344" y="342254"/>
            <a:chExt cx="7803037" cy="7227071"/>
          </a:xfrm>
        </p:grpSpPr>
        <p:sp>
          <p:nvSpPr>
            <p:cNvPr id="15" name="六边形 1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矩形 6"/>
          <p:cNvSpPr/>
          <p:nvPr/>
        </p:nvSpPr>
        <p:spPr>
          <a:xfrm>
            <a:off x="4899813" y="3439840"/>
            <a:ext cx="2441694" cy="769441"/>
          </a:xfrm>
          <a:prstGeom prst="rect">
            <a:avLst/>
          </a:prstGeom>
        </p:spPr>
        <p:txBody>
          <a:bodyPr wrap="none">
            <a:spAutoFit/>
          </a:bodyPr>
          <a:lstStyle/>
          <a:p>
            <a:pPr algn="ctr"/>
            <a:r>
              <a:rPr lang="zh-CN" altLang="en-US" sz="44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强化学习</a:t>
            </a:r>
            <a:endParaRPr lang="zh-CN" altLang="zh-CN" sz="44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p:txBody>
      </p:sp>
      <p:sp>
        <p:nvSpPr>
          <p:cNvPr id="8" name="矩形 7"/>
          <p:cNvSpPr/>
          <p:nvPr/>
        </p:nvSpPr>
        <p:spPr>
          <a:xfrm>
            <a:off x="5311170" y="2445722"/>
            <a:ext cx="1569660" cy="646331"/>
          </a:xfrm>
          <a:prstGeom prst="rect">
            <a:avLst/>
          </a:prstGeom>
        </p:spPr>
        <p:txBody>
          <a:bodyPr wrap="none">
            <a:spAutoFit/>
          </a:bodyPr>
          <a:lstStyle/>
          <a:p>
            <a:pPr algn="ctr"/>
            <a:r>
              <a:rPr lang="zh-CN" altLang="en-US" sz="36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第六章</a:t>
            </a:r>
            <a:endPar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cxnSp>
        <p:nvCxnSpPr>
          <p:cNvPr id="9" name="直接连接符 8"/>
          <p:cNvCxnSpPr/>
          <p:nvPr/>
        </p:nvCxnSpPr>
        <p:spPr>
          <a:xfrm>
            <a:off x="3024554" y="3265946"/>
            <a:ext cx="6116350" cy="0"/>
          </a:xfrm>
          <a:prstGeom prst="line">
            <a:avLst/>
          </a:prstGeom>
          <a:ln w="22225">
            <a:solidFill>
              <a:schemeClr val="bg1"/>
            </a:solidFill>
            <a:headEnd type="diamond"/>
            <a:tailEnd type="diamond"/>
          </a:ln>
        </p:spPr>
        <p:style>
          <a:lnRef idx="1">
            <a:schemeClr val="accent1"/>
          </a:lnRef>
          <a:fillRef idx="0">
            <a:schemeClr val="accent1"/>
          </a:fillRef>
          <a:effectRef idx="0">
            <a:schemeClr val="accent1"/>
          </a:effectRef>
          <a:fontRef idx="minor">
            <a:schemeClr val="tx1"/>
          </a:fontRef>
        </p:style>
      </p:cxnSp>
      <p:grpSp>
        <p:nvGrpSpPr>
          <p:cNvPr id="32" name="组合 31"/>
          <p:cNvGrpSpPr/>
          <p:nvPr/>
        </p:nvGrpSpPr>
        <p:grpSpPr>
          <a:xfrm>
            <a:off x="2221671" y="2179434"/>
            <a:ext cx="7748658" cy="2397279"/>
            <a:chOff x="2221671" y="2179434"/>
            <a:chExt cx="7748658" cy="2397279"/>
          </a:xfrm>
        </p:grpSpPr>
        <p:sp>
          <p:nvSpPr>
            <p:cNvPr id="6" name="标题 9801"/>
            <p:cNvSpPr txBox="1"/>
            <p:nvPr/>
          </p:nvSpPr>
          <p:spPr>
            <a:xfrm rot="16200000">
              <a:off x="8719085" y="3325468"/>
              <a:ext cx="2397277" cy="105210"/>
            </a:xfrm>
            <a:prstGeom prst="parallelogram">
              <a:avLst>
                <a:gd name="adj" fmla="val 98875"/>
              </a:avLst>
            </a:prstGeom>
            <a:gradFill flip="none" rotWithShape="1">
              <a:gsLst>
                <a:gs pos="100000">
                  <a:srgbClr val="016773"/>
                </a:gs>
                <a:gs pos="0">
                  <a:srgbClr val="00ABA5"/>
                </a:gs>
              </a:gsLst>
              <a:lin ang="6000000" scaled="0"/>
              <a:tileRect/>
            </a:gradFill>
            <a:ln w="15875" cap="rnd">
              <a:solidFill>
                <a:schemeClr val="bg1">
                  <a:alpha val="57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10" name="标题 9801"/>
            <p:cNvSpPr txBox="1"/>
            <p:nvPr/>
          </p:nvSpPr>
          <p:spPr>
            <a:xfrm flipH="1">
              <a:off x="2221671" y="4468236"/>
              <a:ext cx="7748657" cy="108477"/>
            </a:xfrm>
            <a:prstGeom prst="parallelogram">
              <a:avLst>
                <a:gd name="adj" fmla="val 102209"/>
              </a:avLst>
            </a:prstGeom>
            <a:gradFill>
              <a:gsLst>
                <a:gs pos="55000">
                  <a:srgbClr val="016773"/>
                </a:gs>
                <a:gs pos="0">
                  <a:srgbClr val="00ABA5"/>
                </a:gs>
                <a:gs pos="100000">
                  <a:srgbClr val="00ABA5"/>
                </a:gs>
              </a:gsLst>
              <a:lin ang="6000000" scaled="0"/>
            </a:gradFill>
            <a:ln w="15875" cap="rnd">
              <a:solidFill>
                <a:schemeClr val="bg1">
                  <a:alpha val="57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cxnSp>
          <p:nvCxnSpPr>
            <p:cNvPr id="11" name="直接连接符 10"/>
            <p:cNvCxnSpPr/>
            <p:nvPr/>
          </p:nvCxnSpPr>
          <p:spPr>
            <a:xfrm flipH="1">
              <a:off x="2221671" y="2179434"/>
              <a:ext cx="76428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flipH="1">
              <a:off x="1076871" y="3324234"/>
              <a:ext cx="22896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2222317" y="4468236"/>
              <a:ext cx="7642800" cy="0"/>
            </a:xfrm>
            <a:prstGeom prst="line">
              <a:avLst/>
            </a:prstGeom>
            <a:ln w="15875" cap="rnd">
              <a:gradFill>
                <a:gsLst>
                  <a:gs pos="0">
                    <a:schemeClr val="bg1">
                      <a:alpha val="0"/>
                    </a:schemeClr>
                  </a:gs>
                  <a:gs pos="100000">
                    <a:schemeClr val="bg1"/>
                  </a:gs>
                </a:gsLst>
                <a:lin ang="3600000" scaled="0"/>
              </a:gra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5400000" flipH="1">
              <a:off x="8719671" y="3324234"/>
              <a:ext cx="22896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a:off x="8933514" y="5200219"/>
            <a:ext cx="1549536" cy="1435160"/>
            <a:chOff x="6175344" y="342254"/>
            <a:chExt cx="7803037" cy="7227071"/>
          </a:xfrm>
        </p:grpSpPr>
        <p:sp>
          <p:nvSpPr>
            <p:cNvPr id="22" name="六边形 21"/>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平行四边形 22"/>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4" name="组合 23"/>
          <p:cNvGrpSpPr/>
          <p:nvPr/>
        </p:nvGrpSpPr>
        <p:grpSpPr>
          <a:xfrm>
            <a:off x="-875295" y="-875664"/>
            <a:ext cx="2974038" cy="2745105"/>
            <a:chOff x="6175344" y="342254"/>
            <a:chExt cx="7829785" cy="7227071"/>
          </a:xfrm>
        </p:grpSpPr>
        <p:sp>
          <p:nvSpPr>
            <p:cNvPr id="25" name="六边形 2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平行四边形 2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组合 26"/>
          <p:cNvGrpSpPr/>
          <p:nvPr/>
        </p:nvGrpSpPr>
        <p:grpSpPr>
          <a:xfrm>
            <a:off x="1259840" y="635784"/>
            <a:ext cx="823697" cy="760292"/>
            <a:chOff x="6175344" y="342254"/>
            <a:chExt cx="7829785" cy="7227071"/>
          </a:xfrm>
        </p:grpSpPr>
        <p:sp>
          <p:nvSpPr>
            <p:cNvPr id="28" name="六边形 27"/>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平行四边形 28"/>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0" y="2500444"/>
            <a:ext cx="12192000" cy="4357556"/>
          </a:xfrm>
          <a:prstGeom prst="rect">
            <a:avLst/>
          </a:prstGeom>
          <a:pattFill prst="dashUpDiag">
            <a:fgClr>
              <a:schemeClr val="bg1">
                <a:lumMod val="95000"/>
              </a:schemeClr>
            </a:fgClr>
            <a:bgClr>
              <a:schemeClr val="bg1"/>
            </a:bgClr>
          </a:pattFill>
          <a:ln>
            <a:noFill/>
          </a:ln>
          <a:effectLst>
            <a:innerShdw blurRad="279400" dist="25400">
              <a:prstClr val="black">
                <a:alpha val="34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1327129" y="3867301"/>
            <a:ext cx="9709192" cy="2481715"/>
            <a:chOff x="1241404" y="3150817"/>
            <a:chExt cx="9709192" cy="2481715"/>
          </a:xfrm>
        </p:grpSpPr>
        <p:grpSp>
          <p:nvGrpSpPr>
            <p:cNvPr id="9" name="组合 8"/>
            <p:cNvGrpSpPr/>
            <p:nvPr/>
          </p:nvGrpSpPr>
          <p:grpSpPr>
            <a:xfrm>
              <a:off x="1241404" y="3150817"/>
              <a:ext cx="9709192" cy="2481715"/>
              <a:chOff x="1685472" y="920193"/>
              <a:chExt cx="9759953" cy="4937875"/>
            </a:xfrm>
          </p:grpSpPr>
          <p:sp>
            <p:nvSpPr>
              <p:cNvPr id="11" name="矩形: 圆顶角 38"/>
              <p:cNvSpPr/>
              <p:nvPr/>
            </p:nvSpPr>
            <p:spPr>
              <a:xfrm rot="16200000">
                <a:off x="4361101" y="-1226256"/>
                <a:ext cx="4615019" cy="9553629"/>
              </a:xfrm>
              <a:prstGeom prst="round2SameRect">
                <a:avLst>
                  <a:gd name="adj1" fmla="val 0"/>
                  <a:gd name="adj2" fmla="val 0"/>
                </a:avLst>
              </a:prstGeom>
              <a:solidFill>
                <a:schemeClr val="bg1"/>
              </a:solidFill>
              <a:ln>
                <a:noFill/>
              </a:ln>
              <a:effectLst>
                <a:outerShdw blurRad="241300" dist="38100" dir="10800000" algn="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圆顶角 39"/>
              <p:cNvSpPr/>
              <p:nvPr/>
            </p:nvSpPr>
            <p:spPr>
              <a:xfrm rot="16200000">
                <a:off x="4265598" y="-1381975"/>
                <a:ext cx="4615019" cy="9553629"/>
              </a:xfrm>
              <a:prstGeom prst="round2SameRect">
                <a:avLst>
                  <a:gd name="adj1" fmla="val 0"/>
                  <a:gd name="adj2" fmla="val 0"/>
                </a:avLst>
              </a:prstGeom>
              <a:solidFill>
                <a:schemeClr val="bg1"/>
              </a:solidFill>
              <a:ln>
                <a:noFill/>
              </a:ln>
              <a:effectLst>
                <a:outerShdw blurRad="241300" dist="38100" dir="10800000" algn="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矩形: 圆顶角 40"/>
              <p:cNvSpPr/>
              <p:nvPr/>
            </p:nvSpPr>
            <p:spPr>
              <a:xfrm rot="16200000">
                <a:off x="4154777" y="-1549112"/>
                <a:ext cx="4615019" cy="9553629"/>
              </a:xfrm>
              <a:prstGeom prst="round2SameRect">
                <a:avLst>
                  <a:gd name="adj1" fmla="val 0"/>
                  <a:gd name="adj2" fmla="val 0"/>
                </a:avLst>
              </a:prstGeom>
              <a:solidFill>
                <a:schemeClr val="bg1"/>
              </a:solidFill>
              <a:ln>
                <a:noFill/>
              </a:ln>
              <a:effectLst>
                <a:outerShdw blurRad="241300" dist="38100" dir="10800000" algn="r"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cxnSp>
          <p:nvCxnSpPr>
            <p:cNvPr id="10" name="直接连接符 9"/>
            <p:cNvCxnSpPr/>
            <p:nvPr/>
          </p:nvCxnSpPr>
          <p:spPr>
            <a:xfrm flipV="1">
              <a:off x="1305272" y="3499098"/>
              <a:ext cx="0" cy="1579796"/>
            </a:xfrm>
            <a:prstGeom prst="line">
              <a:avLst/>
            </a:prstGeom>
            <a:ln w="152400">
              <a:solidFill>
                <a:srgbClr val="007684"/>
              </a:solidFill>
            </a:ln>
            <a:effectLst>
              <a:outerShdw blurRad="635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sp>
        <p:nvSpPr>
          <p:cNvPr id="3" name="矩形 2"/>
          <p:cNvSpPr/>
          <p:nvPr/>
        </p:nvSpPr>
        <p:spPr>
          <a:xfrm>
            <a:off x="1116817" y="1099999"/>
            <a:ext cx="7924801" cy="2032211"/>
          </a:xfrm>
          <a:prstGeom prst="rect">
            <a:avLst/>
          </a:prstGeom>
          <a:gradFill>
            <a:gsLst>
              <a:gs pos="0">
                <a:srgbClr val="0093A2"/>
              </a:gs>
              <a:gs pos="100000">
                <a:srgbClr val="222222">
                  <a:alpha val="0"/>
                </a:srgbClr>
              </a:gs>
              <a:gs pos="96000">
                <a:srgbClr val="222222"/>
              </a:gs>
              <a:gs pos="36000">
                <a:srgbClr val="01717E"/>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383999" y="1722531"/>
            <a:ext cx="5034364" cy="527709"/>
          </a:xfrm>
          <a:prstGeom prst="rect">
            <a:avLst/>
          </a:prstGeom>
        </p:spPr>
        <p:txBody>
          <a:bodyPr wrap="square">
            <a:spAutoFit/>
          </a:bodyPr>
          <a:lstStyle/>
          <a:p>
            <a:pPr indent="575945" algn="just">
              <a:lnSpc>
                <a:spcPct val="130000"/>
              </a:lnSpc>
              <a:spcBef>
                <a:spcPts val="600"/>
              </a:spcBef>
            </a:pPr>
            <a:r>
              <a:rPr lang="zh-CN" altLang="zh-CN" sz="2400" b="1" dirty="0">
                <a:solidFill>
                  <a:schemeClr val="bg1"/>
                </a:solidFill>
              </a:rPr>
              <a:t>谋定而后动，知止而有得</a:t>
            </a:r>
            <a:endParaRPr lang="en-US" altLang="zh-CN" sz="2400" b="1" dirty="0">
              <a:solidFill>
                <a:schemeClr val="bg1"/>
              </a:solidFill>
            </a:endParaRPr>
          </a:p>
        </p:txBody>
      </p:sp>
      <p:sp>
        <p:nvSpPr>
          <p:cNvPr id="6" name="矩形 5"/>
          <p:cNvSpPr/>
          <p:nvPr/>
        </p:nvSpPr>
        <p:spPr>
          <a:xfrm>
            <a:off x="1504507" y="3940814"/>
            <a:ext cx="9360364" cy="1815882"/>
          </a:xfrm>
          <a:prstGeom prst="rect">
            <a:avLst/>
          </a:prstGeom>
        </p:spPr>
        <p:txBody>
          <a:bodyPr wrap="square">
            <a:spAutoFit/>
          </a:bodyPr>
          <a:lstStyle/>
          <a:p>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强化学习是智能体（</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agent</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在不断与其所处环境交互的过程中进行学习的一种方法。在这种方法中，智能体通过“尝试与试错”和“探索与利用”等机制在所处状态采取行动，不断与环境交互，直至进入终止状态，根据在终止状态所获得的奖惩来改进行动策略，序贯完成决策任务。</a:t>
            </a: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在强化学习中，学习信号以奖励形式出现，智能体在与环境交互中取得最大化收益，这种学习方式既不是从已有数据出发，也不是依赖于已有知识的学习方式，犹如“</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tabula rasa</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（拉丁语）”所蕴含的“一张白纸绘蓝图”之义，从“授之以鱼”迈向“授之以渔”。</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sp>
        <p:nvSpPr>
          <p:cNvPr id="2" name="标题 9801"/>
          <p:cNvSpPr txBox="1"/>
          <p:nvPr/>
        </p:nvSpPr>
        <p:spPr>
          <a:xfrm flipV="1">
            <a:off x="0" y="729000"/>
            <a:ext cx="11615165" cy="5400000"/>
          </a:xfrm>
          <a:prstGeom prst="cube">
            <a:avLst>
              <a:gd name="adj" fmla="val 1804"/>
            </a:avLst>
          </a:prstGeom>
          <a:pattFill prst="ltHorz">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5" name="六边形 4"/>
          <p:cNvSpPr/>
          <p:nvPr/>
        </p:nvSpPr>
        <p:spPr>
          <a:xfrm rot="5400000">
            <a:off x="-5678865" y="-723361"/>
            <a:ext cx="9564253" cy="8696378"/>
          </a:xfrm>
          <a:prstGeom prst="hexagon">
            <a:avLst>
              <a:gd name="adj" fmla="val 30493"/>
              <a:gd name="vf" fmla="val 115470"/>
            </a:avLst>
          </a:prstGeom>
          <a:gradFill>
            <a:gsLst>
              <a:gs pos="77000">
                <a:srgbClr val="016773"/>
              </a:gs>
              <a:gs pos="100000">
                <a:srgbClr val="007684"/>
              </a:gs>
            </a:gsLst>
            <a:lin ang="5400000" scaled="0"/>
          </a:gradFill>
          <a:ln>
            <a:noFill/>
          </a:ln>
          <a:effectLst>
            <a:outerShdw blurRad="698500" dist="165100" algn="l" rotWithShape="0">
              <a:srgbClr val="013F45">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p:cNvSpPr/>
          <p:nvPr/>
        </p:nvSpPr>
        <p:spPr>
          <a:xfrm rot="19714174">
            <a:off x="-2503449" y="2643987"/>
            <a:ext cx="7581286" cy="4086054"/>
          </a:xfrm>
          <a:prstGeom prst="parallelogram">
            <a:avLst>
              <a:gd name="adj" fmla="val 61032"/>
            </a:avLst>
          </a:prstGeom>
          <a:solidFill>
            <a:srgbClr val="00ABA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320891" y="2740372"/>
            <a:ext cx="540023" cy="1384403"/>
          </a:xfrm>
          <a:custGeom>
            <a:avLst/>
            <a:gdLst/>
            <a:ahLst/>
            <a:cxnLst/>
            <a:rect l="l" t="t" r="r" b="b"/>
            <a:pathLst>
              <a:path w="540023" h="1384403">
                <a:moveTo>
                  <a:pt x="195374" y="1232620"/>
                </a:moveTo>
                <a:lnTo>
                  <a:pt x="204155" y="1247987"/>
                </a:lnTo>
                <a:cubicBezTo>
                  <a:pt x="132445" y="1288964"/>
                  <a:pt x="80491" y="1317502"/>
                  <a:pt x="48295" y="1333600"/>
                </a:cubicBezTo>
                <a:cubicBezTo>
                  <a:pt x="42441" y="1337991"/>
                  <a:pt x="37319" y="1336527"/>
                  <a:pt x="32928" y="1329210"/>
                </a:cubicBezTo>
                <a:cubicBezTo>
                  <a:pt x="27074" y="1321892"/>
                  <a:pt x="16830" y="1305062"/>
                  <a:pt x="2195" y="1278720"/>
                </a:cubicBezTo>
                <a:cubicBezTo>
                  <a:pt x="732" y="1277256"/>
                  <a:pt x="0" y="1275793"/>
                  <a:pt x="0" y="1274329"/>
                </a:cubicBezTo>
                <a:close/>
                <a:moveTo>
                  <a:pt x="458800" y="863824"/>
                </a:moveTo>
                <a:cubicBezTo>
                  <a:pt x="460264" y="862361"/>
                  <a:pt x="463190" y="863092"/>
                  <a:pt x="467581" y="866019"/>
                </a:cubicBezTo>
                <a:cubicBezTo>
                  <a:pt x="470508" y="867483"/>
                  <a:pt x="474167" y="870410"/>
                  <a:pt x="478557" y="874800"/>
                </a:cubicBezTo>
                <a:cubicBezTo>
                  <a:pt x="500509" y="892362"/>
                  <a:pt x="515144" y="903338"/>
                  <a:pt x="522461" y="907728"/>
                </a:cubicBezTo>
                <a:cubicBezTo>
                  <a:pt x="528315" y="912119"/>
                  <a:pt x="530510" y="915778"/>
                  <a:pt x="529047" y="918705"/>
                </a:cubicBezTo>
                <a:cubicBezTo>
                  <a:pt x="529047" y="920168"/>
                  <a:pt x="526120" y="922363"/>
                  <a:pt x="520266" y="925290"/>
                </a:cubicBezTo>
                <a:cubicBezTo>
                  <a:pt x="511485" y="928217"/>
                  <a:pt x="507826" y="934071"/>
                  <a:pt x="509290" y="942852"/>
                </a:cubicBezTo>
                <a:cubicBezTo>
                  <a:pt x="509290" y="1112615"/>
                  <a:pt x="508558" y="1223839"/>
                  <a:pt x="507095" y="1276525"/>
                </a:cubicBezTo>
                <a:cubicBezTo>
                  <a:pt x="507095" y="1314575"/>
                  <a:pt x="500509" y="1336527"/>
                  <a:pt x="487338" y="1342381"/>
                </a:cubicBezTo>
                <a:cubicBezTo>
                  <a:pt x="477093" y="1351162"/>
                  <a:pt x="467581" y="1361406"/>
                  <a:pt x="458800" y="1373114"/>
                </a:cubicBezTo>
                <a:cubicBezTo>
                  <a:pt x="450019" y="1381895"/>
                  <a:pt x="442702" y="1385554"/>
                  <a:pt x="436848" y="1384090"/>
                </a:cubicBezTo>
                <a:cubicBezTo>
                  <a:pt x="432457" y="1381163"/>
                  <a:pt x="430994" y="1373846"/>
                  <a:pt x="432457" y="1362138"/>
                </a:cubicBezTo>
                <a:cubicBezTo>
                  <a:pt x="436848" y="1347503"/>
                  <a:pt x="433921" y="1337259"/>
                  <a:pt x="423677" y="1331405"/>
                </a:cubicBezTo>
                <a:cubicBezTo>
                  <a:pt x="413432" y="1321161"/>
                  <a:pt x="392212" y="1307989"/>
                  <a:pt x="360015" y="1291891"/>
                </a:cubicBezTo>
                <a:lnTo>
                  <a:pt x="366601" y="1278720"/>
                </a:lnTo>
                <a:lnTo>
                  <a:pt x="443434" y="1294086"/>
                </a:lnTo>
                <a:cubicBezTo>
                  <a:pt x="447824" y="1276525"/>
                  <a:pt x="450019" y="1152861"/>
                  <a:pt x="450019" y="923095"/>
                </a:cubicBezTo>
                <a:lnTo>
                  <a:pt x="278792" y="929681"/>
                </a:lnTo>
                <a:lnTo>
                  <a:pt x="274402" y="1221644"/>
                </a:lnTo>
                <a:cubicBezTo>
                  <a:pt x="302208" y="1173349"/>
                  <a:pt x="323428" y="1130177"/>
                  <a:pt x="338063" y="1092127"/>
                </a:cubicBezTo>
                <a:cubicBezTo>
                  <a:pt x="323428" y="1061394"/>
                  <a:pt x="305135" y="1027002"/>
                  <a:pt x="283183" y="988951"/>
                </a:cubicBezTo>
                <a:lnTo>
                  <a:pt x="296354" y="980171"/>
                </a:lnTo>
                <a:cubicBezTo>
                  <a:pt x="318306" y="1005050"/>
                  <a:pt x="337332" y="1028465"/>
                  <a:pt x="353430" y="1050417"/>
                </a:cubicBezTo>
                <a:cubicBezTo>
                  <a:pt x="357820" y="1038710"/>
                  <a:pt x="362211" y="1026270"/>
                  <a:pt x="366601" y="1013099"/>
                </a:cubicBezTo>
                <a:cubicBezTo>
                  <a:pt x="373918" y="986756"/>
                  <a:pt x="378309" y="966999"/>
                  <a:pt x="379772" y="953828"/>
                </a:cubicBezTo>
                <a:cubicBezTo>
                  <a:pt x="379772" y="947974"/>
                  <a:pt x="384163" y="947242"/>
                  <a:pt x="392944" y="951633"/>
                </a:cubicBezTo>
                <a:cubicBezTo>
                  <a:pt x="397334" y="956023"/>
                  <a:pt x="406847" y="961877"/>
                  <a:pt x="421481" y="969194"/>
                </a:cubicBezTo>
                <a:cubicBezTo>
                  <a:pt x="427335" y="972121"/>
                  <a:pt x="430994" y="974317"/>
                  <a:pt x="432457" y="975780"/>
                </a:cubicBezTo>
                <a:cubicBezTo>
                  <a:pt x="436848" y="977244"/>
                  <a:pt x="436848" y="983098"/>
                  <a:pt x="432457" y="993342"/>
                </a:cubicBezTo>
                <a:cubicBezTo>
                  <a:pt x="430994" y="997732"/>
                  <a:pt x="428067" y="1004318"/>
                  <a:pt x="423677" y="1013099"/>
                </a:cubicBezTo>
                <a:cubicBezTo>
                  <a:pt x="420750" y="1021880"/>
                  <a:pt x="417823" y="1028465"/>
                  <a:pt x="414896" y="1032856"/>
                </a:cubicBezTo>
                <a:cubicBezTo>
                  <a:pt x="406115" y="1054808"/>
                  <a:pt x="397334" y="1075297"/>
                  <a:pt x="388553" y="1094322"/>
                </a:cubicBezTo>
                <a:cubicBezTo>
                  <a:pt x="413432" y="1127982"/>
                  <a:pt x="430994" y="1153593"/>
                  <a:pt x="441238" y="1171154"/>
                </a:cubicBezTo>
                <a:cubicBezTo>
                  <a:pt x="448556" y="1182862"/>
                  <a:pt x="448556" y="1193838"/>
                  <a:pt x="441238" y="1204082"/>
                </a:cubicBezTo>
                <a:cubicBezTo>
                  <a:pt x="429531" y="1224571"/>
                  <a:pt x="417823" y="1239206"/>
                  <a:pt x="406115" y="1247987"/>
                </a:cubicBezTo>
                <a:cubicBezTo>
                  <a:pt x="391480" y="1211400"/>
                  <a:pt x="376845" y="1175545"/>
                  <a:pt x="362211" y="1140421"/>
                </a:cubicBezTo>
                <a:cubicBezTo>
                  <a:pt x="338795" y="1179935"/>
                  <a:pt x="308794" y="1216522"/>
                  <a:pt x="272207" y="1250182"/>
                </a:cubicBezTo>
                <a:lnTo>
                  <a:pt x="272207" y="1337991"/>
                </a:lnTo>
                <a:cubicBezTo>
                  <a:pt x="272207" y="1346771"/>
                  <a:pt x="269280" y="1351894"/>
                  <a:pt x="263426" y="1353357"/>
                </a:cubicBezTo>
                <a:cubicBezTo>
                  <a:pt x="248791" y="1363602"/>
                  <a:pt x="234156" y="1370919"/>
                  <a:pt x="219522" y="1375309"/>
                </a:cubicBezTo>
                <a:cubicBezTo>
                  <a:pt x="212204" y="1376773"/>
                  <a:pt x="209277" y="1373846"/>
                  <a:pt x="210741" y="1366528"/>
                </a:cubicBezTo>
                <a:cubicBezTo>
                  <a:pt x="213668" y="1307989"/>
                  <a:pt x="216595" y="1202619"/>
                  <a:pt x="219522" y="1050417"/>
                </a:cubicBezTo>
                <a:cubicBezTo>
                  <a:pt x="220985" y="1005050"/>
                  <a:pt x="221717" y="975048"/>
                  <a:pt x="221717" y="960414"/>
                </a:cubicBezTo>
                <a:cubicBezTo>
                  <a:pt x="221717" y="932608"/>
                  <a:pt x="221717" y="906265"/>
                  <a:pt x="221717" y="881386"/>
                </a:cubicBezTo>
                <a:cubicBezTo>
                  <a:pt x="221717" y="876995"/>
                  <a:pt x="222449" y="874800"/>
                  <a:pt x="223912" y="874800"/>
                </a:cubicBezTo>
                <a:cubicBezTo>
                  <a:pt x="223912" y="873337"/>
                  <a:pt x="226107" y="873337"/>
                  <a:pt x="230498" y="874800"/>
                </a:cubicBezTo>
                <a:cubicBezTo>
                  <a:pt x="242206" y="879191"/>
                  <a:pt x="259035" y="887972"/>
                  <a:pt x="280988" y="901143"/>
                </a:cubicBezTo>
                <a:lnTo>
                  <a:pt x="434653" y="894557"/>
                </a:lnTo>
                <a:cubicBezTo>
                  <a:pt x="434653" y="894557"/>
                  <a:pt x="435384" y="894557"/>
                  <a:pt x="436848" y="894557"/>
                </a:cubicBezTo>
                <a:cubicBezTo>
                  <a:pt x="445629" y="893094"/>
                  <a:pt x="450019" y="890167"/>
                  <a:pt x="450019" y="885776"/>
                </a:cubicBezTo>
                <a:cubicBezTo>
                  <a:pt x="452946" y="882849"/>
                  <a:pt x="454410" y="878459"/>
                  <a:pt x="454410" y="872605"/>
                </a:cubicBezTo>
                <a:cubicBezTo>
                  <a:pt x="455873" y="866751"/>
                  <a:pt x="457337" y="863824"/>
                  <a:pt x="458800" y="863824"/>
                </a:cubicBezTo>
                <a:close/>
                <a:moveTo>
                  <a:pt x="111956" y="857239"/>
                </a:moveTo>
                <a:cubicBezTo>
                  <a:pt x="113420" y="855775"/>
                  <a:pt x="115615" y="856507"/>
                  <a:pt x="118542" y="859434"/>
                </a:cubicBezTo>
                <a:cubicBezTo>
                  <a:pt x="120005" y="860897"/>
                  <a:pt x="123664" y="863092"/>
                  <a:pt x="129518" y="866019"/>
                </a:cubicBezTo>
                <a:cubicBezTo>
                  <a:pt x="155860" y="880654"/>
                  <a:pt x="170495" y="889435"/>
                  <a:pt x="173422" y="892362"/>
                </a:cubicBezTo>
                <a:cubicBezTo>
                  <a:pt x="177813" y="895289"/>
                  <a:pt x="177081" y="899679"/>
                  <a:pt x="171227" y="905533"/>
                </a:cubicBezTo>
                <a:cubicBezTo>
                  <a:pt x="166836" y="909924"/>
                  <a:pt x="158787" y="919436"/>
                  <a:pt x="147080" y="934071"/>
                </a:cubicBezTo>
                <a:cubicBezTo>
                  <a:pt x="110493" y="980902"/>
                  <a:pt x="81223" y="1013099"/>
                  <a:pt x="59271" y="1030660"/>
                </a:cubicBezTo>
                <a:lnTo>
                  <a:pt x="131713" y="1021880"/>
                </a:lnTo>
                <a:cubicBezTo>
                  <a:pt x="136103" y="1014562"/>
                  <a:pt x="139762" y="1007977"/>
                  <a:pt x="142689" y="1002123"/>
                </a:cubicBezTo>
                <a:cubicBezTo>
                  <a:pt x="150006" y="988951"/>
                  <a:pt x="155860" y="975048"/>
                  <a:pt x="160251" y="960414"/>
                </a:cubicBezTo>
                <a:cubicBezTo>
                  <a:pt x="161714" y="957487"/>
                  <a:pt x="163178" y="956023"/>
                  <a:pt x="164641" y="956023"/>
                </a:cubicBezTo>
                <a:cubicBezTo>
                  <a:pt x="164641" y="954560"/>
                  <a:pt x="166105" y="955292"/>
                  <a:pt x="169032" y="958218"/>
                </a:cubicBezTo>
                <a:cubicBezTo>
                  <a:pt x="193911" y="974317"/>
                  <a:pt x="209277" y="986024"/>
                  <a:pt x="215131" y="993342"/>
                </a:cubicBezTo>
                <a:cubicBezTo>
                  <a:pt x="217326" y="994074"/>
                  <a:pt x="218424" y="995537"/>
                  <a:pt x="218424" y="997732"/>
                </a:cubicBezTo>
                <a:cubicBezTo>
                  <a:pt x="218424" y="999927"/>
                  <a:pt x="217326" y="1002854"/>
                  <a:pt x="215131" y="1006513"/>
                </a:cubicBezTo>
                <a:cubicBezTo>
                  <a:pt x="212204" y="1009440"/>
                  <a:pt x="207814" y="1014562"/>
                  <a:pt x="201960" y="1021880"/>
                </a:cubicBezTo>
                <a:cubicBezTo>
                  <a:pt x="194643" y="1029197"/>
                  <a:pt x="189520" y="1035051"/>
                  <a:pt x="186593" y="1039441"/>
                </a:cubicBezTo>
                <a:cubicBezTo>
                  <a:pt x="154397" y="1084809"/>
                  <a:pt x="121469" y="1123591"/>
                  <a:pt x="87809" y="1155788"/>
                </a:cubicBezTo>
                <a:lnTo>
                  <a:pt x="190984" y="1140421"/>
                </a:lnTo>
                <a:lnTo>
                  <a:pt x="199765" y="1160178"/>
                </a:lnTo>
                <a:lnTo>
                  <a:pt x="87809" y="1199692"/>
                </a:lnTo>
                <a:cubicBezTo>
                  <a:pt x="67320" y="1208473"/>
                  <a:pt x="54149" y="1215790"/>
                  <a:pt x="48295" y="1221644"/>
                </a:cubicBezTo>
                <a:lnTo>
                  <a:pt x="15367" y="1162373"/>
                </a:lnTo>
                <a:cubicBezTo>
                  <a:pt x="34392" y="1159447"/>
                  <a:pt x="48295" y="1150666"/>
                  <a:pt x="57076" y="1136031"/>
                </a:cubicBezTo>
                <a:cubicBezTo>
                  <a:pt x="76101" y="1109688"/>
                  <a:pt x="94394" y="1083346"/>
                  <a:pt x="111956" y="1057003"/>
                </a:cubicBezTo>
                <a:lnTo>
                  <a:pt x="68052" y="1070174"/>
                </a:lnTo>
                <a:cubicBezTo>
                  <a:pt x="51954" y="1076028"/>
                  <a:pt x="39514" y="1082614"/>
                  <a:pt x="30733" y="1089931"/>
                </a:cubicBezTo>
                <a:lnTo>
                  <a:pt x="0" y="1037246"/>
                </a:lnTo>
                <a:cubicBezTo>
                  <a:pt x="13171" y="1032856"/>
                  <a:pt x="23416" y="1026270"/>
                  <a:pt x="30733" y="1017489"/>
                </a:cubicBezTo>
                <a:cubicBezTo>
                  <a:pt x="61466" y="967731"/>
                  <a:pt x="82687" y="928949"/>
                  <a:pt x="94394" y="901143"/>
                </a:cubicBezTo>
                <a:cubicBezTo>
                  <a:pt x="101712" y="885045"/>
                  <a:pt x="106834" y="871873"/>
                  <a:pt x="109761" y="861629"/>
                </a:cubicBezTo>
                <a:cubicBezTo>
                  <a:pt x="111224" y="858702"/>
                  <a:pt x="111956" y="857239"/>
                  <a:pt x="111956" y="857239"/>
                </a:cubicBezTo>
                <a:close/>
                <a:moveTo>
                  <a:pt x="498314" y="233425"/>
                </a:moveTo>
                <a:cubicBezTo>
                  <a:pt x="501241" y="236352"/>
                  <a:pt x="504900" y="240011"/>
                  <a:pt x="509290" y="244402"/>
                </a:cubicBezTo>
                <a:cubicBezTo>
                  <a:pt x="518071" y="254646"/>
                  <a:pt x="524656" y="261231"/>
                  <a:pt x="529047" y="264158"/>
                </a:cubicBezTo>
                <a:cubicBezTo>
                  <a:pt x="531974" y="267085"/>
                  <a:pt x="532706" y="270012"/>
                  <a:pt x="531242" y="272939"/>
                </a:cubicBezTo>
                <a:cubicBezTo>
                  <a:pt x="529779" y="274403"/>
                  <a:pt x="526852" y="275135"/>
                  <a:pt x="522461" y="275135"/>
                </a:cubicBezTo>
                <a:cubicBezTo>
                  <a:pt x="510753" y="273671"/>
                  <a:pt x="490997" y="273671"/>
                  <a:pt x="463190" y="275135"/>
                </a:cubicBezTo>
                <a:cubicBezTo>
                  <a:pt x="445629" y="275135"/>
                  <a:pt x="431726" y="275135"/>
                  <a:pt x="421481" y="275135"/>
                </a:cubicBezTo>
                <a:lnTo>
                  <a:pt x="381968" y="277330"/>
                </a:lnTo>
                <a:cubicBezTo>
                  <a:pt x="387821" y="278793"/>
                  <a:pt x="390017" y="280988"/>
                  <a:pt x="388553" y="283915"/>
                </a:cubicBezTo>
                <a:lnTo>
                  <a:pt x="388553" y="336601"/>
                </a:lnTo>
                <a:lnTo>
                  <a:pt x="436848" y="334405"/>
                </a:lnTo>
                <a:cubicBezTo>
                  <a:pt x="442702" y="332942"/>
                  <a:pt x="452214" y="331478"/>
                  <a:pt x="465386" y="330015"/>
                </a:cubicBezTo>
                <a:cubicBezTo>
                  <a:pt x="478557" y="328551"/>
                  <a:pt x="487338" y="327820"/>
                  <a:pt x="491728" y="327820"/>
                </a:cubicBezTo>
                <a:cubicBezTo>
                  <a:pt x="500509" y="336601"/>
                  <a:pt x="508558" y="344650"/>
                  <a:pt x="515876" y="351967"/>
                </a:cubicBezTo>
                <a:cubicBezTo>
                  <a:pt x="518803" y="354894"/>
                  <a:pt x="520266" y="357089"/>
                  <a:pt x="520266" y="358553"/>
                </a:cubicBezTo>
                <a:cubicBezTo>
                  <a:pt x="518803" y="360016"/>
                  <a:pt x="515876" y="360748"/>
                  <a:pt x="511485" y="360748"/>
                </a:cubicBezTo>
                <a:cubicBezTo>
                  <a:pt x="492460" y="360748"/>
                  <a:pt x="475630" y="361480"/>
                  <a:pt x="460995" y="362943"/>
                </a:cubicBezTo>
                <a:lnTo>
                  <a:pt x="388553" y="367334"/>
                </a:lnTo>
                <a:lnTo>
                  <a:pt x="388553" y="446361"/>
                </a:lnTo>
                <a:cubicBezTo>
                  <a:pt x="426604" y="452215"/>
                  <a:pt x="477093" y="452947"/>
                  <a:pt x="540023" y="448556"/>
                </a:cubicBezTo>
                <a:lnTo>
                  <a:pt x="537828" y="463923"/>
                </a:lnTo>
                <a:cubicBezTo>
                  <a:pt x="523193" y="472704"/>
                  <a:pt x="507095" y="487339"/>
                  <a:pt x="489533" y="507827"/>
                </a:cubicBezTo>
                <a:cubicBezTo>
                  <a:pt x="485143" y="518072"/>
                  <a:pt x="475630" y="521730"/>
                  <a:pt x="460995" y="518803"/>
                </a:cubicBezTo>
                <a:cubicBezTo>
                  <a:pt x="358552" y="518803"/>
                  <a:pt x="289769" y="483680"/>
                  <a:pt x="254645" y="413433"/>
                </a:cubicBezTo>
                <a:cubicBezTo>
                  <a:pt x="235620" y="463191"/>
                  <a:pt x="200496" y="503437"/>
                  <a:pt x="149275" y="534170"/>
                </a:cubicBezTo>
                <a:lnTo>
                  <a:pt x="140494" y="525389"/>
                </a:lnTo>
                <a:cubicBezTo>
                  <a:pt x="172690" y="477094"/>
                  <a:pt x="193911" y="425141"/>
                  <a:pt x="204155" y="369529"/>
                </a:cubicBezTo>
                <a:cubicBezTo>
                  <a:pt x="208546" y="346113"/>
                  <a:pt x="210741" y="325624"/>
                  <a:pt x="210741" y="308063"/>
                </a:cubicBezTo>
                <a:cubicBezTo>
                  <a:pt x="210741" y="303672"/>
                  <a:pt x="211473" y="301477"/>
                  <a:pt x="212936" y="301477"/>
                </a:cubicBezTo>
                <a:cubicBezTo>
                  <a:pt x="214399" y="300014"/>
                  <a:pt x="217326" y="300014"/>
                  <a:pt x="221717" y="301477"/>
                </a:cubicBezTo>
                <a:cubicBezTo>
                  <a:pt x="239279" y="307331"/>
                  <a:pt x="256840" y="313185"/>
                  <a:pt x="274402" y="319039"/>
                </a:cubicBezTo>
                <a:cubicBezTo>
                  <a:pt x="278792" y="323429"/>
                  <a:pt x="280256" y="327820"/>
                  <a:pt x="278792" y="332210"/>
                </a:cubicBezTo>
                <a:cubicBezTo>
                  <a:pt x="278792" y="335137"/>
                  <a:pt x="276597" y="342454"/>
                  <a:pt x="272207" y="354162"/>
                </a:cubicBezTo>
                <a:cubicBezTo>
                  <a:pt x="267816" y="367334"/>
                  <a:pt x="264889" y="376846"/>
                  <a:pt x="263426" y="382700"/>
                </a:cubicBezTo>
                <a:cubicBezTo>
                  <a:pt x="280988" y="401725"/>
                  <a:pt x="300745" y="416360"/>
                  <a:pt x="322697" y="426604"/>
                </a:cubicBezTo>
                <a:lnTo>
                  <a:pt x="322697" y="279525"/>
                </a:lnTo>
                <a:lnTo>
                  <a:pt x="285378" y="279525"/>
                </a:lnTo>
                <a:cubicBezTo>
                  <a:pt x="266353" y="279525"/>
                  <a:pt x="238547" y="280988"/>
                  <a:pt x="201960" y="283915"/>
                </a:cubicBezTo>
                <a:lnTo>
                  <a:pt x="180008" y="250987"/>
                </a:lnTo>
                <a:cubicBezTo>
                  <a:pt x="194643" y="250987"/>
                  <a:pt x="218790" y="250255"/>
                  <a:pt x="252450" y="248792"/>
                </a:cubicBezTo>
                <a:cubicBezTo>
                  <a:pt x="265621" y="248792"/>
                  <a:pt x="273670" y="248792"/>
                  <a:pt x="276597" y="248792"/>
                </a:cubicBezTo>
                <a:lnTo>
                  <a:pt x="406115" y="244402"/>
                </a:lnTo>
                <a:cubicBezTo>
                  <a:pt x="409042" y="244402"/>
                  <a:pt x="413432" y="244402"/>
                  <a:pt x="419286" y="244402"/>
                </a:cubicBezTo>
                <a:cubicBezTo>
                  <a:pt x="457337" y="241475"/>
                  <a:pt x="483679" y="237816"/>
                  <a:pt x="498314" y="233425"/>
                </a:cubicBezTo>
                <a:close/>
                <a:moveTo>
                  <a:pt x="377577" y="136836"/>
                </a:moveTo>
                <a:lnTo>
                  <a:pt x="289769" y="141226"/>
                </a:lnTo>
                <a:lnTo>
                  <a:pt x="289769" y="178545"/>
                </a:lnTo>
                <a:lnTo>
                  <a:pt x="384163" y="174155"/>
                </a:lnTo>
                <a:cubicBezTo>
                  <a:pt x="395871" y="174155"/>
                  <a:pt x="406115" y="173423"/>
                  <a:pt x="414896" y="171959"/>
                </a:cubicBezTo>
                <a:lnTo>
                  <a:pt x="414896" y="136836"/>
                </a:lnTo>
                <a:cubicBezTo>
                  <a:pt x="406115" y="136836"/>
                  <a:pt x="393675" y="136836"/>
                  <a:pt x="377577" y="136836"/>
                </a:cubicBezTo>
                <a:close/>
                <a:moveTo>
                  <a:pt x="417091" y="68784"/>
                </a:moveTo>
                <a:lnTo>
                  <a:pt x="289769" y="73175"/>
                </a:lnTo>
                <a:lnTo>
                  <a:pt x="289769" y="112689"/>
                </a:lnTo>
                <a:lnTo>
                  <a:pt x="370991" y="108298"/>
                </a:lnTo>
                <a:cubicBezTo>
                  <a:pt x="375382" y="108298"/>
                  <a:pt x="381968" y="107566"/>
                  <a:pt x="390748" y="106103"/>
                </a:cubicBezTo>
                <a:cubicBezTo>
                  <a:pt x="398066" y="106103"/>
                  <a:pt x="403188" y="106103"/>
                  <a:pt x="406115" y="106103"/>
                </a:cubicBezTo>
                <a:cubicBezTo>
                  <a:pt x="409042" y="110493"/>
                  <a:pt x="412701" y="114884"/>
                  <a:pt x="417091" y="119274"/>
                </a:cubicBezTo>
                <a:close/>
                <a:moveTo>
                  <a:pt x="423677" y="11709"/>
                </a:moveTo>
                <a:cubicBezTo>
                  <a:pt x="425140" y="10245"/>
                  <a:pt x="428067" y="10977"/>
                  <a:pt x="432457" y="13904"/>
                </a:cubicBezTo>
                <a:cubicBezTo>
                  <a:pt x="439775" y="19758"/>
                  <a:pt x="451483" y="28539"/>
                  <a:pt x="467581" y="40247"/>
                </a:cubicBezTo>
                <a:cubicBezTo>
                  <a:pt x="480752" y="47564"/>
                  <a:pt x="488801" y="52686"/>
                  <a:pt x="491728" y="55613"/>
                </a:cubicBezTo>
                <a:cubicBezTo>
                  <a:pt x="497582" y="60003"/>
                  <a:pt x="500509" y="63662"/>
                  <a:pt x="500509" y="66589"/>
                </a:cubicBezTo>
                <a:cubicBezTo>
                  <a:pt x="500509" y="69516"/>
                  <a:pt x="497582" y="71711"/>
                  <a:pt x="491728" y="73175"/>
                </a:cubicBezTo>
                <a:cubicBezTo>
                  <a:pt x="482947" y="76102"/>
                  <a:pt x="479289" y="81956"/>
                  <a:pt x="480752" y="90736"/>
                </a:cubicBezTo>
                <a:cubicBezTo>
                  <a:pt x="479289" y="106835"/>
                  <a:pt x="478557" y="141226"/>
                  <a:pt x="478557" y="193912"/>
                </a:cubicBezTo>
                <a:cubicBezTo>
                  <a:pt x="478557" y="198302"/>
                  <a:pt x="477825" y="201229"/>
                  <a:pt x="476362" y="202692"/>
                </a:cubicBezTo>
                <a:cubicBezTo>
                  <a:pt x="467581" y="207083"/>
                  <a:pt x="450019" y="212937"/>
                  <a:pt x="423677" y="220254"/>
                </a:cubicBezTo>
                <a:cubicBezTo>
                  <a:pt x="416359" y="221718"/>
                  <a:pt x="413432" y="219522"/>
                  <a:pt x="414896" y="213668"/>
                </a:cubicBezTo>
                <a:lnTo>
                  <a:pt x="414896" y="202692"/>
                </a:lnTo>
                <a:cubicBezTo>
                  <a:pt x="407578" y="202692"/>
                  <a:pt x="399529" y="202692"/>
                  <a:pt x="390748" y="202692"/>
                </a:cubicBezTo>
                <a:lnTo>
                  <a:pt x="289769" y="207083"/>
                </a:lnTo>
                <a:cubicBezTo>
                  <a:pt x="289769" y="212937"/>
                  <a:pt x="288305" y="216595"/>
                  <a:pt x="285378" y="218059"/>
                </a:cubicBezTo>
                <a:cubicBezTo>
                  <a:pt x="266353" y="225376"/>
                  <a:pt x="248791" y="230498"/>
                  <a:pt x="232693" y="233425"/>
                </a:cubicBezTo>
                <a:cubicBezTo>
                  <a:pt x="229766" y="234889"/>
                  <a:pt x="227571" y="234889"/>
                  <a:pt x="226107" y="233425"/>
                </a:cubicBezTo>
                <a:cubicBezTo>
                  <a:pt x="226107" y="233425"/>
                  <a:pt x="226107" y="231962"/>
                  <a:pt x="226107" y="229035"/>
                </a:cubicBezTo>
                <a:cubicBezTo>
                  <a:pt x="226107" y="218791"/>
                  <a:pt x="226107" y="196839"/>
                  <a:pt x="226107" y="163179"/>
                </a:cubicBezTo>
                <a:cubicBezTo>
                  <a:pt x="227571" y="123665"/>
                  <a:pt x="228302" y="95859"/>
                  <a:pt x="228302" y="79760"/>
                </a:cubicBezTo>
                <a:cubicBezTo>
                  <a:pt x="228302" y="63662"/>
                  <a:pt x="228302" y="47564"/>
                  <a:pt x="228302" y="31466"/>
                </a:cubicBezTo>
                <a:cubicBezTo>
                  <a:pt x="226839" y="27075"/>
                  <a:pt x="226839" y="24148"/>
                  <a:pt x="228302" y="22685"/>
                </a:cubicBezTo>
                <a:cubicBezTo>
                  <a:pt x="229766" y="21221"/>
                  <a:pt x="231961" y="21221"/>
                  <a:pt x="234888" y="22685"/>
                </a:cubicBezTo>
                <a:cubicBezTo>
                  <a:pt x="243669" y="25612"/>
                  <a:pt x="258304" y="31466"/>
                  <a:pt x="278792" y="40247"/>
                </a:cubicBezTo>
                <a:cubicBezTo>
                  <a:pt x="283183" y="41710"/>
                  <a:pt x="286842" y="43173"/>
                  <a:pt x="289769" y="44637"/>
                </a:cubicBezTo>
                <a:lnTo>
                  <a:pt x="406115" y="40247"/>
                </a:lnTo>
                <a:cubicBezTo>
                  <a:pt x="410505" y="40247"/>
                  <a:pt x="414164" y="38051"/>
                  <a:pt x="417091" y="33661"/>
                </a:cubicBezTo>
                <a:cubicBezTo>
                  <a:pt x="420018" y="29270"/>
                  <a:pt x="421481" y="24148"/>
                  <a:pt x="421481" y="18294"/>
                </a:cubicBezTo>
                <a:cubicBezTo>
                  <a:pt x="422945" y="13904"/>
                  <a:pt x="423677" y="11709"/>
                  <a:pt x="423677" y="11709"/>
                </a:cubicBezTo>
                <a:close/>
                <a:moveTo>
                  <a:pt x="83418" y="733"/>
                </a:moveTo>
                <a:cubicBezTo>
                  <a:pt x="84882" y="-731"/>
                  <a:pt x="88540" y="1"/>
                  <a:pt x="94394" y="2928"/>
                </a:cubicBezTo>
                <a:cubicBezTo>
                  <a:pt x="114883" y="8782"/>
                  <a:pt x="132445" y="16099"/>
                  <a:pt x="147080" y="24880"/>
                </a:cubicBezTo>
                <a:cubicBezTo>
                  <a:pt x="151470" y="26343"/>
                  <a:pt x="153665" y="30002"/>
                  <a:pt x="153665" y="35856"/>
                </a:cubicBezTo>
                <a:cubicBezTo>
                  <a:pt x="152202" y="46100"/>
                  <a:pt x="151470" y="65857"/>
                  <a:pt x="151470" y="95127"/>
                </a:cubicBezTo>
                <a:lnTo>
                  <a:pt x="151470" y="123665"/>
                </a:lnTo>
                <a:cubicBezTo>
                  <a:pt x="166105" y="120738"/>
                  <a:pt x="180008" y="118543"/>
                  <a:pt x="193179" y="117079"/>
                </a:cubicBezTo>
                <a:cubicBezTo>
                  <a:pt x="201960" y="127323"/>
                  <a:pt x="210009" y="136104"/>
                  <a:pt x="217326" y="143422"/>
                </a:cubicBezTo>
                <a:cubicBezTo>
                  <a:pt x="218790" y="146349"/>
                  <a:pt x="219522" y="148544"/>
                  <a:pt x="219522" y="150007"/>
                </a:cubicBezTo>
                <a:cubicBezTo>
                  <a:pt x="218058" y="151471"/>
                  <a:pt x="215131" y="152202"/>
                  <a:pt x="210741" y="152202"/>
                </a:cubicBezTo>
                <a:cubicBezTo>
                  <a:pt x="187325" y="152202"/>
                  <a:pt x="168300" y="152934"/>
                  <a:pt x="153665" y="154398"/>
                </a:cubicBezTo>
                <a:lnTo>
                  <a:pt x="151470" y="154398"/>
                </a:lnTo>
                <a:cubicBezTo>
                  <a:pt x="151470" y="179277"/>
                  <a:pt x="151470" y="204888"/>
                  <a:pt x="151470" y="231230"/>
                </a:cubicBezTo>
                <a:lnTo>
                  <a:pt x="206350" y="211473"/>
                </a:lnTo>
                <a:lnTo>
                  <a:pt x="212936" y="222449"/>
                </a:lnTo>
                <a:cubicBezTo>
                  <a:pt x="195374" y="235621"/>
                  <a:pt x="174886" y="250255"/>
                  <a:pt x="151470" y="266354"/>
                </a:cubicBezTo>
                <a:cubicBezTo>
                  <a:pt x="151470" y="279525"/>
                  <a:pt x="151470" y="291965"/>
                  <a:pt x="151470" y="303672"/>
                </a:cubicBezTo>
                <a:cubicBezTo>
                  <a:pt x="150006" y="375383"/>
                  <a:pt x="145616" y="419287"/>
                  <a:pt x="138299" y="435385"/>
                </a:cubicBezTo>
                <a:cubicBezTo>
                  <a:pt x="128054" y="467582"/>
                  <a:pt x="110493" y="496119"/>
                  <a:pt x="85614" y="520999"/>
                </a:cubicBezTo>
                <a:cubicBezTo>
                  <a:pt x="73906" y="531243"/>
                  <a:pt x="65857" y="534902"/>
                  <a:pt x="61466" y="531975"/>
                </a:cubicBezTo>
                <a:cubicBezTo>
                  <a:pt x="57076" y="529048"/>
                  <a:pt x="57076" y="520267"/>
                  <a:pt x="61466" y="505632"/>
                </a:cubicBezTo>
                <a:cubicBezTo>
                  <a:pt x="64393" y="490997"/>
                  <a:pt x="62198" y="480021"/>
                  <a:pt x="54881" y="472704"/>
                </a:cubicBezTo>
                <a:cubicBezTo>
                  <a:pt x="46100" y="460996"/>
                  <a:pt x="29270" y="444898"/>
                  <a:pt x="4391" y="424409"/>
                </a:cubicBezTo>
                <a:lnTo>
                  <a:pt x="13171" y="413433"/>
                </a:lnTo>
                <a:lnTo>
                  <a:pt x="74637" y="435385"/>
                </a:lnTo>
                <a:cubicBezTo>
                  <a:pt x="79028" y="410506"/>
                  <a:pt x="82687" y="370260"/>
                  <a:pt x="85614" y="314648"/>
                </a:cubicBezTo>
                <a:cubicBezTo>
                  <a:pt x="82687" y="316112"/>
                  <a:pt x="78296" y="319039"/>
                  <a:pt x="72442" y="323429"/>
                </a:cubicBezTo>
                <a:cubicBezTo>
                  <a:pt x="63661" y="329283"/>
                  <a:pt x="57076" y="333674"/>
                  <a:pt x="52685" y="336601"/>
                </a:cubicBezTo>
                <a:cubicBezTo>
                  <a:pt x="48295" y="339527"/>
                  <a:pt x="44636" y="339527"/>
                  <a:pt x="41709" y="336601"/>
                </a:cubicBezTo>
                <a:cubicBezTo>
                  <a:pt x="41709" y="338064"/>
                  <a:pt x="40977" y="338064"/>
                  <a:pt x="39514" y="336601"/>
                </a:cubicBezTo>
                <a:cubicBezTo>
                  <a:pt x="38051" y="333674"/>
                  <a:pt x="35124" y="330015"/>
                  <a:pt x="30733" y="325624"/>
                </a:cubicBezTo>
                <a:cubicBezTo>
                  <a:pt x="17562" y="308063"/>
                  <a:pt x="8781" y="293428"/>
                  <a:pt x="4391" y="281720"/>
                </a:cubicBezTo>
                <a:lnTo>
                  <a:pt x="85614" y="253182"/>
                </a:lnTo>
                <a:cubicBezTo>
                  <a:pt x="85614" y="222449"/>
                  <a:pt x="85614" y="190985"/>
                  <a:pt x="85614" y="158788"/>
                </a:cubicBezTo>
                <a:lnTo>
                  <a:pt x="74637" y="158788"/>
                </a:lnTo>
                <a:cubicBezTo>
                  <a:pt x="57076" y="161715"/>
                  <a:pt x="40977" y="163179"/>
                  <a:pt x="26343" y="163179"/>
                </a:cubicBezTo>
                <a:lnTo>
                  <a:pt x="6586" y="132446"/>
                </a:lnTo>
                <a:cubicBezTo>
                  <a:pt x="15367" y="132446"/>
                  <a:pt x="27806" y="131714"/>
                  <a:pt x="43904" y="130250"/>
                </a:cubicBezTo>
                <a:cubicBezTo>
                  <a:pt x="54149" y="130250"/>
                  <a:pt x="61466" y="130250"/>
                  <a:pt x="65857" y="130250"/>
                </a:cubicBezTo>
                <a:lnTo>
                  <a:pt x="85614" y="128055"/>
                </a:lnTo>
                <a:lnTo>
                  <a:pt x="85614" y="95127"/>
                </a:lnTo>
                <a:cubicBezTo>
                  <a:pt x="85614" y="55613"/>
                  <a:pt x="84882" y="27807"/>
                  <a:pt x="83418" y="11709"/>
                </a:cubicBezTo>
                <a:cubicBezTo>
                  <a:pt x="81955" y="5855"/>
                  <a:pt x="81955" y="2196"/>
                  <a:pt x="83418" y="733"/>
                </a:cubicBezTo>
                <a:close/>
              </a:path>
            </a:pathLst>
          </a:custGeom>
          <a:solidFill>
            <a:schemeClr val="bg1"/>
          </a:solidFill>
          <a:ln>
            <a:noFill/>
          </a:ln>
          <a:effectLst>
            <a:outerShdw blurRad="38100" dist="38100" dir="2700000" algn="tl">
              <a:srgbClr val="000000">
                <a:alpha val="43137"/>
              </a:srgb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4400" dirty="0">
              <a:solidFill>
                <a:schemeClr val="bg1"/>
              </a:solidFill>
              <a:effectLst>
                <a:outerShdw blurRad="38100" dist="38100" dir="2700000" algn="tl">
                  <a:srgbClr val="000000">
                    <a:alpha val="43137"/>
                  </a:srgbClr>
                </a:outerShdw>
              </a:effectLst>
              <a:latin typeface="方正颜宋简体_中" panose="02000000000000000000" pitchFamily="2" charset="-122"/>
              <a:ea typeface="方正颜宋简体_中" panose="02000000000000000000" pitchFamily="2" charset="-122"/>
              <a:cs typeface="方正颜宋简体_中" panose="02000000000000000000" pitchFamily="2" charset="-122"/>
            </a:endParaRPr>
          </a:p>
        </p:txBody>
      </p:sp>
      <p:sp>
        <p:nvSpPr>
          <p:cNvPr id="9" name="文本框 8"/>
          <p:cNvSpPr txBox="1"/>
          <p:nvPr/>
        </p:nvSpPr>
        <p:spPr>
          <a:xfrm>
            <a:off x="4184747" y="1477578"/>
            <a:ext cx="6533560" cy="3172343"/>
          </a:xfrm>
          <a:prstGeom prst="rect">
            <a:avLst/>
          </a:prstGeom>
          <a:noFill/>
        </p:spPr>
        <p:txBody>
          <a:bodyPr wrap="square" rtlCol="0">
            <a:spAutoFit/>
          </a:bodyPr>
          <a:lstStyle/>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一、强化学习问题定义</a:t>
            </a:r>
          </a:p>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二、基于价值的强化学习</a:t>
            </a:r>
          </a:p>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三、基于策略的强化学习</a:t>
            </a:r>
          </a:p>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四、深度强化学习应用</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强化学习的若干术语概念</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强化学习问题定义</a:t>
            </a:r>
          </a:p>
        </p:txBody>
      </p:sp>
      <p:sp>
        <p:nvSpPr>
          <p:cNvPr id="24" name="矩形: 圆角 6">
            <a:extLst>
              <a:ext uri="{FF2B5EF4-FFF2-40B4-BE49-F238E27FC236}">
                <a16:creationId xmlns:a16="http://schemas.microsoft.com/office/drawing/2014/main" id="{15B72201-1606-4C88-8F91-839FBCDACE0A}"/>
              </a:ext>
            </a:extLst>
          </p:cNvPr>
          <p:cNvSpPr/>
          <p:nvPr/>
        </p:nvSpPr>
        <p:spPr>
          <a:xfrm>
            <a:off x="368875" y="2124223"/>
            <a:ext cx="6491470" cy="3539430"/>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5" name="矩形 24">
            <a:extLst>
              <a:ext uri="{FF2B5EF4-FFF2-40B4-BE49-F238E27FC236}">
                <a16:creationId xmlns:a16="http://schemas.microsoft.com/office/drawing/2014/main" id="{EABA8736-7A3C-423C-AE5A-BDA9E8807C56}"/>
              </a:ext>
            </a:extLst>
          </p:cNvPr>
          <p:cNvSpPr/>
          <p:nvPr/>
        </p:nvSpPr>
        <p:spPr>
          <a:xfrm>
            <a:off x="368875" y="2321191"/>
            <a:ext cx="6242940" cy="3539430"/>
          </a:xfrm>
          <a:prstGeom prst="rect">
            <a:avLst/>
          </a:prstGeom>
        </p:spPr>
        <p:txBody>
          <a:bodyPr wrap="square">
            <a:spAutoFit/>
          </a:bodyPr>
          <a:lstStyle/>
          <a:p>
            <a:pPr marL="285750" indent="-285750" algn="just">
              <a:buFont typeface="Wingdings" panose="05000000000000000000" pitchFamily="2" charset="2"/>
              <a:buChar char="l"/>
            </a:pP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智能体（</a:t>
            </a:r>
            <a:r>
              <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agent</a:t>
            </a: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：智能体是强化学习算法的主体，它能够根据经验做出主观判断并执行动作，是整个智能系统的核心。</a:t>
            </a: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buFont typeface="Wingdings" panose="05000000000000000000" pitchFamily="2" charset="2"/>
              <a:buChar char="l"/>
            </a:pP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buFont typeface="Wingdings" panose="05000000000000000000" pitchFamily="2" charset="2"/>
              <a:buChar char="l"/>
            </a:pP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环境（</a:t>
            </a:r>
            <a:r>
              <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environment</a:t>
            </a: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智能体以外的一切统称为环境，环境在与智能体的交互中，能被智能体所采取的动作影响，同时环境也能向智能体反馈状态和奖励。虽说智能体以外的一切都可视为环境，但在设计算法时常常会排除不相关的因素建立一个理想的环境模型来对算法功能进行模拟。</a:t>
            </a: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buFont typeface="Wingdings" panose="05000000000000000000" pitchFamily="2" charset="2"/>
              <a:buChar char="l"/>
            </a:pP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ct val="150000"/>
              </a:lnSpc>
              <a:buFont typeface="Wingdings" panose="05000000000000000000" pitchFamily="2" charset="2"/>
              <a:buChar char="l"/>
            </a:pP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状态（</a:t>
            </a:r>
            <a:r>
              <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state</a:t>
            </a: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：状态可以理解为智能体对环境的一种理解和编码，通常包含了</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对智能体所采取决策产生影响的信息</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a:p>
            <a:pPr marL="285750" indent="-285750" algn="just">
              <a:buFont typeface="Wingdings" panose="05000000000000000000" pitchFamily="2" charset="2"/>
              <a:buChar char="l"/>
            </a:pP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7" name="图片 6">
            <a:extLst>
              <a:ext uri="{FF2B5EF4-FFF2-40B4-BE49-F238E27FC236}">
                <a16:creationId xmlns:a16="http://schemas.microsoft.com/office/drawing/2014/main" id="{DF4E9136-E7D5-4F85-B6AB-FE01896E4C87}"/>
              </a:ext>
            </a:extLst>
          </p:cNvPr>
          <p:cNvPicPr>
            <a:picLocks noChangeAspect="1"/>
          </p:cNvPicPr>
          <p:nvPr/>
        </p:nvPicPr>
        <p:blipFill>
          <a:blip r:embed="rId3"/>
          <a:stretch>
            <a:fillRect/>
          </a:stretch>
        </p:blipFill>
        <p:spPr>
          <a:xfrm>
            <a:off x="7438959" y="2543317"/>
            <a:ext cx="3867175" cy="2551227"/>
          </a:xfrm>
          <a:prstGeom prst="rect">
            <a:avLst/>
          </a:prstGeom>
        </p:spPr>
      </p:pic>
    </p:spTree>
    <p:extLst>
      <p:ext uri="{BB962C8B-B14F-4D97-AF65-F5344CB8AC3E}">
        <p14:creationId xmlns:p14="http://schemas.microsoft.com/office/powerpoint/2010/main" val="2068928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强化学习的若干术语概念</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强化学习问题定义</a:t>
            </a:r>
          </a:p>
        </p:txBody>
      </p:sp>
      <p:sp>
        <p:nvSpPr>
          <p:cNvPr id="24" name="矩形: 圆角 6">
            <a:extLst>
              <a:ext uri="{FF2B5EF4-FFF2-40B4-BE49-F238E27FC236}">
                <a16:creationId xmlns:a16="http://schemas.microsoft.com/office/drawing/2014/main" id="{15B72201-1606-4C88-8F91-839FBCDACE0A}"/>
              </a:ext>
            </a:extLst>
          </p:cNvPr>
          <p:cNvSpPr/>
          <p:nvPr/>
        </p:nvSpPr>
        <p:spPr>
          <a:xfrm>
            <a:off x="368875" y="2124223"/>
            <a:ext cx="6491470" cy="3539430"/>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5" name="矩形 24">
            <a:extLst>
              <a:ext uri="{FF2B5EF4-FFF2-40B4-BE49-F238E27FC236}">
                <a16:creationId xmlns:a16="http://schemas.microsoft.com/office/drawing/2014/main" id="{EABA8736-7A3C-423C-AE5A-BDA9E8807C56}"/>
              </a:ext>
            </a:extLst>
          </p:cNvPr>
          <p:cNvSpPr/>
          <p:nvPr/>
        </p:nvSpPr>
        <p:spPr>
          <a:xfrm>
            <a:off x="368874" y="2321191"/>
            <a:ext cx="6289833" cy="3046988"/>
          </a:xfrm>
          <a:prstGeom prst="rect">
            <a:avLst/>
          </a:prstGeom>
        </p:spPr>
        <p:txBody>
          <a:bodyPr wrap="square">
            <a:spAutoFit/>
          </a:bodyPr>
          <a:lstStyle/>
          <a:p>
            <a:pPr marL="285750" indent="-285750" algn="just">
              <a:buFont typeface="Wingdings" panose="05000000000000000000" pitchFamily="2" charset="2"/>
              <a:buChar char="l"/>
            </a:pP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动作（</a:t>
            </a:r>
            <a:r>
              <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action</a:t>
            </a: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动作是智能体对环境产生影响的方式，这里说的动作常常指概念上的动作，如果是在设计机器人时还需考虑动作的执行机构。</a:t>
            </a: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buFont typeface="Wingdings" panose="05000000000000000000" pitchFamily="2" charset="2"/>
              <a:buChar char="l"/>
            </a:pPr>
            <a:endPar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buFont typeface="Wingdings" panose="05000000000000000000" pitchFamily="2" charset="2"/>
              <a:buChar char="l"/>
            </a:pP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策略（</a:t>
            </a:r>
            <a:r>
              <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policy</a:t>
            </a: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策略是智能体在所处状态下去执行某个动作的依据，即给定一个状态，智能体可根据一个策略来选择应该采取的动作。</a:t>
            </a: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buFont typeface="Wingdings" panose="05000000000000000000" pitchFamily="2" charset="2"/>
              <a:buChar char="l"/>
            </a:pPr>
            <a:endPar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buFont typeface="Wingdings" panose="05000000000000000000" pitchFamily="2" charset="2"/>
              <a:buChar char="l"/>
            </a:pP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奖励（</a:t>
            </a:r>
            <a:r>
              <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reward</a:t>
            </a: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：奖励是智能体序贯式采取一系列动作后从环境获得的收益。注意奖励概念是现实中奖励和惩罚的统合，一般用正值来代表实际奖励，用负值来代表实际惩罚。</a:t>
            </a: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7" name="图片 6">
            <a:extLst>
              <a:ext uri="{FF2B5EF4-FFF2-40B4-BE49-F238E27FC236}">
                <a16:creationId xmlns:a16="http://schemas.microsoft.com/office/drawing/2014/main" id="{DF4E9136-E7D5-4F85-B6AB-FE01896E4C87}"/>
              </a:ext>
            </a:extLst>
          </p:cNvPr>
          <p:cNvPicPr>
            <a:picLocks noChangeAspect="1"/>
          </p:cNvPicPr>
          <p:nvPr/>
        </p:nvPicPr>
        <p:blipFill>
          <a:blip r:embed="rId3"/>
          <a:stretch>
            <a:fillRect/>
          </a:stretch>
        </p:blipFill>
        <p:spPr>
          <a:xfrm>
            <a:off x="7438959" y="2543317"/>
            <a:ext cx="3867175" cy="2551227"/>
          </a:xfrm>
          <a:prstGeom prst="rect">
            <a:avLst/>
          </a:prstGeom>
        </p:spPr>
      </p:pic>
    </p:spTree>
    <p:extLst>
      <p:ext uri="{BB962C8B-B14F-4D97-AF65-F5344CB8AC3E}">
        <p14:creationId xmlns:p14="http://schemas.microsoft.com/office/powerpoint/2010/main" val="3887179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a:extLst>
              <a:ext uri="{FF2B5EF4-FFF2-40B4-BE49-F238E27FC236}">
                <a16:creationId xmlns:a16="http://schemas.microsoft.com/office/drawing/2014/main" id="{49E7C6BC-4929-EA59-587D-8D98CCF53FCE}"/>
              </a:ext>
            </a:extLst>
          </p:cNvPr>
          <p:cNvSpPr/>
          <p:nvPr/>
        </p:nvSpPr>
        <p:spPr>
          <a:xfrm>
            <a:off x="2921972" y="5380352"/>
            <a:ext cx="6852805" cy="627017"/>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a:extLst>
              <a:ext uri="{FF2B5EF4-FFF2-40B4-BE49-F238E27FC236}">
                <a16:creationId xmlns:a16="http://schemas.microsoft.com/office/drawing/2014/main" id="{B1109017-7433-7C56-191B-DA6E3692EF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065" y="1853837"/>
            <a:ext cx="3587994" cy="2766395"/>
          </a:xfrm>
          <a:prstGeom prst="rect">
            <a:avLst/>
          </a:prstGeom>
          <a:noFill/>
          <a:extLst>
            <a:ext uri="{909E8E84-426E-40DD-AFC4-6F175D3DCCD1}">
              <a14:hiddenFill xmlns:a14="http://schemas.microsoft.com/office/drawing/2010/main">
                <a:solidFill>
                  <a:srgbClr val="FFFFFF"/>
                </a:solidFill>
              </a14:hiddenFill>
            </a:ext>
          </a:extLst>
        </p:spPr>
      </p:pic>
      <p:grpSp>
        <p:nvGrpSpPr>
          <p:cNvPr id="2" name="组合 1">
            <a:extLst>
              <a:ext uri="{FF2B5EF4-FFF2-40B4-BE49-F238E27FC236}">
                <a16:creationId xmlns:a16="http://schemas.microsoft.com/office/drawing/2014/main" id="{596347C0-C1A0-E251-A34D-78024B2C4D77}"/>
              </a:ext>
            </a:extLst>
          </p:cNvPr>
          <p:cNvGrpSpPr/>
          <p:nvPr/>
        </p:nvGrpSpPr>
        <p:grpSpPr>
          <a:xfrm>
            <a:off x="2583380" y="726948"/>
            <a:ext cx="7464387" cy="497934"/>
            <a:chOff x="4099943" y="2819853"/>
            <a:chExt cx="2570275" cy="497934"/>
          </a:xfrm>
        </p:grpSpPr>
        <p:sp>
          <p:nvSpPr>
            <p:cNvPr id="3" name="平行四边形 2">
              <a:extLst>
                <a:ext uri="{FF2B5EF4-FFF2-40B4-BE49-F238E27FC236}">
                  <a16:creationId xmlns:a16="http://schemas.microsoft.com/office/drawing/2014/main" id="{2D5D68F1-A3A9-C0F8-2927-21B6CC6FCAF2}"/>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a:extLst>
                <a:ext uri="{FF2B5EF4-FFF2-40B4-BE49-F238E27FC236}">
                  <a16:creationId xmlns:a16="http://schemas.microsoft.com/office/drawing/2014/main" id="{017BA7EF-256E-3717-32CB-C65BF7F27A32}"/>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a:extLst>
                <a:ext uri="{FF2B5EF4-FFF2-40B4-BE49-F238E27FC236}">
                  <a16:creationId xmlns:a16="http://schemas.microsoft.com/office/drawing/2014/main" id="{2FF7215E-985D-1005-F7AB-B972A086988F}"/>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强化学习的若干例子</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pic>
        <p:nvPicPr>
          <p:cNvPr id="1028" name="Picture 4">
            <a:extLst>
              <a:ext uri="{FF2B5EF4-FFF2-40B4-BE49-F238E27FC236}">
                <a16:creationId xmlns:a16="http://schemas.microsoft.com/office/drawing/2014/main" id="{ECA4A686-62FE-13CF-3CAB-020E914B38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2069" y="1853838"/>
            <a:ext cx="4918036" cy="276639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7D4793BE-02C1-C746-E405-79AC2D887E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63315" y="1714501"/>
            <a:ext cx="3015474" cy="3146298"/>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E555673E-58E7-AED9-247E-67E6DDAB7D20}"/>
              </a:ext>
            </a:extLst>
          </p:cNvPr>
          <p:cNvSpPr txBox="1"/>
          <p:nvPr/>
        </p:nvSpPr>
        <p:spPr>
          <a:xfrm>
            <a:off x="3448594" y="5489754"/>
            <a:ext cx="6043749" cy="369332"/>
          </a:xfrm>
          <a:prstGeom prst="rect">
            <a:avLst/>
          </a:prstGeom>
          <a:solidFill>
            <a:schemeClr val="accent4">
              <a:lumMod val="20000"/>
              <a:lumOff val="80000"/>
            </a:schemeClr>
          </a:solidFill>
        </p:spPr>
        <p:txBody>
          <a:bodyPr wrap="square" rtlCol="0">
            <a:spAutoFit/>
          </a:bodyPr>
          <a:lstStyle/>
          <a:p>
            <a:r>
              <a:rPr lang="zh-CN" altLang="en-US" dirty="0"/>
              <a:t>环境、智能体、状态、动作、策略、奖励分别可以是什么？</a:t>
            </a:r>
          </a:p>
        </p:txBody>
      </p:sp>
    </p:spTree>
    <p:extLst>
      <p:ext uri="{BB962C8B-B14F-4D97-AF65-F5344CB8AC3E}">
        <p14:creationId xmlns:p14="http://schemas.microsoft.com/office/powerpoint/2010/main" val="1808953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监督学习、无监督学习和强化学习各自的特点 </a:t>
              </a:r>
            </a:p>
          </p:txBody>
        </p:sp>
      </p:grpSp>
      <p:sp>
        <p:nvSpPr>
          <p:cNvPr id="2" name="矩形 1">
            <a:extLst>
              <a:ext uri="{FF2B5EF4-FFF2-40B4-BE49-F238E27FC236}">
                <a16:creationId xmlns:a16="http://schemas.microsoft.com/office/drawing/2014/main" id="{7965CB01-92A3-443E-A48D-9A76D23A2AB1}"/>
              </a:ext>
            </a:extLst>
          </p:cNvPr>
          <p:cNvSpPr/>
          <p:nvPr/>
        </p:nvSpPr>
        <p:spPr>
          <a:xfrm>
            <a:off x="696686" y="1724921"/>
            <a:ext cx="11040459" cy="1323439"/>
          </a:xfrm>
          <a:prstGeom prst="rect">
            <a:avLst/>
          </a:prstGeom>
        </p:spPr>
        <p:txBody>
          <a:bodyPr wrap="square">
            <a:spAutoFit/>
          </a:bodyPr>
          <a:lstStyle/>
          <a:p>
            <a:pPr algn="just"/>
            <a:r>
              <a:rPr lang="zh-CN" altLang="zh-CN" sz="2000" dirty="0">
                <a:latin typeface="微软雅黑" panose="020B0503020204020204" pitchFamily="34" charset="-122"/>
                <a:ea typeface="微软雅黑" panose="020B0503020204020204" pitchFamily="34" charset="-122"/>
              </a:rPr>
              <a:t>强化学习实际上是智能体在与环境交互中去学习能帮助其获得最大化奖励这一策略的过程。在每一次迭代中，智能体根据当前策略选择一个动作，该动作影响了环境，导致环境发生了改变，智能体此时从环境得到状态变化和奖励反馈等信息，并根据这些反馈来更新其内部的策略。这一过程与人类从与环境交互中学习这一方式具有相似之处。</a:t>
            </a:r>
          </a:p>
        </p:txBody>
      </p:sp>
      <p:sp>
        <p:nvSpPr>
          <p:cNvPr id="12" name="矩形 11">
            <a:extLst>
              <a:ext uri="{FF2B5EF4-FFF2-40B4-BE49-F238E27FC236}">
                <a16:creationId xmlns:a16="http://schemas.microsoft.com/office/drawing/2014/main" id="{1FD4970F-7E2C-458F-B4B0-4A67620D377B}"/>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强化学习问题定义</a:t>
            </a:r>
          </a:p>
        </p:txBody>
      </p:sp>
      <p:pic>
        <p:nvPicPr>
          <p:cNvPr id="7" name="图片 6">
            <a:extLst>
              <a:ext uri="{FF2B5EF4-FFF2-40B4-BE49-F238E27FC236}">
                <a16:creationId xmlns:a16="http://schemas.microsoft.com/office/drawing/2014/main" id="{997D6CFE-F6FF-47DB-B309-A480B0B79431}"/>
              </a:ext>
            </a:extLst>
          </p:cNvPr>
          <p:cNvPicPr>
            <a:picLocks noChangeAspect="1"/>
          </p:cNvPicPr>
          <p:nvPr/>
        </p:nvPicPr>
        <p:blipFill>
          <a:blip r:embed="rId3"/>
          <a:stretch>
            <a:fillRect/>
          </a:stretch>
        </p:blipFill>
        <p:spPr>
          <a:xfrm>
            <a:off x="5671081" y="3048360"/>
            <a:ext cx="6878180" cy="2907666"/>
          </a:xfrm>
          <a:prstGeom prst="rect">
            <a:avLst/>
          </a:prstGeom>
        </p:spPr>
      </p:pic>
      <p:sp>
        <p:nvSpPr>
          <p:cNvPr id="13" name="矩形 12">
            <a:extLst>
              <a:ext uri="{FF2B5EF4-FFF2-40B4-BE49-F238E27FC236}">
                <a16:creationId xmlns:a16="http://schemas.microsoft.com/office/drawing/2014/main" id="{614E7A0F-A5DE-4C6C-A9BB-8C93529F3DAD}"/>
              </a:ext>
            </a:extLst>
          </p:cNvPr>
          <p:cNvSpPr/>
          <p:nvPr/>
        </p:nvSpPr>
        <p:spPr>
          <a:xfrm>
            <a:off x="323557" y="3716603"/>
            <a:ext cx="5347524" cy="2127955"/>
          </a:xfrm>
          <a:prstGeom prst="rect">
            <a:avLst/>
          </a:prstGeom>
        </p:spPr>
        <p:txBody>
          <a:bodyPr wrap="square">
            <a:spAutoFit/>
          </a:bodyPr>
          <a:lstStyle/>
          <a:p>
            <a:pPr marL="342900" indent="-342900">
              <a:lnSpc>
                <a:spcPct val="150000"/>
              </a:lnSpc>
              <a:buFont typeface="Wingdings" panose="05000000000000000000" pitchFamily="2" charset="2"/>
              <a:buChar char="l"/>
            </a:pPr>
            <a:r>
              <a:rPr lang="zh-CN" altLang="en-US" b="1" dirty="0">
                <a:solidFill>
                  <a:srgbClr val="0070C0"/>
                </a:solidFill>
                <a:ea typeface="微软雅黑" panose="020B0503020204020204" pitchFamily="34" charset="-122"/>
              </a:rPr>
              <a:t>基于评估：</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强化学习利用环境评估当前策略，以此为依据进行优化</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nSpc>
                <a:spcPct val="150000"/>
              </a:lnSpc>
              <a:buFont typeface="Wingdings" panose="05000000000000000000" pitchFamily="2" charset="2"/>
              <a:buChar char="l"/>
            </a:pPr>
            <a:r>
              <a:rPr lang="zh-CN" altLang="en-US" b="1" dirty="0">
                <a:solidFill>
                  <a:srgbClr val="0070C0"/>
                </a:solidFill>
                <a:ea typeface="微软雅黑" panose="020B0503020204020204" pitchFamily="34" charset="-122"/>
              </a:rPr>
              <a:t>交互性：</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强化学习的数据在与环境的交互中产生</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nSpc>
                <a:spcPct val="150000"/>
              </a:lnSpc>
              <a:buFont typeface="Wingdings" panose="05000000000000000000" pitchFamily="2" charset="2"/>
              <a:buChar char="l"/>
            </a:pPr>
            <a:r>
              <a:rPr lang="zh-CN" altLang="en-US" b="1" dirty="0">
                <a:solidFill>
                  <a:srgbClr val="0070C0"/>
                </a:solidFill>
                <a:ea typeface="微软雅黑" panose="020B0503020204020204" pitchFamily="34" charset="-122"/>
              </a:rPr>
              <a:t>序列决策过程：</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智能主体在与环境的交互中需要作出一系列的决策，这些决策往往是前后关联的</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20F0BF73-4A0A-4D9B-7B5E-FA066D8CD139}"/>
              </a:ext>
            </a:extLst>
          </p:cNvPr>
          <p:cNvSpPr txBox="1"/>
          <p:nvPr/>
        </p:nvSpPr>
        <p:spPr>
          <a:xfrm>
            <a:off x="2248801" y="3244334"/>
            <a:ext cx="1870166" cy="369332"/>
          </a:xfrm>
          <a:prstGeom prst="rect">
            <a:avLst/>
          </a:prstGeom>
          <a:noFill/>
        </p:spPr>
        <p:txBody>
          <a:bodyPr wrap="square">
            <a:spAutoFit/>
          </a:bodyPr>
          <a:lstStyle/>
          <a:p>
            <a:r>
              <a:rPr lang="zh-CN" altLang="en-US" sz="18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强化学习的特点 </a:t>
            </a:r>
            <a:endParaRPr lang="zh-CN" altLang="en-US" dirty="0"/>
          </a:p>
        </p:txBody>
      </p:sp>
      <p:sp>
        <p:nvSpPr>
          <p:cNvPr id="10" name="矩形: 圆角 9">
            <a:extLst>
              <a:ext uri="{FF2B5EF4-FFF2-40B4-BE49-F238E27FC236}">
                <a16:creationId xmlns:a16="http://schemas.microsoft.com/office/drawing/2014/main" id="{936C1059-7338-C96D-B631-63AEC0D3150F}"/>
              </a:ext>
            </a:extLst>
          </p:cNvPr>
          <p:cNvSpPr/>
          <p:nvPr/>
        </p:nvSpPr>
        <p:spPr>
          <a:xfrm>
            <a:off x="6775269" y="4616014"/>
            <a:ext cx="5416731" cy="548169"/>
          </a:xfrm>
          <a:prstGeom prst="roundRect">
            <a:avLst>
              <a:gd name="adj" fmla="val 8586"/>
            </a:avLst>
          </a:prstGeom>
          <a:gradFill flip="none" rotWithShape="1">
            <a:gsLst>
              <a:gs pos="0">
                <a:schemeClr val="bg2">
                  <a:shade val="30000"/>
                  <a:satMod val="115000"/>
                </a:schemeClr>
              </a:gs>
              <a:gs pos="50000">
                <a:schemeClr val="bg2">
                  <a:shade val="67500"/>
                  <a:satMod val="115000"/>
                </a:schemeClr>
              </a:gs>
              <a:gs pos="100000">
                <a:schemeClr val="bg2">
                  <a:shade val="100000"/>
                  <a:satMod val="115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FE1F42EF-B3DA-6526-C242-7A6C9951AA22}"/>
              </a:ext>
            </a:extLst>
          </p:cNvPr>
          <p:cNvSpPr/>
          <p:nvPr/>
        </p:nvSpPr>
        <p:spPr>
          <a:xfrm>
            <a:off x="6775268" y="5286020"/>
            <a:ext cx="5416731" cy="548169"/>
          </a:xfrm>
          <a:prstGeom prst="roundRect">
            <a:avLst>
              <a:gd name="adj" fmla="val 8586"/>
            </a:avLst>
          </a:prstGeom>
          <a:gradFill flip="none" rotWithShape="1">
            <a:gsLst>
              <a:gs pos="0">
                <a:schemeClr val="bg2">
                  <a:shade val="30000"/>
                  <a:satMod val="115000"/>
                </a:schemeClr>
              </a:gs>
              <a:gs pos="50000">
                <a:schemeClr val="bg2">
                  <a:shade val="67500"/>
                  <a:satMod val="115000"/>
                </a:schemeClr>
              </a:gs>
              <a:gs pos="100000">
                <a:schemeClr val="bg2">
                  <a:shade val="100000"/>
                  <a:satMod val="115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48806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10"/>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0" grpId="0" animBg="1"/>
      <p:bldP spid="10" grpId="1" animBg="1"/>
      <p:bldP spid="11" grpId="0" animBg="1"/>
      <p:bldP spid="11"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马尔可夫决策过程：机器人寻路问题</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强化学习问题定义</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71CD7EA9-55C7-4A3D-BEF1-511C7912FDE3}"/>
                  </a:ext>
                </a:extLst>
              </p:cNvPr>
              <p:cNvSpPr/>
              <p:nvPr/>
            </p:nvSpPr>
            <p:spPr>
              <a:xfrm>
                <a:off x="253217" y="2116597"/>
                <a:ext cx="6813453" cy="2951705"/>
              </a:xfrm>
              <a:prstGeom prst="rect">
                <a:avLst/>
              </a:prstGeom>
            </p:spPr>
            <p:txBody>
              <a:bodyPr wrap="square">
                <a:spAutoFit/>
              </a:bodyPr>
              <a:lstStyle/>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如图</a:t>
                </a:r>
                <a:r>
                  <a:rPr lang="en-US" altLang="zh-CN" dirty="0">
                    <a:solidFill>
                      <a:srgbClr val="000000"/>
                    </a:solidFill>
                    <a:latin typeface="Times New Roman" panose="02020603050405020304" pitchFamily="18" charset="0"/>
                    <a:ea typeface="楷体_GB2312"/>
                    <a:cs typeface="Times New Roman" panose="02020603050405020304" pitchFamily="18" charset="0"/>
                  </a:rPr>
                  <a:t>6.2</a:t>
                </a:r>
                <a:r>
                  <a:rPr lang="zh-CN" altLang="zh-CN" dirty="0">
                    <a:solidFill>
                      <a:srgbClr val="000000"/>
                    </a:solidFill>
                    <a:latin typeface="Times New Roman" panose="02020603050405020304" pitchFamily="18" charset="0"/>
                    <a:ea typeface="楷体_GB2312"/>
                    <a:cs typeface="Times New Roman" panose="02020603050405020304" pitchFamily="18" charset="0"/>
                  </a:rPr>
                  <a:t>所示</a:t>
                </a:r>
                <a:r>
                  <a:rPr lang="en-US" altLang="zh-CN" dirty="0">
                    <a:solidFill>
                      <a:srgbClr val="000000"/>
                    </a:solidFill>
                    <a:latin typeface="Times New Roman" panose="02020603050405020304" pitchFamily="18" charset="0"/>
                    <a:ea typeface="楷体_GB2312"/>
                    <a:cs typeface="Times New Roman" panose="02020603050405020304" pitchFamily="18" charset="0"/>
                  </a:rPr>
                  <a:t>3*3</a:t>
                </a:r>
                <a:r>
                  <a:rPr lang="zh-CN" altLang="zh-CN" dirty="0">
                    <a:solidFill>
                      <a:srgbClr val="000000"/>
                    </a:solidFill>
                    <a:latin typeface="Times New Roman" panose="02020603050405020304" pitchFamily="18" charset="0"/>
                    <a:ea typeface="楷体_GB2312"/>
                    <a:cs typeface="Times New Roman" panose="02020603050405020304" pitchFamily="18" charset="0"/>
                  </a:rPr>
                  <a:t>的网格，假设有一个机器人位于</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i="1">
                            <a:solidFill>
                              <a:srgbClr val="000000"/>
                            </a:solidFill>
                            <a:latin typeface="Cambria Math" panose="02040503050406030204" pitchFamily="18" charset="0"/>
                            <a:ea typeface="楷体_GB2312"/>
                            <a:cs typeface="Times New Roman" panose="02020603050405020304" pitchFamily="18" charset="0"/>
                          </a:rPr>
                          <m:t>1</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，试图从</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i="1">
                            <a:solidFill>
                              <a:srgbClr val="000000"/>
                            </a:solidFill>
                            <a:latin typeface="Cambria Math" panose="02040503050406030204" pitchFamily="18" charset="0"/>
                            <a:ea typeface="楷体_GB2312"/>
                            <a:cs typeface="Times New Roman" panose="02020603050405020304" pitchFamily="18" charset="0"/>
                          </a:rPr>
                          <m:t>1</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这一初始位置向</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i="1">
                            <a:solidFill>
                              <a:srgbClr val="000000"/>
                            </a:solidFill>
                            <a:latin typeface="Cambria Math" panose="02040503050406030204" pitchFamily="18" charset="0"/>
                            <a:ea typeface="楷体_GB2312"/>
                            <a:cs typeface="Times New Roman" panose="02020603050405020304" pitchFamily="18" charset="0"/>
                          </a:rPr>
                          <m:t>9</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这一目标位置移动。</a:t>
                </a:r>
                <a:endParaRPr lang="en-US" altLang="zh-CN"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r>
                  <a:rPr lang="zh-CN" altLang="zh-CN" dirty="0">
                    <a:solidFill>
                      <a:srgbClr val="000000"/>
                    </a:solidFill>
                    <a:latin typeface="Times New Roman" panose="02020603050405020304" pitchFamily="18" charset="0"/>
                    <a:ea typeface="楷体_GB2312"/>
                    <a:cs typeface="Times New Roman" panose="02020603050405020304" pitchFamily="18" charset="0"/>
                  </a:rPr>
                  <a:t>假设机器人每一步只能向上或者向右移动一个方格，到达目标位置</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i="1">
                            <a:solidFill>
                              <a:srgbClr val="000000"/>
                            </a:solidFill>
                            <a:latin typeface="Cambria Math" panose="02040503050406030204" pitchFamily="18" charset="0"/>
                            <a:ea typeface="楷体_GB2312"/>
                            <a:cs typeface="Times New Roman" panose="02020603050405020304" pitchFamily="18" charset="0"/>
                          </a:rPr>
                          <m:t>9</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则会获得奖励且游戏终止，机器人在移动过程中如果越出方格则会被惩罚且被损坏、并且游戏终止。</a:t>
                </a:r>
                <a:endParaRPr lang="en-US" altLang="zh-CN"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r>
                  <a:rPr lang="zh-CN" altLang="zh-CN" dirty="0">
                    <a:solidFill>
                      <a:srgbClr val="000000"/>
                    </a:solidFill>
                    <a:latin typeface="Times New Roman" panose="02020603050405020304" pitchFamily="18" charset="0"/>
                    <a:ea typeface="楷体_GB2312"/>
                    <a:cs typeface="Times New Roman" panose="02020603050405020304" pitchFamily="18" charset="0"/>
                  </a:rPr>
                  <a:t>如何学习一种策略能够帮助机器人从</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i="1">
                            <a:solidFill>
                              <a:srgbClr val="000000"/>
                            </a:solidFill>
                            <a:latin typeface="Cambria Math" panose="02040503050406030204" pitchFamily="18" charset="0"/>
                            <a:ea typeface="楷体_GB2312"/>
                            <a:cs typeface="Times New Roman" panose="02020603050405020304" pitchFamily="18" charset="0"/>
                          </a:rPr>
                          <m:t>1</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走到</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i="1">
                            <a:solidFill>
                              <a:srgbClr val="000000"/>
                            </a:solidFill>
                            <a:latin typeface="Cambria Math" panose="02040503050406030204" pitchFamily="18" charset="0"/>
                            <a:ea typeface="楷体_GB2312"/>
                            <a:cs typeface="Times New Roman" panose="02020603050405020304" pitchFamily="18" charset="0"/>
                          </a:rPr>
                          <m:t>9</m:t>
                        </m:r>
                      </m:sub>
                    </m:sSub>
                  </m:oMath>
                </a14:m>
                <a:r>
                  <a:rPr lang="en-US" altLang="zh-CN" dirty="0">
                    <a:solidFill>
                      <a:srgbClr val="000000"/>
                    </a:solidFill>
                    <a:latin typeface="Times New Roman" panose="02020603050405020304" pitchFamily="18" charset="0"/>
                    <a:ea typeface="楷体_GB2312"/>
                    <a:cs typeface="Times New Roman" panose="02020603050405020304" pitchFamily="18" charset="0"/>
                  </a:rPr>
                  <a:t>? </a:t>
                </a:r>
                <a:r>
                  <a:rPr lang="zh-CN" altLang="zh-CN" dirty="0">
                    <a:solidFill>
                      <a:srgbClr val="000000"/>
                    </a:solidFill>
                    <a:latin typeface="Times New Roman" panose="02020603050405020304" pitchFamily="18" charset="0"/>
                    <a:ea typeface="楷体_GB2312"/>
                    <a:cs typeface="Times New Roman" panose="02020603050405020304" pitchFamily="18" charset="0"/>
                  </a:rPr>
                  <a:t>这是一个典型的搜索问题，由此可见强化学习问题与搜索问题存在共通之处。</a:t>
                </a:r>
              </a:p>
            </p:txBody>
          </p:sp>
        </mc:Choice>
        <mc:Fallback xmlns="">
          <p:sp>
            <p:nvSpPr>
              <p:cNvPr id="2" name="矩形 1">
                <a:extLst>
                  <a:ext uri="{FF2B5EF4-FFF2-40B4-BE49-F238E27FC236}">
                    <a16:creationId xmlns:a16="http://schemas.microsoft.com/office/drawing/2014/main" id="{71CD7EA9-55C7-4A3D-BEF1-511C7912FDE3}"/>
                  </a:ext>
                </a:extLst>
              </p:cNvPr>
              <p:cNvSpPr>
                <a:spLocks noRot="1" noChangeAspect="1" noMove="1" noResize="1" noEditPoints="1" noAdjustHandles="1" noChangeArrowheads="1" noChangeShapeType="1" noTextEdit="1"/>
              </p:cNvSpPr>
              <p:nvPr/>
            </p:nvSpPr>
            <p:spPr>
              <a:xfrm>
                <a:off x="253217" y="2116597"/>
                <a:ext cx="6813453" cy="2951705"/>
              </a:xfrm>
              <a:prstGeom prst="rect">
                <a:avLst/>
              </a:prstGeom>
              <a:blipFill>
                <a:blip r:embed="rId3"/>
                <a:stretch>
                  <a:fillRect l="-806" r="-806" b="-2479"/>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1A9E3C52-A420-4586-9360-9430D1501FE1}"/>
              </a:ext>
            </a:extLst>
          </p:cNvPr>
          <p:cNvPicPr>
            <a:picLocks noChangeAspect="1"/>
          </p:cNvPicPr>
          <p:nvPr/>
        </p:nvPicPr>
        <p:blipFill>
          <a:blip r:embed="rId4"/>
          <a:stretch>
            <a:fillRect/>
          </a:stretch>
        </p:blipFill>
        <p:spPr>
          <a:xfrm>
            <a:off x="7536721" y="2017639"/>
            <a:ext cx="3555072" cy="3731357"/>
          </a:xfrm>
          <a:prstGeom prst="rect">
            <a:avLst/>
          </a:prstGeom>
        </p:spPr>
      </p:pic>
    </p:spTree>
    <p:extLst>
      <p:ext uri="{BB962C8B-B14F-4D97-AF65-F5344CB8AC3E}">
        <p14:creationId xmlns:p14="http://schemas.microsoft.com/office/powerpoint/2010/main" val="40113428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马尔可夫决策过程：机器人寻路问题</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强化学习问题定义</a:t>
            </a:r>
          </a:p>
        </p:txBody>
      </p:sp>
      <p:pic>
        <p:nvPicPr>
          <p:cNvPr id="8" name="图片 7">
            <a:extLst>
              <a:ext uri="{FF2B5EF4-FFF2-40B4-BE49-F238E27FC236}">
                <a16:creationId xmlns:a16="http://schemas.microsoft.com/office/drawing/2014/main" id="{1A9E3C52-A420-4586-9360-9430D1501FE1}"/>
              </a:ext>
            </a:extLst>
          </p:cNvPr>
          <p:cNvPicPr>
            <a:picLocks noChangeAspect="1"/>
          </p:cNvPicPr>
          <p:nvPr/>
        </p:nvPicPr>
        <p:blipFill>
          <a:blip r:embed="rId3"/>
          <a:stretch>
            <a:fillRect/>
          </a:stretch>
        </p:blipFill>
        <p:spPr>
          <a:xfrm>
            <a:off x="7536721" y="2017639"/>
            <a:ext cx="3555072" cy="3731357"/>
          </a:xfrm>
          <a:prstGeom prst="rect">
            <a:avLst/>
          </a:prstGeom>
        </p:spPr>
      </p:pic>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F81C0296-2587-4B92-97A1-BA9AA5AF30A9}"/>
                  </a:ext>
                </a:extLst>
              </p:cNvPr>
              <p:cNvGraphicFramePr>
                <a:graphicFrameLocks noGrp="1"/>
              </p:cNvGraphicFramePr>
              <p:nvPr>
                <p:extLst>
                  <p:ext uri="{D42A27DB-BD31-4B8C-83A1-F6EECF244321}">
                    <p14:modId xmlns:p14="http://schemas.microsoft.com/office/powerpoint/2010/main" val="3989748005"/>
                  </p:ext>
                </p:extLst>
              </p:nvPr>
            </p:nvGraphicFramePr>
            <p:xfrm>
              <a:off x="1452489" y="2275791"/>
              <a:ext cx="5280031" cy="2763865"/>
            </p:xfrm>
            <a:graphic>
              <a:graphicData uri="http://schemas.openxmlformats.org/drawingml/2006/table">
                <a:tbl>
                  <a:tblPr firstRow="1" bandRow="1">
                    <a:tableStyleId>{5C22544A-7EE6-4342-B048-85BDC9FD1C3A}</a:tableStyleId>
                  </a:tblPr>
                  <a:tblGrid>
                    <a:gridCol w="1202782">
                      <a:extLst>
                        <a:ext uri="{9D8B030D-6E8A-4147-A177-3AD203B41FA5}">
                          <a16:colId xmlns:a16="http://schemas.microsoft.com/office/drawing/2014/main" val="2155908373"/>
                        </a:ext>
                      </a:extLst>
                    </a:gridCol>
                    <a:gridCol w="4077249">
                      <a:extLst>
                        <a:ext uri="{9D8B030D-6E8A-4147-A177-3AD203B41FA5}">
                          <a16:colId xmlns:a16="http://schemas.microsoft.com/office/drawing/2014/main" val="1954019097"/>
                        </a:ext>
                      </a:extLst>
                    </a:gridCol>
                  </a:tblGrid>
                  <a:tr h="439706">
                    <a:tc>
                      <a:txBody>
                        <a:bodyPr/>
                        <a:lstStyle/>
                        <a:p>
                          <a:pPr algn="ctr"/>
                          <a:r>
                            <a:rPr lang="zh-CN" altLang="en-US" sz="1600" b="1" kern="1200" dirty="0">
                              <a:solidFill>
                                <a:srgbClr val="0070C0"/>
                              </a:solidFill>
                              <a:latin typeface="Times New Roman" panose="02020603050405020304" pitchFamily="18" charset="0"/>
                              <a:ea typeface="黑体" pitchFamily="49" charset="-122"/>
                              <a:cs typeface="Times New Roman" panose="02020603050405020304" pitchFamily="18" charset="0"/>
                            </a:rPr>
                            <a:t>智能体</a:t>
                          </a: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ctr" defTabSz="914400" rtl="0" eaLnBrk="1" latinLnBrk="0" hangingPunct="1">
                            <a:lnSpc>
                              <a:spcPct val="150000"/>
                            </a:lnSpc>
                            <a:buFont typeface="Wingdings" panose="05000000000000000000" pitchFamily="2" charset="2"/>
                            <a:buNone/>
                          </a:pPr>
                          <a:r>
                            <a:rPr lang="zh-CN" altLang="en-US" sz="1600" b="1" kern="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迷宫机器人</a:t>
                          </a: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9291553"/>
                      </a:ext>
                    </a:extLst>
                  </a:tr>
                  <a:tr h="439706">
                    <a:tc>
                      <a:txBody>
                        <a:bodyPr/>
                        <a:lstStyle/>
                        <a:p>
                          <a:pPr algn="ctr"/>
                          <a:r>
                            <a:rPr lang="zh-CN" altLang="en-US" sz="1600" b="1" kern="1200" dirty="0">
                              <a:solidFill>
                                <a:srgbClr val="0070C0"/>
                              </a:solidFill>
                              <a:latin typeface="Times New Roman" panose="02020603050405020304" pitchFamily="18" charset="0"/>
                              <a:ea typeface="黑体" pitchFamily="49" charset="-122"/>
                              <a:cs typeface="Times New Roman" panose="02020603050405020304" pitchFamily="18" charset="0"/>
                            </a:rPr>
                            <a:t>环境</a:t>
                          </a: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ctr" defTabSz="914400" rtl="0" eaLnBrk="1" latinLnBrk="0" hangingPunct="1">
                            <a:lnSpc>
                              <a:spcPct val="150000"/>
                            </a:lnSpc>
                            <a:buFont typeface="Wingdings" panose="05000000000000000000" pitchFamily="2" charset="2"/>
                            <a:buNone/>
                          </a:pPr>
                          <a14:m>
                            <m:oMath xmlns:m="http://schemas.openxmlformats.org/officeDocument/2006/math">
                              <m:r>
                                <a:rPr lang="en-US" altLang="zh-CN" sz="1600" b="1" kern="1200" smtClean="0">
                                  <a:solidFill>
                                    <a:schemeClr val="tx1"/>
                                  </a:solidFill>
                                  <a:latin typeface="Cambria Math" panose="02040503050406030204" pitchFamily="18" charset="0"/>
                                  <a:ea typeface="华文楷体" panose="02010600040101010101" pitchFamily="2" charset="-122"/>
                                  <a:cs typeface="Times New Roman" panose="02020603050405020304" pitchFamily="18" charset="0"/>
                                </a:rPr>
                                <m:t>3×3</m:t>
                              </m:r>
                            </m:oMath>
                          </a14:m>
                          <a:r>
                            <a:rPr lang="zh-CN" altLang="en-US" sz="1600" b="1" kern="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方格</a:t>
                          </a: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18301015"/>
                      </a:ext>
                    </a:extLst>
                  </a:tr>
                  <a:tr h="628151">
                    <a:tc>
                      <a:txBody>
                        <a:bodyPr/>
                        <a:lstStyle/>
                        <a:p>
                          <a:pPr marL="0" algn="ctr" defTabSz="685800" rtl="0" eaLnBrk="1" latinLnBrk="0" hangingPunct="1"/>
                          <a:r>
                            <a:rPr lang="zh-CN" altLang="en-US" sz="1600" b="1" kern="1200" dirty="0">
                              <a:solidFill>
                                <a:srgbClr val="0070C0"/>
                              </a:solidFill>
                              <a:latin typeface="Times New Roman" panose="02020603050405020304" pitchFamily="18" charset="0"/>
                              <a:ea typeface="黑体" pitchFamily="49" charset="-122"/>
                              <a:cs typeface="Times New Roman" panose="02020603050405020304" pitchFamily="18" charset="0"/>
                            </a:rPr>
                            <a:t>状态</a:t>
                          </a: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ctr" defTabSz="914400" rtl="0" eaLnBrk="1" latinLnBrk="0" hangingPunct="1">
                            <a:lnSpc>
                              <a:spcPct val="150000"/>
                            </a:lnSpc>
                            <a:buFont typeface="Wingdings" panose="05000000000000000000" pitchFamily="2" charset="2"/>
                            <a:buNone/>
                          </a:pPr>
                          <a:r>
                            <a:rPr lang="zh-CN" altLang="en-US" sz="1600" b="1" kern="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机器人当前时刻所处方格</a:t>
                          </a: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6911582"/>
                      </a:ext>
                    </a:extLst>
                  </a:tr>
                  <a:tr h="628151">
                    <a:tc>
                      <a:txBody>
                        <a:bodyPr/>
                        <a:lstStyle/>
                        <a:p>
                          <a:pPr marL="0" algn="ctr" defTabSz="685800" rtl="0" eaLnBrk="1" latinLnBrk="0" hangingPunct="1"/>
                          <a:r>
                            <a:rPr lang="zh-CN" altLang="en-US" sz="1600" b="1" kern="1200" dirty="0">
                              <a:solidFill>
                                <a:srgbClr val="0070C0"/>
                              </a:solidFill>
                              <a:latin typeface="Times New Roman" panose="02020603050405020304" pitchFamily="18" charset="0"/>
                              <a:ea typeface="黑体" pitchFamily="49" charset="-122"/>
                              <a:cs typeface="Times New Roman" panose="02020603050405020304" pitchFamily="18" charset="0"/>
                            </a:rPr>
                            <a:t>动作</a:t>
                          </a: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ctr" defTabSz="914400" rtl="0" eaLnBrk="1" latinLnBrk="0" hangingPunct="1">
                            <a:lnSpc>
                              <a:spcPct val="150000"/>
                            </a:lnSpc>
                            <a:buFont typeface="Wingdings" panose="05000000000000000000" pitchFamily="2" charset="2"/>
                            <a:buNone/>
                          </a:pPr>
                          <a:r>
                            <a:rPr lang="zh-CN" altLang="en-US" sz="1600" b="1" kern="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每次移动一个方格</a:t>
                          </a: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3939818"/>
                      </a:ext>
                    </a:extLst>
                  </a:tr>
                  <a:tr h="628151">
                    <a:tc>
                      <a:txBody>
                        <a:bodyPr/>
                        <a:lstStyle/>
                        <a:p>
                          <a:pPr marL="0" algn="ctr" defTabSz="685800" rtl="0" eaLnBrk="1" latinLnBrk="0" hangingPunct="1"/>
                          <a:r>
                            <a:rPr lang="zh-CN" altLang="en-US" sz="1600" b="1" kern="1200" dirty="0">
                              <a:solidFill>
                                <a:srgbClr val="0070C0"/>
                              </a:solidFill>
                              <a:latin typeface="Times New Roman" panose="02020603050405020304" pitchFamily="18" charset="0"/>
                              <a:ea typeface="黑体" pitchFamily="49" charset="-122"/>
                              <a:cs typeface="Times New Roman" panose="02020603050405020304" pitchFamily="18" charset="0"/>
                            </a:rPr>
                            <a:t>奖励</a:t>
                          </a: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ctr" defTabSz="914400" rtl="0" eaLnBrk="1" latinLnBrk="0" hangingPunct="1">
                            <a:lnSpc>
                              <a:spcPct val="150000"/>
                            </a:lnSpc>
                            <a:buFont typeface="Wingdings" panose="05000000000000000000" pitchFamily="2" charset="2"/>
                            <a:buNone/>
                          </a:pPr>
                          <a:r>
                            <a:rPr lang="zh-CN" altLang="en-US" sz="1600" b="1" kern="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到达</a:t>
                          </a:r>
                          <a14:m>
                            <m:oMath xmlns:m="http://schemas.openxmlformats.org/officeDocument/2006/math">
                              <m:sSub>
                                <m:sSubPr>
                                  <m:ctrlPr>
                                    <a:rPr lang="en-US" altLang="zh-CN" sz="1600" b="1" i="1" kern="1200">
                                      <a:solidFill>
                                        <a:schemeClr val="tx1"/>
                                      </a:solidFill>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sz="1600" b="1" kern="1200">
                                      <a:solidFill>
                                        <a:schemeClr val="tx1"/>
                                      </a:solidFill>
                                      <a:latin typeface="Cambria Math" panose="02040503050406030204" pitchFamily="18" charset="0"/>
                                      <a:ea typeface="华文楷体" panose="02010600040101010101" pitchFamily="2" charset="-122"/>
                                      <a:cs typeface="Times New Roman" panose="02020603050405020304" pitchFamily="18" charset="0"/>
                                    </a:rPr>
                                    <m:t>𝑠</m:t>
                                  </m:r>
                                </m:e>
                                <m:sub>
                                  <m:r>
                                    <a:rPr lang="en-US" altLang="zh-CN" sz="1600" b="1" kern="1200" smtClean="0">
                                      <a:solidFill>
                                        <a:schemeClr val="tx1"/>
                                      </a:solidFill>
                                      <a:latin typeface="Cambria Math" panose="02040503050406030204" pitchFamily="18" charset="0"/>
                                      <a:ea typeface="华文楷体" panose="02010600040101010101" pitchFamily="2" charset="-122"/>
                                      <a:cs typeface="Times New Roman" panose="02020603050405020304" pitchFamily="18" charset="0"/>
                                    </a:rPr>
                                    <m:t>9</m:t>
                                  </m:r>
                                </m:sub>
                              </m:sSub>
                            </m:oMath>
                          </a14:m>
                          <a:r>
                            <a:rPr lang="zh-CN" altLang="en-US" sz="1600" b="1" kern="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时给予奖励；越界时给予惩罚</a:t>
                          </a:r>
                          <a:endParaRPr lang="en-US" altLang="zh-CN" sz="1600" b="1" kern="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540184"/>
                      </a:ext>
                    </a:extLst>
                  </a:tr>
                </a:tbl>
              </a:graphicData>
            </a:graphic>
          </p:graphicFrame>
        </mc:Choice>
        <mc:Fallback xmlns="">
          <p:graphicFrame>
            <p:nvGraphicFramePr>
              <p:cNvPr id="9" name="表格 8">
                <a:extLst>
                  <a:ext uri="{FF2B5EF4-FFF2-40B4-BE49-F238E27FC236}">
                    <a16:creationId xmlns:a16="http://schemas.microsoft.com/office/drawing/2014/main" id="{F81C0296-2587-4B92-97A1-BA9AA5AF30A9}"/>
                  </a:ext>
                </a:extLst>
              </p:cNvPr>
              <p:cNvGraphicFramePr>
                <a:graphicFrameLocks noGrp="1"/>
              </p:cNvGraphicFramePr>
              <p:nvPr>
                <p:extLst>
                  <p:ext uri="{D42A27DB-BD31-4B8C-83A1-F6EECF244321}">
                    <p14:modId xmlns:p14="http://schemas.microsoft.com/office/powerpoint/2010/main" val="3989748005"/>
                  </p:ext>
                </p:extLst>
              </p:nvPr>
            </p:nvGraphicFramePr>
            <p:xfrm>
              <a:off x="1452489" y="2275791"/>
              <a:ext cx="5280031" cy="2763865"/>
            </p:xfrm>
            <a:graphic>
              <a:graphicData uri="http://schemas.openxmlformats.org/drawingml/2006/table">
                <a:tbl>
                  <a:tblPr firstRow="1" bandRow="1">
                    <a:tableStyleId>{5C22544A-7EE6-4342-B048-85BDC9FD1C3A}</a:tableStyleId>
                  </a:tblPr>
                  <a:tblGrid>
                    <a:gridCol w="1202782">
                      <a:extLst>
                        <a:ext uri="{9D8B030D-6E8A-4147-A177-3AD203B41FA5}">
                          <a16:colId xmlns:a16="http://schemas.microsoft.com/office/drawing/2014/main" val="2155908373"/>
                        </a:ext>
                      </a:extLst>
                    </a:gridCol>
                    <a:gridCol w="4077249">
                      <a:extLst>
                        <a:ext uri="{9D8B030D-6E8A-4147-A177-3AD203B41FA5}">
                          <a16:colId xmlns:a16="http://schemas.microsoft.com/office/drawing/2014/main" val="1954019097"/>
                        </a:ext>
                      </a:extLst>
                    </a:gridCol>
                  </a:tblGrid>
                  <a:tr h="439706">
                    <a:tc>
                      <a:txBody>
                        <a:bodyPr/>
                        <a:lstStyle/>
                        <a:p>
                          <a:pPr algn="ctr"/>
                          <a:r>
                            <a:rPr lang="zh-CN" altLang="en-US" sz="1600" b="1" kern="1200" dirty="0">
                              <a:solidFill>
                                <a:srgbClr val="0070C0"/>
                              </a:solidFill>
                              <a:latin typeface="Times New Roman" panose="02020603050405020304" pitchFamily="18" charset="0"/>
                              <a:ea typeface="黑体" pitchFamily="49" charset="-122"/>
                              <a:cs typeface="Times New Roman" panose="02020603050405020304" pitchFamily="18" charset="0"/>
                            </a:rPr>
                            <a:t>智能体</a:t>
                          </a: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ctr" defTabSz="914400" rtl="0" eaLnBrk="1" latinLnBrk="0" hangingPunct="1">
                            <a:lnSpc>
                              <a:spcPct val="150000"/>
                            </a:lnSpc>
                            <a:buFont typeface="Wingdings" panose="05000000000000000000" pitchFamily="2" charset="2"/>
                            <a:buNone/>
                          </a:pPr>
                          <a:r>
                            <a:rPr lang="zh-CN" altLang="en-US" sz="1600" b="1" kern="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迷宫机器人</a:t>
                          </a: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9291553"/>
                      </a:ext>
                    </a:extLst>
                  </a:tr>
                  <a:tr h="439706">
                    <a:tc>
                      <a:txBody>
                        <a:bodyPr/>
                        <a:lstStyle/>
                        <a:p>
                          <a:pPr algn="ctr"/>
                          <a:r>
                            <a:rPr lang="zh-CN" altLang="en-US" sz="1600" b="1" kern="1200" dirty="0">
                              <a:solidFill>
                                <a:srgbClr val="0070C0"/>
                              </a:solidFill>
                              <a:latin typeface="Times New Roman" panose="02020603050405020304" pitchFamily="18" charset="0"/>
                              <a:ea typeface="黑体" pitchFamily="49" charset="-122"/>
                              <a:cs typeface="Times New Roman" panose="02020603050405020304" pitchFamily="18" charset="0"/>
                            </a:rPr>
                            <a:t>环境</a:t>
                          </a: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9746" t="-108333" r="-299" b="-433333"/>
                          </a:stretch>
                        </a:blipFill>
                      </a:tcPr>
                    </a:tc>
                    <a:extLst>
                      <a:ext uri="{0D108BD9-81ED-4DB2-BD59-A6C34878D82A}">
                        <a16:rowId xmlns:a16="http://schemas.microsoft.com/office/drawing/2014/main" val="518301015"/>
                      </a:ext>
                    </a:extLst>
                  </a:tr>
                  <a:tr h="628151">
                    <a:tc>
                      <a:txBody>
                        <a:bodyPr/>
                        <a:lstStyle/>
                        <a:p>
                          <a:pPr marL="0" algn="ctr" defTabSz="685800" rtl="0" eaLnBrk="1" latinLnBrk="0" hangingPunct="1"/>
                          <a:r>
                            <a:rPr lang="zh-CN" altLang="en-US" sz="1600" b="1" kern="1200" dirty="0">
                              <a:solidFill>
                                <a:srgbClr val="0070C0"/>
                              </a:solidFill>
                              <a:latin typeface="Times New Roman" panose="02020603050405020304" pitchFamily="18" charset="0"/>
                              <a:ea typeface="黑体" pitchFamily="49" charset="-122"/>
                              <a:cs typeface="Times New Roman" panose="02020603050405020304" pitchFamily="18" charset="0"/>
                            </a:rPr>
                            <a:t>状态</a:t>
                          </a: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ctr" defTabSz="914400" rtl="0" eaLnBrk="1" latinLnBrk="0" hangingPunct="1">
                            <a:lnSpc>
                              <a:spcPct val="150000"/>
                            </a:lnSpc>
                            <a:buFont typeface="Wingdings" panose="05000000000000000000" pitchFamily="2" charset="2"/>
                            <a:buNone/>
                          </a:pPr>
                          <a:r>
                            <a:rPr lang="zh-CN" altLang="en-US" sz="1600" b="1" kern="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机器人当前时刻所处方格</a:t>
                          </a: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6911582"/>
                      </a:ext>
                    </a:extLst>
                  </a:tr>
                  <a:tr h="628151">
                    <a:tc>
                      <a:txBody>
                        <a:bodyPr/>
                        <a:lstStyle/>
                        <a:p>
                          <a:pPr marL="0" algn="ctr" defTabSz="685800" rtl="0" eaLnBrk="1" latinLnBrk="0" hangingPunct="1"/>
                          <a:r>
                            <a:rPr lang="zh-CN" altLang="en-US" sz="1600" b="1" kern="1200" dirty="0">
                              <a:solidFill>
                                <a:srgbClr val="0070C0"/>
                              </a:solidFill>
                              <a:latin typeface="Times New Roman" panose="02020603050405020304" pitchFamily="18" charset="0"/>
                              <a:ea typeface="黑体" pitchFamily="49" charset="-122"/>
                              <a:cs typeface="Times New Roman" panose="02020603050405020304" pitchFamily="18" charset="0"/>
                            </a:rPr>
                            <a:t>动作</a:t>
                          </a: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ctr" defTabSz="914400" rtl="0" eaLnBrk="1" latinLnBrk="0" hangingPunct="1">
                            <a:lnSpc>
                              <a:spcPct val="150000"/>
                            </a:lnSpc>
                            <a:buFont typeface="Wingdings" panose="05000000000000000000" pitchFamily="2" charset="2"/>
                            <a:buNone/>
                          </a:pPr>
                          <a:r>
                            <a:rPr lang="zh-CN" altLang="en-US" sz="1600" b="1" kern="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每次移动一个方格</a:t>
                          </a: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3939818"/>
                      </a:ext>
                    </a:extLst>
                  </a:tr>
                  <a:tr h="628151">
                    <a:tc>
                      <a:txBody>
                        <a:bodyPr/>
                        <a:lstStyle/>
                        <a:p>
                          <a:pPr marL="0" algn="ctr" defTabSz="685800" rtl="0" eaLnBrk="1" latinLnBrk="0" hangingPunct="1"/>
                          <a:r>
                            <a:rPr lang="zh-CN" altLang="en-US" sz="1600" b="1" kern="1200" dirty="0">
                              <a:solidFill>
                                <a:srgbClr val="0070C0"/>
                              </a:solidFill>
                              <a:latin typeface="Times New Roman" panose="02020603050405020304" pitchFamily="18" charset="0"/>
                              <a:ea typeface="黑体" pitchFamily="49" charset="-122"/>
                              <a:cs typeface="Times New Roman" panose="02020603050405020304" pitchFamily="18" charset="0"/>
                            </a:rPr>
                            <a:t>奖励</a:t>
                          </a:r>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p>
                      </a:txBody>
                      <a:tcPr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9746" t="-346602" r="-299" b="-1942"/>
                          </a:stretch>
                        </a:blipFill>
                      </a:tcPr>
                    </a:tc>
                    <a:extLst>
                      <a:ext uri="{0D108BD9-81ED-4DB2-BD59-A6C34878D82A}">
                        <a16:rowId xmlns:a16="http://schemas.microsoft.com/office/drawing/2014/main" val="320540184"/>
                      </a:ext>
                    </a:extLst>
                  </a:tr>
                </a:tbl>
              </a:graphicData>
            </a:graphic>
          </p:graphicFrame>
        </mc:Fallback>
      </mc:AlternateContent>
    </p:spTree>
    <p:extLst>
      <p:ext uri="{BB962C8B-B14F-4D97-AF65-F5344CB8AC3E}">
        <p14:creationId xmlns:p14="http://schemas.microsoft.com/office/powerpoint/2010/main" val="840774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离散马尔可夫链</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强化学习问题定义</a:t>
            </a:r>
          </a:p>
        </p:txBody>
      </p:sp>
      <p:grpSp>
        <p:nvGrpSpPr>
          <p:cNvPr id="10" name="组合 9">
            <a:extLst>
              <a:ext uri="{FF2B5EF4-FFF2-40B4-BE49-F238E27FC236}">
                <a16:creationId xmlns:a16="http://schemas.microsoft.com/office/drawing/2014/main" id="{6A9F46DD-25D8-4A77-B9AA-262E6C580203}"/>
              </a:ext>
            </a:extLst>
          </p:cNvPr>
          <p:cNvGrpSpPr/>
          <p:nvPr/>
        </p:nvGrpSpPr>
        <p:grpSpPr>
          <a:xfrm>
            <a:off x="1524000" y="1892442"/>
            <a:ext cx="9221117" cy="4238610"/>
            <a:chOff x="0" y="1126938"/>
            <a:chExt cx="9221117" cy="4238610"/>
          </a:xfrm>
        </p:grpSpPr>
        <p:sp>
          <p:nvSpPr>
            <p:cNvPr id="11" name="椭圆形标注 7">
              <a:extLst>
                <a:ext uri="{FF2B5EF4-FFF2-40B4-BE49-F238E27FC236}">
                  <a16:creationId xmlns:a16="http://schemas.microsoft.com/office/drawing/2014/main" id="{C4A248BF-C070-4880-91DD-EECBB7CEF881}"/>
                </a:ext>
              </a:extLst>
            </p:cNvPr>
            <p:cNvSpPr/>
            <p:nvPr/>
          </p:nvSpPr>
          <p:spPr>
            <a:xfrm>
              <a:off x="6323526" y="3593206"/>
              <a:ext cx="2434107" cy="1126901"/>
            </a:xfrm>
            <a:prstGeom prst="wedgeEllipseCallou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ea typeface="黑体" pitchFamily="49" charset="-122"/>
              </a:endParaRPr>
            </a:p>
          </p:txBody>
        </p:sp>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C6E2E443-B997-4153-B4E9-C000C9480211}"/>
                    </a:ext>
                  </a:extLst>
                </p:cNvPr>
                <p:cNvSpPr/>
                <p:nvPr/>
              </p:nvSpPr>
              <p:spPr>
                <a:xfrm>
                  <a:off x="0" y="1126938"/>
                  <a:ext cx="9221117" cy="3344121"/>
                </a:xfrm>
                <a:prstGeom prst="rect">
                  <a:avLst/>
                </a:prstGeom>
              </p:spPr>
              <p:txBody>
                <a:bodyPr wrap="square">
                  <a:spAutoFit/>
                </a:bodyPr>
                <a:lstStyle/>
                <a:p>
                  <a:pPr marL="342900" indent="-342900" algn="just">
                    <a:lnSpc>
                      <a:spcPct val="150000"/>
                    </a:lnSpc>
                    <a:buFont typeface="Wingdings" panose="05000000000000000000" pitchFamily="2" charset="2"/>
                    <a:buChar char="l"/>
                  </a:pP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一个随机过程实际上是一列随时间变化的随机变量，其中当时间是离散量时，一个随机过程可以表示为</a:t>
                  </a:r>
                  <a14:m>
                    <m:oMath xmlns:m="http://schemas.openxmlformats.org/officeDocument/2006/math">
                      <m:sSub>
                        <m:sSubPr>
                          <m:ctrlPr>
                            <a:rPr lang="en-US" altLang="zh-CN" sz="2000" i="1">
                              <a:latin typeface="Cambria Math" panose="02040503050406030204" pitchFamily="18" charset="0"/>
                              <a:ea typeface="华文楷体" panose="02010600040101010101" pitchFamily="2" charset="-122"/>
                              <a:cs typeface="Times New Roman" panose="02020603050405020304" pitchFamily="18" charset="0"/>
                            </a:rPr>
                          </m:ctrlPr>
                        </m:sSubPr>
                        <m:e>
                          <m:d>
                            <m:dPr>
                              <m:begChr m:val="{"/>
                              <m:endChr m:val="}"/>
                              <m:ctrlPr>
                                <a:rPr lang="en-US" altLang="zh-CN" sz="2000" i="1">
                                  <a:latin typeface="Cambria Math" panose="02040503050406030204" pitchFamily="18" charset="0"/>
                                  <a:ea typeface="华文楷体" panose="02010600040101010101" pitchFamily="2" charset="-122"/>
                                  <a:cs typeface="Times New Roman" panose="02020603050405020304" pitchFamily="18" charset="0"/>
                                </a:rPr>
                              </m:ctrlPr>
                            </m:dPr>
                            <m:e>
                              <m:sSub>
                                <m:sSubPr>
                                  <m:ctrlPr>
                                    <a:rPr lang="en-US" altLang="zh-CN" sz="2000"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sz="2000" b="0" i="1">
                                      <a:latin typeface="Cambria Math" panose="02040503050406030204" pitchFamily="18" charset="0"/>
                                      <a:ea typeface="华文楷体" panose="02010600040101010101" pitchFamily="2" charset="-122"/>
                                      <a:cs typeface="Times New Roman" panose="02020603050405020304" pitchFamily="18" charset="0"/>
                                    </a:rPr>
                                    <m:t>𝑋</m:t>
                                  </m:r>
                                </m:e>
                                <m:sub>
                                  <m:r>
                                    <a:rPr lang="en-US" altLang="zh-CN" sz="2000" b="0" i="1">
                                      <a:latin typeface="Cambria Math" panose="02040503050406030204" pitchFamily="18" charset="0"/>
                                      <a:ea typeface="华文楷体" panose="02010600040101010101" pitchFamily="2" charset="-122"/>
                                      <a:cs typeface="Times New Roman" panose="02020603050405020304" pitchFamily="18" charset="0"/>
                                    </a:rPr>
                                    <m:t>𝑡</m:t>
                                  </m:r>
                                </m:sub>
                              </m:sSub>
                            </m:e>
                          </m:d>
                        </m:e>
                        <m:sub>
                          <m:r>
                            <a:rPr lang="en-US" altLang="zh-CN" sz="2000" b="0" i="1">
                              <a:latin typeface="Cambria Math" panose="02040503050406030204" pitchFamily="18" charset="0"/>
                              <a:ea typeface="华文楷体" panose="02010600040101010101" pitchFamily="2" charset="-122"/>
                              <a:cs typeface="Times New Roman" panose="02020603050405020304" pitchFamily="18" charset="0"/>
                            </a:rPr>
                            <m:t>𝑡</m:t>
                          </m:r>
                          <m:r>
                            <a:rPr lang="en-US" altLang="zh-CN" sz="2000" b="0">
                              <a:latin typeface="Cambria Math" panose="02040503050406030204" pitchFamily="18" charset="0"/>
                              <a:ea typeface="华文楷体" panose="02010600040101010101" pitchFamily="2" charset="-122"/>
                              <a:cs typeface="Times New Roman" panose="02020603050405020304" pitchFamily="18" charset="0"/>
                            </a:rPr>
                            <m:t>=</m:t>
                          </m:r>
                          <m:r>
                            <a:rPr lang="en-US" altLang="zh-CN" sz="2000" b="0" i="1">
                              <a:latin typeface="Cambria Math" panose="02040503050406030204" pitchFamily="18" charset="0"/>
                              <a:ea typeface="华文楷体" panose="02010600040101010101" pitchFamily="2" charset="-122"/>
                              <a:cs typeface="Times New Roman" panose="02020603050405020304" pitchFamily="18" charset="0"/>
                            </a:rPr>
                            <m:t>0</m:t>
                          </m:r>
                          <m:r>
                            <a:rPr lang="en-US" altLang="zh-CN" sz="2000" b="0">
                              <a:latin typeface="Cambria Math" panose="02040503050406030204" pitchFamily="18" charset="0"/>
                              <a:ea typeface="华文楷体" panose="02010600040101010101" pitchFamily="2" charset="-122"/>
                              <a:cs typeface="Times New Roman" panose="02020603050405020304" pitchFamily="18" charset="0"/>
                            </a:rPr>
                            <m:t>,</m:t>
                          </m:r>
                          <m:r>
                            <a:rPr lang="en-US" altLang="zh-CN" sz="2000" b="0" i="1">
                              <a:latin typeface="Cambria Math" panose="02040503050406030204" pitchFamily="18" charset="0"/>
                              <a:ea typeface="华文楷体" panose="02010600040101010101" pitchFamily="2" charset="-122"/>
                              <a:cs typeface="Times New Roman" panose="02020603050405020304" pitchFamily="18" charset="0"/>
                            </a:rPr>
                            <m:t>1</m:t>
                          </m:r>
                          <m:r>
                            <a:rPr lang="en-US" altLang="zh-CN" sz="2000" b="0">
                              <a:latin typeface="Cambria Math" panose="02040503050406030204" pitchFamily="18" charset="0"/>
                              <a:ea typeface="华文楷体" panose="02010600040101010101" pitchFamily="2" charset="-122"/>
                              <a:cs typeface="Times New Roman" panose="02020603050405020304" pitchFamily="18" charset="0"/>
                            </a:rPr>
                            <m:t>,</m:t>
                          </m:r>
                          <m:r>
                            <a:rPr lang="en-US" altLang="zh-CN" sz="2000" b="0" i="1">
                              <a:latin typeface="Cambria Math" panose="02040503050406030204" pitchFamily="18" charset="0"/>
                              <a:ea typeface="华文楷体" panose="02010600040101010101" pitchFamily="2" charset="-122"/>
                              <a:cs typeface="Times New Roman" panose="02020603050405020304" pitchFamily="18" charset="0"/>
                            </a:rPr>
                            <m:t>2</m:t>
                          </m:r>
                          <m:r>
                            <a:rPr lang="en-US" altLang="zh-CN" sz="2000" b="0">
                              <a:latin typeface="Cambria Math" panose="02040503050406030204" pitchFamily="18" charset="0"/>
                              <a:ea typeface="华文楷体" panose="02010600040101010101" pitchFamily="2" charset="-122"/>
                              <a:cs typeface="Times New Roman" panose="02020603050405020304" pitchFamily="18" charset="0"/>
                            </a:rPr>
                            <m:t>,⋯</m:t>
                          </m:r>
                        </m:sub>
                      </m:sSub>
                    </m:oMath>
                  </a14:m>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，其中每个</a:t>
                  </a:r>
                  <a14:m>
                    <m:oMath xmlns:m="http://schemas.openxmlformats.org/officeDocument/2006/math">
                      <m:sSub>
                        <m:sSubPr>
                          <m:ctrlPr>
                            <a:rPr lang="en-US" altLang="zh-CN" sz="2000"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sz="2000" b="0" i="1">
                              <a:latin typeface="Cambria Math" panose="02040503050406030204" pitchFamily="18" charset="0"/>
                              <a:ea typeface="华文楷体" panose="02010600040101010101" pitchFamily="2" charset="-122"/>
                              <a:cs typeface="Times New Roman" panose="02020603050405020304" pitchFamily="18" charset="0"/>
                            </a:rPr>
                            <m:t>𝑋</m:t>
                          </m:r>
                        </m:e>
                        <m:sub>
                          <m:r>
                            <a:rPr lang="en-US" altLang="zh-CN" sz="2000" b="0" i="1">
                              <a:latin typeface="Cambria Math" panose="02040503050406030204" pitchFamily="18" charset="0"/>
                              <a:ea typeface="华文楷体" panose="02010600040101010101" pitchFamily="2" charset="-122"/>
                              <a:cs typeface="Times New Roman" panose="02020603050405020304" pitchFamily="18" charset="0"/>
                            </a:rPr>
                            <m:t>𝑡</m:t>
                          </m:r>
                        </m:sub>
                      </m:sSub>
                    </m:oMath>
                  </a14:m>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都是一个随机变量，这被称为离散随机过程</a:t>
                  </a:r>
                  <a:endParaRPr lang="en-US" altLang="zh-CN" sz="2000"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200000"/>
                    </a:lnSpc>
                    <a:buFont typeface="Wingdings" panose="05000000000000000000" pitchFamily="2" charset="2"/>
                    <a:buChar char="l"/>
                  </a:pP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马尔可夫链（</a:t>
                  </a:r>
                  <a:r>
                    <a:rPr lang="en-US" altLang="zh-CN" sz="2000" dirty="0">
                      <a:latin typeface="Times New Roman" panose="02020603050405020304" pitchFamily="18" charset="0"/>
                      <a:ea typeface="华文楷体" panose="02010600040101010101" pitchFamily="2" charset="-122"/>
                      <a:cs typeface="Times New Roman" panose="02020603050405020304" pitchFamily="18" charset="0"/>
                    </a:rPr>
                    <a:t>Markov Chain</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）：满足马尔可夫性（</a:t>
                  </a:r>
                  <a:r>
                    <a:rPr lang="en-US" altLang="zh-CN" sz="2000" dirty="0">
                      <a:latin typeface="Times New Roman" panose="02020603050405020304" pitchFamily="18" charset="0"/>
                      <a:ea typeface="华文楷体" panose="02010600040101010101" pitchFamily="2" charset="-122"/>
                      <a:cs typeface="Times New Roman" panose="02020603050405020304" pitchFamily="18" charset="0"/>
                    </a:rPr>
                    <a:t>Markov Property</a:t>
                  </a:r>
                  <a:r>
                    <a:rPr lang="zh-CN" altLang="en-US" sz="2000" dirty="0">
                      <a:latin typeface="Times New Roman" panose="02020603050405020304" pitchFamily="18" charset="0"/>
                      <a:ea typeface="华文楷体" panose="02010600040101010101" pitchFamily="2" charset="-122"/>
                      <a:cs typeface="Times New Roman" panose="02020603050405020304" pitchFamily="18" charset="0"/>
                    </a:rPr>
                    <a:t>）的离散随机过程，也被称为离散马尔科夫过程。</a:t>
                  </a:r>
                  <a:endParaRPr lang="en-US" altLang="zh-CN" sz="2000" dirty="0">
                    <a:latin typeface="Times New Roman" panose="02020603050405020304" pitchFamily="18" charset="0"/>
                    <a:ea typeface="华文楷体" panose="02010600040101010101" pitchFamily="2" charset="-122"/>
                    <a:cs typeface="Times New Roman" panose="02020603050405020304" pitchFamily="18" charset="0"/>
                  </a:endParaRPr>
                </a:p>
                <a:p>
                  <a:pPr lvl="1" algn="just">
                    <a:lnSpc>
                      <a:spcPct val="200000"/>
                    </a:lnSpc>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ea typeface="黑体" panose="02010609060101010101" pitchFamily="49" charset="-122"/>
                          </a:rPr>
                          <m:t>𝑃𝑟</m:t>
                        </m:r>
                        <m:d>
                          <m:dPr>
                            <m:ctrlPr>
                              <a:rPr lang="en-US" altLang="zh-CN" sz="2000" i="1">
                                <a:latin typeface="Cambria Math" panose="02040503050406030204" pitchFamily="18" charset="0"/>
                                <a:ea typeface="黑体" panose="02010609060101010101" pitchFamily="49" charset="-122"/>
                              </a:rPr>
                            </m:ctrlPr>
                          </m:dPr>
                          <m:e>
                            <m:sSub>
                              <m:sSubPr>
                                <m:ctrlPr>
                                  <a:rPr lang="en-US" altLang="zh-CN" sz="2000" i="1">
                                    <a:latin typeface="Cambria Math" panose="02040503050406030204" pitchFamily="18" charset="0"/>
                                    <a:ea typeface="黑体" panose="02010609060101010101" pitchFamily="49" charset="-122"/>
                                  </a:rPr>
                                </m:ctrlPr>
                              </m:sSubPr>
                              <m:e>
                                <m:r>
                                  <a:rPr lang="en-US" altLang="zh-CN" sz="2000" b="0" i="1" smtClean="0">
                                    <a:latin typeface="Cambria Math" panose="02040503050406030204" pitchFamily="18" charset="0"/>
                                    <a:ea typeface="黑体" panose="02010609060101010101" pitchFamily="49" charset="-122"/>
                                  </a:rPr>
                                  <m:t>𝑋</m:t>
                                </m:r>
                              </m:e>
                              <m:sub>
                                <m:r>
                                  <a:rPr lang="en-US" altLang="zh-CN" sz="2000" b="0" i="1" smtClean="0">
                                    <a:latin typeface="Cambria Math" panose="02040503050406030204" pitchFamily="18" charset="0"/>
                                    <a:ea typeface="黑体" panose="02010609060101010101" pitchFamily="49" charset="-122"/>
                                  </a:rPr>
                                  <m:t>𝑡</m:t>
                                </m:r>
                                <m:r>
                                  <a:rPr lang="en-US" altLang="zh-CN" sz="2000" b="0" i="1" smtClean="0">
                                    <a:latin typeface="Cambria Math" panose="02040503050406030204" pitchFamily="18" charset="0"/>
                                    <a:ea typeface="黑体" panose="02010609060101010101" pitchFamily="49" charset="-122"/>
                                  </a:rPr>
                                  <m:t>+1</m:t>
                                </m:r>
                              </m:sub>
                            </m:sSub>
                            <m:r>
                              <a:rPr lang="en-US" altLang="zh-CN" sz="2000" b="0" i="1" smtClean="0">
                                <a:latin typeface="Cambria Math" panose="02040503050406030204" pitchFamily="18" charset="0"/>
                                <a:ea typeface="黑体" panose="02010609060101010101" pitchFamily="49" charset="-122"/>
                              </a:rPr>
                              <m:t>=</m:t>
                            </m:r>
                            <m:sSub>
                              <m:sSubPr>
                                <m:ctrlPr>
                                  <a:rPr lang="en-US" altLang="zh-CN" sz="2000" i="1">
                                    <a:latin typeface="Cambria Math" panose="02040503050406030204" pitchFamily="18" charset="0"/>
                                    <a:ea typeface="黑体" panose="02010609060101010101" pitchFamily="49" charset="-122"/>
                                  </a:rPr>
                                </m:ctrlPr>
                              </m:sSubPr>
                              <m:e>
                                <m:r>
                                  <a:rPr lang="en-US" altLang="zh-CN" sz="2000" b="0" i="1" smtClean="0">
                                    <a:latin typeface="Cambria Math" panose="02040503050406030204" pitchFamily="18" charset="0"/>
                                    <a:ea typeface="黑体" panose="02010609060101010101" pitchFamily="49" charset="-122"/>
                                  </a:rPr>
                                  <m:t>𝑥</m:t>
                                </m:r>
                              </m:e>
                              <m:sub>
                                <m:r>
                                  <a:rPr lang="en-US" altLang="zh-CN" sz="2000" b="0" i="1" smtClean="0">
                                    <a:latin typeface="Cambria Math" panose="02040503050406030204" pitchFamily="18" charset="0"/>
                                    <a:ea typeface="黑体" panose="02010609060101010101" pitchFamily="49" charset="-122"/>
                                  </a:rPr>
                                  <m:t>𝑡</m:t>
                                </m:r>
                                <m:r>
                                  <a:rPr lang="en-US" altLang="zh-CN" sz="2000" b="0" i="1" smtClean="0">
                                    <a:latin typeface="Cambria Math" panose="02040503050406030204" pitchFamily="18" charset="0"/>
                                    <a:ea typeface="黑体" panose="02010609060101010101" pitchFamily="49" charset="-122"/>
                                  </a:rPr>
                                  <m:t>+1</m:t>
                                </m:r>
                              </m:sub>
                            </m:sSub>
                          </m:e>
                          <m:e>
                            <m:sSub>
                              <m:sSubPr>
                                <m:ctrlPr>
                                  <a:rPr lang="en-US" altLang="zh-CN" sz="2000" i="1">
                                    <a:latin typeface="Cambria Math" panose="02040503050406030204" pitchFamily="18" charset="0"/>
                                    <a:ea typeface="黑体" panose="02010609060101010101" pitchFamily="49" charset="-122"/>
                                  </a:rPr>
                                </m:ctrlPr>
                              </m:sSubPr>
                              <m:e>
                                <m:r>
                                  <a:rPr lang="en-US" altLang="zh-CN" sz="2000" b="0" i="1" smtClean="0">
                                    <a:latin typeface="Cambria Math" panose="02040503050406030204" pitchFamily="18" charset="0"/>
                                    <a:ea typeface="黑体" panose="02010609060101010101" pitchFamily="49" charset="-122"/>
                                  </a:rPr>
                                  <m:t>𝑋</m:t>
                                </m:r>
                              </m:e>
                              <m:sub>
                                <m:r>
                                  <a:rPr lang="en-US" altLang="zh-CN" sz="2000" b="0" i="1" smtClean="0">
                                    <a:latin typeface="Cambria Math" panose="02040503050406030204" pitchFamily="18" charset="0"/>
                                    <a:ea typeface="黑体" panose="02010609060101010101" pitchFamily="49" charset="-122"/>
                                  </a:rPr>
                                  <m:t>0</m:t>
                                </m:r>
                              </m:sub>
                            </m:sSub>
                            <m:r>
                              <a:rPr lang="en-US" altLang="zh-CN" sz="2000" b="0" i="1" smtClean="0">
                                <a:latin typeface="Cambria Math" panose="02040503050406030204" pitchFamily="18" charset="0"/>
                                <a:ea typeface="黑体" panose="02010609060101010101" pitchFamily="49" charset="-122"/>
                              </a:rPr>
                              <m:t>=</m:t>
                            </m:r>
                            <m:sSub>
                              <m:sSubPr>
                                <m:ctrlPr>
                                  <a:rPr lang="en-US" altLang="zh-CN" sz="2000" i="1">
                                    <a:latin typeface="Cambria Math" panose="02040503050406030204" pitchFamily="18" charset="0"/>
                                    <a:ea typeface="黑体" panose="02010609060101010101" pitchFamily="49" charset="-122"/>
                                  </a:rPr>
                                </m:ctrlPr>
                              </m:sSubPr>
                              <m:e>
                                <m:r>
                                  <a:rPr lang="en-US" altLang="zh-CN" sz="2000" b="0" i="1" smtClean="0">
                                    <a:latin typeface="Cambria Math" panose="02040503050406030204" pitchFamily="18" charset="0"/>
                                    <a:ea typeface="黑体" panose="02010609060101010101" pitchFamily="49" charset="-122"/>
                                  </a:rPr>
                                  <m:t>𝑥</m:t>
                                </m:r>
                              </m:e>
                              <m:sub>
                                <m:r>
                                  <a:rPr lang="en-US" altLang="zh-CN" sz="2000" b="0" i="1" smtClean="0">
                                    <a:latin typeface="Cambria Math" panose="02040503050406030204" pitchFamily="18" charset="0"/>
                                    <a:ea typeface="黑体" panose="02010609060101010101" pitchFamily="49" charset="-122"/>
                                  </a:rPr>
                                  <m:t>0</m:t>
                                </m:r>
                              </m:sub>
                            </m:sSub>
                            <m:r>
                              <a:rPr lang="en-US" altLang="zh-CN" sz="2000" b="0" i="1" smtClean="0">
                                <a:latin typeface="Cambria Math" panose="02040503050406030204" pitchFamily="18" charset="0"/>
                                <a:ea typeface="黑体" panose="02010609060101010101" pitchFamily="49" charset="-122"/>
                              </a:rPr>
                              <m:t>,</m:t>
                            </m:r>
                            <m:sSub>
                              <m:sSubPr>
                                <m:ctrlPr>
                                  <a:rPr lang="en-US" altLang="zh-CN" sz="2000" i="1">
                                    <a:latin typeface="Cambria Math" panose="02040503050406030204" pitchFamily="18" charset="0"/>
                                    <a:ea typeface="黑体" panose="02010609060101010101" pitchFamily="49" charset="-122"/>
                                  </a:rPr>
                                </m:ctrlPr>
                              </m:sSubPr>
                              <m:e>
                                <m:r>
                                  <a:rPr lang="en-US" altLang="zh-CN" sz="2000" b="0" i="1" smtClean="0">
                                    <a:latin typeface="Cambria Math" panose="02040503050406030204" pitchFamily="18" charset="0"/>
                                    <a:ea typeface="黑体" panose="02010609060101010101" pitchFamily="49" charset="-122"/>
                                  </a:rPr>
                                  <m:t>𝑋</m:t>
                                </m:r>
                              </m:e>
                              <m:sub>
                                <m:r>
                                  <a:rPr lang="en-US" altLang="zh-CN" sz="2000" b="0" i="1" smtClean="0">
                                    <a:latin typeface="Cambria Math" panose="02040503050406030204" pitchFamily="18" charset="0"/>
                                    <a:ea typeface="黑体" panose="02010609060101010101" pitchFamily="49" charset="-122"/>
                                  </a:rPr>
                                  <m:t>1</m:t>
                                </m:r>
                              </m:sub>
                            </m:sSub>
                            <m:r>
                              <a:rPr lang="en-US" altLang="zh-CN" sz="2000" b="0" i="1" smtClean="0">
                                <a:latin typeface="Cambria Math" panose="02040503050406030204" pitchFamily="18" charset="0"/>
                                <a:ea typeface="黑体" panose="02010609060101010101" pitchFamily="49" charset="-122"/>
                              </a:rPr>
                              <m:t>=</m:t>
                            </m:r>
                            <m:sSub>
                              <m:sSubPr>
                                <m:ctrlPr>
                                  <a:rPr lang="en-US" altLang="zh-CN" sz="2000" i="1">
                                    <a:latin typeface="Cambria Math" panose="02040503050406030204" pitchFamily="18" charset="0"/>
                                    <a:ea typeface="黑体" panose="02010609060101010101" pitchFamily="49" charset="-122"/>
                                  </a:rPr>
                                </m:ctrlPr>
                              </m:sSubPr>
                              <m:e>
                                <m:r>
                                  <a:rPr lang="en-US" altLang="zh-CN" sz="2000" b="0" i="1" smtClean="0">
                                    <a:latin typeface="Cambria Math" panose="02040503050406030204" pitchFamily="18" charset="0"/>
                                    <a:ea typeface="黑体" panose="02010609060101010101" pitchFamily="49" charset="-122"/>
                                  </a:rPr>
                                  <m:t>𝑥</m:t>
                                </m:r>
                              </m:e>
                              <m:sub>
                                <m:r>
                                  <a:rPr lang="en-US" altLang="zh-CN" sz="2000" b="0" i="1" smtClean="0">
                                    <a:latin typeface="Cambria Math" panose="02040503050406030204" pitchFamily="18" charset="0"/>
                                    <a:ea typeface="黑体" panose="02010609060101010101" pitchFamily="49" charset="-122"/>
                                  </a:rPr>
                                  <m:t>1</m:t>
                                </m:r>
                              </m:sub>
                            </m:sSub>
                            <m:r>
                              <a:rPr lang="en-US" altLang="zh-CN" sz="2000" b="0" i="1" smtClean="0">
                                <a:latin typeface="Cambria Math" panose="02040503050406030204" pitchFamily="18" charset="0"/>
                                <a:ea typeface="黑体" panose="02010609060101010101" pitchFamily="49" charset="-122"/>
                              </a:rPr>
                              <m:t>,⋯,</m:t>
                            </m:r>
                            <m:sSub>
                              <m:sSubPr>
                                <m:ctrlPr>
                                  <a:rPr lang="en-US" altLang="zh-CN" sz="2000" i="1">
                                    <a:latin typeface="Cambria Math" panose="02040503050406030204" pitchFamily="18" charset="0"/>
                                    <a:ea typeface="黑体" panose="02010609060101010101" pitchFamily="49" charset="-122"/>
                                  </a:rPr>
                                </m:ctrlPr>
                              </m:sSubPr>
                              <m:e>
                                <m:r>
                                  <a:rPr lang="en-US" altLang="zh-CN" sz="2000" b="0" i="1" smtClean="0">
                                    <a:latin typeface="Cambria Math" panose="02040503050406030204" pitchFamily="18" charset="0"/>
                                    <a:ea typeface="黑体" panose="02010609060101010101" pitchFamily="49" charset="-122"/>
                                  </a:rPr>
                                  <m:t>𝑋</m:t>
                                </m:r>
                              </m:e>
                              <m:sub>
                                <m:r>
                                  <a:rPr lang="en-US" altLang="zh-CN" sz="2000" b="0" i="1" smtClean="0">
                                    <a:latin typeface="Cambria Math" panose="02040503050406030204" pitchFamily="18" charset="0"/>
                                    <a:ea typeface="黑体" panose="02010609060101010101" pitchFamily="49" charset="-122"/>
                                  </a:rPr>
                                  <m:t>𝑡</m:t>
                                </m:r>
                              </m:sub>
                            </m:sSub>
                            <m:r>
                              <a:rPr lang="en-US" altLang="zh-CN" sz="2000" b="0" i="1" smtClean="0">
                                <a:latin typeface="Cambria Math" panose="02040503050406030204" pitchFamily="18" charset="0"/>
                                <a:ea typeface="黑体" panose="02010609060101010101" pitchFamily="49" charset="-122"/>
                              </a:rPr>
                              <m:t>=</m:t>
                            </m:r>
                            <m:sSub>
                              <m:sSubPr>
                                <m:ctrlPr>
                                  <a:rPr lang="en-US" altLang="zh-CN" sz="2000" i="1">
                                    <a:latin typeface="Cambria Math" panose="02040503050406030204" pitchFamily="18" charset="0"/>
                                    <a:ea typeface="黑体" panose="02010609060101010101" pitchFamily="49" charset="-122"/>
                                  </a:rPr>
                                </m:ctrlPr>
                              </m:sSubPr>
                              <m:e>
                                <m:r>
                                  <a:rPr lang="en-US" altLang="zh-CN" sz="2000" b="0" i="1" smtClean="0">
                                    <a:latin typeface="Cambria Math" panose="02040503050406030204" pitchFamily="18" charset="0"/>
                                    <a:ea typeface="黑体" panose="02010609060101010101" pitchFamily="49" charset="-122"/>
                                  </a:rPr>
                                  <m:t>𝑥</m:t>
                                </m:r>
                              </m:e>
                              <m:sub>
                                <m:r>
                                  <a:rPr lang="en-US" altLang="zh-CN" sz="2000" b="0" i="1" smtClean="0">
                                    <a:latin typeface="Cambria Math" panose="02040503050406030204" pitchFamily="18" charset="0"/>
                                    <a:ea typeface="黑体" panose="02010609060101010101" pitchFamily="49" charset="-122"/>
                                  </a:rPr>
                                  <m:t>𝑡</m:t>
                                </m:r>
                              </m:sub>
                            </m:sSub>
                          </m:e>
                        </m:d>
                        <m:r>
                          <a:rPr lang="en-US" altLang="zh-CN" sz="2000" b="0" i="1" smtClean="0">
                            <a:latin typeface="Cambria Math" panose="02040503050406030204" pitchFamily="18" charset="0"/>
                            <a:ea typeface="黑体" panose="02010609060101010101" pitchFamily="49" charset="-122"/>
                          </a:rPr>
                          <m:t>=</m:t>
                        </m:r>
                        <m:r>
                          <a:rPr lang="en-US" altLang="zh-CN" sz="2000" b="0" i="1" smtClean="0">
                            <a:latin typeface="Cambria Math" panose="02040503050406030204" pitchFamily="18" charset="0"/>
                            <a:ea typeface="黑体" panose="02010609060101010101" pitchFamily="49" charset="-122"/>
                          </a:rPr>
                          <m:t>𝑃𝑟</m:t>
                        </m:r>
                        <m:d>
                          <m:dPr>
                            <m:ctrlPr>
                              <a:rPr lang="en-US" altLang="zh-CN" sz="2000" i="1">
                                <a:latin typeface="Cambria Math" panose="02040503050406030204" pitchFamily="18" charset="0"/>
                                <a:ea typeface="黑体" panose="02010609060101010101" pitchFamily="49" charset="-122"/>
                              </a:rPr>
                            </m:ctrlPr>
                          </m:dPr>
                          <m:e>
                            <m:sSub>
                              <m:sSubPr>
                                <m:ctrlPr>
                                  <a:rPr lang="en-US" altLang="zh-CN" sz="2000" i="1">
                                    <a:latin typeface="Cambria Math" panose="02040503050406030204" pitchFamily="18" charset="0"/>
                                    <a:ea typeface="黑体" panose="02010609060101010101" pitchFamily="49" charset="-122"/>
                                  </a:rPr>
                                </m:ctrlPr>
                              </m:sSubPr>
                              <m:e>
                                <m:r>
                                  <a:rPr lang="en-US" altLang="zh-CN" sz="2000" b="0" i="1" smtClean="0">
                                    <a:latin typeface="Cambria Math" panose="02040503050406030204" pitchFamily="18" charset="0"/>
                                    <a:ea typeface="黑体" panose="02010609060101010101" pitchFamily="49" charset="-122"/>
                                  </a:rPr>
                                  <m:t>𝑋</m:t>
                                </m:r>
                              </m:e>
                              <m:sub>
                                <m:r>
                                  <a:rPr lang="en-US" altLang="zh-CN" sz="2000" b="0" i="1" smtClean="0">
                                    <a:latin typeface="Cambria Math" panose="02040503050406030204" pitchFamily="18" charset="0"/>
                                    <a:ea typeface="黑体" panose="02010609060101010101" pitchFamily="49" charset="-122"/>
                                  </a:rPr>
                                  <m:t>𝑡</m:t>
                                </m:r>
                                <m:r>
                                  <a:rPr lang="en-US" altLang="zh-CN" sz="2000" b="0" i="1" smtClean="0">
                                    <a:latin typeface="Cambria Math" panose="02040503050406030204" pitchFamily="18" charset="0"/>
                                    <a:ea typeface="黑体" panose="02010609060101010101" pitchFamily="49" charset="-122"/>
                                  </a:rPr>
                                  <m:t>+1</m:t>
                                </m:r>
                              </m:sub>
                            </m:sSub>
                            <m:r>
                              <a:rPr lang="en-US" altLang="zh-CN" sz="2000" b="0" i="1" smtClean="0">
                                <a:latin typeface="Cambria Math" panose="02040503050406030204" pitchFamily="18" charset="0"/>
                                <a:ea typeface="黑体" panose="02010609060101010101" pitchFamily="49" charset="-122"/>
                              </a:rPr>
                              <m:t>=</m:t>
                            </m:r>
                            <m:sSub>
                              <m:sSubPr>
                                <m:ctrlPr>
                                  <a:rPr lang="en-US" altLang="zh-CN" sz="2000" i="1">
                                    <a:latin typeface="Cambria Math" panose="02040503050406030204" pitchFamily="18" charset="0"/>
                                    <a:ea typeface="黑体" panose="02010609060101010101" pitchFamily="49" charset="-122"/>
                                  </a:rPr>
                                </m:ctrlPr>
                              </m:sSubPr>
                              <m:e>
                                <m:r>
                                  <a:rPr lang="en-US" altLang="zh-CN" sz="2000" b="0" i="1" smtClean="0">
                                    <a:latin typeface="Cambria Math" panose="02040503050406030204" pitchFamily="18" charset="0"/>
                                    <a:ea typeface="黑体" panose="02010609060101010101" pitchFamily="49" charset="-122"/>
                                  </a:rPr>
                                  <m:t>𝑥</m:t>
                                </m:r>
                              </m:e>
                              <m:sub>
                                <m:r>
                                  <a:rPr lang="en-US" altLang="zh-CN" sz="2000" b="0" i="1" smtClean="0">
                                    <a:latin typeface="Cambria Math" panose="02040503050406030204" pitchFamily="18" charset="0"/>
                                    <a:ea typeface="黑体" panose="02010609060101010101" pitchFamily="49" charset="-122"/>
                                  </a:rPr>
                                  <m:t>𝑡</m:t>
                                </m:r>
                                <m:r>
                                  <a:rPr lang="en-US" altLang="zh-CN" sz="2000" b="0" i="1" smtClean="0">
                                    <a:latin typeface="Cambria Math" panose="02040503050406030204" pitchFamily="18" charset="0"/>
                                    <a:ea typeface="黑体" panose="02010609060101010101" pitchFamily="49" charset="-122"/>
                                  </a:rPr>
                                  <m:t>+1</m:t>
                                </m:r>
                              </m:sub>
                            </m:sSub>
                          </m:e>
                          <m:e>
                            <m:sSub>
                              <m:sSubPr>
                                <m:ctrlPr>
                                  <a:rPr lang="en-US" altLang="zh-CN" sz="2000" i="1">
                                    <a:latin typeface="Cambria Math" panose="02040503050406030204" pitchFamily="18" charset="0"/>
                                    <a:ea typeface="黑体" panose="02010609060101010101" pitchFamily="49" charset="-122"/>
                                  </a:rPr>
                                </m:ctrlPr>
                              </m:sSubPr>
                              <m:e>
                                <m:r>
                                  <a:rPr lang="en-US" altLang="zh-CN" sz="2000" b="0" i="1" smtClean="0">
                                    <a:latin typeface="Cambria Math" panose="02040503050406030204" pitchFamily="18" charset="0"/>
                                    <a:ea typeface="黑体" panose="02010609060101010101" pitchFamily="49" charset="-122"/>
                                  </a:rPr>
                                  <m:t>𝑋</m:t>
                                </m:r>
                              </m:e>
                              <m:sub>
                                <m:r>
                                  <a:rPr lang="en-US" altLang="zh-CN" sz="2000" b="0" i="1" smtClean="0">
                                    <a:latin typeface="Cambria Math" panose="02040503050406030204" pitchFamily="18" charset="0"/>
                                    <a:ea typeface="黑体" panose="02010609060101010101" pitchFamily="49" charset="-122"/>
                                  </a:rPr>
                                  <m:t>𝑡</m:t>
                                </m:r>
                              </m:sub>
                            </m:sSub>
                            <m:r>
                              <a:rPr lang="en-US" altLang="zh-CN" sz="2000" b="0" i="1" smtClean="0">
                                <a:latin typeface="Cambria Math" panose="02040503050406030204" pitchFamily="18" charset="0"/>
                                <a:ea typeface="黑体" panose="02010609060101010101" pitchFamily="49" charset="-122"/>
                              </a:rPr>
                              <m:t> =</m:t>
                            </m:r>
                            <m:sSub>
                              <m:sSubPr>
                                <m:ctrlPr>
                                  <a:rPr lang="en-US" altLang="zh-CN" sz="2000" i="1">
                                    <a:latin typeface="Cambria Math" panose="02040503050406030204" pitchFamily="18" charset="0"/>
                                    <a:ea typeface="黑体" panose="02010609060101010101" pitchFamily="49" charset="-122"/>
                                  </a:rPr>
                                </m:ctrlPr>
                              </m:sSubPr>
                              <m:e>
                                <m:r>
                                  <a:rPr lang="en-US" altLang="zh-CN" sz="2000" b="0" i="1" smtClean="0">
                                    <a:latin typeface="Cambria Math" panose="02040503050406030204" pitchFamily="18" charset="0"/>
                                    <a:ea typeface="黑体" panose="02010609060101010101" pitchFamily="49" charset="-122"/>
                                  </a:rPr>
                                  <m:t>𝑥</m:t>
                                </m:r>
                              </m:e>
                              <m:sub>
                                <m:r>
                                  <a:rPr lang="en-US" altLang="zh-CN" sz="2000" b="0" i="1" smtClean="0">
                                    <a:latin typeface="Cambria Math" panose="02040503050406030204" pitchFamily="18" charset="0"/>
                                    <a:ea typeface="黑体" panose="02010609060101010101" pitchFamily="49" charset="-122"/>
                                  </a:rPr>
                                  <m:t>𝑡</m:t>
                                </m:r>
                              </m:sub>
                            </m:sSub>
                          </m:e>
                        </m:d>
                      </m:oMath>
                    </m:oMathPara>
                  </a14:m>
                  <a:endParaRPr lang="en-US" altLang="zh-CN" sz="20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5" name="矩形 4">
                  <a:extLst>
                    <a:ext uri="{FF2B5EF4-FFF2-40B4-BE49-F238E27FC236}">
                      <a16:creationId xmlns:a16="http://schemas.microsoft.com/office/drawing/2014/main" id="{C76D0282-2D4E-4059-8116-644E16DE0118}"/>
                    </a:ext>
                  </a:extLst>
                </p:cNvPr>
                <p:cNvSpPr>
                  <a:spLocks noRot="1" noChangeAspect="1" noMove="1" noResize="1" noEditPoints="1" noAdjustHandles="1" noChangeArrowheads="1" noChangeShapeType="1" noTextEdit="1"/>
                </p:cNvSpPr>
                <p:nvPr/>
              </p:nvSpPr>
              <p:spPr>
                <a:xfrm>
                  <a:off x="0" y="1126938"/>
                  <a:ext cx="9221117" cy="3344121"/>
                </a:xfrm>
                <a:prstGeom prst="rect">
                  <a:avLst/>
                </a:prstGeom>
                <a:blipFill>
                  <a:blip r:embed="rId3"/>
                  <a:stretch>
                    <a:fillRect l="-595" r="-66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63274E84-3A2A-46FF-A042-3508551BF05B}"/>
                    </a:ext>
                  </a:extLst>
                </p:cNvPr>
                <p:cNvSpPr/>
                <p:nvPr/>
              </p:nvSpPr>
              <p:spPr>
                <a:xfrm>
                  <a:off x="4955766" y="4965438"/>
                  <a:ext cx="3937488" cy="400110"/>
                </a:xfrm>
                <a:prstGeom prst="rect">
                  <a:avLst/>
                </a:prstGeom>
              </p:spPr>
              <p:txBody>
                <a:bodyPr wrap="none">
                  <a:spAutoFit/>
                </a:bodyPr>
                <a:lstStyle/>
                <a:p>
                  <a14:m>
                    <m:oMath xmlns:m="http://schemas.openxmlformats.org/officeDocument/2006/math">
                      <m:r>
                        <a:rPr lang="en-US" altLang="zh-CN" sz="2000" b="1" i="1" smtClean="0">
                          <a:solidFill>
                            <a:srgbClr val="FF0000"/>
                          </a:solidFill>
                          <a:latin typeface="Cambria Math"/>
                        </a:rPr>
                        <m:t>𝒕</m:t>
                      </m:r>
                      <m:r>
                        <a:rPr lang="en-US" altLang="zh-CN" sz="2000" b="1" i="1" smtClean="0">
                          <a:solidFill>
                            <a:srgbClr val="FF0000"/>
                          </a:solidFill>
                          <a:latin typeface="Cambria Math"/>
                        </a:rPr>
                        <m:t>+</m:t>
                      </m:r>
                      <m:r>
                        <a:rPr lang="en-US" altLang="zh-CN" sz="2000" b="1" i="1" smtClean="0">
                          <a:solidFill>
                            <a:srgbClr val="FF0000"/>
                          </a:solidFill>
                          <a:latin typeface="Cambria Math"/>
                        </a:rPr>
                        <m:t>𝟏</m:t>
                      </m:r>
                    </m:oMath>
                  </a14:m>
                  <a:r>
                    <a:rPr lang="zh-CN" altLang="en-US" sz="2000" b="1" dirty="0">
                      <a:solidFill>
                        <a:srgbClr val="FF0000"/>
                      </a:solidFill>
                      <a:latin typeface="微软雅黑" panose="020B0503020204020204" pitchFamily="34" charset="-122"/>
                      <a:ea typeface="微软雅黑" panose="020B0503020204020204" pitchFamily="34" charset="-122"/>
                    </a:rPr>
                    <a:t>时刻状态仅与</a:t>
                  </a:r>
                  <a14:m>
                    <m:oMath xmlns:m="http://schemas.openxmlformats.org/officeDocument/2006/math">
                      <m:r>
                        <a:rPr lang="en-US" altLang="zh-CN" sz="2000" b="1" i="1">
                          <a:solidFill>
                            <a:srgbClr val="FF0000"/>
                          </a:solidFill>
                          <a:latin typeface="Cambria Math"/>
                        </a:rPr>
                        <m:t>𝒕</m:t>
                      </m:r>
                    </m:oMath>
                  </a14:m>
                  <a:r>
                    <a:rPr lang="zh-CN" altLang="en-US" sz="2000" b="1" dirty="0">
                      <a:solidFill>
                        <a:srgbClr val="FF0000"/>
                      </a:solidFill>
                      <a:latin typeface="微软雅黑" panose="020B0503020204020204" pitchFamily="34" charset="-122"/>
                      <a:ea typeface="微软雅黑" panose="020B0503020204020204" pitchFamily="34" charset="-122"/>
                    </a:rPr>
                    <a:t>时刻状态相关</a:t>
                  </a:r>
                </a:p>
              </p:txBody>
            </p:sp>
          </mc:Choice>
          <mc:Fallback xmlns="">
            <p:sp>
              <p:nvSpPr>
                <p:cNvPr id="9" name="矩形 8"/>
                <p:cNvSpPr>
                  <a:spLocks noRot="1" noChangeAspect="1" noMove="1" noResize="1" noEditPoints="1" noAdjustHandles="1" noChangeArrowheads="1" noChangeShapeType="1" noTextEdit="1"/>
                </p:cNvSpPr>
                <p:nvPr/>
              </p:nvSpPr>
              <p:spPr>
                <a:xfrm>
                  <a:off x="4955766" y="4965438"/>
                  <a:ext cx="3937488" cy="400110"/>
                </a:xfrm>
                <a:prstGeom prst="rect">
                  <a:avLst/>
                </a:prstGeom>
                <a:blipFill>
                  <a:blip r:embed="rId4"/>
                  <a:stretch>
                    <a:fillRect t="-7576" r="-929" b="-25758"/>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3305895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离散马尔可夫链：引入奖励机制</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强化学习问题定义</a:t>
            </a:r>
          </a:p>
        </p:txBody>
      </p:sp>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CDF54F17-0BB4-430C-82EB-06AC29EA12C7}"/>
                  </a:ext>
                </a:extLst>
              </p:cNvPr>
              <p:cNvSpPr/>
              <p:nvPr/>
            </p:nvSpPr>
            <p:spPr>
              <a:xfrm>
                <a:off x="1306580" y="1538823"/>
                <a:ext cx="9816276" cy="2127955"/>
              </a:xfrm>
              <a:prstGeom prst="rect">
                <a:avLst/>
              </a:prstGeom>
            </p:spPr>
            <p:txBody>
              <a:bodyPr wrap="square">
                <a:spAutoFit/>
              </a:bodyPr>
              <a:lstStyle/>
              <a:p>
                <a:pPr>
                  <a:lnSpc>
                    <a:spcPct val="150000"/>
                  </a:lnSpc>
                </a:pP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为了在序列决策中对目标进行优化，在马尔可夫随机过程框架中加入了奖励机制：</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奖励函数</a:t>
                </a:r>
                <a14:m>
                  <m:oMath xmlns:m="http://schemas.openxmlformats.org/officeDocument/2006/math">
                    <m:r>
                      <a:rPr lang="en-US" altLang="zh-CN" b="1" i="1" smtClean="0">
                        <a:latin typeface="Cambria Math" panose="02040503050406030204" pitchFamily="18" charset="0"/>
                        <a:ea typeface="黑体" panose="02010609060101010101" pitchFamily="49" charset="-122"/>
                      </a:rPr>
                      <m:t>𝑹</m:t>
                    </m:r>
                    <m:r>
                      <a:rPr lang="en-US" altLang="zh-CN" b="1" i="1" smtClean="0">
                        <a:latin typeface="Cambria Math" panose="02040503050406030204" pitchFamily="18" charset="0"/>
                        <a:ea typeface="黑体" panose="02010609060101010101" pitchFamily="49" charset="-122"/>
                      </a:rPr>
                      <m:t>:</m:t>
                    </m:r>
                    <m:r>
                      <a:rPr lang="en-US" altLang="zh-CN" b="1" i="1" smtClean="0">
                        <a:latin typeface="Cambria Math" panose="02040503050406030204" pitchFamily="18" charset="0"/>
                        <a:ea typeface="黑体" panose="02010609060101010101" pitchFamily="49" charset="-122"/>
                      </a:rPr>
                      <m:t>𝑺</m:t>
                    </m:r>
                    <m:r>
                      <a:rPr lang="en-US" altLang="zh-CN" b="1" i="1" smtClean="0">
                        <a:latin typeface="Cambria Math" panose="02040503050406030204" pitchFamily="18" charset="0"/>
                        <a:ea typeface="黑体" panose="02010609060101010101" pitchFamily="49" charset="-122"/>
                      </a:rPr>
                      <m:t>×</m:t>
                    </m:r>
                    <m:r>
                      <a:rPr lang="en-US" altLang="zh-CN" b="1" i="1" smtClean="0">
                        <a:latin typeface="Cambria Math" panose="02040503050406030204" pitchFamily="18" charset="0"/>
                        <a:ea typeface="黑体" panose="02010609060101010101" pitchFamily="49" charset="-122"/>
                      </a:rPr>
                      <m:t>𝑺</m:t>
                    </m:r>
                    <m:r>
                      <a:rPr lang="en-US" altLang="zh-CN" b="1" i="1" smtClean="0">
                        <a:latin typeface="Cambria Math" panose="02040503050406030204" pitchFamily="18" charset="0"/>
                        <a:ea typeface="黑体" panose="02010609060101010101" pitchFamily="49" charset="-122"/>
                      </a:rPr>
                      <m:t>↦</m:t>
                    </m:r>
                    <m:r>
                      <a:rPr lang="en-US" altLang="zh-CN" b="1" i="1" smtClean="0">
                        <a:latin typeface="Cambria Math" panose="02040503050406030204" pitchFamily="18" charset="0"/>
                        <a:ea typeface="Cambria Math" panose="02040503050406030204" pitchFamily="18" charset="0"/>
                      </a:rPr>
                      <m:t>ℝ</m:t>
                    </m:r>
                    <m:r>
                      <a:rPr lang="zh-CN" altLang="en-US" b="1" i="1" smtClean="0">
                        <a:latin typeface="Cambria Math" panose="02040503050406030204" pitchFamily="18" charset="0"/>
                        <a:ea typeface="Cambria Math" panose="02040503050406030204" pitchFamily="18" charset="0"/>
                      </a:rPr>
                      <m:t>，</m:t>
                    </m:r>
                  </m:oMath>
                </a14:m>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其中</a:t>
                </a:r>
                <a14:m>
                  <m:oMath xmlns:m="http://schemas.openxmlformats.org/officeDocument/2006/math">
                    <m:r>
                      <a:rPr lang="en-US" altLang="zh-CN" b="1" i="1" dirty="0" smtClean="0">
                        <a:latin typeface="Cambria Math" panose="02040503050406030204" pitchFamily="18" charset="0"/>
                        <a:ea typeface="黑体" panose="02010609060101010101" pitchFamily="49" charset="-122"/>
                      </a:rPr>
                      <m:t>𝑹</m:t>
                    </m:r>
                    <m:r>
                      <a:rPr lang="en-US" altLang="zh-CN" b="1" i="1" dirty="0" smtClean="0">
                        <a:latin typeface="Cambria Math" panose="02040503050406030204" pitchFamily="18" charset="0"/>
                        <a:ea typeface="黑体" panose="02010609060101010101" pitchFamily="49" charset="-122"/>
                      </a:rPr>
                      <m:t>(</m:t>
                    </m:r>
                    <m:sSub>
                      <m:sSubPr>
                        <m:ctrlPr>
                          <a:rPr lang="en-US" altLang="zh-CN" b="1" i="1" dirty="0" smtClean="0">
                            <a:latin typeface="Cambria Math" panose="02040503050406030204" pitchFamily="18" charset="0"/>
                            <a:ea typeface="黑体" panose="02010609060101010101" pitchFamily="49" charset="-122"/>
                          </a:rPr>
                        </m:ctrlPr>
                      </m:sSubPr>
                      <m:e>
                        <m:r>
                          <a:rPr lang="en-US" altLang="zh-CN" b="1" i="1" dirty="0" smtClean="0">
                            <a:latin typeface="Cambria Math" panose="02040503050406030204" pitchFamily="18" charset="0"/>
                            <a:ea typeface="黑体" panose="02010609060101010101" pitchFamily="49" charset="-122"/>
                          </a:rPr>
                          <m:t>𝑺</m:t>
                        </m:r>
                      </m:e>
                      <m:sub>
                        <m:r>
                          <a:rPr lang="en-US" altLang="zh-CN" b="1" i="1" dirty="0" smtClean="0">
                            <a:latin typeface="Cambria Math" panose="02040503050406030204" pitchFamily="18" charset="0"/>
                            <a:ea typeface="黑体" panose="02010609060101010101" pitchFamily="49" charset="-122"/>
                          </a:rPr>
                          <m:t>𝒕</m:t>
                        </m:r>
                      </m:sub>
                    </m:sSub>
                    <m:r>
                      <a:rPr lang="en-US" altLang="zh-CN" b="1" i="1" dirty="0" smtClean="0">
                        <a:latin typeface="Cambria Math" panose="02040503050406030204" pitchFamily="18" charset="0"/>
                        <a:ea typeface="黑体" panose="02010609060101010101" pitchFamily="49" charset="-122"/>
                      </a:rPr>
                      <m:t>,</m:t>
                    </m:r>
                    <m:sSub>
                      <m:sSubPr>
                        <m:ctrlPr>
                          <a:rPr lang="en-US" altLang="zh-CN" b="1" i="1" dirty="0" smtClean="0">
                            <a:latin typeface="Cambria Math" panose="02040503050406030204" pitchFamily="18" charset="0"/>
                            <a:ea typeface="黑体" panose="02010609060101010101" pitchFamily="49" charset="-122"/>
                          </a:rPr>
                        </m:ctrlPr>
                      </m:sSubPr>
                      <m:e>
                        <m:r>
                          <a:rPr lang="en-US" altLang="zh-CN" b="1" i="1" dirty="0" smtClean="0">
                            <a:latin typeface="Cambria Math" panose="02040503050406030204" pitchFamily="18" charset="0"/>
                            <a:ea typeface="黑体" panose="02010609060101010101" pitchFamily="49" charset="-122"/>
                          </a:rPr>
                          <m:t>𝑺</m:t>
                        </m:r>
                      </m:e>
                      <m:sub>
                        <m:r>
                          <a:rPr lang="en-US" altLang="zh-CN" b="1" i="1" dirty="0" smtClean="0">
                            <a:latin typeface="Cambria Math" panose="02040503050406030204" pitchFamily="18" charset="0"/>
                            <a:ea typeface="黑体" panose="02010609060101010101" pitchFamily="49" charset="-122"/>
                          </a:rPr>
                          <m:t>𝒕</m:t>
                        </m:r>
                        <m:r>
                          <a:rPr lang="en-US" altLang="zh-CN" b="1" i="1" dirty="0" smtClean="0">
                            <a:latin typeface="Cambria Math" panose="02040503050406030204" pitchFamily="18" charset="0"/>
                            <a:ea typeface="黑体" panose="02010609060101010101" pitchFamily="49" charset="-122"/>
                          </a:rPr>
                          <m:t>+</m:t>
                        </m:r>
                        <m:r>
                          <a:rPr lang="en-US" altLang="zh-CN" b="1" i="1" dirty="0" smtClean="0">
                            <a:latin typeface="Cambria Math" panose="02040503050406030204" pitchFamily="18" charset="0"/>
                            <a:ea typeface="黑体" panose="02010609060101010101" pitchFamily="49" charset="-122"/>
                          </a:rPr>
                          <m:t>𝟏</m:t>
                        </m:r>
                      </m:sub>
                    </m:sSub>
                    <m:r>
                      <a:rPr lang="en-US" altLang="zh-CN" b="1" i="1" dirty="0" smtClean="0">
                        <a:latin typeface="Cambria Math" panose="02040503050406030204" pitchFamily="18" charset="0"/>
                        <a:ea typeface="黑体" panose="02010609060101010101" pitchFamily="49" charset="-122"/>
                      </a:rPr>
                      <m:t>)</m:t>
                    </m:r>
                  </m:oMath>
                </a14:m>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描述了从第</a:t>
                </a:r>
                <a14:m>
                  <m:oMath xmlns:m="http://schemas.openxmlformats.org/officeDocument/2006/math">
                    <m:r>
                      <a:rPr lang="en-US" altLang="zh-CN" b="1" i="1" smtClean="0">
                        <a:latin typeface="Cambria Math" panose="02040503050406030204" pitchFamily="18" charset="0"/>
                        <a:ea typeface="黑体" panose="02010609060101010101" pitchFamily="49" charset="-122"/>
                      </a:rPr>
                      <m:t>𝒕</m:t>
                    </m:r>
                  </m:oMath>
                </a14:m>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步状态转移到第 </a:t>
                </a:r>
                <a14:m>
                  <m:oMath xmlns:m="http://schemas.openxmlformats.org/officeDocument/2006/math">
                    <m:r>
                      <a:rPr lang="en-US" altLang="zh-CN" b="1" i="1" smtClean="0">
                        <a:latin typeface="Cambria Math" panose="02040503050406030204" pitchFamily="18" charset="0"/>
                        <a:ea typeface="黑体" panose="02010609060101010101" pitchFamily="49" charset="-122"/>
                      </a:rPr>
                      <m:t>𝒕</m:t>
                    </m:r>
                    <m:r>
                      <a:rPr lang="en-US" altLang="zh-CN" b="1" i="1" smtClean="0">
                        <a:latin typeface="Cambria Math" panose="02040503050406030204" pitchFamily="18" charset="0"/>
                        <a:ea typeface="黑体" panose="02010609060101010101" pitchFamily="49" charset="-122"/>
                      </a:rPr>
                      <m:t>+</m:t>
                    </m:r>
                    <m:r>
                      <a:rPr lang="en-US" altLang="zh-CN" b="1" i="1" smtClean="0">
                        <a:latin typeface="Cambria Math" panose="02040503050406030204" pitchFamily="18" charset="0"/>
                        <a:ea typeface="黑体" panose="02010609060101010101" pitchFamily="49" charset="-122"/>
                      </a:rPr>
                      <m:t>𝟏</m:t>
                    </m:r>
                  </m:oMath>
                </a14:m>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步状态所获得奖励</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在一个序列决策过程中，不同状态之间的转移产生了一系列的奖励</a:t>
                </a:r>
                <a14:m>
                  <m:oMath xmlns:m="http://schemas.openxmlformats.org/officeDocument/2006/math">
                    <m:d>
                      <m:dPr>
                        <m:ctrlPr>
                          <a:rPr lang="en-US" altLang="zh-CN" b="1" i="1" smtClean="0">
                            <a:latin typeface="Cambria Math" panose="02040503050406030204" pitchFamily="18" charset="0"/>
                            <a:ea typeface="黑体" panose="02010609060101010101" pitchFamily="49" charset="-122"/>
                          </a:rPr>
                        </m:ctrlPr>
                      </m:dPr>
                      <m:e>
                        <m:sSub>
                          <m:sSubPr>
                            <m:ctrlPr>
                              <a:rPr lang="en-US" altLang="zh-CN" b="1" i="1" smtClean="0">
                                <a:latin typeface="Cambria Math" panose="02040503050406030204" pitchFamily="18" charset="0"/>
                                <a:ea typeface="黑体" panose="02010609060101010101" pitchFamily="49" charset="-122"/>
                              </a:rPr>
                            </m:ctrlPr>
                          </m:sSubPr>
                          <m:e>
                            <m:r>
                              <a:rPr lang="en-US" altLang="zh-CN" b="1" i="1" smtClean="0">
                                <a:latin typeface="Cambria Math" panose="02040503050406030204" pitchFamily="18" charset="0"/>
                                <a:ea typeface="黑体" panose="02010609060101010101" pitchFamily="49" charset="-122"/>
                              </a:rPr>
                              <m:t>𝑹</m:t>
                            </m:r>
                          </m:e>
                          <m:sub>
                            <m:r>
                              <a:rPr lang="en-US" altLang="zh-CN" b="1" i="1" smtClean="0">
                                <a:latin typeface="Cambria Math" panose="02040503050406030204" pitchFamily="18" charset="0"/>
                                <a:ea typeface="黑体" panose="02010609060101010101" pitchFamily="49" charset="-122"/>
                              </a:rPr>
                              <m:t>𝟏</m:t>
                            </m:r>
                          </m:sub>
                        </m:sSub>
                        <m:r>
                          <a:rPr lang="en-US" altLang="zh-CN" b="1" i="1" smtClean="0">
                            <a:latin typeface="Cambria Math" panose="02040503050406030204" pitchFamily="18" charset="0"/>
                            <a:ea typeface="黑体" panose="02010609060101010101" pitchFamily="49" charset="-122"/>
                          </a:rPr>
                          <m:t>,</m:t>
                        </m:r>
                        <m:sSub>
                          <m:sSubPr>
                            <m:ctrlPr>
                              <a:rPr lang="en-US" altLang="zh-CN" b="1" i="1" smtClean="0">
                                <a:latin typeface="Cambria Math" panose="02040503050406030204" pitchFamily="18" charset="0"/>
                                <a:ea typeface="黑体" panose="02010609060101010101" pitchFamily="49" charset="-122"/>
                              </a:rPr>
                            </m:ctrlPr>
                          </m:sSubPr>
                          <m:e>
                            <m:r>
                              <a:rPr lang="en-US" altLang="zh-CN" b="1" i="1" smtClean="0">
                                <a:latin typeface="Cambria Math" panose="02040503050406030204" pitchFamily="18" charset="0"/>
                                <a:ea typeface="黑体" panose="02010609060101010101" pitchFamily="49" charset="-122"/>
                              </a:rPr>
                              <m:t>𝑹</m:t>
                            </m:r>
                          </m:e>
                          <m:sub>
                            <m:r>
                              <a:rPr lang="en-US" altLang="zh-CN" b="1" i="1" smtClean="0">
                                <a:latin typeface="Cambria Math" panose="02040503050406030204" pitchFamily="18" charset="0"/>
                                <a:ea typeface="黑体" panose="02010609060101010101" pitchFamily="49" charset="-122"/>
                              </a:rPr>
                              <m:t>𝟐</m:t>
                            </m:r>
                          </m:sub>
                        </m:sSub>
                        <m:r>
                          <a:rPr lang="en-US" altLang="zh-CN" b="1" i="1" smtClean="0">
                            <a:latin typeface="Cambria Math" panose="02040503050406030204" pitchFamily="18" charset="0"/>
                            <a:ea typeface="黑体" panose="02010609060101010101" pitchFamily="49" charset="-122"/>
                          </a:rPr>
                          <m:t>,⋯</m:t>
                        </m:r>
                      </m:e>
                    </m:d>
                  </m:oMath>
                </a14:m>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，其中</a:t>
                </a:r>
                <a14:m>
                  <m:oMath xmlns:m="http://schemas.openxmlformats.org/officeDocument/2006/math">
                    <m:sSub>
                      <m:sSubPr>
                        <m:ctrlPr>
                          <a:rPr lang="en-US" altLang="zh-CN" b="1" i="1" smtClean="0">
                            <a:latin typeface="Cambria Math" panose="02040503050406030204" pitchFamily="18" charset="0"/>
                            <a:ea typeface="黑体" panose="02010609060101010101" pitchFamily="49" charset="-122"/>
                          </a:rPr>
                        </m:ctrlPr>
                      </m:sSubPr>
                      <m:e>
                        <m:r>
                          <a:rPr lang="en-US" altLang="zh-CN" b="1" i="1" smtClean="0">
                            <a:latin typeface="Cambria Math" panose="02040503050406030204" pitchFamily="18" charset="0"/>
                            <a:ea typeface="黑体" panose="02010609060101010101" pitchFamily="49" charset="-122"/>
                          </a:rPr>
                          <m:t>𝑹</m:t>
                        </m:r>
                      </m:e>
                      <m:sub>
                        <m:r>
                          <a:rPr lang="en-US" altLang="zh-CN" b="1" i="1" smtClean="0">
                            <a:latin typeface="Cambria Math" panose="02040503050406030204" pitchFamily="18" charset="0"/>
                            <a:ea typeface="黑体" panose="02010609060101010101" pitchFamily="49" charset="-122"/>
                          </a:rPr>
                          <m:t>𝒕</m:t>
                        </m:r>
                        <m:r>
                          <a:rPr lang="en-US" altLang="zh-CN" b="1" i="1" smtClean="0">
                            <a:latin typeface="Cambria Math" panose="02040503050406030204" pitchFamily="18" charset="0"/>
                            <a:ea typeface="黑体" panose="02010609060101010101" pitchFamily="49" charset="-122"/>
                          </a:rPr>
                          <m:t>+</m:t>
                        </m:r>
                        <m:r>
                          <a:rPr lang="en-US" altLang="zh-CN" b="1" i="1" smtClean="0">
                            <a:latin typeface="Cambria Math" panose="02040503050406030204" pitchFamily="18" charset="0"/>
                            <a:ea typeface="黑体" panose="02010609060101010101" pitchFamily="49" charset="-122"/>
                          </a:rPr>
                          <m:t>𝟏</m:t>
                        </m:r>
                      </m:sub>
                    </m:sSub>
                  </m:oMath>
                </a14:m>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为</a:t>
                </a:r>
                <a14:m>
                  <m:oMath xmlns:m="http://schemas.openxmlformats.org/officeDocument/2006/math">
                    <m:r>
                      <a:rPr lang="en-US" altLang="zh-CN" b="1" i="1" smtClean="0">
                        <a:latin typeface="Cambria Math" panose="02040503050406030204" pitchFamily="18" charset="0"/>
                        <a:ea typeface="黑体" panose="02010609060101010101" pitchFamily="49" charset="-122"/>
                      </a:rPr>
                      <m:t>𝑹</m:t>
                    </m:r>
                    <m:r>
                      <a:rPr lang="en-US" altLang="zh-CN" b="1" i="1" smtClean="0">
                        <a:latin typeface="Cambria Math" panose="02040503050406030204" pitchFamily="18" charset="0"/>
                        <a:ea typeface="黑体" panose="02010609060101010101" pitchFamily="49" charset="-122"/>
                      </a:rPr>
                      <m:t>(</m:t>
                    </m:r>
                    <m:sSub>
                      <m:sSubPr>
                        <m:ctrlPr>
                          <a:rPr lang="en-US" altLang="zh-CN" b="1" i="1">
                            <a:latin typeface="Cambria Math" panose="02040503050406030204" pitchFamily="18" charset="0"/>
                            <a:ea typeface="黑体" panose="02010609060101010101" pitchFamily="49" charset="-122"/>
                          </a:rPr>
                        </m:ctrlPr>
                      </m:sSubPr>
                      <m:e>
                        <m:r>
                          <a:rPr lang="en-US" altLang="zh-CN" b="1" i="1" smtClean="0">
                            <a:latin typeface="Cambria Math" panose="02040503050406030204" pitchFamily="18" charset="0"/>
                            <a:ea typeface="黑体" panose="02010609060101010101" pitchFamily="49" charset="-122"/>
                          </a:rPr>
                          <m:t>𝑺</m:t>
                        </m:r>
                      </m:e>
                      <m:sub>
                        <m:r>
                          <a:rPr lang="en-US" altLang="zh-CN" b="1" i="1" smtClean="0">
                            <a:latin typeface="Cambria Math" panose="02040503050406030204" pitchFamily="18" charset="0"/>
                            <a:ea typeface="黑体" panose="02010609060101010101" pitchFamily="49" charset="-122"/>
                          </a:rPr>
                          <m:t>𝒕</m:t>
                        </m:r>
                      </m:sub>
                    </m:sSub>
                    <m:r>
                      <a:rPr lang="en-US" altLang="zh-CN" b="1" i="1" smtClean="0">
                        <a:latin typeface="Cambria Math" panose="02040503050406030204" pitchFamily="18" charset="0"/>
                        <a:ea typeface="黑体" panose="02010609060101010101" pitchFamily="49" charset="-122"/>
                      </a:rPr>
                      <m:t>,</m:t>
                    </m:r>
                    <m:sSub>
                      <m:sSubPr>
                        <m:ctrlPr>
                          <a:rPr lang="en-US" altLang="zh-CN" b="1" i="1">
                            <a:latin typeface="Cambria Math" panose="02040503050406030204" pitchFamily="18" charset="0"/>
                            <a:ea typeface="黑体" panose="02010609060101010101" pitchFamily="49" charset="-122"/>
                          </a:rPr>
                        </m:ctrlPr>
                      </m:sSubPr>
                      <m:e>
                        <m:r>
                          <a:rPr lang="en-US" altLang="zh-CN" b="1" i="1" smtClean="0">
                            <a:latin typeface="Cambria Math" panose="02040503050406030204" pitchFamily="18" charset="0"/>
                            <a:ea typeface="黑体" panose="02010609060101010101" pitchFamily="49" charset="-122"/>
                          </a:rPr>
                          <m:t>𝑺</m:t>
                        </m:r>
                      </m:e>
                      <m:sub>
                        <m:r>
                          <a:rPr lang="en-US" altLang="zh-CN" b="1" i="1" smtClean="0">
                            <a:latin typeface="Cambria Math" panose="02040503050406030204" pitchFamily="18" charset="0"/>
                            <a:ea typeface="黑体" panose="02010609060101010101" pitchFamily="49" charset="-122"/>
                          </a:rPr>
                          <m:t>𝒕</m:t>
                        </m:r>
                        <m:r>
                          <a:rPr lang="en-US" altLang="zh-CN" b="1" i="1" smtClean="0">
                            <a:latin typeface="Cambria Math" panose="02040503050406030204" pitchFamily="18" charset="0"/>
                            <a:ea typeface="黑体" panose="02010609060101010101" pitchFamily="49" charset="-122"/>
                          </a:rPr>
                          <m:t>+</m:t>
                        </m:r>
                        <m:r>
                          <a:rPr lang="en-US" altLang="zh-CN" b="1" i="1" smtClean="0">
                            <a:latin typeface="Cambria Math" panose="02040503050406030204" pitchFamily="18" charset="0"/>
                            <a:ea typeface="黑体" panose="02010609060101010101" pitchFamily="49" charset="-122"/>
                          </a:rPr>
                          <m:t>𝟏</m:t>
                        </m:r>
                      </m:sub>
                    </m:sSub>
                    <m:r>
                      <a:rPr lang="en-US" altLang="zh-CN" b="1" i="1" smtClean="0">
                        <a:latin typeface="Cambria Math" panose="02040503050406030204" pitchFamily="18" charset="0"/>
                        <a:ea typeface="黑体" panose="02010609060101010101" pitchFamily="49" charset="-122"/>
                      </a:rPr>
                      <m:t>)</m:t>
                    </m:r>
                  </m:oMath>
                </a14:m>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的简便记法。</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引入奖励机制，这样可以衡量任意序列的优劣，即对序列决策进行评价。</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4" name="矩形 13">
                <a:extLst>
                  <a:ext uri="{FF2B5EF4-FFF2-40B4-BE49-F238E27FC236}">
                    <a16:creationId xmlns:a16="http://schemas.microsoft.com/office/drawing/2014/main" id="{CDF54F17-0BB4-430C-82EB-06AC29EA12C7}"/>
                  </a:ext>
                </a:extLst>
              </p:cNvPr>
              <p:cNvSpPr>
                <a:spLocks noRot="1" noChangeAspect="1" noMove="1" noResize="1" noEditPoints="1" noAdjustHandles="1" noChangeArrowheads="1" noChangeShapeType="1" noTextEdit="1"/>
              </p:cNvSpPr>
              <p:nvPr/>
            </p:nvSpPr>
            <p:spPr>
              <a:xfrm>
                <a:off x="1306580" y="1538823"/>
                <a:ext cx="9816276" cy="2127955"/>
              </a:xfrm>
              <a:prstGeom prst="rect">
                <a:avLst/>
              </a:prstGeom>
              <a:blipFill>
                <a:blip r:embed="rId3"/>
                <a:stretch>
                  <a:fillRect l="-497" b="-37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A7DC05E9-E465-47BC-B1AD-67B3934125A1}"/>
                  </a:ext>
                </a:extLst>
              </p:cNvPr>
              <p:cNvSpPr/>
              <p:nvPr/>
            </p:nvSpPr>
            <p:spPr>
              <a:xfrm>
                <a:off x="1970728" y="3836873"/>
                <a:ext cx="7507706" cy="883768"/>
              </a:xfrm>
              <a:prstGeom prst="rect">
                <a:avLst/>
              </a:prstGeom>
            </p:spPr>
            <p:txBody>
              <a:bodyPr wrap="square">
                <a:spAutoFit/>
              </a:bodyPr>
              <a:lstStyle/>
              <a:p>
                <a:pPr algn="ctr">
                  <a:lnSpc>
                    <a:spcPct val="150000"/>
                  </a:lnSpc>
                </a:pP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问题：</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给定两个因为状态转移而产生的奖励序列</a:t>
                </a:r>
                <a14:m>
                  <m:oMath xmlns:m="http://schemas.openxmlformats.org/officeDocument/2006/math">
                    <m:r>
                      <a:rPr lang="en-US" altLang="zh-CN" b="1" i="1" smtClean="0">
                        <a:latin typeface="Cambria Math" panose="02040503050406030204" pitchFamily="18" charset="0"/>
                        <a:ea typeface="黑体" panose="02010609060101010101" pitchFamily="49" charset="-122"/>
                      </a:rPr>
                      <m:t>(</m:t>
                    </m:r>
                    <m:r>
                      <a:rPr lang="en-US" altLang="zh-CN" b="1" i="1" smtClean="0">
                        <a:latin typeface="Cambria Math" panose="02040503050406030204" pitchFamily="18" charset="0"/>
                        <a:ea typeface="黑体" panose="02010609060101010101" pitchFamily="49" charset="-122"/>
                      </a:rPr>
                      <m:t>𝟏</m:t>
                    </m:r>
                    <m:r>
                      <a:rPr lang="en-US" altLang="zh-CN" b="1" i="1" smtClean="0">
                        <a:latin typeface="Cambria Math" panose="02040503050406030204" pitchFamily="18" charset="0"/>
                        <a:ea typeface="黑体" panose="02010609060101010101" pitchFamily="49" charset="-122"/>
                      </a:rPr>
                      <m:t>,</m:t>
                    </m:r>
                    <m:r>
                      <a:rPr lang="en-US" altLang="zh-CN" b="1" i="1" smtClean="0">
                        <a:latin typeface="Cambria Math"/>
                        <a:ea typeface="黑体" panose="02010609060101010101" pitchFamily="49" charset="-122"/>
                      </a:rPr>
                      <m:t>𝟏</m:t>
                    </m:r>
                    <m:r>
                      <a:rPr lang="en-US" altLang="zh-CN" b="1" i="1" smtClean="0">
                        <a:latin typeface="Cambria Math" panose="02040503050406030204" pitchFamily="18" charset="0"/>
                        <a:ea typeface="黑体" panose="02010609060101010101" pitchFamily="49" charset="-122"/>
                      </a:rPr>
                      <m:t>,</m:t>
                    </m:r>
                    <m:r>
                      <a:rPr lang="en-US" altLang="zh-CN" b="1" i="1" smtClean="0">
                        <a:latin typeface="Cambria Math" panose="02040503050406030204" pitchFamily="18" charset="0"/>
                        <a:ea typeface="黑体" panose="02010609060101010101" pitchFamily="49" charset="-122"/>
                      </a:rPr>
                      <m:t>𝟎</m:t>
                    </m:r>
                    <m:r>
                      <a:rPr lang="en-US" altLang="zh-CN" b="1" i="1" smtClean="0">
                        <a:latin typeface="Cambria Math" panose="02040503050406030204" pitchFamily="18" charset="0"/>
                        <a:ea typeface="黑体" panose="02010609060101010101" pitchFamily="49" charset="-122"/>
                      </a:rPr>
                      <m:t>,</m:t>
                    </m:r>
                    <m:r>
                      <a:rPr lang="en-US" altLang="zh-CN" b="1" i="1" smtClean="0">
                        <a:latin typeface="Cambria Math"/>
                        <a:ea typeface="黑体" panose="02010609060101010101" pitchFamily="49" charset="-122"/>
                      </a:rPr>
                      <m:t>𝟎</m:t>
                    </m:r>
                    <m:r>
                      <a:rPr lang="en-US" altLang="zh-CN" b="1" i="1" smtClean="0">
                        <a:latin typeface="Cambria Math" panose="02040503050406030204" pitchFamily="18" charset="0"/>
                        <a:ea typeface="黑体" panose="02010609060101010101" pitchFamily="49" charset="-122"/>
                      </a:rPr>
                      <m:t>)</m:t>
                    </m:r>
                  </m:oMath>
                </a14:m>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和</a:t>
                </a:r>
                <a14:m>
                  <m:oMath xmlns:m="http://schemas.openxmlformats.org/officeDocument/2006/math">
                    <m:d>
                      <m:dPr>
                        <m:ctrlPr>
                          <a:rPr lang="en-US" altLang="zh-CN" b="1" i="1" dirty="0" smtClean="0">
                            <a:latin typeface="Cambria Math" panose="02040503050406030204" pitchFamily="18" charset="0"/>
                            <a:ea typeface="黑体" panose="02010609060101010101" pitchFamily="49" charset="-122"/>
                          </a:rPr>
                        </m:ctrlPr>
                      </m:dPr>
                      <m:e>
                        <m:r>
                          <a:rPr lang="en-US" altLang="zh-CN" b="1" i="1" dirty="0" smtClean="0">
                            <a:latin typeface="Cambria Math" panose="02040503050406030204" pitchFamily="18" charset="0"/>
                            <a:ea typeface="黑体" panose="02010609060101010101" pitchFamily="49" charset="-122"/>
                          </a:rPr>
                          <m:t>𝟎</m:t>
                        </m:r>
                        <m:r>
                          <a:rPr lang="en-US" altLang="zh-CN" b="1" i="1" dirty="0" smtClean="0">
                            <a:latin typeface="Cambria Math" panose="02040503050406030204" pitchFamily="18" charset="0"/>
                            <a:ea typeface="黑体" panose="02010609060101010101" pitchFamily="49" charset="-122"/>
                          </a:rPr>
                          <m:t>,</m:t>
                        </m:r>
                        <m:r>
                          <a:rPr lang="en-US" altLang="zh-CN" b="1" i="1" dirty="0" smtClean="0">
                            <a:latin typeface="Cambria Math"/>
                            <a:ea typeface="黑体" panose="02010609060101010101" pitchFamily="49" charset="-122"/>
                          </a:rPr>
                          <m:t>𝟎</m:t>
                        </m:r>
                        <m:r>
                          <a:rPr lang="en-US" altLang="zh-CN" b="1" i="1" dirty="0" smtClean="0">
                            <a:latin typeface="Cambria Math" panose="02040503050406030204" pitchFamily="18" charset="0"/>
                            <a:ea typeface="黑体" panose="02010609060101010101" pitchFamily="49" charset="-122"/>
                          </a:rPr>
                          <m:t>,</m:t>
                        </m:r>
                        <m:r>
                          <a:rPr lang="en-US" altLang="zh-CN" b="1" i="1" dirty="0" smtClean="0">
                            <a:latin typeface="Cambria Math"/>
                            <a:ea typeface="黑体" panose="02010609060101010101" pitchFamily="49" charset="-122"/>
                          </a:rPr>
                          <m:t>𝟏</m:t>
                        </m:r>
                        <m:r>
                          <a:rPr lang="en-US" altLang="zh-CN" b="1" i="1" dirty="0" smtClean="0">
                            <a:latin typeface="Cambria Math" panose="02040503050406030204" pitchFamily="18" charset="0"/>
                            <a:ea typeface="黑体" panose="02010609060101010101" pitchFamily="49" charset="-122"/>
                          </a:rPr>
                          <m:t>,</m:t>
                        </m:r>
                        <m:r>
                          <a:rPr lang="en-US" altLang="zh-CN" b="1" i="1" dirty="0" smtClean="0">
                            <a:latin typeface="Cambria Math" panose="02040503050406030204" pitchFamily="18" charset="0"/>
                            <a:ea typeface="黑体" panose="02010609060101010101" pitchFamily="49" charset="-122"/>
                          </a:rPr>
                          <m:t>𝟏</m:t>
                        </m:r>
                      </m:e>
                    </m:d>
                  </m:oMath>
                </a14:m>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，哪个序列决策更好？</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5" name="矩形 14">
                <a:extLst>
                  <a:ext uri="{FF2B5EF4-FFF2-40B4-BE49-F238E27FC236}">
                    <a16:creationId xmlns:a16="http://schemas.microsoft.com/office/drawing/2014/main" id="{A7DC05E9-E465-47BC-B1AD-67B3934125A1}"/>
                  </a:ext>
                </a:extLst>
              </p:cNvPr>
              <p:cNvSpPr>
                <a:spLocks noRot="1" noChangeAspect="1" noMove="1" noResize="1" noEditPoints="1" noAdjustHandles="1" noChangeArrowheads="1" noChangeShapeType="1" noTextEdit="1"/>
              </p:cNvSpPr>
              <p:nvPr/>
            </p:nvSpPr>
            <p:spPr>
              <a:xfrm>
                <a:off x="1970728" y="3836873"/>
                <a:ext cx="7507706" cy="883768"/>
              </a:xfrm>
              <a:prstGeom prst="rect">
                <a:avLst/>
              </a:prstGeom>
              <a:blipFill>
                <a:blip r:embed="rId4"/>
                <a:stretch>
                  <a:fillRect l="-244" r="-244" b="-10345"/>
                </a:stretch>
              </a:blipFill>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3A4C28BB-C1ED-4E74-B369-C1CBD7975FB9}"/>
              </a:ext>
            </a:extLst>
          </p:cNvPr>
          <p:cNvPicPr>
            <a:picLocks noChangeAspect="1"/>
          </p:cNvPicPr>
          <p:nvPr/>
        </p:nvPicPr>
        <p:blipFill>
          <a:blip r:embed="rId5"/>
          <a:stretch>
            <a:fillRect/>
          </a:stretch>
        </p:blipFill>
        <p:spPr>
          <a:xfrm>
            <a:off x="2049104" y="4647578"/>
            <a:ext cx="7337455" cy="2127955"/>
          </a:xfrm>
          <a:prstGeom prst="rect">
            <a:avLst/>
          </a:prstGeom>
        </p:spPr>
      </p:pic>
    </p:spTree>
    <p:extLst>
      <p:ext uri="{BB962C8B-B14F-4D97-AF65-F5344CB8AC3E}">
        <p14:creationId xmlns:p14="http://schemas.microsoft.com/office/powerpoint/2010/main" val="4288522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对话气泡: 矩形 7">
            <a:extLst>
              <a:ext uri="{FF2B5EF4-FFF2-40B4-BE49-F238E27FC236}">
                <a16:creationId xmlns:a16="http://schemas.microsoft.com/office/drawing/2014/main" id="{D0948062-8C33-7DB0-C9D3-155691D29126}"/>
              </a:ext>
            </a:extLst>
          </p:cNvPr>
          <p:cNvSpPr/>
          <p:nvPr/>
        </p:nvSpPr>
        <p:spPr>
          <a:xfrm>
            <a:off x="8046721" y="1980354"/>
            <a:ext cx="4014650" cy="603522"/>
          </a:xfrm>
          <a:prstGeom prst="wedgeRectCallout">
            <a:avLst>
              <a:gd name="adj1" fmla="val -31837"/>
              <a:gd name="adj2" fmla="val 74044"/>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离散马尔可夫链：引入回报</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强化学习问题定义</a:t>
            </a:r>
          </a:p>
        </p:txBody>
      </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5E2C3583-E1FB-4EFB-BA6A-E706D49B2D72}"/>
                  </a:ext>
                </a:extLst>
              </p:cNvPr>
              <p:cNvSpPr/>
              <p:nvPr/>
            </p:nvSpPr>
            <p:spPr>
              <a:xfrm>
                <a:off x="567400" y="2610003"/>
                <a:ext cx="11240084" cy="3372718"/>
              </a:xfrm>
              <a:prstGeom prst="rect">
                <a:avLst/>
              </a:prstGeom>
            </p:spPr>
            <p:txBody>
              <a:bodyPr wrap="square">
                <a:spAutoFit/>
              </a:bodyPr>
              <a:lstStyle/>
              <a:p>
                <a:pPr indent="266700" algn="just">
                  <a:lnSpc>
                    <a:spcPct val="150000"/>
                  </a:lnSpc>
                  <a:spcBef>
                    <a:spcPts val="600"/>
                  </a:spcBef>
                  <a:spcAft>
                    <a:spcPts val="0"/>
                  </a:spcAft>
                </a:pPr>
                <a:r>
                  <a:rPr lang="zh-CN" altLang="en-US" sz="1600" dirty="0">
                    <a:solidFill>
                      <a:srgbClr val="000000"/>
                    </a:solidFill>
                    <a:latin typeface="Times New Roman" panose="02020603050405020304" pitchFamily="18" charset="0"/>
                    <a:ea typeface="楷体_GB2312"/>
                    <a:cs typeface="Times New Roman" panose="02020603050405020304" pitchFamily="18" charset="0"/>
                  </a:rPr>
                  <a:t>为了比较不同奖励</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机制的优劣，在每个时刻定义</a:t>
                </a:r>
                <a:r>
                  <a:rPr lang="zh-CN" altLang="zh-CN" sz="1600" b="1" dirty="0">
                    <a:solidFill>
                      <a:srgbClr val="000000"/>
                    </a:solidFill>
                    <a:latin typeface="Times New Roman" panose="02020603050405020304" pitchFamily="18" charset="0"/>
                    <a:ea typeface="楷体_GB2312"/>
                    <a:cs typeface="Times New Roman" panose="02020603050405020304" pitchFamily="18" charset="0"/>
                  </a:rPr>
                  <a:t>回报（</a:t>
                </a:r>
                <a:r>
                  <a:rPr lang="en-US" altLang="zh-CN" sz="1600" b="1" dirty="0">
                    <a:solidFill>
                      <a:srgbClr val="000000"/>
                    </a:solidFill>
                    <a:latin typeface="Times New Roman" panose="02020603050405020304" pitchFamily="18" charset="0"/>
                    <a:ea typeface="楷体_GB2312"/>
                    <a:cs typeface="Times New Roman" panose="02020603050405020304" pitchFamily="18" charset="0"/>
                  </a:rPr>
                  <a:t>return</a:t>
                </a:r>
                <a:r>
                  <a:rPr lang="zh-CN" altLang="zh-CN" sz="1600" b="1"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来反映该时刻可得到的累加奖励</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（也称为</a:t>
                </a:r>
                <a:r>
                  <a:rPr lang="zh-CN" altLang="en-US" sz="1600" b="1" dirty="0">
                    <a:solidFill>
                      <a:srgbClr val="000000"/>
                    </a:solidFill>
                    <a:latin typeface="Times New Roman" panose="02020603050405020304" pitchFamily="18" charset="0"/>
                    <a:ea typeface="楷体_GB2312"/>
                    <a:cs typeface="Times New Roman" panose="02020603050405020304" pitchFamily="18" charset="0"/>
                  </a:rPr>
                  <a:t>累积奖励</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a:t>
                </a:r>
              </a:p>
              <a:p>
                <a:pPr algn="ctr">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𝐺</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𝑡</m:t>
                          </m:r>
                        </m:sub>
                      </m:sSub>
                      <m:r>
                        <a:rPr lang="en-US" altLang="zh-CN" sz="16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𝑅</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𝑡</m:t>
                          </m:r>
                          <m:r>
                            <a:rPr lang="en-US" altLang="zh-CN" sz="16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m:t>
                          </m:r>
                        </m:sub>
                      </m:sSub>
                      <m:r>
                        <a:rPr lang="en-US" altLang="zh-CN" sz="16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𝛾</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𝑅</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𝑡</m:t>
                          </m:r>
                          <m:r>
                            <a:rPr lang="en-US" altLang="zh-CN" sz="16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+2</m:t>
                          </m:r>
                        </m:sub>
                      </m:sSub>
                      <m:r>
                        <a:rPr lang="en-US" altLang="zh-CN" sz="16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p>
                        <m:sSup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𝛾</m:t>
                          </m:r>
                        </m:e>
                        <m:sup>
                          <m:r>
                            <a:rPr lang="en-US" altLang="zh-CN" sz="16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2</m:t>
                          </m:r>
                        </m:sup>
                      </m:sSup>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𝑅</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𝑡</m:t>
                          </m:r>
                          <m:r>
                            <a:rPr lang="en-US" altLang="zh-CN" sz="16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+3</m:t>
                          </m:r>
                        </m:sub>
                      </m:sSub>
                      <m:r>
                        <a:rPr lang="en-US" altLang="zh-CN" sz="16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oMath>
                  </m:oMathPara>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其中</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𝛾</m:t>
                    </m:r>
                    <m:r>
                      <a:rPr lang="en-US" altLang="zh-CN" sz="1600">
                        <a:solidFill>
                          <a:srgbClr val="000000"/>
                        </a:solidFill>
                        <a:latin typeface="Cambria Math" panose="02040503050406030204" pitchFamily="18" charset="0"/>
                        <a:ea typeface="楷体_GB2312"/>
                        <a:cs typeface="Times New Roman" panose="02020603050405020304" pitchFamily="18" charset="0"/>
                      </a:rPr>
                      <m:t>∈</m:t>
                    </m:r>
                    <m:d>
                      <m:dPr>
                        <m:begChr m:val="["/>
                        <m:endChr m:val="]"/>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a:solidFill>
                              <a:srgbClr val="000000"/>
                            </a:solidFill>
                            <a:latin typeface="Cambria Math" panose="02040503050406030204" pitchFamily="18" charset="0"/>
                            <a:ea typeface="楷体_GB2312"/>
                            <a:cs typeface="Times New Roman" panose="02020603050405020304" pitchFamily="18" charset="0"/>
                          </a:rPr>
                          <m:t>0,1</m:t>
                        </m:r>
                      </m:e>
                    </m:d>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是折扣因子（</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discount factor</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𝑅</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𝑡</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𝑘</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𝑡</m:t>
                    </m:r>
                    <m:r>
                      <a:rPr lang="en-US" altLang="zh-CN" sz="1600" i="1">
                        <a:solidFill>
                          <a:srgbClr val="000000"/>
                        </a:solidFill>
                        <a:latin typeface="Cambria Math" panose="02040503050406030204" pitchFamily="18" charset="0"/>
                        <a:ea typeface="楷体_GB2312"/>
                        <a:cs typeface="Times New Roman" panose="02020603050405020304" pitchFamily="18" charset="0"/>
                      </a:rPr>
                      <m:t>&gt;0)</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表示</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𝑡</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𝑘</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时刻获得的奖励。</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𝑡</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时刻所获得的回报</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𝐺</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𝑡</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反映了该时刻之后的累加奖励。当折扣因子</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𝛾</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小于</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1</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时，距离当前时刻越远的奖励对该时刻反馈贡献越少。假设</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𝛾</m:t>
                    </m:r>
                    <m:r>
                      <a:rPr lang="en-US" altLang="zh-CN" sz="1600" i="1">
                        <a:solidFill>
                          <a:srgbClr val="000000"/>
                        </a:solidFill>
                        <a:latin typeface="Cambria Math" panose="02040503050406030204" pitchFamily="18" charset="0"/>
                        <a:ea typeface="楷体_GB2312"/>
                        <a:cs typeface="Times New Roman" panose="02020603050405020304" pitchFamily="18" charset="0"/>
                      </a:rPr>
                      <m:t>=0.99</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，则图</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6.3</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中两个奖励序列在</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0</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时刻的回报值分别为</a:t>
                </a:r>
              </a:p>
              <a:p>
                <a:pPr algn="just">
                  <a:lnSpc>
                    <a:spcPct val="150000"/>
                  </a:lnSpc>
                  <a:spcAft>
                    <a:spcPts val="0"/>
                  </a:spcAft>
                </a:pPr>
                <a14:m>
                  <m:oMathPara xmlns:m="http://schemas.openxmlformats.org/officeDocument/2006/math">
                    <m:oMathParaPr>
                      <m:jc m:val="centerGroup"/>
                    </m:oMathParaPr>
                    <m:oMath xmlns:m="http://schemas.openxmlformats.org/officeDocument/2006/math">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0,0,1,1</m:t>
                          </m:r>
                        </m:e>
                      </m:d>
                      <m:r>
                        <a:rPr lang="zh-CN" altLang="zh-CN" sz="16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𝐺</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0</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=0+0.99×0+</m:t>
                      </m:r>
                      <m:sSup>
                        <m:sSup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0.99</m:t>
                          </m:r>
                        </m:e>
                        <m:sup>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2</m:t>
                          </m:r>
                        </m:sup>
                      </m:sSup>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m:t>
                      </m:r>
                      <m:sSup>
                        <m:sSup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0.99</m:t>
                          </m:r>
                        </m:e>
                        <m:sup>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3</m:t>
                          </m:r>
                        </m:sup>
                      </m:sSup>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×1=1.9504</m:t>
                      </m:r>
                    </m:oMath>
                  </m:oMathPara>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spcAft>
                    <a:spcPts val="0"/>
                  </a:spcAft>
                </a:pPr>
                <a14:m>
                  <m:oMathPara xmlns:m="http://schemas.openxmlformats.org/officeDocument/2006/math">
                    <m:oMathParaPr>
                      <m:jc m:val="centerGroup"/>
                    </m:oMathParaPr>
                    <m:oMath xmlns:m="http://schemas.openxmlformats.org/officeDocument/2006/math">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1,1,0,0</m:t>
                          </m:r>
                        </m:e>
                      </m:d>
                      <m:r>
                        <a:rPr lang="zh-CN" altLang="zh-CN" sz="16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𝐺</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0</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=1+0.99×1+</m:t>
                      </m:r>
                      <m:sSup>
                        <m:sSup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0.99</m:t>
                          </m:r>
                        </m:e>
                        <m:sup>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2</m:t>
                          </m:r>
                        </m:sup>
                      </m:sSup>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×0+</m:t>
                      </m:r>
                      <m:sSup>
                        <m:sSup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0.99</m:t>
                          </m:r>
                        </m:e>
                        <m:sup>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3</m:t>
                          </m:r>
                        </m:sup>
                      </m:sSup>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×0=1.99</m:t>
                      </m:r>
                    </m:oMath>
                  </m:oMathPara>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根据回报值可以认为</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 (1,1,0,0)</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是一个更好的奖励序列。这一结果也与现实生活中的认知活动相符，即距离某个时刻越近，所给予的奖励会对该时刻回报产生更大影响。</a:t>
                </a:r>
              </a:p>
            </p:txBody>
          </p:sp>
        </mc:Choice>
        <mc:Fallback xmlns="">
          <p:sp>
            <p:nvSpPr>
              <p:cNvPr id="10" name="矩形 9">
                <a:extLst>
                  <a:ext uri="{FF2B5EF4-FFF2-40B4-BE49-F238E27FC236}">
                    <a16:creationId xmlns:a16="http://schemas.microsoft.com/office/drawing/2014/main" id="{5E2C3583-E1FB-4EFB-BA6A-E706D49B2D72}"/>
                  </a:ext>
                </a:extLst>
              </p:cNvPr>
              <p:cNvSpPr>
                <a:spLocks noRot="1" noChangeAspect="1" noMove="1" noResize="1" noEditPoints="1" noAdjustHandles="1" noChangeArrowheads="1" noChangeShapeType="1" noTextEdit="1"/>
              </p:cNvSpPr>
              <p:nvPr/>
            </p:nvSpPr>
            <p:spPr>
              <a:xfrm>
                <a:off x="567400" y="2610003"/>
                <a:ext cx="11240084" cy="3372718"/>
              </a:xfrm>
              <a:prstGeom prst="rect">
                <a:avLst/>
              </a:prstGeom>
              <a:blipFill>
                <a:blip r:embed="rId3"/>
                <a:stretch>
                  <a:fillRect l="-271" r="-325" b="-1447"/>
                </a:stretch>
              </a:blipFill>
            </p:spPr>
            <p:txBody>
              <a:bodyPr/>
              <a:lstStyle/>
              <a:p>
                <a:r>
                  <a:rPr lang="zh-CN" altLang="en-US">
                    <a:noFill/>
                  </a:rPr>
                  <a:t> </a:t>
                </a:r>
              </a:p>
            </p:txBody>
          </p:sp>
        </mc:Fallback>
      </mc:AlternateContent>
      <p:pic>
        <p:nvPicPr>
          <p:cNvPr id="16" name="图片 15">
            <a:extLst>
              <a:ext uri="{FF2B5EF4-FFF2-40B4-BE49-F238E27FC236}">
                <a16:creationId xmlns:a16="http://schemas.microsoft.com/office/drawing/2014/main" id="{87FB620C-4AF0-4998-A621-ED1D60F724E2}"/>
              </a:ext>
            </a:extLst>
          </p:cNvPr>
          <p:cNvPicPr>
            <a:picLocks noChangeAspect="1"/>
          </p:cNvPicPr>
          <p:nvPr/>
        </p:nvPicPr>
        <p:blipFill>
          <a:blip r:embed="rId4"/>
          <a:stretch>
            <a:fillRect/>
          </a:stretch>
        </p:blipFill>
        <p:spPr>
          <a:xfrm>
            <a:off x="4295336" y="1484266"/>
            <a:ext cx="3601328" cy="1044431"/>
          </a:xfrm>
          <a:prstGeom prst="rect">
            <a:avLst/>
          </a:prstGeom>
        </p:spPr>
      </p:pic>
      <p:sp>
        <p:nvSpPr>
          <p:cNvPr id="7" name="文本框 6">
            <a:extLst>
              <a:ext uri="{FF2B5EF4-FFF2-40B4-BE49-F238E27FC236}">
                <a16:creationId xmlns:a16="http://schemas.microsoft.com/office/drawing/2014/main" id="{46B7E5DB-DA58-8068-C17A-11C4D367099C}"/>
              </a:ext>
            </a:extLst>
          </p:cNvPr>
          <p:cNvSpPr txBox="1"/>
          <p:nvPr/>
        </p:nvSpPr>
        <p:spPr>
          <a:xfrm>
            <a:off x="8085911" y="1958949"/>
            <a:ext cx="4014650" cy="646331"/>
          </a:xfrm>
          <a:prstGeom prst="rect">
            <a:avLst/>
          </a:prstGeom>
          <a:noFill/>
        </p:spPr>
        <p:txBody>
          <a:bodyPr wrap="square">
            <a:spAutoFit/>
          </a:bodyPr>
          <a:lstStyle/>
          <a:p>
            <a:r>
              <a:rPr lang="zh-CN" altLang="en-US" dirty="0">
                <a:solidFill>
                  <a:srgbClr val="000000"/>
                </a:solidFill>
                <a:latin typeface="PingFangSC-Regular"/>
              </a:rPr>
              <a:t>回报可用于评估当前状态下采取不同序列的优劣：综合当前和后续的奖励。</a:t>
            </a:r>
            <a:endParaRPr lang="zh-CN" altLang="en-US" dirty="0"/>
          </a:p>
        </p:txBody>
      </p:sp>
    </p:spTree>
    <p:extLst>
      <p:ext uri="{BB962C8B-B14F-4D97-AF65-F5344CB8AC3E}">
        <p14:creationId xmlns:p14="http://schemas.microsoft.com/office/powerpoint/2010/main" val="666090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马尔可夫决策过程</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强化学习问题定义</a:t>
            </a: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7E4ABE3D-2085-4459-865A-AA1B9BA9B3DE}"/>
                  </a:ext>
                </a:extLst>
              </p:cNvPr>
              <p:cNvSpPr/>
              <p:nvPr/>
            </p:nvSpPr>
            <p:spPr>
              <a:xfrm>
                <a:off x="1524000" y="1381988"/>
                <a:ext cx="9144000" cy="463973"/>
              </a:xfrm>
              <a:prstGeom prst="rect">
                <a:avLst/>
              </a:prstGeom>
            </p:spPr>
            <p:txBody>
              <a:bodyPr wrap="square">
                <a:spAutoFit/>
              </a:bodyPr>
              <a:lstStyle/>
              <a:p>
                <a:pPr algn="ctr">
                  <a:lnSpc>
                    <a:spcPct val="150000"/>
                  </a:lnSpc>
                </a:pPr>
                <a:r>
                  <a:rPr lang="zh-CN" altLang="zh-CN" dirty="0">
                    <a:latin typeface="Times New Roman" panose="02020603050405020304" pitchFamily="18" charset="0"/>
                    <a:ea typeface="等线" panose="02010600030101010101" pitchFamily="2" charset="-122"/>
                    <a:cs typeface="Times New Roman" panose="02020603050405020304" pitchFamily="18" charset="0"/>
                  </a:rPr>
                  <a:t>如下定义马尔可夫决策过程（</a:t>
                </a:r>
                <a:r>
                  <a:rPr lang="en-US" altLang="zh-CN" dirty="0">
                    <a:latin typeface="Times New Roman" panose="02020603050405020304" pitchFamily="18" charset="0"/>
                    <a:ea typeface="等线" panose="02010600030101010101" pitchFamily="2" charset="-122"/>
                    <a:cs typeface="Times New Roman" panose="02020603050405020304" pitchFamily="18" charset="0"/>
                  </a:rPr>
                  <a:t>Markov decision process</a:t>
                </a:r>
                <a:r>
                  <a:rPr lang="zh-CN" altLang="zh-CN" dirty="0">
                    <a:latin typeface="Times New Roman" panose="02020603050405020304" pitchFamily="18" charset="0"/>
                    <a:ea typeface="等线" panose="02010600030101010101" pitchFamily="2" charset="-122"/>
                    <a:cs typeface="Times New Roman" panose="02020603050405020304" pitchFamily="18" charset="0"/>
                  </a:rPr>
                  <a:t>，</a:t>
                </a:r>
                <a:r>
                  <a:rPr lang="en-US" altLang="zh-CN" dirty="0">
                    <a:latin typeface="Times New Roman" panose="02020603050405020304" pitchFamily="18" charset="0"/>
                    <a:ea typeface="等线" panose="02010600030101010101" pitchFamily="2" charset="-122"/>
                    <a:cs typeface="Times New Roman" panose="02020603050405020304" pitchFamily="18" charset="0"/>
                  </a:rPr>
                  <a:t>MDP</a:t>
                </a:r>
                <a:r>
                  <a:rPr lang="zh-CN" altLang="zh-CN" dirty="0">
                    <a:latin typeface="Times New Roman" panose="02020603050405020304" pitchFamily="18" charset="0"/>
                    <a:ea typeface="等线" panose="02010600030101010101" pitchFamily="2" charset="-122"/>
                    <a:cs typeface="Times New Roman" panose="02020603050405020304" pitchFamily="18" charset="0"/>
                  </a:rPr>
                  <a:t>）</a:t>
                </a:r>
                <a14:m>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𝑀𝐷𝑃</m:t>
                    </m:r>
                    <m:r>
                      <a:rPr lang="en-US" altLang="zh-CN" i="1">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𝑆</m:t>
                    </m:r>
                    <m:r>
                      <a:rPr lang="en-US" altLang="zh-CN" i="1">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𝐴</m:t>
                    </m:r>
                    <m:r>
                      <a:rPr lang="en-US" altLang="zh-CN" i="1">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𝑃</m:t>
                    </m:r>
                    <m:r>
                      <a:rPr lang="en-US" altLang="zh-CN" i="1">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𝑅</m:t>
                    </m:r>
                    <m:r>
                      <a:rPr lang="en-US" altLang="zh-CN" i="1">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𝛾</m:t>
                    </m:r>
                    <m:r>
                      <a:rPr lang="en-US" altLang="zh-CN" i="1">
                        <a:latin typeface="Cambria Math" panose="02040503050406030204" pitchFamily="18" charset="0"/>
                        <a:ea typeface="等线" panose="02010600030101010101" pitchFamily="2" charset="-122"/>
                        <a:cs typeface="Times New Roman" panose="02020603050405020304" pitchFamily="18" charset="0"/>
                      </a:rPr>
                      <m:t>)</m:t>
                    </m:r>
                  </m:oMath>
                </a14:m>
                <a:endParaRPr lang="zh-CN" altLang="en-US" dirty="0">
                  <a:latin typeface="Times New Roman" panose="02020603050405020304" pitchFamily="18" charset="0"/>
                  <a:cs typeface="Times New Roman" panose="02020603050405020304" pitchFamily="18" charset="0"/>
                </a:endParaRPr>
              </a:p>
            </p:txBody>
          </p:sp>
        </mc:Choice>
        <mc:Fallback xmlns="">
          <p:sp>
            <p:nvSpPr>
              <p:cNvPr id="7" name="矩形 6">
                <a:extLst>
                  <a:ext uri="{FF2B5EF4-FFF2-40B4-BE49-F238E27FC236}">
                    <a16:creationId xmlns:a16="http://schemas.microsoft.com/office/drawing/2014/main" id="{7E4ABE3D-2085-4459-865A-AA1B9BA9B3DE}"/>
                  </a:ext>
                </a:extLst>
              </p:cNvPr>
              <p:cNvSpPr>
                <a:spLocks noRot="1" noChangeAspect="1" noMove="1" noResize="1" noEditPoints="1" noAdjustHandles="1" noChangeArrowheads="1" noChangeShapeType="1" noTextEdit="1"/>
              </p:cNvSpPr>
              <p:nvPr/>
            </p:nvSpPr>
            <p:spPr>
              <a:xfrm>
                <a:off x="1524000" y="1381988"/>
                <a:ext cx="9144000" cy="463973"/>
              </a:xfrm>
              <a:prstGeom prst="rect">
                <a:avLst/>
              </a:prstGeom>
              <a:blipFill>
                <a:blip r:embed="rId3"/>
                <a:stretch>
                  <a:fillRect b="-21053"/>
                </a:stretch>
              </a:blipFill>
            </p:spPr>
            <p:txBody>
              <a:bodyPr/>
              <a:lstStyle/>
              <a:p>
                <a:r>
                  <a:rPr lang="zh-CN" altLang="en-US">
                    <a:noFill/>
                  </a:rPr>
                  <a:t> </a:t>
                </a:r>
              </a:p>
            </p:txBody>
          </p:sp>
        </mc:Fallback>
      </mc:AlternateContent>
      <p:sp>
        <p:nvSpPr>
          <p:cNvPr id="9" name="矩形: 圆角 6">
            <a:extLst>
              <a:ext uri="{FF2B5EF4-FFF2-40B4-BE49-F238E27FC236}">
                <a16:creationId xmlns:a16="http://schemas.microsoft.com/office/drawing/2014/main" id="{2B07A990-8C92-440A-A7B6-437A63E0334E}"/>
              </a:ext>
            </a:extLst>
          </p:cNvPr>
          <p:cNvSpPr/>
          <p:nvPr/>
        </p:nvSpPr>
        <p:spPr>
          <a:xfrm>
            <a:off x="1766265" y="2109372"/>
            <a:ext cx="9834891" cy="4014360"/>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7CB82FB6-F410-408B-9537-C511D4B0FF43}"/>
                  </a:ext>
                </a:extLst>
              </p:cNvPr>
              <p:cNvSpPr/>
              <p:nvPr/>
            </p:nvSpPr>
            <p:spPr>
              <a:xfrm>
                <a:off x="1728751" y="2139306"/>
                <a:ext cx="9736418" cy="4063613"/>
              </a:xfrm>
              <a:prstGeom prst="rect">
                <a:avLst/>
              </a:prstGeom>
            </p:spPr>
            <p:txBody>
              <a:bodyPr wrap="square">
                <a:spAutoFit/>
              </a:bodyPr>
              <a:lstStyle/>
              <a:p>
                <a:pPr marL="285750" indent="-285750" algn="just">
                  <a:lnSpc>
                    <a:spcPct val="150000"/>
                  </a:lnSpc>
                  <a:buFont typeface="Wingdings" panose="05000000000000000000" pitchFamily="2" charset="2"/>
                  <a:buChar char="l"/>
                </a:pP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状态集合</a:t>
                </a:r>
                <a14:m>
                  <m:oMath xmlns:m="http://schemas.openxmlformats.org/officeDocument/2006/math">
                    <m: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𝑆</m:t>
                    </m:r>
                  </m:oMath>
                </a14:m>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所求解问题中所有可能出现的状态所构成的集合，这个集合可能是一个有限的集合，也可能是一个无限的集合。</a:t>
                </a: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ct val="200000"/>
                  </a:lnSpc>
                  <a:buFont typeface="Wingdings" panose="05000000000000000000" pitchFamily="2" charset="2"/>
                  <a:buChar char="l"/>
                </a:pP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buFont typeface="Wingdings" panose="05000000000000000000" pitchFamily="2" charset="2"/>
                  <a:buChar char="l"/>
                </a:pP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动作集合</a:t>
                </a:r>
                <a14:m>
                  <m:oMath xmlns:m="http://schemas.openxmlformats.org/officeDocument/2006/math">
                    <m: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𝐴</m:t>
                    </m:r>
                  </m:oMath>
                </a14:m>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：所求解问题中智能体能够采取的所有动作所构成集合，这个集合同样可以是有限的，也可以是无限的，本章所述内容中均假设该集合是一个有限集合。</a:t>
                </a: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buFont typeface="Wingdings" panose="05000000000000000000" pitchFamily="2" charset="2"/>
                  <a:buChar char="l"/>
                </a:pP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buFont typeface="Wingdings" panose="05000000000000000000" pitchFamily="2" charset="2"/>
                  <a:buChar char="l"/>
                </a:pP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状态转移概率</a:t>
                </a:r>
                <a14:m>
                  <m:oMath xmlns:m="http://schemas.openxmlformats.org/officeDocument/2006/math">
                    <m: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𝑃</m:t>
                    </m:r>
                    <m:d>
                      <m:dPr>
                        <m:ctrlPr>
                          <a:rPr lang="zh-CN" altLang="zh-CN" sz="1600"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zh-CN" altLang="zh-CN" sz="1600"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+1</m:t>
                            </m:r>
                          </m:sub>
                        </m:sSub>
                      </m:e>
                      <m:e>
                        <m:sSub>
                          <m:sSubPr>
                            <m:ctrlPr>
                              <a:rPr lang="zh-CN" altLang="zh-CN" sz="1600"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sz="1600"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𝐴</m:t>
                            </m:r>
                          </m:e>
                          <m:sub>
                            <m: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𝑡</m:t>
                            </m:r>
                          </m:sub>
                        </m:sSub>
                      </m:e>
                    </m:d>
                  </m:oMath>
                </a14:m>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：表示在当前状态</a:t>
                </a:r>
                <a14:m>
                  <m:oMath xmlns:m="http://schemas.openxmlformats.org/officeDocument/2006/math">
                    <m:sSub>
                      <m:sSubPr>
                        <m:ctrlPr>
                          <a:rPr lang="zh-CN" altLang="zh-CN" sz="1600"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𝑡</m:t>
                        </m:r>
                      </m:sub>
                    </m:sSub>
                  </m:oMath>
                </a14:m>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下采取了动作</a:t>
                </a:r>
                <a14:m>
                  <m:oMath xmlns:m="http://schemas.openxmlformats.org/officeDocument/2006/math">
                    <m:sSub>
                      <m:sSubPr>
                        <m:ctrlPr>
                          <a:rPr lang="zh-CN" altLang="zh-CN" sz="1600"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𝐴</m:t>
                        </m:r>
                      </m:e>
                      <m:sub>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𝑡</m:t>
                        </m:r>
                      </m:sub>
                    </m:sSub>
                  </m:oMath>
                </a14:m>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后进入下一时刻状态</a:t>
                </a:r>
                <a14:m>
                  <m:oMath xmlns:m="http://schemas.openxmlformats.org/officeDocument/2006/math">
                    <m:sSub>
                      <m:sSubPr>
                        <m:ctrlPr>
                          <a:rPr lang="zh-CN" altLang="zh-CN" sz="1600"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+1</m:t>
                        </m:r>
                      </m:sub>
                    </m:sSub>
                  </m:oMath>
                </a14:m>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的概率。显然，状态转移概率满足马尔可夫性。状态转移可以是概率性的（</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stochastic</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），也可以是确定的（</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deterministic</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）。确定的状态转移指在给定状态</a:t>
                </a:r>
                <a14:m>
                  <m:oMath xmlns:m="http://schemas.openxmlformats.org/officeDocument/2006/math">
                    <m:sSub>
                      <m:sSubPr>
                        <m:ctrlPr>
                          <a:rPr lang="zh-CN" altLang="zh-CN" sz="1600"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𝑡</m:t>
                        </m:r>
                      </m:sub>
                    </m:sSub>
                  </m:oMath>
                </a14:m>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下采取了动作</a:t>
                </a:r>
                <a14:m>
                  <m:oMath xmlns:m="http://schemas.openxmlformats.org/officeDocument/2006/math">
                    <m:sSub>
                      <m:sSubPr>
                        <m:ctrlPr>
                          <a:rPr lang="zh-CN" altLang="zh-CN" sz="1600"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𝐴</m:t>
                        </m:r>
                      </m:e>
                      <m:sub>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𝑡</m:t>
                        </m:r>
                      </m:sub>
                    </m:sSub>
                  </m:oMath>
                </a14:m>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后，转移到某一状态的概率为</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buFont typeface="Wingdings" panose="05000000000000000000" pitchFamily="2" charset="2"/>
                  <a:buChar char="l"/>
                </a:pP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buFont typeface="Wingdings" panose="05000000000000000000" pitchFamily="2" charset="2"/>
                  <a:buChar char="l"/>
                </a:pP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奖励函数</a:t>
                </a:r>
                <a14:m>
                  <m:oMath xmlns:m="http://schemas.openxmlformats.org/officeDocument/2006/math">
                    <m: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𝑅</m:t>
                    </m:r>
                    <m: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sz="1600"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sz="1600"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𝐴</m:t>
                        </m:r>
                      </m:e>
                      <m:sub>
                        <m: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sz="1600"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：在状态</a:t>
                </a:r>
                <a14:m>
                  <m:oMath xmlns:m="http://schemas.openxmlformats.org/officeDocument/2006/math">
                    <m:sSub>
                      <m:sSubPr>
                        <m:ctrlPr>
                          <a:rPr lang="zh-CN" altLang="zh-CN" sz="1600"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𝑡</m:t>
                        </m:r>
                      </m:sub>
                    </m:sSub>
                  </m:oMath>
                </a14:m>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执行了动作</a:t>
                </a:r>
                <a14:m>
                  <m:oMath xmlns:m="http://schemas.openxmlformats.org/officeDocument/2006/math">
                    <m:sSub>
                      <m:sSubPr>
                        <m:ctrlPr>
                          <a:rPr lang="zh-CN" altLang="zh-CN" sz="1600"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𝐴</m:t>
                        </m:r>
                      </m:e>
                      <m:sub>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𝑡</m:t>
                        </m:r>
                      </m:sub>
                    </m:sSub>
                  </m:oMath>
                </a14:m>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后到达状态</a:t>
                </a:r>
                <a14:m>
                  <m:oMath xmlns:m="http://schemas.openxmlformats.org/officeDocument/2006/math">
                    <m:sSub>
                      <m:sSubPr>
                        <m:ctrlPr>
                          <a:rPr lang="zh-CN" altLang="zh-CN" sz="1600"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+1</m:t>
                        </m:r>
                      </m:sub>
                    </m:sSub>
                  </m:oMath>
                </a14:m>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时，智能体能够得到的奖励。</a:t>
                </a: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buFont typeface="Wingdings" panose="05000000000000000000" pitchFamily="2" charset="2"/>
                  <a:buChar char="l"/>
                </a:pP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buFont typeface="Wingdings" panose="05000000000000000000" pitchFamily="2" charset="2"/>
                  <a:buChar char="l"/>
                </a:pP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折扣因子</a:t>
                </a:r>
                <a14:m>
                  <m:oMath xmlns:m="http://schemas.openxmlformats.org/officeDocument/2006/math">
                    <m: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𝛾</m:t>
                    </m:r>
                  </m:oMath>
                </a14:m>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：后续时刻奖励对当前动作的价值系数，</a:t>
                </a:r>
                <a14:m>
                  <m:oMath xmlns:m="http://schemas.openxmlformats.org/officeDocument/2006/math">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𝛾</m:t>
                    </m:r>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∈[0,1]</m:t>
                    </m:r>
                  </m:oMath>
                </a14:m>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a:p>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10" name="矩形 9">
                <a:extLst>
                  <a:ext uri="{FF2B5EF4-FFF2-40B4-BE49-F238E27FC236}">
                    <a16:creationId xmlns:a16="http://schemas.microsoft.com/office/drawing/2014/main" id="{7CB82FB6-F410-408B-9537-C511D4B0FF43}"/>
                  </a:ext>
                </a:extLst>
              </p:cNvPr>
              <p:cNvSpPr>
                <a:spLocks noRot="1" noChangeAspect="1" noMove="1" noResize="1" noEditPoints="1" noAdjustHandles="1" noChangeArrowheads="1" noChangeShapeType="1" noTextEdit="1"/>
              </p:cNvSpPr>
              <p:nvPr/>
            </p:nvSpPr>
            <p:spPr>
              <a:xfrm>
                <a:off x="1728751" y="2139306"/>
                <a:ext cx="9736418" cy="4063613"/>
              </a:xfrm>
              <a:prstGeom prst="rect">
                <a:avLst/>
              </a:prstGeom>
              <a:blipFill>
                <a:blip r:embed="rId4"/>
                <a:stretch>
                  <a:fillRect l="-313" r="-56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022045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0DE11257-AFBC-653B-3DCA-0ECA8F7F4602}"/>
              </a:ext>
            </a:extLst>
          </p:cNvPr>
          <p:cNvGrpSpPr/>
          <p:nvPr/>
        </p:nvGrpSpPr>
        <p:grpSpPr>
          <a:xfrm>
            <a:off x="2583380" y="726948"/>
            <a:ext cx="7464387" cy="497934"/>
            <a:chOff x="4099943" y="2819853"/>
            <a:chExt cx="2570275" cy="497934"/>
          </a:xfrm>
        </p:grpSpPr>
        <p:sp>
          <p:nvSpPr>
            <p:cNvPr id="3" name="平行四边形 2">
              <a:extLst>
                <a:ext uri="{FF2B5EF4-FFF2-40B4-BE49-F238E27FC236}">
                  <a16:creationId xmlns:a16="http://schemas.microsoft.com/office/drawing/2014/main" id="{0A0F1F31-C05B-EE96-EACB-DABE72ED28F8}"/>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a:extLst>
                <a:ext uri="{FF2B5EF4-FFF2-40B4-BE49-F238E27FC236}">
                  <a16:creationId xmlns:a16="http://schemas.microsoft.com/office/drawing/2014/main" id="{67534D03-87E5-86CF-D9A8-C937372AC5F8}"/>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a:extLst>
                <a:ext uri="{FF2B5EF4-FFF2-40B4-BE49-F238E27FC236}">
                  <a16:creationId xmlns:a16="http://schemas.microsoft.com/office/drawing/2014/main" id="{BEDA8656-BCBE-13EF-2D59-6C193252E578}"/>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马尔可夫决策过程：概念进一步释义</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9" name="文本框 8">
            <a:extLst>
              <a:ext uri="{FF2B5EF4-FFF2-40B4-BE49-F238E27FC236}">
                <a16:creationId xmlns:a16="http://schemas.microsoft.com/office/drawing/2014/main" id="{E1832FA3-023F-7712-97DE-21FCE9FBD897}"/>
              </a:ext>
            </a:extLst>
          </p:cNvPr>
          <p:cNvSpPr txBox="1"/>
          <p:nvPr/>
        </p:nvSpPr>
        <p:spPr>
          <a:xfrm>
            <a:off x="426118" y="1224882"/>
            <a:ext cx="11339763" cy="4955203"/>
          </a:xfrm>
          <a:prstGeom prst="rect">
            <a:avLst/>
          </a:prstGeom>
          <a:noFill/>
        </p:spPr>
        <p:txBody>
          <a:bodyPr wrap="square">
            <a:spAutoFit/>
          </a:bodyPr>
          <a:lstStyle/>
          <a:p>
            <a:r>
              <a:rPr lang="zh-CN" altLang="en-US" sz="1600" b="1" dirty="0"/>
              <a:t>状态</a:t>
            </a:r>
            <a:r>
              <a:rPr lang="zh-CN" altLang="en-US" sz="1600" dirty="0"/>
              <a:t>：智能体对环境的一种理解和编码，通常包含了对智能体所采取决策产生影响的信息。不同任务的状态定义不同。</a:t>
            </a:r>
            <a:endParaRPr lang="en-US" altLang="zh-CN" sz="1600" dirty="0"/>
          </a:p>
          <a:p>
            <a:pPr marL="285750" indent="-285750">
              <a:buFont typeface="Arial" panose="020B0604020202020204" pitchFamily="34" charset="0"/>
              <a:buChar char="•"/>
            </a:pPr>
            <a:r>
              <a:rPr lang="zh-CN" altLang="en-US" sz="1600" dirty="0"/>
              <a:t>对于走</a:t>
            </a:r>
            <a:r>
              <a:rPr lang="en-US" altLang="zh-CN" sz="1600" dirty="0"/>
              <a:t>3x3</a:t>
            </a:r>
            <a:r>
              <a:rPr lang="zh-CN" altLang="en-US" sz="1600" dirty="0"/>
              <a:t>迷宫而言，某个时刻下，机器人在全局中所处位置</a:t>
            </a:r>
            <a:endParaRPr lang="en-US" altLang="zh-CN" sz="1600" dirty="0"/>
          </a:p>
          <a:p>
            <a:pPr marL="285750" indent="-285750">
              <a:buFont typeface="Arial" panose="020B0604020202020204" pitchFamily="34" charset="0"/>
              <a:buChar char="•"/>
            </a:pPr>
            <a:r>
              <a:rPr lang="zh-CN" altLang="en-US" sz="1600" dirty="0"/>
              <a:t>对于</a:t>
            </a:r>
            <a:r>
              <a:rPr lang="en-US" altLang="zh-CN" sz="1600" dirty="0"/>
              <a:t>flappy bird</a:t>
            </a:r>
            <a:r>
              <a:rPr lang="zh-CN" altLang="en-US" sz="1600" dirty="0"/>
              <a:t>这款游戏而言，某个时刻下，每一次小鸟、障碍物等当前所处的情况的信息或画面</a:t>
            </a:r>
            <a:endParaRPr lang="en-US" altLang="zh-CN" sz="1600" dirty="0"/>
          </a:p>
          <a:p>
            <a:pPr marL="285750" indent="-285750">
              <a:buFont typeface="Arial" panose="020B0604020202020204" pitchFamily="34" charset="0"/>
              <a:buChar char="•"/>
            </a:pPr>
            <a:r>
              <a:rPr lang="zh-CN" altLang="en-US" sz="1600" dirty="0"/>
              <a:t>对于王者荣耀这款游戏而言，某个时刻下，所有英雄及其位置等自身情况、水晶和塔等周遭情况的全部情况</a:t>
            </a:r>
            <a:endParaRPr lang="en-US" altLang="zh-CN" sz="1600" dirty="0"/>
          </a:p>
          <a:p>
            <a:pPr marL="285750" indent="-285750">
              <a:buFont typeface="Arial" panose="020B0604020202020204" pitchFamily="34" charset="0"/>
              <a:buChar char="•"/>
            </a:pPr>
            <a:r>
              <a:rPr lang="zh-CN" altLang="en-US" sz="1600" dirty="0"/>
              <a:t>对于文本生成而言，目前为止生成的所有文本和条件信息</a:t>
            </a:r>
            <a:endParaRPr lang="en-US" altLang="zh-CN" sz="1600" dirty="0"/>
          </a:p>
          <a:p>
            <a:pPr marL="285750" indent="-285750">
              <a:buFont typeface="Arial" panose="020B0604020202020204" pitchFamily="34" charset="0"/>
              <a:buChar char="•"/>
            </a:pPr>
            <a:endParaRPr lang="en-US" altLang="zh-CN" sz="1600" dirty="0"/>
          </a:p>
          <a:p>
            <a:r>
              <a:rPr lang="zh-CN" altLang="en-US" sz="1600" b="1" dirty="0"/>
              <a:t>状态空间集合</a:t>
            </a:r>
            <a:r>
              <a:rPr lang="zh-CN" altLang="en-US" sz="1600" dirty="0"/>
              <a:t>：不同任务的状态空间集合大小不同，有的较为有限（比如走</a:t>
            </a:r>
            <a:r>
              <a:rPr lang="en-US" altLang="zh-CN" sz="1600" dirty="0"/>
              <a:t>3x3</a:t>
            </a:r>
            <a:r>
              <a:rPr lang="zh-CN" altLang="en-US" sz="1600" dirty="0"/>
              <a:t>迷宫）、有的非常大甚至是无限（</a:t>
            </a:r>
            <a:r>
              <a:rPr lang="en-US" altLang="zh-CN" sz="1600" dirty="0"/>
              <a:t> flappy bird</a:t>
            </a:r>
            <a:r>
              <a:rPr lang="zh-CN" altLang="en-US" sz="1600" dirty="0"/>
              <a:t>、王者荣耀、文本生成）</a:t>
            </a:r>
            <a:endParaRPr lang="en-US" altLang="zh-CN" sz="1600" dirty="0"/>
          </a:p>
          <a:p>
            <a:endParaRPr lang="en-US" altLang="zh-CN" sz="1600" dirty="0"/>
          </a:p>
          <a:p>
            <a:r>
              <a:rPr lang="zh-CN" altLang="en-US" sz="1600" b="1" dirty="0"/>
              <a:t>状态转移概率</a:t>
            </a:r>
            <a:r>
              <a:rPr lang="zh-CN" altLang="en-US" sz="1600" dirty="0"/>
              <a:t>：有的是确定性状态转移，即在某个状态下采取某个动作转移到的下一个状态是确定的（比如文本生成），有的是不确定性的，即下一个状态有多种可能</a:t>
            </a:r>
            <a:endParaRPr lang="en-US" altLang="zh-CN" sz="1600" dirty="0"/>
          </a:p>
          <a:p>
            <a:pPr marL="285750" indent="-285750">
              <a:buFont typeface="Arial" panose="020B0604020202020204" pitchFamily="34" charset="0"/>
              <a:buChar char="•"/>
            </a:pPr>
            <a:r>
              <a:rPr lang="zh-CN" altLang="en-US" sz="1600" b="1" dirty="0"/>
              <a:t>游戏类任务</a:t>
            </a:r>
            <a:r>
              <a:rPr lang="zh-CN" altLang="en-US" sz="1600" dirty="0"/>
              <a:t>：如下棋、打牌等。以围棋为例，每一步落子（动作）后，对手会有不同的应对方式，从而导致棋局（状态）发生多种可能的变化。即使是同一棋手在相同局面下再次落子，由于对手策略的不可预测性，也会出现不同的后续状态。</a:t>
            </a:r>
            <a:endParaRPr lang="en-US" altLang="zh-CN" sz="1600" dirty="0"/>
          </a:p>
          <a:p>
            <a:pPr marL="285750" indent="-285750">
              <a:buFont typeface="Arial" panose="020B0604020202020204" pitchFamily="34" charset="0"/>
              <a:buChar char="•"/>
            </a:pPr>
            <a:r>
              <a:rPr lang="zh-CN" altLang="en-US" sz="1600" b="1" dirty="0"/>
              <a:t>机器人控制任务</a:t>
            </a:r>
            <a:r>
              <a:rPr lang="zh-CN" altLang="en-US" sz="1600" dirty="0"/>
              <a:t>：例如机器人在复杂环境中导航。机器人采取移动（动作）后，由于环境中存在障碍物、地形变化等不确定因素，其下一刻所处的位置和姿态（状态）可能是不同的。比如机器人在未知的室内环境中移动，每次选择前进方向后，可能会遇到不同的障碍物分布，进而到达不同的位置。</a:t>
            </a:r>
          </a:p>
          <a:p>
            <a:pPr marL="285750" indent="-285750">
              <a:buFont typeface="Arial" panose="020B0604020202020204" pitchFamily="34" charset="0"/>
              <a:buChar char="•"/>
            </a:pPr>
            <a:r>
              <a:rPr lang="zh-CN" altLang="en-US" sz="1600" b="1" dirty="0"/>
              <a:t>金融交易任务</a:t>
            </a:r>
            <a:r>
              <a:rPr lang="zh-CN" altLang="en-US" sz="1600" dirty="0"/>
              <a:t>：在股票交易中，当投资者决定买入或卖出某只股票（动作）后，股票的价格走势受到市场上众多因素的影响，如宏观经济形势、公司业绩、投资者情绪等，这些因素的不确定性使得下一步股票的价格和市场行情（状态）具有多种可能性。</a:t>
            </a:r>
          </a:p>
        </p:txBody>
      </p:sp>
    </p:spTree>
    <p:extLst>
      <p:ext uri="{BB962C8B-B14F-4D97-AF65-F5344CB8AC3E}">
        <p14:creationId xmlns:p14="http://schemas.microsoft.com/office/powerpoint/2010/main" val="27806830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马尔可夫决策过程</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强化学习问题定义</a:t>
            </a: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7E4ABE3D-2085-4459-865A-AA1B9BA9B3DE}"/>
                  </a:ext>
                </a:extLst>
              </p:cNvPr>
              <p:cNvSpPr/>
              <p:nvPr/>
            </p:nvSpPr>
            <p:spPr>
              <a:xfrm>
                <a:off x="1524000" y="1381988"/>
                <a:ext cx="9144000" cy="463973"/>
              </a:xfrm>
              <a:prstGeom prst="rect">
                <a:avLst/>
              </a:prstGeom>
            </p:spPr>
            <p:txBody>
              <a:bodyPr wrap="square">
                <a:spAutoFit/>
              </a:bodyPr>
              <a:lstStyle/>
              <a:p>
                <a:pPr algn="ctr">
                  <a:lnSpc>
                    <a:spcPct val="150000"/>
                  </a:lnSpc>
                </a:pPr>
                <a:r>
                  <a:rPr lang="zh-CN" altLang="zh-CN" dirty="0">
                    <a:latin typeface="Times New Roman" panose="02020603050405020304" pitchFamily="18" charset="0"/>
                    <a:ea typeface="等线" panose="02010600030101010101" pitchFamily="2" charset="-122"/>
                    <a:cs typeface="Times New Roman" panose="02020603050405020304" pitchFamily="18" charset="0"/>
                  </a:rPr>
                  <a:t>如下定义马尔可夫决策过程（</a:t>
                </a:r>
                <a:r>
                  <a:rPr lang="en-US" altLang="zh-CN" dirty="0">
                    <a:latin typeface="Times New Roman" panose="02020603050405020304" pitchFamily="18" charset="0"/>
                    <a:ea typeface="等线" panose="02010600030101010101" pitchFamily="2" charset="-122"/>
                    <a:cs typeface="Times New Roman" panose="02020603050405020304" pitchFamily="18" charset="0"/>
                  </a:rPr>
                  <a:t>Markov decision process</a:t>
                </a:r>
                <a:r>
                  <a:rPr lang="zh-CN" altLang="zh-CN" dirty="0">
                    <a:latin typeface="Times New Roman" panose="02020603050405020304" pitchFamily="18" charset="0"/>
                    <a:ea typeface="等线" panose="02010600030101010101" pitchFamily="2" charset="-122"/>
                    <a:cs typeface="Times New Roman" panose="02020603050405020304" pitchFamily="18" charset="0"/>
                  </a:rPr>
                  <a:t>，</a:t>
                </a:r>
                <a:r>
                  <a:rPr lang="en-US" altLang="zh-CN" dirty="0">
                    <a:latin typeface="Times New Roman" panose="02020603050405020304" pitchFamily="18" charset="0"/>
                    <a:ea typeface="等线" panose="02010600030101010101" pitchFamily="2" charset="-122"/>
                    <a:cs typeface="Times New Roman" panose="02020603050405020304" pitchFamily="18" charset="0"/>
                  </a:rPr>
                  <a:t>MDP</a:t>
                </a:r>
                <a:r>
                  <a:rPr lang="zh-CN" altLang="zh-CN" dirty="0">
                    <a:latin typeface="Times New Roman" panose="02020603050405020304" pitchFamily="18" charset="0"/>
                    <a:ea typeface="等线" panose="02010600030101010101" pitchFamily="2" charset="-122"/>
                    <a:cs typeface="Times New Roman" panose="02020603050405020304" pitchFamily="18" charset="0"/>
                  </a:rPr>
                  <a:t>）</a:t>
                </a:r>
                <a14:m>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𝑀𝐷𝑃</m:t>
                    </m:r>
                    <m:r>
                      <a:rPr lang="en-US" altLang="zh-CN" i="1">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𝑆</m:t>
                    </m:r>
                    <m:r>
                      <a:rPr lang="en-US" altLang="zh-CN" i="1">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𝐴</m:t>
                    </m:r>
                    <m:r>
                      <a:rPr lang="en-US" altLang="zh-CN" i="1">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𝑃</m:t>
                    </m:r>
                    <m:r>
                      <a:rPr lang="en-US" altLang="zh-CN" i="1">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𝑅</m:t>
                    </m:r>
                    <m:r>
                      <a:rPr lang="en-US" altLang="zh-CN" i="1">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𝛾</m:t>
                    </m:r>
                    <m:r>
                      <a:rPr lang="en-US" altLang="zh-CN" i="1">
                        <a:latin typeface="Cambria Math" panose="02040503050406030204" pitchFamily="18" charset="0"/>
                        <a:ea typeface="等线" panose="02010600030101010101" pitchFamily="2" charset="-122"/>
                        <a:cs typeface="Times New Roman" panose="02020603050405020304" pitchFamily="18" charset="0"/>
                      </a:rPr>
                      <m:t>)</m:t>
                    </m:r>
                  </m:oMath>
                </a14:m>
                <a:endParaRPr lang="zh-CN" altLang="en-US" dirty="0">
                  <a:latin typeface="Times New Roman" panose="02020603050405020304" pitchFamily="18" charset="0"/>
                  <a:cs typeface="Times New Roman" panose="02020603050405020304" pitchFamily="18" charset="0"/>
                </a:endParaRPr>
              </a:p>
            </p:txBody>
          </p:sp>
        </mc:Choice>
        <mc:Fallback xmlns="">
          <p:sp>
            <p:nvSpPr>
              <p:cNvPr id="7" name="矩形 6">
                <a:extLst>
                  <a:ext uri="{FF2B5EF4-FFF2-40B4-BE49-F238E27FC236}">
                    <a16:creationId xmlns:a16="http://schemas.microsoft.com/office/drawing/2014/main" id="{7E4ABE3D-2085-4459-865A-AA1B9BA9B3DE}"/>
                  </a:ext>
                </a:extLst>
              </p:cNvPr>
              <p:cNvSpPr>
                <a:spLocks noRot="1" noChangeAspect="1" noMove="1" noResize="1" noEditPoints="1" noAdjustHandles="1" noChangeArrowheads="1" noChangeShapeType="1" noTextEdit="1"/>
              </p:cNvSpPr>
              <p:nvPr/>
            </p:nvSpPr>
            <p:spPr>
              <a:xfrm>
                <a:off x="1524000" y="1381988"/>
                <a:ext cx="9144000" cy="463973"/>
              </a:xfrm>
              <a:prstGeom prst="rect">
                <a:avLst/>
              </a:prstGeom>
              <a:blipFill>
                <a:blip r:embed="rId3"/>
                <a:stretch>
                  <a:fillRect b="-21053"/>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90233E78-DC71-4992-9339-4144074FF8FA}"/>
              </a:ext>
            </a:extLst>
          </p:cNvPr>
          <p:cNvPicPr>
            <a:picLocks noChangeAspect="1"/>
          </p:cNvPicPr>
          <p:nvPr/>
        </p:nvPicPr>
        <p:blipFill>
          <a:blip r:embed="rId4"/>
          <a:stretch>
            <a:fillRect/>
          </a:stretch>
        </p:blipFill>
        <p:spPr>
          <a:xfrm>
            <a:off x="5177934" y="2075426"/>
            <a:ext cx="6287507" cy="4250471"/>
          </a:xfrm>
          <a:prstGeom prst="rect">
            <a:avLst/>
          </a:prstGeom>
        </p:spPr>
      </p:pic>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09F0CB8A-B839-4252-8DD0-7248A078B51E}"/>
                  </a:ext>
                </a:extLst>
              </p:cNvPr>
              <p:cNvSpPr/>
              <p:nvPr/>
            </p:nvSpPr>
            <p:spPr>
              <a:xfrm>
                <a:off x="252375" y="2179581"/>
                <a:ext cx="6096000" cy="3246723"/>
              </a:xfrm>
              <a:prstGeom prst="rect">
                <a:avLst/>
              </a:prstGeom>
            </p:spPr>
            <p:txBody>
              <a:bodyPr>
                <a:spAutoFit/>
              </a:bodyPr>
              <a:lstStyle/>
              <a:p>
                <a:pPr marL="342900" lvl="0" indent="-342900" algn="just">
                  <a:spcAft>
                    <a:spcPts val="0"/>
                  </a:spcAft>
                  <a:buFont typeface="Wingdings" panose="05000000000000000000" pitchFamily="2" charset="2"/>
                  <a:buChar char=""/>
                </a:pPr>
                <a:r>
                  <a:rPr lang="zh-CN" altLang="en-US" sz="16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状态集合</a:t>
                </a:r>
                <a14:m>
                  <m:oMath xmlns:m="http://schemas.openxmlformats.org/officeDocument/2006/math">
                    <m:r>
                      <a:rPr lang="zh-CN" altLang="en-US"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𝑆</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2</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 </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9</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𝑑</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oMath>
                </a14:m>
                <a:endPar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342900" algn="just">
                  <a:lnSpc>
                    <a:spcPts val="2200"/>
                  </a:lnSpc>
                  <a:spcAft>
                    <a:spcPts val="0"/>
                  </a:spcAft>
                  <a:buFont typeface="Wingdings" panose="05000000000000000000" pitchFamily="2" charset="2"/>
                  <a:buChar char=""/>
                </a:pPr>
                <a:r>
                  <a:rPr lang="zh-CN" altLang="en-US" sz="16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动作集合</a:t>
                </a:r>
                <a14:m>
                  <m:oMath xmlns:m="http://schemas.openxmlformats.org/officeDocument/2006/math">
                    <m:r>
                      <a:rPr lang="zh-CN" altLang="en-US" sz="1600" i="1" kern="100" dirty="0">
                        <a:solidFill>
                          <a:srgbClr val="000000"/>
                        </a:solidFill>
                        <a:latin typeface="Cambria Math" panose="02040503050406030204" pitchFamily="18" charset="0"/>
                        <a:ea typeface="楷体_GB2312"/>
                        <a:cs typeface="Times New Roman" panose="02020603050405020304" pitchFamily="18" charset="0"/>
                      </a:rPr>
                      <m:t>：</m:t>
                    </m:r>
                    <m:r>
                      <a:rPr lang="en-US" altLang="zh-CN" sz="1600" i="1" kern="100">
                        <a:solidFill>
                          <a:srgbClr val="000000"/>
                        </a:solidFill>
                        <a:latin typeface="Cambria Math" panose="02040503050406030204" pitchFamily="18" charset="0"/>
                        <a:ea typeface="楷体_GB2312"/>
                        <a:cs typeface="Times New Roman" panose="02020603050405020304" pitchFamily="18" charset="0"/>
                      </a:rPr>
                      <m:t>𝐴</m:t>
                    </m:r>
                    <m:r>
                      <a:rPr lang="en-US" altLang="zh-CN" sz="1600" kern="100">
                        <a:solidFill>
                          <a:srgbClr val="000000"/>
                        </a:solidFill>
                        <a:latin typeface="Cambria Math" panose="02040503050406030204" pitchFamily="18" charset="0"/>
                        <a:ea typeface="楷体_GB2312"/>
                        <a:cs typeface="Times New Roman" panose="02020603050405020304" pitchFamily="18" charset="0"/>
                      </a:rPr>
                      <m:t>=</m:t>
                    </m:r>
                    <m:d>
                      <m:dPr>
                        <m:begChr m:val="{"/>
                        <m:endChr m:val="}"/>
                        <m:ctrlPr>
                          <a:rPr lang="en-US" altLang="zh-CN" sz="1600" i="1" kern="100">
                            <a:solidFill>
                              <a:srgbClr val="000000"/>
                            </a:solidFill>
                            <a:latin typeface="Cambria Math" panose="02040503050406030204" pitchFamily="18" charset="0"/>
                            <a:ea typeface="楷体_GB2312"/>
                            <a:cs typeface="Times New Roman" panose="02020603050405020304" pitchFamily="18" charset="0"/>
                          </a:rPr>
                        </m:ctrlPr>
                      </m:dPr>
                      <m:e>
                        <m:r>
                          <a:rPr lang="zh-CN" altLang="zh-CN" sz="1600" kern="100">
                            <a:solidFill>
                              <a:srgbClr val="000000"/>
                            </a:solidFill>
                            <a:latin typeface="Cambria Math" panose="02040503050406030204" pitchFamily="18" charset="0"/>
                            <a:ea typeface="楷体_GB2312"/>
                            <a:cs typeface="Times New Roman" panose="02020603050405020304" pitchFamily="18" charset="0"/>
                          </a:rPr>
                          <m:t>上</m:t>
                        </m:r>
                        <m:r>
                          <m:rPr>
                            <m:nor/>
                          </m:rPr>
                          <a:rPr lang="zh-CN" altLang="zh-CN" sz="1600" kern="1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m:t>，右</m:t>
                        </m:r>
                      </m:e>
                    </m:d>
                  </m:oMath>
                </a14:m>
                <a:endParaRPr lang="en-US" altLang="zh-CN" sz="16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342900" algn="just">
                  <a:lnSpc>
                    <a:spcPts val="2200"/>
                  </a:lnSpc>
                  <a:spcAft>
                    <a:spcPts val="0"/>
                  </a:spcAft>
                  <a:buFont typeface="Wingdings" panose="05000000000000000000" pitchFamily="2" charset="2"/>
                  <a:buChar char=""/>
                </a:pPr>
                <a:endParaRPr lang="en-US" altLang="zh-CN" sz="1600" i="1" dirty="0">
                  <a:latin typeface="微软雅黑" panose="020B0503020204020204" pitchFamily="34" charset="-122"/>
                  <a:ea typeface="微软雅黑" panose="020B0503020204020204" pitchFamily="34" charset="-122"/>
                </a:endParaRPr>
              </a:p>
              <a:p>
                <a:pPr marL="342900" lvl="0" indent="-342900" algn="just">
                  <a:lnSpc>
                    <a:spcPts val="2200"/>
                  </a:lnSpc>
                  <a:spcAft>
                    <a:spcPts val="0"/>
                  </a:spcAft>
                  <a:buFont typeface="Wingdings" panose="05000000000000000000" pitchFamily="2" charset="2"/>
                  <a:buChar char=""/>
                </a:pPr>
                <a:endParaRPr lang="en-US" altLang="zh-CN" sz="1600" i="1" dirty="0">
                  <a:latin typeface="微软雅黑" panose="020B0503020204020204" pitchFamily="34" charset="-122"/>
                  <a:ea typeface="微软雅黑" panose="020B0503020204020204" pitchFamily="34" charset="-122"/>
                </a:endParaRPr>
              </a:p>
              <a:p>
                <a:pPr marL="342900" lvl="0" indent="-342900" algn="just">
                  <a:lnSpc>
                    <a:spcPts val="2200"/>
                  </a:lnSpc>
                  <a:spcAft>
                    <a:spcPts val="0"/>
                  </a:spcAft>
                  <a:buFont typeface="Wingdings" panose="05000000000000000000" pitchFamily="2" charset="2"/>
                  <a:buChar char=""/>
                </a:pPr>
                <a:endParaRPr lang="en-US" altLang="zh-CN" sz="1600" i="1" dirty="0">
                  <a:latin typeface="微软雅黑" panose="020B0503020204020204" pitchFamily="34" charset="-122"/>
                  <a:ea typeface="微软雅黑" panose="020B0503020204020204" pitchFamily="34" charset="-122"/>
                </a:endParaRPr>
              </a:p>
              <a:p>
                <a:pPr marL="285750" lvl="0" indent="-285750" algn="just">
                  <a:lnSpc>
                    <a:spcPts val="2200"/>
                  </a:lnSpc>
                  <a:spcAft>
                    <a:spcPts val="0"/>
                  </a:spcAft>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rPr>
                  <a:t>奖励</a:t>
                </a:r>
                <a14:m>
                  <m:oMath xmlns:m="http://schemas.openxmlformats.org/officeDocument/2006/math">
                    <m:r>
                      <a:rPr lang="zh-CN" altLang="en-US" sz="1600" i="1" smtClean="0">
                        <a:latin typeface="Cambria Math" panose="02040503050406030204" pitchFamily="18" charset="0"/>
                      </a:rPr>
                      <m:t>函数</m:t>
                    </m:r>
                    <m:r>
                      <a:rPr lang="zh-CN" altLang="en-US" sz="1600" i="1">
                        <a:latin typeface="Cambria Math" panose="02040503050406030204" pitchFamily="18" charset="0"/>
                      </a:rPr>
                      <m:t>：</m:t>
                    </m:r>
                    <m:r>
                      <a:rPr lang="en-US" altLang="zh-CN" sz="1600" i="1">
                        <a:latin typeface="Cambria Math" panose="02040503050406030204" pitchFamily="18" charset="0"/>
                      </a:rPr>
                      <m:t>𝑅</m:t>
                    </m:r>
                    <m:d>
                      <m:dPr>
                        <m:ctrlPr>
                          <a:rPr lang="zh-CN" altLang="zh-CN" sz="1600" i="1">
                            <a:latin typeface="Cambria Math" panose="02040503050406030204" pitchFamily="18" charset="0"/>
                          </a:rPr>
                        </m:ctrlPr>
                      </m:dPr>
                      <m:e>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𝑆</m:t>
                            </m:r>
                          </m:e>
                          <m:sub>
                            <m:r>
                              <a:rPr lang="en-US" altLang="zh-CN" sz="1600" i="1">
                                <a:latin typeface="Cambria Math" panose="02040503050406030204" pitchFamily="18" charset="0"/>
                              </a:rPr>
                              <m:t>𝑡</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𝐴</m:t>
                            </m:r>
                          </m:e>
                          <m:sub>
                            <m:r>
                              <a:rPr lang="en-US" altLang="zh-CN" sz="1600" i="1">
                                <a:latin typeface="Cambria Math" panose="02040503050406030204" pitchFamily="18" charset="0"/>
                              </a:rPr>
                              <m:t>𝑡</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𝑆</m:t>
                            </m:r>
                          </m:e>
                          <m:sub>
                            <m:r>
                              <a:rPr lang="en-US" altLang="zh-CN" sz="1600" i="1">
                                <a:latin typeface="Cambria Math" panose="02040503050406030204" pitchFamily="18" charset="0"/>
                              </a:rPr>
                              <m:t>𝑡</m:t>
                            </m:r>
                            <m:r>
                              <a:rPr lang="en-US" altLang="zh-CN" sz="1600" i="1">
                                <a:latin typeface="Cambria Math" panose="02040503050406030204" pitchFamily="18" charset="0"/>
                              </a:rPr>
                              <m:t>+1</m:t>
                            </m:r>
                          </m:sub>
                        </m:sSub>
                      </m:e>
                    </m:d>
                    <m:r>
                      <a:rPr lang="en-US" altLang="zh-CN" sz="1600" i="1">
                        <a:latin typeface="Cambria Math" panose="02040503050406030204" pitchFamily="18" charset="0"/>
                      </a:rPr>
                      <m:t>=</m:t>
                    </m:r>
                    <m:d>
                      <m:dPr>
                        <m:begChr m:val="{"/>
                        <m:endChr m:val=""/>
                        <m:ctrlPr>
                          <a:rPr lang="zh-CN" altLang="zh-CN" sz="1600" i="1">
                            <a:latin typeface="Cambria Math" panose="02040503050406030204" pitchFamily="18" charset="0"/>
                          </a:rPr>
                        </m:ctrlPr>
                      </m:dPr>
                      <m:e>
                        <m:m>
                          <m:mPr>
                            <m:mcs>
                              <m:mc>
                                <m:mcPr>
                                  <m:count m:val="2"/>
                                  <m:mcJc m:val="center"/>
                                </m:mcPr>
                              </m:mc>
                            </m:mcs>
                            <m:ctrlPr>
                              <a:rPr lang="zh-CN" altLang="zh-CN" sz="1600" i="1">
                                <a:latin typeface="Cambria Math" panose="02040503050406030204" pitchFamily="18" charset="0"/>
                              </a:rPr>
                            </m:ctrlPr>
                          </m:mPr>
                          <m:mr>
                            <m:e>
                              <m:r>
                                <a:rPr lang="en-US" altLang="zh-CN" sz="1600" i="1">
                                  <a:latin typeface="Cambria Math" panose="02040503050406030204" pitchFamily="18" charset="0"/>
                                </a:rPr>
                                <m:t>1,</m:t>
                              </m:r>
                            </m:e>
                            <m:e>
                              <m:r>
                                <a:rPr lang="zh-CN" altLang="zh-CN" sz="1600">
                                  <a:latin typeface="Cambria Math" panose="02040503050406030204" pitchFamily="18" charset="0"/>
                                </a:rPr>
                                <m:t>如果</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𝑆</m:t>
                                  </m:r>
                                </m:e>
                                <m:sub>
                                  <m:r>
                                    <a:rPr lang="en-US" altLang="zh-CN" sz="1600" i="1">
                                      <a:latin typeface="Cambria Math" panose="02040503050406030204" pitchFamily="18" charset="0"/>
                                    </a:rPr>
                                    <m:t>𝑡</m:t>
                                  </m:r>
                                  <m:r>
                                    <a:rPr lang="en-US" altLang="zh-CN" sz="1600" i="1">
                                      <a:latin typeface="Cambria Math" panose="02040503050406030204" pitchFamily="18" charset="0"/>
                                    </a:rPr>
                                    <m:t>+1</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𝑠</m:t>
                                  </m:r>
                                </m:e>
                                <m:sub>
                                  <m:r>
                                    <a:rPr lang="en-US" altLang="zh-CN" sz="1600" i="1">
                                      <a:latin typeface="Cambria Math" panose="02040503050406030204" pitchFamily="18" charset="0"/>
                                    </a:rPr>
                                    <m:t>9</m:t>
                                  </m:r>
                                </m:sub>
                              </m:sSub>
                            </m:e>
                          </m:mr>
                          <m:mr>
                            <m:e>
                              <m:r>
                                <a:rPr lang="en-US" altLang="zh-CN" sz="1600" i="1">
                                  <a:latin typeface="Cambria Math" panose="02040503050406030204" pitchFamily="18" charset="0"/>
                                </a:rPr>
                                <m:t>−1,</m:t>
                              </m:r>
                            </m:e>
                            <m:e>
                              <m:r>
                                <a:rPr lang="zh-CN" altLang="zh-CN" sz="1600">
                                  <a:latin typeface="Cambria Math" panose="02040503050406030204" pitchFamily="18" charset="0"/>
                                </a:rPr>
                                <m:t>如果</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𝑆</m:t>
                                  </m:r>
                                </m:e>
                                <m:sub>
                                  <m:r>
                                    <a:rPr lang="en-US" altLang="zh-CN" sz="1600" i="1">
                                      <a:latin typeface="Cambria Math" panose="02040503050406030204" pitchFamily="18" charset="0"/>
                                    </a:rPr>
                                    <m:t>𝑡</m:t>
                                  </m:r>
                                  <m:r>
                                    <a:rPr lang="en-US" altLang="zh-CN" sz="1600" i="1">
                                      <a:latin typeface="Cambria Math" panose="02040503050406030204" pitchFamily="18" charset="0"/>
                                    </a:rPr>
                                    <m:t>+1</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𝑠</m:t>
                                  </m:r>
                                </m:e>
                                <m:sub>
                                  <m:r>
                                    <a:rPr lang="en-US" altLang="zh-CN" sz="1600" i="1">
                                      <a:latin typeface="Cambria Math" panose="02040503050406030204" pitchFamily="18" charset="0"/>
                                    </a:rPr>
                                    <m:t>𝑑</m:t>
                                  </m:r>
                                </m:sub>
                              </m:sSub>
                            </m:e>
                          </m:mr>
                          <m:mr>
                            <m:e>
                              <m:r>
                                <a:rPr lang="en-US" altLang="zh-CN" sz="1600" i="1">
                                  <a:latin typeface="Cambria Math" panose="02040503050406030204" pitchFamily="18" charset="0"/>
                                </a:rPr>
                                <m:t>0,</m:t>
                              </m:r>
                            </m:e>
                            <m:e>
                              <m:r>
                                <a:rPr lang="zh-CN" altLang="zh-CN" sz="1600">
                                  <a:latin typeface="Cambria Math" panose="02040503050406030204" pitchFamily="18" charset="0"/>
                                </a:rPr>
                                <m:t>其他情况</m:t>
                              </m:r>
                              <m:r>
                                <a:rPr lang="zh-CN" altLang="zh-CN" sz="1600">
                                  <a:latin typeface="Cambria Math" panose="02040503050406030204" pitchFamily="18" charset="0"/>
                                </a:rPr>
                                <m:t> </m:t>
                              </m:r>
                              <m:r>
                                <a:rPr lang="en-US" altLang="zh-CN" sz="1600" i="1">
                                  <a:latin typeface="Cambria Math" panose="02040503050406030204" pitchFamily="18" charset="0"/>
                                </a:rPr>
                                <m:t>         </m:t>
                              </m:r>
                            </m:e>
                          </m:mr>
                        </m:m>
                      </m:e>
                    </m:d>
                  </m:oMath>
                </a14:m>
                <a:endParaRPr lang="zh-CN" altLang="zh-CN" sz="1600" dirty="0">
                  <a:latin typeface="微软雅黑" panose="020B0503020204020204" pitchFamily="34" charset="-122"/>
                  <a:ea typeface="微软雅黑" panose="020B0503020204020204" pitchFamily="34" charset="-122"/>
                </a:endParaRPr>
              </a:p>
              <a:p>
                <a:r>
                  <a:rPr lang="en-US" altLang="zh-CN" sz="1600" dirty="0">
                    <a:latin typeface="微软雅黑" panose="020B0503020204020204" pitchFamily="34" charset="-122"/>
                    <a:ea typeface="微软雅黑" panose="020B0503020204020204" pitchFamily="34" charset="-122"/>
                  </a:rPr>
                  <a:t> </a:t>
                </a:r>
                <a:endParaRPr lang="zh-CN" altLang="zh-CN" sz="1600" dirty="0">
                  <a:latin typeface="微软雅黑" panose="020B0503020204020204" pitchFamily="34" charset="-122"/>
                  <a:ea typeface="微软雅黑" panose="020B0503020204020204" pitchFamily="34" charset="-122"/>
                </a:endParaRPr>
              </a:p>
              <a:p>
                <a:pPr lvl="0"/>
                <a:endParaRPr lang="en-US" altLang="zh-CN" sz="1600" dirty="0">
                  <a:latin typeface="微软雅黑" panose="020B0503020204020204" pitchFamily="34" charset="-122"/>
                  <a:ea typeface="微软雅黑" panose="020B0503020204020204" pitchFamily="34" charset="-122"/>
                </a:endParaRPr>
              </a:p>
              <a:p>
                <a:pPr marL="285750" lvl="0" indent="-285750">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rPr>
                  <a:t>折扣因子：</a:t>
                </a:r>
                <a14:m>
                  <m:oMath xmlns:m="http://schemas.openxmlformats.org/officeDocument/2006/math">
                    <m:r>
                      <a:rPr lang="en-US" altLang="zh-CN" sz="1600" i="1">
                        <a:latin typeface="Cambria Math" panose="02040503050406030204" pitchFamily="18" charset="0"/>
                      </a:rPr>
                      <m:t>𝛾</m:t>
                    </m:r>
                    <m:r>
                      <a:rPr lang="en-US" altLang="zh-CN" sz="1600" i="1">
                        <a:latin typeface="Cambria Math" panose="02040503050406030204" pitchFamily="18" charset="0"/>
                      </a:rPr>
                      <m:t>=0.99</m:t>
                    </m:r>
                  </m:oMath>
                </a14:m>
                <a:endParaRPr lang="en-US" altLang="zh-CN" sz="1600" dirty="0">
                  <a:latin typeface="微软雅黑" panose="020B0503020204020204" pitchFamily="34" charset="-122"/>
                  <a:ea typeface="微软雅黑" panose="020B0503020204020204" pitchFamily="34" charset="-122"/>
                </a:endParaRPr>
              </a:p>
              <a:p>
                <a:pPr marL="285750" lvl="0" indent="-285750">
                  <a:buFont typeface="Wingdings" panose="05000000000000000000" pitchFamily="2" charset="2"/>
                  <a:buChar char="l"/>
                </a:pPr>
                <a:endParaRPr lang="en-US" altLang="zh-CN" sz="1600" dirty="0">
                  <a:latin typeface="微软雅黑" panose="020B0503020204020204" pitchFamily="34" charset="-122"/>
                  <a:ea typeface="微软雅黑" panose="020B0503020204020204" pitchFamily="34" charset="-122"/>
                </a:endParaRPr>
              </a:p>
              <a:p>
                <a:pPr marL="285750" lvl="0" indent="-285750">
                  <a:buFont typeface="Wingdings" panose="05000000000000000000" pitchFamily="2" charset="2"/>
                  <a:buChar char="l"/>
                </a:pPr>
                <a:r>
                  <a:rPr lang="zh-CN" altLang="zh-CN" sz="1600" dirty="0">
                    <a:latin typeface="微软雅黑" panose="020B0503020204020204" pitchFamily="34" charset="-122"/>
                    <a:ea typeface="微软雅黑" panose="020B0503020204020204" pitchFamily="34" charset="-122"/>
                  </a:rPr>
                  <a:t>初始状态</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𝑆</m:t>
                        </m:r>
                      </m:e>
                      <m:sub>
                        <m:r>
                          <a:rPr lang="en-US" altLang="zh-CN" sz="1600" i="1">
                            <a:latin typeface="Cambria Math" panose="02040503050406030204" pitchFamily="18" charset="0"/>
                          </a:rPr>
                          <m:t>0</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𝑠</m:t>
                        </m:r>
                      </m:e>
                      <m:sub>
                        <m:r>
                          <a:rPr lang="en-US" altLang="zh-CN" sz="1600" i="1">
                            <a:latin typeface="Cambria Math" panose="02040503050406030204" pitchFamily="18" charset="0"/>
                          </a:rPr>
                          <m:t>1</m:t>
                        </m:r>
                      </m:sub>
                    </m:sSub>
                  </m:oMath>
                </a14:m>
                <a:r>
                  <a:rPr lang="zh-CN" altLang="zh-CN" sz="1600" dirty="0">
                    <a:latin typeface="微软雅黑" panose="020B0503020204020204" pitchFamily="34" charset="-122"/>
                    <a:ea typeface="微软雅黑" panose="020B0503020204020204" pitchFamily="34" charset="-122"/>
                  </a:rPr>
                  <a:t>，终止状态集合</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𝑆</m:t>
                        </m:r>
                      </m:e>
                      <m:sub>
                        <m:r>
                          <a:rPr lang="en-US" altLang="zh-CN" sz="1600" i="1">
                            <a:latin typeface="Cambria Math" panose="02040503050406030204" pitchFamily="18" charset="0"/>
                          </a:rPr>
                          <m:t>𝑇</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𝑠</m:t>
                        </m:r>
                      </m:e>
                      <m:sub>
                        <m:r>
                          <a:rPr lang="en-US" altLang="zh-CN" sz="1600" i="1">
                            <a:latin typeface="Cambria Math" panose="02040503050406030204" pitchFamily="18" charset="0"/>
                          </a:rPr>
                          <m:t>9</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𝑠</m:t>
                        </m:r>
                      </m:e>
                      <m:sub>
                        <m:r>
                          <a:rPr lang="en-US" altLang="zh-CN" sz="1600" i="1">
                            <a:latin typeface="Cambria Math" panose="02040503050406030204" pitchFamily="18" charset="0"/>
                          </a:rPr>
                          <m:t>𝑑</m:t>
                        </m:r>
                      </m:sub>
                    </m:sSub>
                    <m:r>
                      <a:rPr lang="en-US" altLang="zh-CN" sz="1600" i="1">
                        <a:latin typeface="Cambria Math" panose="02040503050406030204" pitchFamily="18" charset="0"/>
                      </a:rPr>
                      <m:t>}</m:t>
                    </m:r>
                  </m:oMath>
                </a14:m>
                <a:r>
                  <a:rPr lang="zh-CN" altLang="zh-CN" sz="1600" dirty="0">
                    <a:latin typeface="微软雅黑" panose="020B0503020204020204" pitchFamily="34" charset="-122"/>
                    <a:ea typeface="微软雅黑" panose="020B0503020204020204" pitchFamily="34" charset="-122"/>
                  </a:rPr>
                  <a:t>。</a:t>
                </a:r>
              </a:p>
              <a:p>
                <a:pPr marL="342900" lvl="0" indent="-342900" algn="just">
                  <a:lnSpc>
                    <a:spcPts val="2200"/>
                  </a:lnSpc>
                  <a:spcAft>
                    <a:spcPts val="0"/>
                  </a:spcAft>
                  <a:buFont typeface="Wingdings" panose="05000000000000000000" pitchFamily="2" charset="2"/>
                  <a:buChar char=""/>
                </a:pPr>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11" name="矩形 10">
                <a:extLst>
                  <a:ext uri="{FF2B5EF4-FFF2-40B4-BE49-F238E27FC236}">
                    <a16:creationId xmlns:a16="http://schemas.microsoft.com/office/drawing/2014/main" id="{09F0CB8A-B839-4252-8DD0-7248A078B51E}"/>
                  </a:ext>
                </a:extLst>
              </p:cNvPr>
              <p:cNvSpPr>
                <a:spLocks noRot="1" noChangeAspect="1" noMove="1" noResize="1" noEditPoints="1" noAdjustHandles="1" noChangeArrowheads="1" noChangeShapeType="1" noTextEdit="1"/>
              </p:cNvSpPr>
              <p:nvPr/>
            </p:nvSpPr>
            <p:spPr>
              <a:xfrm>
                <a:off x="252375" y="2179581"/>
                <a:ext cx="6096000" cy="3246723"/>
              </a:xfrm>
              <a:prstGeom prst="rect">
                <a:avLst/>
              </a:prstGeom>
              <a:blipFill>
                <a:blip r:embed="rId6"/>
                <a:stretch>
                  <a:fillRect l="-400" t="-564"/>
                </a:stretch>
              </a:blipFill>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8E6EE76F-A838-4571-B28F-248A34502525}"/>
              </a:ext>
            </a:extLst>
          </p:cNvPr>
          <p:cNvPicPr>
            <a:picLocks noChangeAspect="1"/>
          </p:cNvPicPr>
          <p:nvPr/>
        </p:nvPicPr>
        <p:blipFill>
          <a:blip r:embed="rId7"/>
          <a:stretch>
            <a:fillRect/>
          </a:stretch>
        </p:blipFill>
        <p:spPr>
          <a:xfrm>
            <a:off x="5177934" y="1845961"/>
            <a:ext cx="5289849" cy="4884645"/>
          </a:xfrm>
          <a:prstGeom prst="rect">
            <a:avLst/>
          </a:prstGeom>
        </p:spPr>
      </p:pic>
    </p:spTree>
    <p:extLst>
      <p:ext uri="{BB962C8B-B14F-4D97-AF65-F5344CB8AC3E}">
        <p14:creationId xmlns:p14="http://schemas.microsoft.com/office/powerpoint/2010/main" val="4261153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马尔可夫决策过程：如何与环境交互</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强化学习问题定义</a:t>
            </a:r>
          </a:p>
        </p:txBody>
      </p:sp>
      <p:pic>
        <p:nvPicPr>
          <p:cNvPr id="9" name="图片 8">
            <a:extLst>
              <a:ext uri="{FF2B5EF4-FFF2-40B4-BE49-F238E27FC236}">
                <a16:creationId xmlns:a16="http://schemas.microsoft.com/office/drawing/2014/main" id="{D376633D-7008-468C-AE46-2FAC44CED61C}"/>
              </a:ext>
            </a:extLst>
          </p:cNvPr>
          <p:cNvPicPr>
            <a:picLocks noChangeAspect="1"/>
          </p:cNvPicPr>
          <p:nvPr/>
        </p:nvPicPr>
        <p:blipFill>
          <a:blip r:embed="rId3"/>
          <a:stretch>
            <a:fillRect/>
          </a:stretch>
        </p:blipFill>
        <p:spPr>
          <a:xfrm>
            <a:off x="2760324" y="1330869"/>
            <a:ext cx="6488179" cy="1825340"/>
          </a:xfrm>
          <a:prstGeom prst="rect">
            <a:avLst/>
          </a:prstGeom>
        </p:spPr>
      </p:pic>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E7DA5568-5FFB-4962-BD4A-ADBF1D1E40D3}"/>
                  </a:ext>
                </a:extLst>
              </p:cNvPr>
              <p:cNvSpPr/>
              <p:nvPr/>
            </p:nvSpPr>
            <p:spPr>
              <a:xfrm>
                <a:off x="1122736" y="3310122"/>
                <a:ext cx="9772357" cy="2481449"/>
              </a:xfrm>
              <a:prstGeom prst="rect">
                <a:avLst/>
              </a:prstGeom>
            </p:spPr>
            <p:txBody>
              <a:bodyPr wrap="square">
                <a:spAutoFit/>
              </a:bodyPr>
              <a:lstStyle/>
              <a:p>
                <a:pPr indent="266700" algn="just">
                  <a:lnSpc>
                    <a:spcPct val="1500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马尔可夫决策过程刻画了智能体与环境的交互特点，这一交互可用图</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6.6</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简洁概括。如图所示，智能体从初始状态</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𝑆</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0</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开始，根据策略执行动作</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𝐴</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0</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，得到奖励值</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𝑅</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，同时状态转移到</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𝑆</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，以此类推。于是，可得到一个状态序列</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𝑆</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0</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𝑆</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，该序列称为</a:t>
                </a:r>
                <a:r>
                  <a:rPr lang="zh-CN" altLang="zh-CN" sz="1600" b="1" dirty="0">
                    <a:solidFill>
                      <a:srgbClr val="000000"/>
                    </a:solidFill>
                    <a:latin typeface="Times New Roman" panose="02020603050405020304" pitchFamily="18" charset="0"/>
                    <a:ea typeface="楷体_GB2312"/>
                    <a:cs typeface="Times New Roman" panose="02020603050405020304" pitchFamily="18" charset="0"/>
                  </a:rPr>
                  <a:t>轨迹（</a:t>
                </a:r>
                <a:r>
                  <a:rPr lang="en-US" altLang="zh-CN" sz="1600" b="1" dirty="0">
                    <a:solidFill>
                      <a:srgbClr val="000000"/>
                    </a:solidFill>
                    <a:latin typeface="Times New Roman" panose="02020603050405020304" pitchFamily="18" charset="0"/>
                    <a:ea typeface="楷体_GB2312"/>
                    <a:cs typeface="Times New Roman" panose="02020603050405020304" pitchFamily="18" charset="0"/>
                  </a:rPr>
                  <a:t>trajectory</a:t>
                </a:r>
                <a:r>
                  <a:rPr lang="zh-CN" altLang="zh-CN" sz="1600" b="1"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，轨迹长度可以是无限的，也可以有终止状态</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𝑆</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𝑇</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。状态序列中包含终止状态的问题叫</a:t>
                </a:r>
                <a:r>
                  <a:rPr lang="zh-CN" altLang="zh-CN" sz="1600" b="1" dirty="0">
                    <a:solidFill>
                      <a:srgbClr val="000000"/>
                    </a:solidFill>
                    <a:latin typeface="Times New Roman" panose="02020603050405020304" pitchFamily="18" charset="0"/>
                    <a:ea typeface="楷体_GB2312"/>
                    <a:cs typeface="Times New Roman" panose="02020603050405020304" pitchFamily="18" charset="0"/>
                  </a:rPr>
                  <a:t>分段（</a:t>
                </a:r>
                <a:r>
                  <a:rPr lang="en-US" altLang="zh-CN" sz="1600" b="1" dirty="0">
                    <a:solidFill>
                      <a:srgbClr val="000000"/>
                    </a:solidFill>
                    <a:latin typeface="Times New Roman" panose="02020603050405020304" pitchFamily="18" charset="0"/>
                    <a:ea typeface="楷体_GB2312"/>
                    <a:cs typeface="Times New Roman" panose="02020603050405020304" pitchFamily="18" charset="0"/>
                  </a:rPr>
                  <a:t>episodic</a:t>
                </a:r>
                <a:r>
                  <a:rPr lang="zh-CN" altLang="zh-CN" sz="1600" b="1"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问题，不包含终止状态的问题叫</a:t>
                </a:r>
                <a:r>
                  <a:rPr lang="zh-CN" altLang="zh-CN" sz="1600" b="1" dirty="0">
                    <a:solidFill>
                      <a:srgbClr val="000000"/>
                    </a:solidFill>
                    <a:latin typeface="Times New Roman" panose="02020603050405020304" pitchFamily="18" charset="0"/>
                    <a:ea typeface="楷体_GB2312"/>
                    <a:cs typeface="Times New Roman" panose="02020603050405020304" pitchFamily="18" charset="0"/>
                  </a:rPr>
                  <a:t>持续（</a:t>
                </a:r>
                <a:r>
                  <a:rPr lang="en-US" altLang="zh-CN" sz="1600" b="1" dirty="0">
                    <a:solidFill>
                      <a:srgbClr val="000000"/>
                    </a:solidFill>
                    <a:latin typeface="Times New Roman" panose="02020603050405020304" pitchFamily="18" charset="0"/>
                    <a:ea typeface="楷体_GB2312"/>
                    <a:cs typeface="Times New Roman" panose="02020603050405020304" pitchFamily="18" charset="0"/>
                  </a:rPr>
                  <a:t>continuing</a:t>
                </a:r>
                <a:r>
                  <a:rPr lang="zh-CN" altLang="zh-CN" sz="1600" b="1"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问题。在分段问题中，一个从初始状态到终止状态的完整轨迹称为一个</a:t>
                </a:r>
                <a:r>
                  <a:rPr lang="zh-CN" altLang="zh-CN" sz="1600" b="1" dirty="0">
                    <a:solidFill>
                      <a:srgbClr val="000000"/>
                    </a:solidFill>
                    <a:latin typeface="Times New Roman" panose="02020603050405020304" pitchFamily="18" charset="0"/>
                    <a:ea typeface="楷体_GB2312"/>
                    <a:cs typeface="Times New Roman" panose="02020603050405020304" pitchFamily="18" charset="0"/>
                  </a:rPr>
                  <a:t>片段（</a:t>
                </a:r>
                <a:r>
                  <a:rPr lang="en-US" altLang="zh-CN" sz="1600" b="1" dirty="0">
                    <a:solidFill>
                      <a:srgbClr val="000000"/>
                    </a:solidFill>
                    <a:latin typeface="Times New Roman" panose="02020603050405020304" pitchFamily="18" charset="0"/>
                    <a:ea typeface="楷体_GB2312"/>
                    <a:cs typeface="Times New Roman" panose="02020603050405020304" pitchFamily="18" charset="0"/>
                  </a:rPr>
                  <a:t>episode</a:t>
                </a:r>
                <a:r>
                  <a:rPr lang="zh-CN" altLang="zh-CN" sz="1600" b="1"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a:t>
                </a:r>
              </a:p>
              <a:p>
                <a:pPr indent="266700" algn="just">
                  <a:lnSpc>
                    <a:spcPts val="22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本章讨论的主要是分段问题，有时也将动作和奖励记入状态序列中，用</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𝑆</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0</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𝐴</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0</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𝑅</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𝑆</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𝐴</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2</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𝑅</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2</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𝑆</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2</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𝑆</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𝑇</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来描述一个片段。</a:t>
                </a:r>
              </a:p>
            </p:txBody>
          </p:sp>
        </mc:Choice>
        <mc:Fallback xmlns="">
          <p:sp>
            <p:nvSpPr>
              <p:cNvPr id="10" name="矩形 9">
                <a:extLst>
                  <a:ext uri="{FF2B5EF4-FFF2-40B4-BE49-F238E27FC236}">
                    <a16:creationId xmlns:a16="http://schemas.microsoft.com/office/drawing/2014/main" id="{E7DA5568-5FFB-4962-BD4A-ADBF1D1E40D3}"/>
                  </a:ext>
                </a:extLst>
              </p:cNvPr>
              <p:cNvSpPr>
                <a:spLocks noRot="1" noChangeAspect="1" noMove="1" noResize="1" noEditPoints="1" noAdjustHandles="1" noChangeArrowheads="1" noChangeShapeType="1" noTextEdit="1"/>
              </p:cNvSpPr>
              <p:nvPr/>
            </p:nvSpPr>
            <p:spPr>
              <a:xfrm>
                <a:off x="1122736" y="3310122"/>
                <a:ext cx="9772357" cy="2481449"/>
              </a:xfrm>
              <a:prstGeom prst="rect">
                <a:avLst/>
              </a:prstGeom>
              <a:blipFill>
                <a:blip r:embed="rId4"/>
                <a:stretch>
                  <a:fillRect l="-312" r="-374" b="-221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03896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B3298F8-EEB9-5F42-5B29-DAB15C5AA994}"/>
              </a:ext>
            </a:extLst>
          </p:cNvPr>
          <p:cNvGrpSpPr/>
          <p:nvPr/>
        </p:nvGrpSpPr>
        <p:grpSpPr>
          <a:xfrm>
            <a:off x="2583380" y="726948"/>
            <a:ext cx="7464387" cy="497934"/>
            <a:chOff x="4099943" y="2819853"/>
            <a:chExt cx="2570275" cy="497934"/>
          </a:xfrm>
        </p:grpSpPr>
        <p:sp>
          <p:nvSpPr>
            <p:cNvPr id="3" name="平行四边形 2">
              <a:extLst>
                <a:ext uri="{FF2B5EF4-FFF2-40B4-BE49-F238E27FC236}">
                  <a16:creationId xmlns:a16="http://schemas.microsoft.com/office/drawing/2014/main" id="{21D45613-77CF-CA04-AAAA-BDE2245923A1}"/>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a:extLst>
                <a:ext uri="{FF2B5EF4-FFF2-40B4-BE49-F238E27FC236}">
                  <a16:creationId xmlns:a16="http://schemas.microsoft.com/office/drawing/2014/main" id="{0AA191A1-4F25-BB03-0E2B-EB8E2785F6F7}"/>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a:extLst>
                <a:ext uri="{FF2B5EF4-FFF2-40B4-BE49-F238E27FC236}">
                  <a16:creationId xmlns:a16="http://schemas.microsoft.com/office/drawing/2014/main" id="{6E5F5443-688D-14CD-F0EE-95F21B575FD1}"/>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zh-CN" sz="2000" b="1" dirty="0">
                  <a:solidFill>
                    <a:srgbClr val="000000"/>
                  </a:solidFill>
                  <a:latin typeface="Times New Roman" panose="02020603050405020304" pitchFamily="18" charset="0"/>
                  <a:ea typeface="楷体_GB2312"/>
                  <a:cs typeface="Times New Roman" panose="02020603050405020304" pitchFamily="18" charset="0"/>
                </a:rPr>
                <a:t>轨迹</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的进一步阐释</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mc:AlternateContent xmlns:mc="http://schemas.openxmlformats.org/markup-compatibility/2006" xmlns:a14="http://schemas.microsoft.com/office/drawing/2010/main">
        <mc:Choice Requires="a14">
          <p:sp>
            <p:nvSpPr>
              <p:cNvPr id="12" name="椭圆 11">
                <a:extLst>
                  <a:ext uri="{FF2B5EF4-FFF2-40B4-BE49-F238E27FC236}">
                    <a16:creationId xmlns:a16="http://schemas.microsoft.com/office/drawing/2014/main" id="{2ABF495A-5326-6CAB-4272-0C57DCF6C349}"/>
                  </a:ext>
                </a:extLst>
              </p:cNvPr>
              <p:cNvSpPr/>
              <p:nvPr/>
            </p:nvSpPr>
            <p:spPr>
              <a:xfrm>
                <a:off x="3767833" y="4504615"/>
                <a:ext cx="421105" cy="391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0</m:t>
                          </m:r>
                        </m:sub>
                      </m:sSub>
                    </m:oMath>
                  </m:oMathPara>
                </a14:m>
                <a:endParaRPr lang="zh-CN" altLang="en-US" dirty="0"/>
              </a:p>
            </p:txBody>
          </p:sp>
        </mc:Choice>
        <mc:Fallback xmlns="">
          <p:sp>
            <p:nvSpPr>
              <p:cNvPr id="12" name="椭圆 11">
                <a:extLst>
                  <a:ext uri="{FF2B5EF4-FFF2-40B4-BE49-F238E27FC236}">
                    <a16:creationId xmlns:a16="http://schemas.microsoft.com/office/drawing/2014/main" id="{2ABF495A-5326-6CAB-4272-0C57DCF6C349}"/>
                  </a:ext>
                </a:extLst>
              </p:cNvPr>
              <p:cNvSpPr>
                <a:spLocks noRot="1" noChangeAspect="1" noMove="1" noResize="1" noEditPoints="1" noAdjustHandles="1" noChangeArrowheads="1" noChangeShapeType="1" noTextEdit="1"/>
              </p:cNvSpPr>
              <p:nvPr/>
            </p:nvSpPr>
            <p:spPr>
              <a:xfrm>
                <a:off x="3767833" y="4504615"/>
                <a:ext cx="421105" cy="391027"/>
              </a:xfrm>
              <a:prstGeom prst="ellipse">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椭圆 12">
                <a:extLst>
                  <a:ext uri="{FF2B5EF4-FFF2-40B4-BE49-F238E27FC236}">
                    <a16:creationId xmlns:a16="http://schemas.microsoft.com/office/drawing/2014/main" id="{314BC947-A75A-32DC-21EC-F44BC0810D0A}"/>
                  </a:ext>
                </a:extLst>
              </p:cNvPr>
              <p:cNvSpPr/>
              <p:nvPr/>
            </p:nvSpPr>
            <p:spPr>
              <a:xfrm>
                <a:off x="4810599" y="3929933"/>
                <a:ext cx="421105" cy="391027"/>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zh-CN"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𝐴</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0</m:t>
                          </m:r>
                        </m:sub>
                      </m:sSub>
                    </m:oMath>
                  </m:oMathPara>
                </a14:m>
                <a:endParaRPr lang="zh-CN" altLang="en-US" dirty="0"/>
              </a:p>
            </p:txBody>
          </p:sp>
        </mc:Choice>
        <mc:Fallback xmlns="">
          <p:sp>
            <p:nvSpPr>
              <p:cNvPr id="13" name="椭圆 12">
                <a:extLst>
                  <a:ext uri="{FF2B5EF4-FFF2-40B4-BE49-F238E27FC236}">
                    <a16:creationId xmlns:a16="http://schemas.microsoft.com/office/drawing/2014/main" id="{314BC947-A75A-32DC-21EC-F44BC0810D0A}"/>
                  </a:ext>
                </a:extLst>
              </p:cNvPr>
              <p:cNvSpPr>
                <a:spLocks noRot="1" noChangeAspect="1" noMove="1" noResize="1" noEditPoints="1" noAdjustHandles="1" noChangeArrowheads="1" noChangeShapeType="1" noTextEdit="1"/>
              </p:cNvSpPr>
              <p:nvPr/>
            </p:nvSpPr>
            <p:spPr>
              <a:xfrm>
                <a:off x="4810599" y="3929933"/>
                <a:ext cx="421105" cy="391027"/>
              </a:xfrm>
              <a:prstGeom prst="ellipse">
                <a:avLst/>
              </a:prstGeom>
              <a:blipFill>
                <a:blip r:embed="rId3"/>
                <a:stretch>
                  <a:fillRect l="-42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椭圆 14">
                <a:extLst>
                  <a:ext uri="{FF2B5EF4-FFF2-40B4-BE49-F238E27FC236}">
                    <a16:creationId xmlns:a16="http://schemas.microsoft.com/office/drawing/2014/main" id="{214E3A18-BFE1-8871-0E0A-03B0B01F53C4}"/>
                  </a:ext>
                </a:extLst>
              </p:cNvPr>
              <p:cNvSpPr/>
              <p:nvPr/>
            </p:nvSpPr>
            <p:spPr>
              <a:xfrm>
                <a:off x="4810601" y="4504615"/>
                <a:ext cx="421105" cy="391027"/>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zh-CN"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𝐴</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0</m:t>
                          </m:r>
                        </m:sub>
                      </m:sSub>
                    </m:oMath>
                  </m:oMathPara>
                </a14:m>
                <a:endParaRPr lang="zh-CN" altLang="en-US" dirty="0"/>
              </a:p>
            </p:txBody>
          </p:sp>
        </mc:Choice>
        <mc:Fallback xmlns="">
          <p:sp>
            <p:nvSpPr>
              <p:cNvPr id="15" name="椭圆 14">
                <a:extLst>
                  <a:ext uri="{FF2B5EF4-FFF2-40B4-BE49-F238E27FC236}">
                    <a16:creationId xmlns:a16="http://schemas.microsoft.com/office/drawing/2014/main" id="{214E3A18-BFE1-8871-0E0A-03B0B01F53C4}"/>
                  </a:ext>
                </a:extLst>
              </p:cNvPr>
              <p:cNvSpPr>
                <a:spLocks noRot="1" noChangeAspect="1" noMove="1" noResize="1" noEditPoints="1" noAdjustHandles="1" noChangeArrowheads="1" noChangeShapeType="1" noTextEdit="1"/>
              </p:cNvSpPr>
              <p:nvPr/>
            </p:nvSpPr>
            <p:spPr>
              <a:xfrm>
                <a:off x="4810601" y="4504615"/>
                <a:ext cx="421105" cy="391027"/>
              </a:xfrm>
              <a:prstGeom prst="ellipse">
                <a:avLst/>
              </a:prstGeom>
              <a:blipFill>
                <a:blip r:embed="rId4"/>
                <a:stretch>
                  <a:fillRect l="-42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椭圆 15">
                <a:extLst>
                  <a:ext uri="{FF2B5EF4-FFF2-40B4-BE49-F238E27FC236}">
                    <a16:creationId xmlns:a16="http://schemas.microsoft.com/office/drawing/2014/main" id="{50B5390C-E2EC-D861-9934-85425CDF1403}"/>
                  </a:ext>
                </a:extLst>
              </p:cNvPr>
              <p:cNvSpPr/>
              <p:nvPr/>
            </p:nvSpPr>
            <p:spPr>
              <a:xfrm>
                <a:off x="4810598" y="5079297"/>
                <a:ext cx="421105" cy="391027"/>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zh-CN"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𝐴</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0</m:t>
                          </m:r>
                        </m:sub>
                      </m:sSub>
                    </m:oMath>
                  </m:oMathPara>
                </a14:m>
                <a:endParaRPr lang="zh-CN" altLang="en-US" dirty="0"/>
              </a:p>
            </p:txBody>
          </p:sp>
        </mc:Choice>
        <mc:Fallback xmlns="">
          <p:sp>
            <p:nvSpPr>
              <p:cNvPr id="16" name="椭圆 15">
                <a:extLst>
                  <a:ext uri="{FF2B5EF4-FFF2-40B4-BE49-F238E27FC236}">
                    <a16:creationId xmlns:a16="http://schemas.microsoft.com/office/drawing/2014/main" id="{50B5390C-E2EC-D861-9934-85425CDF1403}"/>
                  </a:ext>
                </a:extLst>
              </p:cNvPr>
              <p:cNvSpPr>
                <a:spLocks noRot="1" noChangeAspect="1" noMove="1" noResize="1" noEditPoints="1" noAdjustHandles="1" noChangeArrowheads="1" noChangeShapeType="1" noTextEdit="1"/>
              </p:cNvSpPr>
              <p:nvPr/>
            </p:nvSpPr>
            <p:spPr>
              <a:xfrm>
                <a:off x="4810598" y="5079297"/>
                <a:ext cx="421105" cy="391027"/>
              </a:xfrm>
              <a:prstGeom prst="ellipse">
                <a:avLst/>
              </a:prstGeom>
              <a:blipFill>
                <a:blip r:embed="rId5"/>
                <a:stretch>
                  <a:fillRect l="-42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椭圆 16">
                <a:extLst>
                  <a:ext uri="{FF2B5EF4-FFF2-40B4-BE49-F238E27FC236}">
                    <a16:creationId xmlns:a16="http://schemas.microsoft.com/office/drawing/2014/main" id="{005067C6-38C6-C673-3425-30FCEBC4569A}"/>
                  </a:ext>
                </a:extLst>
              </p:cNvPr>
              <p:cNvSpPr/>
              <p:nvPr/>
            </p:nvSpPr>
            <p:spPr>
              <a:xfrm>
                <a:off x="5755048" y="3279267"/>
                <a:ext cx="421105" cy="391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1</m:t>
                          </m:r>
                        </m:sub>
                      </m:sSub>
                    </m:oMath>
                  </m:oMathPara>
                </a14:m>
                <a:endParaRPr lang="zh-CN" altLang="en-US" dirty="0"/>
              </a:p>
            </p:txBody>
          </p:sp>
        </mc:Choice>
        <mc:Fallback xmlns="">
          <p:sp>
            <p:nvSpPr>
              <p:cNvPr id="17" name="椭圆 16">
                <a:extLst>
                  <a:ext uri="{FF2B5EF4-FFF2-40B4-BE49-F238E27FC236}">
                    <a16:creationId xmlns:a16="http://schemas.microsoft.com/office/drawing/2014/main" id="{005067C6-38C6-C673-3425-30FCEBC4569A}"/>
                  </a:ext>
                </a:extLst>
              </p:cNvPr>
              <p:cNvSpPr>
                <a:spLocks noRot="1" noChangeAspect="1" noMove="1" noResize="1" noEditPoints="1" noAdjustHandles="1" noChangeArrowheads="1" noChangeShapeType="1" noTextEdit="1"/>
              </p:cNvSpPr>
              <p:nvPr/>
            </p:nvSpPr>
            <p:spPr>
              <a:xfrm>
                <a:off x="5755048" y="3279267"/>
                <a:ext cx="421105" cy="391027"/>
              </a:xfrm>
              <a:prstGeom prst="ellipse">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椭圆 17">
                <a:extLst>
                  <a:ext uri="{FF2B5EF4-FFF2-40B4-BE49-F238E27FC236}">
                    <a16:creationId xmlns:a16="http://schemas.microsoft.com/office/drawing/2014/main" id="{8B85CECB-0F16-6F68-76F3-16DAA9375568}"/>
                  </a:ext>
                </a:extLst>
              </p:cNvPr>
              <p:cNvSpPr/>
              <p:nvPr/>
            </p:nvSpPr>
            <p:spPr>
              <a:xfrm>
                <a:off x="5755048" y="3810662"/>
                <a:ext cx="421105" cy="391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1</m:t>
                          </m:r>
                        </m:sub>
                      </m:sSub>
                    </m:oMath>
                  </m:oMathPara>
                </a14:m>
                <a:endParaRPr lang="zh-CN" altLang="en-US" dirty="0"/>
              </a:p>
            </p:txBody>
          </p:sp>
        </mc:Choice>
        <mc:Fallback xmlns="">
          <p:sp>
            <p:nvSpPr>
              <p:cNvPr id="18" name="椭圆 17">
                <a:extLst>
                  <a:ext uri="{FF2B5EF4-FFF2-40B4-BE49-F238E27FC236}">
                    <a16:creationId xmlns:a16="http://schemas.microsoft.com/office/drawing/2014/main" id="{8B85CECB-0F16-6F68-76F3-16DAA9375568}"/>
                  </a:ext>
                </a:extLst>
              </p:cNvPr>
              <p:cNvSpPr>
                <a:spLocks noRot="1" noChangeAspect="1" noMove="1" noResize="1" noEditPoints="1" noAdjustHandles="1" noChangeArrowheads="1" noChangeShapeType="1" noTextEdit="1"/>
              </p:cNvSpPr>
              <p:nvPr/>
            </p:nvSpPr>
            <p:spPr>
              <a:xfrm>
                <a:off x="5755048" y="3810662"/>
                <a:ext cx="421105" cy="391027"/>
              </a:xfrm>
              <a:prstGeom prst="ellipse">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椭圆 18">
                <a:extLst>
                  <a:ext uri="{FF2B5EF4-FFF2-40B4-BE49-F238E27FC236}">
                    <a16:creationId xmlns:a16="http://schemas.microsoft.com/office/drawing/2014/main" id="{AAE683B1-3540-7E7E-56F9-71ADCB4CD627}"/>
                  </a:ext>
                </a:extLst>
              </p:cNvPr>
              <p:cNvSpPr/>
              <p:nvPr/>
            </p:nvSpPr>
            <p:spPr>
              <a:xfrm>
                <a:off x="5755047" y="4342057"/>
                <a:ext cx="421105" cy="391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1</m:t>
                          </m:r>
                        </m:sub>
                      </m:sSub>
                    </m:oMath>
                  </m:oMathPara>
                </a14:m>
                <a:endParaRPr lang="zh-CN" altLang="en-US" dirty="0"/>
              </a:p>
            </p:txBody>
          </p:sp>
        </mc:Choice>
        <mc:Fallback xmlns="">
          <p:sp>
            <p:nvSpPr>
              <p:cNvPr id="19" name="椭圆 18">
                <a:extLst>
                  <a:ext uri="{FF2B5EF4-FFF2-40B4-BE49-F238E27FC236}">
                    <a16:creationId xmlns:a16="http://schemas.microsoft.com/office/drawing/2014/main" id="{AAE683B1-3540-7E7E-56F9-71ADCB4CD627}"/>
                  </a:ext>
                </a:extLst>
              </p:cNvPr>
              <p:cNvSpPr>
                <a:spLocks noRot="1" noChangeAspect="1" noMove="1" noResize="1" noEditPoints="1" noAdjustHandles="1" noChangeArrowheads="1" noChangeShapeType="1" noTextEdit="1"/>
              </p:cNvSpPr>
              <p:nvPr/>
            </p:nvSpPr>
            <p:spPr>
              <a:xfrm>
                <a:off x="5755047" y="4342057"/>
                <a:ext cx="421105" cy="391027"/>
              </a:xfrm>
              <a:prstGeom prst="ellipse">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椭圆 19">
                <a:extLst>
                  <a:ext uri="{FF2B5EF4-FFF2-40B4-BE49-F238E27FC236}">
                    <a16:creationId xmlns:a16="http://schemas.microsoft.com/office/drawing/2014/main" id="{E88C0B06-795E-4522-841E-5474EB6770AF}"/>
                  </a:ext>
                </a:extLst>
              </p:cNvPr>
              <p:cNvSpPr/>
              <p:nvPr/>
            </p:nvSpPr>
            <p:spPr>
              <a:xfrm>
                <a:off x="5755046" y="4877767"/>
                <a:ext cx="421105" cy="391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1</m:t>
                          </m:r>
                        </m:sub>
                      </m:sSub>
                    </m:oMath>
                  </m:oMathPara>
                </a14:m>
                <a:endParaRPr lang="zh-CN" altLang="en-US" dirty="0"/>
              </a:p>
            </p:txBody>
          </p:sp>
        </mc:Choice>
        <mc:Fallback xmlns="">
          <p:sp>
            <p:nvSpPr>
              <p:cNvPr id="20" name="椭圆 19">
                <a:extLst>
                  <a:ext uri="{FF2B5EF4-FFF2-40B4-BE49-F238E27FC236}">
                    <a16:creationId xmlns:a16="http://schemas.microsoft.com/office/drawing/2014/main" id="{E88C0B06-795E-4522-841E-5474EB6770AF}"/>
                  </a:ext>
                </a:extLst>
              </p:cNvPr>
              <p:cNvSpPr>
                <a:spLocks noRot="1" noChangeAspect="1" noMove="1" noResize="1" noEditPoints="1" noAdjustHandles="1" noChangeArrowheads="1" noChangeShapeType="1" noTextEdit="1"/>
              </p:cNvSpPr>
              <p:nvPr/>
            </p:nvSpPr>
            <p:spPr>
              <a:xfrm>
                <a:off x="5755046" y="4877767"/>
                <a:ext cx="421105" cy="391027"/>
              </a:xfrm>
              <a:prstGeom prst="ellipse">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椭圆 20">
                <a:extLst>
                  <a:ext uri="{FF2B5EF4-FFF2-40B4-BE49-F238E27FC236}">
                    <a16:creationId xmlns:a16="http://schemas.microsoft.com/office/drawing/2014/main" id="{4E0F3784-E64E-1F93-BA34-4BBAABE04FB8}"/>
                  </a:ext>
                </a:extLst>
              </p:cNvPr>
              <p:cNvSpPr/>
              <p:nvPr/>
            </p:nvSpPr>
            <p:spPr>
              <a:xfrm>
                <a:off x="5755046" y="5404847"/>
                <a:ext cx="421105" cy="391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1</m:t>
                          </m:r>
                        </m:sub>
                      </m:sSub>
                    </m:oMath>
                  </m:oMathPara>
                </a14:m>
                <a:endParaRPr lang="zh-CN" altLang="en-US" dirty="0"/>
              </a:p>
            </p:txBody>
          </p:sp>
        </mc:Choice>
        <mc:Fallback xmlns="">
          <p:sp>
            <p:nvSpPr>
              <p:cNvPr id="21" name="椭圆 20">
                <a:extLst>
                  <a:ext uri="{FF2B5EF4-FFF2-40B4-BE49-F238E27FC236}">
                    <a16:creationId xmlns:a16="http://schemas.microsoft.com/office/drawing/2014/main" id="{4E0F3784-E64E-1F93-BA34-4BBAABE04FB8}"/>
                  </a:ext>
                </a:extLst>
              </p:cNvPr>
              <p:cNvSpPr>
                <a:spLocks noRot="1" noChangeAspect="1" noMove="1" noResize="1" noEditPoints="1" noAdjustHandles="1" noChangeArrowheads="1" noChangeShapeType="1" noTextEdit="1"/>
              </p:cNvSpPr>
              <p:nvPr/>
            </p:nvSpPr>
            <p:spPr>
              <a:xfrm>
                <a:off x="5755046" y="5404847"/>
                <a:ext cx="421105" cy="391027"/>
              </a:xfrm>
              <a:prstGeom prst="ellipse">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椭圆 21">
                <a:extLst>
                  <a:ext uri="{FF2B5EF4-FFF2-40B4-BE49-F238E27FC236}">
                    <a16:creationId xmlns:a16="http://schemas.microsoft.com/office/drawing/2014/main" id="{75881A6A-6EBB-1F0E-75CA-EAA44491AC7E}"/>
                  </a:ext>
                </a:extLst>
              </p:cNvPr>
              <p:cNvSpPr/>
              <p:nvPr/>
            </p:nvSpPr>
            <p:spPr>
              <a:xfrm>
                <a:off x="5755046" y="5941428"/>
                <a:ext cx="421105" cy="391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1</m:t>
                          </m:r>
                        </m:sub>
                      </m:sSub>
                    </m:oMath>
                  </m:oMathPara>
                </a14:m>
                <a:endParaRPr lang="zh-CN" altLang="en-US" dirty="0"/>
              </a:p>
            </p:txBody>
          </p:sp>
        </mc:Choice>
        <mc:Fallback xmlns="">
          <p:sp>
            <p:nvSpPr>
              <p:cNvPr id="22" name="椭圆 21">
                <a:extLst>
                  <a:ext uri="{FF2B5EF4-FFF2-40B4-BE49-F238E27FC236}">
                    <a16:creationId xmlns:a16="http://schemas.microsoft.com/office/drawing/2014/main" id="{75881A6A-6EBB-1F0E-75CA-EAA44491AC7E}"/>
                  </a:ext>
                </a:extLst>
              </p:cNvPr>
              <p:cNvSpPr>
                <a:spLocks noRot="1" noChangeAspect="1" noMove="1" noResize="1" noEditPoints="1" noAdjustHandles="1" noChangeArrowheads="1" noChangeShapeType="1" noTextEdit="1"/>
              </p:cNvSpPr>
              <p:nvPr/>
            </p:nvSpPr>
            <p:spPr>
              <a:xfrm>
                <a:off x="5755046" y="5941428"/>
                <a:ext cx="421105" cy="391027"/>
              </a:xfrm>
              <a:prstGeom prst="ellipse">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椭圆 22">
                <a:extLst>
                  <a:ext uri="{FF2B5EF4-FFF2-40B4-BE49-F238E27FC236}">
                    <a16:creationId xmlns:a16="http://schemas.microsoft.com/office/drawing/2014/main" id="{182F1532-E098-9F2E-9D9C-6E774E3595A9}"/>
                  </a:ext>
                </a:extLst>
              </p:cNvPr>
              <p:cNvSpPr/>
              <p:nvPr/>
            </p:nvSpPr>
            <p:spPr>
              <a:xfrm>
                <a:off x="6845941" y="2652318"/>
                <a:ext cx="421105" cy="391027"/>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zh-CN"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𝐴</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1</m:t>
                          </m:r>
                        </m:sub>
                      </m:sSub>
                    </m:oMath>
                  </m:oMathPara>
                </a14:m>
                <a:endParaRPr lang="zh-CN" altLang="en-US" dirty="0"/>
              </a:p>
            </p:txBody>
          </p:sp>
        </mc:Choice>
        <mc:Fallback xmlns="">
          <p:sp>
            <p:nvSpPr>
              <p:cNvPr id="23" name="椭圆 22">
                <a:extLst>
                  <a:ext uri="{FF2B5EF4-FFF2-40B4-BE49-F238E27FC236}">
                    <a16:creationId xmlns:a16="http://schemas.microsoft.com/office/drawing/2014/main" id="{182F1532-E098-9F2E-9D9C-6E774E3595A9}"/>
                  </a:ext>
                </a:extLst>
              </p:cNvPr>
              <p:cNvSpPr>
                <a:spLocks noRot="1" noChangeAspect="1" noMove="1" noResize="1" noEditPoints="1" noAdjustHandles="1" noChangeArrowheads="1" noChangeShapeType="1" noTextEdit="1"/>
              </p:cNvSpPr>
              <p:nvPr/>
            </p:nvSpPr>
            <p:spPr>
              <a:xfrm>
                <a:off x="6845941" y="2652318"/>
                <a:ext cx="421105" cy="391027"/>
              </a:xfrm>
              <a:prstGeom prst="ellipse">
                <a:avLst/>
              </a:prstGeom>
              <a:blipFill>
                <a:blip r:embed="rId12"/>
                <a:stretch>
                  <a:fillRect l="-28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椭圆 23">
                <a:extLst>
                  <a:ext uri="{FF2B5EF4-FFF2-40B4-BE49-F238E27FC236}">
                    <a16:creationId xmlns:a16="http://schemas.microsoft.com/office/drawing/2014/main" id="{8B07A8CF-9EFE-17AA-ED98-B12BB9DBDED6}"/>
                  </a:ext>
                </a:extLst>
              </p:cNvPr>
              <p:cNvSpPr/>
              <p:nvPr/>
            </p:nvSpPr>
            <p:spPr>
              <a:xfrm>
                <a:off x="6845943" y="3227000"/>
                <a:ext cx="421105" cy="391027"/>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zh-CN"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𝐴</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1</m:t>
                          </m:r>
                        </m:sub>
                      </m:sSub>
                    </m:oMath>
                  </m:oMathPara>
                </a14:m>
                <a:endParaRPr lang="zh-CN" altLang="en-US" dirty="0"/>
              </a:p>
            </p:txBody>
          </p:sp>
        </mc:Choice>
        <mc:Fallback xmlns="">
          <p:sp>
            <p:nvSpPr>
              <p:cNvPr id="24" name="椭圆 23">
                <a:extLst>
                  <a:ext uri="{FF2B5EF4-FFF2-40B4-BE49-F238E27FC236}">
                    <a16:creationId xmlns:a16="http://schemas.microsoft.com/office/drawing/2014/main" id="{8B07A8CF-9EFE-17AA-ED98-B12BB9DBDED6}"/>
                  </a:ext>
                </a:extLst>
              </p:cNvPr>
              <p:cNvSpPr>
                <a:spLocks noRot="1" noChangeAspect="1" noMove="1" noResize="1" noEditPoints="1" noAdjustHandles="1" noChangeArrowheads="1" noChangeShapeType="1" noTextEdit="1"/>
              </p:cNvSpPr>
              <p:nvPr/>
            </p:nvSpPr>
            <p:spPr>
              <a:xfrm>
                <a:off x="6845943" y="3227000"/>
                <a:ext cx="421105" cy="391027"/>
              </a:xfrm>
              <a:prstGeom prst="ellipse">
                <a:avLst/>
              </a:prstGeom>
              <a:blipFill>
                <a:blip r:embed="rId13"/>
                <a:stretch>
                  <a:fillRect l="-28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椭圆 24">
                <a:extLst>
                  <a:ext uri="{FF2B5EF4-FFF2-40B4-BE49-F238E27FC236}">
                    <a16:creationId xmlns:a16="http://schemas.microsoft.com/office/drawing/2014/main" id="{708DE357-8864-FD2C-AD29-AC46E50F5DCC}"/>
                  </a:ext>
                </a:extLst>
              </p:cNvPr>
              <p:cNvSpPr/>
              <p:nvPr/>
            </p:nvSpPr>
            <p:spPr>
              <a:xfrm>
                <a:off x="6845940" y="3801682"/>
                <a:ext cx="421105" cy="391027"/>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zh-CN"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𝐴</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1</m:t>
                          </m:r>
                        </m:sub>
                      </m:sSub>
                    </m:oMath>
                  </m:oMathPara>
                </a14:m>
                <a:endParaRPr lang="zh-CN" altLang="en-US" dirty="0"/>
              </a:p>
            </p:txBody>
          </p:sp>
        </mc:Choice>
        <mc:Fallback xmlns="">
          <p:sp>
            <p:nvSpPr>
              <p:cNvPr id="25" name="椭圆 24">
                <a:extLst>
                  <a:ext uri="{FF2B5EF4-FFF2-40B4-BE49-F238E27FC236}">
                    <a16:creationId xmlns:a16="http://schemas.microsoft.com/office/drawing/2014/main" id="{708DE357-8864-FD2C-AD29-AC46E50F5DCC}"/>
                  </a:ext>
                </a:extLst>
              </p:cNvPr>
              <p:cNvSpPr>
                <a:spLocks noRot="1" noChangeAspect="1" noMove="1" noResize="1" noEditPoints="1" noAdjustHandles="1" noChangeArrowheads="1" noChangeShapeType="1" noTextEdit="1"/>
              </p:cNvSpPr>
              <p:nvPr/>
            </p:nvSpPr>
            <p:spPr>
              <a:xfrm>
                <a:off x="6845940" y="3801682"/>
                <a:ext cx="421105" cy="391027"/>
              </a:xfrm>
              <a:prstGeom prst="ellipse">
                <a:avLst/>
              </a:prstGeom>
              <a:blipFill>
                <a:blip r:embed="rId14"/>
                <a:stretch>
                  <a:fillRect l="-2817"/>
                </a:stretch>
              </a:blipFill>
            </p:spPr>
            <p:txBody>
              <a:bodyPr/>
              <a:lstStyle/>
              <a:p>
                <a:r>
                  <a:rPr lang="zh-CN" altLang="en-US">
                    <a:noFill/>
                  </a:rPr>
                  <a:t> </a:t>
                </a:r>
              </a:p>
            </p:txBody>
          </p:sp>
        </mc:Fallback>
      </mc:AlternateContent>
      <p:cxnSp>
        <p:nvCxnSpPr>
          <p:cNvPr id="27" name="直接箭头连接符 26">
            <a:extLst>
              <a:ext uri="{FF2B5EF4-FFF2-40B4-BE49-F238E27FC236}">
                <a16:creationId xmlns:a16="http://schemas.microsoft.com/office/drawing/2014/main" id="{AD0FB7E6-FCB9-37C3-7C34-CEF05DBDFC32}"/>
              </a:ext>
            </a:extLst>
          </p:cNvPr>
          <p:cNvCxnSpPr>
            <a:stCxn id="12" idx="6"/>
            <a:endCxn id="13" idx="2"/>
          </p:cNvCxnSpPr>
          <p:nvPr/>
        </p:nvCxnSpPr>
        <p:spPr>
          <a:xfrm flipV="1">
            <a:off x="4188938" y="4125447"/>
            <a:ext cx="621661" cy="574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F033CC24-8E15-C103-BB32-A41E289E37B4}"/>
              </a:ext>
            </a:extLst>
          </p:cNvPr>
          <p:cNvCxnSpPr>
            <a:cxnSpLocks/>
            <a:stCxn id="12" idx="6"/>
            <a:endCxn id="15" idx="2"/>
          </p:cNvCxnSpPr>
          <p:nvPr/>
        </p:nvCxnSpPr>
        <p:spPr>
          <a:xfrm>
            <a:off x="4188938" y="4700129"/>
            <a:ext cx="6216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33B918DB-5D98-01F1-76FF-DE0B1661BD1D}"/>
              </a:ext>
            </a:extLst>
          </p:cNvPr>
          <p:cNvCxnSpPr>
            <a:cxnSpLocks/>
            <a:stCxn id="12" idx="6"/>
            <a:endCxn id="16" idx="2"/>
          </p:cNvCxnSpPr>
          <p:nvPr/>
        </p:nvCxnSpPr>
        <p:spPr>
          <a:xfrm>
            <a:off x="4188938" y="4700129"/>
            <a:ext cx="621660" cy="574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6FD9019D-3C8C-3FEA-7B79-8268CCE2536A}"/>
              </a:ext>
            </a:extLst>
          </p:cNvPr>
          <p:cNvCxnSpPr>
            <a:cxnSpLocks/>
            <a:stCxn id="13" idx="6"/>
            <a:endCxn id="17" idx="2"/>
          </p:cNvCxnSpPr>
          <p:nvPr/>
        </p:nvCxnSpPr>
        <p:spPr>
          <a:xfrm flipV="1">
            <a:off x="5231704" y="3474781"/>
            <a:ext cx="523344" cy="650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327B2FAF-4930-6B0C-A89A-B45AD923341B}"/>
              </a:ext>
            </a:extLst>
          </p:cNvPr>
          <p:cNvCxnSpPr>
            <a:cxnSpLocks/>
            <a:stCxn id="13" idx="6"/>
            <a:endCxn id="18" idx="2"/>
          </p:cNvCxnSpPr>
          <p:nvPr/>
        </p:nvCxnSpPr>
        <p:spPr>
          <a:xfrm flipV="1">
            <a:off x="5231704" y="4006176"/>
            <a:ext cx="523344" cy="1192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26FD7192-9EF5-AB6D-7596-40EE5885246C}"/>
              </a:ext>
            </a:extLst>
          </p:cNvPr>
          <p:cNvCxnSpPr>
            <a:cxnSpLocks/>
            <a:stCxn id="15" idx="6"/>
            <a:endCxn id="19" idx="2"/>
          </p:cNvCxnSpPr>
          <p:nvPr/>
        </p:nvCxnSpPr>
        <p:spPr>
          <a:xfrm flipV="1">
            <a:off x="5231706" y="4537571"/>
            <a:ext cx="523341" cy="1625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BDFD76AB-2056-F758-3C55-A88C426AEB0C}"/>
              </a:ext>
            </a:extLst>
          </p:cNvPr>
          <p:cNvCxnSpPr>
            <a:cxnSpLocks/>
            <a:stCxn id="15" idx="6"/>
            <a:endCxn id="20" idx="2"/>
          </p:cNvCxnSpPr>
          <p:nvPr/>
        </p:nvCxnSpPr>
        <p:spPr>
          <a:xfrm>
            <a:off x="5231706" y="4700129"/>
            <a:ext cx="523340" cy="3731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33ED8981-E87D-C7B5-871D-4CDEDE26AF90}"/>
              </a:ext>
            </a:extLst>
          </p:cNvPr>
          <p:cNvCxnSpPr>
            <a:cxnSpLocks/>
            <a:stCxn id="16" idx="6"/>
            <a:endCxn id="21" idx="2"/>
          </p:cNvCxnSpPr>
          <p:nvPr/>
        </p:nvCxnSpPr>
        <p:spPr>
          <a:xfrm>
            <a:off x="5231703" y="5274811"/>
            <a:ext cx="523343" cy="3255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536526D0-7930-16FA-8D02-AAF9BF1B64B1}"/>
              </a:ext>
            </a:extLst>
          </p:cNvPr>
          <p:cNvCxnSpPr>
            <a:cxnSpLocks/>
            <a:stCxn id="16" idx="6"/>
            <a:endCxn id="22" idx="2"/>
          </p:cNvCxnSpPr>
          <p:nvPr/>
        </p:nvCxnSpPr>
        <p:spPr>
          <a:xfrm>
            <a:off x="5231703" y="5274811"/>
            <a:ext cx="523343" cy="8621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923C3504-F24C-0379-6CFA-95812ED91F8B}"/>
              </a:ext>
            </a:extLst>
          </p:cNvPr>
          <p:cNvCxnSpPr>
            <a:cxnSpLocks/>
            <a:stCxn id="17" idx="6"/>
            <a:endCxn id="23" idx="2"/>
          </p:cNvCxnSpPr>
          <p:nvPr/>
        </p:nvCxnSpPr>
        <p:spPr>
          <a:xfrm flipV="1">
            <a:off x="6176153" y="2847832"/>
            <a:ext cx="669788" cy="6269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6C9A8B82-1A13-3E6F-4BEA-1518F88CD090}"/>
              </a:ext>
            </a:extLst>
          </p:cNvPr>
          <p:cNvCxnSpPr>
            <a:cxnSpLocks/>
            <a:stCxn id="17" idx="6"/>
          </p:cNvCxnSpPr>
          <p:nvPr/>
        </p:nvCxnSpPr>
        <p:spPr>
          <a:xfrm flipV="1">
            <a:off x="6176153" y="3436028"/>
            <a:ext cx="669787" cy="387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8F991AF8-2A15-D586-1A07-2ADCB798B688}"/>
              </a:ext>
            </a:extLst>
          </p:cNvPr>
          <p:cNvCxnSpPr>
            <a:cxnSpLocks/>
            <a:stCxn id="17" idx="6"/>
            <a:endCxn id="25" idx="2"/>
          </p:cNvCxnSpPr>
          <p:nvPr/>
        </p:nvCxnSpPr>
        <p:spPr>
          <a:xfrm>
            <a:off x="6176153" y="3474781"/>
            <a:ext cx="669787" cy="5224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文本框 61">
                <a:extLst>
                  <a:ext uri="{FF2B5EF4-FFF2-40B4-BE49-F238E27FC236}">
                    <a16:creationId xmlns:a16="http://schemas.microsoft.com/office/drawing/2014/main" id="{A26DCAD6-3EB1-1877-3F71-0FE0D6E5585B}"/>
                  </a:ext>
                </a:extLst>
              </p:cNvPr>
              <p:cNvSpPr txBox="1"/>
              <p:nvPr/>
            </p:nvSpPr>
            <p:spPr>
              <a:xfrm>
                <a:off x="3985876" y="4065811"/>
                <a:ext cx="84221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smtClean="0">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𝜋</m:t>
                      </m:r>
                    </m:oMath>
                  </m:oMathPara>
                </a14:m>
                <a:endParaRPr lang="zh-CN" altLang="en-US" dirty="0"/>
              </a:p>
            </p:txBody>
          </p:sp>
        </mc:Choice>
        <mc:Fallback xmlns="">
          <p:sp>
            <p:nvSpPr>
              <p:cNvPr id="62" name="文本框 61">
                <a:extLst>
                  <a:ext uri="{FF2B5EF4-FFF2-40B4-BE49-F238E27FC236}">
                    <a16:creationId xmlns:a16="http://schemas.microsoft.com/office/drawing/2014/main" id="{A26DCAD6-3EB1-1877-3F71-0FE0D6E5585B}"/>
                  </a:ext>
                </a:extLst>
              </p:cNvPr>
              <p:cNvSpPr txBox="1">
                <a:spLocks noRot="1" noChangeAspect="1" noMove="1" noResize="1" noEditPoints="1" noAdjustHandles="1" noChangeArrowheads="1" noChangeShapeType="1" noTextEdit="1"/>
              </p:cNvSpPr>
              <p:nvPr/>
            </p:nvSpPr>
            <p:spPr>
              <a:xfrm>
                <a:off x="3985876" y="4065811"/>
                <a:ext cx="842212" cy="369332"/>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22D387A9-CB5E-82B6-7FC2-D80C141732F6}"/>
                  </a:ext>
                </a:extLst>
              </p:cNvPr>
              <p:cNvSpPr txBox="1"/>
              <p:nvPr/>
            </p:nvSpPr>
            <p:spPr>
              <a:xfrm>
                <a:off x="4952985" y="3478559"/>
                <a:ext cx="82011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𝑃</m:t>
                      </m:r>
                    </m:oMath>
                  </m:oMathPara>
                </a14:m>
                <a:endParaRPr lang="zh-CN" altLang="en-US" dirty="0"/>
              </a:p>
            </p:txBody>
          </p:sp>
        </mc:Choice>
        <mc:Fallback xmlns="">
          <p:sp>
            <p:nvSpPr>
              <p:cNvPr id="63" name="文本框 62">
                <a:extLst>
                  <a:ext uri="{FF2B5EF4-FFF2-40B4-BE49-F238E27FC236}">
                    <a16:creationId xmlns:a16="http://schemas.microsoft.com/office/drawing/2014/main" id="{22D387A9-CB5E-82B6-7FC2-D80C141732F6}"/>
                  </a:ext>
                </a:extLst>
              </p:cNvPr>
              <p:cNvSpPr txBox="1">
                <a:spLocks noRot="1" noChangeAspect="1" noMove="1" noResize="1" noEditPoints="1" noAdjustHandles="1" noChangeArrowheads="1" noChangeShapeType="1" noTextEdit="1"/>
              </p:cNvSpPr>
              <p:nvPr/>
            </p:nvSpPr>
            <p:spPr>
              <a:xfrm>
                <a:off x="4952985" y="3478559"/>
                <a:ext cx="820111" cy="369332"/>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文本框 64">
                <a:extLst>
                  <a:ext uri="{FF2B5EF4-FFF2-40B4-BE49-F238E27FC236}">
                    <a16:creationId xmlns:a16="http://schemas.microsoft.com/office/drawing/2014/main" id="{75F84A0B-BF15-C2A4-3715-0079AC8C9E94}"/>
                  </a:ext>
                </a:extLst>
              </p:cNvPr>
              <p:cNvSpPr txBox="1"/>
              <p:nvPr/>
            </p:nvSpPr>
            <p:spPr>
              <a:xfrm>
                <a:off x="6300493" y="2786466"/>
                <a:ext cx="42110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smtClean="0">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𝜋</m:t>
                      </m:r>
                    </m:oMath>
                  </m:oMathPara>
                </a14:m>
                <a:endParaRPr lang="zh-CN" altLang="en-US" dirty="0"/>
              </a:p>
            </p:txBody>
          </p:sp>
        </mc:Choice>
        <mc:Fallback xmlns="">
          <p:sp>
            <p:nvSpPr>
              <p:cNvPr id="65" name="文本框 64">
                <a:extLst>
                  <a:ext uri="{FF2B5EF4-FFF2-40B4-BE49-F238E27FC236}">
                    <a16:creationId xmlns:a16="http://schemas.microsoft.com/office/drawing/2014/main" id="{75F84A0B-BF15-C2A4-3715-0079AC8C9E94}"/>
                  </a:ext>
                </a:extLst>
              </p:cNvPr>
              <p:cNvSpPr txBox="1">
                <a:spLocks noRot="1" noChangeAspect="1" noMove="1" noResize="1" noEditPoints="1" noAdjustHandles="1" noChangeArrowheads="1" noChangeShapeType="1" noTextEdit="1"/>
              </p:cNvSpPr>
              <p:nvPr/>
            </p:nvSpPr>
            <p:spPr>
              <a:xfrm>
                <a:off x="6300493" y="2786466"/>
                <a:ext cx="421105" cy="369332"/>
              </a:xfrm>
              <a:prstGeom prst="rect">
                <a:avLst/>
              </a:prstGeom>
              <a:blipFill>
                <a:blip r:embed="rId17"/>
                <a:stretch>
                  <a:fillRect/>
                </a:stretch>
              </a:blipFill>
            </p:spPr>
            <p:txBody>
              <a:bodyPr/>
              <a:lstStyle/>
              <a:p>
                <a:r>
                  <a:rPr lang="zh-CN" altLang="en-US">
                    <a:noFill/>
                  </a:rPr>
                  <a:t> </a:t>
                </a:r>
              </a:p>
            </p:txBody>
          </p:sp>
        </mc:Fallback>
      </mc:AlternateContent>
      <p:sp>
        <p:nvSpPr>
          <p:cNvPr id="67" name="文本框 66">
            <a:extLst>
              <a:ext uri="{FF2B5EF4-FFF2-40B4-BE49-F238E27FC236}">
                <a16:creationId xmlns:a16="http://schemas.microsoft.com/office/drawing/2014/main" id="{C17D75FB-F209-C8A3-0916-C95CA7CE5F17}"/>
              </a:ext>
            </a:extLst>
          </p:cNvPr>
          <p:cNvSpPr txBox="1"/>
          <p:nvPr/>
        </p:nvSpPr>
        <p:spPr>
          <a:xfrm>
            <a:off x="7671577" y="3442349"/>
            <a:ext cx="771525" cy="369332"/>
          </a:xfrm>
          <a:prstGeom prst="rect">
            <a:avLst/>
          </a:prstGeom>
          <a:noFill/>
        </p:spPr>
        <p:txBody>
          <a:bodyPr wrap="square">
            <a:spAutoFit/>
          </a:bodyPr>
          <a:lstStyle/>
          <a:p>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dirty="0"/>
          </a:p>
        </p:txBody>
      </p:sp>
      <p:sp>
        <p:nvSpPr>
          <p:cNvPr id="68" name="文本框 67">
            <a:extLst>
              <a:ext uri="{FF2B5EF4-FFF2-40B4-BE49-F238E27FC236}">
                <a16:creationId xmlns:a16="http://schemas.microsoft.com/office/drawing/2014/main" id="{3FE768EE-483B-E4BF-755B-5BFEA9E41247}"/>
              </a:ext>
            </a:extLst>
          </p:cNvPr>
          <p:cNvSpPr txBox="1"/>
          <p:nvPr/>
        </p:nvSpPr>
        <p:spPr>
          <a:xfrm>
            <a:off x="6734836" y="5096739"/>
            <a:ext cx="771525" cy="369332"/>
          </a:xfrm>
          <a:prstGeom prst="rect">
            <a:avLst/>
          </a:prstGeom>
          <a:noFill/>
        </p:spPr>
        <p:txBody>
          <a:bodyPr wrap="square">
            <a:spAutoFit/>
          </a:bodyPr>
          <a:lstStyle/>
          <a:p>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dirty="0"/>
          </a:p>
        </p:txBody>
      </p:sp>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90EFF6C0-0844-8B50-C4A5-D20C248993EA}"/>
                  </a:ext>
                </a:extLst>
              </p:cNvPr>
              <p:cNvSpPr txBox="1"/>
              <p:nvPr/>
            </p:nvSpPr>
            <p:spPr>
              <a:xfrm>
                <a:off x="5187132" y="3059865"/>
                <a:ext cx="93137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zh-CN" sz="1800" i="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800" b="0" i="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𝑅</m:t>
                          </m:r>
                        </m:e>
                        <m:sub>
                          <m:r>
                            <a:rPr lang="en-US" altLang="zh-CN" sz="1800" b="0" i="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1</m:t>
                          </m:r>
                        </m:sub>
                      </m:sSub>
                    </m:oMath>
                  </m:oMathPara>
                </a14:m>
                <a:endParaRPr lang="zh-CN" altLang="en-US" dirty="0"/>
              </a:p>
            </p:txBody>
          </p:sp>
        </mc:Choice>
        <mc:Fallback xmlns="">
          <p:sp>
            <p:nvSpPr>
              <p:cNvPr id="79" name="文本框 78">
                <a:extLst>
                  <a:ext uri="{FF2B5EF4-FFF2-40B4-BE49-F238E27FC236}">
                    <a16:creationId xmlns:a16="http://schemas.microsoft.com/office/drawing/2014/main" id="{90EFF6C0-0844-8B50-C4A5-D20C248993EA}"/>
                  </a:ext>
                </a:extLst>
              </p:cNvPr>
              <p:cNvSpPr txBox="1">
                <a:spLocks noRot="1" noChangeAspect="1" noMove="1" noResize="1" noEditPoints="1" noAdjustHandles="1" noChangeArrowheads="1" noChangeShapeType="1" noTextEdit="1"/>
              </p:cNvSpPr>
              <p:nvPr/>
            </p:nvSpPr>
            <p:spPr>
              <a:xfrm>
                <a:off x="5187132" y="3059865"/>
                <a:ext cx="931371" cy="369332"/>
              </a:xfrm>
              <a:prstGeom prst="rect">
                <a:avLst/>
              </a:prstGeom>
              <a:blipFill>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1" name="椭圆 80">
                <a:extLst>
                  <a:ext uri="{FF2B5EF4-FFF2-40B4-BE49-F238E27FC236}">
                    <a16:creationId xmlns:a16="http://schemas.microsoft.com/office/drawing/2014/main" id="{B82B250C-5FF4-BFBA-F8D1-9689CB1EF3F9}"/>
                  </a:ext>
                </a:extLst>
              </p:cNvPr>
              <p:cNvSpPr/>
              <p:nvPr/>
            </p:nvSpPr>
            <p:spPr>
              <a:xfrm>
                <a:off x="7772342" y="2005844"/>
                <a:ext cx="421105" cy="391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2</m:t>
                          </m:r>
                        </m:sub>
                      </m:sSub>
                    </m:oMath>
                  </m:oMathPara>
                </a14:m>
                <a:endParaRPr lang="zh-CN" altLang="en-US" dirty="0"/>
              </a:p>
            </p:txBody>
          </p:sp>
        </mc:Choice>
        <mc:Fallback xmlns="">
          <p:sp>
            <p:nvSpPr>
              <p:cNvPr id="81" name="椭圆 80">
                <a:extLst>
                  <a:ext uri="{FF2B5EF4-FFF2-40B4-BE49-F238E27FC236}">
                    <a16:creationId xmlns:a16="http://schemas.microsoft.com/office/drawing/2014/main" id="{B82B250C-5FF4-BFBA-F8D1-9689CB1EF3F9}"/>
                  </a:ext>
                </a:extLst>
              </p:cNvPr>
              <p:cNvSpPr>
                <a:spLocks noRot="1" noChangeAspect="1" noMove="1" noResize="1" noEditPoints="1" noAdjustHandles="1" noChangeArrowheads="1" noChangeShapeType="1" noTextEdit="1"/>
              </p:cNvSpPr>
              <p:nvPr/>
            </p:nvSpPr>
            <p:spPr>
              <a:xfrm>
                <a:off x="7772342" y="2005844"/>
                <a:ext cx="421105" cy="391027"/>
              </a:xfrm>
              <a:prstGeom prst="ellipse">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2" name="椭圆 81">
                <a:extLst>
                  <a:ext uri="{FF2B5EF4-FFF2-40B4-BE49-F238E27FC236}">
                    <a16:creationId xmlns:a16="http://schemas.microsoft.com/office/drawing/2014/main" id="{581D0B28-0E8A-64B1-D709-8F1D10F1A0AC}"/>
                  </a:ext>
                </a:extLst>
              </p:cNvPr>
              <p:cNvSpPr/>
              <p:nvPr/>
            </p:nvSpPr>
            <p:spPr>
              <a:xfrm>
                <a:off x="7772342" y="2537239"/>
                <a:ext cx="421105" cy="391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2</m:t>
                          </m:r>
                        </m:sub>
                      </m:sSub>
                    </m:oMath>
                  </m:oMathPara>
                </a14:m>
                <a:endParaRPr lang="zh-CN" altLang="en-US" dirty="0"/>
              </a:p>
            </p:txBody>
          </p:sp>
        </mc:Choice>
        <mc:Fallback xmlns="">
          <p:sp>
            <p:nvSpPr>
              <p:cNvPr id="82" name="椭圆 81">
                <a:extLst>
                  <a:ext uri="{FF2B5EF4-FFF2-40B4-BE49-F238E27FC236}">
                    <a16:creationId xmlns:a16="http://schemas.microsoft.com/office/drawing/2014/main" id="{581D0B28-0E8A-64B1-D709-8F1D10F1A0AC}"/>
                  </a:ext>
                </a:extLst>
              </p:cNvPr>
              <p:cNvSpPr>
                <a:spLocks noRot="1" noChangeAspect="1" noMove="1" noResize="1" noEditPoints="1" noAdjustHandles="1" noChangeArrowheads="1" noChangeShapeType="1" noTextEdit="1"/>
              </p:cNvSpPr>
              <p:nvPr/>
            </p:nvSpPr>
            <p:spPr>
              <a:xfrm>
                <a:off x="7772342" y="2537239"/>
                <a:ext cx="421105" cy="391027"/>
              </a:xfrm>
              <a:prstGeom prst="ellipse">
                <a:avLst/>
              </a:prstGeom>
              <a:blipFill>
                <a:blip r:embed="rId20"/>
                <a:stretch>
                  <a:fillRect/>
                </a:stretch>
              </a:blipFill>
            </p:spPr>
            <p:txBody>
              <a:bodyPr/>
              <a:lstStyle/>
              <a:p>
                <a:r>
                  <a:rPr lang="zh-CN" altLang="en-US">
                    <a:noFill/>
                  </a:rPr>
                  <a:t> </a:t>
                </a:r>
              </a:p>
            </p:txBody>
          </p:sp>
        </mc:Fallback>
      </mc:AlternateContent>
      <p:cxnSp>
        <p:nvCxnSpPr>
          <p:cNvPr id="83" name="直接箭头连接符 82">
            <a:extLst>
              <a:ext uri="{FF2B5EF4-FFF2-40B4-BE49-F238E27FC236}">
                <a16:creationId xmlns:a16="http://schemas.microsoft.com/office/drawing/2014/main" id="{BC67A3C4-073C-3C0F-C857-4AB6DE99C2AF}"/>
              </a:ext>
            </a:extLst>
          </p:cNvPr>
          <p:cNvCxnSpPr>
            <a:cxnSpLocks/>
            <a:endCxn id="81" idx="2"/>
          </p:cNvCxnSpPr>
          <p:nvPr/>
        </p:nvCxnSpPr>
        <p:spPr>
          <a:xfrm flipV="1">
            <a:off x="7248998" y="2201358"/>
            <a:ext cx="523344" cy="650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a:extLst>
              <a:ext uri="{FF2B5EF4-FFF2-40B4-BE49-F238E27FC236}">
                <a16:creationId xmlns:a16="http://schemas.microsoft.com/office/drawing/2014/main" id="{689BFE6A-F5DB-1D59-7F24-2B85FFE79711}"/>
              </a:ext>
            </a:extLst>
          </p:cNvPr>
          <p:cNvCxnSpPr>
            <a:cxnSpLocks/>
            <a:endCxn id="82" idx="2"/>
          </p:cNvCxnSpPr>
          <p:nvPr/>
        </p:nvCxnSpPr>
        <p:spPr>
          <a:xfrm flipV="1">
            <a:off x="7248998" y="2732753"/>
            <a:ext cx="523344" cy="1192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5" name="文本框 84">
                <a:extLst>
                  <a:ext uri="{FF2B5EF4-FFF2-40B4-BE49-F238E27FC236}">
                    <a16:creationId xmlns:a16="http://schemas.microsoft.com/office/drawing/2014/main" id="{9B666D8D-80D2-CEE4-3020-F49A847543EA}"/>
                  </a:ext>
                </a:extLst>
              </p:cNvPr>
              <p:cNvSpPr txBox="1"/>
              <p:nvPr/>
            </p:nvSpPr>
            <p:spPr>
              <a:xfrm>
                <a:off x="7226896" y="2201998"/>
                <a:ext cx="42110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𝑃</m:t>
                      </m:r>
                    </m:oMath>
                  </m:oMathPara>
                </a14:m>
                <a:endParaRPr lang="zh-CN" altLang="en-US" dirty="0"/>
              </a:p>
            </p:txBody>
          </p:sp>
        </mc:Choice>
        <mc:Fallback xmlns="">
          <p:sp>
            <p:nvSpPr>
              <p:cNvPr id="85" name="文本框 84">
                <a:extLst>
                  <a:ext uri="{FF2B5EF4-FFF2-40B4-BE49-F238E27FC236}">
                    <a16:creationId xmlns:a16="http://schemas.microsoft.com/office/drawing/2014/main" id="{9B666D8D-80D2-CEE4-3020-F49A847543EA}"/>
                  </a:ext>
                </a:extLst>
              </p:cNvPr>
              <p:cNvSpPr txBox="1">
                <a:spLocks noRot="1" noChangeAspect="1" noMove="1" noResize="1" noEditPoints="1" noAdjustHandles="1" noChangeArrowheads="1" noChangeShapeType="1" noTextEdit="1"/>
              </p:cNvSpPr>
              <p:nvPr/>
            </p:nvSpPr>
            <p:spPr>
              <a:xfrm>
                <a:off x="7226896" y="2201998"/>
                <a:ext cx="421105" cy="369332"/>
              </a:xfrm>
              <a:prstGeom prst="rect">
                <a:avLst/>
              </a:prstGeom>
              <a:blipFill>
                <a:blip r:embed="rId2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6" name="文本框 85">
                <a:extLst>
                  <a:ext uri="{FF2B5EF4-FFF2-40B4-BE49-F238E27FC236}">
                    <a16:creationId xmlns:a16="http://schemas.microsoft.com/office/drawing/2014/main" id="{9FF6EC0D-0692-4386-8285-DCD3DEDA598B}"/>
                  </a:ext>
                </a:extLst>
              </p:cNvPr>
              <p:cNvSpPr txBox="1"/>
              <p:nvPr/>
            </p:nvSpPr>
            <p:spPr>
              <a:xfrm>
                <a:off x="7230152" y="1744806"/>
                <a:ext cx="92041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zh-CN" sz="1800" i="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800" b="0" i="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𝑅</m:t>
                          </m:r>
                        </m:e>
                        <m:sub>
                          <m:r>
                            <a:rPr lang="en-US" altLang="zh-CN" sz="1800" b="0" i="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2</m:t>
                          </m:r>
                        </m:sub>
                      </m:sSub>
                    </m:oMath>
                  </m:oMathPara>
                </a14:m>
                <a:endParaRPr lang="zh-CN" altLang="en-US" dirty="0"/>
              </a:p>
            </p:txBody>
          </p:sp>
        </mc:Choice>
        <mc:Fallback xmlns="">
          <p:sp>
            <p:nvSpPr>
              <p:cNvPr id="86" name="文本框 85">
                <a:extLst>
                  <a:ext uri="{FF2B5EF4-FFF2-40B4-BE49-F238E27FC236}">
                    <a16:creationId xmlns:a16="http://schemas.microsoft.com/office/drawing/2014/main" id="{9FF6EC0D-0692-4386-8285-DCD3DEDA598B}"/>
                  </a:ext>
                </a:extLst>
              </p:cNvPr>
              <p:cNvSpPr txBox="1">
                <a:spLocks noRot="1" noChangeAspect="1" noMove="1" noResize="1" noEditPoints="1" noAdjustHandles="1" noChangeArrowheads="1" noChangeShapeType="1" noTextEdit="1"/>
              </p:cNvSpPr>
              <p:nvPr/>
            </p:nvSpPr>
            <p:spPr>
              <a:xfrm>
                <a:off x="7230152" y="1744806"/>
                <a:ext cx="920417" cy="369332"/>
              </a:xfrm>
              <a:prstGeom prst="rect">
                <a:avLst/>
              </a:prstGeom>
              <a:blipFill>
                <a:blip r:embed="rId2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8" name="对话气泡: 圆角矩形 117">
                <a:extLst>
                  <a:ext uri="{FF2B5EF4-FFF2-40B4-BE49-F238E27FC236}">
                    <a16:creationId xmlns:a16="http://schemas.microsoft.com/office/drawing/2014/main" id="{CE485141-C840-3156-79BC-ECB347B0573F}"/>
                  </a:ext>
                </a:extLst>
              </p:cNvPr>
              <p:cNvSpPr/>
              <p:nvPr/>
            </p:nvSpPr>
            <p:spPr>
              <a:xfrm>
                <a:off x="9696322" y="3187808"/>
                <a:ext cx="2227699" cy="1154370"/>
              </a:xfrm>
              <a:prstGeom prst="wedgeRound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不同位置的</a:t>
                </a:r>
                <a14:m>
                  <m:oMath xmlns:m="http://schemas.openxmlformats.org/officeDocument/2006/math">
                    <m:sSub>
                      <m:sSubPr>
                        <m:ctrlPr>
                          <a:rPr lang="en-US" altLang="zh-CN"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0</m:t>
                        </m:r>
                      </m:sub>
                    </m:sSub>
                  </m:oMath>
                </a14:m>
                <a:r>
                  <a:rPr lang="zh-CN" altLang="en-US" dirty="0"/>
                  <a:t>、</a:t>
                </a:r>
                <a:r>
                  <a:rPr lang="zh-CN" altLang="zh-CN" dirty="0">
                    <a:solidFill>
                      <a:schemeClr val="bg1"/>
                    </a:solidFill>
                    <a:ea typeface="微软雅黑" panose="020B0503020204020204" pitchFamily="34" charset="-122"/>
                    <a:cs typeface="Times New Roman" panose="02020603050405020304" pitchFamily="18" charset="0"/>
                  </a:rPr>
                  <a:t> </a:t>
                </a:r>
                <a14:m>
                  <m:oMath xmlns:m="http://schemas.openxmlformats.org/officeDocument/2006/math">
                    <m:sSub>
                      <m:sSubPr>
                        <m:ctrlPr>
                          <a:rPr lang="zh-CN" altLang="zh-CN"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𝐴</m:t>
                        </m:r>
                      </m:e>
                      <m:sub>
                        <m:r>
                          <a:rPr lang="en-US" altLang="zh-CN"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0</m:t>
                        </m:r>
                      </m:sub>
                    </m:sSub>
                  </m:oMath>
                </a14:m>
                <a:r>
                  <a:rPr lang="zh-CN" altLang="en-US" dirty="0"/>
                  <a:t>、</a:t>
                </a:r>
                <a:r>
                  <a:rPr lang="zh-CN" altLang="zh-CN" dirty="0">
                    <a:solidFill>
                      <a:schemeClr val="bg1"/>
                    </a:solidFill>
                    <a:ea typeface="微软雅黑" panose="020B0503020204020204" pitchFamily="34" charset="-122"/>
                    <a:cs typeface="Times New Roman" panose="02020603050405020304" pitchFamily="18" charset="0"/>
                  </a:rPr>
                  <a:t> </a:t>
                </a:r>
                <a14:m>
                  <m:oMath xmlns:m="http://schemas.openxmlformats.org/officeDocument/2006/math">
                    <m:sSub>
                      <m:sSubPr>
                        <m:ctrlPr>
                          <a:rPr lang="zh-CN" altLang="zh-CN"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1</m:t>
                        </m:r>
                      </m:sub>
                    </m:sSub>
                  </m:oMath>
                </a14:m>
                <a:r>
                  <a:rPr lang="en-US" altLang="zh-CN" dirty="0"/>
                  <a:t>…</a:t>
                </a:r>
                <a:r>
                  <a:rPr lang="zh-CN" altLang="en-US" dirty="0"/>
                  <a:t>代表不同动作、状态</a:t>
                </a:r>
              </a:p>
            </p:txBody>
          </p:sp>
        </mc:Choice>
        <mc:Fallback xmlns="">
          <p:sp>
            <p:nvSpPr>
              <p:cNvPr id="118" name="对话气泡: 圆角矩形 117">
                <a:extLst>
                  <a:ext uri="{FF2B5EF4-FFF2-40B4-BE49-F238E27FC236}">
                    <a16:creationId xmlns:a16="http://schemas.microsoft.com/office/drawing/2014/main" id="{CE485141-C840-3156-79BC-ECB347B0573F}"/>
                  </a:ext>
                </a:extLst>
              </p:cNvPr>
              <p:cNvSpPr>
                <a:spLocks noRot="1" noChangeAspect="1" noMove="1" noResize="1" noEditPoints="1" noAdjustHandles="1" noChangeArrowheads="1" noChangeShapeType="1" noTextEdit="1"/>
              </p:cNvSpPr>
              <p:nvPr/>
            </p:nvSpPr>
            <p:spPr>
              <a:xfrm>
                <a:off x="9696322" y="3187808"/>
                <a:ext cx="2227699" cy="1154370"/>
              </a:xfrm>
              <a:prstGeom prst="wedgeRoundRectCallout">
                <a:avLst/>
              </a:prstGeom>
              <a:blipFill>
                <a:blip r:embed="rId23"/>
                <a:stretch>
                  <a:fillRect l="-4632" r="-4905"/>
                </a:stretch>
              </a:blipFill>
            </p:spPr>
            <p:txBody>
              <a:bodyPr/>
              <a:lstStyle/>
              <a:p>
                <a:r>
                  <a:rPr lang="zh-CN" altLang="en-US">
                    <a:noFill/>
                  </a:rPr>
                  <a:t> </a:t>
                </a:r>
              </a:p>
            </p:txBody>
          </p:sp>
        </mc:Fallback>
      </mc:AlternateContent>
      <p:sp>
        <p:nvSpPr>
          <p:cNvPr id="119" name="矩形: 圆角 118">
            <a:extLst>
              <a:ext uri="{FF2B5EF4-FFF2-40B4-BE49-F238E27FC236}">
                <a16:creationId xmlns:a16="http://schemas.microsoft.com/office/drawing/2014/main" id="{C5E7983A-46D0-8987-0B39-FFC85616247B}"/>
              </a:ext>
            </a:extLst>
          </p:cNvPr>
          <p:cNvSpPr/>
          <p:nvPr/>
        </p:nvSpPr>
        <p:spPr>
          <a:xfrm rot="19533018">
            <a:off x="3271979" y="2886693"/>
            <a:ext cx="5729530" cy="736119"/>
          </a:xfrm>
          <a:prstGeom prst="roundRect">
            <a:avLst/>
          </a:prstGeom>
          <a:noFill/>
          <a:ln w="38100">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121" name="文本框 120">
            <a:extLst>
              <a:ext uri="{FF2B5EF4-FFF2-40B4-BE49-F238E27FC236}">
                <a16:creationId xmlns:a16="http://schemas.microsoft.com/office/drawing/2014/main" id="{E30193FB-AC74-A1BF-A5CF-0D080EE7DA7C}"/>
              </a:ext>
            </a:extLst>
          </p:cNvPr>
          <p:cNvSpPr txBox="1"/>
          <p:nvPr/>
        </p:nvSpPr>
        <p:spPr>
          <a:xfrm>
            <a:off x="8536331" y="1419834"/>
            <a:ext cx="1118452" cy="369332"/>
          </a:xfrm>
          <a:prstGeom prst="rect">
            <a:avLst/>
          </a:prstGeom>
          <a:noFill/>
        </p:spPr>
        <p:txBody>
          <a:bodyPr wrap="square">
            <a:spAutoFit/>
          </a:bodyPr>
          <a:lstStyle/>
          <a:p>
            <a:r>
              <a:rPr lang="zh-CN" altLang="en-US" sz="1800" b="1" dirty="0">
                <a:solidFill>
                  <a:srgbClr val="000000"/>
                </a:solidFill>
                <a:latin typeface="Times New Roman" panose="02020603050405020304" pitchFamily="18" charset="0"/>
                <a:ea typeface="楷体_GB2312"/>
                <a:cs typeface="Times New Roman" panose="02020603050405020304" pitchFamily="18" charset="0"/>
              </a:rPr>
              <a:t>一条</a:t>
            </a:r>
            <a:r>
              <a:rPr lang="zh-CN" altLang="zh-CN" sz="1800" b="1" dirty="0">
                <a:solidFill>
                  <a:srgbClr val="000000"/>
                </a:solidFill>
                <a:latin typeface="Times New Roman" panose="02020603050405020304" pitchFamily="18" charset="0"/>
                <a:ea typeface="楷体_GB2312"/>
                <a:cs typeface="Times New Roman" panose="02020603050405020304" pitchFamily="18" charset="0"/>
              </a:rPr>
              <a:t>轨迹</a:t>
            </a:r>
            <a:endParaRPr lang="zh-CN" altLang="en-US" dirty="0"/>
          </a:p>
        </p:txBody>
      </p:sp>
      <p:sp>
        <p:nvSpPr>
          <p:cNvPr id="122" name="文本框 121">
            <a:extLst>
              <a:ext uri="{FF2B5EF4-FFF2-40B4-BE49-F238E27FC236}">
                <a16:creationId xmlns:a16="http://schemas.microsoft.com/office/drawing/2014/main" id="{B2AAC0A7-4AF7-9AFC-B5DE-07499D118500}"/>
              </a:ext>
            </a:extLst>
          </p:cNvPr>
          <p:cNvSpPr txBox="1"/>
          <p:nvPr/>
        </p:nvSpPr>
        <p:spPr>
          <a:xfrm>
            <a:off x="8150569" y="1815596"/>
            <a:ext cx="771525" cy="369332"/>
          </a:xfrm>
          <a:prstGeom prst="rect">
            <a:avLst/>
          </a:prstGeom>
          <a:noFill/>
        </p:spPr>
        <p:txBody>
          <a:bodyPr wrap="square">
            <a:spAutoFit/>
          </a:bodyPr>
          <a:lstStyle/>
          <a:p>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dirty="0"/>
          </a:p>
        </p:txBody>
      </p:sp>
      <p:sp>
        <p:nvSpPr>
          <p:cNvPr id="123" name="矩形: 圆角 122">
            <a:extLst>
              <a:ext uri="{FF2B5EF4-FFF2-40B4-BE49-F238E27FC236}">
                <a16:creationId xmlns:a16="http://schemas.microsoft.com/office/drawing/2014/main" id="{EE0E4CBA-F807-DC37-5DEF-1FC94C26FC73}"/>
              </a:ext>
            </a:extLst>
          </p:cNvPr>
          <p:cNvSpPr/>
          <p:nvPr/>
        </p:nvSpPr>
        <p:spPr>
          <a:xfrm rot="585974">
            <a:off x="3577167" y="4748800"/>
            <a:ext cx="5729530" cy="618953"/>
          </a:xfrm>
          <a:prstGeom prst="roundRect">
            <a:avLst/>
          </a:prstGeom>
          <a:noFill/>
          <a:ln w="38100">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124" name="文本框 123">
            <a:extLst>
              <a:ext uri="{FF2B5EF4-FFF2-40B4-BE49-F238E27FC236}">
                <a16:creationId xmlns:a16="http://schemas.microsoft.com/office/drawing/2014/main" id="{BC571794-7DFA-FE2C-1301-C811EA9D4C8A}"/>
              </a:ext>
            </a:extLst>
          </p:cNvPr>
          <p:cNvSpPr txBox="1"/>
          <p:nvPr/>
        </p:nvSpPr>
        <p:spPr>
          <a:xfrm>
            <a:off x="9358922" y="5415694"/>
            <a:ext cx="1118452" cy="369332"/>
          </a:xfrm>
          <a:prstGeom prst="rect">
            <a:avLst/>
          </a:prstGeom>
          <a:noFill/>
        </p:spPr>
        <p:txBody>
          <a:bodyPr wrap="square">
            <a:spAutoFit/>
          </a:bodyPr>
          <a:lstStyle/>
          <a:p>
            <a:r>
              <a:rPr lang="zh-CN" altLang="en-US" sz="1800" b="1" dirty="0">
                <a:solidFill>
                  <a:srgbClr val="000000"/>
                </a:solidFill>
                <a:latin typeface="Times New Roman" panose="02020603050405020304" pitchFamily="18" charset="0"/>
                <a:ea typeface="楷体_GB2312"/>
                <a:cs typeface="Times New Roman" panose="02020603050405020304" pitchFamily="18" charset="0"/>
              </a:rPr>
              <a:t>一条</a:t>
            </a:r>
            <a:r>
              <a:rPr lang="zh-CN" altLang="zh-CN" sz="1800" b="1" dirty="0">
                <a:solidFill>
                  <a:srgbClr val="000000"/>
                </a:solidFill>
                <a:latin typeface="Times New Roman" panose="02020603050405020304" pitchFamily="18" charset="0"/>
                <a:ea typeface="楷体_GB2312"/>
                <a:cs typeface="Times New Roman" panose="02020603050405020304" pitchFamily="18" charset="0"/>
              </a:rPr>
              <a:t>轨迹</a:t>
            </a:r>
            <a:endParaRPr lang="zh-CN" altLang="en-US" dirty="0"/>
          </a:p>
        </p:txBody>
      </p:sp>
    </p:spTree>
    <p:extLst>
      <p:ext uri="{BB962C8B-B14F-4D97-AF65-F5344CB8AC3E}">
        <p14:creationId xmlns:p14="http://schemas.microsoft.com/office/powerpoint/2010/main" val="2999026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5"/>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67"/>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8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82"/>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83"/>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84"/>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85"/>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8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22"/>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119"/>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121"/>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123"/>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62" grpId="0"/>
      <p:bldP spid="63" grpId="0"/>
      <p:bldP spid="65" grpId="0"/>
      <p:bldP spid="67" grpId="0"/>
      <p:bldP spid="68" grpId="0"/>
      <p:bldP spid="79" grpId="0"/>
      <p:bldP spid="81" grpId="0" animBg="1"/>
      <p:bldP spid="82" grpId="0" animBg="1"/>
      <p:bldP spid="85" grpId="0"/>
      <p:bldP spid="86" grpId="0"/>
      <p:bldP spid="119" grpId="0" animBg="1"/>
      <p:bldP spid="121" grpId="0"/>
      <p:bldP spid="122" grpId="0"/>
      <p:bldP spid="123" grpId="0" animBg="1"/>
      <p:bldP spid="12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强化学习定义</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强化学习问题定义</a:t>
            </a:r>
          </a:p>
        </p:txBody>
      </p:sp>
      <p:sp>
        <p:nvSpPr>
          <p:cNvPr id="11" name="矩形: 圆角 6">
            <a:extLst>
              <a:ext uri="{FF2B5EF4-FFF2-40B4-BE49-F238E27FC236}">
                <a16:creationId xmlns:a16="http://schemas.microsoft.com/office/drawing/2014/main" id="{D1CC0456-653C-4577-BB6C-58F1FA6153CC}"/>
              </a:ext>
            </a:extLst>
          </p:cNvPr>
          <p:cNvSpPr/>
          <p:nvPr/>
        </p:nvSpPr>
        <p:spPr>
          <a:xfrm>
            <a:off x="813287" y="1514200"/>
            <a:ext cx="10915096" cy="4550001"/>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125ED306-5051-4B09-BA82-1101803734A9}"/>
                  </a:ext>
                </a:extLst>
              </p:cNvPr>
              <p:cNvSpPr/>
              <p:nvPr/>
            </p:nvSpPr>
            <p:spPr>
              <a:xfrm>
                <a:off x="1020277" y="1514200"/>
                <a:ext cx="10674417" cy="4111382"/>
              </a:xfrm>
              <a:prstGeom prst="rect">
                <a:avLst/>
              </a:prstGeom>
            </p:spPr>
            <p:txBody>
              <a:bodyPr wrap="square">
                <a:spAutoFit/>
              </a:bodyPr>
              <a:lstStyle/>
              <a:p>
                <a:pPr marL="285750" indent="-285750" algn="just">
                  <a:lnSpc>
                    <a:spcPct val="150000"/>
                  </a:lnSpc>
                  <a:buFont typeface="Wingdings" panose="05000000000000000000" pitchFamily="2" charset="2"/>
                  <a:buChar char="l"/>
                </a:pP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策略函数</a:t>
                </a:r>
                <a14:m>
                  <m:oMath xmlns:m="http://schemas.openxmlformats.org/officeDocument/2006/math">
                    <m: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𝜋</m:t>
                    </m:r>
                  </m:oMath>
                </a14:m>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策略函数刻画了</a:t>
                </a:r>
                <a:r>
                  <a:rPr lang="zh-CN" altLang="zh-CN" sz="16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智能体选择动作的</a:t>
                </a:r>
                <a:r>
                  <a:rPr lang="zh-CN" altLang="en-US" sz="16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机制。</a:t>
                </a:r>
                <a:r>
                  <a:rPr lang="zh-CN" altLang="zh-CN" sz="16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策略函数</a:t>
                </a:r>
                <a14:m>
                  <m:oMath xmlns:m="http://schemas.openxmlformats.org/officeDocument/2006/math">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𝜋</m:t>
                    </m:r>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𝑆</m:t>
                    </m:r>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𝐴</m:t>
                    </m:r>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↦[0, 1]</m:t>
                    </m:r>
                  </m:oMath>
                </a14:m>
                <a:r>
                  <a:rPr lang="zh-CN" altLang="zh-CN" sz="16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𝜋</m:t>
                    </m:r>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𝑠</m:t>
                    </m:r>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𝑎</m:t>
                    </m:r>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zh-CN" sz="16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表示智能体在状态</a:t>
                </a:r>
                <a14:m>
                  <m:oMath xmlns:m="http://schemas.openxmlformats.org/officeDocument/2006/math">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𝑠</m:t>
                    </m:r>
                  </m:oMath>
                </a14:m>
                <a:r>
                  <a:rPr lang="zh-CN" altLang="zh-CN" sz="16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下采取动作</a:t>
                </a:r>
                <a14:m>
                  <m:oMath xmlns:m="http://schemas.openxmlformats.org/officeDocument/2006/math">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𝑎</m:t>
                    </m:r>
                  </m:oMath>
                </a14:m>
                <a:r>
                  <a:rPr lang="zh-CN" altLang="zh-CN" sz="16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的概率。策略函数可以是概率性的，也可以是确定的。一个好的策略函数应该能够使得智能体在采取了一系列行动后可得到最佳奖励，即最大化每一时刻的回报值</a:t>
                </a:r>
                <a14:m>
                  <m:oMath xmlns:m="http://schemas.openxmlformats.org/officeDocument/2006/math">
                    <m:sSub>
                      <m:sSubPr>
                        <m:ctrlPr>
                          <a:rPr lang="zh-CN" altLang="zh-CN" sz="1600" i="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𝐺</m:t>
                        </m:r>
                      </m:e>
                      <m:sub>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sz="1600" i="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𝑅</m:t>
                        </m:r>
                      </m:e>
                      <m:sub>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𝛾</m:t>
                    </m:r>
                    <m:sSub>
                      <m:sSubPr>
                        <m:ctrlPr>
                          <a:rPr lang="zh-CN" altLang="zh-CN" sz="1600" i="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𝑅</m:t>
                        </m:r>
                      </m:e>
                      <m:sub>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+2</m:t>
                        </m:r>
                      </m:sub>
                    </m:sSub>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m:t>
                    </m:r>
                    <m:sSup>
                      <m:sSupPr>
                        <m:ctrlPr>
                          <a:rPr lang="zh-CN" altLang="zh-CN" sz="1600" i="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𝛾</m:t>
                        </m:r>
                      </m:e>
                      <m:sup>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2</m:t>
                        </m:r>
                      </m:sup>
                    </m:sSup>
                    <m:sSub>
                      <m:sSubPr>
                        <m:ctrlPr>
                          <a:rPr lang="zh-CN" altLang="zh-CN" sz="1600" i="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𝑅</m:t>
                        </m:r>
                      </m:e>
                      <m:sub>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+3</m:t>
                        </m:r>
                      </m:sub>
                    </m:sSub>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zh-CN" sz="16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。从</a:t>
                </a:r>
                <a14:m>
                  <m:oMath xmlns:m="http://schemas.openxmlformats.org/officeDocument/2006/math">
                    <m:sSub>
                      <m:sSubPr>
                        <m:ctrlPr>
                          <a:rPr lang="zh-CN" altLang="zh-CN" sz="1600" i="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𝐺</m:t>
                        </m:r>
                      </m:e>
                      <m:sub>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𝑡</m:t>
                        </m:r>
                      </m:sub>
                    </m:sSub>
                  </m:oMath>
                </a14:m>
                <a:r>
                  <a:rPr lang="zh-CN" altLang="zh-CN" sz="16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的定义可知，</a:t>
                </a:r>
                <a14:m>
                  <m:oMath xmlns:m="http://schemas.openxmlformats.org/officeDocument/2006/math">
                    <m:sSub>
                      <m:sSubPr>
                        <m:ctrlPr>
                          <a:rPr lang="zh-CN" altLang="zh-CN" sz="1600" i="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𝐺</m:t>
                        </m:r>
                      </m:e>
                      <m:sub>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𝑡</m:t>
                        </m:r>
                      </m:sub>
                    </m:sSub>
                  </m:oMath>
                </a14:m>
                <a:r>
                  <a:rPr lang="zh-CN" altLang="zh-CN" sz="16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要根据一次包含了终止状态的轨迹序列计算</a:t>
                </a:r>
                <a:r>
                  <a:rPr lang="zh-CN" altLang="en-US" sz="16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所得。</a:t>
                </a:r>
                <a:endParaRPr lang="en-US" altLang="zh-CN" sz="16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ct val="150000"/>
                  </a:lnSpc>
                  <a:buFont typeface="Wingdings" panose="05000000000000000000" pitchFamily="2" charset="2"/>
                  <a:buChar char="l"/>
                </a:pPr>
                <a:endParaRPr lang="zh-CN" altLang="zh-CN" sz="16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lvl="0" indent="-342900" algn="just">
                  <a:lnSpc>
                    <a:spcPct val="150000"/>
                  </a:lnSpc>
                  <a:spcAft>
                    <a:spcPts val="0"/>
                  </a:spcAft>
                  <a:buFont typeface="Wingdings" panose="05000000000000000000" pitchFamily="2" charset="2"/>
                  <a:buChar char=""/>
                </a:pP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价值函数（</a:t>
                </a:r>
                <a:r>
                  <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value function</a:t>
                </a: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𝑉</m:t>
                    </m:r>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𝑆</m:t>
                    </m:r>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ℝ</m:t>
                    </m:r>
                  </m:oMath>
                </a14:m>
                <a:r>
                  <a:rPr lang="zh-CN" altLang="zh-CN" sz="16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，其中</a:t>
                </a:r>
                <a14:m>
                  <m:oMath xmlns:m="http://schemas.openxmlformats.org/officeDocument/2006/math">
                    <m:sSub>
                      <m:sSubPr>
                        <m:ctrlPr>
                          <a:rPr lang="zh-CN" altLang="zh-CN" sz="1600" i="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𝑉</m:t>
                        </m:r>
                      </m:e>
                      <m:sub>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𝜋</m:t>
                        </m:r>
                      </m:sub>
                    </m:sSub>
                    <m:d>
                      <m:dPr>
                        <m:ctrlPr>
                          <a:rPr lang="zh-CN" altLang="zh-CN" sz="1600" i="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𝑠</m:t>
                        </m:r>
                      </m:e>
                    </m:d>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sz="1600" i="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𝔼</m:t>
                        </m:r>
                      </m:e>
                      <m:sub>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𝜋</m:t>
                        </m:r>
                      </m:sub>
                    </m:sSub>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sz="1600" i="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𝐺</m:t>
                        </m:r>
                      </m:e>
                      <m:sub>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sz="1600" i="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𝑠</m:t>
                    </m:r>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。该式</a:t>
                </a:r>
                <a:r>
                  <a:rPr lang="zh-CN" altLang="zh-CN" sz="16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表示智能体在时刻</a:t>
                </a:r>
                <a14:m>
                  <m:oMath xmlns:m="http://schemas.openxmlformats.org/officeDocument/2006/math">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𝑡</m:t>
                    </m:r>
                  </m:oMath>
                </a14:m>
                <a:r>
                  <a:rPr lang="zh-CN" altLang="zh-CN" sz="16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处于状态</a:t>
                </a:r>
                <a14:m>
                  <m:oMath xmlns:m="http://schemas.openxmlformats.org/officeDocument/2006/math">
                    <m:r>
                      <a:rPr lang="en-US" altLang="zh-CN" sz="1600">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𝑠</m:t>
                    </m:r>
                  </m:oMath>
                </a14:m>
                <a:r>
                  <a:rPr lang="zh-CN" altLang="zh-CN" sz="16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时，</a:t>
                </a:r>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按照策略</a:t>
                </a:r>
                <a14:m>
                  <m:oMath xmlns:m="http://schemas.openxmlformats.org/officeDocument/2006/math">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𝜋</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采取行动时所获得回报的期望。价值函数衡量了某个状态的好坏程度，反映了智能体从当前状态转移到该状态时能够为目标完成带来多大</a:t>
                </a:r>
                <a:r>
                  <a:rPr lang="en-US"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好处</a:t>
                </a:r>
                <a:r>
                  <a:rPr lang="en-US"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lvl="0" indent="-342900" algn="just">
                  <a:lnSpc>
                    <a:spcPct val="150000"/>
                  </a:lnSpc>
                  <a:spcAft>
                    <a:spcPts val="0"/>
                  </a:spcAft>
                  <a:buFont typeface="Wingdings" panose="05000000000000000000" pitchFamily="2" charset="2"/>
                  <a:buChar char=""/>
                </a:pPr>
                <a:endPar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gn="just">
                  <a:lnSpc>
                    <a:spcPct val="150000"/>
                  </a:lnSpc>
                  <a:buFont typeface="Wingdings" panose="05000000000000000000" pitchFamily="2" charset="2"/>
                  <a:buChar char=""/>
                </a:pP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动作</a:t>
                </a:r>
                <a:r>
                  <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价值函数</a:t>
                </a:r>
                <a:r>
                  <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(action-value function)</a:t>
                </a: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𝑞</m:t>
                    </m:r>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𝑆</m:t>
                    </m:r>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𝐴</m:t>
                    </m:r>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ℝ</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，其中</a:t>
                </a:r>
                <a14:m>
                  <m:oMath xmlns:m="http://schemas.openxmlformats.org/officeDocument/2006/math">
                    <m:sSub>
                      <m:sSubPr>
                        <m:ctrlPr>
                          <a:rPr lang="zh-CN" altLang="zh-CN" sz="1600"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𝑞</m:t>
                        </m:r>
                      </m:e>
                      <m:sub>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𝜋</m:t>
                        </m:r>
                      </m:sub>
                    </m:sSub>
                    <m:d>
                      <m:dPr>
                        <m:ctrlPr>
                          <a:rPr lang="zh-CN" altLang="zh-CN" sz="1600"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𝑠</m:t>
                        </m:r>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𝑎</m:t>
                        </m:r>
                      </m:e>
                    </m:d>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m:t>
                    </m:r>
                  </m:oMath>
                </a14:m>
                <a:r>
                  <a:rPr lang="en-US"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a:t>
                </a:r>
                <a14:m>
                  <m:oMath xmlns:m="http://schemas.openxmlformats.org/officeDocument/2006/math">
                    <m:sSub>
                      <m:sSubPr>
                        <m:ctrlPr>
                          <a:rPr lang="zh-CN" altLang="zh-CN" sz="1600"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𝔼</m:t>
                        </m:r>
                      </m:e>
                      <m:sub>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𝜋</m:t>
                        </m:r>
                      </m:sub>
                    </m:sSub>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sz="1600"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𝐺</m:t>
                        </m:r>
                      </m:e>
                      <m:sub>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sz="1600"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𝑠</m:t>
                    </m:r>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sz="1600"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𝐴</m:t>
                        </m:r>
                      </m:e>
                      <m:sub>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𝑎</m:t>
                    </m:r>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。该式</a:t>
                </a:r>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表示智能体在时刻</a:t>
                </a:r>
                <a14:m>
                  <m:oMath xmlns:m="http://schemas.openxmlformats.org/officeDocument/2006/math">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处于状态</a:t>
                </a:r>
                <a14:m>
                  <m:oMath xmlns:m="http://schemas.openxmlformats.org/officeDocument/2006/math">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𝑠</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时，选择了动作</a:t>
                </a:r>
                <a14:m>
                  <m:oMath xmlns:m="http://schemas.openxmlformats.org/officeDocument/2006/math">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𝑎</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后，在</a:t>
                </a:r>
                <a14:m>
                  <m:oMath xmlns:m="http://schemas.openxmlformats.org/officeDocument/2006/math">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时刻后根据策略</a:t>
                </a:r>
                <a14:m>
                  <m:oMath xmlns:m="http://schemas.openxmlformats.org/officeDocument/2006/math">
                    <m:r>
                      <a:rPr lang="en-US" altLang="zh-CN" sz="160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𝜋</m:t>
                    </m:r>
                  </m:oMath>
                </a14:m>
                <a:r>
                  <a:rPr lang="zh-CN"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采取行动所获得回报的期望。</a:t>
                </a:r>
                <a:endParaRPr lang="en-US" altLang="zh-CN"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12" name="矩形 11">
                <a:extLst>
                  <a:ext uri="{FF2B5EF4-FFF2-40B4-BE49-F238E27FC236}">
                    <a16:creationId xmlns:a16="http://schemas.microsoft.com/office/drawing/2014/main" id="{125ED306-5051-4B09-BA82-1101803734A9}"/>
                  </a:ext>
                </a:extLst>
              </p:cNvPr>
              <p:cNvSpPr>
                <a:spLocks noRot="1" noChangeAspect="1" noMove="1" noResize="1" noEditPoints="1" noAdjustHandles="1" noChangeArrowheads="1" noChangeShapeType="1" noTextEdit="1"/>
              </p:cNvSpPr>
              <p:nvPr/>
            </p:nvSpPr>
            <p:spPr>
              <a:xfrm>
                <a:off x="1020277" y="1514200"/>
                <a:ext cx="10674417" cy="4111382"/>
              </a:xfrm>
              <a:prstGeom prst="rect">
                <a:avLst/>
              </a:prstGeom>
              <a:blipFill>
                <a:blip r:embed="rId3"/>
                <a:stretch>
                  <a:fillRect l="-228" r="-343" b="-88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991358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931D6-B538-2899-89DE-5C971BFE512E}"/>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49524114-A750-2300-BB8E-8467387F65B4}"/>
              </a:ext>
            </a:extLst>
          </p:cNvPr>
          <p:cNvGrpSpPr/>
          <p:nvPr/>
        </p:nvGrpSpPr>
        <p:grpSpPr>
          <a:xfrm>
            <a:off x="2583380" y="726948"/>
            <a:ext cx="7464387" cy="497934"/>
            <a:chOff x="4099943" y="2819853"/>
            <a:chExt cx="2570275" cy="497934"/>
          </a:xfrm>
        </p:grpSpPr>
        <p:sp>
          <p:nvSpPr>
            <p:cNvPr id="3" name="平行四边形 2">
              <a:extLst>
                <a:ext uri="{FF2B5EF4-FFF2-40B4-BE49-F238E27FC236}">
                  <a16:creationId xmlns:a16="http://schemas.microsoft.com/office/drawing/2014/main" id="{217BCF09-FDE6-20F7-BBD6-44BFA90769EE}"/>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a:extLst>
                <a:ext uri="{FF2B5EF4-FFF2-40B4-BE49-F238E27FC236}">
                  <a16:creationId xmlns:a16="http://schemas.microsoft.com/office/drawing/2014/main" id="{29E731AF-052D-5B93-AF72-9A60F3255AFD}"/>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a:extLst>
                <a:ext uri="{FF2B5EF4-FFF2-40B4-BE49-F238E27FC236}">
                  <a16:creationId xmlns:a16="http://schemas.microsoft.com/office/drawing/2014/main" id="{1B8BC35D-1E33-8311-1971-4B3117CD3914}"/>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价值函数的进一步阐释</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A059F0A1-E75B-8811-C18F-A2E401600F90}"/>
                  </a:ext>
                </a:extLst>
              </p:cNvPr>
              <p:cNvSpPr txBox="1"/>
              <p:nvPr/>
            </p:nvSpPr>
            <p:spPr>
              <a:xfrm>
                <a:off x="6185434" y="1283942"/>
                <a:ext cx="5828766" cy="5266250"/>
              </a:xfrm>
              <a:prstGeom prst="rect">
                <a:avLst/>
              </a:prstGeom>
              <a:noFill/>
            </p:spPr>
            <p:txBody>
              <a:bodyPr wrap="square">
                <a:spAutoFit/>
              </a:bodyPr>
              <a:lstStyle/>
              <a:p>
                <a:r>
                  <a:rPr lang="zh-CN" altLang="zh-CN" sz="1800" b="1" dirty="0">
                    <a:solidFill>
                      <a:schemeClr val="tx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价值函数（</a:t>
                </a:r>
                <a:r>
                  <a:rPr lang="en-US" altLang="zh-CN" sz="1800" b="1" dirty="0">
                    <a:solidFill>
                      <a:schemeClr val="tx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value function</a:t>
                </a:r>
                <a:r>
                  <a:rPr lang="zh-CN" altLang="zh-CN" sz="1800" b="1" dirty="0">
                    <a:solidFill>
                      <a:schemeClr val="tx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sSub>
                      <m:sSubPr>
                        <m:ctrlPr>
                          <a:rPr lang="zh-CN" altLang="zh-CN" sz="1800" i="1">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80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𝑉</m:t>
                        </m:r>
                      </m:e>
                      <m:sub>
                        <m:r>
                          <a:rPr lang="en-US" altLang="zh-CN" sz="180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𝜋</m:t>
                        </m:r>
                      </m:sub>
                    </m:sSub>
                    <m:d>
                      <m:dPr>
                        <m:ctrlPr>
                          <a:rPr lang="zh-CN" altLang="zh-CN" sz="1800" i="1">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80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𝑠</m:t>
                        </m:r>
                      </m:e>
                    </m:d>
                    <m:r>
                      <a:rPr lang="en-US" altLang="zh-CN" sz="180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sz="1800" i="1">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80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𝔼</m:t>
                        </m:r>
                      </m:e>
                      <m:sub>
                        <m:r>
                          <a:rPr lang="en-US" altLang="zh-CN" sz="180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𝜋</m:t>
                        </m:r>
                      </m:sub>
                    </m:sSub>
                    <m:r>
                      <a:rPr lang="en-US" altLang="zh-CN" sz="180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sz="1800" i="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80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𝐺</m:t>
                        </m:r>
                      </m:e>
                      <m:sub>
                        <m:r>
                          <a:rPr lang="en-US" altLang="zh-CN" sz="180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sz="180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sz="1800" i="1">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80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sz="180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sz="180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sz="180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𝑠</m:t>
                    </m:r>
                    <m:r>
                      <a:rPr lang="en-US" altLang="zh-CN" sz="180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。即为在</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策略</a:t>
                </a:r>
                <a14:m>
                  <m:oMath xmlns:m="http://schemas.openxmlformats.org/officeDocument/2006/math">
                    <m:r>
                      <a:rPr lang="en-US" altLang="zh-CN">
                        <a:latin typeface="Cambria Math" panose="02040503050406030204" pitchFamily="18" charset="0"/>
                        <a:ea typeface="微软雅黑" panose="020B0503020204020204" pitchFamily="34" charset="-122"/>
                        <a:cs typeface="Times New Roman" panose="02020603050405020304" pitchFamily="18" charset="0"/>
                      </a:rPr>
                      <m:t>𝜋</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指导下选择动作、与环境交互产生轨迹的期望。该期望是，在状态</a:t>
                </a:r>
                <a14:m>
                  <m:oMath xmlns:m="http://schemas.openxmlformats.org/officeDocument/2006/math">
                    <m:r>
                      <a:rPr lang="en-US" altLang="zh-CN">
                        <a:latin typeface="Cambria Math" panose="02040503050406030204" pitchFamily="18" charset="0"/>
                        <a:ea typeface="微软雅黑" panose="020B0503020204020204" pitchFamily="34" charset="-122"/>
                        <a:cs typeface="Times New Roman" panose="02020603050405020304" pitchFamily="18" charset="0"/>
                      </a:rPr>
                      <m:t>𝑠</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下，一直采用</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策略</a:t>
                </a:r>
                <a14:m>
                  <m:oMath xmlns:m="http://schemas.openxmlformats.org/officeDocument/2006/math">
                    <m:r>
                      <a:rPr lang="en-US" altLang="zh-CN">
                        <a:latin typeface="Cambria Math" panose="02040503050406030204" pitchFamily="18" charset="0"/>
                        <a:ea typeface="微软雅黑" panose="020B0503020204020204" pitchFamily="34" charset="-122"/>
                        <a:cs typeface="Times New Roman" panose="02020603050405020304" pitchFamily="18" charset="0"/>
                      </a:rPr>
                      <m:t>𝜋</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来选择动作，并经历状态转移，所有可能产生的轨迹的回报</a:t>
                </a:r>
                <a14:m>
                  <m:oMath xmlns:m="http://schemas.openxmlformats.org/officeDocument/2006/math">
                    <m:sSub>
                      <m:sSubPr>
                        <m:ctrlPr>
                          <a:rPr lang="zh-CN" altLang="zh-CN"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a:latin typeface="Cambria Math" panose="02040503050406030204" pitchFamily="18" charset="0"/>
                            <a:ea typeface="微软雅黑" panose="020B0503020204020204" pitchFamily="34" charset="-122"/>
                            <a:cs typeface="Times New Roman" panose="02020603050405020304" pitchFamily="18" charset="0"/>
                          </a:rPr>
                          <m:t>𝐺</m:t>
                        </m:r>
                      </m:e>
                      <m:sub>
                        <m:r>
                          <a:rPr lang="en-US" altLang="zh-CN">
                            <a:latin typeface="Cambria Math" panose="02040503050406030204" pitchFamily="18" charset="0"/>
                            <a:ea typeface="微软雅黑" panose="020B0503020204020204" pitchFamily="34" charset="-122"/>
                            <a:cs typeface="Times New Roman" panose="02020603050405020304" pitchFamily="18" charset="0"/>
                          </a:rPr>
                          <m:t>𝑡</m:t>
                        </m:r>
                      </m:sub>
                    </m:sSub>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按轨迹概率加权的平均。</a:t>
                </a: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相当于考虑了所有可能的未来情况（所有可能的轨迹）后，对累计奖励的平均预估。</a:t>
                </a:r>
                <a:endPar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某一条轨迹</a:t>
                </a:r>
                <a14:m>
                  <m:oMath xmlns:m="http://schemas.openxmlformats.org/officeDocument/2006/math">
                    <m:r>
                      <a:rPr lang="zh-CN" altLang="en-US" i="1" smtClean="0">
                        <a:latin typeface="Cambria Math" panose="02040503050406030204" pitchFamily="18" charset="0"/>
                        <a:ea typeface="微软雅黑" panose="020B0503020204020204" pitchFamily="34" charset="-122"/>
                        <a:cs typeface="Times New Roman" panose="02020603050405020304" pitchFamily="18" charset="0"/>
                      </a:rPr>
                      <m:t>𝜏</m:t>
                    </m:r>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 {</m:t>
                    </m:r>
                    <m:sSub>
                      <m:sSubPr>
                        <m:ctrlPr>
                          <a:rPr lang="en-US" altLang="zh-CN"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𝑠</m:t>
                        </m:r>
                      </m:e>
                      <m:sub>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i="1">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𝑟</m:t>
                        </m:r>
                      </m:e>
                      <m:sub>
                        <m:r>
                          <a:rPr lang="en-US" altLang="zh-CN" i="1">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latin typeface="Cambria Math" panose="02040503050406030204" pitchFamily="18" charset="0"/>
                            <a:ea typeface="微软雅黑" panose="020B0503020204020204" pitchFamily="34" charset="-122"/>
                            <a:cs typeface="Times New Roman" panose="02020603050405020304" pitchFamily="18" charset="0"/>
                          </a:rPr>
                          <m:t>𝑠</m:t>
                        </m:r>
                      </m:e>
                      <m:sub>
                        <m:r>
                          <a:rPr lang="en-US" altLang="zh-CN" i="1">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i="1">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i="1">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i="1">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latin typeface="Cambria Math" panose="02040503050406030204" pitchFamily="18" charset="0"/>
                            <a:ea typeface="微软雅黑" panose="020B0503020204020204" pitchFamily="34" charset="-122"/>
                            <a:cs typeface="Times New Roman" panose="02020603050405020304" pitchFamily="18" charset="0"/>
                          </a:rPr>
                          <m:t>𝑟</m:t>
                        </m:r>
                      </m:e>
                      <m:sub>
                        <m:r>
                          <a:rPr lang="en-US" altLang="zh-CN" i="1">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+2,</m:t>
                        </m:r>
                      </m:sub>
                    </m:sSub>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的概率为</a:t>
                </a:r>
                <a:endParaRPr lang="en-US" altLang="zh-CN" sz="1400" b="0" i="1" dirty="0">
                  <a:latin typeface="Cambria Math" panose="02040503050406030204" pitchFamily="18" charset="0"/>
                  <a:ea typeface="微软雅黑" panose="020B0503020204020204" pitchFamily="34"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ea typeface="微软雅黑" panose="020B0503020204020204" pitchFamily="34" charset="-122"/>
                          <a:cs typeface="Times New Roman" panose="02020603050405020304" pitchFamily="18" charset="0"/>
                        </a:rPr>
                        <m:t>𝑃</m:t>
                      </m:r>
                      <m:d>
                        <m:dPr>
                          <m:ctrlPr>
                            <a:rPr lang="en-US" altLang="zh-CN" sz="1400" b="0" i="1" smtClean="0">
                              <a:latin typeface="Cambria Math" panose="02040503050406030204" pitchFamily="18" charset="0"/>
                              <a:ea typeface="微软雅黑" panose="020B0503020204020204" pitchFamily="34" charset="-122"/>
                              <a:cs typeface="Times New Roman" panose="02020603050405020304" pitchFamily="18" charset="0"/>
                            </a:rPr>
                          </m:ctrlPr>
                        </m:dPr>
                        <m:e>
                          <m:r>
                            <a:rPr lang="zh-CN" altLang="en-US" sz="1400" i="1">
                              <a:latin typeface="Cambria Math" panose="02040503050406030204" pitchFamily="18" charset="0"/>
                              <a:ea typeface="微软雅黑" panose="020B0503020204020204" pitchFamily="34" charset="-122"/>
                              <a:cs typeface="Times New Roman" panose="02020603050405020304" pitchFamily="18" charset="0"/>
                            </a:rPr>
                            <m:t>𝜏</m:t>
                          </m:r>
                        </m:e>
                        <m:e>
                          <m:sSub>
                            <m:sSubPr>
                              <m:ctrlPr>
                                <a:rPr lang="en-US" altLang="zh-CN" sz="14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400" i="1">
                                  <a:latin typeface="Cambria Math" panose="02040503050406030204" pitchFamily="18" charset="0"/>
                                  <a:ea typeface="微软雅黑" panose="020B0503020204020204" pitchFamily="34" charset="-122"/>
                                  <a:cs typeface="Times New Roman" panose="02020603050405020304" pitchFamily="18" charset="0"/>
                                </a:rPr>
                                <m:t>𝑠</m:t>
                              </m:r>
                            </m:e>
                            <m:sub>
                              <m:r>
                                <a:rPr lang="en-US" altLang="zh-CN" sz="1400" i="1">
                                  <a:latin typeface="Cambria Math" panose="02040503050406030204" pitchFamily="18" charset="0"/>
                                  <a:ea typeface="微软雅黑" panose="020B0503020204020204" pitchFamily="34" charset="-122"/>
                                  <a:cs typeface="Times New Roman" panose="02020603050405020304" pitchFamily="18" charset="0"/>
                                </a:rPr>
                                <m:t>𝑡</m:t>
                              </m:r>
                            </m:sub>
                          </m:sSub>
                        </m:e>
                      </m:d>
                      <m:r>
                        <a:rPr lang="en-US" altLang="zh-CN" sz="1400" b="0" i="1" smtClean="0">
                          <a:latin typeface="Cambria Math" panose="02040503050406030204" pitchFamily="18" charset="0"/>
                          <a:ea typeface="微软雅黑" panose="020B0503020204020204" pitchFamily="34" charset="-122"/>
                          <a:cs typeface="Times New Roman" panose="02020603050405020304" pitchFamily="18" charset="0"/>
                        </a:rPr>
                        <m:t>=</m:t>
                      </m:r>
                      <m:r>
                        <a:rPr lang="zh-CN" altLang="en-US" sz="1400" i="1" smtClean="0">
                          <a:latin typeface="Cambria Math" panose="02040503050406030204" pitchFamily="18" charset="0"/>
                          <a:ea typeface="微软雅黑" panose="020B0503020204020204" pitchFamily="34" charset="-122"/>
                          <a:cs typeface="Times New Roman" panose="02020603050405020304" pitchFamily="18" charset="0"/>
                        </a:rPr>
                        <m:t>𝜋</m:t>
                      </m:r>
                      <m:d>
                        <m:dPr>
                          <m:ctrlPr>
                            <a:rPr lang="en-US" altLang="zh-CN" sz="1400" i="1" smtClean="0">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sz="1400" i="1">
                                  <a:latin typeface="Cambria Math" panose="02040503050406030204" pitchFamily="18" charset="0"/>
                                  <a:ea typeface="微软雅黑" panose="020B0503020204020204" pitchFamily="34" charset="-122"/>
                                  <a:cs typeface="Times New Roman" panose="02020603050405020304" pitchFamily="18" charset="0"/>
                                </a:rPr>
                              </m:ctrlPr>
                            </m:sSubPr>
                            <m:e>
                              <m:sSub>
                                <m:sSubPr>
                                  <m:ctrlPr>
                                    <a:rPr lang="en-US" altLang="zh-CN" sz="14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400" i="1">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sz="1400" i="1">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sz="1400" i="1">
                                  <a:latin typeface="Cambria Math" panose="02040503050406030204" pitchFamily="18" charset="0"/>
                                  <a:ea typeface="微软雅黑" panose="020B0503020204020204" pitchFamily="34" charset="-122"/>
                                  <a:cs typeface="Times New Roman" panose="02020603050405020304" pitchFamily="18" charset="0"/>
                                </a:rPr>
                                <m:t>|</m:t>
                              </m:r>
                              <m:r>
                                <a:rPr lang="en-US" altLang="zh-CN" sz="1400" i="1">
                                  <a:latin typeface="Cambria Math" panose="02040503050406030204" pitchFamily="18" charset="0"/>
                                  <a:ea typeface="微软雅黑" panose="020B0503020204020204" pitchFamily="34" charset="-122"/>
                                  <a:cs typeface="Times New Roman" panose="02020603050405020304" pitchFamily="18" charset="0"/>
                                </a:rPr>
                                <m:t>𝑠</m:t>
                              </m:r>
                            </m:e>
                            <m:sub>
                              <m:r>
                                <a:rPr lang="en-US" altLang="zh-CN" sz="1400" i="1">
                                  <a:latin typeface="Cambria Math" panose="02040503050406030204" pitchFamily="18" charset="0"/>
                                  <a:ea typeface="微软雅黑" panose="020B0503020204020204" pitchFamily="34" charset="-122"/>
                                  <a:cs typeface="Times New Roman" panose="02020603050405020304" pitchFamily="18" charset="0"/>
                                </a:rPr>
                                <m:t>𝑡</m:t>
                              </m:r>
                            </m:sub>
                          </m:sSub>
                        </m:e>
                      </m:d>
                      <m:r>
                        <a:rPr lang="en-US" altLang="zh-CN" sz="140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1400" b="0" i="1" smtClean="0">
                          <a:latin typeface="Cambria Math" panose="02040503050406030204" pitchFamily="18" charset="0"/>
                          <a:ea typeface="Cambria Math" panose="02040503050406030204" pitchFamily="18" charset="0"/>
                          <a:cs typeface="Times New Roman" panose="02020603050405020304" pitchFamily="18" charset="0"/>
                        </a:rPr>
                        <m:t>𝑃</m:t>
                      </m:r>
                      <m:d>
                        <m:dPr>
                          <m:ctrlPr>
                            <a:rPr lang="en-US" altLang="zh-CN" sz="1400" b="0" i="1" smtClea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CN" sz="14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400" i="1">
                                  <a:latin typeface="Cambria Math" panose="02040503050406030204" pitchFamily="18" charset="0"/>
                                  <a:ea typeface="微软雅黑" panose="020B0503020204020204" pitchFamily="34" charset="-122"/>
                                  <a:cs typeface="Times New Roman" panose="02020603050405020304" pitchFamily="18" charset="0"/>
                                </a:rPr>
                                <m:t>𝑠</m:t>
                              </m:r>
                            </m:e>
                            <m:sub>
                              <m:r>
                                <a:rPr lang="en-US" altLang="zh-CN" sz="1400" i="1">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sz="1400" i="1">
                                  <a:latin typeface="Cambria Math" panose="02040503050406030204" pitchFamily="18" charset="0"/>
                                  <a:ea typeface="微软雅黑" panose="020B0503020204020204" pitchFamily="34" charset="-122"/>
                                  <a:cs typeface="Times New Roman" panose="02020603050405020304" pitchFamily="18" charset="0"/>
                                </a:rPr>
                                <m:t>+1</m:t>
                              </m:r>
                            </m:sub>
                          </m:sSub>
                        </m:e>
                        <m:e>
                          <m:sSub>
                            <m:sSubPr>
                              <m:ctrlPr>
                                <a:rPr lang="en-US" altLang="zh-CN" sz="14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400" i="1">
                                  <a:latin typeface="Cambria Math" panose="02040503050406030204" pitchFamily="18" charset="0"/>
                                  <a:ea typeface="微软雅黑" panose="020B0503020204020204" pitchFamily="34" charset="-122"/>
                                  <a:cs typeface="Times New Roman" panose="02020603050405020304" pitchFamily="18" charset="0"/>
                                </a:rPr>
                                <m:t>𝑠</m:t>
                              </m:r>
                            </m:e>
                            <m:sub>
                              <m:r>
                                <a:rPr lang="en-US" altLang="zh-CN" sz="1400" i="1">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sz="1400" i="1">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14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400" i="1">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sz="1400" i="1">
                                  <a:latin typeface="Cambria Math" panose="02040503050406030204" pitchFamily="18" charset="0"/>
                                  <a:ea typeface="微软雅黑" panose="020B0503020204020204" pitchFamily="34" charset="-122"/>
                                  <a:cs typeface="Times New Roman" panose="02020603050405020304" pitchFamily="18" charset="0"/>
                                </a:rPr>
                                <m:t>𝑡</m:t>
                              </m:r>
                            </m:sub>
                          </m:sSub>
                        </m:e>
                      </m:d>
                      <m:r>
                        <a:rPr lang="en-US" altLang="zh-CN" sz="1400" b="0" i="1" smtClean="0">
                          <a:latin typeface="Cambria Math" panose="02040503050406030204" pitchFamily="18" charset="0"/>
                          <a:ea typeface="Cambria Math" panose="02040503050406030204" pitchFamily="18" charset="0"/>
                          <a:cs typeface="Times New Roman" panose="02020603050405020304" pitchFamily="18" charset="0"/>
                        </a:rPr>
                        <m:t>∙</m:t>
                      </m:r>
                      <m:r>
                        <a:rPr lang="zh-CN" altLang="en-US" sz="1400" i="1">
                          <a:latin typeface="Cambria Math" panose="02040503050406030204" pitchFamily="18" charset="0"/>
                          <a:ea typeface="微软雅黑" panose="020B0503020204020204" pitchFamily="34" charset="-122"/>
                          <a:cs typeface="Times New Roman" panose="02020603050405020304" pitchFamily="18" charset="0"/>
                        </a:rPr>
                        <m:t>𝜋</m:t>
                      </m:r>
                      <m:d>
                        <m:dPr>
                          <m:ctrlPr>
                            <a:rPr lang="en-US" altLang="zh-CN" sz="1400" i="1">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sz="14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400" i="1">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sz="1400" i="1">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sz="1400" i="1">
                                  <a:latin typeface="Cambria Math" panose="02040503050406030204" pitchFamily="18" charset="0"/>
                                  <a:ea typeface="微软雅黑" panose="020B0503020204020204" pitchFamily="34" charset="-122"/>
                                  <a:cs typeface="Times New Roman" panose="02020603050405020304" pitchFamily="18" charset="0"/>
                                </a:rPr>
                                <m:t>+1</m:t>
                              </m:r>
                            </m:sub>
                          </m:sSub>
                        </m:e>
                        <m:e>
                          <m:sSub>
                            <m:sSubPr>
                              <m:ctrlPr>
                                <a:rPr lang="en-US" altLang="zh-CN" sz="14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400" i="1">
                                  <a:latin typeface="Cambria Math" panose="02040503050406030204" pitchFamily="18" charset="0"/>
                                  <a:ea typeface="微软雅黑" panose="020B0503020204020204" pitchFamily="34" charset="-122"/>
                                  <a:cs typeface="Times New Roman" panose="02020603050405020304" pitchFamily="18" charset="0"/>
                                </a:rPr>
                                <m:t>𝑠</m:t>
                              </m:r>
                            </m:e>
                            <m:sub>
                              <m:r>
                                <a:rPr lang="en-US" altLang="zh-CN" sz="1400" i="1">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sz="1400" b="0" i="1" smtClean="0">
                                  <a:latin typeface="Cambria Math" panose="02040503050406030204" pitchFamily="18" charset="0"/>
                                  <a:ea typeface="微软雅黑" panose="020B0503020204020204" pitchFamily="34" charset="-122"/>
                                  <a:cs typeface="Times New Roman" panose="02020603050405020304" pitchFamily="18" charset="0"/>
                                </a:rPr>
                                <m:t>+1</m:t>
                              </m:r>
                            </m:sub>
                          </m:sSub>
                        </m:e>
                      </m:d>
                      <m:r>
                        <a:rPr lang="en-US" altLang="zh-CN" sz="1400" i="1">
                          <a:latin typeface="Cambria Math" panose="02040503050406030204" pitchFamily="18" charset="0"/>
                          <a:ea typeface="Cambria Math" panose="02040503050406030204" pitchFamily="18" charset="0"/>
                          <a:cs typeface="Times New Roman" panose="02020603050405020304" pitchFamily="18" charset="0"/>
                        </a:rPr>
                        <m:t>∙</m:t>
                      </m:r>
                      <m:r>
                        <a:rPr lang="en-US" altLang="zh-CN" sz="1400" i="1">
                          <a:latin typeface="Cambria Math" panose="02040503050406030204" pitchFamily="18" charset="0"/>
                          <a:ea typeface="Cambria Math" panose="02040503050406030204" pitchFamily="18" charset="0"/>
                          <a:cs typeface="Times New Roman" panose="02020603050405020304" pitchFamily="18" charset="0"/>
                        </a:rPr>
                        <m:t>𝑃</m:t>
                      </m:r>
                      <m:d>
                        <m:dPr>
                          <m:ctrlPr>
                            <a:rPr lang="en-US" altLang="zh-CN" sz="1400" i="1">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CN" sz="14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400" i="1">
                                  <a:latin typeface="Cambria Math" panose="02040503050406030204" pitchFamily="18" charset="0"/>
                                  <a:ea typeface="微软雅黑" panose="020B0503020204020204" pitchFamily="34" charset="-122"/>
                                  <a:cs typeface="Times New Roman" panose="02020603050405020304" pitchFamily="18" charset="0"/>
                                </a:rPr>
                                <m:t>𝑠</m:t>
                              </m:r>
                            </m:e>
                            <m:sub>
                              <m:r>
                                <a:rPr lang="en-US" altLang="zh-CN" sz="1400" i="1">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sz="1400" i="1">
                                  <a:latin typeface="Cambria Math" panose="02040503050406030204" pitchFamily="18" charset="0"/>
                                  <a:ea typeface="微软雅黑" panose="020B0503020204020204" pitchFamily="34" charset="-122"/>
                                  <a:cs typeface="Times New Roman" panose="02020603050405020304" pitchFamily="18" charset="0"/>
                                </a:rPr>
                                <m:t>+2</m:t>
                              </m:r>
                            </m:sub>
                          </m:sSub>
                        </m:e>
                        <m:e>
                          <m:sSub>
                            <m:sSubPr>
                              <m:ctrlPr>
                                <a:rPr lang="en-US" altLang="zh-CN" sz="14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400" i="1">
                                  <a:latin typeface="Cambria Math" panose="02040503050406030204" pitchFamily="18" charset="0"/>
                                  <a:ea typeface="微软雅黑" panose="020B0503020204020204" pitchFamily="34" charset="-122"/>
                                  <a:cs typeface="Times New Roman" panose="02020603050405020304" pitchFamily="18" charset="0"/>
                                </a:rPr>
                                <m:t>𝑠</m:t>
                              </m:r>
                            </m:e>
                            <m:sub>
                              <m:r>
                                <a:rPr lang="en-US" altLang="zh-CN" sz="1400" i="1">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sz="1400" b="0" i="1" smtClean="0">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sz="1400" i="1">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14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400" i="1">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sz="1400" i="1">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sz="1400" b="0" i="1" smtClean="0">
                                  <a:latin typeface="Cambria Math" panose="02040503050406030204" pitchFamily="18" charset="0"/>
                                  <a:ea typeface="微软雅黑" panose="020B0503020204020204" pitchFamily="34" charset="-122"/>
                                  <a:cs typeface="Times New Roman" panose="02020603050405020304" pitchFamily="18" charset="0"/>
                                </a:rPr>
                                <m:t>+1</m:t>
                              </m:r>
                            </m:sub>
                          </m:sSub>
                        </m:e>
                      </m:d>
                      <m:r>
                        <a:rPr lang="en-US" altLang="zh-CN" sz="1400" i="1">
                          <a:latin typeface="Cambria Math" panose="02040503050406030204" pitchFamily="18" charset="0"/>
                          <a:ea typeface="微软雅黑" panose="020B0503020204020204" pitchFamily="34" charset="-122"/>
                          <a:cs typeface="Times New Roman" panose="02020603050405020304" pitchFamily="18" charset="0"/>
                        </a:rPr>
                        <m:t>…</m:t>
                      </m:r>
                    </m:oMath>
                  </m:oMathPara>
                </a14:m>
                <a:endParaRPr lang="en-US" altLang="zh-CN" sz="1400" i="1" dirty="0">
                  <a:latin typeface="Cambria Math" panose="02040503050406030204" pitchFamily="18" charset="0"/>
                  <a:ea typeface="微软雅黑" panose="020B0503020204020204" pitchFamily="34" charset="-122"/>
                  <a:cs typeface="Times New Roman" panose="02020603050405020304" pitchFamily="18" charset="0"/>
                </a:endParaRPr>
              </a:p>
              <a:p>
                <a14:m>
                  <m:oMath xmlns:m="http://schemas.openxmlformats.org/officeDocument/2006/math">
                    <m:r>
                      <a:rPr lang="zh-CN" altLang="en-US" i="1">
                        <a:latin typeface="Cambria Math" panose="02040503050406030204" pitchFamily="18" charset="0"/>
                        <a:ea typeface="微软雅黑" panose="020B0503020204020204" pitchFamily="34" charset="-122"/>
                        <a:cs typeface="Times New Roman" panose="02020603050405020304" pitchFamily="18" charset="0"/>
                      </a:rPr>
                      <m:t>其中</m:t>
                    </m:r>
                    <m:r>
                      <a:rPr lang="zh-CN" altLang="en-US" i="1" smtClean="0">
                        <a:latin typeface="Cambria Math" panose="02040503050406030204" pitchFamily="18" charset="0"/>
                        <a:ea typeface="微软雅黑" panose="020B0503020204020204" pitchFamily="34" charset="-122"/>
                        <a:cs typeface="Times New Roman" panose="02020603050405020304" pitchFamily="18" charset="0"/>
                      </a:rPr>
                      <m:t>，</m:t>
                    </m:r>
                    <m:r>
                      <a:rPr lang="zh-CN" altLang="en-US" i="1">
                        <a:latin typeface="Cambria Math" panose="02040503050406030204" pitchFamily="18" charset="0"/>
                        <a:ea typeface="微软雅黑" panose="020B0503020204020204" pitchFamily="34" charset="-122"/>
                        <a:cs typeface="Times New Roman" panose="02020603050405020304" pitchFamily="18" charset="0"/>
                      </a:rPr>
                      <m:t>𝜋</m:t>
                    </m:r>
                    <m:r>
                      <a:rPr lang="en-US" altLang="zh-CN" i="1">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a:latin typeface="Cambria Math" panose="02040503050406030204" pitchFamily="18" charset="0"/>
                            <a:ea typeface="微软雅黑" panose="020B0503020204020204" pitchFamily="34" charset="-122"/>
                            <a:cs typeface="Times New Roman" panose="02020603050405020304" pitchFamily="18" charset="0"/>
                          </a:rPr>
                        </m:ctrlPr>
                      </m:sSubPr>
                      <m:e>
                        <m:sSub>
                          <m:sSubPr>
                            <m:ctrlPr>
                              <a:rPr lang="en-US" altLang="zh-CN"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i="1">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i="1">
                            <a:latin typeface="Cambria Math" panose="02040503050406030204" pitchFamily="18" charset="0"/>
                            <a:ea typeface="微软雅黑" panose="020B0503020204020204" pitchFamily="34" charset="-122"/>
                            <a:cs typeface="Times New Roman" panose="02020603050405020304" pitchFamily="18" charset="0"/>
                          </a:rPr>
                          <m:t>|</m:t>
                        </m:r>
                        <m:r>
                          <a:rPr lang="en-US" altLang="zh-CN" i="1">
                            <a:latin typeface="Cambria Math" panose="02040503050406030204" pitchFamily="18" charset="0"/>
                            <a:ea typeface="微软雅黑" panose="020B0503020204020204" pitchFamily="34" charset="-122"/>
                            <a:cs typeface="Times New Roman" panose="02020603050405020304" pitchFamily="18" charset="0"/>
                          </a:rPr>
                          <m:t>𝑠</m:t>
                        </m:r>
                      </m:e>
                      <m:sub>
                        <m:r>
                          <a:rPr lang="en-US" altLang="zh-CN" i="1">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i="1">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是条件概率，表明在状态</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latin typeface="Cambria Math" panose="02040503050406030204" pitchFamily="18" charset="0"/>
                            <a:ea typeface="微软雅黑" panose="020B0503020204020204" pitchFamily="34" charset="-122"/>
                            <a:cs typeface="Times New Roman" panose="02020603050405020304" pitchFamily="18" charset="0"/>
                          </a:rPr>
                          <m:t>𝑠</m:t>
                        </m:r>
                      </m:e>
                      <m:sub>
                        <m:r>
                          <a:rPr lang="en-US" altLang="zh-CN" i="1">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i="1">
                        <a:latin typeface="Cambria Math" panose="02040503050406030204" pitchFamily="18" charset="0"/>
                        <a:ea typeface="微软雅黑" panose="020B0503020204020204" pitchFamily="34" charset="-122"/>
                        <a:cs typeface="Times New Roman" panose="02020603050405020304" pitchFamily="18" charset="0"/>
                      </a:rPr>
                      <m:t> </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下采取某个动作</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i="1">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i="1">
                        <a:latin typeface="Cambria Math" panose="02040503050406030204" pitchFamily="18" charset="0"/>
                        <a:ea typeface="微软雅黑" panose="020B0503020204020204" pitchFamily="34" charset="-122"/>
                        <a:cs typeface="Times New Roman" panose="02020603050405020304" pitchFamily="18" charset="0"/>
                      </a:rPr>
                      <m:t> </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的概率，</a:t>
                </a:r>
                <a14:m>
                  <m:oMath xmlns:m="http://schemas.openxmlformats.org/officeDocument/2006/math">
                    <m:r>
                      <a:rPr lang="zh-CN" altLang="en-US" i="1">
                        <a:latin typeface="Cambria Math" panose="02040503050406030204" pitchFamily="18" charset="0"/>
                        <a:ea typeface="微软雅黑" panose="020B0503020204020204" pitchFamily="34" charset="-122"/>
                        <a:cs typeface="Times New Roman" panose="02020603050405020304" pitchFamily="18" charset="0"/>
                      </a:rPr>
                      <m:t>𝜋</m:t>
                    </m:r>
                    <m:r>
                      <a:rPr lang="en-US" altLang="zh-CN" i="1">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latin typeface="Cambria Math" panose="02040503050406030204" pitchFamily="18" charset="0"/>
                            <a:ea typeface="微软雅黑" panose="020B0503020204020204" pitchFamily="34" charset="-122"/>
                            <a:cs typeface="Times New Roman" panose="02020603050405020304" pitchFamily="18" charset="0"/>
                          </a:rPr>
                          <m:t>𝑠</m:t>
                        </m:r>
                      </m:e>
                      <m:sub>
                        <m:r>
                          <a:rPr lang="en-US" altLang="zh-CN" i="1">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i="1">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i="1">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i="1">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是联合概率，表明同时处于状态</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latin typeface="Cambria Math" panose="02040503050406030204" pitchFamily="18" charset="0"/>
                            <a:ea typeface="微软雅黑" panose="020B0503020204020204" pitchFamily="34" charset="-122"/>
                            <a:cs typeface="Times New Roman" panose="02020603050405020304" pitchFamily="18" charset="0"/>
                          </a:rPr>
                          <m:t>𝑠</m:t>
                        </m:r>
                      </m:e>
                      <m:sub>
                        <m:r>
                          <a:rPr lang="en-US" altLang="zh-CN" i="1">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i="1">
                        <a:latin typeface="Cambria Math" panose="02040503050406030204" pitchFamily="18" charset="0"/>
                        <a:ea typeface="微软雅黑" panose="020B0503020204020204" pitchFamily="34" charset="-122"/>
                        <a:cs typeface="Times New Roman" panose="02020603050405020304" pitchFamily="18" charset="0"/>
                      </a:rPr>
                      <m:t> </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下且采取动作</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i="1">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i="1">
                        <a:latin typeface="Cambria Math" panose="02040503050406030204" pitchFamily="18" charset="0"/>
                        <a:ea typeface="微软雅黑" panose="020B0503020204020204" pitchFamily="34" charset="-122"/>
                        <a:cs typeface="Times New Roman" panose="02020603050405020304" pitchFamily="18" charset="0"/>
                      </a:rPr>
                      <m:t> </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的概率。</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价值函数可以重新写成：</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14:m>
                  <m:oMathPara xmlns:m="http://schemas.openxmlformats.org/officeDocument/2006/math">
                    <m:oMathParaPr>
                      <m:jc m:val="center"/>
                    </m:oMathParaPr>
                    <m:oMath xmlns:m="http://schemas.openxmlformats.org/officeDocument/2006/math">
                      <m:sSub>
                        <m:sSubPr>
                          <m:ctrlPr>
                            <a:rPr lang="zh-CN" altLang="zh-CN"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a:latin typeface="Cambria Math" panose="02040503050406030204" pitchFamily="18" charset="0"/>
                              <a:ea typeface="微软雅黑" panose="020B0503020204020204" pitchFamily="34" charset="-122"/>
                              <a:cs typeface="Times New Roman" panose="02020603050405020304" pitchFamily="18" charset="0"/>
                            </a:rPr>
                            <m:t>𝑉</m:t>
                          </m:r>
                        </m:e>
                        <m:sub>
                          <m:r>
                            <a:rPr lang="en-US" altLang="zh-CN">
                              <a:latin typeface="Cambria Math" panose="02040503050406030204" pitchFamily="18" charset="0"/>
                              <a:ea typeface="微软雅黑" panose="020B0503020204020204" pitchFamily="34" charset="-122"/>
                              <a:cs typeface="Times New Roman" panose="02020603050405020304" pitchFamily="18" charset="0"/>
                            </a:rPr>
                            <m:t>𝜋</m:t>
                          </m:r>
                        </m:sub>
                      </m:sSub>
                      <m:d>
                        <m:dPr>
                          <m:ctrlPr>
                            <a:rPr lang="zh-CN" altLang="zh-CN" i="1">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a:latin typeface="Cambria Math" panose="02040503050406030204" pitchFamily="18" charset="0"/>
                              <a:ea typeface="微软雅黑" panose="020B0503020204020204" pitchFamily="34" charset="-122"/>
                              <a:cs typeface="Times New Roman" panose="02020603050405020304" pitchFamily="18" charset="0"/>
                            </a:rPr>
                            <m:t>𝑠</m:t>
                          </m:r>
                        </m:e>
                      </m:d>
                      <m:r>
                        <a:rPr lang="en-US" altLang="zh-CN">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a:latin typeface="Cambria Math" panose="02040503050406030204" pitchFamily="18" charset="0"/>
                              <a:ea typeface="微软雅黑" panose="020B0503020204020204" pitchFamily="34" charset="-122"/>
                              <a:cs typeface="Times New Roman" panose="02020603050405020304" pitchFamily="18" charset="0"/>
                            </a:rPr>
                            <m:t>𝔼</m:t>
                          </m:r>
                        </m:e>
                        <m:sub>
                          <m:r>
                            <a:rPr lang="en-US" altLang="zh-CN">
                              <a:latin typeface="Cambria Math" panose="02040503050406030204" pitchFamily="18" charset="0"/>
                              <a:ea typeface="微软雅黑" panose="020B0503020204020204" pitchFamily="34" charset="-122"/>
                              <a:cs typeface="Times New Roman" panose="02020603050405020304" pitchFamily="18" charset="0"/>
                            </a:rPr>
                            <m:t>𝜋</m:t>
                          </m:r>
                        </m:sub>
                      </m:sSub>
                      <m:d>
                        <m:dPr>
                          <m:begChr m:val="["/>
                          <m:endChr m:val="]"/>
                          <m:ctrlPr>
                            <a:rPr lang="en-US" altLang="zh-CN" i="1">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zh-CN" altLang="zh-CN"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a:latin typeface="Cambria Math" panose="02040503050406030204" pitchFamily="18" charset="0"/>
                                  <a:ea typeface="微软雅黑" panose="020B0503020204020204" pitchFamily="34" charset="-122"/>
                                  <a:cs typeface="Times New Roman" panose="02020603050405020304" pitchFamily="18" charset="0"/>
                                </a:rPr>
                                <m:t>𝐺</m:t>
                              </m:r>
                            </m:e>
                            <m:sub>
                              <m:r>
                                <a:rPr lang="en-US" altLang="zh-CN">
                                  <a:latin typeface="Cambria Math" panose="02040503050406030204" pitchFamily="18" charset="0"/>
                                  <a:ea typeface="微软雅黑" panose="020B0503020204020204" pitchFamily="34" charset="-122"/>
                                  <a:cs typeface="Times New Roman" panose="02020603050405020304" pitchFamily="18" charset="0"/>
                                </a:rPr>
                                <m:t>𝑡</m:t>
                              </m:r>
                            </m:sub>
                          </m:sSub>
                        </m:e>
                        <m:e>
                          <m:sSub>
                            <m:sSubPr>
                              <m:ctrlPr>
                                <a:rPr lang="zh-CN" altLang="zh-CN"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a:latin typeface="Cambria Math" panose="02040503050406030204" pitchFamily="18" charset="0"/>
                              <a:ea typeface="微软雅黑" panose="020B0503020204020204" pitchFamily="34" charset="-122"/>
                              <a:cs typeface="Times New Roman" panose="02020603050405020304" pitchFamily="18" charset="0"/>
                            </a:rPr>
                            <m:t>=</m:t>
                          </m:r>
                          <m:r>
                            <a:rPr lang="en-US" altLang="zh-CN">
                              <a:latin typeface="Cambria Math" panose="02040503050406030204" pitchFamily="18" charset="0"/>
                              <a:ea typeface="微软雅黑" panose="020B0503020204020204" pitchFamily="34" charset="-122"/>
                              <a:cs typeface="Times New Roman" panose="02020603050405020304" pitchFamily="18" charset="0"/>
                            </a:rPr>
                            <m:t>𝑠</m:t>
                          </m:r>
                        </m:e>
                      </m:d>
                      <m:r>
                        <a:rPr lang="en-US" altLang="zh-CN" b="0" i="0" smtClean="0">
                          <a:latin typeface="Cambria Math" panose="02040503050406030204" pitchFamily="18" charset="0"/>
                          <a:ea typeface="微软雅黑" panose="020B0503020204020204" pitchFamily="34" charset="-122"/>
                          <a:cs typeface="Times New Roman" panose="02020603050405020304" pitchFamily="18" charset="0"/>
                        </a:rPr>
                        <m:t>=</m:t>
                      </m:r>
                      <m:nary>
                        <m:naryPr>
                          <m:chr m:val="∑"/>
                          <m:limLoc m:val="subSup"/>
                          <m:supHide m:val="on"/>
                          <m:ctrlP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ctrlPr>
                        </m:naryPr>
                        <m:sub>
                          <m:r>
                            <a:rPr lang="zh-CN" altLang="en-US" i="1">
                              <a:latin typeface="Cambria Math" panose="02040503050406030204" pitchFamily="18" charset="0"/>
                              <a:ea typeface="微软雅黑" panose="020B0503020204020204" pitchFamily="34" charset="-122"/>
                              <a:cs typeface="Times New Roman" panose="02020603050405020304" pitchFamily="18" charset="0"/>
                            </a:rPr>
                            <m:t>𝜏</m:t>
                          </m:r>
                        </m:sub>
                        <m:sup/>
                        <m:e>
                          <m:r>
                            <a:rPr lang="en-US" altLang="zh-CN" i="1">
                              <a:latin typeface="Cambria Math" panose="02040503050406030204" pitchFamily="18" charset="0"/>
                              <a:ea typeface="微软雅黑" panose="020B0503020204020204" pitchFamily="34" charset="-122"/>
                              <a:cs typeface="Times New Roman" panose="02020603050405020304" pitchFamily="18" charset="0"/>
                            </a:rPr>
                            <m:t>𝑃</m:t>
                          </m:r>
                          <m:d>
                            <m:dPr>
                              <m:ctrlPr>
                                <a:rPr lang="en-US" altLang="zh-CN" i="1">
                                  <a:latin typeface="Cambria Math" panose="02040503050406030204" pitchFamily="18" charset="0"/>
                                  <a:ea typeface="微软雅黑" panose="020B0503020204020204" pitchFamily="34" charset="-122"/>
                                  <a:cs typeface="Times New Roman" panose="02020603050405020304" pitchFamily="18" charset="0"/>
                                </a:rPr>
                              </m:ctrlPr>
                            </m:dPr>
                            <m:e>
                              <m:r>
                                <a:rPr lang="zh-CN" altLang="en-US" i="1">
                                  <a:latin typeface="Cambria Math" panose="02040503050406030204" pitchFamily="18" charset="0"/>
                                  <a:ea typeface="微软雅黑" panose="020B0503020204020204" pitchFamily="34" charset="-122"/>
                                  <a:cs typeface="Times New Roman" panose="02020603050405020304" pitchFamily="18" charset="0"/>
                                </a:rPr>
                                <m:t>𝜏</m:t>
                              </m:r>
                            </m:e>
                            <m:e>
                              <m:r>
                                <a:rPr lang="en-US" altLang="zh-CN" i="1">
                                  <a:latin typeface="Cambria Math" panose="02040503050406030204" pitchFamily="18" charset="0"/>
                                  <a:ea typeface="微软雅黑" panose="020B0503020204020204" pitchFamily="34" charset="-122"/>
                                  <a:cs typeface="Times New Roman" panose="02020603050405020304" pitchFamily="18" charset="0"/>
                                </a:rPr>
                                <m:t>𝑠</m:t>
                              </m:r>
                            </m:e>
                          </m:d>
                          <m:sSub>
                            <m:sSubPr>
                              <m:ctrlPr>
                                <a:rPr lang="zh-CN" altLang="zh-CN"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a:latin typeface="Cambria Math" panose="02040503050406030204" pitchFamily="18" charset="0"/>
                                  <a:ea typeface="微软雅黑" panose="020B0503020204020204" pitchFamily="34" charset="-122"/>
                                  <a:cs typeface="Times New Roman" panose="02020603050405020304" pitchFamily="18" charset="0"/>
                                </a:rPr>
                                <m:t>𝐺</m:t>
                              </m:r>
                            </m:e>
                            <m:sub>
                              <m:r>
                                <a:rPr lang="en-US" altLang="zh-CN">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m:t>
                          </m:r>
                          <m:r>
                            <a:rPr lang="zh-CN" altLang="en-US" i="1">
                              <a:latin typeface="Cambria Math" panose="02040503050406030204" pitchFamily="18" charset="0"/>
                              <a:ea typeface="微软雅黑" panose="020B0503020204020204" pitchFamily="34" charset="-122"/>
                              <a:cs typeface="Times New Roman" panose="02020603050405020304" pitchFamily="18" charset="0"/>
                            </a:rPr>
                            <m:t>𝜏</m:t>
                          </m:r>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m:t>
                          </m:r>
                        </m:e>
                      </m:nary>
                    </m:oMath>
                  </m:oMathPara>
                </a14:m>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其中，</a:t>
                </a:r>
                <a:r>
                  <a:rPr lang="zh-CN" altLang="zh-CN" dirty="0">
                    <a:ea typeface="微软雅黑" panose="020B0503020204020204" pitchFamily="34" charset="-122"/>
                    <a:cs typeface="Times New Roman" panose="02020603050405020304" pitchFamily="18" charset="0"/>
                  </a:rPr>
                  <a:t> </a:t>
                </a:r>
                <a14:m>
                  <m:oMath xmlns:m="http://schemas.openxmlformats.org/officeDocument/2006/math">
                    <m:sSub>
                      <m:sSubPr>
                        <m:ctrlPr>
                          <a:rPr lang="zh-CN" altLang="zh-CN"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a:latin typeface="Cambria Math" panose="02040503050406030204" pitchFamily="18" charset="0"/>
                            <a:ea typeface="微软雅黑" panose="020B0503020204020204" pitchFamily="34" charset="-122"/>
                            <a:cs typeface="Times New Roman" panose="02020603050405020304" pitchFamily="18" charset="0"/>
                          </a:rPr>
                          <m:t>𝐺</m:t>
                        </m:r>
                      </m:e>
                      <m:sub>
                        <m:r>
                          <a:rPr lang="en-US" altLang="zh-CN">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i="1">
                        <a:latin typeface="Cambria Math" panose="02040503050406030204" pitchFamily="18" charset="0"/>
                        <a:ea typeface="微软雅黑" panose="020B0503020204020204" pitchFamily="34" charset="-122"/>
                        <a:cs typeface="Times New Roman" panose="02020603050405020304" pitchFamily="18" charset="0"/>
                      </a:rPr>
                      <m:t>(</m:t>
                    </m:r>
                    <m:r>
                      <a:rPr lang="zh-CN" altLang="en-US" i="1">
                        <a:latin typeface="Cambria Math" panose="02040503050406030204" pitchFamily="18" charset="0"/>
                        <a:ea typeface="微软雅黑" panose="020B0503020204020204" pitchFamily="34" charset="-122"/>
                        <a:cs typeface="Times New Roman" panose="02020603050405020304" pitchFamily="18" charset="0"/>
                      </a:rPr>
                      <m:t>𝜏</m:t>
                    </m:r>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表示轨迹</a:t>
                </a:r>
                <a14:m>
                  <m:oMath xmlns:m="http://schemas.openxmlformats.org/officeDocument/2006/math">
                    <m:r>
                      <a:rPr lang="zh-CN" altLang="en-US" i="1">
                        <a:latin typeface="Cambria Math" panose="02040503050406030204" pitchFamily="18" charset="0"/>
                        <a:ea typeface="微软雅黑" panose="020B0503020204020204" pitchFamily="34" charset="-122"/>
                        <a:cs typeface="Times New Roman" panose="02020603050405020304" pitchFamily="18" charset="0"/>
                      </a:rPr>
                      <m:t>𝜏</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的回报。</a:t>
                </a:r>
                <a:r>
                  <a:rPr lang="zh-CN" altLang="zh-CN" dirty="0">
                    <a:ea typeface="微软雅黑" panose="020B0503020204020204" pitchFamily="34" charset="-122"/>
                    <a:cs typeface="Times New Roman" panose="02020603050405020304" pitchFamily="18" charset="0"/>
                  </a:rPr>
                  <a:t> </a:t>
                </a:r>
                <a14:m>
                  <m:oMath xmlns:m="http://schemas.openxmlformats.org/officeDocument/2006/math">
                    <m:sSub>
                      <m:sSubPr>
                        <m:ctrlPr>
                          <a:rPr lang="zh-CN" altLang="zh-CN"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a:latin typeface="Cambria Math" panose="02040503050406030204" pitchFamily="18" charset="0"/>
                            <a:ea typeface="微软雅黑" panose="020B0503020204020204" pitchFamily="34" charset="-122"/>
                            <a:cs typeface="Times New Roman" panose="02020603050405020304" pitchFamily="18" charset="0"/>
                          </a:rPr>
                          <m:t>𝔼</m:t>
                        </m:r>
                      </m:e>
                      <m:sub>
                        <m:r>
                          <a:rPr lang="en-US" altLang="zh-CN">
                            <a:latin typeface="Cambria Math" panose="02040503050406030204" pitchFamily="18" charset="0"/>
                            <a:ea typeface="微软雅黑" panose="020B0503020204020204" pitchFamily="34" charset="-122"/>
                            <a:cs typeface="Times New Roman" panose="02020603050405020304" pitchFamily="18" charset="0"/>
                          </a:rPr>
                          <m:t>𝜋</m:t>
                        </m:r>
                      </m:sub>
                    </m:sSub>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m:t>
                    </m:r>
                    <m:r>
                      <a:rPr lang="zh-CN" altLang="en-US" i="1">
                        <a:latin typeface="Cambria Math" panose="02040503050406030204" pitchFamily="18" charset="0"/>
                        <a:ea typeface="微软雅黑" panose="020B0503020204020204" pitchFamily="34" charset="-122"/>
                        <a:cs typeface="Times New Roman" panose="02020603050405020304" pitchFamily="18" charset="0"/>
                      </a:rPr>
                      <m:t>这里</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的</a:t>
                </a:r>
                <a14:m>
                  <m:oMath xmlns:m="http://schemas.openxmlformats.org/officeDocument/2006/math">
                    <m:r>
                      <a:rPr lang="en-US" altLang="zh-CN">
                        <a:latin typeface="Cambria Math" panose="02040503050406030204" pitchFamily="18" charset="0"/>
                        <a:ea typeface="微软雅黑" panose="020B0503020204020204" pitchFamily="34" charset="-122"/>
                        <a:cs typeface="Times New Roman" panose="02020603050405020304" pitchFamily="18" charset="0"/>
                      </a:rPr>
                      <m:t>𝜋</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不仅是说当前时刻用</a:t>
                </a:r>
                <a14:m>
                  <m:oMath xmlns:m="http://schemas.openxmlformats.org/officeDocument/2006/math">
                    <m:r>
                      <a:rPr lang="en-US" altLang="zh-CN">
                        <a:latin typeface="Cambria Math" panose="02040503050406030204" pitchFamily="18" charset="0"/>
                        <a:ea typeface="微软雅黑" panose="020B0503020204020204" pitchFamily="34" charset="-122"/>
                        <a:cs typeface="Times New Roman" panose="02020603050405020304" pitchFamily="18" charset="0"/>
                      </a:rPr>
                      <m:t>𝜋</m:t>
                    </m:r>
                    <m:r>
                      <a:rPr lang="en-US" altLang="zh-CN" i="1">
                        <a:latin typeface="Cambria Math" panose="02040503050406030204" pitchFamily="18" charset="0"/>
                        <a:ea typeface="微软雅黑" panose="020B0503020204020204" pitchFamily="34" charset="-122"/>
                        <a:cs typeface="Times New Roman" panose="02020603050405020304" pitchFamily="18" charset="0"/>
                      </a:rPr>
                      <m:t> </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来采样动作，后续也用</a:t>
                </a:r>
                <a14:m>
                  <m:oMath xmlns:m="http://schemas.openxmlformats.org/officeDocument/2006/math">
                    <m:r>
                      <a:rPr lang="en-US" altLang="zh-CN">
                        <a:latin typeface="Cambria Math" panose="02040503050406030204" pitchFamily="18" charset="0"/>
                        <a:ea typeface="微软雅黑" panose="020B0503020204020204" pitchFamily="34" charset="-122"/>
                        <a:cs typeface="Times New Roman" panose="02020603050405020304" pitchFamily="18" charset="0"/>
                      </a:rPr>
                      <m:t>𝜋</m:t>
                    </m:r>
                    <m:r>
                      <a:rPr lang="en-US" altLang="zh-CN" i="1">
                        <a:latin typeface="Cambria Math" panose="02040503050406030204" pitchFamily="18" charset="0"/>
                        <a:ea typeface="微软雅黑" panose="020B0503020204020204" pitchFamily="34" charset="-122"/>
                        <a:cs typeface="Times New Roman" panose="02020603050405020304" pitchFamily="18" charset="0"/>
                      </a:rPr>
                      <m:t> </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来继续采样动作，只不过这里用</a:t>
                </a:r>
                <a14:m>
                  <m:oMath xmlns:m="http://schemas.openxmlformats.org/officeDocument/2006/math">
                    <m:r>
                      <a:rPr lang="en-US" altLang="zh-CN">
                        <a:latin typeface="Cambria Math" panose="02040503050406030204" pitchFamily="18" charset="0"/>
                        <a:ea typeface="微软雅黑" panose="020B0503020204020204" pitchFamily="34" charset="-122"/>
                        <a:cs typeface="Times New Roman" panose="02020603050405020304" pitchFamily="18" charset="0"/>
                      </a:rPr>
                      <m:t>𝜋</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来简写。</a:t>
                </a:r>
              </a:p>
            </p:txBody>
          </p:sp>
        </mc:Choice>
        <mc:Fallback xmlns="">
          <p:sp>
            <p:nvSpPr>
              <p:cNvPr id="11" name="文本框 10">
                <a:extLst>
                  <a:ext uri="{FF2B5EF4-FFF2-40B4-BE49-F238E27FC236}">
                    <a16:creationId xmlns:a16="http://schemas.microsoft.com/office/drawing/2014/main" id="{A059F0A1-E75B-8811-C18F-A2E401600F90}"/>
                  </a:ext>
                </a:extLst>
              </p:cNvPr>
              <p:cNvSpPr txBox="1">
                <a:spLocks noRot="1" noChangeAspect="1" noMove="1" noResize="1" noEditPoints="1" noAdjustHandles="1" noChangeArrowheads="1" noChangeShapeType="1" noTextEdit="1"/>
              </p:cNvSpPr>
              <p:nvPr/>
            </p:nvSpPr>
            <p:spPr>
              <a:xfrm>
                <a:off x="6185434" y="1283942"/>
                <a:ext cx="5828766" cy="5266250"/>
              </a:xfrm>
              <a:prstGeom prst="rect">
                <a:avLst/>
              </a:prstGeom>
              <a:blipFill>
                <a:blip r:embed="rId2"/>
                <a:stretch>
                  <a:fillRect l="-1046" t="-810" r="-837" b="-9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椭圆 11">
                <a:extLst>
                  <a:ext uri="{FF2B5EF4-FFF2-40B4-BE49-F238E27FC236}">
                    <a16:creationId xmlns:a16="http://schemas.microsoft.com/office/drawing/2014/main" id="{2EAD0547-DF3B-0FC3-A022-AC11221BE858}"/>
                  </a:ext>
                </a:extLst>
              </p:cNvPr>
              <p:cNvSpPr/>
              <p:nvPr/>
            </p:nvSpPr>
            <p:spPr>
              <a:xfrm>
                <a:off x="242883" y="3535742"/>
                <a:ext cx="421105" cy="391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sub>
                      </m:sSub>
                    </m:oMath>
                  </m:oMathPara>
                </a14:m>
                <a:endParaRPr lang="zh-CN" altLang="en-US" dirty="0"/>
              </a:p>
            </p:txBody>
          </p:sp>
        </mc:Choice>
        <mc:Fallback xmlns="">
          <p:sp>
            <p:nvSpPr>
              <p:cNvPr id="12" name="椭圆 11">
                <a:extLst>
                  <a:ext uri="{FF2B5EF4-FFF2-40B4-BE49-F238E27FC236}">
                    <a16:creationId xmlns:a16="http://schemas.microsoft.com/office/drawing/2014/main" id="{2EAD0547-DF3B-0FC3-A022-AC11221BE858}"/>
                  </a:ext>
                </a:extLst>
              </p:cNvPr>
              <p:cNvSpPr>
                <a:spLocks noRot="1" noChangeAspect="1" noMove="1" noResize="1" noEditPoints="1" noAdjustHandles="1" noChangeArrowheads="1" noChangeShapeType="1" noTextEdit="1"/>
              </p:cNvSpPr>
              <p:nvPr/>
            </p:nvSpPr>
            <p:spPr>
              <a:xfrm>
                <a:off x="242883" y="3535742"/>
                <a:ext cx="421105" cy="391027"/>
              </a:xfrm>
              <a:prstGeom prst="ellipse">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椭圆 12">
                <a:extLst>
                  <a:ext uri="{FF2B5EF4-FFF2-40B4-BE49-F238E27FC236}">
                    <a16:creationId xmlns:a16="http://schemas.microsoft.com/office/drawing/2014/main" id="{4B22556B-6F88-5683-94D2-0BEB5052474B}"/>
                  </a:ext>
                </a:extLst>
              </p:cNvPr>
              <p:cNvSpPr/>
              <p:nvPr/>
            </p:nvSpPr>
            <p:spPr>
              <a:xfrm>
                <a:off x="1285649" y="2961060"/>
                <a:ext cx="421105" cy="391027"/>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zh-CN"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𝐴</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sub>
                      </m:sSub>
                    </m:oMath>
                  </m:oMathPara>
                </a14:m>
                <a:endParaRPr lang="zh-CN" altLang="en-US" dirty="0"/>
              </a:p>
            </p:txBody>
          </p:sp>
        </mc:Choice>
        <mc:Fallback xmlns="">
          <p:sp>
            <p:nvSpPr>
              <p:cNvPr id="13" name="椭圆 12">
                <a:extLst>
                  <a:ext uri="{FF2B5EF4-FFF2-40B4-BE49-F238E27FC236}">
                    <a16:creationId xmlns:a16="http://schemas.microsoft.com/office/drawing/2014/main" id="{4B22556B-6F88-5683-94D2-0BEB5052474B}"/>
                  </a:ext>
                </a:extLst>
              </p:cNvPr>
              <p:cNvSpPr>
                <a:spLocks noRot="1" noChangeAspect="1" noMove="1" noResize="1" noEditPoints="1" noAdjustHandles="1" noChangeArrowheads="1" noChangeShapeType="1" noTextEdit="1"/>
              </p:cNvSpPr>
              <p:nvPr/>
            </p:nvSpPr>
            <p:spPr>
              <a:xfrm>
                <a:off x="1285649" y="2961060"/>
                <a:ext cx="421105" cy="391027"/>
              </a:xfrm>
              <a:prstGeom prst="ellipse">
                <a:avLst/>
              </a:prstGeom>
              <a:blipFill>
                <a:blip r:embed="rId4"/>
                <a:stretch>
                  <a:fillRect l="-14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椭圆 14">
                <a:extLst>
                  <a:ext uri="{FF2B5EF4-FFF2-40B4-BE49-F238E27FC236}">
                    <a16:creationId xmlns:a16="http://schemas.microsoft.com/office/drawing/2014/main" id="{9CB2D25F-05F7-8BC6-FDC1-F190804AB4B8}"/>
                  </a:ext>
                </a:extLst>
              </p:cNvPr>
              <p:cNvSpPr/>
              <p:nvPr/>
            </p:nvSpPr>
            <p:spPr>
              <a:xfrm>
                <a:off x="1285651" y="3535742"/>
                <a:ext cx="421105" cy="391027"/>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zh-CN"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𝐴</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sub>
                      </m:sSub>
                    </m:oMath>
                  </m:oMathPara>
                </a14:m>
                <a:endParaRPr lang="zh-CN" altLang="en-US" dirty="0"/>
              </a:p>
            </p:txBody>
          </p:sp>
        </mc:Choice>
        <mc:Fallback xmlns="">
          <p:sp>
            <p:nvSpPr>
              <p:cNvPr id="15" name="椭圆 14">
                <a:extLst>
                  <a:ext uri="{FF2B5EF4-FFF2-40B4-BE49-F238E27FC236}">
                    <a16:creationId xmlns:a16="http://schemas.microsoft.com/office/drawing/2014/main" id="{9CB2D25F-05F7-8BC6-FDC1-F190804AB4B8}"/>
                  </a:ext>
                </a:extLst>
              </p:cNvPr>
              <p:cNvSpPr>
                <a:spLocks noRot="1" noChangeAspect="1" noMove="1" noResize="1" noEditPoints="1" noAdjustHandles="1" noChangeArrowheads="1" noChangeShapeType="1" noTextEdit="1"/>
              </p:cNvSpPr>
              <p:nvPr/>
            </p:nvSpPr>
            <p:spPr>
              <a:xfrm>
                <a:off x="1285651" y="3535742"/>
                <a:ext cx="421105" cy="391027"/>
              </a:xfrm>
              <a:prstGeom prst="ellipse">
                <a:avLst/>
              </a:prstGeom>
              <a:blipFill>
                <a:blip r:embed="rId5"/>
                <a:stretch>
                  <a:fillRect l="-14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椭圆 15">
                <a:extLst>
                  <a:ext uri="{FF2B5EF4-FFF2-40B4-BE49-F238E27FC236}">
                    <a16:creationId xmlns:a16="http://schemas.microsoft.com/office/drawing/2014/main" id="{4ACA717F-6A0D-F8E3-ED59-436A85BF4456}"/>
                  </a:ext>
                </a:extLst>
              </p:cNvPr>
              <p:cNvSpPr/>
              <p:nvPr/>
            </p:nvSpPr>
            <p:spPr>
              <a:xfrm>
                <a:off x="1285648" y="4110424"/>
                <a:ext cx="421105" cy="391027"/>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zh-CN"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𝐴</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sub>
                      </m:sSub>
                    </m:oMath>
                  </m:oMathPara>
                </a14:m>
                <a:endParaRPr lang="zh-CN" altLang="en-US" dirty="0"/>
              </a:p>
            </p:txBody>
          </p:sp>
        </mc:Choice>
        <mc:Fallback xmlns="">
          <p:sp>
            <p:nvSpPr>
              <p:cNvPr id="16" name="椭圆 15">
                <a:extLst>
                  <a:ext uri="{FF2B5EF4-FFF2-40B4-BE49-F238E27FC236}">
                    <a16:creationId xmlns:a16="http://schemas.microsoft.com/office/drawing/2014/main" id="{4ACA717F-6A0D-F8E3-ED59-436A85BF4456}"/>
                  </a:ext>
                </a:extLst>
              </p:cNvPr>
              <p:cNvSpPr>
                <a:spLocks noRot="1" noChangeAspect="1" noMove="1" noResize="1" noEditPoints="1" noAdjustHandles="1" noChangeArrowheads="1" noChangeShapeType="1" noTextEdit="1"/>
              </p:cNvSpPr>
              <p:nvPr/>
            </p:nvSpPr>
            <p:spPr>
              <a:xfrm>
                <a:off x="1285648" y="4110424"/>
                <a:ext cx="421105" cy="391027"/>
              </a:xfrm>
              <a:prstGeom prst="ellipse">
                <a:avLst/>
              </a:prstGeom>
              <a:blipFill>
                <a:blip r:embed="rId6"/>
                <a:stretch>
                  <a:fillRect l="-14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椭圆 16">
                <a:extLst>
                  <a:ext uri="{FF2B5EF4-FFF2-40B4-BE49-F238E27FC236}">
                    <a16:creationId xmlns:a16="http://schemas.microsoft.com/office/drawing/2014/main" id="{E91F97C6-9D42-4ADF-8220-E485066E9100}"/>
                  </a:ext>
                </a:extLst>
              </p:cNvPr>
              <p:cNvSpPr/>
              <p:nvPr/>
            </p:nvSpPr>
            <p:spPr>
              <a:xfrm>
                <a:off x="2230098" y="2310394"/>
                <a:ext cx="421105" cy="391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m:t>
                          </m:r>
                        </m:sub>
                      </m:sSub>
                    </m:oMath>
                  </m:oMathPara>
                </a14:m>
                <a:endParaRPr lang="zh-CN" altLang="en-US" dirty="0"/>
              </a:p>
            </p:txBody>
          </p:sp>
        </mc:Choice>
        <mc:Fallback xmlns="">
          <p:sp>
            <p:nvSpPr>
              <p:cNvPr id="17" name="椭圆 16">
                <a:extLst>
                  <a:ext uri="{FF2B5EF4-FFF2-40B4-BE49-F238E27FC236}">
                    <a16:creationId xmlns:a16="http://schemas.microsoft.com/office/drawing/2014/main" id="{E91F97C6-9D42-4ADF-8220-E485066E9100}"/>
                  </a:ext>
                </a:extLst>
              </p:cNvPr>
              <p:cNvSpPr>
                <a:spLocks noRot="1" noChangeAspect="1" noMove="1" noResize="1" noEditPoints="1" noAdjustHandles="1" noChangeArrowheads="1" noChangeShapeType="1" noTextEdit="1"/>
              </p:cNvSpPr>
              <p:nvPr/>
            </p:nvSpPr>
            <p:spPr>
              <a:xfrm>
                <a:off x="2230098" y="2310394"/>
                <a:ext cx="421105" cy="391027"/>
              </a:xfrm>
              <a:prstGeom prst="ellipse">
                <a:avLst/>
              </a:prstGeom>
              <a:blipFill>
                <a:blip r:embed="rId7"/>
                <a:stretch>
                  <a:fillRect l="-1690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椭圆 17">
                <a:extLst>
                  <a:ext uri="{FF2B5EF4-FFF2-40B4-BE49-F238E27FC236}">
                    <a16:creationId xmlns:a16="http://schemas.microsoft.com/office/drawing/2014/main" id="{8E112C9E-3C7C-0DD2-496D-553968CBC834}"/>
                  </a:ext>
                </a:extLst>
              </p:cNvPr>
              <p:cNvSpPr/>
              <p:nvPr/>
            </p:nvSpPr>
            <p:spPr>
              <a:xfrm>
                <a:off x="2230098" y="2841789"/>
                <a:ext cx="421105" cy="391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+1</m:t>
                          </m:r>
                        </m:sub>
                      </m:sSub>
                    </m:oMath>
                  </m:oMathPara>
                </a14:m>
                <a:endParaRPr lang="zh-CN" altLang="en-US" dirty="0"/>
              </a:p>
            </p:txBody>
          </p:sp>
        </mc:Choice>
        <mc:Fallback xmlns="">
          <p:sp>
            <p:nvSpPr>
              <p:cNvPr id="18" name="椭圆 17">
                <a:extLst>
                  <a:ext uri="{FF2B5EF4-FFF2-40B4-BE49-F238E27FC236}">
                    <a16:creationId xmlns:a16="http://schemas.microsoft.com/office/drawing/2014/main" id="{8E112C9E-3C7C-0DD2-496D-553968CBC834}"/>
                  </a:ext>
                </a:extLst>
              </p:cNvPr>
              <p:cNvSpPr>
                <a:spLocks noRot="1" noChangeAspect="1" noMove="1" noResize="1" noEditPoints="1" noAdjustHandles="1" noChangeArrowheads="1" noChangeShapeType="1" noTextEdit="1"/>
              </p:cNvSpPr>
              <p:nvPr/>
            </p:nvSpPr>
            <p:spPr>
              <a:xfrm>
                <a:off x="2230098" y="2841789"/>
                <a:ext cx="421105" cy="391027"/>
              </a:xfrm>
              <a:prstGeom prst="ellipse">
                <a:avLst/>
              </a:prstGeom>
              <a:blipFill>
                <a:blip r:embed="rId8"/>
                <a:stretch>
                  <a:fillRect l="-22535" r="-28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椭圆 18">
                <a:extLst>
                  <a:ext uri="{FF2B5EF4-FFF2-40B4-BE49-F238E27FC236}">
                    <a16:creationId xmlns:a16="http://schemas.microsoft.com/office/drawing/2014/main" id="{E0031C4B-81F9-1BF6-6D56-2F47490BBDD7}"/>
                  </a:ext>
                </a:extLst>
              </p:cNvPr>
              <p:cNvSpPr/>
              <p:nvPr/>
            </p:nvSpPr>
            <p:spPr>
              <a:xfrm>
                <a:off x="2230097" y="3373184"/>
                <a:ext cx="421105" cy="391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+1</m:t>
                          </m:r>
                        </m:sub>
                      </m:sSub>
                    </m:oMath>
                  </m:oMathPara>
                </a14:m>
                <a:endParaRPr lang="zh-CN" altLang="en-US" dirty="0"/>
              </a:p>
            </p:txBody>
          </p:sp>
        </mc:Choice>
        <mc:Fallback xmlns="">
          <p:sp>
            <p:nvSpPr>
              <p:cNvPr id="19" name="椭圆 18">
                <a:extLst>
                  <a:ext uri="{FF2B5EF4-FFF2-40B4-BE49-F238E27FC236}">
                    <a16:creationId xmlns:a16="http://schemas.microsoft.com/office/drawing/2014/main" id="{E0031C4B-81F9-1BF6-6D56-2F47490BBDD7}"/>
                  </a:ext>
                </a:extLst>
              </p:cNvPr>
              <p:cNvSpPr>
                <a:spLocks noRot="1" noChangeAspect="1" noMove="1" noResize="1" noEditPoints="1" noAdjustHandles="1" noChangeArrowheads="1" noChangeShapeType="1" noTextEdit="1"/>
              </p:cNvSpPr>
              <p:nvPr/>
            </p:nvSpPr>
            <p:spPr>
              <a:xfrm>
                <a:off x="2230097" y="3373184"/>
                <a:ext cx="421105" cy="391027"/>
              </a:xfrm>
              <a:prstGeom prst="ellipse">
                <a:avLst/>
              </a:prstGeom>
              <a:blipFill>
                <a:blip r:embed="rId9"/>
                <a:stretch>
                  <a:fillRect l="-22535" r="-28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椭圆 19">
                <a:extLst>
                  <a:ext uri="{FF2B5EF4-FFF2-40B4-BE49-F238E27FC236}">
                    <a16:creationId xmlns:a16="http://schemas.microsoft.com/office/drawing/2014/main" id="{0B341D40-36C8-CC1C-0ABE-8B36F03C21D1}"/>
                  </a:ext>
                </a:extLst>
              </p:cNvPr>
              <p:cNvSpPr/>
              <p:nvPr/>
            </p:nvSpPr>
            <p:spPr>
              <a:xfrm>
                <a:off x="2230096" y="3908894"/>
                <a:ext cx="421105" cy="391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+1</m:t>
                          </m:r>
                        </m:sub>
                      </m:sSub>
                    </m:oMath>
                  </m:oMathPara>
                </a14:m>
                <a:endParaRPr lang="zh-CN" altLang="en-US" dirty="0"/>
              </a:p>
            </p:txBody>
          </p:sp>
        </mc:Choice>
        <mc:Fallback xmlns="">
          <p:sp>
            <p:nvSpPr>
              <p:cNvPr id="20" name="椭圆 19">
                <a:extLst>
                  <a:ext uri="{FF2B5EF4-FFF2-40B4-BE49-F238E27FC236}">
                    <a16:creationId xmlns:a16="http://schemas.microsoft.com/office/drawing/2014/main" id="{0B341D40-36C8-CC1C-0ABE-8B36F03C21D1}"/>
                  </a:ext>
                </a:extLst>
              </p:cNvPr>
              <p:cNvSpPr>
                <a:spLocks noRot="1" noChangeAspect="1" noMove="1" noResize="1" noEditPoints="1" noAdjustHandles="1" noChangeArrowheads="1" noChangeShapeType="1" noTextEdit="1"/>
              </p:cNvSpPr>
              <p:nvPr/>
            </p:nvSpPr>
            <p:spPr>
              <a:xfrm>
                <a:off x="2230096" y="3908894"/>
                <a:ext cx="421105" cy="391027"/>
              </a:xfrm>
              <a:prstGeom prst="ellipse">
                <a:avLst/>
              </a:prstGeom>
              <a:blipFill>
                <a:blip r:embed="rId10"/>
                <a:stretch>
                  <a:fillRect l="-22535" r="-28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椭圆 20">
                <a:extLst>
                  <a:ext uri="{FF2B5EF4-FFF2-40B4-BE49-F238E27FC236}">
                    <a16:creationId xmlns:a16="http://schemas.microsoft.com/office/drawing/2014/main" id="{DD19F9DC-5B98-CD34-E90C-A7EBF54B4DD7}"/>
                  </a:ext>
                </a:extLst>
              </p:cNvPr>
              <p:cNvSpPr/>
              <p:nvPr/>
            </p:nvSpPr>
            <p:spPr>
              <a:xfrm>
                <a:off x="2230096" y="4435974"/>
                <a:ext cx="421105" cy="391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m:t>
                          </m:r>
                        </m:sub>
                      </m:sSub>
                    </m:oMath>
                  </m:oMathPara>
                </a14:m>
                <a:endParaRPr lang="zh-CN" altLang="en-US" dirty="0"/>
              </a:p>
            </p:txBody>
          </p:sp>
        </mc:Choice>
        <mc:Fallback xmlns="">
          <p:sp>
            <p:nvSpPr>
              <p:cNvPr id="21" name="椭圆 20">
                <a:extLst>
                  <a:ext uri="{FF2B5EF4-FFF2-40B4-BE49-F238E27FC236}">
                    <a16:creationId xmlns:a16="http://schemas.microsoft.com/office/drawing/2014/main" id="{DD19F9DC-5B98-CD34-E90C-A7EBF54B4DD7}"/>
                  </a:ext>
                </a:extLst>
              </p:cNvPr>
              <p:cNvSpPr>
                <a:spLocks noRot="1" noChangeAspect="1" noMove="1" noResize="1" noEditPoints="1" noAdjustHandles="1" noChangeArrowheads="1" noChangeShapeType="1" noTextEdit="1"/>
              </p:cNvSpPr>
              <p:nvPr/>
            </p:nvSpPr>
            <p:spPr>
              <a:xfrm>
                <a:off x="2230096" y="4435974"/>
                <a:ext cx="421105" cy="391027"/>
              </a:xfrm>
              <a:prstGeom prst="ellipse">
                <a:avLst/>
              </a:prstGeom>
              <a:blipFill>
                <a:blip r:embed="rId11"/>
                <a:stretch>
                  <a:fillRect l="-1690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椭圆 21">
                <a:extLst>
                  <a:ext uri="{FF2B5EF4-FFF2-40B4-BE49-F238E27FC236}">
                    <a16:creationId xmlns:a16="http://schemas.microsoft.com/office/drawing/2014/main" id="{C193137C-7865-273B-EAD2-9CB4844BEE29}"/>
                  </a:ext>
                </a:extLst>
              </p:cNvPr>
              <p:cNvSpPr/>
              <p:nvPr/>
            </p:nvSpPr>
            <p:spPr>
              <a:xfrm>
                <a:off x="2230096" y="4972555"/>
                <a:ext cx="421105" cy="391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+1</m:t>
                          </m:r>
                        </m:sub>
                      </m:sSub>
                    </m:oMath>
                  </m:oMathPara>
                </a14:m>
                <a:endParaRPr lang="zh-CN" altLang="en-US" dirty="0"/>
              </a:p>
            </p:txBody>
          </p:sp>
        </mc:Choice>
        <mc:Fallback xmlns="">
          <p:sp>
            <p:nvSpPr>
              <p:cNvPr id="22" name="椭圆 21">
                <a:extLst>
                  <a:ext uri="{FF2B5EF4-FFF2-40B4-BE49-F238E27FC236}">
                    <a16:creationId xmlns:a16="http://schemas.microsoft.com/office/drawing/2014/main" id="{C193137C-7865-273B-EAD2-9CB4844BEE29}"/>
                  </a:ext>
                </a:extLst>
              </p:cNvPr>
              <p:cNvSpPr>
                <a:spLocks noRot="1" noChangeAspect="1" noMove="1" noResize="1" noEditPoints="1" noAdjustHandles="1" noChangeArrowheads="1" noChangeShapeType="1" noTextEdit="1"/>
              </p:cNvSpPr>
              <p:nvPr/>
            </p:nvSpPr>
            <p:spPr>
              <a:xfrm>
                <a:off x="2230096" y="4972555"/>
                <a:ext cx="421105" cy="391027"/>
              </a:xfrm>
              <a:prstGeom prst="ellipse">
                <a:avLst/>
              </a:prstGeom>
              <a:blipFill>
                <a:blip r:embed="rId12"/>
                <a:stretch>
                  <a:fillRect l="-22535" r="-28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椭圆 22">
                <a:extLst>
                  <a:ext uri="{FF2B5EF4-FFF2-40B4-BE49-F238E27FC236}">
                    <a16:creationId xmlns:a16="http://schemas.microsoft.com/office/drawing/2014/main" id="{71830C6A-8479-E3F8-899E-E7F84C73EEEC}"/>
                  </a:ext>
                </a:extLst>
              </p:cNvPr>
              <p:cNvSpPr/>
              <p:nvPr/>
            </p:nvSpPr>
            <p:spPr>
              <a:xfrm>
                <a:off x="3320991" y="1683445"/>
                <a:ext cx="421105" cy="391027"/>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zh-CN"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𝐴</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+1</m:t>
                          </m:r>
                        </m:sub>
                      </m:sSub>
                    </m:oMath>
                  </m:oMathPara>
                </a14:m>
                <a:endParaRPr lang="zh-CN" altLang="en-US" dirty="0"/>
              </a:p>
            </p:txBody>
          </p:sp>
        </mc:Choice>
        <mc:Fallback xmlns="">
          <p:sp>
            <p:nvSpPr>
              <p:cNvPr id="23" name="椭圆 22">
                <a:extLst>
                  <a:ext uri="{FF2B5EF4-FFF2-40B4-BE49-F238E27FC236}">
                    <a16:creationId xmlns:a16="http://schemas.microsoft.com/office/drawing/2014/main" id="{71830C6A-8479-E3F8-899E-E7F84C73EEEC}"/>
                  </a:ext>
                </a:extLst>
              </p:cNvPr>
              <p:cNvSpPr>
                <a:spLocks noRot="1" noChangeAspect="1" noMove="1" noResize="1" noEditPoints="1" noAdjustHandles="1" noChangeArrowheads="1" noChangeShapeType="1" noTextEdit="1"/>
              </p:cNvSpPr>
              <p:nvPr/>
            </p:nvSpPr>
            <p:spPr>
              <a:xfrm>
                <a:off x="3320991" y="1683445"/>
                <a:ext cx="421105" cy="391027"/>
              </a:xfrm>
              <a:prstGeom prst="ellipse">
                <a:avLst/>
              </a:prstGeom>
              <a:blipFill>
                <a:blip r:embed="rId13"/>
                <a:stretch>
                  <a:fillRect l="-26761" r="-563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椭圆 23">
                <a:extLst>
                  <a:ext uri="{FF2B5EF4-FFF2-40B4-BE49-F238E27FC236}">
                    <a16:creationId xmlns:a16="http://schemas.microsoft.com/office/drawing/2014/main" id="{AB4D8E8B-3954-61E3-2D2B-6CB893D2AE2A}"/>
                  </a:ext>
                </a:extLst>
              </p:cNvPr>
              <p:cNvSpPr/>
              <p:nvPr/>
            </p:nvSpPr>
            <p:spPr>
              <a:xfrm>
                <a:off x="3320993" y="2258127"/>
                <a:ext cx="421105" cy="391027"/>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zh-CN"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𝐴</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+1</m:t>
                          </m:r>
                        </m:sub>
                      </m:sSub>
                    </m:oMath>
                  </m:oMathPara>
                </a14:m>
                <a:endParaRPr lang="zh-CN" altLang="en-US" dirty="0"/>
              </a:p>
            </p:txBody>
          </p:sp>
        </mc:Choice>
        <mc:Fallback xmlns="">
          <p:sp>
            <p:nvSpPr>
              <p:cNvPr id="24" name="椭圆 23">
                <a:extLst>
                  <a:ext uri="{FF2B5EF4-FFF2-40B4-BE49-F238E27FC236}">
                    <a16:creationId xmlns:a16="http://schemas.microsoft.com/office/drawing/2014/main" id="{AB4D8E8B-3954-61E3-2D2B-6CB893D2AE2A}"/>
                  </a:ext>
                </a:extLst>
              </p:cNvPr>
              <p:cNvSpPr>
                <a:spLocks noRot="1" noChangeAspect="1" noMove="1" noResize="1" noEditPoints="1" noAdjustHandles="1" noChangeArrowheads="1" noChangeShapeType="1" noTextEdit="1"/>
              </p:cNvSpPr>
              <p:nvPr/>
            </p:nvSpPr>
            <p:spPr>
              <a:xfrm>
                <a:off x="3320993" y="2258127"/>
                <a:ext cx="421105" cy="391027"/>
              </a:xfrm>
              <a:prstGeom prst="ellipse">
                <a:avLst/>
              </a:prstGeom>
              <a:blipFill>
                <a:blip r:embed="rId14"/>
                <a:stretch>
                  <a:fillRect l="-26761" r="-563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椭圆 24">
                <a:extLst>
                  <a:ext uri="{FF2B5EF4-FFF2-40B4-BE49-F238E27FC236}">
                    <a16:creationId xmlns:a16="http://schemas.microsoft.com/office/drawing/2014/main" id="{C9221B3A-0E60-C1E4-F1BC-612F6B97B9CD}"/>
                  </a:ext>
                </a:extLst>
              </p:cNvPr>
              <p:cNvSpPr/>
              <p:nvPr/>
            </p:nvSpPr>
            <p:spPr>
              <a:xfrm>
                <a:off x="3320990" y="2832809"/>
                <a:ext cx="421105" cy="391027"/>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zh-CN"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𝐴</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+1</m:t>
                          </m:r>
                        </m:sub>
                      </m:sSub>
                    </m:oMath>
                  </m:oMathPara>
                </a14:m>
                <a:endParaRPr lang="zh-CN" altLang="en-US" dirty="0"/>
              </a:p>
            </p:txBody>
          </p:sp>
        </mc:Choice>
        <mc:Fallback xmlns="">
          <p:sp>
            <p:nvSpPr>
              <p:cNvPr id="25" name="椭圆 24">
                <a:extLst>
                  <a:ext uri="{FF2B5EF4-FFF2-40B4-BE49-F238E27FC236}">
                    <a16:creationId xmlns:a16="http://schemas.microsoft.com/office/drawing/2014/main" id="{C9221B3A-0E60-C1E4-F1BC-612F6B97B9CD}"/>
                  </a:ext>
                </a:extLst>
              </p:cNvPr>
              <p:cNvSpPr>
                <a:spLocks noRot="1" noChangeAspect="1" noMove="1" noResize="1" noEditPoints="1" noAdjustHandles="1" noChangeArrowheads="1" noChangeShapeType="1" noTextEdit="1"/>
              </p:cNvSpPr>
              <p:nvPr/>
            </p:nvSpPr>
            <p:spPr>
              <a:xfrm>
                <a:off x="3320990" y="2832809"/>
                <a:ext cx="421105" cy="391027"/>
              </a:xfrm>
              <a:prstGeom prst="ellipse">
                <a:avLst/>
              </a:prstGeom>
              <a:blipFill>
                <a:blip r:embed="rId15"/>
                <a:stretch>
                  <a:fillRect l="-26761" r="-5634"/>
                </a:stretch>
              </a:blipFill>
            </p:spPr>
            <p:txBody>
              <a:bodyPr/>
              <a:lstStyle/>
              <a:p>
                <a:r>
                  <a:rPr lang="zh-CN" altLang="en-US">
                    <a:noFill/>
                  </a:rPr>
                  <a:t> </a:t>
                </a:r>
              </a:p>
            </p:txBody>
          </p:sp>
        </mc:Fallback>
      </mc:AlternateContent>
      <p:cxnSp>
        <p:nvCxnSpPr>
          <p:cNvPr id="27" name="直接箭头连接符 26">
            <a:extLst>
              <a:ext uri="{FF2B5EF4-FFF2-40B4-BE49-F238E27FC236}">
                <a16:creationId xmlns:a16="http://schemas.microsoft.com/office/drawing/2014/main" id="{0888B6AA-60AE-C88A-58A6-E670E0F8F3FB}"/>
              </a:ext>
            </a:extLst>
          </p:cNvPr>
          <p:cNvCxnSpPr>
            <a:stCxn id="12" idx="6"/>
            <a:endCxn id="13" idx="2"/>
          </p:cNvCxnSpPr>
          <p:nvPr/>
        </p:nvCxnSpPr>
        <p:spPr>
          <a:xfrm flipV="1">
            <a:off x="663988" y="3156574"/>
            <a:ext cx="621661" cy="574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100D8564-8D05-4BF9-2323-86D81BE78E65}"/>
              </a:ext>
            </a:extLst>
          </p:cNvPr>
          <p:cNvCxnSpPr>
            <a:cxnSpLocks/>
            <a:stCxn id="12" idx="6"/>
            <a:endCxn id="15" idx="2"/>
          </p:cNvCxnSpPr>
          <p:nvPr/>
        </p:nvCxnSpPr>
        <p:spPr>
          <a:xfrm>
            <a:off x="663988" y="3731256"/>
            <a:ext cx="6216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3EDB8DC5-1401-4F98-6786-700F2F36C2D1}"/>
              </a:ext>
            </a:extLst>
          </p:cNvPr>
          <p:cNvCxnSpPr>
            <a:cxnSpLocks/>
            <a:stCxn id="12" idx="6"/>
            <a:endCxn id="16" idx="2"/>
          </p:cNvCxnSpPr>
          <p:nvPr/>
        </p:nvCxnSpPr>
        <p:spPr>
          <a:xfrm>
            <a:off x="663988" y="3731256"/>
            <a:ext cx="621660" cy="574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CDB53AC1-6A61-F2DB-4E02-797EA343B9DB}"/>
              </a:ext>
            </a:extLst>
          </p:cNvPr>
          <p:cNvCxnSpPr>
            <a:cxnSpLocks/>
            <a:stCxn id="13" idx="6"/>
            <a:endCxn id="17" idx="2"/>
          </p:cNvCxnSpPr>
          <p:nvPr/>
        </p:nvCxnSpPr>
        <p:spPr>
          <a:xfrm flipV="1">
            <a:off x="1706754" y="2505908"/>
            <a:ext cx="523344" cy="650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FAB0EE97-AAD9-A040-CDC3-B47C3043E29C}"/>
              </a:ext>
            </a:extLst>
          </p:cNvPr>
          <p:cNvCxnSpPr>
            <a:cxnSpLocks/>
            <a:stCxn id="13" idx="6"/>
            <a:endCxn id="18" idx="2"/>
          </p:cNvCxnSpPr>
          <p:nvPr/>
        </p:nvCxnSpPr>
        <p:spPr>
          <a:xfrm flipV="1">
            <a:off x="1706754" y="3037303"/>
            <a:ext cx="523344" cy="1192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E070FFD8-6F0E-71DB-E378-C535A10BD945}"/>
              </a:ext>
            </a:extLst>
          </p:cNvPr>
          <p:cNvCxnSpPr>
            <a:cxnSpLocks/>
            <a:stCxn id="15" idx="6"/>
            <a:endCxn id="19" idx="2"/>
          </p:cNvCxnSpPr>
          <p:nvPr/>
        </p:nvCxnSpPr>
        <p:spPr>
          <a:xfrm flipV="1">
            <a:off x="1706756" y="3568698"/>
            <a:ext cx="523341" cy="1625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E7567DF6-F92F-8D1A-6DE2-77EAA8B546D0}"/>
              </a:ext>
            </a:extLst>
          </p:cNvPr>
          <p:cNvCxnSpPr>
            <a:cxnSpLocks/>
            <a:stCxn id="15" idx="6"/>
            <a:endCxn id="20" idx="2"/>
          </p:cNvCxnSpPr>
          <p:nvPr/>
        </p:nvCxnSpPr>
        <p:spPr>
          <a:xfrm>
            <a:off x="1706756" y="3731256"/>
            <a:ext cx="523340" cy="3731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02D2946F-0671-8A7D-646D-65E80699C23F}"/>
              </a:ext>
            </a:extLst>
          </p:cNvPr>
          <p:cNvCxnSpPr>
            <a:cxnSpLocks/>
            <a:stCxn id="16" idx="6"/>
            <a:endCxn id="21" idx="2"/>
          </p:cNvCxnSpPr>
          <p:nvPr/>
        </p:nvCxnSpPr>
        <p:spPr>
          <a:xfrm>
            <a:off x="1706753" y="4305938"/>
            <a:ext cx="523343" cy="3255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F47B1A50-FADE-6E98-651D-4987DD3B22BE}"/>
              </a:ext>
            </a:extLst>
          </p:cNvPr>
          <p:cNvCxnSpPr>
            <a:cxnSpLocks/>
            <a:stCxn id="16" idx="6"/>
            <a:endCxn id="22" idx="2"/>
          </p:cNvCxnSpPr>
          <p:nvPr/>
        </p:nvCxnSpPr>
        <p:spPr>
          <a:xfrm>
            <a:off x="1706753" y="4305938"/>
            <a:ext cx="523343" cy="8621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F112D303-A6C4-8085-31F4-C292CEB91B99}"/>
              </a:ext>
            </a:extLst>
          </p:cNvPr>
          <p:cNvCxnSpPr>
            <a:cxnSpLocks/>
            <a:stCxn id="17" idx="6"/>
            <a:endCxn id="23" idx="2"/>
          </p:cNvCxnSpPr>
          <p:nvPr/>
        </p:nvCxnSpPr>
        <p:spPr>
          <a:xfrm flipV="1">
            <a:off x="2651203" y="1878959"/>
            <a:ext cx="669788" cy="6269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217CD469-E50C-19A2-CCEF-EBBACC779B8D}"/>
              </a:ext>
            </a:extLst>
          </p:cNvPr>
          <p:cNvCxnSpPr>
            <a:cxnSpLocks/>
            <a:stCxn id="17" idx="6"/>
          </p:cNvCxnSpPr>
          <p:nvPr/>
        </p:nvCxnSpPr>
        <p:spPr>
          <a:xfrm flipV="1">
            <a:off x="2651203" y="2467155"/>
            <a:ext cx="669787" cy="387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321BC683-C664-C509-A2AD-B214FB0F0016}"/>
              </a:ext>
            </a:extLst>
          </p:cNvPr>
          <p:cNvCxnSpPr>
            <a:cxnSpLocks/>
            <a:stCxn id="17" idx="6"/>
            <a:endCxn id="25" idx="2"/>
          </p:cNvCxnSpPr>
          <p:nvPr/>
        </p:nvCxnSpPr>
        <p:spPr>
          <a:xfrm>
            <a:off x="2651203" y="2505908"/>
            <a:ext cx="669787" cy="5224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文本框 61">
                <a:extLst>
                  <a:ext uri="{FF2B5EF4-FFF2-40B4-BE49-F238E27FC236}">
                    <a16:creationId xmlns:a16="http://schemas.microsoft.com/office/drawing/2014/main" id="{06968BE5-DA3C-6145-3E02-1362CDA01B79}"/>
                  </a:ext>
                </a:extLst>
              </p:cNvPr>
              <p:cNvSpPr txBox="1"/>
              <p:nvPr/>
            </p:nvSpPr>
            <p:spPr>
              <a:xfrm>
                <a:off x="663986" y="3121349"/>
                <a:ext cx="42110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smtClean="0">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𝜋</m:t>
                      </m:r>
                    </m:oMath>
                  </m:oMathPara>
                </a14:m>
                <a:endParaRPr lang="zh-CN" altLang="en-US" dirty="0"/>
              </a:p>
            </p:txBody>
          </p:sp>
        </mc:Choice>
        <mc:Fallback xmlns="">
          <p:sp>
            <p:nvSpPr>
              <p:cNvPr id="62" name="文本框 61">
                <a:extLst>
                  <a:ext uri="{FF2B5EF4-FFF2-40B4-BE49-F238E27FC236}">
                    <a16:creationId xmlns:a16="http://schemas.microsoft.com/office/drawing/2014/main" id="{06968BE5-DA3C-6145-3E02-1362CDA01B79}"/>
                  </a:ext>
                </a:extLst>
              </p:cNvPr>
              <p:cNvSpPr txBox="1">
                <a:spLocks noRot="1" noChangeAspect="1" noMove="1" noResize="1" noEditPoints="1" noAdjustHandles="1" noChangeArrowheads="1" noChangeShapeType="1" noTextEdit="1"/>
              </p:cNvSpPr>
              <p:nvPr/>
            </p:nvSpPr>
            <p:spPr>
              <a:xfrm>
                <a:off x="663986" y="3121349"/>
                <a:ext cx="421105" cy="369332"/>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54581D8B-1DC1-E8DB-7AD1-1B8E2E307C26}"/>
                  </a:ext>
                </a:extLst>
              </p:cNvPr>
              <p:cNvSpPr txBox="1"/>
              <p:nvPr/>
            </p:nvSpPr>
            <p:spPr>
              <a:xfrm>
                <a:off x="1684652" y="2506548"/>
                <a:ext cx="42110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𝑃</m:t>
                      </m:r>
                    </m:oMath>
                  </m:oMathPara>
                </a14:m>
                <a:endParaRPr lang="zh-CN" altLang="en-US" dirty="0"/>
              </a:p>
            </p:txBody>
          </p:sp>
        </mc:Choice>
        <mc:Fallback xmlns="">
          <p:sp>
            <p:nvSpPr>
              <p:cNvPr id="63" name="文本框 62">
                <a:extLst>
                  <a:ext uri="{FF2B5EF4-FFF2-40B4-BE49-F238E27FC236}">
                    <a16:creationId xmlns:a16="http://schemas.microsoft.com/office/drawing/2014/main" id="{54581D8B-1DC1-E8DB-7AD1-1B8E2E307C26}"/>
                  </a:ext>
                </a:extLst>
              </p:cNvPr>
              <p:cNvSpPr txBox="1">
                <a:spLocks noRot="1" noChangeAspect="1" noMove="1" noResize="1" noEditPoints="1" noAdjustHandles="1" noChangeArrowheads="1" noChangeShapeType="1" noTextEdit="1"/>
              </p:cNvSpPr>
              <p:nvPr/>
            </p:nvSpPr>
            <p:spPr>
              <a:xfrm>
                <a:off x="1684652" y="2506548"/>
                <a:ext cx="421105" cy="369332"/>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文本框 64">
                <a:extLst>
                  <a:ext uri="{FF2B5EF4-FFF2-40B4-BE49-F238E27FC236}">
                    <a16:creationId xmlns:a16="http://schemas.microsoft.com/office/drawing/2014/main" id="{C6E93332-59BA-D2D9-F695-B88446BE81C0}"/>
                  </a:ext>
                </a:extLst>
              </p:cNvPr>
              <p:cNvSpPr txBox="1"/>
              <p:nvPr/>
            </p:nvSpPr>
            <p:spPr>
              <a:xfrm>
                <a:off x="2775543" y="1817593"/>
                <a:ext cx="42110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smtClean="0">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𝜋</m:t>
                      </m:r>
                    </m:oMath>
                  </m:oMathPara>
                </a14:m>
                <a:endParaRPr lang="zh-CN" altLang="en-US" dirty="0"/>
              </a:p>
            </p:txBody>
          </p:sp>
        </mc:Choice>
        <mc:Fallback xmlns="">
          <p:sp>
            <p:nvSpPr>
              <p:cNvPr id="65" name="文本框 64">
                <a:extLst>
                  <a:ext uri="{FF2B5EF4-FFF2-40B4-BE49-F238E27FC236}">
                    <a16:creationId xmlns:a16="http://schemas.microsoft.com/office/drawing/2014/main" id="{C6E93332-59BA-D2D9-F695-B88446BE81C0}"/>
                  </a:ext>
                </a:extLst>
              </p:cNvPr>
              <p:cNvSpPr txBox="1">
                <a:spLocks noRot="1" noChangeAspect="1" noMove="1" noResize="1" noEditPoints="1" noAdjustHandles="1" noChangeArrowheads="1" noChangeShapeType="1" noTextEdit="1"/>
              </p:cNvSpPr>
              <p:nvPr/>
            </p:nvSpPr>
            <p:spPr>
              <a:xfrm>
                <a:off x="2775543" y="1817593"/>
                <a:ext cx="421105" cy="369332"/>
              </a:xfrm>
              <a:prstGeom prst="rect">
                <a:avLst/>
              </a:prstGeom>
              <a:blipFill>
                <a:blip r:embed="rId18"/>
                <a:stretch>
                  <a:fillRect/>
                </a:stretch>
              </a:blipFill>
            </p:spPr>
            <p:txBody>
              <a:bodyPr/>
              <a:lstStyle/>
              <a:p>
                <a:r>
                  <a:rPr lang="zh-CN" altLang="en-US">
                    <a:noFill/>
                  </a:rPr>
                  <a:t> </a:t>
                </a:r>
              </a:p>
            </p:txBody>
          </p:sp>
        </mc:Fallback>
      </mc:AlternateContent>
      <p:sp>
        <p:nvSpPr>
          <p:cNvPr id="67" name="文本框 66">
            <a:extLst>
              <a:ext uri="{FF2B5EF4-FFF2-40B4-BE49-F238E27FC236}">
                <a16:creationId xmlns:a16="http://schemas.microsoft.com/office/drawing/2014/main" id="{0C1D9DF7-4578-D9A8-770C-9728E16D58E3}"/>
              </a:ext>
            </a:extLst>
          </p:cNvPr>
          <p:cNvSpPr txBox="1"/>
          <p:nvPr/>
        </p:nvSpPr>
        <p:spPr>
          <a:xfrm rot="6148813">
            <a:off x="4357145" y="4609148"/>
            <a:ext cx="1418298" cy="707886"/>
          </a:xfrm>
          <a:prstGeom prst="rect">
            <a:avLst/>
          </a:prstGeom>
          <a:noFill/>
        </p:spPr>
        <p:txBody>
          <a:bodyPr wrap="square">
            <a:spAutoFit/>
          </a:bodyPr>
          <a:lstStyle/>
          <a:p>
            <a:r>
              <a:rPr lang="en-US" altLang="zh-CN" sz="4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4000" dirty="0">
              <a:solidFill>
                <a:srgbClr val="FF0000"/>
              </a:solidFill>
            </a:endParaRPr>
          </a:p>
        </p:txBody>
      </p:sp>
      <p:sp>
        <p:nvSpPr>
          <p:cNvPr id="68" name="文本框 67">
            <a:extLst>
              <a:ext uri="{FF2B5EF4-FFF2-40B4-BE49-F238E27FC236}">
                <a16:creationId xmlns:a16="http://schemas.microsoft.com/office/drawing/2014/main" id="{5AC36B20-870F-C9E9-8839-32F7F50C8B8B}"/>
              </a:ext>
            </a:extLst>
          </p:cNvPr>
          <p:cNvSpPr txBox="1"/>
          <p:nvPr/>
        </p:nvSpPr>
        <p:spPr>
          <a:xfrm>
            <a:off x="3209886" y="4127866"/>
            <a:ext cx="771525" cy="369332"/>
          </a:xfrm>
          <a:prstGeom prst="rect">
            <a:avLst/>
          </a:prstGeom>
          <a:noFill/>
        </p:spPr>
        <p:txBody>
          <a:bodyPr wrap="square">
            <a:spAutoFit/>
          </a:bodyPr>
          <a:lstStyle/>
          <a:p>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dirty="0"/>
          </a:p>
        </p:txBody>
      </p:sp>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FC7F4FFC-E96B-BD59-FA21-CFE52E2E9031}"/>
                  </a:ext>
                </a:extLst>
              </p:cNvPr>
              <p:cNvSpPr txBox="1"/>
              <p:nvPr/>
            </p:nvSpPr>
            <p:spPr>
              <a:xfrm>
                <a:off x="1655635" y="2192433"/>
                <a:ext cx="52334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zh-CN" sz="1800" i="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800" b="0" i="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𝑅</m:t>
                          </m:r>
                        </m:e>
                        <m:sub>
                          <m:r>
                            <a:rPr lang="en-US" altLang="zh-CN" sz="1800" b="0" i="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sz="1800" b="0" i="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+1</m:t>
                          </m:r>
                        </m:sub>
                      </m:sSub>
                    </m:oMath>
                  </m:oMathPara>
                </a14:m>
                <a:endParaRPr lang="zh-CN" altLang="en-US" dirty="0"/>
              </a:p>
            </p:txBody>
          </p:sp>
        </mc:Choice>
        <mc:Fallback xmlns="">
          <p:sp>
            <p:nvSpPr>
              <p:cNvPr id="79" name="文本框 78">
                <a:extLst>
                  <a:ext uri="{FF2B5EF4-FFF2-40B4-BE49-F238E27FC236}">
                    <a16:creationId xmlns:a16="http://schemas.microsoft.com/office/drawing/2014/main" id="{FC7F4FFC-E96B-BD59-FA21-CFE52E2E9031}"/>
                  </a:ext>
                </a:extLst>
              </p:cNvPr>
              <p:cNvSpPr txBox="1">
                <a:spLocks noRot="1" noChangeAspect="1" noMove="1" noResize="1" noEditPoints="1" noAdjustHandles="1" noChangeArrowheads="1" noChangeShapeType="1" noTextEdit="1"/>
              </p:cNvSpPr>
              <p:nvPr/>
            </p:nvSpPr>
            <p:spPr>
              <a:xfrm>
                <a:off x="1655635" y="2192433"/>
                <a:ext cx="523344" cy="369332"/>
              </a:xfrm>
              <a:prstGeom prst="rect">
                <a:avLst/>
              </a:prstGeom>
              <a:blipFill>
                <a:blip r:embed="rId19"/>
                <a:stretch>
                  <a:fillRect r="-1294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1" name="椭圆 80">
                <a:extLst>
                  <a:ext uri="{FF2B5EF4-FFF2-40B4-BE49-F238E27FC236}">
                    <a16:creationId xmlns:a16="http://schemas.microsoft.com/office/drawing/2014/main" id="{8AB2DFB6-ACD5-7EF8-4216-5D115A41982B}"/>
                  </a:ext>
                </a:extLst>
              </p:cNvPr>
              <p:cNvSpPr/>
              <p:nvPr/>
            </p:nvSpPr>
            <p:spPr>
              <a:xfrm>
                <a:off x="4247392" y="1036971"/>
                <a:ext cx="421105" cy="391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+2</m:t>
                          </m:r>
                        </m:sub>
                      </m:sSub>
                    </m:oMath>
                  </m:oMathPara>
                </a14:m>
                <a:endParaRPr lang="zh-CN" altLang="en-US" dirty="0"/>
              </a:p>
            </p:txBody>
          </p:sp>
        </mc:Choice>
        <mc:Fallback xmlns="">
          <p:sp>
            <p:nvSpPr>
              <p:cNvPr id="81" name="椭圆 80">
                <a:extLst>
                  <a:ext uri="{FF2B5EF4-FFF2-40B4-BE49-F238E27FC236}">
                    <a16:creationId xmlns:a16="http://schemas.microsoft.com/office/drawing/2014/main" id="{8AB2DFB6-ACD5-7EF8-4216-5D115A41982B}"/>
                  </a:ext>
                </a:extLst>
              </p:cNvPr>
              <p:cNvSpPr>
                <a:spLocks noRot="1" noChangeAspect="1" noMove="1" noResize="1" noEditPoints="1" noAdjustHandles="1" noChangeArrowheads="1" noChangeShapeType="1" noTextEdit="1"/>
              </p:cNvSpPr>
              <p:nvPr/>
            </p:nvSpPr>
            <p:spPr>
              <a:xfrm>
                <a:off x="4247392" y="1036971"/>
                <a:ext cx="421105" cy="391027"/>
              </a:xfrm>
              <a:prstGeom prst="ellipse">
                <a:avLst/>
              </a:prstGeom>
              <a:blipFill>
                <a:blip r:embed="rId20"/>
                <a:stretch>
                  <a:fillRect l="-23944" r="-28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2" name="椭圆 81">
                <a:extLst>
                  <a:ext uri="{FF2B5EF4-FFF2-40B4-BE49-F238E27FC236}">
                    <a16:creationId xmlns:a16="http://schemas.microsoft.com/office/drawing/2014/main" id="{9F62560B-F26D-5959-F94C-15B91948AB32}"/>
                  </a:ext>
                </a:extLst>
              </p:cNvPr>
              <p:cNvSpPr/>
              <p:nvPr/>
            </p:nvSpPr>
            <p:spPr>
              <a:xfrm>
                <a:off x="4247392" y="1568366"/>
                <a:ext cx="421105" cy="391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+2</m:t>
                          </m:r>
                        </m:sub>
                      </m:sSub>
                    </m:oMath>
                  </m:oMathPara>
                </a14:m>
                <a:endParaRPr lang="zh-CN" altLang="en-US" dirty="0"/>
              </a:p>
            </p:txBody>
          </p:sp>
        </mc:Choice>
        <mc:Fallback xmlns="">
          <p:sp>
            <p:nvSpPr>
              <p:cNvPr id="82" name="椭圆 81">
                <a:extLst>
                  <a:ext uri="{FF2B5EF4-FFF2-40B4-BE49-F238E27FC236}">
                    <a16:creationId xmlns:a16="http://schemas.microsoft.com/office/drawing/2014/main" id="{9F62560B-F26D-5959-F94C-15B91948AB32}"/>
                  </a:ext>
                </a:extLst>
              </p:cNvPr>
              <p:cNvSpPr>
                <a:spLocks noRot="1" noChangeAspect="1" noMove="1" noResize="1" noEditPoints="1" noAdjustHandles="1" noChangeArrowheads="1" noChangeShapeType="1" noTextEdit="1"/>
              </p:cNvSpPr>
              <p:nvPr/>
            </p:nvSpPr>
            <p:spPr>
              <a:xfrm>
                <a:off x="4247392" y="1568366"/>
                <a:ext cx="421105" cy="391027"/>
              </a:xfrm>
              <a:prstGeom prst="ellipse">
                <a:avLst/>
              </a:prstGeom>
              <a:blipFill>
                <a:blip r:embed="rId21"/>
                <a:stretch>
                  <a:fillRect l="-23944" r="-2817"/>
                </a:stretch>
              </a:blipFill>
            </p:spPr>
            <p:txBody>
              <a:bodyPr/>
              <a:lstStyle/>
              <a:p>
                <a:r>
                  <a:rPr lang="zh-CN" altLang="en-US">
                    <a:noFill/>
                  </a:rPr>
                  <a:t> </a:t>
                </a:r>
              </a:p>
            </p:txBody>
          </p:sp>
        </mc:Fallback>
      </mc:AlternateContent>
      <p:cxnSp>
        <p:nvCxnSpPr>
          <p:cNvPr id="83" name="直接箭头连接符 82">
            <a:extLst>
              <a:ext uri="{FF2B5EF4-FFF2-40B4-BE49-F238E27FC236}">
                <a16:creationId xmlns:a16="http://schemas.microsoft.com/office/drawing/2014/main" id="{93BA5D53-3B7E-DBE4-1823-0692D5647389}"/>
              </a:ext>
            </a:extLst>
          </p:cNvPr>
          <p:cNvCxnSpPr>
            <a:cxnSpLocks/>
            <a:endCxn id="81" idx="2"/>
          </p:cNvCxnSpPr>
          <p:nvPr/>
        </p:nvCxnSpPr>
        <p:spPr>
          <a:xfrm flipV="1">
            <a:off x="3724048" y="1232485"/>
            <a:ext cx="523344" cy="650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a:extLst>
              <a:ext uri="{FF2B5EF4-FFF2-40B4-BE49-F238E27FC236}">
                <a16:creationId xmlns:a16="http://schemas.microsoft.com/office/drawing/2014/main" id="{98EE06CA-8180-1F8D-18C6-FE80D0D3D9D3}"/>
              </a:ext>
            </a:extLst>
          </p:cNvPr>
          <p:cNvCxnSpPr>
            <a:cxnSpLocks/>
            <a:endCxn id="82" idx="2"/>
          </p:cNvCxnSpPr>
          <p:nvPr/>
        </p:nvCxnSpPr>
        <p:spPr>
          <a:xfrm flipV="1">
            <a:off x="3724048" y="1763880"/>
            <a:ext cx="523344" cy="1192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5" name="文本框 84">
                <a:extLst>
                  <a:ext uri="{FF2B5EF4-FFF2-40B4-BE49-F238E27FC236}">
                    <a16:creationId xmlns:a16="http://schemas.microsoft.com/office/drawing/2014/main" id="{17A14A7C-75FD-58AA-F8A2-EE7D790F6A3C}"/>
                  </a:ext>
                </a:extLst>
              </p:cNvPr>
              <p:cNvSpPr txBox="1"/>
              <p:nvPr/>
            </p:nvSpPr>
            <p:spPr>
              <a:xfrm>
                <a:off x="3701946" y="1233125"/>
                <a:ext cx="42110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𝑃</m:t>
                      </m:r>
                    </m:oMath>
                  </m:oMathPara>
                </a14:m>
                <a:endParaRPr lang="zh-CN" altLang="en-US" dirty="0"/>
              </a:p>
            </p:txBody>
          </p:sp>
        </mc:Choice>
        <mc:Fallback xmlns="">
          <p:sp>
            <p:nvSpPr>
              <p:cNvPr id="85" name="文本框 84">
                <a:extLst>
                  <a:ext uri="{FF2B5EF4-FFF2-40B4-BE49-F238E27FC236}">
                    <a16:creationId xmlns:a16="http://schemas.microsoft.com/office/drawing/2014/main" id="{17A14A7C-75FD-58AA-F8A2-EE7D790F6A3C}"/>
                  </a:ext>
                </a:extLst>
              </p:cNvPr>
              <p:cNvSpPr txBox="1">
                <a:spLocks noRot="1" noChangeAspect="1" noMove="1" noResize="1" noEditPoints="1" noAdjustHandles="1" noChangeArrowheads="1" noChangeShapeType="1" noTextEdit="1"/>
              </p:cNvSpPr>
              <p:nvPr/>
            </p:nvSpPr>
            <p:spPr>
              <a:xfrm>
                <a:off x="3701946" y="1233125"/>
                <a:ext cx="421105" cy="369332"/>
              </a:xfrm>
              <a:prstGeom prst="rect">
                <a:avLst/>
              </a:prstGeom>
              <a:blipFill>
                <a:blip r:embed="rId2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6" name="文本框 85">
                <a:extLst>
                  <a:ext uri="{FF2B5EF4-FFF2-40B4-BE49-F238E27FC236}">
                    <a16:creationId xmlns:a16="http://schemas.microsoft.com/office/drawing/2014/main" id="{C26C2D7B-0D41-0367-0BF0-96966983BA41}"/>
                  </a:ext>
                </a:extLst>
              </p:cNvPr>
              <p:cNvSpPr txBox="1"/>
              <p:nvPr/>
            </p:nvSpPr>
            <p:spPr>
              <a:xfrm>
                <a:off x="3672929" y="919010"/>
                <a:ext cx="52334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zh-CN" sz="1800" i="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800" b="0" i="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𝑅</m:t>
                          </m:r>
                        </m:e>
                        <m:sub>
                          <m:r>
                            <a:rPr lang="en-US" altLang="zh-CN" sz="1800" b="0" i="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sz="1800" b="0" i="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+2</m:t>
                          </m:r>
                        </m:sub>
                      </m:sSub>
                    </m:oMath>
                  </m:oMathPara>
                </a14:m>
                <a:endParaRPr lang="zh-CN" altLang="en-US" dirty="0"/>
              </a:p>
            </p:txBody>
          </p:sp>
        </mc:Choice>
        <mc:Fallback xmlns="">
          <p:sp>
            <p:nvSpPr>
              <p:cNvPr id="86" name="文本框 85">
                <a:extLst>
                  <a:ext uri="{FF2B5EF4-FFF2-40B4-BE49-F238E27FC236}">
                    <a16:creationId xmlns:a16="http://schemas.microsoft.com/office/drawing/2014/main" id="{C26C2D7B-0D41-0367-0BF0-96966983BA41}"/>
                  </a:ext>
                </a:extLst>
              </p:cNvPr>
              <p:cNvSpPr txBox="1">
                <a:spLocks noRot="1" noChangeAspect="1" noMove="1" noResize="1" noEditPoints="1" noAdjustHandles="1" noChangeArrowheads="1" noChangeShapeType="1" noTextEdit="1"/>
              </p:cNvSpPr>
              <p:nvPr/>
            </p:nvSpPr>
            <p:spPr>
              <a:xfrm>
                <a:off x="3672929" y="919010"/>
                <a:ext cx="523344" cy="369332"/>
              </a:xfrm>
              <a:prstGeom prst="rect">
                <a:avLst/>
              </a:prstGeom>
              <a:blipFill>
                <a:blip r:embed="rId23"/>
                <a:stretch>
                  <a:fillRect r="-12941"/>
                </a:stretch>
              </a:blipFill>
            </p:spPr>
            <p:txBody>
              <a:bodyPr/>
              <a:lstStyle/>
              <a:p>
                <a:r>
                  <a:rPr lang="zh-CN" altLang="en-US">
                    <a:noFill/>
                  </a:rPr>
                  <a:t> </a:t>
                </a:r>
              </a:p>
            </p:txBody>
          </p:sp>
        </mc:Fallback>
      </mc:AlternateContent>
      <p:sp>
        <p:nvSpPr>
          <p:cNvPr id="6" name="矩形: 圆角 5">
            <a:extLst>
              <a:ext uri="{FF2B5EF4-FFF2-40B4-BE49-F238E27FC236}">
                <a16:creationId xmlns:a16="http://schemas.microsoft.com/office/drawing/2014/main" id="{125E352C-C89E-4760-2A17-8CD87B119914}"/>
              </a:ext>
            </a:extLst>
          </p:cNvPr>
          <p:cNvSpPr/>
          <p:nvPr/>
        </p:nvSpPr>
        <p:spPr>
          <a:xfrm rot="19533018">
            <a:off x="-360095" y="1979555"/>
            <a:ext cx="5729530" cy="736119"/>
          </a:xfrm>
          <a:prstGeom prst="roundRect">
            <a:avLst/>
          </a:prstGeom>
          <a:noFill/>
          <a:ln w="38100">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78A8B8D9-8C99-DE97-9772-840B104BFDFB}"/>
              </a:ext>
            </a:extLst>
          </p:cNvPr>
          <p:cNvSpPr/>
          <p:nvPr/>
        </p:nvSpPr>
        <p:spPr>
          <a:xfrm rot="19963323">
            <a:off x="-215782" y="2250368"/>
            <a:ext cx="5729530" cy="736119"/>
          </a:xfrm>
          <a:prstGeom prst="roundRect">
            <a:avLst/>
          </a:prstGeom>
          <a:noFill/>
          <a:ln w="38100">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5BC2B9A4-D01D-AC23-B8D6-ACAA6A75DABF}"/>
              </a:ext>
            </a:extLst>
          </p:cNvPr>
          <p:cNvSpPr/>
          <p:nvPr/>
        </p:nvSpPr>
        <p:spPr>
          <a:xfrm rot="20432991">
            <a:off x="-89222" y="2571877"/>
            <a:ext cx="5729530" cy="736119"/>
          </a:xfrm>
          <a:prstGeom prst="roundRect">
            <a:avLst/>
          </a:prstGeom>
          <a:noFill/>
          <a:ln w="38100">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9" name="矩形: 圆角 8">
            <a:extLst>
              <a:ext uri="{FF2B5EF4-FFF2-40B4-BE49-F238E27FC236}">
                <a16:creationId xmlns:a16="http://schemas.microsoft.com/office/drawing/2014/main" id="{1D806E78-9934-766A-5C88-04F0FA7E3DEE}"/>
              </a:ext>
            </a:extLst>
          </p:cNvPr>
          <p:cNvSpPr/>
          <p:nvPr/>
        </p:nvSpPr>
        <p:spPr>
          <a:xfrm rot="20940216">
            <a:off x="84780" y="2934031"/>
            <a:ext cx="5729530" cy="736119"/>
          </a:xfrm>
          <a:prstGeom prst="roundRect">
            <a:avLst/>
          </a:prstGeom>
          <a:noFill/>
          <a:ln w="38100">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FCE7EFB5-02BC-28C5-AE30-5450AFF5A7EF}"/>
              </a:ext>
            </a:extLst>
          </p:cNvPr>
          <p:cNvSpPr/>
          <p:nvPr/>
        </p:nvSpPr>
        <p:spPr>
          <a:xfrm rot="21298554">
            <a:off x="121330" y="3290347"/>
            <a:ext cx="5729530" cy="736119"/>
          </a:xfrm>
          <a:prstGeom prst="roundRect">
            <a:avLst/>
          </a:prstGeom>
          <a:noFill/>
          <a:ln w="38100">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17A6EB88-8433-6D1C-E33B-F0BB93136634}"/>
              </a:ext>
            </a:extLst>
          </p:cNvPr>
          <p:cNvSpPr/>
          <p:nvPr/>
        </p:nvSpPr>
        <p:spPr>
          <a:xfrm rot="1772115">
            <a:off x="-243044" y="4728586"/>
            <a:ext cx="5729530" cy="736119"/>
          </a:xfrm>
          <a:prstGeom prst="roundRect">
            <a:avLst/>
          </a:prstGeom>
          <a:noFill/>
          <a:ln w="38100">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cxnSp>
        <p:nvCxnSpPr>
          <p:cNvPr id="29" name="连接符: 曲线 28">
            <a:extLst>
              <a:ext uri="{FF2B5EF4-FFF2-40B4-BE49-F238E27FC236}">
                <a16:creationId xmlns:a16="http://schemas.microsoft.com/office/drawing/2014/main" id="{FE30DAF2-8C89-508F-60A7-8918745519E3}"/>
              </a:ext>
            </a:extLst>
          </p:cNvPr>
          <p:cNvCxnSpPr>
            <a:cxnSpLocks/>
          </p:cNvCxnSpPr>
          <p:nvPr/>
        </p:nvCxnSpPr>
        <p:spPr>
          <a:xfrm rot="16200000" flipH="1">
            <a:off x="8882981" y="3917280"/>
            <a:ext cx="1449139" cy="1143000"/>
          </a:xfrm>
          <a:prstGeom prst="curvedConnector3">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26" name="文本框 25">
            <a:extLst>
              <a:ext uri="{FF2B5EF4-FFF2-40B4-BE49-F238E27FC236}">
                <a16:creationId xmlns:a16="http://schemas.microsoft.com/office/drawing/2014/main" id="{7C529AF1-CACF-8688-C705-0B4F460E5B22}"/>
              </a:ext>
            </a:extLst>
          </p:cNvPr>
          <p:cNvSpPr txBox="1"/>
          <p:nvPr/>
        </p:nvSpPr>
        <p:spPr>
          <a:xfrm>
            <a:off x="4078334" y="2507373"/>
            <a:ext cx="771525" cy="369332"/>
          </a:xfrm>
          <a:prstGeom prst="rect">
            <a:avLst/>
          </a:prstGeom>
          <a:noFill/>
        </p:spPr>
        <p:txBody>
          <a:bodyPr wrap="square">
            <a:spAutoFit/>
          </a:bodyPr>
          <a:lstStyle/>
          <a:p>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dirty="0"/>
          </a:p>
        </p:txBody>
      </p:sp>
    </p:spTree>
    <p:extLst>
      <p:ext uri="{BB962C8B-B14F-4D97-AF65-F5344CB8AC3E}">
        <p14:creationId xmlns:p14="http://schemas.microsoft.com/office/powerpoint/2010/main" val="4215252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6" grpId="0" animBg="1"/>
      <p:bldP spid="7" grpId="0" animBg="1"/>
      <p:bldP spid="8" grpId="0" animBg="1"/>
      <p:bldP spid="9" grpId="0" animBg="1"/>
      <p:bldP spid="10" grpId="0" animBg="1"/>
      <p:bldP spid="1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F3CB6-7600-5136-52A3-7766A89486CC}"/>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704EA947-672A-4344-3D2D-8C75F2E078EC}"/>
              </a:ext>
            </a:extLst>
          </p:cNvPr>
          <p:cNvGrpSpPr/>
          <p:nvPr/>
        </p:nvGrpSpPr>
        <p:grpSpPr>
          <a:xfrm>
            <a:off x="2583380" y="726948"/>
            <a:ext cx="7464387" cy="497934"/>
            <a:chOff x="4099943" y="2819853"/>
            <a:chExt cx="2570275" cy="497934"/>
          </a:xfrm>
        </p:grpSpPr>
        <p:sp>
          <p:nvSpPr>
            <p:cNvPr id="3" name="平行四边形 2">
              <a:extLst>
                <a:ext uri="{FF2B5EF4-FFF2-40B4-BE49-F238E27FC236}">
                  <a16:creationId xmlns:a16="http://schemas.microsoft.com/office/drawing/2014/main" id="{8CFF7C21-D1FC-EF22-ED4A-144891E3308A}"/>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a:extLst>
                <a:ext uri="{FF2B5EF4-FFF2-40B4-BE49-F238E27FC236}">
                  <a16:creationId xmlns:a16="http://schemas.microsoft.com/office/drawing/2014/main" id="{938CB183-D502-E566-EF8D-933F0E3911A7}"/>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a:extLst>
                <a:ext uri="{FF2B5EF4-FFF2-40B4-BE49-F238E27FC236}">
                  <a16:creationId xmlns:a16="http://schemas.microsoft.com/office/drawing/2014/main" id="{C7AC9EE9-2186-538F-5D45-7FCD6FAE1C76}"/>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动作</a:t>
              </a: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价值函数的进一步阐释</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12968EC1-C470-5670-B039-5B62022DF31B}"/>
                  </a:ext>
                </a:extLst>
              </p:cNvPr>
              <p:cNvSpPr txBox="1"/>
              <p:nvPr/>
            </p:nvSpPr>
            <p:spPr>
              <a:xfrm>
                <a:off x="6185434" y="1283942"/>
                <a:ext cx="5513760" cy="4435766"/>
              </a:xfrm>
              <a:prstGeom prst="rect">
                <a:avLst/>
              </a:prstGeom>
              <a:noFill/>
            </p:spPr>
            <p:txBody>
              <a:bodyPr wrap="square">
                <a:spAutoFit/>
              </a:bodyPr>
              <a:lstStyle/>
              <a:p>
                <a:r>
                  <a:rPr lang="zh-CN" altLang="zh-CN" b="1" dirty="0">
                    <a:solidFill>
                      <a:schemeClr val="tx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动作</a:t>
                </a:r>
                <a:r>
                  <a:rPr lang="en-US" altLang="zh-CN" b="1" dirty="0">
                    <a:solidFill>
                      <a:schemeClr val="tx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b="1" dirty="0">
                    <a:solidFill>
                      <a:schemeClr val="tx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价值函数</a:t>
                </a:r>
                <a:r>
                  <a:rPr lang="en-US" altLang="zh-CN" b="1" dirty="0">
                    <a:solidFill>
                      <a:schemeClr val="tx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(action-value function)</a:t>
                </a:r>
                <a:r>
                  <a:rPr lang="zh-CN" altLang="zh-CN" b="1" dirty="0">
                    <a:solidFill>
                      <a:schemeClr val="tx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14:m>
                  <m:oMath xmlns:m="http://schemas.openxmlformats.org/officeDocument/2006/math">
                    <m:sSub>
                      <m:sSubPr>
                        <m:ctrlPr>
                          <a:rPr lang="zh-CN" altLang="zh-CN" i="1">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𝑞</m:t>
                        </m:r>
                      </m:e>
                      <m:sub>
                        <m:r>
                          <a:rPr lang="en-US" altLang="zh-CN">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𝜋</m:t>
                        </m:r>
                      </m:sub>
                    </m:sSub>
                    <m:d>
                      <m:dPr>
                        <m:ctrlPr>
                          <a:rPr lang="zh-CN" altLang="zh-CN" i="1">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𝑠</m:t>
                        </m:r>
                        <m:r>
                          <a:rPr lang="en-US" altLang="zh-CN">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𝑎</m:t>
                        </m:r>
                      </m:e>
                    </m:d>
                    <m:r>
                      <a:rPr lang="en-US" altLang="zh-CN">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m:t>
                    </m:r>
                  </m:oMath>
                </a14:m>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14:m>
                  <m:oMath xmlns:m="http://schemas.openxmlformats.org/officeDocument/2006/math">
                    <m:sSub>
                      <m:sSubPr>
                        <m:ctrlPr>
                          <a:rPr lang="zh-CN" altLang="zh-CN" i="1">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𝔼</m:t>
                        </m:r>
                      </m:e>
                      <m:sub>
                        <m:r>
                          <a:rPr lang="en-US" altLang="zh-CN">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𝜋</m:t>
                        </m:r>
                      </m:sub>
                    </m:sSub>
                    <m:r>
                      <a:rPr lang="en-US" altLang="zh-CN">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i="1">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𝐺</m:t>
                        </m:r>
                      </m:e>
                      <m:sub>
                        <m:r>
                          <a:rPr lang="en-US" altLang="zh-CN">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i="1">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𝑠</m:t>
                    </m:r>
                    <m:r>
                      <a:rPr lang="en-US" altLang="zh-CN">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i="1">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𝐴</m:t>
                        </m:r>
                      </m:e>
                      <m:sub>
                        <m:r>
                          <a:rPr lang="en-US" altLang="zh-CN">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𝑎</m:t>
                    </m:r>
                    <m:r>
                      <a:rPr lang="en-US" altLang="zh-CN">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该期望是，在状态</a:t>
                </a:r>
                <a14:m>
                  <m:oMath xmlns:m="http://schemas.openxmlformats.org/officeDocument/2006/math">
                    <m:r>
                      <a:rPr lang="en-US" altLang="zh-CN">
                        <a:latin typeface="Cambria Math" panose="02040503050406030204" pitchFamily="18" charset="0"/>
                        <a:ea typeface="微软雅黑" panose="020B0503020204020204" pitchFamily="34" charset="-122"/>
                        <a:cs typeface="Times New Roman" panose="02020603050405020304" pitchFamily="18" charset="0"/>
                      </a:rPr>
                      <m:t>𝑠</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下，</a:t>
                </a: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选择了某个动作</a:t>
                </a:r>
                <a14:m>
                  <m:oMath xmlns:m="http://schemas.openxmlformats.org/officeDocument/2006/math">
                    <m:r>
                      <a:rPr lang="en-US" altLang="zh-CN">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𝑎</m:t>
                    </m:r>
                  </m:oMath>
                </a14:m>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后，</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后序也一直经历状态转移和采用</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策略</a:t>
                </a:r>
                <a14:m>
                  <m:oMath xmlns:m="http://schemas.openxmlformats.org/officeDocument/2006/math">
                    <m:r>
                      <a:rPr lang="en-US" altLang="zh-CN">
                        <a:latin typeface="Cambria Math" panose="02040503050406030204" pitchFamily="18" charset="0"/>
                        <a:ea typeface="微软雅黑" panose="020B0503020204020204" pitchFamily="34" charset="-122"/>
                        <a:cs typeface="Times New Roman" panose="02020603050405020304" pitchFamily="18" charset="0"/>
                      </a:rPr>
                      <m:t>𝜋</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来选择动作，所有可能产生的轨迹的回报</a:t>
                </a:r>
                <a14:m>
                  <m:oMath xmlns:m="http://schemas.openxmlformats.org/officeDocument/2006/math">
                    <m:sSub>
                      <m:sSubPr>
                        <m:ctrlPr>
                          <a:rPr lang="zh-CN" altLang="zh-CN"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a:latin typeface="Cambria Math" panose="02040503050406030204" pitchFamily="18" charset="0"/>
                            <a:ea typeface="微软雅黑" panose="020B0503020204020204" pitchFamily="34" charset="-122"/>
                            <a:cs typeface="Times New Roman" panose="02020603050405020304" pitchFamily="18" charset="0"/>
                          </a:rPr>
                          <m:t>𝐺</m:t>
                        </m:r>
                      </m:e>
                      <m:sub>
                        <m:r>
                          <a:rPr lang="en-US" altLang="zh-CN">
                            <a:latin typeface="Cambria Math" panose="02040503050406030204" pitchFamily="18" charset="0"/>
                            <a:ea typeface="微软雅黑" panose="020B0503020204020204" pitchFamily="34" charset="-122"/>
                            <a:cs typeface="Times New Roman" panose="02020603050405020304" pitchFamily="18" charset="0"/>
                          </a:rPr>
                          <m:t>𝑡</m:t>
                        </m:r>
                      </m:sub>
                    </m:sSub>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按轨迹概率加权的平均。</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某一条轨迹</a:t>
                </a:r>
                <a14:m>
                  <m:oMath xmlns:m="http://schemas.openxmlformats.org/officeDocument/2006/math">
                    <m:r>
                      <a:rPr lang="zh-CN" altLang="en-US" i="1" smtClean="0">
                        <a:latin typeface="Cambria Math" panose="02040503050406030204" pitchFamily="18" charset="0"/>
                        <a:ea typeface="微软雅黑" panose="020B0503020204020204" pitchFamily="34" charset="-122"/>
                        <a:cs typeface="Times New Roman" panose="02020603050405020304" pitchFamily="18" charset="0"/>
                      </a:rPr>
                      <m:t>𝜏</m:t>
                    </m:r>
                    <m:r>
                      <a:rPr lang="zh-CN" altLang="en-US" i="1">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𝑠</m:t>
                        </m:r>
                      </m:e>
                      <m:sub>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i="1">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𝑟</m:t>
                        </m:r>
                      </m:e>
                      <m:sub>
                        <m:r>
                          <a:rPr lang="en-US" altLang="zh-CN" i="1">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latin typeface="Cambria Math" panose="02040503050406030204" pitchFamily="18" charset="0"/>
                            <a:ea typeface="微软雅黑" panose="020B0503020204020204" pitchFamily="34" charset="-122"/>
                            <a:cs typeface="Times New Roman" panose="02020603050405020304" pitchFamily="18" charset="0"/>
                          </a:rPr>
                          <m:t>𝑠</m:t>
                        </m:r>
                      </m:e>
                      <m:sub>
                        <m:r>
                          <a:rPr lang="en-US" altLang="zh-CN" i="1">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i="1">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i="1">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i="1">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latin typeface="Cambria Math" panose="02040503050406030204" pitchFamily="18" charset="0"/>
                            <a:ea typeface="微软雅黑" panose="020B0503020204020204" pitchFamily="34" charset="-122"/>
                            <a:cs typeface="Times New Roman" panose="02020603050405020304" pitchFamily="18" charset="0"/>
                          </a:rPr>
                          <m:t>𝑟</m:t>
                        </m:r>
                      </m:e>
                      <m:sub>
                        <m:r>
                          <a:rPr lang="en-US" altLang="zh-CN" i="1">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+2,</m:t>
                        </m:r>
                      </m:sub>
                    </m:sSub>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的概率的计算方式如下：</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gn="ctr"/>
                <a14:m>
                  <m:oMathPara xmlns:m="http://schemas.openxmlformats.org/officeDocument/2006/math">
                    <m:oMathParaPr>
                      <m:jc m:val="left"/>
                    </m:oMathParaPr>
                    <m:oMath xmlns:m="http://schemas.openxmlformats.org/officeDocument/2006/math">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𝑃</m:t>
                      </m:r>
                      <m:d>
                        <m:dPr>
                          <m:ctrlPr>
                            <a:rPr lang="en-US" altLang="zh-CN" sz="1400" i="1">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ctrlPr>
                        </m:dPr>
                        <m:e>
                          <m:r>
                            <a:rPr lang="zh-CN" altLang="en-US"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𝜏</m:t>
                          </m:r>
                        </m:e>
                        <m:e>
                          <m:sSub>
                            <m:sSubPr>
                              <m:ctrlPr>
                                <a:rPr lang="en-US" altLang="zh-CN" sz="1400" i="1">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𝑠</m:t>
                              </m:r>
                            </m:e>
                            <m:sub>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1400" i="1">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𝑡</m:t>
                              </m:r>
                            </m:sub>
                          </m:sSub>
                        </m:e>
                      </m:d>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𝑃</m:t>
                      </m:r>
                      <m:d>
                        <m:dPr>
                          <m:ctrlPr>
                            <a:rPr lang="en-US" altLang="zh-CN" sz="1400" i="1">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sz="1400" i="1">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𝑠</m:t>
                              </m:r>
                            </m:e>
                            <m:sub>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+1</m:t>
                              </m:r>
                            </m:sub>
                          </m:sSub>
                        </m:e>
                        <m:e>
                          <m:sSub>
                            <m:sSubPr>
                              <m:ctrlPr>
                                <a:rPr lang="en-US" altLang="zh-CN" sz="1400" i="1">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𝑠</m:t>
                              </m:r>
                            </m:e>
                            <m:sub>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1400" i="1">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𝑡</m:t>
                              </m:r>
                            </m:sub>
                          </m:sSub>
                        </m:e>
                      </m:d>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m:t>
                      </m:r>
                      <m:r>
                        <a:rPr lang="zh-CN" altLang="en-US"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𝜋</m:t>
                      </m:r>
                      <m:d>
                        <m:dPr>
                          <m:ctrlPr>
                            <a:rPr lang="en-US" altLang="zh-CN" sz="1400" i="1">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sz="1400" i="1">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+1</m:t>
                              </m:r>
                            </m:sub>
                          </m:sSub>
                        </m:e>
                        <m:e>
                          <m:sSub>
                            <m:sSubPr>
                              <m:ctrlPr>
                                <a:rPr lang="en-US" altLang="zh-CN" sz="1400" i="1">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𝑠</m:t>
                              </m:r>
                            </m:e>
                            <m:sub>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+1</m:t>
                              </m:r>
                            </m:sub>
                          </m:sSub>
                        </m:e>
                      </m:d>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𝑃</m:t>
                      </m:r>
                      <m:d>
                        <m:dPr>
                          <m:ctrlPr>
                            <a:rPr lang="en-US" altLang="zh-CN" sz="1400" i="1">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sz="1400" i="1">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𝑠</m:t>
                              </m:r>
                            </m:e>
                            <m:sub>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+2</m:t>
                              </m:r>
                            </m:sub>
                          </m:sSub>
                        </m:e>
                        <m:e>
                          <m:sSub>
                            <m:sSubPr>
                              <m:ctrlPr>
                                <a:rPr lang="en-US" altLang="zh-CN" sz="1400" i="1">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𝑠</m:t>
                              </m:r>
                            </m:e>
                            <m:sub>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1400" i="1">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+1</m:t>
                              </m:r>
                            </m:sub>
                          </m:sSub>
                        </m:e>
                      </m:d>
                      <m:r>
                        <a:rPr lang="en-US" altLang="zh-CN" sz="140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m:t>
                      </m:r>
                    </m:oMath>
                  </m:oMathPara>
                </a14:m>
                <a:endParaRPr lang="en-US" altLang="zh-CN" sz="1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14:m>
                  <m:oMath xmlns:m="http://schemas.openxmlformats.org/officeDocument/2006/math">
                    <m:r>
                      <a:rPr lang="zh-CN" altLang="en-US">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注意，与</m:t>
                    </m:r>
                    <m:sSub>
                      <m:sSubPr>
                        <m:ctrlPr>
                          <a:rPr lang="zh-CN" altLang="zh-CN" i="1">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𝑉</m:t>
                        </m:r>
                      </m:e>
                      <m:sub>
                        <m:r>
                          <a:rPr lang="en-US" altLang="zh-CN">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𝜋</m:t>
                        </m:r>
                      </m:sub>
                    </m:sSub>
                    <m:d>
                      <m:dPr>
                        <m:ctrlPr>
                          <a:rPr lang="zh-CN" altLang="zh-CN" i="1">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𝑠</m:t>
                        </m:r>
                      </m:e>
                    </m:d>
                  </m:oMath>
                </a14:m>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中轨迹概率计算不同的是，这里不需要先乘以</a:t>
                </a:r>
                <a14:m>
                  <m:oMath xmlns:m="http://schemas.openxmlformats.org/officeDocument/2006/math">
                    <m:r>
                      <a:rPr lang="zh-CN" altLang="en-US" i="1">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𝜋</m:t>
                    </m:r>
                    <m:d>
                      <m:dPr>
                        <m:ctrlPr>
                          <a:rPr lang="en-US" altLang="zh-CN" i="1">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i="1">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ctrlPr>
                          </m:sSubPr>
                          <m:e>
                            <m:sSub>
                              <m:sSubPr>
                                <m:ctrlPr>
                                  <a:rPr lang="en-US" altLang="zh-CN" i="1">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i="1">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i="1">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i="1">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𝑠</m:t>
                            </m:r>
                          </m:e>
                          <m:sub>
                            <m:r>
                              <a:rPr lang="en-US" altLang="zh-CN" i="1">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𝑡</m:t>
                            </m:r>
                          </m:sub>
                        </m:sSub>
                      </m:e>
                    </m:d>
                    <m:r>
                      <a:rPr lang="en-US" altLang="zh-CN" i="1">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 </m:t>
                    </m:r>
                  </m:oMath>
                </a14:m>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，因为动作</a:t>
                </a:r>
                <a14:m>
                  <m:oMath xmlns:m="http://schemas.openxmlformats.org/officeDocument/2006/math">
                    <m:sSub>
                      <m:sSubPr>
                        <m:ctrlPr>
                          <a:rPr lang="en-US" altLang="zh-CN" i="1">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𝑎</m:t>
                        </m:r>
                      </m:e>
                      <m:sub>
                        <m:r>
                          <a:rPr lang="en-US" altLang="zh-CN" i="1">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𝑡</m:t>
                        </m:r>
                      </m:sub>
                    </m:sSub>
                  </m:oMath>
                </a14:m>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已经选好了。</a:t>
                </a:r>
                <a:endPar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动作</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价值函数可以重新写成：</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14:m>
                  <m:oMathPara xmlns:m="http://schemas.openxmlformats.org/officeDocument/2006/math">
                    <m:oMathParaPr>
                      <m:jc m:val="left"/>
                    </m:oMathParaPr>
                    <m:oMath xmlns:m="http://schemas.openxmlformats.org/officeDocument/2006/math">
                      <m:sSub>
                        <m:sSubPr>
                          <m:ctrlPr>
                            <a:rPr lang="zh-CN" altLang="zh-CN"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a:latin typeface="Cambria Math" panose="02040503050406030204" pitchFamily="18" charset="0"/>
                              <a:ea typeface="微软雅黑" panose="020B0503020204020204" pitchFamily="34" charset="-122"/>
                              <a:cs typeface="Times New Roman" panose="02020603050405020304" pitchFamily="18" charset="0"/>
                            </a:rPr>
                            <m:t>𝑞</m:t>
                          </m:r>
                        </m:e>
                        <m:sub>
                          <m:r>
                            <a:rPr lang="en-US" altLang="zh-CN">
                              <a:latin typeface="Cambria Math" panose="02040503050406030204" pitchFamily="18" charset="0"/>
                              <a:ea typeface="微软雅黑" panose="020B0503020204020204" pitchFamily="34" charset="-122"/>
                              <a:cs typeface="Times New Roman" panose="02020603050405020304" pitchFamily="18" charset="0"/>
                            </a:rPr>
                            <m:t>𝜋</m:t>
                          </m:r>
                        </m:sub>
                      </m:sSub>
                      <m:d>
                        <m:dPr>
                          <m:ctrlPr>
                            <a:rPr lang="zh-CN" altLang="zh-CN" i="1">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a:latin typeface="Cambria Math" panose="02040503050406030204" pitchFamily="18" charset="0"/>
                              <a:ea typeface="微软雅黑" panose="020B0503020204020204" pitchFamily="34" charset="-122"/>
                              <a:cs typeface="Times New Roman" panose="02020603050405020304" pitchFamily="18" charset="0"/>
                            </a:rPr>
                            <m:t>𝑠</m:t>
                          </m:r>
                          <m:r>
                            <a:rPr lang="en-US" altLang="zh-CN">
                              <a:latin typeface="Cambria Math" panose="02040503050406030204" pitchFamily="18" charset="0"/>
                              <a:ea typeface="微软雅黑" panose="020B0503020204020204" pitchFamily="34" charset="-122"/>
                              <a:cs typeface="Times New Roman" panose="02020603050405020304" pitchFamily="18" charset="0"/>
                            </a:rPr>
                            <m:t>,</m:t>
                          </m:r>
                          <m:r>
                            <a:rPr lang="en-US" altLang="zh-CN">
                              <a:latin typeface="Cambria Math" panose="02040503050406030204" pitchFamily="18" charset="0"/>
                              <a:ea typeface="微软雅黑" panose="020B0503020204020204" pitchFamily="34" charset="-122"/>
                              <a:cs typeface="Times New Roman" panose="02020603050405020304" pitchFamily="18" charset="0"/>
                            </a:rPr>
                            <m:t>𝑎</m:t>
                          </m:r>
                        </m:e>
                      </m:d>
                      <m:r>
                        <a:rPr lang="en-US" altLang="zh-CN">
                          <a:latin typeface="Cambria Math" panose="02040503050406030204" pitchFamily="18" charset="0"/>
                          <a:ea typeface="微软雅黑" panose="020B0503020204020204" pitchFamily="34" charset="-122"/>
                          <a:cs typeface="Times New Roman" panose="02020603050405020304" pitchFamily="18" charset="0"/>
                        </a:rPr>
                        <m:t>=</m:t>
                      </m:r>
                      <m:r>
                        <m:rPr>
                          <m:nor/>
                        </m:rPr>
                        <a:rPr lang="en-US" altLang="zh-CN" dirty="0">
                          <a:latin typeface="Times New Roman" panose="02020603050405020304" pitchFamily="18" charset="0"/>
                          <a:ea typeface="微软雅黑" panose="020B0503020204020204" pitchFamily="34" charset="-122"/>
                          <a:cs typeface="Times New Roman" panose="02020603050405020304" pitchFamily="18" charset="0"/>
                        </a:rPr>
                        <m:t> </m:t>
                      </m:r>
                      <m:sSub>
                        <m:sSubPr>
                          <m:ctrlPr>
                            <a:rPr lang="zh-CN" altLang="zh-CN"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a:latin typeface="Cambria Math" panose="02040503050406030204" pitchFamily="18" charset="0"/>
                              <a:ea typeface="微软雅黑" panose="020B0503020204020204" pitchFamily="34" charset="-122"/>
                              <a:cs typeface="Times New Roman" panose="02020603050405020304" pitchFamily="18" charset="0"/>
                            </a:rPr>
                            <m:t>𝔼</m:t>
                          </m:r>
                        </m:e>
                        <m:sub>
                          <m:r>
                            <a:rPr lang="en-US" altLang="zh-CN">
                              <a:latin typeface="Cambria Math" panose="02040503050406030204" pitchFamily="18" charset="0"/>
                              <a:ea typeface="微软雅黑" panose="020B0503020204020204" pitchFamily="34" charset="-122"/>
                              <a:cs typeface="Times New Roman" panose="02020603050405020304" pitchFamily="18" charset="0"/>
                            </a:rPr>
                            <m:t>𝜋</m:t>
                          </m:r>
                        </m:sub>
                      </m:sSub>
                      <m:d>
                        <m:dPr>
                          <m:begChr m:val="["/>
                          <m:endChr m:val="]"/>
                          <m:ctrlPr>
                            <a:rPr lang="en-US" altLang="zh-CN" i="1">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zh-CN" altLang="zh-CN"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a:latin typeface="Cambria Math" panose="02040503050406030204" pitchFamily="18" charset="0"/>
                                  <a:ea typeface="微软雅黑" panose="020B0503020204020204" pitchFamily="34" charset="-122"/>
                                  <a:cs typeface="Times New Roman" panose="02020603050405020304" pitchFamily="18" charset="0"/>
                                </a:rPr>
                                <m:t>𝐺</m:t>
                              </m:r>
                            </m:e>
                            <m:sub>
                              <m:r>
                                <a:rPr lang="en-US" altLang="zh-CN">
                                  <a:latin typeface="Cambria Math" panose="02040503050406030204" pitchFamily="18" charset="0"/>
                                  <a:ea typeface="微软雅黑" panose="020B0503020204020204" pitchFamily="34" charset="-122"/>
                                  <a:cs typeface="Times New Roman" panose="02020603050405020304" pitchFamily="18" charset="0"/>
                                </a:rPr>
                                <m:t>𝑡</m:t>
                              </m:r>
                            </m:sub>
                          </m:sSub>
                        </m:e>
                        <m:e>
                          <m:sSub>
                            <m:sSubPr>
                              <m:ctrlPr>
                                <a:rPr lang="zh-CN" altLang="zh-CN"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a:latin typeface="Cambria Math" panose="02040503050406030204" pitchFamily="18" charset="0"/>
                              <a:ea typeface="微软雅黑" panose="020B0503020204020204" pitchFamily="34" charset="-122"/>
                              <a:cs typeface="Times New Roman" panose="02020603050405020304" pitchFamily="18" charset="0"/>
                            </a:rPr>
                            <m:t>=</m:t>
                          </m:r>
                          <m:r>
                            <a:rPr lang="en-US" altLang="zh-CN">
                              <a:latin typeface="Cambria Math" panose="02040503050406030204" pitchFamily="18" charset="0"/>
                              <a:ea typeface="微软雅黑" panose="020B0503020204020204" pitchFamily="34" charset="-122"/>
                              <a:cs typeface="Times New Roman" panose="02020603050405020304" pitchFamily="18" charset="0"/>
                            </a:rPr>
                            <m:t>𝑠</m:t>
                          </m:r>
                          <m:r>
                            <a:rPr lang="en-US" altLang="zh-CN">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a:latin typeface="Cambria Math" panose="02040503050406030204" pitchFamily="18" charset="0"/>
                                  <a:ea typeface="微软雅黑" panose="020B0503020204020204" pitchFamily="34" charset="-122"/>
                                  <a:cs typeface="Times New Roman" panose="02020603050405020304" pitchFamily="18" charset="0"/>
                                </a:rPr>
                                <m:t>𝐴</m:t>
                              </m:r>
                            </m:e>
                            <m:sub>
                              <m:r>
                                <a:rPr lang="en-US" altLang="zh-CN">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a:latin typeface="Cambria Math" panose="02040503050406030204" pitchFamily="18" charset="0"/>
                              <a:ea typeface="微软雅黑" panose="020B0503020204020204" pitchFamily="34" charset="-122"/>
                              <a:cs typeface="Times New Roman" panose="02020603050405020304" pitchFamily="18" charset="0"/>
                            </a:rPr>
                            <m:t>=</m:t>
                          </m:r>
                          <m:r>
                            <a:rPr lang="en-US" altLang="zh-CN">
                              <a:latin typeface="Cambria Math" panose="02040503050406030204" pitchFamily="18" charset="0"/>
                              <a:ea typeface="微软雅黑" panose="020B0503020204020204" pitchFamily="34" charset="-122"/>
                              <a:cs typeface="Times New Roman" panose="02020603050405020304" pitchFamily="18" charset="0"/>
                            </a:rPr>
                            <m:t>𝑎</m:t>
                          </m:r>
                        </m:e>
                      </m:d>
                    </m:oMath>
                  </m:oMathPara>
                </a14:m>
                <a:endParaRPr lang="en-US" altLang="zh-CN" dirty="0">
                  <a:latin typeface="Cambria Math" panose="02040503050406030204" pitchFamily="18" charset="0"/>
                  <a:ea typeface="微软雅黑" panose="020B0503020204020204" pitchFamily="34" charset="-122"/>
                  <a:cs typeface="Times New Roman" panose="02020603050405020304" pitchFamily="18" charset="0"/>
                </a:endParaRPr>
              </a:p>
              <a:p>
                <a:pPr/>
                <a14:m>
                  <m:oMathPara xmlns:m="http://schemas.openxmlformats.org/officeDocument/2006/math">
                    <m:oMathParaPr>
                      <m:jc m:val="left"/>
                    </m:oMathParaPr>
                    <m:oMath xmlns:m="http://schemas.openxmlformats.org/officeDocument/2006/math">
                      <m:r>
                        <a:rPr lang="en-US" altLang="zh-CN">
                          <a:latin typeface="Cambria Math" panose="02040503050406030204" pitchFamily="18" charset="0"/>
                          <a:ea typeface="微软雅黑" panose="020B0503020204020204" pitchFamily="34" charset="-122"/>
                          <a:cs typeface="Times New Roman" panose="02020603050405020304" pitchFamily="18" charset="0"/>
                        </a:rPr>
                        <m:t>=</m:t>
                      </m:r>
                      <m:nary>
                        <m:naryPr>
                          <m:chr m:val="∑"/>
                          <m:limLoc m:val="subSup"/>
                          <m:supHide m:val="on"/>
                          <m:ctrlP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ctrlPr>
                        </m:naryPr>
                        <m:sub>
                          <m:r>
                            <a:rPr lang="zh-CN" altLang="en-US" i="1">
                              <a:latin typeface="Cambria Math" panose="02040503050406030204" pitchFamily="18" charset="0"/>
                              <a:ea typeface="微软雅黑" panose="020B0503020204020204" pitchFamily="34" charset="-122"/>
                              <a:cs typeface="Times New Roman" panose="02020603050405020304" pitchFamily="18" charset="0"/>
                            </a:rPr>
                            <m:t>𝜏</m:t>
                          </m:r>
                        </m:sub>
                        <m:sup/>
                        <m:e>
                          <m:r>
                            <a:rPr lang="en-US" altLang="zh-CN" i="1">
                              <a:latin typeface="Cambria Math" panose="02040503050406030204" pitchFamily="18" charset="0"/>
                              <a:ea typeface="微软雅黑" panose="020B0503020204020204" pitchFamily="34" charset="-122"/>
                              <a:cs typeface="Times New Roman" panose="02020603050405020304" pitchFamily="18" charset="0"/>
                            </a:rPr>
                            <m:t>𝑃</m:t>
                          </m:r>
                          <m:d>
                            <m:dPr>
                              <m:ctrlPr>
                                <a:rPr lang="en-US" altLang="zh-CN" i="1">
                                  <a:latin typeface="Cambria Math" panose="02040503050406030204" pitchFamily="18" charset="0"/>
                                  <a:ea typeface="微软雅黑" panose="020B0503020204020204" pitchFamily="34" charset="-122"/>
                                  <a:cs typeface="Times New Roman" panose="02020603050405020304" pitchFamily="18" charset="0"/>
                                </a:rPr>
                              </m:ctrlPr>
                            </m:dPr>
                            <m:e>
                              <m:r>
                                <a:rPr lang="zh-CN" altLang="en-US" i="1">
                                  <a:latin typeface="Cambria Math" panose="02040503050406030204" pitchFamily="18" charset="0"/>
                                  <a:ea typeface="微软雅黑" panose="020B0503020204020204" pitchFamily="34" charset="-122"/>
                                  <a:cs typeface="Times New Roman" panose="02020603050405020304" pitchFamily="18" charset="0"/>
                                </a:rPr>
                                <m:t>𝜏</m:t>
                              </m:r>
                            </m:e>
                            <m:e>
                              <m:r>
                                <a:rPr lang="en-US" altLang="zh-CN" i="1">
                                  <a:latin typeface="Cambria Math" panose="02040503050406030204" pitchFamily="18" charset="0"/>
                                  <a:ea typeface="微软雅黑" panose="020B0503020204020204" pitchFamily="34" charset="-122"/>
                                  <a:cs typeface="Times New Roman" panose="02020603050405020304" pitchFamily="18" charset="0"/>
                                </a:rPr>
                                <m:t>𝑠</m:t>
                              </m:r>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𝑎</m:t>
                              </m:r>
                            </m:e>
                          </m:d>
                          <m:sSub>
                            <m:sSubPr>
                              <m:ctrlPr>
                                <a:rPr lang="zh-CN" altLang="zh-CN"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a:latin typeface="Cambria Math" panose="02040503050406030204" pitchFamily="18" charset="0"/>
                                  <a:ea typeface="微软雅黑" panose="020B0503020204020204" pitchFamily="34" charset="-122"/>
                                  <a:cs typeface="Times New Roman" panose="02020603050405020304" pitchFamily="18" charset="0"/>
                                </a:rPr>
                                <m:t>𝐺</m:t>
                              </m:r>
                            </m:e>
                            <m:sub>
                              <m:r>
                                <a:rPr lang="en-US" altLang="zh-CN">
                                  <a:latin typeface="Cambria Math" panose="02040503050406030204" pitchFamily="18" charset="0"/>
                                  <a:ea typeface="微软雅黑" panose="020B0503020204020204" pitchFamily="34" charset="-122"/>
                                  <a:cs typeface="Times New Roman" panose="02020603050405020304" pitchFamily="18" charset="0"/>
                                </a:rPr>
                                <m:t>𝑡</m:t>
                              </m:r>
                            </m:sub>
                          </m:sSub>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m:t>
                          </m:r>
                          <m:r>
                            <a:rPr lang="zh-CN" altLang="en-US" i="1">
                              <a:latin typeface="Cambria Math" panose="02040503050406030204" pitchFamily="18" charset="0"/>
                              <a:ea typeface="微软雅黑" panose="020B0503020204020204" pitchFamily="34" charset="-122"/>
                              <a:cs typeface="Times New Roman" panose="02020603050405020304" pitchFamily="18" charset="0"/>
                            </a:rPr>
                            <m:t>𝜏</m:t>
                          </m:r>
                          <m:r>
                            <a:rPr lang="en-US" altLang="zh-CN" b="0" i="1" smtClean="0">
                              <a:latin typeface="Cambria Math" panose="02040503050406030204" pitchFamily="18" charset="0"/>
                              <a:ea typeface="微软雅黑" panose="020B0503020204020204" pitchFamily="34" charset="-122"/>
                              <a:cs typeface="Times New Roman" panose="02020603050405020304" pitchFamily="18" charset="0"/>
                            </a:rPr>
                            <m:t>)</m:t>
                          </m:r>
                        </m:e>
                      </m:nary>
                    </m:oMath>
                  </m:oMathPara>
                </a14:m>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11" name="文本框 10">
                <a:extLst>
                  <a:ext uri="{FF2B5EF4-FFF2-40B4-BE49-F238E27FC236}">
                    <a16:creationId xmlns:a16="http://schemas.microsoft.com/office/drawing/2014/main" id="{12968EC1-C470-5670-B039-5B62022DF31B}"/>
                  </a:ext>
                </a:extLst>
              </p:cNvPr>
              <p:cNvSpPr txBox="1">
                <a:spLocks noRot="1" noChangeAspect="1" noMove="1" noResize="1" noEditPoints="1" noAdjustHandles="1" noChangeArrowheads="1" noChangeShapeType="1" noTextEdit="1"/>
              </p:cNvSpPr>
              <p:nvPr/>
            </p:nvSpPr>
            <p:spPr>
              <a:xfrm>
                <a:off x="6185434" y="1283942"/>
                <a:ext cx="5513760" cy="4435766"/>
              </a:xfrm>
              <a:prstGeom prst="rect">
                <a:avLst/>
              </a:prstGeom>
              <a:blipFill>
                <a:blip r:embed="rId2"/>
                <a:stretch>
                  <a:fillRect l="-1106" t="-963" r="-885"/>
                </a:stretch>
              </a:blipFill>
            </p:spPr>
            <p:txBody>
              <a:bodyPr/>
              <a:lstStyle/>
              <a:p>
                <a:r>
                  <a:rPr lang="zh-CN" altLang="en-US">
                    <a:noFill/>
                  </a:rPr>
                  <a:t> </a:t>
                </a:r>
              </a:p>
            </p:txBody>
          </p:sp>
        </mc:Fallback>
      </mc:AlternateContent>
      <p:sp>
        <p:nvSpPr>
          <p:cNvPr id="67" name="文本框 66">
            <a:extLst>
              <a:ext uri="{FF2B5EF4-FFF2-40B4-BE49-F238E27FC236}">
                <a16:creationId xmlns:a16="http://schemas.microsoft.com/office/drawing/2014/main" id="{CC20A455-90D3-65A6-F717-D0594A237F25}"/>
              </a:ext>
            </a:extLst>
          </p:cNvPr>
          <p:cNvSpPr txBox="1"/>
          <p:nvPr/>
        </p:nvSpPr>
        <p:spPr>
          <a:xfrm rot="5400000">
            <a:off x="4585416" y="2045996"/>
            <a:ext cx="1418298" cy="707886"/>
          </a:xfrm>
          <a:prstGeom prst="rect">
            <a:avLst/>
          </a:prstGeom>
          <a:noFill/>
        </p:spPr>
        <p:txBody>
          <a:bodyPr wrap="square">
            <a:spAutoFit/>
          </a:bodyPr>
          <a:lstStyle/>
          <a:p>
            <a:r>
              <a:rPr lang="en-US" altLang="zh-CN" sz="4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4000" dirty="0">
              <a:solidFill>
                <a:srgbClr val="FF0000"/>
              </a:solidFill>
            </a:endParaRPr>
          </a:p>
        </p:txBody>
      </p:sp>
      <mc:AlternateContent xmlns:mc="http://schemas.openxmlformats.org/markup-compatibility/2006" xmlns:a14="http://schemas.microsoft.com/office/drawing/2010/main">
        <mc:Choice Requires="a14">
          <p:sp>
            <p:nvSpPr>
              <p:cNvPr id="26" name="椭圆 25">
                <a:extLst>
                  <a:ext uri="{FF2B5EF4-FFF2-40B4-BE49-F238E27FC236}">
                    <a16:creationId xmlns:a16="http://schemas.microsoft.com/office/drawing/2014/main" id="{43629E01-5F88-C674-5F82-1D0FDE7F08E3}"/>
                  </a:ext>
                </a:extLst>
              </p:cNvPr>
              <p:cNvSpPr/>
              <p:nvPr/>
            </p:nvSpPr>
            <p:spPr>
              <a:xfrm>
                <a:off x="242883" y="3535742"/>
                <a:ext cx="421105" cy="391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sub>
                      </m:sSub>
                    </m:oMath>
                  </m:oMathPara>
                </a14:m>
                <a:endParaRPr lang="zh-CN" altLang="en-US" dirty="0"/>
              </a:p>
            </p:txBody>
          </p:sp>
        </mc:Choice>
        <mc:Fallback xmlns="">
          <p:sp>
            <p:nvSpPr>
              <p:cNvPr id="26" name="椭圆 25">
                <a:extLst>
                  <a:ext uri="{FF2B5EF4-FFF2-40B4-BE49-F238E27FC236}">
                    <a16:creationId xmlns:a16="http://schemas.microsoft.com/office/drawing/2014/main" id="{43629E01-5F88-C674-5F82-1D0FDE7F08E3}"/>
                  </a:ext>
                </a:extLst>
              </p:cNvPr>
              <p:cNvSpPr>
                <a:spLocks noRot="1" noChangeAspect="1" noMove="1" noResize="1" noEditPoints="1" noAdjustHandles="1" noChangeArrowheads="1" noChangeShapeType="1" noTextEdit="1"/>
              </p:cNvSpPr>
              <p:nvPr/>
            </p:nvSpPr>
            <p:spPr>
              <a:xfrm>
                <a:off x="242883" y="3535742"/>
                <a:ext cx="421105" cy="391027"/>
              </a:xfrm>
              <a:prstGeom prst="ellipse">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椭圆 28">
                <a:extLst>
                  <a:ext uri="{FF2B5EF4-FFF2-40B4-BE49-F238E27FC236}">
                    <a16:creationId xmlns:a16="http://schemas.microsoft.com/office/drawing/2014/main" id="{AEB8159F-E03C-4E42-4EC1-477B32232DDE}"/>
                  </a:ext>
                </a:extLst>
              </p:cNvPr>
              <p:cNvSpPr/>
              <p:nvPr/>
            </p:nvSpPr>
            <p:spPr>
              <a:xfrm>
                <a:off x="1285649" y="2961060"/>
                <a:ext cx="421105" cy="391027"/>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zh-CN"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𝐴</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sub>
                      </m:sSub>
                    </m:oMath>
                  </m:oMathPara>
                </a14:m>
                <a:endParaRPr lang="zh-CN" altLang="en-US" dirty="0"/>
              </a:p>
            </p:txBody>
          </p:sp>
        </mc:Choice>
        <mc:Fallback xmlns="">
          <p:sp>
            <p:nvSpPr>
              <p:cNvPr id="29" name="椭圆 28">
                <a:extLst>
                  <a:ext uri="{FF2B5EF4-FFF2-40B4-BE49-F238E27FC236}">
                    <a16:creationId xmlns:a16="http://schemas.microsoft.com/office/drawing/2014/main" id="{AEB8159F-E03C-4E42-4EC1-477B32232DDE}"/>
                  </a:ext>
                </a:extLst>
              </p:cNvPr>
              <p:cNvSpPr>
                <a:spLocks noRot="1" noChangeAspect="1" noMove="1" noResize="1" noEditPoints="1" noAdjustHandles="1" noChangeArrowheads="1" noChangeShapeType="1" noTextEdit="1"/>
              </p:cNvSpPr>
              <p:nvPr/>
            </p:nvSpPr>
            <p:spPr>
              <a:xfrm>
                <a:off x="1285649" y="2961060"/>
                <a:ext cx="421105" cy="391027"/>
              </a:xfrm>
              <a:prstGeom prst="ellipse">
                <a:avLst/>
              </a:prstGeom>
              <a:blipFill>
                <a:blip r:embed="rId4"/>
                <a:stretch>
                  <a:fillRect l="-14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椭圆 29">
                <a:extLst>
                  <a:ext uri="{FF2B5EF4-FFF2-40B4-BE49-F238E27FC236}">
                    <a16:creationId xmlns:a16="http://schemas.microsoft.com/office/drawing/2014/main" id="{AD10A406-73BB-104C-A436-1ED7D6BEEBEE}"/>
                  </a:ext>
                </a:extLst>
              </p:cNvPr>
              <p:cNvSpPr/>
              <p:nvPr/>
            </p:nvSpPr>
            <p:spPr>
              <a:xfrm>
                <a:off x="1285651" y="3535742"/>
                <a:ext cx="421105" cy="391027"/>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zh-CN"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𝐴</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sub>
                      </m:sSub>
                    </m:oMath>
                  </m:oMathPara>
                </a14:m>
                <a:endParaRPr lang="zh-CN" altLang="en-US" dirty="0"/>
              </a:p>
            </p:txBody>
          </p:sp>
        </mc:Choice>
        <mc:Fallback xmlns="">
          <p:sp>
            <p:nvSpPr>
              <p:cNvPr id="30" name="椭圆 29">
                <a:extLst>
                  <a:ext uri="{FF2B5EF4-FFF2-40B4-BE49-F238E27FC236}">
                    <a16:creationId xmlns:a16="http://schemas.microsoft.com/office/drawing/2014/main" id="{AD10A406-73BB-104C-A436-1ED7D6BEEBEE}"/>
                  </a:ext>
                </a:extLst>
              </p:cNvPr>
              <p:cNvSpPr>
                <a:spLocks noRot="1" noChangeAspect="1" noMove="1" noResize="1" noEditPoints="1" noAdjustHandles="1" noChangeArrowheads="1" noChangeShapeType="1" noTextEdit="1"/>
              </p:cNvSpPr>
              <p:nvPr/>
            </p:nvSpPr>
            <p:spPr>
              <a:xfrm>
                <a:off x="1285651" y="3535742"/>
                <a:ext cx="421105" cy="391027"/>
              </a:xfrm>
              <a:prstGeom prst="ellipse">
                <a:avLst/>
              </a:prstGeom>
              <a:blipFill>
                <a:blip r:embed="rId5"/>
                <a:stretch>
                  <a:fillRect l="-14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椭圆 31">
                <a:extLst>
                  <a:ext uri="{FF2B5EF4-FFF2-40B4-BE49-F238E27FC236}">
                    <a16:creationId xmlns:a16="http://schemas.microsoft.com/office/drawing/2014/main" id="{1042B260-5376-071C-811B-A93E342465E5}"/>
                  </a:ext>
                </a:extLst>
              </p:cNvPr>
              <p:cNvSpPr/>
              <p:nvPr/>
            </p:nvSpPr>
            <p:spPr>
              <a:xfrm>
                <a:off x="1285648" y="4110424"/>
                <a:ext cx="421105" cy="391027"/>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zh-CN"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𝐴</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sub>
                      </m:sSub>
                    </m:oMath>
                  </m:oMathPara>
                </a14:m>
                <a:endParaRPr lang="zh-CN" altLang="en-US" dirty="0"/>
              </a:p>
            </p:txBody>
          </p:sp>
        </mc:Choice>
        <mc:Fallback xmlns="">
          <p:sp>
            <p:nvSpPr>
              <p:cNvPr id="32" name="椭圆 31">
                <a:extLst>
                  <a:ext uri="{FF2B5EF4-FFF2-40B4-BE49-F238E27FC236}">
                    <a16:creationId xmlns:a16="http://schemas.microsoft.com/office/drawing/2014/main" id="{1042B260-5376-071C-811B-A93E342465E5}"/>
                  </a:ext>
                </a:extLst>
              </p:cNvPr>
              <p:cNvSpPr>
                <a:spLocks noRot="1" noChangeAspect="1" noMove="1" noResize="1" noEditPoints="1" noAdjustHandles="1" noChangeArrowheads="1" noChangeShapeType="1" noTextEdit="1"/>
              </p:cNvSpPr>
              <p:nvPr/>
            </p:nvSpPr>
            <p:spPr>
              <a:xfrm>
                <a:off x="1285648" y="4110424"/>
                <a:ext cx="421105" cy="391027"/>
              </a:xfrm>
              <a:prstGeom prst="ellipse">
                <a:avLst/>
              </a:prstGeom>
              <a:blipFill>
                <a:blip r:embed="rId6"/>
                <a:stretch>
                  <a:fillRect l="-14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椭圆 32">
                <a:extLst>
                  <a:ext uri="{FF2B5EF4-FFF2-40B4-BE49-F238E27FC236}">
                    <a16:creationId xmlns:a16="http://schemas.microsoft.com/office/drawing/2014/main" id="{CFE380CB-556F-D37F-7187-2B7F54D708B1}"/>
                  </a:ext>
                </a:extLst>
              </p:cNvPr>
              <p:cNvSpPr/>
              <p:nvPr/>
            </p:nvSpPr>
            <p:spPr>
              <a:xfrm>
                <a:off x="2230098" y="2310394"/>
                <a:ext cx="421105" cy="391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m:t>
                          </m:r>
                        </m:sub>
                      </m:sSub>
                    </m:oMath>
                  </m:oMathPara>
                </a14:m>
                <a:endParaRPr lang="zh-CN" altLang="en-US" dirty="0"/>
              </a:p>
            </p:txBody>
          </p:sp>
        </mc:Choice>
        <mc:Fallback xmlns="">
          <p:sp>
            <p:nvSpPr>
              <p:cNvPr id="33" name="椭圆 32">
                <a:extLst>
                  <a:ext uri="{FF2B5EF4-FFF2-40B4-BE49-F238E27FC236}">
                    <a16:creationId xmlns:a16="http://schemas.microsoft.com/office/drawing/2014/main" id="{CFE380CB-556F-D37F-7187-2B7F54D708B1}"/>
                  </a:ext>
                </a:extLst>
              </p:cNvPr>
              <p:cNvSpPr>
                <a:spLocks noRot="1" noChangeAspect="1" noMove="1" noResize="1" noEditPoints="1" noAdjustHandles="1" noChangeArrowheads="1" noChangeShapeType="1" noTextEdit="1"/>
              </p:cNvSpPr>
              <p:nvPr/>
            </p:nvSpPr>
            <p:spPr>
              <a:xfrm>
                <a:off x="2230098" y="2310394"/>
                <a:ext cx="421105" cy="391027"/>
              </a:xfrm>
              <a:prstGeom prst="ellipse">
                <a:avLst/>
              </a:prstGeom>
              <a:blipFill>
                <a:blip r:embed="rId7"/>
                <a:stretch>
                  <a:fillRect l="-1690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椭圆 34">
                <a:extLst>
                  <a:ext uri="{FF2B5EF4-FFF2-40B4-BE49-F238E27FC236}">
                    <a16:creationId xmlns:a16="http://schemas.microsoft.com/office/drawing/2014/main" id="{9F924610-1324-60C7-E7D8-F7DA73866779}"/>
                  </a:ext>
                </a:extLst>
              </p:cNvPr>
              <p:cNvSpPr/>
              <p:nvPr/>
            </p:nvSpPr>
            <p:spPr>
              <a:xfrm>
                <a:off x="2230098" y="2841789"/>
                <a:ext cx="421105" cy="391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+1</m:t>
                          </m:r>
                        </m:sub>
                      </m:sSub>
                    </m:oMath>
                  </m:oMathPara>
                </a14:m>
                <a:endParaRPr lang="zh-CN" altLang="en-US" dirty="0"/>
              </a:p>
            </p:txBody>
          </p:sp>
        </mc:Choice>
        <mc:Fallback xmlns="">
          <p:sp>
            <p:nvSpPr>
              <p:cNvPr id="35" name="椭圆 34">
                <a:extLst>
                  <a:ext uri="{FF2B5EF4-FFF2-40B4-BE49-F238E27FC236}">
                    <a16:creationId xmlns:a16="http://schemas.microsoft.com/office/drawing/2014/main" id="{9F924610-1324-60C7-E7D8-F7DA73866779}"/>
                  </a:ext>
                </a:extLst>
              </p:cNvPr>
              <p:cNvSpPr>
                <a:spLocks noRot="1" noChangeAspect="1" noMove="1" noResize="1" noEditPoints="1" noAdjustHandles="1" noChangeArrowheads="1" noChangeShapeType="1" noTextEdit="1"/>
              </p:cNvSpPr>
              <p:nvPr/>
            </p:nvSpPr>
            <p:spPr>
              <a:xfrm>
                <a:off x="2230098" y="2841789"/>
                <a:ext cx="421105" cy="391027"/>
              </a:xfrm>
              <a:prstGeom prst="ellipse">
                <a:avLst/>
              </a:prstGeom>
              <a:blipFill>
                <a:blip r:embed="rId8"/>
                <a:stretch>
                  <a:fillRect l="-22535" r="-28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椭圆 35">
                <a:extLst>
                  <a:ext uri="{FF2B5EF4-FFF2-40B4-BE49-F238E27FC236}">
                    <a16:creationId xmlns:a16="http://schemas.microsoft.com/office/drawing/2014/main" id="{E9DDEBBB-A350-85EB-9026-701D7ECD64C1}"/>
                  </a:ext>
                </a:extLst>
              </p:cNvPr>
              <p:cNvSpPr/>
              <p:nvPr/>
            </p:nvSpPr>
            <p:spPr>
              <a:xfrm>
                <a:off x="2230097" y="3373184"/>
                <a:ext cx="421105" cy="391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+1</m:t>
                          </m:r>
                        </m:sub>
                      </m:sSub>
                    </m:oMath>
                  </m:oMathPara>
                </a14:m>
                <a:endParaRPr lang="zh-CN" altLang="en-US" dirty="0"/>
              </a:p>
            </p:txBody>
          </p:sp>
        </mc:Choice>
        <mc:Fallback xmlns="">
          <p:sp>
            <p:nvSpPr>
              <p:cNvPr id="36" name="椭圆 35">
                <a:extLst>
                  <a:ext uri="{FF2B5EF4-FFF2-40B4-BE49-F238E27FC236}">
                    <a16:creationId xmlns:a16="http://schemas.microsoft.com/office/drawing/2014/main" id="{E9DDEBBB-A350-85EB-9026-701D7ECD64C1}"/>
                  </a:ext>
                </a:extLst>
              </p:cNvPr>
              <p:cNvSpPr>
                <a:spLocks noRot="1" noChangeAspect="1" noMove="1" noResize="1" noEditPoints="1" noAdjustHandles="1" noChangeArrowheads="1" noChangeShapeType="1" noTextEdit="1"/>
              </p:cNvSpPr>
              <p:nvPr/>
            </p:nvSpPr>
            <p:spPr>
              <a:xfrm>
                <a:off x="2230097" y="3373184"/>
                <a:ext cx="421105" cy="391027"/>
              </a:xfrm>
              <a:prstGeom prst="ellipse">
                <a:avLst/>
              </a:prstGeom>
              <a:blipFill>
                <a:blip r:embed="rId9"/>
                <a:stretch>
                  <a:fillRect l="-22535" r="-28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椭圆 37">
                <a:extLst>
                  <a:ext uri="{FF2B5EF4-FFF2-40B4-BE49-F238E27FC236}">
                    <a16:creationId xmlns:a16="http://schemas.microsoft.com/office/drawing/2014/main" id="{6E63B28A-3293-704B-B241-4B067947EED5}"/>
                  </a:ext>
                </a:extLst>
              </p:cNvPr>
              <p:cNvSpPr/>
              <p:nvPr/>
            </p:nvSpPr>
            <p:spPr>
              <a:xfrm>
                <a:off x="2230096" y="3908894"/>
                <a:ext cx="421105" cy="391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+1</m:t>
                          </m:r>
                        </m:sub>
                      </m:sSub>
                    </m:oMath>
                  </m:oMathPara>
                </a14:m>
                <a:endParaRPr lang="zh-CN" altLang="en-US" dirty="0"/>
              </a:p>
            </p:txBody>
          </p:sp>
        </mc:Choice>
        <mc:Fallback xmlns="">
          <p:sp>
            <p:nvSpPr>
              <p:cNvPr id="38" name="椭圆 37">
                <a:extLst>
                  <a:ext uri="{FF2B5EF4-FFF2-40B4-BE49-F238E27FC236}">
                    <a16:creationId xmlns:a16="http://schemas.microsoft.com/office/drawing/2014/main" id="{6E63B28A-3293-704B-B241-4B067947EED5}"/>
                  </a:ext>
                </a:extLst>
              </p:cNvPr>
              <p:cNvSpPr>
                <a:spLocks noRot="1" noChangeAspect="1" noMove="1" noResize="1" noEditPoints="1" noAdjustHandles="1" noChangeArrowheads="1" noChangeShapeType="1" noTextEdit="1"/>
              </p:cNvSpPr>
              <p:nvPr/>
            </p:nvSpPr>
            <p:spPr>
              <a:xfrm>
                <a:off x="2230096" y="3908894"/>
                <a:ext cx="421105" cy="391027"/>
              </a:xfrm>
              <a:prstGeom prst="ellipse">
                <a:avLst/>
              </a:prstGeom>
              <a:blipFill>
                <a:blip r:embed="rId10"/>
                <a:stretch>
                  <a:fillRect l="-22535" r="-28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椭圆 38">
                <a:extLst>
                  <a:ext uri="{FF2B5EF4-FFF2-40B4-BE49-F238E27FC236}">
                    <a16:creationId xmlns:a16="http://schemas.microsoft.com/office/drawing/2014/main" id="{A47EDFA8-2C61-7E88-D049-1F54ACC637D7}"/>
                  </a:ext>
                </a:extLst>
              </p:cNvPr>
              <p:cNvSpPr/>
              <p:nvPr/>
            </p:nvSpPr>
            <p:spPr>
              <a:xfrm>
                <a:off x="2230096" y="4435974"/>
                <a:ext cx="421105" cy="391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m:t>
                          </m:r>
                        </m:sub>
                      </m:sSub>
                    </m:oMath>
                  </m:oMathPara>
                </a14:m>
                <a:endParaRPr lang="zh-CN" altLang="en-US" dirty="0"/>
              </a:p>
            </p:txBody>
          </p:sp>
        </mc:Choice>
        <mc:Fallback xmlns="">
          <p:sp>
            <p:nvSpPr>
              <p:cNvPr id="39" name="椭圆 38">
                <a:extLst>
                  <a:ext uri="{FF2B5EF4-FFF2-40B4-BE49-F238E27FC236}">
                    <a16:creationId xmlns:a16="http://schemas.microsoft.com/office/drawing/2014/main" id="{A47EDFA8-2C61-7E88-D049-1F54ACC637D7}"/>
                  </a:ext>
                </a:extLst>
              </p:cNvPr>
              <p:cNvSpPr>
                <a:spLocks noRot="1" noChangeAspect="1" noMove="1" noResize="1" noEditPoints="1" noAdjustHandles="1" noChangeArrowheads="1" noChangeShapeType="1" noTextEdit="1"/>
              </p:cNvSpPr>
              <p:nvPr/>
            </p:nvSpPr>
            <p:spPr>
              <a:xfrm>
                <a:off x="2230096" y="4435974"/>
                <a:ext cx="421105" cy="391027"/>
              </a:xfrm>
              <a:prstGeom prst="ellipse">
                <a:avLst/>
              </a:prstGeom>
              <a:blipFill>
                <a:blip r:embed="rId11"/>
                <a:stretch>
                  <a:fillRect l="-1690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椭圆 40">
                <a:extLst>
                  <a:ext uri="{FF2B5EF4-FFF2-40B4-BE49-F238E27FC236}">
                    <a16:creationId xmlns:a16="http://schemas.microsoft.com/office/drawing/2014/main" id="{3F706AAF-E26D-801C-A0CA-76DADBE14708}"/>
                  </a:ext>
                </a:extLst>
              </p:cNvPr>
              <p:cNvSpPr/>
              <p:nvPr/>
            </p:nvSpPr>
            <p:spPr>
              <a:xfrm>
                <a:off x="2230096" y="4972555"/>
                <a:ext cx="421105" cy="391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+1</m:t>
                          </m:r>
                        </m:sub>
                      </m:sSub>
                    </m:oMath>
                  </m:oMathPara>
                </a14:m>
                <a:endParaRPr lang="zh-CN" altLang="en-US" dirty="0"/>
              </a:p>
            </p:txBody>
          </p:sp>
        </mc:Choice>
        <mc:Fallback xmlns="">
          <p:sp>
            <p:nvSpPr>
              <p:cNvPr id="41" name="椭圆 40">
                <a:extLst>
                  <a:ext uri="{FF2B5EF4-FFF2-40B4-BE49-F238E27FC236}">
                    <a16:creationId xmlns:a16="http://schemas.microsoft.com/office/drawing/2014/main" id="{3F706AAF-E26D-801C-A0CA-76DADBE14708}"/>
                  </a:ext>
                </a:extLst>
              </p:cNvPr>
              <p:cNvSpPr>
                <a:spLocks noRot="1" noChangeAspect="1" noMove="1" noResize="1" noEditPoints="1" noAdjustHandles="1" noChangeArrowheads="1" noChangeShapeType="1" noTextEdit="1"/>
              </p:cNvSpPr>
              <p:nvPr/>
            </p:nvSpPr>
            <p:spPr>
              <a:xfrm>
                <a:off x="2230096" y="4972555"/>
                <a:ext cx="421105" cy="391027"/>
              </a:xfrm>
              <a:prstGeom prst="ellipse">
                <a:avLst/>
              </a:prstGeom>
              <a:blipFill>
                <a:blip r:embed="rId12"/>
                <a:stretch>
                  <a:fillRect l="-22535" r="-28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椭圆 41">
                <a:extLst>
                  <a:ext uri="{FF2B5EF4-FFF2-40B4-BE49-F238E27FC236}">
                    <a16:creationId xmlns:a16="http://schemas.microsoft.com/office/drawing/2014/main" id="{2919B42D-1F45-1CD3-828A-5685E5A27DF1}"/>
                  </a:ext>
                </a:extLst>
              </p:cNvPr>
              <p:cNvSpPr/>
              <p:nvPr/>
            </p:nvSpPr>
            <p:spPr>
              <a:xfrm>
                <a:off x="3320991" y="1683445"/>
                <a:ext cx="421105" cy="391027"/>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zh-CN"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𝐴</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+1</m:t>
                          </m:r>
                        </m:sub>
                      </m:sSub>
                    </m:oMath>
                  </m:oMathPara>
                </a14:m>
                <a:endParaRPr lang="zh-CN" altLang="en-US" dirty="0"/>
              </a:p>
            </p:txBody>
          </p:sp>
        </mc:Choice>
        <mc:Fallback xmlns="">
          <p:sp>
            <p:nvSpPr>
              <p:cNvPr id="42" name="椭圆 41">
                <a:extLst>
                  <a:ext uri="{FF2B5EF4-FFF2-40B4-BE49-F238E27FC236}">
                    <a16:creationId xmlns:a16="http://schemas.microsoft.com/office/drawing/2014/main" id="{2919B42D-1F45-1CD3-828A-5685E5A27DF1}"/>
                  </a:ext>
                </a:extLst>
              </p:cNvPr>
              <p:cNvSpPr>
                <a:spLocks noRot="1" noChangeAspect="1" noMove="1" noResize="1" noEditPoints="1" noAdjustHandles="1" noChangeArrowheads="1" noChangeShapeType="1" noTextEdit="1"/>
              </p:cNvSpPr>
              <p:nvPr/>
            </p:nvSpPr>
            <p:spPr>
              <a:xfrm>
                <a:off x="3320991" y="1683445"/>
                <a:ext cx="421105" cy="391027"/>
              </a:xfrm>
              <a:prstGeom prst="ellipse">
                <a:avLst/>
              </a:prstGeom>
              <a:blipFill>
                <a:blip r:embed="rId13"/>
                <a:stretch>
                  <a:fillRect l="-26761" r="-563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椭圆 43">
                <a:extLst>
                  <a:ext uri="{FF2B5EF4-FFF2-40B4-BE49-F238E27FC236}">
                    <a16:creationId xmlns:a16="http://schemas.microsoft.com/office/drawing/2014/main" id="{0806420B-B524-3071-9A33-BB951CFF0EF4}"/>
                  </a:ext>
                </a:extLst>
              </p:cNvPr>
              <p:cNvSpPr/>
              <p:nvPr/>
            </p:nvSpPr>
            <p:spPr>
              <a:xfrm>
                <a:off x="3320993" y="2258127"/>
                <a:ext cx="421105" cy="391027"/>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zh-CN"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𝐴</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+1</m:t>
                          </m:r>
                        </m:sub>
                      </m:sSub>
                    </m:oMath>
                  </m:oMathPara>
                </a14:m>
                <a:endParaRPr lang="zh-CN" altLang="en-US" dirty="0"/>
              </a:p>
            </p:txBody>
          </p:sp>
        </mc:Choice>
        <mc:Fallback xmlns="">
          <p:sp>
            <p:nvSpPr>
              <p:cNvPr id="44" name="椭圆 43">
                <a:extLst>
                  <a:ext uri="{FF2B5EF4-FFF2-40B4-BE49-F238E27FC236}">
                    <a16:creationId xmlns:a16="http://schemas.microsoft.com/office/drawing/2014/main" id="{0806420B-B524-3071-9A33-BB951CFF0EF4}"/>
                  </a:ext>
                </a:extLst>
              </p:cNvPr>
              <p:cNvSpPr>
                <a:spLocks noRot="1" noChangeAspect="1" noMove="1" noResize="1" noEditPoints="1" noAdjustHandles="1" noChangeArrowheads="1" noChangeShapeType="1" noTextEdit="1"/>
              </p:cNvSpPr>
              <p:nvPr/>
            </p:nvSpPr>
            <p:spPr>
              <a:xfrm>
                <a:off x="3320993" y="2258127"/>
                <a:ext cx="421105" cy="391027"/>
              </a:xfrm>
              <a:prstGeom prst="ellipse">
                <a:avLst/>
              </a:prstGeom>
              <a:blipFill>
                <a:blip r:embed="rId14"/>
                <a:stretch>
                  <a:fillRect l="-26761" r="-563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椭圆 44">
                <a:extLst>
                  <a:ext uri="{FF2B5EF4-FFF2-40B4-BE49-F238E27FC236}">
                    <a16:creationId xmlns:a16="http://schemas.microsoft.com/office/drawing/2014/main" id="{80C5585F-23E3-31B0-31D2-D86D5F5E53C4}"/>
                  </a:ext>
                </a:extLst>
              </p:cNvPr>
              <p:cNvSpPr/>
              <p:nvPr/>
            </p:nvSpPr>
            <p:spPr>
              <a:xfrm>
                <a:off x="3320990" y="2832809"/>
                <a:ext cx="421105" cy="391027"/>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zh-CN"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𝐴</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+1</m:t>
                          </m:r>
                        </m:sub>
                      </m:sSub>
                    </m:oMath>
                  </m:oMathPara>
                </a14:m>
                <a:endParaRPr lang="zh-CN" altLang="en-US" dirty="0"/>
              </a:p>
            </p:txBody>
          </p:sp>
        </mc:Choice>
        <mc:Fallback xmlns="">
          <p:sp>
            <p:nvSpPr>
              <p:cNvPr id="45" name="椭圆 44">
                <a:extLst>
                  <a:ext uri="{FF2B5EF4-FFF2-40B4-BE49-F238E27FC236}">
                    <a16:creationId xmlns:a16="http://schemas.microsoft.com/office/drawing/2014/main" id="{80C5585F-23E3-31B0-31D2-D86D5F5E53C4}"/>
                  </a:ext>
                </a:extLst>
              </p:cNvPr>
              <p:cNvSpPr>
                <a:spLocks noRot="1" noChangeAspect="1" noMove="1" noResize="1" noEditPoints="1" noAdjustHandles="1" noChangeArrowheads="1" noChangeShapeType="1" noTextEdit="1"/>
              </p:cNvSpPr>
              <p:nvPr/>
            </p:nvSpPr>
            <p:spPr>
              <a:xfrm>
                <a:off x="3320990" y="2832809"/>
                <a:ext cx="421105" cy="391027"/>
              </a:xfrm>
              <a:prstGeom prst="ellipse">
                <a:avLst/>
              </a:prstGeom>
              <a:blipFill>
                <a:blip r:embed="rId15"/>
                <a:stretch>
                  <a:fillRect l="-26761" r="-5634"/>
                </a:stretch>
              </a:blipFill>
            </p:spPr>
            <p:txBody>
              <a:bodyPr/>
              <a:lstStyle/>
              <a:p>
                <a:r>
                  <a:rPr lang="zh-CN" altLang="en-US">
                    <a:noFill/>
                  </a:rPr>
                  <a:t> </a:t>
                </a:r>
              </a:p>
            </p:txBody>
          </p:sp>
        </mc:Fallback>
      </mc:AlternateContent>
      <p:cxnSp>
        <p:nvCxnSpPr>
          <p:cNvPr id="47" name="直接箭头连接符 46">
            <a:extLst>
              <a:ext uri="{FF2B5EF4-FFF2-40B4-BE49-F238E27FC236}">
                <a16:creationId xmlns:a16="http://schemas.microsoft.com/office/drawing/2014/main" id="{35D0711B-D3EA-F343-394E-17F26557D8BF}"/>
              </a:ext>
            </a:extLst>
          </p:cNvPr>
          <p:cNvCxnSpPr>
            <a:stCxn id="26" idx="6"/>
            <a:endCxn id="29" idx="2"/>
          </p:cNvCxnSpPr>
          <p:nvPr/>
        </p:nvCxnSpPr>
        <p:spPr>
          <a:xfrm flipV="1">
            <a:off x="663988" y="3156574"/>
            <a:ext cx="621661" cy="574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5E83ED19-B710-1F63-C260-FF499A29A2CF}"/>
              </a:ext>
            </a:extLst>
          </p:cNvPr>
          <p:cNvCxnSpPr>
            <a:cxnSpLocks/>
            <a:stCxn id="26" idx="6"/>
            <a:endCxn id="30" idx="2"/>
          </p:cNvCxnSpPr>
          <p:nvPr/>
        </p:nvCxnSpPr>
        <p:spPr>
          <a:xfrm>
            <a:off x="663988" y="3731256"/>
            <a:ext cx="6216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2FE27151-D0E1-1ACF-4FB3-BBF2423E4360}"/>
              </a:ext>
            </a:extLst>
          </p:cNvPr>
          <p:cNvCxnSpPr>
            <a:cxnSpLocks/>
            <a:stCxn id="26" idx="6"/>
            <a:endCxn id="32" idx="2"/>
          </p:cNvCxnSpPr>
          <p:nvPr/>
        </p:nvCxnSpPr>
        <p:spPr>
          <a:xfrm>
            <a:off x="663988" y="3731256"/>
            <a:ext cx="621660" cy="574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F4FB26E5-87F4-154B-FCC2-C185EC72EF42}"/>
              </a:ext>
            </a:extLst>
          </p:cNvPr>
          <p:cNvCxnSpPr>
            <a:cxnSpLocks/>
            <a:stCxn id="29" idx="6"/>
            <a:endCxn id="33" idx="2"/>
          </p:cNvCxnSpPr>
          <p:nvPr/>
        </p:nvCxnSpPr>
        <p:spPr>
          <a:xfrm flipV="1">
            <a:off x="1706754" y="2505908"/>
            <a:ext cx="523344" cy="650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a:extLst>
              <a:ext uri="{FF2B5EF4-FFF2-40B4-BE49-F238E27FC236}">
                <a16:creationId xmlns:a16="http://schemas.microsoft.com/office/drawing/2014/main" id="{5230A36D-2F13-D2B0-6076-2F4A06820997}"/>
              </a:ext>
            </a:extLst>
          </p:cNvPr>
          <p:cNvCxnSpPr>
            <a:cxnSpLocks/>
            <a:stCxn id="29" idx="6"/>
            <a:endCxn id="35" idx="2"/>
          </p:cNvCxnSpPr>
          <p:nvPr/>
        </p:nvCxnSpPr>
        <p:spPr>
          <a:xfrm flipV="1">
            <a:off x="1706754" y="3037303"/>
            <a:ext cx="523344" cy="1192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33CC1DAE-AFCA-5428-9DEC-F98B2936EC61}"/>
              </a:ext>
            </a:extLst>
          </p:cNvPr>
          <p:cNvCxnSpPr>
            <a:cxnSpLocks/>
            <a:stCxn id="30" idx="6"/>
            <a:endCxn id="36" idx="2"/>
          </p:cNvCxnSpPr>
          <p:nvPr/>
        </p:nvCxnSpPr>
        <p:spPr>
          <a:xfrm flipV="1">
            <a:off x="1706756" y="3568698"/>
            <a:ext cx="523341" cy="1625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BCC2EEC1-B69F-9962-2477-B9D16E5DFEB6}"/>
              </a:ext>
            </a:extLst>
          </p:cNvPr>
          <p:cNvCxnSpPr>
            <a:cxnSpLocks/>
            <a:stCxn id="30" idx="6"/>
            <a:endCxn id="38" idx="2"/>
          </p:cNvCxnSpPr>
          <p:nvPr/>
        </p:nvCxnSpPr>
        <p:spPr>
          <a:xfrm>
            <a:off x="1706756" y="3731256"/>
            <a:ext cx="523340" cy="3731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CD88131C-1B8E-2F56-904A-0857711EB62F}"/>
              </a:ext>
            </a:extLst>
          </p:cNvPr>
          <p:cNvCxnSpPr>
            <a:cxnSpLocks/>
            <a:stCxn id="32" idx="6"/>
            <a:endCxn id="39" idx="2"/>
          </p:cNvCxnSpPr>
          <p:nvPr/>
        </p:nvCxnSpPr>
        <p:spPr>
          <a:xfrm>
            <a:off x="1706753" y="4305938"/>
            <a:ext cx="523343" cy="3255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9C9F720E-8E96-908E-64F8-551FD6318A9A}"/>
              </a:ext>
            </a:extLst>
          </p:cNvPr>
          <p:cNvCxnSpPr>
            <a:cxnSpLocks/>
            <a:stCxn id="32" idx="6"/>
            <a:endCxn id="41" idx="2"/>
          </p:cNvCxnSpPr>
          <p:nvPr/>
        </p:nvCxnSpPr>
        <p:spPr>
          <a:xfrm>
            <a:off x="1706753" y="4305938"/>
            <a:ext cx="523343" cy="8621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3823D860-F65B-D864-723D-144092420136}"/>
              </a:ext>
            </a:extLst>
          </p:cNvPr>
          <p:cNvCxnSpPr>
            <a:cxnSpLocks/>
            <a:stCxn id="33" idx="6"/>
            <a:endCxn id="42" idx="2"/>
          </p:cNvCxnSpPr>
          <p:nvPr/>
        </p:nvCxnSpPr>
        <p:spPr>
          <a:xfrm flipV="1">
            <a:off x="2651203" y="1878959"/>
            <a:ext cx="669788" cy="6269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A2AF99DE-23BE-4C48-0039-36D735B848FD}"/>
              </a:ext>
            </a:extLst>
          </p:cNvPr>
          <p:cNvCxnSpPr>
            <a:cxnSpLocks/>
            <a:stCxn id="33" idx="6"/>
          </p:cNvCxnSpPr>
          <p:nvPr/>
        </p:nvCxnSpPr>
        <p:spPr>
          <a:xfrm flipV="1">
            <a:off x="2651203" y="2467155"/>
            <a:ext cx="669787" cy="387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0661963B-C8FA-243F-EFE8-FC3FF508A91A}"/>
              </a:ext>
            </a:extLst>
          </p:cNvPr>
          <p:cNvCxnSpPr>
            <a:cxnSpLocks/>
            <a:stCxn id="33" idx="6"/>
            <a:endCxn id="45" idx="2"/>
          </p:cNvCxnSpPr>
          <p:nvPr/>
        </p:nvCxnSpPr>
        <p:spPr>
          <a:xfrm>
            <a:off x="2651203" y="2505908"/>
            <a:ext cx="669787" cy="5224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6" name="文本框 65">
                <a:extLst>
                  <a:ext uri="{FF2B5EF4-FFF2-40B4-BE49-F238E27FC236}">
                    <a16:creationId xmlns:a16="http://schemas.microsoft.com/office/drawing/2014/main" id="{1CE7C459-EF8D-7FDC-68F5-0622A4647FEA}"/>
                  </a:ext>
                </a:extLst>
              </p:cNvPr>
              <p:cNvSpPr txBox="1"/>
              <p:nvPr/>
            </p:nvSpPr>
            <p:spPr>
              <a:xfrm>
                <a:off x="663986" y="3121349"/>
                <a:ext cx="42110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smtClean="0">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𝜋</m:t>
                      </m:r>
                    </m:oMath>
                  </m:oMathPara>
                </a14:m>
                <a:endParaRPr lang="zh-CN" altLang="en-US" dirty="0"/>
              </a:p>
            </p:txBody>
          </p:sp>
        </mc:Choice>
        <mc:Fallback xmlns="">
          <p:sp>
            <p:nvSpPr>
              <p:cNvPr id="66" name="文本框 65">
                <a:extLst>
                  <a:ext uri="{FF2B5EF4-FFF2-40B4-BE49-F238E27FC236}">
                    <a16:creationId xmlns:a16="http://schemas.microsoft.com/office/drawing/2014/main" id="{1CE7C459-EF8D-7FDC-68F5-0622A4647FEA}"/>
                  </a:ext>
                </a:extLst>
              </p:cNvPr>
              <p:cNvSpPr txBox="1">
                <a:spLocks noRot="1" noChangeAspect="1" noMove="1" noResize="1" noEditPoints="1" noAdjustHandles="1" noChangeArrowheads="1" noChangeShapeType="1" noTextEdit="1"/>
              </p:cNvSpPr>
              <p:nvPr/>
            </p:nvSpPr>
            <p:spPr>
              <a:xfrm>
                <a:off x="663986" y="3121349"/>
                <a:ext cx="421105" cy="369332"/>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文本框 68">
                <a:extLst>
                  <a:ext uri="{FF2B5EF4-FFF2-40B4-BE49-F238E27FC236}">
                    <a16:creationId xmlns:a16="http://schemas.microsoft.com/office/drawing/2014/main" id="{7192F9B4-DC9C-A149-82E9-31D07290573F}"/>
                  </a:ext>
                </a:extLst>
              </p:cNvPr>
              <p:cNvSpPr txBox="1"/>
              <p:nvPr/>
            </p:nvSpPr>
            <p:spPr>
              <a:xfrm>
                <a:off x="1684652" y="2506548"/>
                <a:ext cx="42110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𝑃</m:t>
                      </m:r>
                    </m:oMath>
                  </m:oMathPara>
                </a14:m>
                <a:endParaRPr lang="zh-CN" altLang="en-US" dirty="0"/>
              </a:p>
            </p:txBody>
          </p:sp>
        </mc:Choice>
        <mc:Fallback xmlns="">
          <p:sp>
            <p:nvSpPr>
              <p:cNvPr id="69" name="文本框 68">
                <a:extLst>
                  <a:ext uri="{FF2B5EF4-FFF2-40B4-BE49-F238E27FC236}">
                    <a16:creationId xmlns:a16="http://schemas.microsoft.com/office/drawing/2014/main" id="{7192F9B4-DC9C-A149-82E9-31D07290573F}"/>
                  </a:ext>
                </a:extLst>
              </p:cNvPr>
              <p:cNvSpPr txBox="1">
                <a:spLocks noRot="1" noChangeAspect="1" noMove="1" noResize="1" noEditPoints="1" noAdjustHandles="1" noChangeArrowheads="1" noChangeShapeType="1" noTextEdit="1"/>
              </p:cNvSpPr>
              <p:nvPr/>
            </p:nvSpPr>
            <p:spPr>
              <a:xfrm>
                <a:off x="1684652" y="2506548"/>
                <a:ext cx="421105" cy="369332"/>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文本框 69">
                <a:extLst>
                  <a:ext uri="{FF2B5EF4-FFF2-40B4-BE49-F238E27FC236}">
                    <a16:creationId xmlns:a16="http://schemas.microsoft.com/office/drawing/2014/main" id="{C336E68D-F9D7-6DD2-534D-62AC9F1F7467}"/>
                  </a:ext>
                </a:extLst>
              </p:cNvPr>
              <p:cNvSpPr txBox="1"/>
              <p:nvPr/>
            </p:nvSpPr>
            <p:spPr>
              <a:xfrm>
                <a:off x="2775543" y="1817593"/>
                <a:ext cx="42110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smtClean="0">
                          <a:solidFill>
                            <a:schemeClr val="tx1"/>
                          </a:solidFill>
                          <a:latin typeface="Cambria Math" panose="02040503050406030204" pitchFamily="18" charset="0"/>
                          <a:ea typeface="微软雅黑" panose="020B0503020204020204" pitchFamily="34" charset="-122"/>
                          <a:cs typeface="Times New Roman" panose="02020603050405020304" pitchFamily="18" charset="0"/>
                        </a:rPr>
                        <m:t>𝜋</m:t>
                      </m:r>
                    </m:oMath>
                  </m:oMathPara>
                </a14:m>
                <a:endParaRPr lang="zh-CN" altLang="en-US" dirty="0"/>
              </a:p>
            </p:txBody>
          </p:sp>
        </mc:Choice>
        <mc:Fallback xmlns="">
          <p:sp>
            <p:nvSpPr>
              <p:cNvPr id="70" name="文本框 69">
                <a:extLst>
                  <a:ext uri="{FF2B5EF4-FFF2-40B4-BE49-F238E27FC236}">
                    <a16:creationId xmlns:a16="http://schemas.microsoft.com/office/drawing/2014/main" id="{C336E68D-F9D7-6DD2-534D-62AC9F1F7467}"/>
                  </a:ext>
                </a:extLst>
              </p:cNvPr>
              <p:cNvSpPr txBox="1">
                <a:spLocks noRot="1" noChangeAspect="1" noMove="1" noResize="1" noEditPoints="1" noAdjustHandles="1" noChangeArrowheads="1" noChangeShapeType="1" noTextEdit="1"/>
              </p:cNvSpPr>
              <p:nvPr/>
            </p:nvSpPr>
            <p:spPr>
              <a:xfrm>
                <a:off x="2775543" y="1817593"/>
                <a:ext cx="421105" cy="369332"/>
              </a:xfrm>
              <a:prstGeom prst="rect">
                <a:avLst/>
              </a:prstGeom>
              <a:blipFill>
                <a:blip r:embed="rId18"/>
                <a:stretch>
                  <a:fillRect/>
                </a:stretch>
              </a:blipFill>
            </p:spPr>
            <p:txBody>
              <a:bodyPr/>
              <a:lstStyle/>
              <a:p>
                <a:r>
                  <a:rPr lang="zh-CN" altLang="en-US">
                    <a:noFill/>
                  </a:rPr>
                  <a:t> </a:t>
                </a:r>
              </a:p>
            </p:txBody>
          </p:sp>
        </mc:Fallback>
      </mc:AlternateContent>
      <p:sp>
        <p:nvSpPr>
          <p:cNvPr id="71" name="文本框 70">
            <a:extLst>
              <a:ext uri="{FF2B5EF4-FFF2-40B4-BE49-F238E27FC236}">
                <a16:creationId xmlns:a16="http://schemas.microsoft.com/office/drawing/2014/main" id="{AB7F41C7-6A1B-0DC3-4760-A6F6AF383EA3}"/>
              </a:ext>
            </a:extLst>
          </p:cNvPr>
          <p:cNvSpPr txBox="1"/>
          <p:nvPr/>
        </p:nvSpPr>
        <p:spPr>
          <a:xfrm>
            <a:off x="3209886" y="4127866"/>
            <a:ext cx="771525" cy="369332"/>
          </a:xfrm>
          <a:prstGeom prst="rect">
            <a:avLst/>
          </a:prstGeom>
          <a:noFill/>
        </p:spPr>
        <p:txBody>
          <a:bodyPr wrap="square">
            <a:spAutoFit/>
          </a:bodyPr>
          <a:lstStyle/>
          <a:p>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dirty="0"/>
          </a:p>
        </p:txBody>
      </p:sp>
      <mc:AlternateContent xmlns:mc="http://schemas.openxmlformats.org/markup-compatibility/2006" xmlns:a14="http://schemas.microsoft.com/office/drawing/2010/main">
        <mc:Choice Requires="a14">
          <p:sp>
            <p:nvSpPr>
              <p:cNvPr id="72" name="文本框 71">
                <a:extLst>
                  <a:ext uri="{FF2B5EF4-FFF2-40B4-BE49-F238E27FC236}">
                    <a16:creationId xmlns:a16="http://schemas.microsoft.com/office/drawing/2014/main" id="{434F13AB-FABC-E442-78A3-F07B8AD519B6}"/>
                  </a:ext>
                </a:extLst>
              </p:cNvPr>
              <p:cNvSpPr txBox="1"/>
              <p:nvPr/>
            </p:nvSpPr>
            <p:spPr>
              <a:xfrm>
                <a:off x="1655635" y="2192433"/>
                <a:ext cx="52334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zh-CN" sz="1800" i="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800" b="0" i="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𝑅</m:t>
                          </m:r>
                        </m:e>
                        <m:sub>
                          <m:r>
                            <a:rPr lang="en-US" altLang="zh-CN" sz="1800" b="0" i="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sz="1800" b="0" i="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+1</m:t>
                          </m:r>
                        </m:sub>
                      </m:sSub>
                    </m:oMath>
                  </m:oMathPara>
                </a14:m>
                <a:endParaRPr lang="zh-CN" altLang="en-US" dirty="0"/>
              </a:p>
            </p:txBody>
          </p:sp>
        </mc:Choice>
        <mc:Fallback xmlns="">
          <p:sp>
            <p:nvSpPr>
              <p:cNvPr id="72" name="文本框 71">
                <a:extLst>
                  <a:ext uri="{FF2B5EF4-FFF2-40B4-BE49-F238E27FC236}">
                    <a16:creationId xmlns:a16="http://schemas.microsoft.com/office/drawing/2014/main" id="{434F13AB-FABC-E442-78A3-F07B8AD519B6}"/>
                  </a:ext>
                </a:extLst>
              </p:cNvPr>
              <p:cNvSpPr txBox="1">
                <a:spLocks noRot="1" noChangeAspect="1" noMove="1" noResize="1" noEditPoints="1" noAdjustHandles="1" noChangeArrowheads="1" noChangeShapeType="1" noTextEdit="1"/>
              </p:cNvSpPr>
              <p:nvPr/>
            </p:nvSpPr>
            <p:spPr>
              <a:xfrm>
                <a:off x="1655635" y="2192433"/>
                <a:ext cx="523344" cy="369332"/>
              </a:xfrm>
              <a:prstGeom prst="rect">
                <a:avLst/>
              </a:prstGeom>
              <a:blipFill>
                <a:blip r:embed="rId19"/>
                <a:stretch>
                  <a:fillRect r="-1294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椭圆 72">
                <a:extLst>
                  <a:ext uri="{FF2B5EF4-FFF2-40B4-BE49-F238E27FC236}">
                    <a16:creationId xmlns:a16="http://schemas.microsoft.com/office/drawing/2014/main" id="{CCF5EBFE-EB56-4037-0483-2B6FCA14780F}"/>
                  </a:ext>
                </a:extLst>
              </p:cNvPr>
              <p:cNvSpPr/>
              <p:nvPr/>
            </p:nvSpPr>
            <p:spPr>
              <a:xfrm>
                <a:off x="4247392" y="1036971"/>
                <a:ext cx="421105" cy="391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+2</m:t>
                          </m:r>
                        </m:sub>
                      </m:sSub>
                    </m:oMath>
                  </m:oMathPara>
                </a14:m>
                <a:endParaRPr lang="zh-CN" altLang="en-US" dirty="0"/>
              </a:p>
            </p:txBody>
          </p:sp>
        </mc:Choice>
        <mc:Fallback xmlns="">
          <p:sp>
            <p:nvSpPr>
              <p:cNvPr id="73" name="椭圆 72">
                <a:extLst>
                  <a:ext uri="{FF2B5EF4-FFF2-40B4-BE49-F238E27FC236}">
                    <a16:creationId xmlns:a16="http://schemas.microsoft.com/office/drawing/2014/main" id="{CCF5EBFE-EB56-4037-0483-2B6FCA14780F}"/>
                  </a:ext>
                </a:extLst>
              </p:cNvPr>
              <p:cNvSpPr>
                <a:spLocks noRot="1" noChangeAspect="1" noMove="1" noResize="1" noEditPoints="1" noAdjustHandles="1" noChangeArrowheads="1" noChangeShapeType="1" noTextEdit="1"/>
              </p:cNvSpPr>
              <p:nvPr/>
            </p:nvSpPr>
            <p:spPr>
              <a:xfrm>
                <a:off x="4247392" y="1036971"/>
                <a:ext cx="421105" cy="391027"/>
              </a:xfrm>
              <a:prstGeom prst="ellipse">
                <a:avLst/>
              </a:prstGeom>
              <a:blipFill>
                <a:blip r:embed="rId20"/>
                <a:stretch>
                  <a:fillRect l="-23944" r="-28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4" name="椭圆 73">
                <a:extLst>
                  <a:ext uri="{FF2B5EF4-FFF2-40B4-BE49-F238E27FC236}">
                    <a16:creationId xmlns:a16="http://schemas.microsoft.com/office/drawing/2014/main" id="{7EB497F1-3CF7-EEF6-C1DD-FDAC7947E8B3}"/>
                  </a:ext>
                </a:extLst>
              </p:cNvPr>
              <p:cNvSpPr/>
              <p:nvPr/>
            </p:nvSpPr>
            <p:spPr>
              <a:xfrm>
                <a:off x="4247392" y="1568366"/>
                <a:ext cx="421105" cy="3910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altLang="zh-CN"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𝑆</m:t>
                          </m:r>
                        </m:e>
                        <m:sub>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b="0" i="1"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+2</m:t>
                          </m:r>
                        </m:sub>
                      </m:sSub>
                    </m:oMath>
                  </m:oMathPara>
                </a14:m>
                <a:endParaRPr lang="zh-CN" altLang="en-US" dirty="0"/>
              </a:p>
            </p:txBody>
          </p:sp>
        </mc:Choice>
        <mc:Fallback xmlns="">
          <p:sp>
            <p:nvSpPr>
              <p:cNvPr id="74" name="椭圆 73">
                <a:extLst>
                  <a:ext uri="{FF2B5EF4-FFF2-40B4-BE49-F238E27FC236}">
                    <a16:creationId xmlns:a16="http://schemas.microsoft.com/office/drawing/2014/main" id="{7EB497F1-3CF7-EEF6-C1DD-FDAC7947E8B3}"/>
                  </a:ext>
                </a:extLst>
              </p:cNvPr>
              <p:cNvSpPr>
                <a:spLocks noRot="1" noChangeAspect="1" noMove="1" noResize="1" noEditPoints="1" noAdjustHandles="1" noChangeArrowheads="1" noChangeShapeType="1" noTextEdit="1"/>
              </p:cNvSpPr>
              <p:nvPr/>
            </p:nvSpPr>
            <p:spPr>
              <a:xfrm>
                <a:off x="4247392" y="1568366"/>
                <a:ext cx="421105" cy="391027"/>
              </a:xfrm>
              <a:prstGeom prst="ellipse">
                <a:avLst/>
              </a:prstGeom>
              <a:blipFill>
                <a:blip r:embed="rId21"/>
                <a:stretch>
                  <a:fillRect l="-23944" r="-2817"/>
                </a:stretch>
              </a:blipFill>
            </p:spPr>
            <p:txBody>
              <a:bodyPr/>
              <a:lstStyle/>
              <a:p>
                <a:r>
                  <a:rPr lang="zh-CN" altLang="en-US">
                    <a:noFill/>
                  </a:rPr>
                  <a:t> </a:t>
                </a:r>
              </a:p>
            </p:txBody>
          </p:sp>
        </mc:Fallback>
      </mc:AlternateContent>
      <p:cxnSp>
        <p:nvCxnSpPr>
          <p:cNvPr id="75" name="直接箭头连接符 74">
            <a:extLst>
              <a:ext uri="{FF2B5EF4-FFF2-40B4-BE49-F238E27FC236}">
                <a16:creationId xmlns:a16="http://schemas.microsoft.com/office/drawing/2014/main" id="{3D48C437-C5A1-F6FD-2E72-F02C33554BAF}"/>
              </a:ext>
            </a:extLst>
          </p:cNvPr>
          <p:cNvCxnSpPr>
            <a:cxnSpLocks/>
            <a:endCxn id="73" idx="2"/>
          </p:cNvCxnSpPr>
          <p:nvPr/>
        </p:nvCxnSpPr>
        <p:spPr>
          <a:xfrm flipV="1">
            <a:off x="3724048" y="1232485"/>
            <a:ext cx="523344" cy="650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a:extLst>
              <a:ext uri="{FF2B5EF4-FFF2-40B4-BE49-F238E27FC236}">
                <a16:creationId xmlns:a16="http://schemas.microsoft.com/office/drawing/2014/main" id="{D9108AB9-E02E-66BF-A961-4DAE7C0AD47B}"/>
              </a:ext>
            </a:extLst>
          </p:cNvPr>
          <p:cNvCxnSpPr>
            <a:cxnSpLocks/>
            <a:endCxn id="74" idx="2"/>
          </p:cNvCxnSpPr>
          <p:nvPr/>
        </p:nvCxnSpPr>
        <p:spPr>
          <a:xfrm flipV="1">
            <a:off x="3724048" y="1763880"/>
            <a:ext cx="523344" cy="1192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7" name="文本框 76">
                <a:extLst>
                  <a:ext uri="{FF2B5EF4-FFF2-40B4-BE49-F238E27FC236}">
                    <a16:creationId xmlns:a16="http://schemas.microsoft.com/office/drawing/2014/main" id="{ED2887A2-41C3-8A23-450F-72742F7DC8E2}"/>
                  </a:ext>
                </a:extLst>
              </p:cNvPr>
              <p:cNvSpPr txBox="1"/>
              <p:nvPr/>
            </p:nvSpPr>
            <p:spPr>
              <a:xfrm>
                <a:off x="3701946" y="1233125"/>
                <a:ext cx="42110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𝑃</m:t>
                      </m:r>
                    </m:oMath>
                  </m:oMathPara>
                </a14:m>
                <a:endParaRPr lang="zh-CN" altLang="en-US" dirty="0"/>
              </a:p>
            </p:txBody>
          </p:sp>
        </mc:Choice>
        <mc:Fallback xmlns="">
          <p:sp>
            <p:nvSpPr>
              <p:cNvPr id="77" name="文本框 76">
                <a:extLst>
                  <a:ext uri="{FF2B5EF4-FFF2-40B4-BE49-F238E27FC236}">
                    <a16:creationId xmlns:a16="http://schemas.microsoft.com/office/drawing/2014/main" id="{ED2887A2-41C3-8A23-450F-72742F7DC8E2}"/>
                  </a:ext>
                </a:extLst>
              </p:cNvPr>
              <p:cNvSpPr txBox="1">
                <a:spLocks noRot="1" noChangeAspect="1" noMove="1" noResize="1" noEditPoints="1" noAdjustHandles="1" noChangeArrowheads="1" noChangeShapeType="1" noTextEdit="1"/>
              </p:cNvSpPr>
              <p:nvPr/>
            </p:nvSpPr>
            <p:spPr>
              <a:xfrm>
                <a:off x="3701946" y="1233125"/>
                <a:ext cx="421105" cy="369332"/>
              </a:xfrm>
              <a:prstGeom prst="rect">
                <a:avLst/>
              </a:prstGeom>
              <a:blipFill>
                <a:blip r:embed="rId2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0203F38E-3075-C6B2-D064-A73D7D16AD93}"/>
                  </a:ext>
                </a:extLst>
              </p:cNvPr>
              <p:cNvSpPr txBox="1"/>
              <p:nvPr/>
            </p:nvSpPr>
            <p:spPr>
              <a:xfrm>
                <a:off x="3672929" y="919010"/>
                <a:ext cx="52334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zh-CN" sz="1800" i="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800" b="0" i="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𝑅</m:t>
                          </m:r>
                        </m:e>
                        <m:sub>
                          <m:r>
                            <a:rPr lang="en-US" altLang="zh-CN" sz="1800" b="0" i="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sz="1800" b="0" i="1" smtClean="0">
                              <a:solidFill>
                                <a:schemeClr val="tx1"/>
                              </a:solidFill>
                              <a:effectLst/>
                              <a:latin typeface="Cambria Math" panose="02040503050406030204" pitchFamily="18" charset="0"/>
                              <a:ea typeface="微软雅黑" panose="020B0503020204020204" pitchFamily="34" charset="-122"/>
                              <a:cs typeface="Times New Roman" panose="02020603050405020304" pitchFamily="18" charset="0"/>
                            </a:rPr>
                            <m:t>+2</m:t>
                          </m:r>
                        </m:sub>
                      </m:sSub>
                    </m:oMath>
                  </m:oMathPara>
                </a14:m>
                <a:endParaRPr lang="zh-CN" altLang="en-US" dirty="0"/>
              </a:p>
            </p:txBody>
          </p:sp>
        </mc:Choice>
        <mc:Fallback xmlns="">
          <p:sp>
            <p:nvSpPr>
              <p:cNvPr id="78" name="文本框 77">
                <a:extLst>
                  <a:ext uri="{FF2B5EF4-FFF2-40B4-BE49-F238E27FC236}">
                    <a16:creationId xmlns:a16="http://schemas.microsoft.com/office/drawing/2014/main" id="{0203F38E-3075-C6B2-D064-A73D7D16AD93}"/>
                  </a:ext>
                </a:extLst>
              </p:cNvPr>
              <p:cNvSpPr txBox="1">
                <a:spLocks noRot="1" noChangeAspect="1" noMove="1" noResize="1" noEditPoints="1" noAdjustHandles="1" noChangeArrowheads="1" noChangeShapeType="1" noTextEdit="1"/>
              </p:cNvSpPr>
              <p:nvPr/>
            </p:nvSpPr>
            <p:spPr>
              <a:xfrm>
                <a:off x="3672929" y="919010"/>
                <a:ext cx="523344" cy="369332"/>
              </a:xfrm>
              <a:prstGeom prst="rect">
                <a:avLst/>
              </a:prstGeom>
              <a:blipFill>
                <a:blip r:embed="rId23"/>
                <a:stretch>
                  <a:fillRect r="-12941"/>
                </a:stretch>
              </a:blipFill>
            </p:spPr>
            <p:txBody>
              <a:bodyPr/>
              <a:lstStyle/>
              <a:p>
                <a:r>
                  <a:rPr lang="zh-CN" altLang="en-US">
                    <a:noFill/>
                  </a:rPr>
                  <a:t> </a:t>
                </a:r>
              </a:p>
            </p:txBody>
          </p:sp>
        </mc:Fallback>
      </mc:AlternateContent>
      <p:cxnSp>
        <p:nvCxnSpPr>
          <p:cNvPr id="80" name="连接符: 曲线 79">
            <a:extLst>
              <a:ext uri="{FF2B5EF4-FFF2-40B4-BE49-F238E27FC236}">
                <a16:creationId xmlns:a16="http://schemas.microsoft.com/office/drawing/2014/main" id="{237277CA-00C6-0B49-F79F-9E514E858369}"/>
              </a:ext>
            </a:extLst>
          </p:cNvPr>
          <p:cNvCxnSpPr>
            <a:cxnSpLocks/>
          </p:cNvCxnSpPr>
          <p:nvPr/>
        </p:nvCxnSpPr>
        <p:spPr>
          <a:xfrm rot="16200000" flipH="1">
            <a:off x="9467877" y="3872134"/>
            <a:ext cx="1125292" cy="909446"/>
          </a:xfrm>
          <a:prstGeom prst="curvedConnector3">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6" name="矩形: 圆角 5">
            <a:extLst>
              <a:ext uri="{FF2B5EF4-FFF2-40B4-BE49-F238E27FC236}">
                <a16:creationId xmlns:a16="http://schemas.microsoft.com/office/drawing/2014/main" id="{C25E3ED4-EEEC-90C8-0264-C77DFDBDF466}"/>
              </a:ext>
            </a:extLst>
          </p:cNvPr>
          <p:cNvSpPr/>
          <p:nvPr/>
        </p:nvSpPr>
        <p:spPr>
          <a:xfrm rot="19533018">
            <a:off x="909976" y="1665788"/>
            <a:ext cx="4226313" cy="736119"/>
          </a:xfrm>
          <a:prstGeom prst="roundRect">
            <a:avLst/>
          </a:prstGeom>
          <a:noFill/>
          <a:ln w="38100">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12867426-255D-303F-DF38-75FD28391FEF}"/>
              </a:ext>
            </a:extLst>
          </p:cNvPr>
          <p:cNvSpPr/>
          <p:nvPr/>
        </p:nvSpPr>
        <p:spPr>
          <a:xfrm rot="20039854">
            <a:off x="1024074" y="1860762"/>
            <a:ext cx="4306726" cy="736119"/>
          </a:xfrm>
          <a:prstGeom prst="roundRect">
            <a:avLst/>
          </a:prstGeom>
          <a:noFill/>
          <a:ln w="38100">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FA1D81DB-FEAA-2CE9-090B-E40B92771241}"/>
              </a:ext>
            </a:extLst>
          </p:cNvPr>
          <p:cNvSpPr/>
          <p:nvPr/>
        </p:nvSpPr>
        <p:spPr>
          <a:xfrm rot="21262880">
            <a:off x="1200415" y="2504207"/>
            <a:ext cx="4432794" cy="736119"/>
          </a:xfrm>
          <a:prstGeom prst="roundRect">
            <a:avLst/>
          </a:prstGeom>
          <a:noFill/>
          <a:ln w="38100">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AFDD6635-DE50-FB10-6576-0B62A766A18A}"/>
              </a:ext>
            </a:extLst>
          </p:cNvPr>
          <p:cNvSpPr txBox="1"/>
          <p:nvPr/>
        </p:nvSpPr>
        <p:spPr>
          <a:xfrm>
            <a:off x="4072048" y="2481335"/>
            <a:ext cx="771525" cy="369332"/>
          </a:xfrm>
          <a:prstGeom prst="rect">
            <a:avLst/>
          </a:prstGeom>
          <a:noFill/>
        </p:spPr>
        <p:txBody>
          <a:bodyPr wrap="square">
            <a:spAutoFit/>
          </a:bodyPr>
          <a:lstStyle/>
          <a:p>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dirty="0"/>
          </a:p>
        </p:txBody>
      </p:sp>
    </p:spTree>
    <p:extLst>
      <p:ext uri="{BB962C8B-B14F-4D97-AF65-F5344CB8AC3E}">
        <p14:creationId xmlns:p14="http://schemas.microsoft.com/office/powerpoint/2010/main" val="549086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6" grpId="0" animBg="1"/>
      <p:bldP spid="8" grpId="0" animBg="1"/>
      <p:bldP spid="1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强化学习</a:t>
              </a: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贝尔曼方程</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强化学习问题定义</a:t>
            </a:r>
          </a:p>
        </p:txBody>
      </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83804BBE-7935-4518-845A-43FDC33F8C4F}"/>
                  </a:ext>
                </a:extLst>
              </p:cNvPr>
              <p:cNvSpPr/>
              <p:nvPr/>
            </p:nvSpPr>
            <p:spPr>
              <a:xfrm>
                <a:off x="1437004" y="2248832"/>
                <a:ext cx="9650437" cy="887422"/>
              </a:xfrm>
              <a:prstGeom prst="rect">
                <a:avLst/>
              </a:prstGeom>
            </p:spPr>
            <p:txBody>
              <a:bodyPr wrap="square">
                <a:spAutoFit/>
              </a:bodyPr>
              <a:lstStyle/>
              <a:p>
                <a:pPr marL="342900" indent="-342900">
                  <a:lnSpc>
                    <a:spcPct val="150000"/>
                  </a:lnSpc>
                  <a:buFont typeface="Arial" panose="020B0604020202020204" pitchFamily="34" charset="0"/>
                  <a:buChar char="•"/>
                </a:pPr>
                <a:r>
                  <a:rPr lang="zh-CN" altLang="en-US" sz="16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价值函数（</a:t>
                </a:r>
                <a:r>
                  <a:rPr lang="en-US" altLang="zh-CN" sz="16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Value Function</a:t>
                </a:r>
                <a:r>
                  <a:rPr lang="zh-CN" altLang="en-US" sz="16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𝑉</m:t>
                        </m:r>
                      </m:e>
                      <m:sub>
                        <m:r>
                          <a:rPr lang="en-US" altLang="zh-CN" sz="1600" i="1">
                            <a:latin typeface="Cambria Math" panose="02040503050406030204" pitchFamily="18" charset="0"/>
                          </a:rPr>
                          <m:t>𝜋</m:t>
                        </m:r>
                      </m:sub>
                    </m:sSub>
                    <m:d>
                      <m:dPr>
                        <m:ctrlPr>
                          <a:rPr lang="zh-CN" altLang="zh-CN" sz="1600" i="1">
                            <a:latin typeface="Cambria Math" panose="02040503050406030204" pitchFamily="18" charset="0"/>
                          </a:rPr>
                        </m:ctrlPr>
                      </m:dPr>
                      <m:e>
                        <m:r>
                          <a:rPr lang="en-US" altLang="zh-CN" sz="1600" i="1">
                            <a:latin typeface="Cambria Math" panose="02040503050406030204" pitchFamily="18" charset="0"/>
                          </a:rPr>
                          <m:t>𝑠</m:t>
                        </m:r>
                      </m:e>
                    </m:d>
                    <m:r>
                      <a:rPr lang="en-US" altLang="zh-CN" sz="1600" b="1"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𝔼</m:t>
                        </m:r>
                      </m:e>
                      <m:sub>
                        <m:r>
                          <a:rPr lang="en-US" altLang="zh-CN" sz="1600" i="1">
                            <a:latin typeface="Cambria Math" panose="02040503050406030204" pitchFamily="18" charset="0"/>
                          </a:rPr>
                          <m:t>𝜋</m:t>
                        </m:r>
                      </m:sub>
                    </m:sSub>
                    <m:d>
                      <m:dPr>
                        <m:begChr m:val="["/>
                        <m:endChr m:val="]"/>
                        <m:ctrlPr>
                          <a:rPr lang="zh-CN" altLang="zh-CN" sz="1600" i="1">
                            <a:latin typeface="Cambria Math" panose="02040503050406030204" pitchFamily="18" charset="0"/>
                          </a:rPr>
                        </m:ctrlPr>
                      </m:dPr>
                      <m:e>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𝑅</m:t>
                            </m:r>
                          </m:e>
                          <m:sub>
                            <m:r>
                              <a:rPr lang="en-US" altLang="zh-CN" sz="1600" i="1">
                                <a:latin typeface="Cambria Math" panose="02040503050406030204" pitchFamily="18" charset="0"/>
                              </a:rPr>
                              <m:t>𝑡</m:t>
                            </m:r>
                            <m:r>
                              <a:rPr lang="en-US" altLang="zh-CN" sz="1600" i="1">
                                <a:latin typeface="Cambria Math" panose="02040503050406030204" pitchFamily="18" charset="0"/>
                              </a:rPr>
                              <m:t>+1</m:t>
                            </m:r>
                          </m:sub>
                        </m:sSub>
                        <m:r>
                          <a:rPr lang="en-US" altLang="zh-CN" sz="1600" i="1">
                            <a:latin typeface="Cambria Math" panose="02040503050406030204" pitchFamily="18" charset="0"/>
                          </a:rPr>
                          <m:t>+</m:t>
                        </m:r>
                        <m:r>
                          <a:rPr lang="en-US" altLang="zh-CN" sz="1600" i="1">
                            <a:latin typeface="Cambria Math" panose="02040503050406030204" pitchFamily="18" charset="0"/>
                          </a:rPr>
                          <m:t>𝛾</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𝑅</m:t>
                            </m:r>
                          </m:e>
                          <m:sub>
                            <m:r>
                              <a:rPr lang="en-US" altLang="zh-CN" sz="1600" i="1">
                                <a:latin typeface="Cambria Math" panose="02040503050406030204" pitchFamily="18" charset="0"/>
                              </a:rPr>
                              <m:t>𝑡</m:t>
                            </m:r>
                            <m:r>
                              <a:rPr lang="en-US" altLang="zh-CN" sz="1600" i="1">
                                <a:latin typeface="Cambria Math" panose="02040503050406030204" pitchFamily="18" charset="0"/>
                              </a:rPr>
                              <m:t>+2</m:t>
                            </m:r>
                          </m:sub>
                        </m:sSub>
                        <m:r>
                          <a:rPr lang="en-US" altLang="zh-CN" sz="1600" i="1">
                            <a:latin typeface="Cambria Math" panose="02040503050406030204" pitchFamily="18" charset="0"/>
                          </a:rPr>
                          <m:t>+</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𝛾</m:t>
                            </m:r>
                          </m:e>
                          <m:sup>
                            <m:r>
                              <a:rPr lang="en-US" altLang="zh-CN" sz="1600" i="1">
                                <a:latin typeface="Cambria Math" panose="02040503050406030204" pitchFamily="18" charset="0"/>
                              </a:rPr>
                              <m:t>2</m:t>
                            </m:r>
                          </m:sup>
                        </m:sSup>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𝑅</m:t>
                            </m:r>
                          </m:e>
                          <m:sub>
                            <m:r>
                              <a:rPr lang="en-US" altLang="zh-CN" sz="1600" i="1">
                                <a:latin typeface="Cambria Math" panose="02040503050406030204" pitchFamily="18" charset="0"/>
                              </a:rPr>
                              <m:t>𝑡</m:t>
                            </m:r>
                            <m:r>
                              <a:rPr lang="en-US" altLang="zh-CN" sz="1600" i="1">
                                <a:latin typeface="Cambria Math" panose="02040503050406030204" pitchFamily="18" charset="0"/>
                              </a:rPr>
                              <m:t>+3</m:t>
                            </m:r>
                          </m:sub>
                        </m:sSub>
                        <m:r>
                          <a:rPr lang="en-US" altLang="zh-CN" sz="1600" i="1">
                            <a:latin typeface="Cambria Math" panose="02040503050406030204" pitchFamily="18" charset="0"/>
                          </a:rPr>
                          <m:t>+⋯</m:t>
                        </m:r>
                      </m:e>
                      <m:e>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𝑆</m:t>
                            </m:r>
                          </m:e>
                          <m:sub>
                            <m:r>
                              <a:rPr lang="en-US" altLang="zh-CN" sz="1600" i="1">
                                <a:latin typeface="Cambria Math" panose="02040503050406030204" pitchFamily="18" charset="0"/>
                              </a:rPr>
                              <m:t>𝑡</m:t>
                            </m:r>
                          </m:sub>
                        </m:sSub>
                        <m:r>
                          <a:rPr lang="en-US" altLang="zh-CN" sz="1600" i="1">
                            <a:latin typeface="Cambria Math" panose="02040503050406030204" pitchFamily="18" charset="0"/>
                          </a:rPr>
                          <m:t>=</m:t>
                        </m:r>
                        <m:r>
                          <a:rPr lang="en-US" altLang="zh-CN" sz="1600" i="1">
                            <a:latin typeface="Cambria Math" panose="02040503050406030204" pitchFamily="18" charset="0"/>
                          </a:rPr>
                          <m:t>𝑠</m:t>
                        </m:r>
                      </m:e>
                    </m:d>
                  </m:oMath>
                </a14:m>
                <a:endParaRPr lang="en-US" altLang="zh-CN" sz="16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16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动作</a:t>
                </a:r>
                <a:r>
                  <a:rPr lang="en-US" altLang="zh-CN" sz="16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16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价值函数</a:t>
                </a:r>
                <a:r>
                  <a:rPr lang="en-US" altLang="zh-CN" sz="16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(Action-Value Function)</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16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    </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𝑞</m:t>
                        </m:r>
                      </m:e>
                      <m:sub>
                        <m:r>
                          <a:rPr lang="en-US" altLang="zh-CN" sz="1600" i="1">
                            <a:latin typeface="Cambria Math" panose="02040503050406030204" pitchFamily="18" charset="0"/>
                          </a:rPr>
                          <m:t>𝜋</m:t>
                        </m:r>
                      </m:sub>
                    </m:sSub>
                    <m:d>
                      <m:dPr>
                        <m:ctrlPr>
                          <a:rPr lang="zh-CN" altLang="zh-CN" sz="1600" i="1">
                            <a:latin typeface="Cambria Math" panose="02040503050406030204" pitchFamily="18" charset="0"/>
                          </a:rPr>
                        </m:ctrlPr>
                      </m:dPr>
                      <m:e>
                        <m:r>
                          <a:rPr lang="en-US" altLang="zh-CN" sz="1600" i="1">
                            <a:latin typeface="Cambria Math" panose="02040503050406030204" pitchFamily="18" charset="0"/>
                          </a:rPr>
                          <m:t>𝑠</m:t>
                        </m:r>
                        <m:r>
                          <a:rPr lang="en-US" altLang="zh-CN" sz="1600" i="1">
                            <a:latin typeface="Cambria Math" panose="02040503050406030204" pitchFamily="18" charset="0"/>
                          </a:rPr>
                          <m:t>,</m:t>
                        </m:r>
                        <m:r>
                          <a:rPr lang="en-US" altLang="zh-CN" sz="1600" i="1">
                            <a:latin typeface="Cambria Math" panose="02040503050406030204" pitchFamily="18" charset="0"/>
                          </a:rPr>
                          <m:t>𝑎</m:t>
                        </m:r>
                      </m:e>
                    </m:d>
                    <m:r>
                      <a:rPr lang="en-US" altLang="zh-CN" sz="1600" b="1"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𝔼</m:t>
                        </m:r>
                      </m:e>
                      <m:sub>
                        <m:r>
                          <a:rPr lang="en-US" altLang="zh-CN" sz="1600" i="1">
                            <a:latin typeface="Cambria Math" panose="02040503050406030204" pitchFamily="18" charset="0"/>
                          </a:rPr>
                          <m:t>𝜋</m:t>
                        </m:r>
                      </m:sub>
                    </m:sSub>
                    <m:d>
                      <m:dPr>
                        <m:begChr m:val="["/>
                        <m:endChr m:val="]"/>
                        <m:ctrlPr>
                          <a:rPr lang="zh-CN" altLang="zh-CN" sz="1600" i="1">
                            <a:latin typeface="Cambria Math" panose="02040503050406030204" pitchFamily="18" charset="0"/>
                          </a:rPr>
                        </m:ctrlPr>
                      </m:dPr>
                      <m:e>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𝑅</m:t>
                            </m:r>
                          </m:e>
                          <m:sub>
                            <m:r>
                              <a:rPr lang="en-US" altLang="zh-CN" sz="1600" i="1">
                                <a:latin typeface="Cambria Math" panose="02040503050406030204" pitchFamily="18" charset="0"/>
                              </a:rPr>
                              <m:t>𝑡</m:t>
                            </m:r>
                            <m:r>
                              <a:rPr lang="en-US" altLang="zh-CN" sz="1600" i="1">
                                <a:latin typeface="Cambria Math" panose="02040503050406030204" pitchFamily="18" charset="0"/>
                              </a:rPr>
                              <m:t>+1</m:t>
                            </m:r>
                          </m:sub>
                        </m:sSub>
                        <m:r>
                          <a:rPr lang="en-US" altLang="zh-CN" sz="1600" i="1">
                            <a:latin typeface="Cambria Math" panose="02040503050406030204" pitchFamily="18" charset="0"/>
                          </a:rPr>
                          <m:t>+</m:t>
                        </m:r>
                        <m:r>
                          <a:rPr lang="en-US" altLang="zh-CN" sz="1600" i="1">
                            <a:latin typeface="Cambria Math" panose="02040503050406030204" pitchFamily="18" charset="0"/>
                          </a:rPr>
                          <m:t>𝛾</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𝑅</m:t>
                            </m:r>
                          </m:e>
                          <m:sub>
                            <m:r>
                              <a:rPr lang="en-US" altLang="zh-CN" sz="1600" i="1">
                                <a:latin typeface="Cambria Math" panose="02040503050406030204" pitchFamily="18" charset="0"/>
                              </a:rPr>
                              <m:t>𝑡</m:t>
                            </m:r>
                            <m:r>
                              <a:rPr lang="en-US" altLang="zh-CN" sz="1600" i="1">
                                <a:latin typeface="Cambria Math" panose="02040503050406030204" pitchFamily="18" charset="0"/>
                              </a:rPr>
                              <m:t>+2</m:t>
                            </m:r>
                          </m:sub>
                        </m:sSub>
                        <m:r>
                          <a:rPr lang="en-US" altLang="zh-CN" sz="1600" i="1">
                            <a:latin typeface="Cambria Math" panose="02040503050406030204" pitchFamily="18" charset="0"/>
                          </a:rPr>
                          <m:t>+</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𝛾</m:t>
                            </m:r>
                          </m:e>
                          <m:sup>
                            <m:r>
                              <a:rPr lang="en-US" altLang="zh-CN" sz="1600" i="1">
                                <a:latin typeface="Cambria Math" panose="02040503050406030204" pitchFamily="18" charset="0"/>
                              </a:rPr>
                              <m:t>2</m:t>
                            </m:r>
                          </m:sup>
                        </m:sSup>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𝑅</m:t>
                            </m:r>
                          </m:e>
                          <m:sub>
                            <m:r>
                              <a:rPr lang="en-US" altLang="zh-CN" sz="1600" i="1">
                                <a:latin typeface="Cambria Math" panose="02040503050406030204" pitchFamily="18" charset="0"/>
                              </a:rPr>
                              <m:t>𝑡</m:t>
                            </m:r>
                            <m:r>
                              <a:rPr lang="en-US" altLang="zh-CN" sz="1600" i="1">
                                <a:latin typeface="Cambria Math" panose="02040503050406030204" pitchFamily="18" charset="0"/>
                              </a:rPr>
                              <m:t>+3</m:t>
                            </m:r>
                          </m:sub>
                        </m:sSub>
                        <m:r>
                          <a:rPr lang="en-US" altLang="zh-CN" sz="1600" i="1">
                            <a:latin typeface="Cambria Math" panose="02040503050406030204" pitchFamily="18" charset="0"/>
                          </a:rPr>
                          <m:t>+⋯</m:t>
                        </m:r>
                      </m:e>
                      <m:e>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𝑆</m:t>
                            </m:r>
                          </m:e>
                          <m:sub>
                            <m:r>
                              <a:rPr lang="en-US" altLang="zh-CN" sz="1600" i="1">
                                <a:latin typeface="Cambria Math" panose="02040503050406030204" pitchFamily="18" charset="0"/>
                              </a:rPr>
                              <m:t>𝑡</m:t>
                            </m:r>
                          </m:sub>
                        </m:sSub>
                        <m:r>
                          <a:rPr lang="en-US" altLang="zh-CN" sz="1600" i="1">
                            <a:latin typeface="Cambria Math" panose="02040503050406030204" pitchFamily="18" charset="0"/>
                          </a:rPr>
                          <m:t>=</m:t>
                        </m:r>
                        <m:r>
                          <a:rPr lang="en-US" altLang="zh-CN" sz="1600" i="1">
                            <a:latin typeface="Cambria Math" panose="02040503050406030204" pitchFamily="18" charset="0"/>
                          </a:rPr>
                          <m:t>𝑠</m:t>
                        </m:r>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𝐴</m:t>
                            </m:r>
                          </m:e>
                          <m:sub>
                            <m:r>
                              <a:rPr lang="en-US" altLang="zh-CN" sz="1600" i="1">
                                <a:latin typeface="Cambria Math" panose="02040503050406030204" pitchFamily="18" charset="0"/>
                              </a:rPr>
                              <m:t>𝑡</m:t>
                            </m:r>
                          </m:sub>
                        </m:sSub>
                        <m:r>
                          <a:rPr lang="en-US" altLang="zh-CN" sz="1600" i="1">
                            <a:latin typeface="Cambria Math" panose="02040503050406030204" pitchFamily="18" charset="0"/>
                          </a:rPr>
                          <m:t>=</m:t>
                        </m:r>
                        <m:r>
                          <a:rPr lang="en-US" altLang="zh-CN" sz="1600" i="1">
                            <a:latin typeface="Cambria Math" panose="02040503050406030204" pitchFamily="18" charset="0"/>
                          </a:rPr>
                          <m:t>𝑎</m:t>
                        </m:r>
                      </m:e>
                    </m:d>
                  </m:oMath>
                </a14:m>
                <a:endParaRPr lang="en-US" altLang="zh-CN" sz="16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10" name="矩形 9">
                <a:extLst>
                  <a:ext uri="{FF2B5EF4-FFF2-40B4-BE49-F238E27FC236}">
                    <a16:creationId xmlns:a16="http://schemas.microsoft.com/office/drawing/2014/main" id="{83804BBE-7935-4518-845A-43FDC33F8C4F}"/>
                  </a:ext>
                </a:extLst>
              </p:cNvPr>
              <p:cNvSpPr>
                <a:spLocks noRot="1" noChangeAspect="1" noMove="1" noResize="1" noEditPoints="1" noAdjustHandles="1" noChangeArrowheads="1" noChangeShapeType="1" noTextEdit="1"/>
              </p:cNvSpPr>
              <p:nvPr/>
            </p:nvSpPr>
            <p:spPr>
              <a:xfrm>
                <a:off x="1437004" y="2248832"/>
                <a:ext cx="9650437" cy="887422"/>
              </a:xfrm>
              <a:prstGeom prst="rect">
                <a:avLst/>
              </a:prstGeom>
              <a:blipFill>
                <a:blip r:embed="rId3"/>
                <a:stretch>
                  <a:fillRect l="-253"/>
                </a:stretch>
              </a:blipFill>
            </p:spPr>
            <p:txBody>
              <a:bodyPr/>
              <a:lstStyle/>
              <a:p>
                <a:r>
                  <a:rPr lang="zh-CN" altLang="en-US">
                    <a:noFill/>
                  </a:rPr>
                  <a:t> </a:t>
                </a:r>
              </a:p>
            </p:txBody>
          </p:sp>
        </mc:Fallback>
      </mc:AlternateContent>
      <p:grpSp>
        <p:nvGrpSpPr>
          <p:cNvPr id="12" name="组合 11">
            <a:extLst>
              <a:ext uri="{FF2B5EF4-FFF2-40B4-BE49-F238E27FC236}">
                <a16:creationId xmlns:a16="http://schemas.microsoft.com/office/drawing/2014/main" id="{4C26E5FF-ABBA-4957-901D-90198DB48025}"/>
              </a:ext>
            </a:extLst>
          </p:cNvPr>
          <p:cNvGrpSpPr/>
          <p:nvPr/>
        </p:nvGrpSpPr>
        <p:grpSpPr>
          <a:xfrm>
            <a:off x="1179895" y="3310891"/>
            <a:ext cx="8521124" cy="2043621"/>
            <a:chOff x="23446" y="3714303"/>
            <a:chExt cx="8521124" cy="2043621"/>
          </a:xfrm>
        </p:grpSpPr>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DAA5E8AC-ECD3-4F65-8BAE-7CF33DF58EDD}"/>
                    </a:ext>
                  </a:extLst>
                </p:cNvPr>
                <p:cNvSpPr txBox="1"/>
                <p:nvPr/>
              </p:nvSpPr>
              <p:spPr>
                <a:xfrm>
                  <a:off x="427661" y="3714303"/>
                  <a:ext cx="8116909" cy="183909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𝑉</m:t>
                            </m:r>
                          </m:e>
                          <m:sub>
                            <m:r>
                              <a:rPr lang="zh-CN" altLang="en-US" i="1">
                                <a:latin typeface="Cambria Math" panose="02040503050406030204" pitchFamily="18" charset="0"/>
                              </a:rPr>
                              <m:t>𝜋</m:t>
                            </m:r>
                          </m:sub>
                        </m:sSub>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𝑠</m:t>
                            </m:r>
                          </m:e>
                        </m:d>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0">
                                <a:latin typeface="Cambria Math" panose="02040503050406030204" pitchFamily="18" charset="0"/>
                              </a:rPr>
                              <m:t>𝔼</m:t>
                            </m:r>
                          </m:e>
                          <m:sub>
                            <m:r>
                              <a:rPr lang="zh-CN" altLang="en-US" i="1">
                                <a:latin typeface="Cambria Math" panose="02040503050406030204" pitchFamily="18" charset="0"/>
                              </a:rPr>
                              <m:t>𝜋</m:t>
                            </m:r>
                          </m:sub>
                        </m:sSub>
                        <m:d>
                          <m:dPr>
                            <m:begChr m:val="["/>
                            <m:endChr m:val="]"/>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𝑅</m:t>
                                </m:r>
                              </m:e>
                              <m:sub>
                                <m:r>
                                  <a:rPr lang="zh-CN" altLang="en-US" i="1">
                                    <a:latin typeface="Cambria Math" panose="02040503050406030204" pitchFamily="18" charset="0"/>
                                  </a:rPr>
                                  <m:t>𝑡</m:t>
                                </m:r>
                                <m:r>
                                  <a:rPr lang="zh-CN" altLang="en-US" i="0">
                                    <a:latin typeface="Cambria Math" panose="02040503050406030204" pitchFamily="18" charset="0"/>
                                  </a:rPr>
                                  <m:t>+1</m:t>
                                </m:r>
                              </m:sub>
                            </m:sSub>
                            <m:r>
                              <a:rPr lang="zh-CN" altLang="en-US" i="0">
                                <a:latin typeface="Cambria Math" panose="02040503050406030204" pitchFamily="18" charset="0"/>
                              </a:rPr>
                              <m:t>+</m:t>
                            </m:r>
                            <m:r>
                              <a:rPr lang="zh-CN" altLang="en-US" i="1">
                                <a:latin typeface="Cambria Math" panose="02040503050406030204" pitchFamily="18" charset="0"/>
                              </a:rPr>
                              <m:t>𝛾</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𝑅</m:t>
                                </m:r>
                              </m:e>
                              <m:sub>
                                <m:r>
                                  <a:rPr lang="zh-CN" altLang="en-US" i="1">
                                    <a:latin typeface="Cambria Math" panose="02040503050406030204" pitchFamily="18" charset="0"/>
                                  </a:rPr>
                                  <m:t>𝑡</m:t>
                                </m:r>
                                <m:r>
                                  <a:rPr lang="zh-CN" altLang="en-US" i="0">
                                    <a:latin typeface="Cambria Math" panose="02040503050406030204" pitchFamily="18" charset="0"/>
                                  </a:rPr>
                                  <m:t>+2</m:t>
                                </m:r>
                              </m:sub>
                            </m:sSub>
                            <m:r>
                              <a:rPr lang="zh-CN" altLang="en-US" i="0">
                                <a:latin typeface="Cambria Math" panose="02040503050406030204" pitchFamily="18" charset="0"/>
                              </a:rPr>
                              <m:t>+</m:t>
                            </m:r>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𝛾</m:t>
                                </m:r>
                              </m:e>
                              <m:sup>
                                <m:r>
                                  <a:rPr lang="zh-CN" altLang="en-US" i="0">
                                    <a:latin typeface="Cambria Math" panose="02040503050406030204" pitchFamily="18" charset="0"/>
                                  </a:rPr>
                                  <m:t>2</m:t>
                                </m:r>
                              </m:sup>
                            </m:sSup>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𝑅</m:t>
                                </m:r>
                              </m:e>
                              <m:sub>
                                <m:r>
                                  <a:rPr lang="zh-CN" altLang="en-US" i="1">
                                    <a:latin typeface="Cambria Math" panose="02040503050406030204" pitchFamily="18" charset="0"/>
                                  </a:rPr>
                                  <m:t>𝑡</m:t>
                                </m:r>
                                <m:r>
                                  <a:rPr lang="zh-CN" altLang="en-US" i="0">
                                    <a:latin typeface="Cambria Math" panose="02040503050406030204" pitchFamily="18" charset="0"/>
                                  </a:rPr>
                                  <m:t>+3</m:t>
                                </m:r>
                              </m:sub>
                            </m:sSub>
                            <m:r>
                              <a:rPr lang="zh-CN" altLang="en-US" i="0">
                                <a:latin typeface="Cambria Math" panose="02040503050406030204" pitchFamily="18" charset="0"/>
                              </a:rPr>
                              <m:t>+⋯</m:t>
                            </m:r>
                          </m:e>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𝑆</m:t>
                                </m:r>
                              </m:e>
                              <m:sub>
                                <m:r>
                                  <a:rPr lang="zh-CN" altLang="en-US" i="1">
                                    <a:latin typeface="Cambria Math" panose="02040503050406030204" pitchFamily="18" charset="0"/>
                                  </a:rPr>
                                  <m:t>𝑡</m:t>
                                </m:r>
                              </m:sub>
                            </m:sSub>
                            <m:r>
                              <a:rPr lang="zh-CN" altLang="en-US" i="0">
                                <a:latin typeface="Cambria Math" panose="02040503050406030204" pitchFamily="18" charset="0"/>
                              </a:rPr>
                              <m:t>=</m:t>
                            </m:r>
                            <m:r>
                              <a:rPr lang="zh-CN" altLang="en-US" i="1">
                                <a:latin typeface="Cambria Math" panose="02040503050406030204" pitchFamily="18" charset="0"/>
                              </a:rPr>
                              <m:t>𝑠</m:t>
                            </m:r>
                          </m:e>
                        </m:d>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0">
                                <a:latin typeface="Cambria Math" panose="02040503050406030204" pitchFamily="18" charset="0"/>
                              </a:rPr>
                              <m:t>𝔼</m:t>
                            </m:r>
                          </m:e>
                          <m:sub>
                            <m:r>
                              <a:rPr lang="zh-CN" altLang="en-US" i="1">
                                <a:latin typeface="Cambria Math" panose="02040503050406030204" pitchFamily="18" charset="0"/>
                              </a:rPr>
                              <m:t>𝑎</m:t>
                            </m:r>
                            <m:r>
                              <a:rPr lang="zh-CN" altLang="en-US" i="0">
                                <a:latin typeface="Cambria Math" panose="02040503050406030204" pitchFamily="18" charset="0"/>
                              </a:rPr>
                              <m:t>∼</m:t>
                            </m:r>
                            <m:r>
                              <a:rPr lang="zh-CN" altLang="en-US" i="1">
                                <a:latin typeface="Cambria Math" panose="02040503050406030204" pitchFamily="18" charset="0"/>
                              </a:rPr>
                              <m:t>𝜋</m:t>
                            </m:r>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𝑠</m:t>
                                </m:r>
                                <m:r>
                                  <a:rPr lang="zh-CN" altLang="en-US" i="0">
                                    <a:latin typeface="Cambria Math" panose="02040503050406030204" pitchFamily="18" charset="0"/>
                                  </a:rPr>
                                  <m:t>,⋅</m:t>
                                </m:r>
                              </m:e>
                            </m:d>
                          </m:sub>
                        </m:sSub>
                        <m:d>
                          <m:dPr>
                            <m:begChr m:val="["/>
                            <m:endChr m:val="]"/>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0">
                                    <a:latin typeface="Cambria Math" panose="02040503050406030204" pitchFamily="18" charset="0"/>
                                  </a:rPr>
                                  <m:t>𝔼</m:t>
                                </m:r>
                              </m:e>
                              <m:sub>
                                <m:r>
                                  <a:rPr lang="zh-CN" altLang="en-US" i="1">
                                    <a:latin typeface="Cambria Math" panose="02040503050406030204" pitchFamily="18" charset="0"/>
                                  </a:rPr>
                                  <m:t>𝜋</m:t>
                                </m:r>
                              </m:sub>
                            </m:sSub>
                            <m:d>
                              <m:dPr>
                                <m:begChr m:val="["/>
                                <m:endChr m:val="]"/>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𝑅</m:t>
                                    </m:r>
                                  </m:e>
                                  <m:sub>
                                    <m:r>
                                      <a:rPr lang="zh-CN" altLang="en-US" i="1">
                                        <a:latin typeface="Cambria Math" panose="02040503050406030204" pitchFamily="18" charset="0"/>
                                      </a:rPr>
                                      <m:t>𝑡</m:t>
                                    </m:r>
                                    <m:r>
                                      <a:rPr lang="zh-CN" altLang="en-US" i="0">
                                        <a:latin typeface="Cambria Math" panose="02040503050406030204" pitchFamily="18" charset="0"/>
                                      </a:rPr>
                                      <m:t>+1</m:t>
                                    </m:r>
                                  </m:sub>
                                </m:sSub>
                                <m:r>
                                  <a:rPr lang="zh-CN" altLang="en-US" i="0">
                                    <a:latin typeface="Cambria Math" panose="02040503050406030204" pitchFamily="18" charset="0"/>
                                  </a:rPr>
                                  <m:t>+</m:t>
                                </m:r>
                                <m:r>
                                  <a:rPr lang="zh-CN" altLang="en-US" i="1">
                                    <a:latin typeface="Cambria Math" panose="02040503050406030204" pitchFamily="18" charset="0"/>
                                  </a:rPr>
                                  <m:t>𝛾</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𝑅</m:t>
                                    </m:r>
                                  </m:e>
                                  <m:sub>
                                    <m:r>
                                      <a:rPr lang="zh-CN" altLang="en-US" i="1">
                                        <a:latin typeface="Cambria Math" panose="02040503050406030204" pitchFamily="18" charset="0"/>
                                      </a:rPr>
                                      <m:t>𝑡</m:t>
                                    </m:r>
                                    <m:r>
                                      <a:rPr lang="zh-CN" altLang="en-US" i="0">
                                        <a:latin typeface="Cambria Math" panose="02040503050406030204" pitchFamily="18" charset="0"/>
                                      </a:rPr>
                                      <m:t>+2</m:t>
                                    </m:r>
                                  </m:sub>
                                </m:sSub>
                                <m:r>
                                  <a:rPr lang="zh-CN" altLang="en-US" i="0">
                                    <a:latin typeface="Cambria Math" panose="02040503050406030204" pitchFamily="18" charset="0"/>
                                  </a:rPr>
                                  <m:t>+</m:t>
                                </m:r>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𝛾</m:t>
                                    </m:r>
                                  </m:e>
                                  <m:sup>
                                    <m:r>
                                      <a:rPr lang="zh-CN" altLang="en-US" i="0">
                                        <a:latin typeface="Cambria Math" panose="02040503050406030204" pitchFamily="18" charset="0"/>
                                      </a:rPr>
                                      <m:t>2</m:t>
                                    </m:r>
                                  </m:sup>
                                </m:sSup>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𝑅</m:t>
                                    </m:r>
                                  </m:e>
                                  <m:sub>
                                    <m:r>
                                      <a:rPr lang="zh-CN" altLang="en-US" i="1">
                                        <a:latin typeface="Cambria Math" panose="02040503050406030204" pitchFamily="18" charset="0"/>
                                      </a:rPr>
                                      <m:t>𝑡</m:t>
                                    </m:r>
                                    <m:r>
                                      <a:rPr lang="zh-CN" altLang="en-US" i="0">
                                        <a:latin typeface="Cambria Math" panose="02040503050406030204" pitchFamily="18" charset="0"/>
                                      </a:rPr>
                                      <m:t>+3</m:t>
                                    </m:r>
                                  </m:sub>
                                </m:sSub>
                                <m:r>
                                  <a:rPr lang="zh-CN" altLang="en-US" i="0">
                                    <a:latin typeface="Cambria Math" panose="02040503050406030204" pitchFamily="18" charset="0"/>
                                  </a:rPr>
                                  <m:t>+⋯</m:t>
                                </m:r>
                              </m:e>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𝑆</m:t>
                                    </m:r>
                                  </m:e>
                                  <m:sub>
                                    <m:r>
                                      <a:rPr lang="zh-CN" altLang="en-US" i="1">
                                        <a:latin typeface="Cambria Math" panose="02040503050406030204" pitchFamily="18" charset="0"/>
                                      </a:rPr>
                                      <m:t>𝑡</m:t>
                                    </m:r>
                                  </m:sub>
                                </m:sSub>
                                <m:r>
                                  <a:rPr lang="zh-CN" altLang="en-US" i="0">
                                    <a:latin typeface="Cambria Math" panose="02040503050406030204" pitchFamily="18" charset="0"/>
                                  </a:rPr>
                                  <m:t>=</m:t>
                                </m:r>
                                <m:r>
                                  <a:rPr lang="zh-CN" altLang="en-US" i="1">
                                    <a:latin typeface="Cambria Math" panose="02040503050406030204" pitchFamily="18" charset="0"/>
                                  </a:rPr>
                                  <m:t>𝑠</m:t>
                                </m:r>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𝐴</m:t>
                                    </m:r>
                                  </m:e>
                                  <m:sub>
                                    <m:r>
                                      <a:rPr lang="zh-CN" altLang="en-US" i="1">
                                        <a:latin typeface="Cambria Math" panose="02040503050406030204" pitchFamily="18" charset="0"/>
                                      </a:rPr>
                                      <m:t>𝑡</m:t>
                                    </m:r>
                                  </m:sub>
                                </m:sSub>
                                <m:r>
                                  <a:rPr lang="zh-CN" altLang="en-US" i="0">
                                    <a:latin typeface="Cambria Math" panose="02040503050406030204" pitchFamily="18" charset="0"/>
                                  </a:rPr>
                                  <m:t>=</m:t>
                                </m:r>
                                <m:r>
                                  <a:rPr lang="zh-CN" altLang="en-US" i="1">
                                    <a:latin typeface="Cambria Math" panose="02040503050406030204" pitchFamily="18" charset="0"/>
                                  </a:rPr>
                                  <m:t>𝑎</m:t>
                                </m:r>
                              </m:e>
                            </m:d>
                          </m:e>
                        </m:d>
                        <m:r>
                          <a:rPr lang="zh-CN" altLang="en-US" i="0">
                            <a:latin typeface="Cambria Math" panose="02040503050406030204" pitchFamily="18" charset="0"/>
                          </a:rPr>
                          <m:t>=</m:t>
                        </m:r>
                        <m:nary>
                          <m:naryPr>
                            <m:chr m:val="∑"/>
                            <m:limLoc m:val="undOvr"/>
                            <m:supHide m:val="on"/>
                            <m:ctrlPr>
                              <a:rPr lang="zh-CN" altLang="en-US" i="1">
                                <a:latin typeface="Cambria Math" panose="02040503050406030204" pitchFamily="18" charset="0"/>
                              </a:rPr>
                            </m:ctrlPr>
                          </m:naryPr>
                          <m:sub>
                            <m:r>
                              <a:rPr lang="zh-CN" altLang="en-US" i="1">
                                <a:latin typeface="Cambria Math" panose="02040503050406030204" pitchFamily="18" charset="0"/>
                              </a:rPr>
                              <m:t>𝑎</m:t>
                            </m:r>
                            <m:r>
                              <a:rPr lang="zh-CN" altLang="en-US" i="0">
                                <a:latin typeface="Cambria Math" panose="02040503050406030204" pitchFamily="18" charset="0"/>
                              </a:rPr>
                              <m:t>∈</m:t>
                            </m:r>
                            <m:r>
                              <a:rPr lang="zh-CN" altLang="en-US" i="1">
                                <a:latin typeface="Cambria Math" panose="02040503050406030204" pitchFamily="18" charset="0"/>
                              </a:rPr>
                              <m:t>𝐴</m:t>
                            </m:r>
                          </m:sub>
                          <m:sup/>
                          <m:e>
                            <m:limLow>
                              <m:limLowPr>
                                <m:ctrlPr>
                                  <a:rPr lang="zh-CN" altLang="en-US" i="1">
                                    <a:solidFill>
                                      <a:srgbClr val="836967"/>
                                    </a:solidFill>
                                    <a:latin typeface="Cambria Math" panose="02040503050406030204" pitchFamily="18" charset="0"/>
                                  </a:rPr>
                                </m:ctrlPr>
                              </m:limLowPr>
                              <m:e>
                                <m:groupChr>
                                  <m:groupChrPr>
                                    <m:chr m:val="⏟"/>
                                    <m:ctrlPr>
                                      <a:rPr lang="zh-CN" altLang="en-US" i="1">
                                        <a:solidFill>
                                          <a:srgbClr val="836967"/>
                                        </a:solidFill>
                                        <a:latin typeface="Cambria Math" panose="02040503050406030204" pitchFamily="18" charset="0"/>
                                      </a:rPr>
                                    </m:ctrlPr>
                                  </m:groupChrPr>
                                  <m:e>
                                    <m:r>
                                      <a:rPr lang="zh-CN" altLang="en-US" i="1">
                                        <a:latin typeface="Cambria Math" panose="02040503050406030204" pitchFamily="18" charset="0"/>
                                      </a:rPr>
                                      <m:t>𝜋</m:t>
                                    </m:r>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𝑠</m:t>
                                        </m:r>
                                        <m:r>
                                          <a:rPr lang="zh-CN" altLang="en-US" i="0">
                                            <a:latin typeface="Cambria Math" panose="02040503050406030204" pitchFamily="18" charset="0"/>
                                          </a:rPr>
                                          <m:t>,</m:t>
                                        </m:r>
                                        <m:r>
                                          <a:rPr lang="zh-CN" altLang="en-US" i="1">
                                            <a:latin typeface="Cambria Math" panose="02040503050406030204" pitchFamily="18" charset="0"/>
                                          </a:rPr>
                                          <m:t>𝑎</m:t>
                                        </m:r>
                                      </m:e>
                                    </m:d>
                                  </m:e>
                                </m:groupChr>
                              </m:e>
                              <m:lim>
                                <m:r>
                                  <a:rPr lang="zh-CN" altLang="en-US" i="0">
                                    <a:latin typeface="Cambria Math" panose="02040503050406030204" pitchFamily="18" charset="0"/>
                                  </a:rPr>
                                  <m:t>  </m:t>
                                </m:r>
                                <m:r>
                                  <a:rPr lang="zh-CN" altLang="en-US" i="0">
                                    <a:latin typeface="Cambria Math" panose="02040503050406030204" pitchFamily="18" charset="0"/>
                                  </a:rPr>
                                  <m:t>采取动作</m:t>
                                </m:r>
                                <m:r>
                                  <a:rPr lang="zh-CN" altLang="en-US" i="1">
                                    <a:latin typeface="Cambria Math" panose="02040503050406030204" pitchFamily="18" charset="0"/>
                                  </a:rPr>
                                  <m:t>𝑎</m:t>
                                </m:r>
                                <m:r>
                                  <a:rPr lang="zh-CN" altLang="en-US" i="0">
                                    <a:latin typeface="Cambria Math" panose="02040503050406030204" pitchFamily="18" charset="0"/>
                                  </a:rPr>
                                  <m:t>的概率</m:t>
                                </m:r>
                              </m:lim>
                            </m:limLow>
                          </m:e>
                        </m:nary>
                        <m:r>
                          <a:rPr lang="zh-CN" altLang="en-US" i="0">
                            <a:latin typeface="Cambria Math" panose="02040503050406030204" pitchFamily="18" charset="0"/>
                          </a:rPr>
                          <m:t>×</m:t>
                        </m:r>
                        <m:limLow>
                          <m:limLowPr>
                            <m:ctrlPr>
                              <a:rPr lang="zh-CN" altLang="en-US" i="1">
                                <a:solidFill>
                                  <a:srgbClr val="836967"/>
                                </a:solidFill>
                                <a:latin typeface="Cambria Math" panose="02040503050406030204" pitchFamily="18" charset="0"/>
                              </a:rPr>
                            </m:ctrlPr>
                          </m:limLowPr>
                          <m:e>
                            <m:groupChr>
                              <m:groupChrPr>
                                <m:chr m:val="⏟"/>
                                <m:ctrlPr>
                                  <a:rPr lang="zh-CN" altLang="en-US" i="1">
                                    <a:solidFill>
                                      <a:srgbClr val="836967"/>
                                    </a:solidFill>
                                    <a:latin typeface="Cambria Math" panose="02040503050406030204" pitchFamily="18" charset="0"/>
                                  </a:rPr>
                                </m:ctrlPr>
                              </m:groupChr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𝑞</m:t>
                                    </m:r>
                                  </m:e>
                                  <m:sub>
                                    <m:r>
                                      <a:rPr lang="zh-CN" altLang="en-US" i="1">
                                        <a:latin typeface="Cambria Math" panose="02040503050406030204" pitchFamily="18" charset="0"/>
                                      </a:rPr>
                                      <m:t>𝜋</m:t>
                                    </m:r>
                                  </m:sub>
                                </m:sSub>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𝑠</m:t>
                                    </m:r>
                                    <m:r>
                                      <a:rPr lang="zh-CN" altLang="en-US" i="0">
                                        <a:latin typeface="Cambria Math" panose="02040503050406030204" pitchFamily="18" charset="0"/>
                                      </a:rPr>
                                      <m:t>,</m:t>
                                    </m:r>
                                    <m:r>
                                      <a:rPr lang="zh-CN" altLang="en-US" i="1">
                                        <a:latin typeface="Cambria Math" panose="02040503050406030204" pitchFamily="18" charset="0"/>
                                      </a:rPr>
                                      <m:t>𝑎</m:t>
                                    </m:r>
                                  </m:e>
                                </m:d>
                              </m:e>
                            </m:groupChr>
                          </m:e>
                          <m:lim>
                            <m:r>
                              <a:rPr lang="zh-CN" altLang="en-US" i="0">
                                <a:latin typeface="Cambria Math" panose="02040503050406030204" pitchFamily="18" charset="0"/>
                              </a:rPr>
                              <m:t>采取动作</m:t>
                            </m:r>
                            <m:r>
                              <a:rPr lang="zh-CN" altLang="en-US" i="1">
                                <a:latin typeface="Cambria Math" panose="02040503050406030204" pitchFamily="18" charset="0"/>
                              </a:rPr>
                              <m:t>𝑎</m:t>
                            </m:r>
                            <m:r>
                              <a:rPr lang="zh-CN" altLang="en-US" i="0">
                                <a:latin typeface="Cambria Math" panose="02040503050406030204" pitchFamily="18" charset="0"/>
                              </a:rPr>
                              <m:t>后带来的回报期望</m:t>
                            </m:r>
                          </m:lim>
                        </m:limLow>
                        <m:r>
                          <a:rPr lang="zh-CN" altLang="en-US" i="0">
                            <a:latin typeface="Cambria Math" panose="02040503050406030204" pitchFamily="18" charset="0"/>
                          </a:rPr>
                          <m:t> </m:t>
                        </m:r>
                      </m:oMath>
                    </m:oMathPara>
                  </a14:m>
                  <a:endParaRPr lang="en-US" altLang="zh-CN" dirty="0"/>
                </a:p>
                <a:p>
                  <a:endParaRPr lang="zh-CN" altLang="en-US" dirty="0"/>
                </a:p>
              </p:txBody>
            </p:sp>
          </mc:Choice>
          <mc:Fallback xmlns="">
            <p:sp>
              <p:nvSpPr>
                <p:cNvPr id="13" name="文本框 12">
                  <a:extLst>
                    <a:ext uri="{FF2B5EF4-FFF2-40B4-BE49-F238E27FC236}">
                      <a16:creationId xmlns:a16="http://schemas.microsoft.com/office/drawing/2014/main" id="{DAA5E8AC-ECD3-4F65-8BAE-7CF33DF58EDD}"/>
                    </a:ext>
                  </a:extLst>
                </p:cNvPr>
                <p:cNvSpPr txBox="1">
                  <a:spLocks noRot="1" noChangeAspect="1" noMove="1" noResize="1" noEditPoints="1" noAdjustHandles="1" noChangeArrowheads="1" noChangeShapeType="1" noTextEdit="1"/>
                </p:cNvSpPr>
                <p:nvPr/>
              </p:nvSpPr>
              <p:spPr>
                <a:xfrm>
                  <a:off x="427661" y="3714303"/>
                  <a:ext cx="8116909" cy="183909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8DF714DD-2D59-41FD-8BDA-FD43E6A851F9}"/>
                    </a:ext>
                  </a:extLst>
                </p:cNvPr>
                <p:cNvSpPr txBox="1"/>
                <p:nvPr/>
              </p:nvSpPr>
              <p:spPr>
                <a:xfrm>
                  <a:off x="23446" y="5153528"/>
                  <a:ext cx="5376928" cy="6043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mtClean="0">
                            <a:latin typeface="Cambria Math" panose="02040503050406030204" pitchFamily="18" charset="0"/>
                          </a:rPr>
                          <m:t>=</m:t>
                        </m:r>
                        <m:nary>
                          <m:naryPr>
                            <m:chr m:val="∑"/>
                            <m:limLoc m:val="subSup"/>
                            <m:supHide m:val="on"/>
                            <m:ctrlPr>
                              <a:rPr lang="zh-CN" altLang="en-US" i="1">
                                <a:latin typeface="Cambria Math" panose="02040503050406030204" pitchFamily="18" charset="0"/>
                              </a:rPr>
                            </m:ctrlPr>
                          </m:naryPr>
                          <m:sub>
                            <m:r>
                              <a:rPr lang="zh-CN" altLang="en-US" i="1">
                                <a:latin typeface="Cambria Math" panose="02040503050406030204" pitchFamily="18" charset="0"/>
                              </a:rPr>
                              <m:t>𝑎</m:t>
                            </m:r>
                            <m:r>
                              <a:rPr lang="zh-CN" altLang="en-US" i="0">
                                <a:latin typeface="Cambria Math" panose="02040503050406030204" pitchFamily="18" charset="0"/>
                              </a:rPr>
                              <m:t>∈</m:t>
                            </m:r>
                            <m:r>
                              <a:rPr lang="zh-CN" altLang="en-US" i="1">
                                <a:latin typeface="Cambria Math" panose="02040503050406030204" pitchFamily="18" charset="0"/>
                              </a:rPr>
                              <m:t>𝐴</m:t>
                            </m:r>
                          </m:sub>
                          <m:sup/>
                          <m:e>
                            <m:d>
                              <m:dPr>
                                <m:begChr m:val=""/>
                                <m:ctrlPr>
                                  <a:rPr lang="zh-CN" altLang="en-US" i="1">
                                    <a:latin typeface="Cambria Math" panose="02040503050406030204" pitchFamily="18" charset="0"/>
                                  </a:rPr>
                                </m:ctrlPr>
                              </m:dPr>
                              <m:e>
                                <m:r>
                                  <a:rPr lang="zh-CN" altLang="en-US" i="1">
                                    <a:latin typeface="Cambria Math" panose="02040503050406030204" pitchFamily="18" charset="0"/>
                                  </a:rPr>
                                  <m:t>𝜋</m:t>
                                </m:r>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𝑠</m:t>
                                    </m:r>
                                    <m:r>
                                      <a:rPr lang="zh-CN" altLang="en-US" i="0">
                                        <a:latin typeface="Cambria Math" panose="02040503050406030204" pitchFamily="18" charset="0"/>
                                      </a:rPr>
                                      <m:t>,</m:t>
                                    </m:r>
                                    <m:r>
                                      <a:rPr lang="zh-CN" altLang="en-US" i="1">
                                        <a:latin typeface="Cambria Math" panose="02040503050406030204" pitchFamily="18" charset="0"/>
                                      </a:rPr>
                                      <m:t>𝑎</m:t>
                                    </m:r>
                                  </m:e>
                                </m:d>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𝑞</m:t>
                                    </m:r>
                                  </m:e>
                                  <m:sub>
                                    <m:r>
                                      <a:rPr lang="zh-CN" altLang="en-US" i="1">
                                        <a:latin typeface="Cambria Math" panose="02040503050406030204" pitchFamily="18" charset="0"/>
                                      </a:rPr>
                                      <m:t>𝜋</m:t>
                                    </m:r>
                                  </m:sub>
                                </m:sSub>
                                <m:r>
                                  <a:rPr lang="zh-CN" altLang="en-US" i="0">
                                    <a:latin typeface="Cambria Math" panose="02040503050406030204" pitchFamily="18" charset="0"/>
                                  </a:rPr>
                                  <m:t>(</m:t>
                                </m:r>
                                <m:r>
                                  <a:rPr lang="zh-CN" altLang="en-US" i="1">
                                    <a:latin typeface="Cambria Math" panose="02040503050406030204" pitchFamily="18" charset="0"/>
                                  </a:rPr>
                                  <m:t>𝑠</m:t>
                                </m:r>
                                <m:r>
                                  <a:rPr lang="zh-CN" altLang="en-US" i="0">
                                    <a:latin typeface="Cambria Math" panose="02040503050406030204" pitchFamily="18" charset="0"/>
                                  </a:rPr>
                                  <m:t>,</m:t>
                                </m:r>
                                <m:r>
                                  <a:rPr lang="zh-CN" altLang="en-US" i="1">
                                    <a:latin typeface="Cambria Math" panose="02040503050406030204" pitchFamily="18" charset="0"/>
                                  </a:rPr>
                                  <m:t>𝑎</m:t>
                                </m:r>
                              </m:e>
                            </m:d>
                          </m:e>
                        </m:nary>
                      </m:oMath>
                    </m:oMathPara>
                  </a14:m>
                  <a:endParaRPr lang="zh-CN" altLang="en-US" dirty="0"/>
                </a:p>
              </p:txBody>
            </p:sp>
          </mc:Choice>
          <mc:Fallback xmlns="">
            <p:sp>
              <p:nvSpPr>
                <p:cNvPr id="14" name="文本框 13">
                  <a:extLst>
                    <a:ext uri="{FF2B5EF4-FFF2-40B4-BE49-F238E27FC236}">
                      <a16:creationId xmlns:a16="http://schemas.microsoft.com/office/drawing/2014/main" id="{8DF714DD-2D59-41FD-8BDA-FD43E6A851F9}"/>
                    </a:ext>
                  </a:extLst>
                </p:cNvPr>
                <p:cNvSpPr txBox="1">
                  <a:spLocks noRot="1" noChangeAspect="1" noMove="1" noResize="1" noEditPoints="1" noAdjustHandles="1" noChangeArrowheads="1" noChangeShapeType="1" noTextEdit="1"/>
                </p:cNvSpPr>
                <p:nvPr/>
              </p:nvSpPr>
              <p:spPr>
                <a:xfrm>
                  <a:off x="23446" y="5153528"/>
                  <a:ext cx="5376928" cy="604396"/>
                </a:xfrm>
                <a:prstGeom prst="rect">
                  <a:avLst/>
                </a:prstGeom>
                <a:blipFill>
                  <a:blip r:embed="rId5"/>
                  <a:stretch>
                    <a:fillRect/>
                  </a:stretch>
                </a:blipFill>
              </p:spPr>
              <p:txBody>
                <a:bodyPr/>
                <a:lstStyle/>
                <a:p>
                  <a:r>
                    <a:rPr lang="zh-CN" altLang="en-US">
                      <a:noFill/>
                    </a:rPr>
                    <a:t> </a:t>
                  </a:r>
                </a:p>
              </p:txBody>
            </p:sp>
          </mc:Fallback>
        </mc:AlternateContent>
      </p:grpSp>
      <p:cxnSp>
        <p:nvCxnSpPr>
          <p:cNvPr id="15" name="直接连接符 14">
            <a:extLst>
              <a:ext uri="{FF2B5EF4-FFF2-40B4-BE49-F238E27FC236}">
                <a16:creationId xmlns:a16="http://schemas.microsoft.com/office/drawing/2014/main" id="{710FAD2E-6480-463E-AA23-98C59874FFC0}"/>
              </a:ext>
            </a:extLst>
          </p:cNvPr>
          <p:cNvCxnSpPr>
            <a:cxnSpLocks/>
          </p:cNvCxnSpPr>
          <p:nvPr/>
        </p:nvCxnSpPr>
        <p:spPr>
          <a:xfrm>
            <a:off x="1417998" y="3223572"/>
            <a:ext cx="9281036" cy="0"/>
          </a:xfrm>
          <a:prstGeom prst="line">
            <a:avLst/>
          </a:prstGeom>
          <a:ln w="3175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B68DA5C5-C618-4CA6-89E2-EED318581C5C}"/>
                  </a:ext>
                </a:extLst>
              </p:cNvPr>
              <p:cNvSpPr/>
              <p:nvPr/>
            </p:nvSpPr>
            <p:spPr>
              <a:xfrm>
                <a:off x="1292437" y="5462116"/>
                <a:ext cx="9744221" cy="584775"/>
              </a:xfrm>
              <a:prstGeom prst="rect">
                <a:avLst/>
              </a:prstGeom>
            </p:spPr>
            <p:txBody>
              <a:bodyPr wrap="square">
                <a:spAutoFit/>
              </a:bodyPr>
              <a:lstStyle/>
              <a:p>
                <a:pPr indent="304800" algn="ctr"/>
                <a:r>
                  <a:rPr lang="zh-CN" altLang="zh-CN" sz="1600" kern="100" dirty="0">
                    <a:latin typeface="Times New Roman" panose="02020603050405020304" pitchFamily="18" charset="0"/>
                    <a:ea typeface="华文楷体" panose="02010600040101010101" pitchFamily="2" charset="-122"/>
                    <a:cs typeface="Times New Roman" panose="02020603050405020304" pitchFamily="18" charset="0"/>
                  </a:rPr>
                  <a:t>价值函数取值与时间没有关系，只与策略</a:t>
                </a:r>
                <a14:m>
                  <m:oMath xmlns:m="http://schemas.openxmlformats.org/officeDocument/2006/math">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𝜋</m:t>
                    </m:r>
                  </m:oMath>
                </a14:m>
                <a:r>
                  <a:rPr lang="zh-CN" altLang="zh-CN" sz="1600" kern="100" dirty="0">
                    <a:latin typeface="Times New Roman" panose="02020603050405020304" pitchFamily="18" charset="0"/>
                    <a:ea typeface="华文楷体" panose="02010600040101010101" pitchFamily="2" charset="-122"/>
                    <a:cs typeface="Times New Roman" panose="02020603050405020304" pitchFamily="18" charset="0"/>
                  </a:rPr>
                  <a:t>、在策略</a:t>
                </a:r>
                <a14:m>
                  <m:oMath xmlns:m="http://schemas.openxmlformats.org/officeDocument/2006/math">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𝜋</m:t>
                    </m:r>
                  </m:oMath>
                </a14:m>
                <a:r>
                  <a:rPr lang="zh-CN" altLang="zh-CN" sz="1600" kern="100" dirty="0">
                    <a:latin typeface="Times New Roman" panose="02020603050405020304" pitchFamily="18" charset="0"/>
                    <a:ea typeface="华文楷体" panose="02010600040101010101" pitchFamily="2" charset="-122"/>
                    <a:cs typeface="Times New Roman" panose="02020603050405020304" pitchFamily="18" charset="0"/>
                  </a:rPr>
                  <a:t>下从某个状态转移到其后续状态所取得的回报以及在后续所得回报有关。</a:t>
                </a:r>
                <a:r>
                  <a:rPr lang="en-US" altLang="zh-CN" sz="1600" kern="1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1600"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严格来说，</a:t>
                </a:r>
                <a14:m>
                  <m:oMath xmlns:m="http://schemas.openxmlformats.org/officeDocument/2006/math">
                    <m:r>
                      <a:rPr lang="zh-CN" altLang="en-US" sz="1600" i="1">
                        <a:solidFill>
                          <a:srgbClr val="FF0000"/>
                        </a:solidFill>
                        <a:latin typeface="Cambria Math" panose="02040503050406030204" pitchFamily="18" charset="0"/>
                      </a:rPr>
                      <m:t>𝜋</m:t>
                    </m:r>
                    <m:d>
                      <m:dPr>
                        <m:ctrlPr>
                          <a:rPr lang="zh-CN" altLang="en-US" sz="1600" i="1">
                            <a:solidFill>
                              <a:srgbClr val="FF0000"/>
                            </a:solidFill>
                            <a:latin typeface="Cambria Math" panose="02040503050406030204" pitchFamily="18" charset="0"/>
                          </a:rPr>
                        </m:ctrlPr>
                      </m:dPr>
                      <m:e>
                        <m:r>
                          <a:rPr lang="zh-CN" altLang="en-US" sz="1600" i="1">
                            <a:solidFill>
                              <a:srgbClr val="FF0000"/>
                            </a:solidFill>
                            <a:latin typeface="Cambria Math" panose="02040503050406030204" pitchFamily="18" charset="0"/>
                          </a:rPr>
                          <m:t>𝑠</m:t>
                        </m:r>
                        <m:r>
                          <a:rPr lang="zh-CN" altLang="en-US" sz="1600">
                            <a:solidFill>
                              <a:srgbClr val="FF0000"/>
                            </a:solidFill>
                            <a:latin typeface="Cambria Math" panose="02040503050406030204" pitchFamily="18" charset="0"/>
                          </a:rPr>
                          <m:t>,</m:t>
                        </m:r>
                        <m:r>
                          <a:rPr lang="zh-CN" altLang="en-US" sz="1600" i="1">
                            <a:solidFill>
                              <a:srgbClr val="FF0000"/>
                            </a:solidFill>
                            <a:latin typeface="Cambria Math" panose="02040503050406030204" pitchFamily="18" charset="0"/>
                          </a:rPr>
                          <m:t>𝑎</m:t>
                        </m:r>
                      </m:e>
                    </m:d>
                  </m:oMath>
                </a14:m>
                <a:r>
                  <a:rPr lang="zh-CN" altLang="en-US" sz="1600"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应该写成</a:t>
                </a:r>
                <a14:m>
                  <m:oMath xmlns:m="http://schemas.openxmlformats.org/officeDocument/2006/math">
                    <m:r>
                      <a:rPr lang="zh-CN" altLang="en-US" sz="1600" i="1">
                        <a:solidFill>
                          <a:srgbClr val="FF0000"/>
                        </a:solidFill>
                        <a:latin typeface="Cambria Math" panose="02040503050406030204" pitchFamily="18" charset="0"/>
                      </a:rPr>
                      <m:t>𝜋</m:t>
                    </m:r>
                    <m:d>
                      <m:dPr>
                        <m:ctrlPr>
                          <a:rPr lang="zh-CN" altLang="en-US" sz="1600" i="1">
                            <a:solidFill>
                              <a:srgbClr val="FF0000"/>
                            </a:solidFill>
                            <a:latin typeface="Cambria Math" panose="02040503050406030204" pitchFamily="18" charset="0"/>
                          </a:rPr>
                        </m:ctrlPr>
                      </m:dPr>
                      <m:e>
                        <m:r>
                          <a:rPr lang="en-US" altLang="zh-CN" sz="1600" b="0" i="1" smtClean="0">
                            <a:solidFill>
                              <a:srgbClr val="FF0000"/>
                            </a:solidFill>
                            <a:latin typeface="Cambria Math" panose="02040503050406030204" pitchFamily="18" charset="0"/>
                          </a:rPr>
                          <m:t>𝑎</m:t>
                        </m:r>
                        <m:r>
                          <a:rPr lang="en-US" altLang="zh-CN" sz="1600" b="0" i="1" smtClean="0">
                            <a:solidFill>
                              <a:srgbClr val="FF0000"/>
                            </a:solidFill>
                            <a:latin typeface="Cambria Math" panose="02040503050406030204" pitchFamily="18" charset="0"/>
                          </a:rPr>
                          <m:t>|</m:t>
                        </m:r>
                        <m:r>
                          <a:rPr lang="zh-CN" altLang="en-US" sz="1600" i="1">
                            <a:solidFill>
                              <a:srgbClr val="FF0000"/>
                            </a:solidFill>
                            <a:latin typeface="Cambria Math" panose="02040503050406030204" pitchFamily="18" charset="0"/>
                          </a:rPr>
                          <m:t>𝑠</m:t>
                        </m:r>
                      </m:e>
                    </m:d>
                  </m:oMath>
                </a14:m>
                <a:r>
                  <a:rPr lang="en-US" altLang="zh-CN" sz="1600" kern="1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B68DA5C5-C618-4CA6-89E2-EED318581C5C}"/>
                  </a:ext>
                </a:extLst>
              </p:cNvPr>
              <p:cNvSpPr>
                <a:spLocks noRot="1" noChangeAspect="1" noMove="1" noResize="1" noEditPoints="1" noAdjustHandles="1" noChangeArrowheads="1" noChangeShapeType="1" noTextEdit="1"/>
              </p:cNvSpPr>
              <p:nvPr/>
            </p:nvSpPr>
            <p:spPr>
              <a:xfrm>
                <a:off x="1292437" y="5462116"/>
                <a:ext cx="9744221" cy="584775"/>
              </a:xfrm>
              <a:prstGeom prst="rect">
                <a:avLst/>
              </a:prstGeom>
              <a:blipFill>
                <a:blip r:embed="rId6"/>
                <a:stretch>
                  <a:fillRect t="-2083" b="-13542"/>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550750FB-198A-E00E-62E1-D01E34D6BE91}"/>
              </a:ext>
            </a:extLst>
          </p:cNvPr>
          <p:cNvSpPr txBox="1"/>
          <p:nvPr/>
        </p:nvSpPr>
        <p:spPr>
          <a:xfrm>
            <a:off x="1200443" y="1335890"/>
            <a:ext cx="9519139" cy="881460"/>
          </a:xfrm>
          <a:prstGeom prst="rect">
            <a:avLst/>
          </a:prstGeom>
          <a:noFill/>
        </p:spPr>
        <p:txBody>
          <a:bodyPr wrap="square">
            <a:spAutoFit/>
          </a:bodyPr>
          <a:lstStyle/>
          <a:p>
            <a:pPr algn="ctr">
              <a:lnSpc>
                <a:spcPct val="150000"/>
              </a:lnSpc>
            </a:pPr>
            <a:r>
              <a:rPr lang="zh-CN" altLang="zh-CN" sz="1800"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贝尔曼方程（</a:t>
            </a:r>
            <a:r>
              <a:rPr lang="en-US" altLang="zh-CN" sz="1800"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Bellman Equation</a:t>
            </a:r>
            <a:r>
              <a:rPr lang="zh-CN" altLang="zh-CN" sz="1800"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）也被称作动态规划方程（</a:t>
            </a:r>
            <a:r>
              <a:rPr lang="en-US" altLang="zh-CN" sz="1800"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Dynamic Programming Equation</a:t>
            </a:r>
            <a:r>
              <a:rPr lang="zh-CN" altLang="zh-CN" sz="1800"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），由理查德</a:t>
            </a:r>
            <a:r>
              <a:rPr lang="en-US" altLang="zh-CN" sz="1800"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800"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贝尔曼（</a:t>
            </a:r>
            <a:r>
              <a:rPr lang="en-US" altLang="zh-CN" sz="1800"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Richard Bellman</a:t>
            </a:r>
            <a:r>
              <a:rPr lang="zh-CN" altLang="zh-CN" sz="1800"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）提出。</a:t>
            </a:r>
            <a:endParaRPr lang="zh-CN" altLang="zh-CN" sz="1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975338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强化学习</a:t>
              </a: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贝尔曼方程</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强化学习问题定义</a:t>
            </a: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197870D4-D3C2-43DE-8D71-F7F956EE9A13}"/>
                  </a:ext>
                </a:extLst>
              </p:cNvPr>
              <p:cNvSpPr txBox="1"/>
              <p:nvPr/>
            </p:nvSpPr>
            <p:spPr>
              <a:xfrm>
                <a:off x="2503794" y="3366989"/>
                <a:ext cx="6253485" cy="1843197"/>
              </a:xfrm>
              <a:prstGeom prst="rect">
                <a:avLst/>
              </a:prstGeom>
              <a:noFill/>
            </p:spPr>
            <p:txBody>
              <a:bodyPr wrap="square">
                <a:spAutoFit/>
              </a:bodyPr>
              <a:lstStyle/>
              <a:p>
                <a:pPr algn="r"/>
                <a14:m>
                  <m:oMathPara xmlns:m="http://schemas.openxmlformats.org/officeDocument/2006/math">
                    <m:oMathParaPr>
                      <m:jc m:val="centerGroup"/>
                    </m:oMathParaPr>
                    <m:oMath xmlns:m="http://schemas.openxmlformats.org/officeDocument/2006/math">
                      <m:sSub>
                        <m:sSubPr>
                          <m:ctrlPr>
                            <a:rPr lang="zh-CN" altLang="zh-CN" sz="1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𝑞</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zh-CN" altLang="zh-CN" sz="1800" b="1"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𝑎</m:t>
                          </m:r>
                        </m:e>
                      </m:d>
                      <m:r>
                        <a:rPr lang="en-US" altLang="zh-CN" sz="1800" b="1" i="1" kern="100">
                          <a:effectLst/>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8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b="1" i="1" kern="100">
                              <a:effectLst/>
                              <a:latin typeface="Cambria Math" panose="02040503050406030204" pitchFamily="18" charset="0"/>
                              <a:ea typeface="华文楷体" panose="02010600040101010101" pitchFamily="2" charset="-122"/>
                              <a:cs typeface="Times New Roman" panose="02020603050405020304" pitchFamily="18" charset="0"/>
                            </a:rPr>
                            <m:t>𝔼</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𝜋</m:t>
                          </m:r>
                        </m:sub>
                      </m:sSub>
                      <m:d>
                        <m:dPr>
                          <m:begChr m:val="["/>
                          <m:endChr m:val="]"/>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𝑅</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𝑡</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+1</m:t>
                              </m:r>
                            </m:sub>
                          </m:s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𝛾</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𝑅</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𝑡</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+2</m:t>
                              </m:r>
                            </m:sub>
                          </m:s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sSup>
                            <m:s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𝛾</m:t>
                              </m:r>
                            </m:e>
                            <m:sup>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2</m:t>
                              </m:r>
                            </m:sup>
                          </m:sSup>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𝑅</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𝑡</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+3</m:t>
                              </m:r>
                            </m:sub>
                          </m:s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e>
                        <m:e>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𝑆</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𝑡</m:t>
                              </m:r>
                            </m:sub>
                          </m:s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𝐴</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𝑡</m:t>
                              </m:r>
                            </m:sub>
                          </m:s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𝑎</m:t>
                          </m:r>
                        </m:e>
                      </m:d>
                    </m:oMath>
                    <m:oMath xmlns:m="http://schemas.openxmlformats.org/officeDocument/2006/math">
                      <m:r>
                        <m:rPr>
                          <m:aln/>
                        </m:rP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𝔼</m:t>
                          </m:r>
                        </m:e>
                        <m:sub>
                          <m:sSup>
                            <m:s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sup>
                          </m:sSup>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func>
                            <m:func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uncPr>
                            <m:fNa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𝑃</m:t>
                              </m:r>
                            </m:fName>
                            <m:e>
                              <m:d>
                                <m:d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e>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𝑎</m:t>
                                  </m:r>
                                </m:e>
                              </m:d>
                            </m:e>
                          </m:func>
                        </m:sub>
                      </m:sSub>
                      <m:d>
                        <m:dPr>
                          <m:begChr m:val="["/>
                          <m:endChr m:val="]"/>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𝑅</m:t>
                          </m:r>
                          <m:d>
                            <m:d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𝑎</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sSup>
                                <m:s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sup>
                              </m:sSup>
                            </m:e>
                          </m:d>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𝛾</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𝔼</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𝜋</m:t>
                              </m:r>
                            </m:sub>
                          </m:sSub>
                          <m:d>
                            <m:dPr>
                              <m:begChr m:val="["/>
                              <m:endChr m:val="]"/>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𝑅</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𝑡</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+2</m:t>
                                  </m:r>
                                </m:sub>
                              </m:s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𝛾</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𝑅</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𝑡</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+3</m:t>
                                  </m:r>
                                </m:sub>
                              </m:s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e>
                            <m:e>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𝑆</m:t>
                                  </m:r>
                                </m:e>
                                <m: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𝑡</m:t>
                                  </m:r>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+1</m:t>
                                  </m:r>
                                </m:sub>
                              </m:sSub>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sSup>
                                <m:s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sz="1800" i="1" kern="100">
                                      <a:effectLst/>
                                      <a:latin typeface="Cambria Math" panose="02040503050406030204" pitchFamily="18" charset="0"/>
                                      <a:ea typeface="华文楷体" panose="02010600040101010101" pitchFamily="2" charset="-122"/>
                                      <a:cs typeface="Times New Roman" panose="02020603050405020304" pitchFamily="18" charset="0"/>
                                    </a:rPr>
                                    <m:t>′</m:t>
                                  </m:r>
                                </m:sup>
                              </m:sSup>
                            </m:e>
                          </m:d>
                        </m:e>
                      </m:d>
                    </m:oMath>
                  </m:oMathPara>
                </a14:m>
                <a:endParaRPr lang="zh-CN" altLang="zh-CN" sz="1400" kern="100" dirty="0">
                  <a:effectLst/>
                  <a:latin typeface="等线" panose="02010600030101010101" pitchFamily="2" charset="-122"/>
                  <a:ea typeface="等线" panose="02010600030101010101" pitchFamily="2" charset="-122"/>
                  <a:cs typeface="Times New Roman" panose="02020603050405020304" pitchFamily="18" charset="0"/>
                </a:endParaRPr>
              </a:p>
              <a:p>
                <a:pPr algn="r"/>
                <a14:m>
                  <m:oMathPara xmlns:m="http://schemas.openxmlformats.org/officeDocument/2006/math">
                    <m:oMathParaPr>
                      <m:jc m:val="centerGroup"/>
                    </m:oMathParaPr>
                    <m:oMath xmlns:m="http://schemas.openxmlformats.org/officeDocument/2006/math">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m:t>
                      </m:r>
                      <m:nary>
                        <m:naryPr>
                          <m:chr m:val="∑"/>
                          <m:supHide m:val="on"/>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sSup>
                            <m:sSup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m:t>
                              </m:r>
                            </m:sup>
                          </m:sSup>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b="1" i="1" kern="100">
                              <a:effectLst/>
                              <a:latin typeface="Cambria Math" panose="02040503050406030204" pitchFamily="18" charset="0"/>
                              <a:ea typeface="华文楷体" panose="02010600040101010101" pitchFamily="2" charset="-122"/>
                              <a:cs typeface="Times New Roman" panose="02020603050405020304" pitchFamily="18" charset="0"/>
                            </a:rPr>
                            <m:t>𝑺</m:t>
                          </m:r>
                        </m:sub>
                        <m:sup/>
                        <m:e>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 </m:t>
                          </m:r>
                          <m:limLow>
                            <m:limLow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limLowPr>
                            <m:e>
                              <m:groupChr>
                                <m:groupChrPr>
                                  <m:chr m:val="⏟"/>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groupChrPr>
                                <m:e>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𝑃</m:t>
                                  </m:r>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m:t>
                                  </m:r>
                                  <m:sSup>
                                    <m:sSup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m:t>
                                      </m:r>
                                    </m:sup>
                                  </m:sSup>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𝑎</m:t>
                                  </m:r>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m:t>
                                  </m:r>
                                </m:e>
                              </m:groupChr>
                            </m:e>
                            <m:lim>
                              <m:r>
                                <a:rPr lang="zh-CN" altLang="zh-CN" sz="1400" kern="100">
                                  <a:effectLst/>
                                  <a:latin typeface="Cambria Math" panose="02040503050406030204" pitchFamily="18" charset="0"/>
                                  <a:ea typeface="华文楷体" panose="02010600040101010101" pitchFamily="2" charset="-122"/>
                                  <a:cs typeface="Times New Roman" panose="02020603050405020304" pitchFamily="18" charset="0"/>
                                </a:rPr>
                                <m:t>在状态</m:t>
                              </m:r>
                              <m:r>
                                <m:rPr>
                                  <m:sty m:val="p"/>
                                </m:rPr>
                                <a:rPr lang="en-US" altLang="zh-CN" sz="1400" kern="100">
                                  <a:effectLst/>
                                  <a:latin typeface="Cambria Math" panose="02040503050406030204" pitchFamily="18" charset="0"/>
                                  <a:ea typeface="华文楷体" panose="02010600040101010101" pitchFamily="2" charset="-122"/>
                                  <a:cs typeface="Times New Roman" panose="02020603050405020304" pitchFamily="18" charset="0"/>
                                </a:rPr>
                                <m:t>s</m:t>
                              </m:r>
                              <m:r>
                                <a:rPr lang="zh-CN" altLang="zh-CN" sz="1400" kern="100">
                                  <a:effectLst/>
                                  <a:latin typeface="Cambria Math" panose="02040503050406030204" pitchFamily="18" charset="0"/>
                                  <a:ea typeface="华文楷体" panose="02010600040101010101" pitchFamily="2" charset="-122"/>
                                  <a:cs typeface="Times New Roman" panose="02020603050405020304" pitchFamily="18" charset="0"/>
                                </a:rPr>
                                <m:t>采取行动</m:t>
                              </m:r>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𝑎</m:t>
                              </m:r>
                              <m:r>
                                <a:rPr lang="zh-CN" altLang="zh-CN" sz="1400" kern="100">
                                  <a:effectLst/>
                                  <a:latin typeface="Cambria Math" panose="02040503050406030204" pitchFamily="18" charset="0"/>
                                  <a:ea typeface="华文楷体" panose="02010600040101010101" pitchFamily="2" charset="-122"/>
                                  <a:cs typeface="Times New Roman" panose="02020603050405020304" pitchFamily="18" charset="0"/>
                                </a:rPr>
                                <m:t>进入状态</m:t>
                              </m:r>
                              <m:sSup>
                                <m:sSup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m:t>
                                  </m:r>
                                </m:sup>
                              </m:sSup>
                              <m:r>
                                <a:rPr lang="zh-CN" altLang="zh-CN" sz="1400" kern="100">
                                  <a:effectLst/>
                                  <a:latin typeface="Cambria Math" panose="02040503050406030204" pitchFamily="18" charset="0"/>
                                  <a:ea typeface="华文楷体" panose="02010600040101010101" pitchFamily="2" charset="-122"/>
                                  <a:cs typeface="Times New Roman" panose="02020603050405020304" pitchFamily="18" charset="0"/>
                                </a:rPr>
                                <m:t>的概率</m:t>
                              </m:r>
                            </m:lim>
                          </m:limLow>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m:t>
                          </m:r>
                          <m:limLow>
                            <m:limLow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limLowPr>
                            <m:e>
                              <m:groupChr>
                                <m:groupChrPr>
                                  <m:chr m:val="⏟"/>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groupChrPr>
                                <m:e>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𝑅</m:t>
                                  </m:r>
                                  <m:d>
                                    <m:d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𝑎</m:t>
                                      </m:r>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m:t>
                                      </m:r>
                                      <m:sSup>
                                        <m:sSup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m:t>
                                          </m:r>
                                        </m:sup>
                                      </m:sSup>
                                    </m:e>
                                  </m:d>
                                </m:e>
                              </m:groupChr>
                            </m:e>
                            <m:lim>
                              <m:r>
                                <a:rPr lang="zh-CN" altLang="zh-CN" sz="1400" kern="100">
                                  <a:effectLst/>
                                  <a:latin typeface="Cambria Math" panose="02040503050406030204" pitchFamily="18" charset="0"/>
                                  <a:ea typeface="华文楷体" panose="02010600040101010101" pitchFamily="2" charset="-122"/>
                                  <a:cs typeface="Times New Roman" panose="02020603050405020304" pitchFamily="18" charset="0"/>
                                </a:rPr>
                                <m:t>在</m:t>
                              </m:r>
                              <m:r>
                                <m:rPr>
                                  <m:sty m:val="p"/>
                                </m:rPr>
                                <a:rPr lang="en-US" altLang="zh-CN" sz="1400" kern="100">
                                  <a:effectLst/>
                                  <a:latin typeface="Cambria Math" panose="02040503050406030204" pitchFamily="18" charset="0"/>
                                  <a:ea typeface="华文楷体" panose="02010600040101010101" pitchFamily="2" charset="-122"/>
                                  <a:cs typeface="Times New Roman" panose="02020603050405020304" pitchFamily="18" charset="0"/>
                                </a:rPr>
                                <m:t>s</m:t>
                              </m:r>
                              <m:r>
                                <a:rPr lang="zh-CN" altLang="zh-CN" sz="1400" kern="100">
                                  <a:effectLst/>
                                  <a:latin typeface="Cambria Math" panose="02040503050406030204" pitchFamily="18" charset="0"/>
                                  <a:ea typeface="华文楷体" panose="02010600040101010101" pitchFamily="2" charset="-122"/>
                                  <a:cs typeface="Times New Roman" panose="02020603050405020304" pitchFamily="18" charset="0"/>
                                </a:rPr>
                                <m:t>采取</m:t>
                              </m:r>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𝑎</m:t>
                              </m:r>
                              <m:r>
                                <a:rPr lang="zh-CN" altLang="zh-CN" sz="1400" kern="100">
                                  <a:effectLst/>
                                  <a:latin typeface="Cambria Math" panose="02040503050406030204" pitchFamily="18" charset="0"/>
                                  <a:ea typeface="华文楷体" panose="02010600040101010101" pitchFamily="2" charset="-122"/>
                                  <a:cs typeface="Times New Roman" panose="02020603050405020304" pitchFamily="18" charset="0"/>
                                </a:rPr>
                                <m:t>进入</m:t>
                              </m:r>
                              <m:sSup>
                                <m:sSup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m:t>
                                  </m:r>
                                </m:sup>
                              </m:sSup>
                              <m:r>
                                <a:rPr lang="zh-CN" altLang="zh-CN" sz="1400" kern="100">
                                  <a:effectLst/>
                                  <a:latin typeface="Cambria Math" panose="02040503050406030204" pitchFamily="18" charset="0"/>
                                  <a:ea typeface="华文楷体" panose="02010600040101010101" pitchFamily="2" charset="-122"/>
                                  <a:cs typeface="Times New Roman" panose="02020603050405020304" pitchFamily="18" charset="0"/>
                                </a:rPr>
                                <m:t>得到的回报</m:t>
                              </m:r>
                            </m:lim>
                          </m:limLow>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𝛾</m:t>
                          </m:r>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m:t>
                          </m:r>
                          <m:limLow>
                            <m:limLow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limLowPr>
                            <m:e>
                              <m:groupChr>
                                <m:groupChrPr>
                                  <m:chr m:val="⏟"/>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groupChrPr>
                                <m:e>
                                  <m:sSub>
                                    <m:sSub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m:t>
                                          </m:r>
                                        </m:sup>
                                      </m:sSup>
                                    </m:e>
                                  </m:d>
                                </m:e>
                              </m:groupChr>
                            </m:e>
                            <m:lim>
                              <m:r>
                                <a:rPr lang="zh-CN" altLang="zh-CN" sz="1400" kern="100">
                                  <a:effectLst/>
                                  <a:latin typeface="Cambria Math" panose="02040503050406030204" pitchFamily="18" charset="0"/>
                                  <a:ea typeface="华文楷体" panose="02010600040101010101" pitchFamily="2" charset="-122"/>
                                  <a:cs typeface="Times New Roman" panose="02020603050405020304" pitchFamily="18" charset="0"/>
                                </a:rPr>
                                <m:t>在</m:t>
                              </m:r>
                              <m:sSup>
                                <m:sSupPr>
                                  <m:ctrlPr>
                                    <a:rPr lang="zh-CN" altLang="zh-CN" sz="1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m:t>
                                  </m:r>
                                </m:sup>
                              </m:sSup>
                              <m:r>
                                <a:rPr lang="zh-CN" altLang="zh-CN" sz="1400" kern="100">
                                  <a:effectLst/>
                                  <a:latin typeface="Cambria Math" panose="02040503050406030204" pitchFamily="18" charset="0"/>
                                  <a:ea typeface="华文楷体" panose="02010600040101010101" pitchFamily="2" charset="-122"/>
                                  <a:cs typeface="Times New Roman" panose="02020603050405020304" pitchFamily="18" charset="0"/>
                                </a:rPr>
                                <m:t>获得的回报期望</m:t>
                              </m:r>
                            </m:lim>
                          </m:limLow>
                          <m:r>
                            <a:rPr lang="en-US" altLang="zh-CN" sz="1400" i="1" kern="100">
                              <a:effectLst/>
                              <a:latin typeface="Cambria Math" panose="02040503050406030204" pitchFamily="18" charset="0"/>
                              <a:ea typeface="华文楷体" panose="02010600040101010101" pitchFamily="2" charset="-122"/>
                              <a:cs typeface="Times New Roman" panose="02020603050405020304" pitchFamily="18" charset="0"/>
                            </a:rPr>
                            <m:t>]</m:t>
                          </m:r>
                        </m:e>
                      </m:nary>
                      <m:r>
                        <a:rPr lang="en-US" altLang="zh-CN" sz="1400" i="1">
                          <a:effectLst/>
                          <a:latin typeface="Cambria Math" panose="02040503050406030204" pitchFamily="18" charset="0"/>
                          <a:ea typeface="华文楷体" panose="02010600040101010101" pitchFamily="2" charset="-122"/>
                          <a:cs typeface="Times New Roman" panose="02020603050405020304" pitchFamily="18" charset="0"/>
                        </a:rPr>
                        <m:t>=</m:t>
                      </m:r>
                      <m:nary>
                        <m:naryPr>
                          <m:chr m:val="∑"/>
                          <m:supHide m:val="on"/>
                          <m:ctrlPr>
                            <a:rPr lang="zh-CN" altLang="zh-CN" sz="1400" i="1">
                              <a:effectLst/>
                              <a:latin typeface="Cambria Math" panose="02040503050406030204" pitchFamily="18" charset="0"/>
                              <a:ea typeface="Cambria Math" panose="02040503050406030204" pitchFamily="18" charset="0"/>
                              <a:cs typeface="Times New Roman" panose="02020603050405020304" pitchFamily="18" charset="0"/>
                            </a:rPr>
                          </m:ctrlPr>
                        </m:naryPr>
                        <m:sub>
                          <m:sSup>
                            <m:sSupPr>
                              <m:ctrlPr>
                                <a:rPr lang="zh-CN" altLang="zh-CN" sz="14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a:effectLst/>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sz="1400" i="1">
                                  <a:effectLst/>
                                  <a:latin typeface="Cambria Math" panose="02040503050406030204" pitchFamily="18" charset="0"/>
                                  <a:ea typeface="华文楷体" panose="02010600040101010101" pitchFamily="2" charset="-122"/>
                                  <a:cs typeface="Times New Roman" panose="02020603050405020304" pitchFamily="18" charset="0"/>
                                </a:rPr>
                                <m:t>′</m:t>
                              </m:r>
                            </m:sup>
                          </m:sSup>
                          <m:r>
                            <a:rPr lang="en-US" altLang="zh-CN" sz="1400" i="1">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b="1" i="1">
                              <a:effectLst/>
                              <a:latin typeface="Cambria Math" panose="02040503050406030204" pitchFamily="18" charset="0"/>
                              <a:ea typeface="华文楷体" panose="02010600040101010101" pitchFamily="2" charset="-122"/>
                              <a:cs typeface="Times New Roman" panose="02020603050405020304" pitchFamily="18" charset="0"/>
                            </a:rPr>
                            <m:t>𝑺</m:t>
                          </m:r>
                        </m:sub>
                        <m:sup/>
                        <m:e>
                          <m:r>
                            <a:rPr lang="en-US" altLang="zh-CN" sz="1400" i="1">
                              <a:effectLst/>
                              <a:latin typeface="Cambria Math" panose="02040503050406030204" pitchFamily="18" charset="0"/>
                              <a:ea typeface="华文楷体" panose="02010600040101010101" pitchFamily="2" charset="-122"/>
                              <a:cs typeface="Times New Roman" panose="02020603050405020304" pitchFamily="18" charset="0"/>
                            </a:rPr>
                            <m:t>𝑃</m:t>
                          </m:r>
                          <m:r>
                            <a:rPr lang="en-US" altLang="zh-CN" sz="1400" i="1">
                              <a:effectLst/>
                              <a:latin typeface="Cambria Math" panose="02040503050406030204" pitchFamily="18" charset="0"/>
                              <a:ea typeface="华文楷体" panose="02010600040101010101" pitchFamily="2" charset="-122"/>
                              <a:cs typeface="Times New Roman" panose="02020603050405020304" pitchFamily="18" charset="0"/>
                            </a:rPr>
                            <m:t>(</m:t>
                          </m:r>
                          <m:sSup>
                            <m:sSupPr>
                              <m:ctrlPr>
                                <a:rPr lang="zh-CN" altLang="zh-CN" sz="14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a:effectLst/>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sz="1400" i="1">
                                  <a:effectLst/>
                                  <a:latin typeface="Cambria Math" panose="02040503050406030204" pitchFamily="18" charset="0"/>
                                  <a:ea typeface="华文楷体" panose="02010600040101010101" pitchFamily="2" charset="-122"/>
                                  <a:cs typeface="Times New Roman" panose="02020603050405020304" pitchFamily="18" charset="0"/>
                                </a:rPr>
                                <m:t>′</m:t>
                              </m:r>
                            </m:sup>
                          </m:sSup>
                          <m:r>
                            <a:rPr lang="en-US" altLang="zh-CN" sz="1400" i="1">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a:effectLst/>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400" i="1">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a:effectLst/>
                              <a:latin typeface="Cambria Math" panose="02040503050406030204" pitchFamily="18" charset="0"/>
                              <a:ea typeface="华文楷体" panose="02010600040101010101" pitchFamily="2" charset="-122"/>
                              <a:cs typeface="Times New Roman" panose="02020603050405020304" pitchFamily="18" charset="0"/>
                            </a:rPr>
                            <m:t>𝑎</m:t>
                          </m:r>
                          <m:r>
                            <a:rPr lang="en-US" altLang="zh-CN" sz="1400" i="1">
                              <a:effectLst/>
                              <a:latin typeface="Cambria Math" panose="02040503050406030204" pitchFamily="18" charset="0"/>
                              <a:ea typeface="华文楷体" panose="02010600040101010101" pitchFamily="2" charset="-122"/>
                              <a:cs typeface="Times New Roman" panose="02020603050405020304" pitchFamily="18" charset="0"/>
                            </a:rPr>
                            <m:t>)</m:t>
                          </m:r>
                        </m:e>
                      </m:nary>
                      <m:d>
                        <m:dPr>
                          <m:begChr m:val="["/>
                          <m:endChr m:val="]"/>
                          <m:ctrlPr>
                            <a:rPr lang="zh-CN" altLang="zh-CN" sz="14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a:effectLst/>
                              <a:latin typeface="Cambria Math" panose="02040503050406030204" pitchFamily="18" charset="0"/>
                              <a:ea typeface="华文楷体" panose="02010600040101010101" pitchFamily="2" charset="-122"/>
                              <a:cs typeface="Times New Roman" panose="02020603050405020304" pitchFamily="18" charset="0"/>
                            </a:rPr>
                            <m:t>𝑅</m:t>
                          </m:r>
                          <m:d>
                            <m:dPr>
                              <m:ctrlPr>
                                <a:rPr lang="zh-CN" altLang="zh-CN" sz="14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a:effectLst/>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400" i="1">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a:effectLst/>
                                  <a:latin typeface="Cambria Math" panose="02040503050406030204" pitchFamily="18" charset="0"/>
                                  <a:ea typeface="华文楷体" panose="02010600040101010101" pitchFamily="2" charset="-122"/>
                                  <a:cs typeface="Times New Roman" panose="02020603050405020304" pitchFamily="18" charset="0"/>
                                </a:rPr>
                                <m:t>𝑎</m:t>
                              </m:r>
                              <m:r>
                                <a:rPr lang="en-US" altLang="zh-CN" sz="1400" i="1">
                                  <a:effectLst/>
                                  <a:latin typeface="Cambria Math" panose="02040503050406030204" pitchFamily="18" charset="0"/>
                                  <a:ea typeface="华文楷体" panose="02010600040101010101" pitchFamily="2" charset="-122"/>
                                  <a:cs typeface="Times New Roman" panose="02020603050405020304" pitchFamily="18" charset="0"/>
                                </a:rPr>
                                <m:t>,</m:t>
                              </m:r>
                              <m:sSup>
                                <m:sSupPr>
                                  <m:ctrlPr>
                                    <a:rPr lang="zh-CN" altLang="zh-CN" sz="14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a:effectLst/>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sz="1400" i="1">
                                      <a:effectLst/>
                                      <a:latin typeface="Cambria Math" panose="02040503050406030204" pitchFamily="18" charset="0"/>
                                      <a:ea typeface="华文楷体" panose="02010600040101010101" pitchFamily="2" charset="-122"/>
                                      <a:cs typeface="Times New Roman" panose="02020603050405020304" pitchFamily="18" charset="0"/>
                                    </a:rPr>
                                    <m:t>′</m:t>
                                  </m:r>
                                </m:sup>
                              </m:sSup>
                            </m:e>
                          </m:d>
                          <m:r>
                            <a:rPr lang="en-US" altLang="zh-CN" sz="1400" i="1">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a:effectLst/>
                              <a:latin typeface="Cambria Math" panose="02040503050406030204" pitchFamily="18" charset="0"/>
                              <a:ea typeface="华文楷体" panose="02010600040101010101" pitchFamily="2" charset="-122"/>
                              <a:cs typeface="Times New Roman" panose="02020603050405020304" pitchFamily="18" charset="0"/>
                            </a:rPr>
                            <m:t>𝛾</m:t>
                          </m:r>
                          <m:sSub>
                            <m:sSubPr>
                              <m:ctrlPr>
                                <a:rPr lang="zh-CN" altLang="zh-CN" sz="1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effectLst/>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sz="1400" i="1">
                                  <a:effectLst/>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zh-CN" altLang="zh-CN" sz="1400" i="1">
                                  <a:effectLst/>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14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a:effectLst/>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sz="1400" i="1">
                                      <a:effectLst/>
                                      <a:latin typeface="Cambria Math" panose="02040503050406030204" pitchFamily="18" charset="0"/>
                                      <a:ea typeface="华文楷体" panose="02010600040101010101" pitchFamily="2" charset="-122"/>
                                      <a:cs typeface="Times New Roman" panose="02020603050405020304" pitchFamily="18" charset="0"/>
                                    </a:rPr>
                                    <m:t>′</m:t>
                                  </m:r>
                                </m:sup>
                              </m:sSup>
                            </m:e>
                          </m:d>
                        </m:e>
                      </m:d>
                      <m:r>
                        <a:rPr lang="en-US" altLang="zh-CN" sz="1400" i="1">
                          <a:effectLst/>
                          <a:latin typeface="Cambria Math" panose="02040503050406030204" pitchFamily="18" charset="0"/>
                          <a:ea typeface="华文楷体" panose="02010600040101010101" pitchFamily="2" charset="-122"/>
                          <a:cs typeface="Times New Roman" panose="02020603050405020304" pitchFamily="18" charset="0"/>
                        </a:rPr>
                        <m:t> </m:t>
                      </m:r>
                    </m:oMath>
                  </m:oMathPara>
                </a14:m>
                <a:endParaRPr lang="zh-CN" altLang="en-US" dirty="0"/>
              </a:p>
            </p:txBody>
          </p:sp>
        </mc:Choice>
        <mc:Fallback xmlns="">
          <p:sp>
            <p:nvSpPr>
              <p:cNvPr id="18" name="文本框 17">
                <a:extLst>
                  <a:ext uri="{FF2B5EF4-FFF2-40B4-BE49-F238E27FC236}">
                    <a16:creationId xmlns:a16="http://schemas.microsoft.com/office/drawing/2014/main" id="{197870D4-D3C2-43DE-8D71-F7F956EE9A13}"/>
                  </a:ext>
                </a:extLst>
              </p:cNvPr>
              <p:cNvSpPr txBox="1">
                <a:spLocks noRot="1" noChangeAspect="1" noMove="1" noResize="1" noEditPoints="1" noAdjustHandles="1" noChangeArrowheads="1" noChangeShapeType="1" noTextEdit="1"/>
              </p:cNvSpPr>
              <p:nvPr/>
            </p:nvSpPr>
            <p:spPr>
              <a:xfrm>
                <a:off x="2503794" y="3366989"/>
                <a:ext cx="6253485" cy="1843197"/>
              </a:xfrm>
              <a:prstGeom prst="rect">
                <a:avLst/>
              </a:prstGeom>
              <a:blipFill>
                <a:blip r:embed="rId3"/>
                <a:stretch>
                  <a:fillRect l="-6140" t="-4290" r="-26023" b="-54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453245EB-013B-4ABD-8ED6-EB10E430B0C1}"/>
                  </a:ext>
                </a:extLst>
              </p:cNvPr>
              <p:cNvSpPr/>
              <p:nvPr/>
            </p:nvSpPr>
            <p:spPr>
              <a:xfrm>
                <a:off x="1457552" y="2158838"/>
                <a:ext cx="9650437" cy="887422"/>
              </a:xfrm>
              <a:prstGeom prst="rect">
                <a:avLst/>
              </a:prstGeom>
            </p:spPr>
            <p:txBody>
              <a:bodyPr wrap="square">
                <a:spAutoFit/>
              </a:bodyPr>
              <a:lstStyle/>
              <a:p>
                <a:pPr marL="342900" indent="-342900">
                  <a:lnSpc>
                    <a:spcPct val="150000"/>
                  </a:lnSpc>
                  <a:buFont typeface="Arial" panose="020B0604020202020204" pitchFamily="34" charset="0"/>
                  <a:buChar char="•"/>
                </a:pPr>
                <a:r>
                  <a:rPr lang="zh-CN" altLang="en-US" sz="16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价值函数（</a:t>
                </a:r>
                <a:r>
                  <a:rPr lang="en-US" altLang="zh-CN" sz="16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Value Function</a:t>
                </a:r>
                <a:r>
                  <a:rPr lang="zh-CN" altLang="en-US" sz="16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𝑉</m:t>
                        </m:r>
                      </m:e>
                      <m:sub>
                        <m:r>
                          <a:rPr lang="en-US" altLang="zh-CN" sz="1600" i="1">
                            <a:latin typeface="Cambria Math" panose="02040503050406030204" pitchFamily="18" charset="0"/>
                          </a:rPr>
                          <m:t>𝜋</m:t>
                        </m:r>
                      </m:sub>
                    </m:sSub>
                    <m:d>
                      <m:dPr>
                        <m:ctrlPr>
                          <a:rPr lang="zh-CN" altLang="zh-CN" sz="1600" i="1">
                            <a:latin typeface="Cambria Math" panose="02040503050406030204" pitchFamily="18" charset="0"/>
                          </a:rPr>
                        </m:ctrlPr>
                      </m:dPr>
                      <m:e>
                        <m:r>
                          <a:rPr lang="en-US" altLang="zh-CN" sz="1600" i="1">
                            <a:latin typeface="Cambria Math" panose="02040503050406030204" pitchFamily="18" charset="0"/>
                          </a:rPr>
                          <m:t>𝑠</m:t>
                        </m:r>
                      </m:e>
                    </m:d>
                    <m:r>
                      <a:rPr lang="en-US" altLang="zh-CN" sz="1600" b="1"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𝔼</m:t>
                        </m:r>
                      </m:e>
                      <m:sub>
                        <m:r>
                          <a:rPr lang="en-US" altLang="zh-CN" sz="1600" i="1">
                            <a:latin typeface="Cambria Math" panose="02040503050406030204" pitchFamily="18" charset="0"/>
                          </a:rPr>
                          <m:t>𝜋</m:t>
                        </m:r>
                      </m:sub>
                    </m:sSub>
                    <m:d>
                      <m:dPr>
                        <m:begChr m:val="["/>
                        <m:endChr m:val="]"/>
                        <m:ctrlPr>
                          <a:rPr lang="zh-CN" altLang="zh-CN" sz="1600" i="1">
                            <a:latin typeface="Cambria Math" panose="02040503050406030204" pitchFamily="18" charset="0"/>
                          </a:rPr>
                        </m:ctrlPr>
                      </m:dPr>
                      <m:e>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𝑅</m:t>
                            </m:r>
                          </m:e>
                          <m:sub>
                            <m:r>
                              <a:rPr lang="en-US" altLang="zh-CN" sz="1600" i="1">
                                <a:latin typeface="Cambria Math" panose="02040503050406030204" pitchFamily="18" charset="0"/>
                              </a:rPr>
                              <m:t>𝑡</m:t>
                            </m:r>
                            <m:r>
                              <a:rPr lang="en-US" altLang="zh-CN" sz="1600" i="1">
                                <a:latin typeface="Cambria Math" panose="02040503050406030204" pitchFamily="18" charset="0"/>
                              </a:rPr>
                              <m:t>+1</m:t>
                            </m:r>
                          </m:sub>
                        </m:sSub>
                        <m:r>
                          <a:rPr lang="en-US" altLang="zh-CN" sz="1600" i="1">
                            <a:latin typeface="Cambria Math" panose="02040503050406030204" pitchFamily="18" charset="0"/>
                          </a:rPr>
                          <m:t>+</m:t>
                        </m:r>
                        <m:r>
                          <a:rPr lang="en-US" altLang="zh-CN" sz="1600" i="1">
                            <a:latin typeface="Cambria Math" panose="02040503050406030204" pitchFamily="18" charset="0"/>
                          </a:rPr>
                          <m:t>𝛾</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𝑅</m:t>
                            </m:r>
                          </m:e>
                          <m:sub>
                            <m:r>
                              <a:rPr lang="en-US" altLang="zh-CN" sz="1600" i="1">
                                <a:latin typeface="Cambria Math" panose="02040503050406030204" pitchFamily="18" charset="0"/>
                              </a:rPr>
                              <m:t>𝑡</m:t>
                            </m:r>
                            <m:r>
                              <a:rPr lang="en-US" altLang="zh-CN" sz="1600" i="1">
                                <a:latin typeface="Cambria Math" panose="02040503050406030204" pitchFamily="18" charset="0"/>
                              </a:rPr>
                              <m:t>+2</m:t>
                            </m:r>
                          </m:sub>
                        </m:sSub>
                        <m:r>
                          <a:rPr lang="en-US" altLang="zh-CN" sz="1600" i="1">
                            <a:latin typeface="Cambria Math" panose="02040503050406030204" pitchFamily="18" charset="0"/>
                          </a:rPr>
                          <m:t>+</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𝛾</m:t>
                            </m:r>
                          </m:e>
                          <m:sup>
                            <m:r>
                              <a:rPr lang="en-US" altLang="zh-CN" sz="1600" i="1">
                                <a:latin typeface="Cambria Math" panose="02040503050406030204" pitchFamily="18" charset="0"/>
                              </a:rPr>
                              <m:t>2</m:t>
                            </m:r>
                          </m:sup>
                        </m:sSup>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𝑅</m:t>
                            </m:r>
                          </m:e>
                          <m:sub>
                            <m:r>
                              <a:rPr lang="en-US" altLang="zh-CN" sz="1600" i="1">
                                <a:latin typeface="Cambria Math" panose="02040503050406030204" pitchFamily="18" charset="0"/>
                              </a:rPr>
                              <m:t>𝑡</m:t>
                            </m:r>
                            <m:r>
                              <a:rPr lang="en-US" altLang="zh-CN" sz="1600" i="1">
                                <a:latin typeface="Cambria Math" panose="02040503050406030204" pitchFamily="18" charset="0"/>
                              </a:rPr>
                              <m:t>+3</m:t>
                            </m:r>
                          </m:sub>
                        </m:sSub>
                        <m:r>
                          <a:rPr lang="en-US" altLang="zh-CN" sz="1600" i="1">
                            <a:latin typeface="Cambria Math" panose="02040503050406030204" pitchFamily="18" charset="0"/>
                          </a:rPr>
                          <m:t>+⋯</m:t>
                        </m:r>
                      </m:e>
                      <m:e>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𝑆</m:t>
                            </m:r>
                          </m:e>
                          <m:sub>
                            <m:r>
                              <a:rPr lang="en-US" altLang="zh-CN" sz="1600" i="1">
                                <a:latin typeface="Cambria Math" panose="02040503050406030204" pitchFamily="18" charset="0"/>
                              </a:rPr>
                              <m:t>𝑡</m:t>
                            </m:r>
                          </m:sub>
                        </m:sSub>
                        <m:r>
                          <a:rPr lang="en-US" altLang="zh-CN" sz="1600" i="1">
                            <a:latin typeface="Cambria Math" panose="02040503050406030204" pitchFamily="18" charset="0"/>
                          </a:rPr>
                          <m:t>=</m:t>
                        </m:r>
                        <m:r>
                          <a:rPr lang="en-US" altLang="zh-CN" sz="1600" i="1">
                            <a:latin typeface="Cambria Math" panose="02040503050406030204" pitchFamily="18" charset="0"/>
                          </a:rPr>
                          <m:t>𝑠</m:t>
                        </m:r>
                      </m:e>
                    </m:d>
                  </m:oMath>
                </a14:m>
                <a:endParaRPr lang="en-US" altLang="zh-CN" sz="16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a:p>
                <a:pPr marL="342900" indent="-342900">
                  <a:lnSpc>
                    <a:spcPct val="150000"/>
                  </a:lnSpc>
                  <a:buFont typeface="Arial" panose="020B0604020202020204" pitchFamily="34" charset="0"/>
                  <a:buChar char="•"/>
                </a:pPr>
                <a:r>
                  <a:rPr lang="zh-CN" altLang="en-US" sz="16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动作</a:t>
                </a:r>
                <a:r>
                  <a:rPr lang="en-US" altLang="zh-CN" sz="16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16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价值函数</a:t>
                </a:r>
                <a:r>
                  <a:rPr lang="en-US" altLang="zh-CN" sz="16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(Action-Value Function)</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1600" b="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    </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𝑞</m:t>
                        </m:r>
                      </m:e>
                      <m:sub>
                        <m:r>
                          <a:rPr lang="en-US" altLang="zh-CN" sz="1600" i="1">
                            <a:latin typeface="Cambria Math" panose="02040503050406030204" pitchFamily="18" charset="0"/>
                          </a:rPr>
                          <m:t>𝜋</m:t>
                        </m:r>
                      </m:sub>
                    </m:sSub>
                    <m:d>
                      <m:dPr>
                        <m:ctrlPr>
                          <a:rPr lang="zh-CN" altLang="zh-CN" sz="1600" i="1">
                            <a:latin typeface="Cambria Math" panose="02040503050406030204" pitchFamily="18" charset="0"/>
                          </a:rPr>
                        </m:ctrlPr>
                      </m:dPr>
                      <m:e>
                        <m:r>
                          <a:rPr lang="en-US" altLang="zh-CN" sz="1600" i="1">
                            <a:latin typeface="Cambria Math" panose="02040503050406030204" pitchFamily="18" charset="0"/>
                          </a:rPr>
                          <m:t>𝑠</m:t>
                        </m:r>
                        <m:r>
                          <a:rPr lang="en-US" altLang="zh-CN" sz="1600" i="1">
                            <a:latin typeface="Cambria Math" panose="02040503050406030204" pitchFamily="18" charset="0"/>
                          </a:rPr>
                          <m:t>,</m:t>
                        </m:r>
                        <m:r>
                          <a:rPr lang="en-US" altLang="zh-CN" sz="1600" i="1">
                            <a:latin typeface="Cambria Math" panose="02040503050406030204" pitchFamily="18" charset="0"/>
                          </a:rPr>
                          <m:t>𝑎</m:t>
                        </m:r>
                      </m:e>
                    </m:d>
                    <m:r>
                      <a:rPr lang="en-US" altLang="zh-CN" sz="1600" b="1"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𝔼</m:t>
                        </m:r>
                      </m:e>
                      <m:sub>
                        <m:r>
                          <a:rPr lang="en-US" altLang="zh-CN" sz="1600" i="1">
                            <a:latin typeface="Cambria Math" panose="02040503050406030204" pitchFamily="18" charset="0"/>
                          </a:rPr>
                          <m:t>𝜋</m:t>
                        </m:r>
                      </m:sub>
                    </m:sSub>
                    <m:d>
                      <m:dPr>
                        <m:begChr m:val="["/>
                        <m:endChr m:val="]"/>
                        <m:ctrlPr>
                          <a:rPr lang="zh-CN" altLang="zh-CN" sz="1600" i="1">
                            <a:latin typeface="Cambria Math" panose="02040503050406030204" pitchFamily="18" charset="0"/>
                          </a:rPr>
                        </m:ctrlPr>
                      </m:dPr>
                      <m:e>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𝑅</m:t>
                            </m:r>
                          </m:e>
                          <m:sub>
                            <m:r>
                              <a:rPr lang="en-US" altLang="zh-CN" sz="1600" i="1">
                                <a:latin typeface="Cambria Math" panose="02040503050406030204" pitchFamily="18" charset="0"/>
                              </a:rPr>
                              <m:t>𝑡</m:t>
                            </m:r>
                            <m:r>
                              <a:rPr lang="en-US" altLang="zh-CN" sz="1600" i="1">
                                <a:latin typeface="Cambria Math" panose="02040503050406030204" pitchFamily="18" charset="0"/>
                              </a:rPr>
                              <m:t>+1</m:t>
                            </m:r>
                          </m:sub>
                        </m:sSub>
                        <m:r>
                          <a:rPr lang="en-US" altLang="zh-CN" sz="1600" i="1">
                            <a:latin typeface="Cambria Math" panose="02040503050406030204" pitchFamily="18" charset="0"/>
                          </a:rPr>
                          <m:t>+</m:t>
                        </m:r>
                        <m:r>
                          <a:rPr lang="en-US" altLang="zh-CN" sz="1600" i="1">
                            <a:latin typeface="Cambria Math" panose="02040503050406030204" pitchFamily="18" charset="0"/>
                          </a:rPr>
                          <m:t>𝛾</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𝑅</m:t>
                            </m:r>
                          </m:e>
                          <m:sub>
                            <m:r>
                              <a:rPr lang="en-US" altLang="zh-CN" sz="1600" i="1">
                                <a:latin typeface="Cambria Math" panose="02040503050406030204" pitchFamily="18" charset="0"/>
                              </a:rPr>
                              <m:t>𝑡</m:t>
                            </m:r>
                            <m:r>
                              <a:rPr lang="en-US" altLang="zh-CN" sz="1600" i="1">
                                <a:latin typeface="Cambria Math" panose="02040503050406030204" pitchFamily="18" charset="0"/>
                              </a:rPr>
                              <m:t>+2</m:t>
                            </m:r>
                          </m:sub>
                        </m:sSub>
                        <m:r>
                          <a:rPr lang="en-US" altLang="zh-CN" sz="1600" i="1">
                            <a:latin typeface="Cambria Math" panose="02040503050406030204" pitchFamily="18" charset="0"/>
                          </a:rPr>
                          <m:t>+</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𝛾</m:t>
                            </m:r>
                          </m:e>
                          <m:sup>
                            <m:r>
                              <a:rPr lang="en-US" altLang="zh-CN" sz="1600" i="1">
                                <a:latin typeface="Cambria Math" panose="02040503050406030204" pitchFamily="18" charset="0"/>
                              </a:rPr>
                              <m:t>2</m:t>
                            </m:r>
                          </m:sup>
                        </m:sSup>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𝑅</m:t>
                            </m:r>
                          </m:e>
                          <m:sub>
                            <m:r>
                              <a:rPr lang="en-US" altLang="zh-CN" sz="1600" i="1">
                                <a:latin typeface="Cambria Math" panose="02040503050406030204" pitchFamily="18" charset="0"/>
                              </a:rPr>
                              <m:t>𝑡</m:t>
                            </m:r>
                            <m:r>
                              <a:rPr lang="en-US" altLang="zh-CN" sz="1600" i="1">
                                <a:latin typeface="Cambria Math" panose="02040503050406030204" pitchFamily="18" charset="0"/>
                              </a:rPr>
                              <m:t>+3</m:t>
                            </m:r>
                          </m:sub>
                        </m:sSub>
                        <m:r>
                          <a:rPr lang="en-US" altLang="zh-CN" sz="1600" i="1">
                            <a:latin typeface="Cambria Math" panose="02040503050406030204" pitchFamily="18" charset="0"/>
                          </a:rPr>
                          <m:t>+⋯</m:t>
                        </m:r>
                      </m:e>
                      <m:e>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𝑆</m:t>
                            </m:r>
                          </m:e>
                          <m:sub>
                            <m:r>
                              <a:rPr lang="en-US" altLang="zh-CN" sz="1600" i="1">
                                <a:latin typeface="Cambria Math" panose="02040503050406030204" pitchFamily="18" charset="0"/>
                              </a:rPr>
                              <m:t>𝑡</m:t>
                            </m:r>
                          </m:sub>
                        </m:sSub>
                        <m:r>
                          <a:rPr lang="en-US" altLang="zh-CN" sz="1600" i="1">
                            <a:latin typeface="Cambria Math" panose="02040503050406030204" pitchFamily="18" charset="0"/>
                          </a:rPr>
                          <m:t>=</m:t>
                        </m:r>
                        <m:r>
                          <a:rPr lang="en-US" altLang="zh-CN" sz="1600" i="1">
                            <a:latin typeface="Cambria Math" panose="02040503050406030204" pitchFamily="18" charset="0"/>
                          </a:rPr>
                          <m:t>𝑠</m:t>
                        </m:r>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𝐴</m:t>
                            </m:r>
                          </m:e>
                          <m:sub>
                            <m:r>
                              <a:rPr lang="en-US" altLang="zh-CN" sz="1600" i="1">
                                <a:latin typeface="Cambria Math" panose="02040503050406030204" pitchFamily="18" charset="0"/>
                              </a:rPr>
                              <m:t>𝑡</m:t>
                            </m:r>
                          </m:sub>
                        </m:sSub>
                        <m:r>
                          <a:rPr lang="en-US" altLang="zh-CN" sz="1600" i="1">
                            <a:latin typeface="Cambria Math" panose="02040503050406030204" pitchFamily="18" charset="0"/>
                          </a:rPr>
                          <m:t>=</m:t>
                        </m:r>
                        <m:r>
                          <a:rPr lang="en-US" altLang="zh-CN" sz="1600" i="1">
                            <a:latin typeface="Cambria Math" panose="02040503050406030204" pitchFamily="18" charset="0"/>
                          </a:rPr>
                          <m:t>𝑎</m:t>
                        </m:r>
                      </m:e>
                    </m:d>
                  </m:oMath>
                </a14:m>
                <a:endParaRPr lang="en-US" altLang="zh-CN" sz="16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20" name="矩形 19">
                <a:extLst>
                  <a:ext uri="{FF2B5EF4-FFF2-40B4-BE49-F238E27FC236}">
                    <a16:creationId xmlns:a16="http://schemas.microsoft.com/office/drawing/2014/main" id="{453245EB-013B-4ABD-8ED6-EB10E430B0C1}"/>
                  </a:ext>
                </a:extLst>
              </p:cNvPr>
              <p:cNvSpPr>
                <a:spLocks noRot="1" noChangeAspect="1" noMove="1" noResize="1" noEditPoints="1" noAdjustHandles="1" noChangeArrowheads="1" noChangeShapeType="1" noTextEdit="1"/>
              </p:cNvSpPr>
              <p:nvPr/>
            </p:nvSpPr>
            <p:spPr>
              <a:xfrm>
                <a:off x="1457552" y="2158838"/>
                <a:ext cx="9650437" cy="887422"/>
              </a:xfrm>
              <a:prstGeom prst="rect">
                <a:avLst/>
              </a:prstGeom>
              <a:blipFill>
                <a:blip r:embed="rId4"/>
                <a:stretch>
                  <a:fillRect l="-253" b="-6164"/>
                </a:stretch>
              </a:blipFill>
            </p:spPr>
            <p:txBody>
              <a:bodyPr/>
              <a:lstStyle/>
              <a:p>
                <a:r>
                  <a:rPr lang="zh-CN" altLang="en-US">
                    <a:noFill/>
                  </a:rPr>
                  <a:t> </a:t>
                </a:r>
              </a:p>
            </p:txBody>
          </p:sp>
        </mc:Fallback>
      </mc:AlternateContent>
      <p:sp>
        <p:nvSpPr>
          <p:cNvPr id="21" name="文本框 20">
            <a:extLst>
              <a:ext uri="{FF2B5EF4-FFF2-40B4-BE49-F238E27FC236}">
                <a16:creationId xmlns:a16="http://schemas.microsoft.com/office/drawing/2014/main" id="{627EA10C-AE7D-4EB1-84FB-3F14EB7464D8}"/>
              </a:ext>
            </a:extLst>
          </p:cNvPr>
          <p:cNvSpPr txBox="1"/>
          <p:nvPr/>
        </p:nvSpPr>
        <p:spPr>
          <a:xfrm>
            <a:off x="1200443" y="1335890"/>
            <a:ext cx="9519139" cy="881460"/>
          </a:xfrm>
          <a:prstGeom prst="rect">
            <a:avLst/>
          </a:prstGeom>
          <a:noFill/>
        </p:spPr>
        <p:txBody>
          <a:bodyPr wrap="square">
            <a:spAutoFit/>
          </a:bodyPr>
          <a:lstStyle/>
          <a:p>
            <a:pPr algn="ctr">
              <a:lnSpc>
                <a:spcPct val="150000"/>
              </a:lnSpc>
            </a:pPr>
            <a:r>
              <a:rPr lang="zh-CN" altLang="zh-CN" sz="1800"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贝尔曼方程（</a:t>
            </a:r>
            <a:r>
              <a:rPr lang="en-US" altLang="zh-CN" sz="1800"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Bellman Equation</a:t>
            </a:r>
            <a:r>
              <a:rPr lang="zh-CN" altLang="zh-CN" sz="1800"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）也被称作动态规划方程（</a:t>
            </a:r>
            <a:r>
              <a:rPr lang="en-US" altLang="zh-CN" sz="1800"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Dynamic Programming Equation</a:t>
            </a:r>
            <a:r>
              <a:rPr lang="zh-CN" altLang="zh-CN" sz="1800"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），由理查德</a:t>
            </a:r>
            <a:r>
              <a:rPr lang="en-US" altLang="zh-CN" sz="1800"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800"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贝尔曼（</a:t>
            </a:r>
            <a:r>
              <a:rPr lang="en-US" altLang="zh-CN" sz="1800"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Richard Bellman</a:t>
            </a:r>
            <a:r>
              <a:rPr lang="zh-CN" altLang="zh-CN" sz="1800"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）提出。</a:t>
            </a:r>
            <a:endParaRPr lang="zh-CN" altLang="zh-CN" sz="1400" kern="100" dirty="0">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22" name="直接连接符 21">
            <a:extLst>
              <a:ext uri="{FF2B5EF4-FFF2-40B4-BE49-F238E27FC236}">
                <a16:creationId xmlns:a16="http://schemas.microsoft.com/office/drawing/2014/main" id="{2EB44DAA-9C22-4FDD-8671-48FD99E01F54}"/>
              </a:ext>
            </a:extLst>
          </p:cNvPr>
          <p:cNvCxnSpPr>
            <a:cxnSpLocks/>
          </p:cNvCxnSpPr>
          <p:nvPr/>
        </p:nvCxnSpPr>
        <p:spPr>
          <a:xfrm>
            <a:off x="1438546" y="3133578"/>
            <a:ext cx="9281036" cy="0"/>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1CF189EE-BD99-4E72-9422-9A6C51825CD5}"/>
              </a:ext>
            </a:extLst>
          </p:cNvPr>
          <p:cNvSpPr txBox="1"/>
          <p:nvPr/>
        </p:nvSpPr>
        <p:spPr>
          <a:xfrm>
            <a:off x="1872134" y="5480631"/>
            <a:ext cx="8821271" cy="458074"/>
          </a:xfrm>
          <a:prstGeom prst="rect">
            <a:avLst/>
          </a:prstGeom>
          <a:noFill/>
        </p:spPr>
        <p:txBody>
          <a:bodyPr wrap="square">
            <a:spAutoFit/>
          </a:bodyPr>
          <a:lstStyle/>
          <a:p>
            <a:pPr indent="304800" algn="just">
              <a:lnSpc>
                <a:spcPct val="150000"/>
              </a:lnSpc>
            </a:pP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600" kern="100" dirty="0">
                <a:latin typeface="微软雅黑" panose="020B0503020204020204" pitchFamily="34" charset="-122"/>
                <a:ea typeface="微软雅黑" panose="020B0503020204020204" pitchFamily="34" charset="-122"/>
                <a:cs typeface="Times New Roman" panose="02020603050405020304" pitchFamily="18" charset="0"/>
              </a:rPr>
              <a:t>动作</a:t>
            </a:r>
            <a:r>
              <a:rPr lang="en-US" altLang="zh-CN" sz="160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kern="100" dirty="0">
                <a:latin typeface="微软雅黑" panose="020B0503020204020204" pitchFamily="34" charset="-122"/>
                <a:ea typeface="微软雅黑" panose="020B0503020204020204" pitchFamily="34" charset="-122"/>
                <a:cs typeface="Times New Roman" panose="02020603050405020304" pitchFamily="18" charset="0"/>
              </a:rPr>
              <a:t>价值函数取值同样与时间没有关系，而是与瞬时奖励和下一步的状态和动作有关。</a:t>
            </a:r>
            <a:endParaRPr lang="zh-CN" alt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719410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强化学习</a:t>
              </a: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贝尔曼方程</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强化学习问题定义</a:t>
            </a:r>
          </a:p>
        </p:txBody>
      </p:sp>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9BA6E0C2-A18D-43D5-BE69-727926C89E55}"/>
                  </a:ext>
                </a:extLst>
              </p:cNvPr>
              <p:cNvSpPr/>
              <p:nvPr/>
            </p:nvSpPr>
            <p:spPr>
              <a:xfrm>
                <a:off x="3320255" y="3236818"/>
                <a:ext cx="8159392" cy="39209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a:rPr>
                            <m:t>𝑞</m:t>
                          </m:r>
                        </m:e>
                        <m:sub>
                          <m:r>
                            <a:rPr lang="en-US" altLang="zh-CN" sz="1600" i="1">
                              <a:latin typeface="Cambria Math"/>
                            </a:rPr>
                            <m:t>𝜋</m:t>
                          </m:r>
                        </m:sub>
                      </m:sSub>
                      <m:d>
                        <m:dPr>
                          <m:ctrlPr>
                            <a:rPr lang="zh-CN" altLang="zh-CN" sz="1600" i="1">
                              <a:latin typeface="Cambria Math" panose="02040503050406030204" pitchFamily="18" charset="0"/>
                            </a:rPr>
                          </m:ctrlPr>
                        </m:dPr>
                        <m:e>
                          <m:r>
                            <a:rPr lang="en-US" altLang="zh-CN" sz="1600" i="1">
                              <a:latin typeface="Cambria Math"/>
                            </a:rPr>
                            <m:t>𝑠</m:t>
                          </m:r>
                          <m:r>
                            <a:rPr lang="en-US" altLang="zh-CN" sz="1600" i="1">
                              <a:latin typeface="Cambria Math"/>
                            </a:rPr>
                            <m:t>,</m:t>
                          </m:r>
                          <m:r>
                            <a:rPr lang="en-US" altLang="zh-CN" sz="1600" i="1">
                              <a:latin typeface="Cambria Math"/>
                            </a:rPr>
                            <m:t>𝑎</m:t>
                          </m:r>
                        </m:e>
                      </m:d>
                      <m:r>
                        <a:rPr lang="en-US" altLang="zh-CN" sz="1600" i="1">
                          <a:latin typeface="Cambria Math"/>
                        </a:rPr>
                        <m:t>=</m:t>
                      </m:r>
                      <m:sSub>
                        <m:sSubPr>
                          <m:ctrlPr>
                            <a:rPr lang="zh-CN" altLang="zh-CN" sz="1600" i="1">
                              <a:latin typeface="Cambria Math" panose="02040503050406030204" pitchFamily="18" charset="0"/>
                            </a:rPr>
                          </m:ctrlPr>
                        </m:sSubPr>
                        <m:e>
                          <m:r>
                            <a:rPr lang="en-US" altLang="zh-CN" sz="1600" i="1">
                              <a:latin typeface="Cambria Math"/>
                            </a:rPr>
                            <m:t>𝔼</m:t>
                          </m:r>
                        </m:e>
                        <m:sub>
                          <m:sSup>
                            <m:sSupPr>
                              <m:ctrlPr>
                                <a:rPr lang="zh-CN" altLang="zh-CN" sz="1600" i="1">
                                  <a:latin typeface="Cambria Math" panose="02040503050406030204" pitchFamily="18" charset="0"/>
                                </a:rPr>
                              </m:ctrlPr>
                            </m:sSupPr>
                            <m:e>
                              <m:r>
                                <a:rPr lang="en-US" altLang="zh-CN" sz="1600" i="1">
                                  <a:latin typeface="Cambria Math"/>
                                </a:rPr>
                                <m:t>𝑠</m:t>
                              </m:r>
                            </m:e>
                            <m:sup>
                              <m:r>
                                <a:rPr lang="en-US" altLang="zh-CN" sz="1600" i="1">
                                  <a:latin typeface="Cambria Math"/>
                                </a:rPr>
                                <m:t>′</m:t>
                              </m:r>
                            </m:sup>
                          </m:sSup>
                          <m:r>
                            <a:rPr lang="en-US" altLang="zh-CN" sz="1600" i="1">
                              <a:latin typeface="Cambria Math"/>
                            </a:rPr>
                            <m:t>~</m:t>
                          </m:r>
                          <m:r>
                            <a:rPr lang="en-US" altLang="zh-CN" sz="1600" i="1">
                              <a:latin typeface="Cambria Math"/>
                            </a:rPr>
                            <m:t>𝑃</m:t>
                          </m:r>
                          <m:r>
                            <a:rPr lang="en-US" altLang="zh-CN" sz="1600" i="1">
                              <a:latin typeface="Cambria Math"/>
                            </a:rPr>
                            <m:t>(⋅|</m:t>
                          </m:r>
                          <m:r>
                            <a:rPr lang="en-US" altLang="zh-CN" sz="1600" i="1">
                              <a:latin typeface="Cambria Math"/>
                            </a:rPr>
                            <m:t>𝑠</m:t>
                          </m:r>
                          <m:r>
                            <a:rPr lang="en-US" altLang="zh-CN" sz="1600" i="1">
                              <a:latin typeface="Cambria Math"/>
                            </a:rPr>
                            <m:t>,</m:t>
                          </m:r>
                          <m:r>
                            <a:rPr lang="en-US" altLang="zh-CN" sz="1600" i="1">
                              <a:latin typeface="Cambria Math"/>
                            </a:rPr>
                            <m:t>𝑎</m:t>
                          </m:r>
                          <m:r>
                            <a:rPr lang="en-US" altLang="zh-CN" sz="1600" i="1">
                              <a:latin typeface="Cambria Math"/>
                            </a:rPr>
                            <m:t>)</m:t>
                          </m:r>
                        </m:sub>
                      </m:sSub>
                      <m:r>
                        <a:rPr lang="en-US" altLang="zh-CN" sz="1600">
                          <a:latin typeface="Cambria Math"/>
                        </a:rPr>
                        <m:t>[</m:t>
                      </m:r>
                      <m:r>
                        <a:rPr lang="en-US" altLang="zh-CN" sz="1600" i="1">
                          <a:latin typeface="Cambria Math"/>
                        </a:rPr>
                        <m:t>𝑅</m:t>
                      </m:r>
                      <m:d>
                        <m:dPr>
                          <m:ctrlPr>
                            <a:rPr lang="zh-CN" altLang="zh-CN" sz="1600" i="1">
                              <a:latin typeface="Cambria Math" panose="02040503050406030204" pitchFamily="18" charset="0"/>
                            </a:rPr>
                          </m:ctrlPr>
                        </m:dPr>
                        <m:e>
                          <m:r>
                            <a:rPr lang="en-US" altLang="zh-CN" sz="1600" i="1">
                              <a:latin typeface="Cambria Math"/>
                            </a:rPr>
                            <m:t>𝑠</m:t>
                          </m:r>
                          <m:r>
                            <a:rPr lang="en-US" altLang="zh-CN" sz="1600" i="1">
                              <a:latin typeface="Cambria Math"/>
                            </a:rPr>
                            <m:t>,</m:t>
                          </m:r>
                          <m:r>
                            <a:rPr lang="en-US" altLang="zh-CN" sz="1600" i="1">
                              <a:latin typeface="Cambria Math"/>
                            </a:rPr>
                            <m:t>𝑎</m:t>
                          </m:r>
                          <m:r>
                            <a:rPr lang="en-US" altLang="zh-CN" sz="1600" i="1">
                              <a:latin typeface="Cambria Math"/>
                            </a:rPr>
                            <m:t>,</m:t>
                          </m:r>
                          <m:sSup>
                            <m:sSupPr>
                              <m:ctrlPr>
                                <a:rPr lang="zh-CN" altLang="zh-CN" sz="1600" i="1">
                                  <a:latin typeface="Cambria Math" panose="02040503050406030204" pitchFamily="18" charset="0"/>
                                </a:rPr>
                              </m:ctrlPr>
                            </m:sSupPr>
                            <m:e>
                              <m:r>
                                <a:rPr lang="en-US" altLang="zh-CN" sz="1600" i="1">
                                  <a:latin typeface="Cambria Math"/>
                                </a:rPr>
                                <m:t>𝑠</m:t>
                              </m:r>
                            </m:e>
                            <m:sup>
                              <m:r>
                                <a:rPr lang="en-US" altLang="zh-CN" sz="1600" i="1">
                                  <a:latin typeface="Cambria Math"/>
                                </a:rPr>
                                <m:t>′</m:t>
                              </m:r>
                            </m:sup>
                          </m:sSup>
                        </m:e>
                      </m:d>
                      <m:r>
                        <a:rPr lang="en-US" altLang="zh-CN" sz="1600" i="1">
                          <a:latin typeface="Cambria Math"/>
                        </a:rPr>
                        <m:t>+</m:t>
                      </m:r>
                      <m:r>
                        <a:rPr lang="en-US" altLang="zh-CN" sz="1600" i="1">
                          <a:latin typeface="Cambria Math"/>
                        </a:rPr>
                        <m:t>𝛾</m:t>
                      </m:r>
                      <m:sSub>
                        <m:sSubPr>
                          <m:ctrlPr>
                            <a:rPr lang="zh-CN" altLang="zh-CN" sz="1600" i="1">
                              <a:latin typeface="Cambria Math" panose="02040503050406030204" pitchFamily="18" charset="0"/>
                            </a:rPr>
                          </m:ctrlPr>
                        </m:sSubPr>
                        <m:e>
                          <m:r>
                            <a:rPr lang="en-US" altLang="zh-CN" sz="1600" i="1">
                              <a:latin typeface="Cambria Math"/>
                            </a:rPr>
                            <m:t>𝔼</m:t>
                          </m:r>
                        </m:e>
                        <m:sub>
                          <m:sSup>
                            <m:sSupPr>
                              <m:ctrlPr>
                                <a:rPr lang="zh-CN" altLang="zh-CN" sz="1600" i="1">
                                  <a:latin typeface="Cambria Math" panose="02040503050406030204" pitchFamily="18" charset="0"/>
                                </a:rPr>
                              </m:ctrlPr>
                            </m:sSupPr>
                            <m:e>
                              <m:r>
                                <a:rPr lang="en-US" altLang="zh-CN" sz="1600" i="1">
                                  <a:latin typeface="Cambria Math"/>
                                </a:rPr>
                                <m:t>𝑎</m:t>
                              </m:r>
                            </m:e>
                            <m:sup>
                              <m:r>
                                <a:rPr lang="en-US" altLang="zh-CN" sz="1600" i="1">
                                  <a:latin typeface="Cambria Math"/>
                                </a:rPr>
                                <m:t>′</m:t>
                              </m:r>
                            </m:sup>
                          </m:sSup>
                          <m:r>
                            <a:rPr lang="en-US" altLang="zh-CN" sz="1600" i="1">
                              <a:latin typeface="Cambria Math"/>
                            </a:rPr>
                            <m:t>~</m:t>
                          </m:r>
                          <m:r>
                            <a:rPr lang="en-US" altLang="zh-CN" sz="1600" i="1">
                              <a:latin typeface="Cambria Math"/>
                            </a:rPr>
                            <m:t>𝜋</m:t>
                          </m:r>
                          <m:d>
                            <m:dPr>
                              <m:ctrlPr>
                                <a:rPr lang="zh-CN" altLang="zh-CN" sz="1600" i="1">
                                  <a:latin typeface="Cambria Math" panose="02040503050406030204" pitchFamily="18" charset="0"/>
                                </a:rPr>
                              </m:ctrlPr>
                            </m:dPr>
                            <m:e>
                              <m:sSup>
                                <m:sSupPr>
                                  <m:ctrlPr>
                                    <a:rPr lang="zh-CN" altLang="zh-CN" sz="1600" i="1">
                                      <a:latin typeface="Cambria Math" panose="02040503050406030204" pitchFamily="18" charset="0"/>
                                    </a:rPr>
                                  </m:ctrlPr>
                                </m:sSupPr>
                                <m:e>
                                  <m:r>
                                    <a:rPr lang="en-US" altLang="zh-CN" sz="1600" i="1">
                                      <a:latin typeface="Cambria Math"/>
                                    </a:rPr>
                                    <m:t>𝑠</m:t>
                                  </m:r>
                                </m:e>
                                <m:sup>
                                  <m:r>
                                    <a:rPr lang="en-US" altLang="zh-CN" sz="1600" i="1">
                                      <a:latin typeface="Cambria Math"/>
                                    </a:rPr>
                                    <m:t>′</m:t>
                                  </m:r>
                                </m:sup>
                              </m:sSup>
                              <m:r>
                                <a:rPr lang="en-US" altLang="zh-CN" sz="1600" i="1">
                                  <a:latin typeface="Cambria Math"/>
                                </a:rPr>
                                <m:t>,⋅</m:t>
                              </m:r>
                            </m:e>
                          </m:d>
                        </m:sub>
                      </m:sSub>
                      <m:d>
                        <m:dPr>
                          <m:begChr m:val="["/>
                          <m:endChr m:val="]"/>
                          <m:ctrlPr>
                            <a:rPr lang="zh-CN" altLang="zh-CN" sz="1600" i="1">
                              <a:latin typeface="Cambria Math" panose="02040503050406030204" pitchFamily="18" charset="0"/>
                            </a:rPr>
                          </m:ctrlPr>
                        </m:dPr>
                        <m:e>
                          <m:sSub>
                            <m:sSubPr>
                              <m:ctrlPr>
                                <a:rPr lang="zh-CN" altLang="zh-CN" sz="1600" i="1">
                                  <a:latin typeface="Cambria Math" panose="02040503050406030204" pitchFamily="18" charset="0"/>
                                </a:rPr>
                              </m:ctrlPr>
                            </m:sSubPr>
                            <m:e>
                              <m:r>
                                <a:rPr lang="en-US" altLang="zh-CN" sz="1600" i="1">
                                  <a:latin typeface="Cambria Math"/>
                                </a:rPr>
                                <m:t>𝑞</m:t>
                              </m:r>
                            </m:e>
                            <m:sub>
                              <m:r>
                                <a:rPr lang="en-US" altLang="zh-CN" sz="1600" i="1">
                                  <a:latin typeface="Cambria Math"/>
                                </a:rPr>
                                <m:t>𝜋</m:t>
                              </m:r>
                            </m:sub>
                          </m:sSub>
                          <m:d>
                            <m:dPr>
                              <m:ctrlPr>
                                <a:rPr lang="zh-CN" altLang="zh-CN" sz="1600" i="1">
                                  <a:latin typeface="Cambria Math" panose="02040503050406030204" pitchFamily="18" charset="0"/>
                                </a:rPr>
                              </m:ctrlPr>
                            </m:dPr>
                            <m:e>
                              <m:sSup>
                                <m:sSupPr>
                                  <m:ctrlPr>
                                    <a:rPr lang="zh-CN" altLang="zh-CN" sz="1600" i="1">
                                      <a:latin typeface="Cambria Math" panose="02040503050406030204" pitchFamily="18" charset="0"/>
                                    </a:rPr>
                                  </m:ctrlPr>
                                </m:sSupPr>
                                <m:e>
                                  <m:r>
                                    <a:rPr lang="en-US" altLang="zh-CN" sz="1600" i="1">
                                      <a:latin typeface="Cambria Math"/>
                                    </a:rPr>
                                    <m:t>𝑠</m:t>
                                  </m:r>
                                </m:e>
                                <m:sup>
                                  <m:r>
                                    <a:rPr lang="en-US" altLang="zh-CN" sz="1600" i="1">
                                      <a:latin typeface="Cambria Math"/>
                                    </a:rPr>
                                    <m:t>′</m:t>
                                  </m:r>
                                </m:sup>
                              </m:sSup>
                              <m:r>
                                <a:rPr lang="en-US" altLang="zh-CN" sz="1600" i="1">
                                  <a:latin typeface="Cambria Math"/>
                                </a:rPr>
                                <m:t>,</m:t>
                              </m:r>
                              <m:sSup>
                                <m:sSupPr>
                                  <m:ctrlPr>
                                    <a:rPr lang="zh-CN" altLang="zh-CN" sz="1600" i="1">
                                      <a:latin typeface="Cambria Math" panose="02040503050406030204" pitchFamily="18" charset="0"/>
                                    </a:rPr>
                                  </m:ctrlPr>
                                </m:sSupPr>
                                <m:e>
                                  <m:r>
                                    <a:rPr lang="en-US" altLang="zh-CN" sz="1600" i="1">
                                      <a:latin typeface="Cambria Math"/>
                                    </a:rPr>
                                    <m:t>𝑎</m:t>
                                  </m:r>
                                </m:e>
                                <m:sup>
                                  <m:r>
                                    <a:rPr lang="en-US" altLang="zh-CN" sz="1600" i="1">
                                      <a:latin typeface="Cambria Math"/>
                                    </a:rPr>
                                    <m:t>′</m:t>
                                  </m:r>
                                </m:sup>
                              </m:sSup>
                            </m:e>
                          </m:d>
                        </m:e>
                      </m:d>
                      <m:r>
                        <a:rPr lang="en-US" altLang="zh-CN" sz="1600">
                          <a:latin typeface="Cambria Math"/>
                        </a:rPr>
                        <m:t>]</m:t>
                      </m:r>
                    </m:oMath>
                  </m:oMathPara>
                </a14:m>
                <a:endParaRPr lang="zh-CN" altLang="en-US" sz="1600" dirty="0"/>
              </a:p>
            </p:txBody>
          </p:sp>
        </mc:Choice>
        <mc:Fallback xmlns="">
          <p:sp>
            <p:nvSpPr>
              <p:cNvPr id="12" name="矩形 11">
                <a:extLst>
                  <a:ext uri="{FF2B5EF4-FFF2-40B4-BE49-F238E27FC236}">
                    <a16:creationId xmlns:a16="http://schemas.microsoft.com/office/drawing/2014/main" id="{9BA6E0C2-A18D-43D5-BE69-727926C89E55}"/>
                  </a:ext>
                </a:extLst>
              </p:cNvPr>
              <p:cNvSpPr>
                <a:spLocks noRot="1" noChangeAspect="1" noMove="1" noResize="1" noEditPoints="1" noAdjustHandles="1" noChangeArrowheads="1" noChangeShapeType="1" noTextEdit="1"/>
              </p:cNvSpPr>
              <p:nvPr/>
            </p:nvSpPr>
            <p:spPr>
              <a:xfrm>
                <a:off x="3320255" y="3236818"/>
                <a:ext cx="8159392" cy="392095"/>
              </a:xfrm>
              <a:prstGeom prst="rect">
                <a:avLst/>
              </a:prstGeom>
              <a:blipFill>
                <a:blip r:embed="rId3"/>
                <a:stretch>
                  <a:fillRect b="-1563"/>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9C25E1E3-05F1-488A-A3FA-CF87E23D47E9}"/>
              </a:ext>
            </a:extLst>
          </p:cNvPr>
          <p:cNvSpPr/>
          <p:nvPr/>
        </p:nvSpPr>
        <p:spPr>
          <a:xfrm>
            <a:off x="2115423" y="3263589"/>
            <a:ext cx="2749471" cy="338554"/>
          </a:xfrm>
          <a:prstGeom prst="rect">
            <a:avLst/>
          </a:prstGeom>
        </p:spPr>
        <p:txBody>
          <a:bodyPr wrap="none">
            <a:spAutoFit/>
          </a:bodyPr>
          <a:lstStyle/>
          <a:p>
            <a:r>
              <a:rPr lang="zh-CN" altLang="en-US" sz="1600" kern="0" dirty="0">
                <a:solidFill>
                  <a:srgbClr val="C00000"/>
                </a:solidFill>
                <a:latin typeface="黑体" panose="02010609060101010101" pitchFamily="49" charset="-122"/>
                <a:ea typeface="黑体" panose="02010609060101010101" pitchFamily="49" charset="-122"/>
                <a:cs typeface="Times New Roman" pitchFamily="18" charset="0"/>
              </a:rPr>
              <a:t>动作</a:t>
            </a:r>
            <a:r>
              <a:rPr lang="en-US" altLang="zh-CN" sz="1600" kern="0" dirty="0">
                <a:solidFill>
                  <a:srgbClr val="C00000"/>
                </a:solidFill>
                <a:latin typeface="黑体" panose="02010609060101010101" pitchFamily="49" charset="-122"/>
                <a:ea typeface="黑体" panose="02010609060101010101" pitchFamily="49" charset="-122"/>
                <a:cs typeface="Times New Roman" pitchFamily="18" charset="0"/>
              </a:rPr>
              <a:t>-</a:t>
            </a:r>
            <a:r>
              <a:rPr lang="zh-CN" altLang="en-US" sz="1600" kern="0" dirty="0">
                <a:solidFill>
                  <a:srgbClr val="C00000"/>
                </a:solidFill>
                <a:latin typeface="黑体" panose="02010609060101010101" pitchFamily="49" charset="-122"/>
                <a:ea typeface="黑体" panose="02010609060101010101" pitchFamily="49" charset="-122"/>
                <a:cs typeface="Times New Roman" pitchFamily="18" charset="0"/>
              </a:rPr>
              <a:t>价值函数的</a:t>
            </a:r>
            <a:r>
              <a:rPr lang="zh-CN" altLang="zh-CN" sz="1600" kern="0" dirty="0">
                <a:solidFill>
                  <a:srgbClr val="C00000"/>
                </a:solidFill>
                <a:latin typeface="黑体" panose="02010609060101010101" pitchFamily="49" charset="-122"/>
                <a:ea typeface="黑体" panose="02010609060101010101" pitchFamily="49" charset="-122"/>
                <a:cs typeface="Times New Roman" pitchFamily="18" charset="0"/>
              </a:rPr>
              <a:t>贝尔曼方程</a:t>
            </a:r>
            <a:endParaRPr lang="zh-CN" altLang="en-US" sz="1600" dirty="0">
              <a:solidFill>
                <a:srgbClr val="C00000"/>
              </a:solidFill>
              <a:latin typeface="黑体" panose="02010609060101010101" pitchFamily="49" charset="-122"/>
              <a:ea typeface="黑体" panose="02010609060101010101" pitchFamily="49" charset="-122"/>
            </a:endParaRPr>
          </a:p>
        </p:txBody>
      </p:sp>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619DB98A-8AC6-401C-ADFE-7CCBAC3AB667}"/>
                  </a:ext>
                </a:extLst>
              </p:cNvPr>
              <p:cNvSpPr/>
              <p:nvPr/>
            </p:nvSpPr>
            <p:spPr>
              <a:xfrm>
                <a:off x="3299726" y="2637118"/>
                <a:ext cx="7236361" cy="37317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zh-CN" sz="1600" i="1" smtClean="0">
                              <a:latin typeface="Cambria Math" panose="02040503050406030204" pitchFamily="18" charset="0"/>
                            </a:rPr>
                          </m:ctrlPr>
                        </m:sSubPr>
                        <m:e>
                          <m:r>
                            <a:rPr lang="en-US" altLang="zh-CN" sz="1600" i="1">
                              <a:latin typeface="Cambria Math"/>
                            </a:rPr>
                            <m:t>𝑉</m:t>
                          </m:r>
                        </m:e>
                        <m:sub>
                          <m:r>
                            <a:rPr lang="en-US" altLang="zh-CN" sz="1600" i="1">
                              <a:latin typeface="Cambria Math"/>
                            </a:rPr>
                            <m:t>𝜋</m:t>
                          </m:r>
                        </m:sub>
                      </m:sSub>
                      <m:d>
                        <m:dPr>
                          <m:ctrlPr>
                            <a:rPr lang="zh-CN" altLang="zh-CN" sz="1600" i="1">
                              <a:latin typeface="Cambria Math" panose="02040503050406030204" pitchFamily="18" charset="0"/>
                            </a:rPr>
                          </m:ctrlPr>
                        </m:dPr>
                        <m:e>
                          <m:r>
                            <a:rPr lang="en-US" altLang="zh-CN" sz="1600" i="1">
                              <a:latin typeface="Cambria Math"/>
                            </a:rPr>
                            <m:t>𝑠</m:t>
                          </m:r>
                        </m:e>
                      </m:d>
                      <m:sSub>
                        <m:sSubPr>
                          <m:ctrlPr>
                            <a:rPr lang="zh-CN" altLang="zh-CN" sz="1600" i="1">
                              <a:latin typeface="Cambria Math" panose="02040503050406030204" pitchFamily="18" charset="0"/>
                            </a:rPr>
                          </m:ctrlPr>
                        </m:sSubPr>
                        <m:e>
                          <m:r>
                            <a:rPr lang="en-US" altLang="zh-CN" sz="1600" b="0" i="1" smtClean="0">
                              <a:latin typeface="Cambria Math"/>
                            </a:rPr>
                            <m:t>=</m:t>
                          </m:r>
                          <m:r>
                            <a:rPr lang="en-US" altLang="zh-CN" sz="1600" i="1">
                              <a:latin typeface="Cambria Math"/>
                            </a:rPr>
                            <m:t>𝔼</m:t>
                          </m:r>
                        </m:e>
                        <m:sub>
                          <m:r>
                            <a:rPr lang="en-US" altLang="zh-CN" sz="1600" i="1">
                              <a:latin typeface="Cambria Math"/>
                            </a:rPr>
                            <m:t>𝑎</m:t>
                          </m:r>
                          <m:r>
                            <a:rPr lang="en-US" altLang="zh-CN" sz="1600" i="1">
                              <a:latin typeface="Cambria Math"/>
                            </a:rPr>
                            <m:t>∼</m:t>
                          </m:r>
                          <m:r>
                            <a:rPr lang="en-US" altLang="zh-CN" sz="1600" i="1">
                              <a:latin typeface="Cambria Math"/>
                            </a:rPr>
                            <m:t>𝜋</m:t>
                          </m:r>
                          <m:r>
                            <a:rPr lang="en-US" altLang="zh-CN" sz="1600" i="1">
                              <a:latin typeface="Cambria Math"/>
                            </a:rPr>
                            <m:t>(</m:t>
                          </m:r>
                          <m:r>
                            <a:rPr lang="en-US" altLang="zh-CN" sz="1600" i="1">
                              <a:latin typeface="Cambria Math"/>
                            </a:rPr>
                            <m:t>𝑠</m:t>
                          </m:r>
                          <m:r>
                            <a:rPr lang="en-US" altLang="zh-CN" sz="1600" i="1">
                              <a:latin typeface="Cambria Math"/>
                            </a:rPr>
                            <m:t>,⋅)</m:t>
                          </m:r>
                        </m:sub>
                      </m:sSub>
                      <m:sSub>
                        <m:sSubPr>
                          <m:ctrlPr>
                            <a:rPr lang="zh-CN" altLang="zh-CN" sz="1600" i="1">
                              <a:latin typeface="Cambria Math" panose="02040503050406030204" pitchFamily="18" charset="0"/>
                            </a:rPr>
                          </m:ctrlPr>
                        </m:sSubPr>
                        <m:e>
                          <m:r>
                            <a:rPr lang="en-US" altLang="zh-CN" sz="1600" i="1">
                              <a:latin typeface="Cambria Math"/>
                            </a:rPr>
                            <m:t>𝔼</m:t>
                          </m:r>
                        </m:e>
                        <m:sub>
                          <m:sSup>
                            <m:sSupPr>
                              <m:ctrlPr>
                                <a:rPr lang="zh-CN" altLang="zh-CN" sz="1600" i="1">
                                  <a:latin typeface="Cambria Math" panose="02040503050406030204" pitchFamily="18" charset="0"/>
                                </a:rPr>
                              </m:ctrlPr>
                            </m:sSupPr>
                            <m:e>
                              <m:r>
                                <a:rPr lang="en-US" altLang="zh-CN" sz="1600" i="1">
                                  <a:latin typeface="Cambria Math"/>
                                </a:rPr>
                                <m:t>𝑠</m:t>
                              </m:r>
                            </m:e>
                            <m:sup>
                              <m:r>
                                <a:rPr lang="en-US" altLang="zh-CN" sz="1600" i="1">
                                  <a:latin typeface="Cambria Math"/>
                                </a:rPr>
                                <m:t>′</m:t>
                              </m:r>
                            </m:sup>
                          </m:sSup>
                          <m:r>
                            <a:rPr lang="en-US" altLang="zh-CN" sz="1600" i="1">
                              <a:latin typeface="Cambria Math"/>
                            </a:rPr>
                            <m:t>~</m:t>
                          </m:r>
                          <m:r>
                            <a:rPr lang="en-US" altLang="zh-CN" sz="1600" i="1">
                              <a:latin typeface="Cambria Math"/>
                            </a:rPr>
                            <m:t>𝑃</m:t>
                          </m:r>
                          <m:r>
                            <a:rPr lang="en-US" altLang="zh-CN" sz="1600" i="1">
                              <a:latin typeface="Cambria Math"/>
                            </a:rPr>
                            <m:t>(⋅|</m:t>
                          </m:r>
                          <m:r>
                            <a:rPr lang="en-US" altLang="zh-CN" sz="1600" i="1">
                              <a:latin typeface="Cambria Math"/>
                            </a:rPr>
                            <m:t>𝑠</m:t>
                          </m:r>
                          <m:r>
                            <a:rPr lang="en-US" altLang="zh-CN" sz="1600" i="1">
                              <a:latin typeface="Cambria Math"/>
                            </a:rPr>
                            <m:t>,</m:t>
                          </m:r>
                          <m:r>
                            <a:rPr lang="en-US" altLang="zh-CN" sz="1600" i="1">
                              <a:latin typeface="Cambria Math"/>
                            </a:rPr>
                            <m:t>𝑎</m:t>
                          </m:r>
                          <m:r>
                            <a:rPr lang="en-US" altLang="zh-CN" sz="1600" i="1">
                              <a:latin typeface="Cambria Math"/>
                            </a:rPr>
                            <m:t>)</m:t>
                          </m:r>
                        </m:sub>
                      </m:sSub>
                      <m:d>
                        <m:dPr>
                          <m:begChr m:val="["/>
                          <m:endChr m:val="]"/>
                          <m:ctrlPr>
                            <a:rPr lang="zh-CN" altLang="zh-CN" sz="1600" i="1">
                              <a:latin typeface="Cambria Math" panose="02040503050406030204" pitchFamily="18" charset="0"/>
                            </a:rPr>
                          </m:ctrlPr>
                        </m:dPr>
                        <m:e>
                          <m:r>
                            <a:rPr lang="en-US" altLang="zh-CN" sz="1600" i="1">
                              <a:latin typeface="Cambria Math"/>
                            </a:rPr>
                            <m:t>𝑅</m:t>
                          </m:r>
                          <m:d>
                            <m:dPr>
                              <m:ctrlPr>
                                <a:rPr lang="zh-CN" altLang="zh-CN" sz="1600" i="1">
                                  <a:latin typeface="Cambria Math" panose="02040503050406030204" pitchFamily="18" charset="0"/>
                                </a:rPr>
                              </m:ctrlPr>
                            </m:dPr>
                            <m:e>
                              <m:r>
                                <a:rPr lang="en-US" altLang="zh-CN" sz="1600" i="1">
                                  <a:latin typeface="Cambria Math"/>
                                </a:rPr>
                                <m:t>𝑠</m:t>
                              </m:r>
                              <m:r>
                                <a:rPr lang="en-US" altLang="zh-CN" sz="1600" i="1">
                                  <a:latin typeface="Cambria Math"/>
                                </a:rPr>
                                <m:t>,</m:t>
                              </m:r>
                              <m:sSup>
                                <m:sSupPr>
                                  <m:ctrlPr>
                                    <a:rPr lang="zh-CN" altLang="zh-CN" sz="1600" i="1">
                                      <a:latin typeface="Cambria Math" panose="02040503050406030204" pitchFamily="18" charset="0"/>
                                    </a:rPr>
                                  </m:ctrlPr>
                                </m:sSupPr>
                                <m:e>
                                  <m:r>
                                    <a:rPr lang="en-US" altLang="zh-CN" sz="1600" i="1">
                                      <a:latin typeface="Cambria Math"/>
                                    </a:rPr>
                                    <m:t>𝑎</m:t>
                                  </m:r>
                                  <m:r>
                                    <a:rPr lang="en-US" altLang="zh-CN" sz="1600" i="1">
                                      <a:latin typeface="Cambria Math"/>
                                    </a:rPr>
                                    <m:t>,</m:t>
                                  </m:r>
                                  <m:r>
                                    <a:rPr lang="en-US" altLang="zh-CN" sz="1600" i="1">
                                      <a:latin typeface="Cambria Math"/>
                                    </a:rPr>
                                    <m:t>𝑠</m:t>
                                  </m:r>
                                </m:e>
                                <m:sup>
                                  <m:r>
                                    <a:rPr lang="en-US" altLang="zh-CN" sz="1600" i="1">
                                      <a:latin typeface="Cambria Math"/>
                                    </a:rPr>
                                    <m:t>′</m:t>
                                  </m:r>
                                </m:sup>
                              </m:sSup>
                            </m:e>
                          </m:d>
                          <m:r>
                            <a:rPr lang="en-US" altLang="zh-CN" sz="1600" i="1">
                              <a:latin typeface="Cambria Math"/>
                            </a:rPr>
                            <m:t>+</m:t>
                          </m:r>
                          <m:r>
                            <a:rPr lang="en-US" altLang="zh-CN" sz="1600" i="1">
                              <a:latin typeface="Cambria Math"/>
                            </a:rPr>
                            <m:t>𝛾</m:t>
                          </m:r>
                          <m:sSub>
                            <m:sSubPr>
                              <m:ctrlPr>
                                <a:rPr lang="zh-CN" altLang="zh-CN" sz="1600" i="1">
                                  <a:latin typeface="Cambria Math" panose="02040503050406030204" pitchFamily="18" charset="0"/>
                                </a:rPr>
                              </m:ctrlPr>
                            </m:sSubPr>
                            <m:e>
                              <m:r>
                                <a:rPr lang="en-US" altLang="zh-CN" sz="1600" i="1">
                                  <a:latin typeface="Cambria Math"/>
                                </a:rPr>
                                <m:t>𝑉</m:t>
                              </m:r>
                            </m:e>
                            <m:sub>
                              <m:r>
                                <a:rPr lang="en-US" altLang="zh-CN" sz="1600" i="1">
                                  <a:latin typeface="Cambria Math"/>
                                </a:rPr>
                                <m:t>𝜋</m:t>
                              </m:r>
                            </m:sub>
                          </m:sSub>
                          <m:d>
                            <m:dPr>
                              <m:ctrlPr>
                                <a:rPr lang="zh-CN" altLang="zh-CN" sz="1600" i="1">
                                  <a:latin typeface="Cambria Math" panose="02040503050406030204" pitchFamily="18" charset="0"/>
                                </a:rPr>
                              </m:ctrlPr>
                            </m:dPr>
                            <m:e>
                              <m:sSup>
                                <m:sSupPr>
                                  <m:ctrlPr>
                                    <a:rPr lang="zh-CN" altLang="zh-CN" sz="1600" i="1">
                                      <a:latin typeface="Cambria Math" panose="02040503050406030204" pitchFamily="18" charset="0"/>
                                    </a:rPr>
                                  </m:ctrlPr>
                                </m:sSupPr>
                                <m:e>
                                  <m:r>
                                    <a:rPr lang="en-US" altLang="zh-CN" sz="1600" i="1">
                                      <a:latin typeface="Cambria Math"/>
                                    </a:rPr>
                                    <m:t>𝑠</m:t>
                                  </m:r>
                                </m:e>
                                <m:sup>
                                  <m:r>
                                    <a:rPr lang="en-US" altLang="zh-CN" sz="1600" i="1">
                                      <a:latin typeface="Cambria Math"/>
                                    </a:rPr>
                                    <m:t>′</m:t>
                                  </m:r>
                                </m:sup>
                              </m:sSup>
                            </m:e>
                          </m:d>
                        </m:e>
                      </m:d>
                    </m:oMath>
                  </m:oMathPara>
                </a14:m>
                <a:endParaRPr lang="zh-CN" altLang="en-US" sz="1600" dirty="0"/>
              </a:p>
            </p:txBody>
          </p:sp>
        </mc:Choice>
        <mc:Fallback xmlns="">
          <p:sp>
            <p:nvSpPr>
              <p:cNvPr id="14" name="矩形 13">
                <a:extLst>
                  <a:ext uri="{FF2B5EF4-FFF2-40B4-BE49-F238E27FC236}">
                    <a16:creationId xmlns:a16="http://schemas.microsoft.com/office/drawing/2014/main" id="{619DB98A-8AC6-401C-ADFE-7CCBAC3AB667}"/>
                  </a:ext>
                </a:extLst>
              </p:cNvPr>
              <p:cNvSpPr>
                <a:spLocks noRot="1" noChangeAspect="1" noMove="1" noResize="1" noEditPoints="1" noAdjustHandles="1" noChangeArrowheads="1" noChangeShapeType="1" noTextEdit="1"/>
              </p:cNvSpPr>
              <p:nvPr/>
            </p:nvSpPr>
            <p:spPr>
              <a:xfrm>
                <a:off x="3299726" y="2637118"/>
                <a:ext cx="7236361" cy="373179"/>
              </a:xfrm>
              <a:prstGeom prst="rect">
                <a:avLst/>
              </a:prstGeom>
              <a:blipFill>
                <a:blip r:embed="rId4"/>
                <a:stretch>
                  <a:fillRect b="-6557"/>
                </a:stretch>
              </a:blipFill>
            </p:spPr>
            <p:txBody>
              <a:bodyPr/>
              <a:lstStyle/>
              <a:p>
                <a:r>
                  <a:rPr lang="zh-CN" altLang="en-US">
                    <a:noFill/>
                  </a:rPr>
                  <a:t> </a:t>
                </a:r>
              </a:p>
            </p:txBody>
          </p:sp>
        </mc:Fallback>
      </mc:AlternateContent>
      <p:sp>
        <p:nvSpPr>
          <p:cNvPr id="15" name="矩形 14">
            <a:extLst>
              <a:ext uri="{FF2B5EF4-FFF2-40B4-BE49-F238E27FC236}">
                <a16:creationId xmlns:a16="http://schemas.microsoft.com/office/drawing/2014/main" id="{DE10FDF0-4221-466C-910C-8FCBEB95D949}"/>
              </a:ext>
            </a:extLst>
          </p:cNvPr>
          <p:cNvSpPr/>
          <p:nvPr/>
        </p:nvSpPr>
        <p:spPr>
          <a:xfrm>
            <a:off x="2181471" y="2600787"/>
            <a:ext cx="2236510" cy="338554"/>
          </a:xfrm>
          <a:prstGeom prst="rect">
            <a:avLst/>
          </a:prstGeom>
        </p:spPr>
        <p:txBody>
          <a:bodyPr wrap="none">
            <a:spAutoFit/>
          </a:bodyPr>
          <a:lstStyle/>
          <a:p>
            <a:r>
              <a:rPr lang="zh-CN" altLang="en-US" sz="1600" kern="0" dirty="0">
                <a:solidFill>
                  <a:srgbClr val="C00000"/>
                </a:solidFill>
                <a:latin typeface="黑体" panose="02010609060101010101" pitchFamily="49" charset="-122"/>
                <a:ea typeface="黑体" panose="02010609060101010101" pitchFamily="49" charset="-122"/>
                <a:cs typeface="Times New Roman" pitchFamily="18" charset="0"/>
              </a:rPr>
              <a:t>价值函数的</a:t>
            </a:r>
            <a:r>
              <a:rPr lang="zh-CN" altLang="zh-CN" sz="1600" kern="0" dirty="0">
                <a:solidFill>
                  <a:srgbClr val="C00000"/>
                </a:solidFill>
                <a:latin typeface="黑体" panose="02010609060101010101" pitchFamily="49" charset="-122"/>
                <a:ea typeface="黑体" panose="02010609060101010101" pitchFamily="49" charset="-122"/>
                <a:cs typeface="Times New Roman" pitchFamily="18" charset="0"/>
              </a:rPr>
              <a:t>贝尔曼方程</a:t>
            </a:r>
            <a:endParaRPr lang="zh-CN" altLang="en-US" sz="1600" dirty="0">
              <a:solidFill>
                <a:srgbClr val="C00000"/>
              </a:solidFill>
              <a:latin typeface="黑体" panose="02010609060101010101" pitchFamily="49" charset="-122"/>
              <a:ea typeface="黑体" panose="02010609060101010101" pitchFamily="49" charset="-122"/>
            </a:endParaRPr>
          </a:p>
        </p:txBody>
      </p:sp>
      <p:sp>
        <p:nvSpPr>
          <p:cNvPr id="16" name="矩形 15">
            <a:extLst>
              <a:ext uri="{FF2B5EF4-FFF2-40B4-BE49-F238E27FC236}">
                <a16:creationId xmlns:a16="http://schemas.microsoft.com/office/drawing/2014/main" id="{B9D9D7AD-06AA-49B3-9BE8-8976C97155F3}"/>
              </a:ext>
            </a:extLst>
          </p:cNvPr>
          <p:cNvSpPr/>
          <p:nvPr/>
        </p:nvSpPr>
        <p:spPr>
          <a:xfrm>
            <a:off x="1233267" y="3979628"/>
            <a:ext cx="10377268" cy="2571858"/>
          </a:xfrm>
          <a:prstGeom prst="rect">
            <a:avLst/>
          </a:prstGeom>
        </p:spPr>
        <p:txBody>
          <a:bodyPr wrap="square">
            <a:spAutoFit/>
          </a:bodyPr>
          <a:lstStyle/>
          <a:p>
            <a:pPr marL="285750" indent="-285750" algn="just">
              <a:buFont typeface="Wingdings" panose="05000000000000000000" pitchFamily="2" charset="2"/>
              <a:buChar char="l"/>
            </a:pPr>
            <a:r>
              <a:rPr lang="zh-CN" altLang="zh-CN" sz="2000" b="1" dirty="0">
                <a:latin typeface="Times New Roman" panose="02020603050405020304" pitchFamily="18" charset="0"/>
                <a:ea typeface="华文楷体" panose="02010600040101010101" pitchFamily="2" charset="-122"/>
                <a:cs typeface="Times New Roman" panose="02020603050405020304" pitchFamily="18" charset="0"/>
              </a:rPr>
              <a:t>贝尔曼方程描述了价值函数或动作</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000" b="1" dirty="0">
                <a:latin typeface="Times New Roman" panose="02020603050405020304" pitchFamily="18" charset="0"/>
                <a:ea typeface="华文楷体" panose="02010600040101010101" pitchFamily="2" charset="-122"/>
                <a:cs typeface="Times New Roman" panose="02020603050405020304" pitchFamily="18" charset="0"/>
              </a:rPr>
              <a:t>价值函数的递推关系，是研究强化学习问题的重要手段</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000" b="1" dirty="0">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buFont typeface="Wingdings" panose="05000000000000000000" pitchFamily="2" charset="2"/>
              <a:buChar char="l"/>
            </a:pPr>
            <a:r>
              <a:rPr lang="zh-CN" altLang="zh-CN" sz="2000" b="1" dirty="0">
                <a:latin typeface="Times New Roman" panose="02020603050405020304" pitchFamily="18" charset="0"/>
                <a:ea typeface="华文楷体" panose="02010600040101010101" pitchFamily="2" charset="-122"/>
                <a:cs typeface="Times New Roman" panose="02020603050405020304" pitchFamily="18" charset="0"/>
              </a:rPr>
              <a:t>在实际中，需要计算得到最优策略以指导智能体在当前状态如何选择一个可获得最大回报的动作。求解最优策略的一种方法就是去求解最优的价值函数或最优的动作</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000" b="1" dirty="0">
                <a:latin typeface="Times New Roman" panose="02020603050405020304" pitchFamily="18" charset="0"/>
                <a:ea typeface="华文楷体" panose="02010600040101010101" pitchFamily="2" charset="-122"/>
                <a:cs typeface="Times New Roman" panose="02020603050405020304" pitchFamily="18" charset="0"/>
              </a:rPr>
              <a:t>价值函数（即基于价值方法，</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value-based approach</a:t>
            </a:r>
            <a:r>
              <a:rPr lang="zh-CN" altLang="zh-CN" sz="2000" b="1" dirty="0">
                <a:latin typeface="Times New Roman" panose="02020603050405020304" pitchFamily="18" charset="0"/>
                <a:ea typeface="华文楷体" panose="02010600040101010101" pitchFamily="2" charset="-122"/>
                <a:cs typeface="Times New Roman" panose="02020603050405020304" pitchFamily="18" charset="0"/>
              </a:rPr>
              <a:t>）。一旦找到了最优的价值函数或动作</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000" b="1" dirty="0">
                <a:latin typeface="Times New Roman" panose="02020603050405020304" pitchFamily="18" charset="0"/>
                <a:ea typeface="华文楷体" panose="02010600040101010101" pitchFamily="2" charset="-122"/>
                <a:cs typeface="Times New Roman" panose="02020603050405020304" pitchFamily="18" charset="0"/>
              </a:rPr>
              <a:t>价值函数，自然而然也就是找到最优策略</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000" b="1" dirty="0">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buFont typeface="Wingdings" panose="05000000000000000000" pitchFamily="2" charset="2"/>
              <a:buChar char="l"/>
            </a:pPr>
            <a:r>
              <a:rPr lang="zh-CN" altLang="zh-CN" sz="2000" b="1" dirty="0">
                <a:latin typeface="Times New Roman" panose="02020603050405020304" pitchFamily="18" charset="0"/>
                <a:ea typeface="华文楷体" panose="02010600040101010101" pitchFamily="2" charset="-122"/>
                <a:cs typeface="Times New Roman" panose="02020603050405020304" pitchFamily="18" charset="0"/>
              </a:rPr>
              <a:t>在强化学习中还有基于策略（</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policy-based</a:t>
            </a:r>
            <a:r>
              <a:rPr lang="zh-CN" altLang="zh-CN" sz="2000" b="1" dirty="0">
                <a:latin typeface="Times New Roman" panose="02020603050405020304" pitchFamily="18" charset="0"/>
                <a:ea typeface="华文楷体" panose="02010600040101010101" pitchFamily="2" charset="-122"/>
                <a:cs typeface="Times New Roman" panose="02020603050405020304" pitchFamily="18" charset="0"/>
              </a:rPr>
              <a:t>）和基于模型（</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model-based</a:t>
            </a:r>
            <a:r>
              <a:rPr lang="zh-CN" altLang="zh-CN" sz="2000" b="1" dirty="0">
                <a:latin typeface="Times New Roman" panose="02020603050405020304" pitchFamily="18" charset="0"/>
                <a:ea typeface="华文楷体" panose="02010600040101010101" pitchFamily="2" charset="-122"/>
                <a:cs typeface="Times New Roman" panose="02020603050405020304" pitchFamily="18" charset="0"/>
              </a:rPr>
              <a:t>）等不同方法。 </a:t>
            </a:r>
          </a:p>
          <a:p>
            <a:pPr marL="285750" indent="-285750" algn="just">
              <a:lnSpc>
                <a:spcPct val="150000"/>
              </a:lnSpc>
              <a:buFont typeface="Wingdings" panose="05000000000000000000" pitchFamily="2" charset="2"/>
              <a:buChar char="l"/>
            </a:pPr>
            <a:endParaRPr lang="zh-CN"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17" name="直接连接符 16">
            <a:extLst>
              <a:ext uri="{FF2B5EF4-FFF2-40B4-BE49-F238E27FC236}">
                <a16:creationId xmlns:a16="http://schemas.microsoft.com/office/drawing/2014/main" id="{378141D4-2B38-420D-B7DA-896FA8A882CA}"/>
              </a:ext>
            </a:extLst>
          </p:cNvPr>
          <p:cNvCxnSpPr>
            <a:cxnSpLocks/>
          </p:cNvCxnSpPr>
          <p:nvPr/>
        </p:nvCxnSpPr>
        <p:spPr>
          <a:xfrm>
            <a:off x="2115423" y="3804270"/>
            <a:ext cx="8178905" cy="0"/>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A9883C2B-812D-4C1B-8FAD-213A018AD7AA}"/>
              </a:ext>
            </a:extLst>
          </p:cNvPr>
          <p:cNvSpPr/>
          <p:nvPr/>
        </p:nvSpPr>
        <p:spPr>
          <a:xfrm>
            <a:off x="4417981" y="1792769"/>
            <a:ext cx="3531736" cy="369332"/>
          </a:xfrm>
          <a:prstGeom prst="rect">
            <a:avLst/>
          </a:prstGeom>
        </p:spPr>
        <p:txBody>
          <a:bodyPr wrap="none">
            <a:spAutoFit/>
          </a:bodyPr>
          <a:lstStyle/>
          <a:p>
            <a:r>
              <a:rPr lang="zh-CN" altLang="en-US" dirty="0">
                <a:latin typeface="黑体" panose="02010609060101010101" pitchFamily="49" charset="-122"/>
                <a:ea typeface="黑体" panose="02010609060101010101" pitchFamily="49" charset="-122"/>
                <a:cs typeface="Times New Roman" panose="02020603050405020304" pitchFamily="18" charset="0"/>
              </a:rPr>
              <a:t>价值函数与动作</a:t>
            </a:r>
            <a:r>
              <a:rPr lang="en-US" altLang="zh-CN" dirty="0">
                <a:latin typeface="黑体" panose="02010609060101010101" pitchFamily="49" charset="-122"/>
                <a:ea typeface="黑体" panose="02010609060101010101" pitchFamily="49" charset="-122"/>
                <a:cs typeface="Times New Roman" panose="02020603050405020304" pitchFamily="18" charset="0"/>
              </a:rPr>
              <a:t>-</a:t>
            </a:r>
            <a:r>
              <a:rPr lang="zh-CN" altLang="en-US" dirty="0">
                <a:latin typeface="黑体" panose="02010609060101010101" pitchFamily="49" charset="-122"/>
                <a:ea typeface="黑体" panose="02010609060101010101" pitchFamily="49" charset="-122"/>
                <a:cs typeface="Times New Roman" panose="02020603050405020304" pitchFamily="18" charset="0"/>
              </a:rPr>
              <a:t>价值函数的关系</a:t>
            </a:r>
            <a:endParaRPr lang="zh-CN" altLang="en-US" dirty="0"/>
          </a:p>
        </p:txBody>
      </p:sp>
    </p:spTree>
    <p:extLst>
      <p:ext uri="{BB962C8B-B14F-4D97-AF65-F5344CB8AC3E}">
        <p14:creationId xmlns:p14="http://schemas.microsoft.com/office/powerpoint/2010/main" val="34305898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强化学习定义</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强化学习问题定义</a:t>
            </a:r>
          </a:p>
        </p:txBody>
      </p:sp>
      <p:sp>
        <p:nvSpPr>
          <p:cNvPr id="2" name="矩形 1">
            <a:extLst>
              <a:ext uri="{FF2B5EF4-FFF2-40B4-BE49-F238E27FC236}">
                <a16:creationId xmlns:a16="http://schemas.microsoft.com/office/drawing/2014/main" id="{4867882F-E018-4730-8CA8-82321C64A454}"/>
              </a:ext>
            </a:extLst>
          </p:cNvPr>
          <p:cNvSpPr/>
          <p:nvPr/>
        </p:nvSpPr>
        <p:spPr>
          <a:xfrm>
            <a:off x="1383323" y="2164277"/>
            <a:ext cx="9425353" cy="874214"/>
          </a:xfrm>
          <a:prstGeom prst="rect">
            <a:avLst/>
          </a:prstGeom>
        </p:spPr>
        <p:txBody>
          <a:bodyPr wrap="square">
            <a:spAutoFit/>
          </a:bodyPr>
          <a:lstStyle/>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价值函数和动作</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价值函数反映了智能体在某一策略下所对应状态序列获得回报的期望，它能比回报本身更加准确地刻画智能体的目标。</a:t>
            </a:r>
          </a:p>
        </p:txBody>
      </p:sp>
      <p:sp>
        <p:nvSpPr>
          <p:cNvPr id="17" name="矩形: 圆角 6">
            <a:extLst>
              <a:ext uri="{FF2B5EF4-FFF2-40B4-BE49-F238E27FC236}">
                <a16:creationId xmlns:a16="http://schemas.microsoft.com/office/drawing/2014/main" id="{AB7DA9F9-F95E-4229-BA84-927DB934D2FB}"/>
              </a:ext>
            </a:extLst>
          </p:cNvPr>
          <p:cNvSpPr/>
          <p:nvPr/>
        </p:nvSpPr>
        <p:spPr>
          <a:xfrm>
            <a:off x="1970728" y="3866517"/>
            <a:ext cx="8395298" cy="1926972"/>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ACAFF662-BA69-4199-BB8B-47DAFC02D0D3}"/>
                  </a:ext>
                </a:extLst>
              </p:cNvPr>
              <p:cNvSpPr/>
              <p:nvPr/>
            </p:nvSpPr>
            <p:spPr>
              <a:xfrm>
                <a:off x="2118439" y="4119756"/>
                <a:ext cx="8099877" cy="1114985"/>
              </a:xfrm>
              <a:prstGeom prst="rect">
                <a:avLst/>
              </a:prstGeom>
            </p:spPr>
            <p:txBody>
              <a:bodyPr wrap="square">
                <a:spAutoFit/>
              </a:bodyPr>
              <a:lstStyle/>
              <a:p>
                <a:pPr algn="just"/>
                <a:endPar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pP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强化学习可以转化为一个策略学习问题，其定义为：给定一个马尔可夫决策过程</a:t>
                </a:r>
                <a14:m>
                  <m:oMath xmlns:m="http://schemas.openxmlformats.org/officeDocument/2006/math">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𝑀𝐷𝑃</m:t>
                    </m:r>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𝑆</m:t>
                    </m:r>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𝐴</m:t>
                    </m:r>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𝑃</m:t>
                    </m:r>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𝑅</m:t>
                    </m:r>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𝛾</m:t>
                    </m:r>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学习一个最优策略</a:t>
                </a:r>
                <a14:m>
                  <m:oMath xmlns:m="http://schemas.openxmlformats.org/officeDocument/2006/math">
                    <m:sSup>
                      <m:sSupPr>
                        <m:ctrlPr>
                          <a:rPr lang="zh-CN" altLang="zh-CN" sz="2000"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0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𝜋</m:t>
                        </m:r>
                      </m:e>
                      <m:sup>
                        <m:r>
                          <a:rPr lang="en-US" altLang="zh-CN" sz="20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sup>
                    </m:sSup>
                  </m:oMath>
                </a14:m>
                <a:r>
                  <a:rPr lang="zh-CN" altLang="zh-CN"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，对任意</a:t>
                </a:r>
                <a14:m>
                  <m:oMath xmlns:m="http://schemas.openxmlformats.org/officeDocument/2006/math">
                    <m:r>
                      <a:rPr lang="en-US" altLang="zh-CN" sz="20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𝑠</m:t>
                    </m:r>
                    <m:r>
                      <a:rPr lang="en-US" altLang="zh-CN" sz="20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sz="20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𝑆</m:t>
                    </m:r>
                  </m:oMath>
                </a14:m>
                <a:r>
                  <a:rPr lang="zh-CN" altLang="zh-CN"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使得</a:t>
                </a:r>
                <a14:m>
                  <m:oMath xmlns:m="http://schemas.openxmlformats.org/officeDocument/2006/math">
                    <m:sSub>
                      <m:sSubPr>
                        <m:ctrlPr>
                          <a:rPr lang="zh-CN" altLang="zh-CN" sz="2000"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0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𝑉</m:t>
                        </m:r>
                      </m:e>
                      <m:sub>
                        <m:sSup>
                          <m:sSupPr>
                            <m:ctrlPr>
                              <a:rPr lang="zh-CN" altLang="zh-CN" sz="2000"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0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𝜋</m:t>
                            </m:r>
                          </m:e>
                          <m:sup>
                            <m:r>
                              <a:rPr lang="en-US" altLang="zh-CN" sz="20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sup>
                        </m:sSup>
                      </m:sub>
                    </m:sSub>
                    <m:d>
                      <m:dPr>
                        <m:ctrlPr>
                          <a:rPr lang="zh-CN" altLang="zh-CN" sz="2000"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20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𝑠</m:t>
                        </m:r>
                      </m:e>
                    </m:d>
                  </m:oMath>
                </a14:m>
                <a:r>
                  <a:rPr lang="zh-CN" altLang="zh-CN"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值最大。</a:t>
                </a:r>
                <a:endParaRPr lang="en-US" altLang="zh-CN"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18" name="矩形 17">
                <a:extLst>
                  <a:ext uri="{FF2B5EF4-FFF2-40B4-BE49-F238E27FC236}">
                    <a16:creationId xmlns:a16="http://schemas.microsoft.com/office/drawing/2014/main" id="{ACAFF662-BA69-4199-BB8B-47DAFC02D0D3}"/>
                  </a:ext>
                </a:extLst>
              </p:cNvPr>
              <p:cNvSpPr>
                <a:spLocks noRot="1" noChangeAspect="1" noMove="1" noResize="1" noEditPoints="1" noAdjustHandles="1" noChangeArrowheads="1" noChangeShapeType="1" noTextEdit="1"/>
              </p:cNvSpPr>
              <p:nvPr/>
            </p:nvSpPr>
            <p:spPr>
              <a:xfrm>
                <a:off x="2118439" y="4119756"/>
                <a:ext cx="8099877" cy="1114985"/>
              </a:xfrm>
              <a:prstGeom prst="rect">
                <a:avLst/>
              </a:prstGeom>
              <a:blipFill>
                <a:blip r:embed="rId3"/>
                <a:stretch>
                  <a:fillRect l="-527" b="-1092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94665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强化学习</a:t>
              </a: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基于价值的强化学习</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p:pic>
        <p:nvPicPr>
          <p:cNvPr id="7" name="图片 6">
            <a:extLst>
              <a:ext uri="{FF2B5EF4-FFF2-40B4-BE49-F238E27FC236}">
                <a16:creationId xmlns:a16="http://schemas.microsoft.com/office/drawing/2014/main" id="{C4B9CC4C-04ED-40A5-AEFF-13C91FBEAA82}"/>
              </a:ext>
            </a:extLst>
          </p:cNvPr>
          <p:cNvPicPr>
            <a:picLocks noChangeAspect="1"/>
          </p:cNvPicPr>
          <p:nvPr/>
        </p:nvPicPr>
        <p:blipFill>
          <a:blip r:embed="rId3"/>
          <a:stretch>
            <a:fillRect/>
          </a:stretch>
        </p:blipFill>
        <p:spPr>
          <a:xfrm>
            <a:off x="6703093" y="2246310"/>
            <a:ext cx="5889501" cy="2824087"/>
          </a:xfrm>
          <a:prstGeom prst="rect">
            <a:avLst/>
          </a:prstGeom>
        </p:spPr>
      </p:pic>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19BD77F5-FA41-4AED-A8D1-810B56B63A2B}"/>
                  </a:ext>
                </a:extLst>
              </p:cNvPr>
              <p:cNvSpPr/>
              <p:nvPr/>
            </p:nvSpPr>
            <p:spPr>
              <a:xfrm>
                <a:off x="356381" y="1454332"/>
                <a:ext cx="6331802" cy="3957494"/>
              </a:xfrm>
              <a:prstGeom prst="rect">
                <a:avLst/>
              </a:prstGeom>
            </p:spPr>
            <p:txBody>
              <a:bodyPr wrap="square">
                <a:spAutoFit/>
              </a:bodyPr>
              <a:lstStyle/>
              <a:p>
                <a:pPr indent="266700" algn="just">
                  <a:lnSpc>
                    <a:spcPct val="2000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回顾强化学习问题的定义</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 </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给定一个马尔可夫决策过程</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𝑀𝐷𝑃</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𝑆</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𝐴</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𝑃</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𝑅</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𝛾</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，强化学习会寻找一个最优策略</a:t>
                </a:r>
                <a14:m>
                  <m:oMath xmlns:m="http://schemas.openxmlformats.org/officeDocument/2006/math">
                    <m:sSup>
                      <m:s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e>
                      <m: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up>
                    </m:sSup>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，在策略</a:t>
                </a:r>
                <a14:m>
                  <m:oMath xmlns:m="http://schemas.openxmlformats.org/officeDocument/2006/math">
                    <m:sSup>
                      <m:s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e>
                      <m: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up>
                    </m:sSup>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作用下使得任意状态</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𝑆</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对应的价值函数</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𝑉</m:t>
                        </m:r>
                      </m:e>
                      <m:sub>
                        <m:sSup>
                          <m:s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e>
                          <m: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up>
                        </m:sSup>
                      </m:sub>
                    </m:sSub>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e>
                    </m:d>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取值最大。</a:t>
                </a:r>
              </a:p>
              <a:p>
                <a:pPr indent="266700" algn="just">
                  <a:lnSpc>
                    <a:spcPct val="2000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为了求解最优策略</a:t>
                </a:r>
                <a14:m>
                  <m:oMath xmlns:m="http://schemas.openxmlformats.org/officeDocument/2006/math">
                    <m:sSup>
                      <m:s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e>
                      <m: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up>
                    </m:sSup>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，图</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6.7</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中展示了一种思路</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从一个任意的策略开始，</a:t>
                </a: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342900" indent="-342900" algn="just">
                  <a:lnSpc>
                    <a:spcPct val="200000"/>
                  </a:lnSpc>
                  <a:spcAft>
                    <a:spcPts val="0"/>
                  </a:spcAft>
                  <a:buFont typeface="+mj-lt"/>
                  <a:buAutoNum type="arabicPeriod"/>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首先计算该策略下价值函数（</a:t>
                </a:r>
                <a:r>
                  <a:rPr lang="zh-CN" altLang="zh-CN" sz="1600" b="1" dirty="0">
                    <a:solidFill>
                      <a:srgbClr val="000000"/>
                    </a:solidFill>
                    <a:latin typeface="Times New Roman" panose="02020603050405020304" pitchFamily="18" charset="0"/>
                    <a:ea typeface="楷体_GB2312"/>
                    <a:cs typeface="Times New Roman" panose="02020603050405020304" pitchFamily="18" charset="0"/>
                  </a:rPr>
                  <a:t>策略评估</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a:t>
                </a: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342900" indent="-342900" algn="just">
                  <a:lnSpc>
                    <a:spcPct val="200000"/>
                  </a:lnSpc>
                  <a:spcAft>
                    <a:spcPts val="0"/>
                  </a:spcAft>
                  <a:buFont typeface="+mj-lt"/>
                  <a:buAutoNum type="arabicPeriod"/>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然后根据价值函数调整改进策略使其更优</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b="1" dirty="0">
                    <a:solidFill>
                      <a:srgbClr val="000000"/>
                    </a:solidFill>
                    <a:latin typeface="Times New Roman" panose="02020603050405020304" pitchFamily="18" charset="0"/>
                    <a:ea typeface="楷体_GB2312"/>
                    <a:cs typeface="Times New Roman" panose="02020603050405020304" pitchFamily="18" charset="0"/>
                  </a:rPr>
                  <a:t>策略优化</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a:t>
                </a: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342900" indent="-342900" algn="just">
                  <a:lnSpc>
                    <a:spcPct val="200000"/>
                  </a:lnSpc>
                  <a:spcAft>
                    <a:spcPts val="0"/>
                  </a:spcAft>
                  <a:buFont typeface="+mj-lt"/>
                  <a:buAutoNum type="arabicPeriod"/>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不断迭代这个过程直到策略收敛。</a:t>
                </a: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19BD77F5-FA41-4AED-A8D1-810B56B63A2B}"/>
                  </a:ext>
                </a:extLst>
              </p:cNvPr>
              <p:cNvSpPr>
                <a:spLocks noRot="1" noChangeAspect="1" noMove="1" noResize="1" noEditPoints="1" noAdjustHandles="1" noChangeArrowheads="1" noChangeShapeType="1" noTextEdit="1"/>
              </p:cNvSpPr>
              <p:nvPr/>
            </p:nvSpPr>
            <p:spPr>
              <a:xfrm>
                <a:off x="356381" y="1454332"/>
                <a:ext cx="6331802" cy="3957494"/>
              </a:xfrm>
              <a:prstGeom prst="rect">
                <a:avLst/>
              </a:prstGeom>
              <a:blipFill>
                <a:blip r:embed="rId4"/>
                <a:stretch>
                  <a:fillRect l="-481" r="-577" b="-107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18022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策略优化：策略优化定理</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E5A46304-5B80-43A7-80C1-0722256CDCF9}"/>
                  </a:ext>
                </a:extLst>
              </p:cNvPr>
              <p:cNvSpPr/>
              <p:nvPr/>
            </p:nvSpPr>
            <p:spPr>
              <a:xfrm>
                <a:off x="1153551" y="1514200"/>
                <a:ext cx="9467556" cy="4215128"/>
              </a:xfrm>
              <a:prstGeom prst="rect">
                <a:avLst/>
              </a:prstGeom>
            </p:spPr>
            <p:txBody>
              <a:bodyPr wrap="square">
                <a:spAutoFit/>
              </a:bodyPr>
              <a:lstStyle/>
              <a:p>
                <a:pPr indent="266700" algn="just">
                  <a:lnSpc>
                    <a:spcPct val="1500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在讨论如何优化策略之前，首先需要明确什么是</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更好</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的策略。分别给出</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和</a:t>
                </a:r>
                <a14:m>
                  <m:oMath xmlns:m="http://schemas.openxmlformats.org/officeDocument/2006/math">
                    <m:sSup>
                      <m:s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e>
                      <m: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up>
                    </m:sSup>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两个策略，如果对于任意状态</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𝑆</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，有</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𝑉</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sub>
                    </m:sSub>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e>
                    </m:d>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𝑉</m:t>
                        </m:r>
                      </m:e>
                      <m:sub>
                        <m:sSup>
                          <m:s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e>
                          <m: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up>
                        </m:sSup>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，那么可以认为策略</a:t>
                </a:r>
                <a14:m>
                  <m:oMath xmlns:m="http://schemas.openxmlformats.org/officeDocument/2006/math">
                    <m:sSup>
                      <m:s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e>
                      <m: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up>
                    </m:sSup>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不比策略</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差，可见</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更优</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策略是一个偏序关系。</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   </a:t>
                </a:r>
              </a:p>
              <a:p>
                <a:pPr indent="266700" algn="just">
                  <a:lnSpc>
                    <a:spcPct val="1500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可以证明，给定任意给定状态</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𝑆</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，如果两个策略</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和</a:t>
                </a:r>
                <a14:m>
                  <m:oMath xmlns:m="http://schemas.openxmlformats.org/officeDocument/2006/math">
                    <m:sSup>
                      <m:s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e>
                      <m: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up>
                    </m:sSup>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满足如下条件：</a:t>
                </a:r>
              </a:p>
              <a:p>
                <a:pPr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𝑞</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p>
                            <m:sSup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e>
                            <m:sup>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up>
                          </m:sSup>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e>
                          </m:d>
                        </m:e>
                      </m:d>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𝑞</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e>
                      </m:d>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oMath>
                  </m:oMathPara>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那么对于该任意给定状态</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𝑆</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，有</a:t>
                </a:r>
              </a:p>
              <a:p>
                <a:pPr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𝑉</m:t>
                          </m:r>
                        </m:e>
                        <m:sub>
                          <m:sSup>
                            <m:sSup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e>
                            <m:sup>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up>
                          </m:sSup>
                        </m:sub>
                      </m:sSub>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e>
                      </m:d>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oMath>
                  </m:oMathPara>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即策略</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不比策略</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差。这个结论称为策略优化定理（</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Policy Improvement Theorem</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a:t>
                </a: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ct val="150000"/>
                  </a:lnSpc>
                  <a:spcAft>
                    <a:spcPts val="0"/>
                  </a:spcAft>
                </a:pP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ct val="1500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注意</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𝑞</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sub>
                    </m:sSub>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r>
                          <a:rPr lang="en-US" altLang="zh-CN" sz="1600">
                            <a:solidFill>
                              <a:srgbClr val="000000"/>
                            </a:solidFill>
                            <a:latin typeface="Cambria Math" panose="02040503050406030204" pitchFamily="18" charset="0"/>
                            <a:ea typeface="楷体_GB2312"/>
                            <a:cs typeface="Times New Roman" panose="02020603050405020304" pitchFamily="18" charset="0"/>
                          </a:rPr>
                          <m:t>,</m:t>
                        </m:r>
                        <m:sSup>
                          <m:s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e>
                          <m: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up>
                        </m:sSup>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e>
                        </m:d>
                      </m:e>
                    </m:d>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的含义并不是在当前状态</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下按照策略</a:t>
                </a:r>
                <a14:m>
                  <m:oMath xmlns:m="http://schemas.openxmlformats.org/officeDocument/2006/math">
                    <m:sSup>
                      <m:s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e>
                      <m: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up>
                    </m:sSup>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行动的回报期望，而是在当前状态</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下按照策略</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去选择动作</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r>
                      <a:rPr lang="en-US" altLang="zh-CN" sz="1600">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，但是从状态</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进入后续状态后，后续状态以后（直至终止状态）的所有动作仍然按照原有策略</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来选择所得到的回报期望。</a:t>
                </a:r>
              </a:p>
            </p:txBody>
          </p:sp>
        </mc:Choice>
        <mc:Fallback xmlns="">
          <p:sp>
            <p:nvSpPr>
              <p:cNvPr id="2" name="矩形 1">
                <a:extLst>
                  <a:ext uri="{FF2B5EF4-FFF2-40B4-BE49-F238E27FC236}">
                    <a16:creationId xmlns:a16="http://schemas.microsoft.com/office/drawing/2014/main" id="{E5A46304-5B80-43A7-80C1-0722256CDCF9}"/>
                  </a:ext>
                </a:extLst>
              </p:cNvPr>
              <p:cNvSpPr>
                <a:spLocks noRot="1" noChangeAspect="1" noMove="1" noResize="1" noEditPoints="1" noAdjustHandles="1" noChangeArrowheads="1" noChangeShapeType="1" noTextEdit="1"/>
              </p:cNvSpPr>
              <p:nvPr/>
            </p:nvSpPr>
            <p:spPr>
              <a:xfrm>
                <a:off x="1153551" y="1514200"/>
                <a:ext cx="9467556" cy="4215128"/>
              </a:xfrm>
              <a:prstGeom prst="rect">
                <a:avLst/>
              </a:prstGeom>
              <a:blipFill>
                <a:blip r:embed="rId3"/>
                <a:stretch>
                  <a:fillRect l="-322" r="-2511" b="-867"/>
                </a:stretch>
              </a:blipFill>
            </p:spPr>
            <p:txBody>
              <a:bodyPr/>
              <a:lstStyle/>
              <a:p>
                <a:r>
                  <a:rPr lang="zh-CN" altLang="en-US">
                    <a:noFill/>
                  </a:rPr>
                  <a:t> </a:t>
                </a:r>
              </a:p>
            </p:txBody>
          </p:sp>
        </mc:Fallback>
      </mc:AlternateContent>
      <p:cxnSp>
        <p:nvCxnSpPr>
          <p:cNvPr id="7" name="直接连接符 6">
            <a:extLst>
              <a:ext uri="{FF2B5EF4-FFF2-40B4-BE49-F238E27FC236}">
                <a16:creationId xmlns:a16="http://schemas.microsoft.com/office/drawing/2014/main" id="{8119C12D-2403-6DD7-01B0-323BE7E8634B}"/>
              </a:ext>
            </a:extLst>
          </p:cNvPr>
          <p:cNvCxnSpPr>
            <a:cxnSpLocks/>
          </p:cNvCxnSpPr>
          <p:nvPr/>
        </p:nvCxnSpPr>
        <p:spPr>
          <a:xfrm>
            <a:off x="1270691" y="4422579"/>
            <a:ext cx="9350416" cy="0"/>
          </a:xfrm>
          <a:prstGeom prst="line">
            <a:avLst/>
          </a:prstGeom>
          <a:ln w="317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6870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策略优化：策略优化定理</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D2CBDEA4-0F5B-4EF1-B27B-8675071C5E7A}"/>
                  </a:ext>
                </a:extLst>
              </p:cNvPr>
              <p:cNvSpPr/>
              <p:nvPr/>
            </p:nvSpPr>
            <p:spPr>
              <a:xfrm>
                <a:off x="582966" y="2407795"/>
                <a:ext cx="11530818" cy="2841740"/>
              </a:xfrm>
              <a:prstGeom prst="rect">
                <a:avLst/>
              </a:prstGeom>
            </p:spPr>
            <p:txBody>
              <a:bodyPr wrap="square">
                <a:spAutoFit/>
              </a:bodyPr>
              <a:lstStyle/>
              <a:p>
                <a:pPr indent="266700" algn="just">
                  <a:lnSpc>
                    <a:spcPct val="1500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假设当前策略为</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，其对应的价值函数和动作</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价值函数为</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𝑉</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和</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𝑞</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。构造策略</a:t>
                </a:r>
                <a14:m>
                  <m:oMath xmlns:m="http://schemas.openxmlformats.org/officeDocument/2006/math">
                    <m:sSup>
                      <m:s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e>
                      <m: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up>
                    </m:sSup>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使得对于任意</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𝑆</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，有如下条件成立：</a:t>
                </a:r>
              </a:p>
              <a:p>
                <a:pPr algn="ctr">
                  <a:lnSpc>
                    <a:spcPct val="150000"/>
                  </a:lnSpc>
                  <a:spcAft>
                    <a:spcPts val="0"/>
                  </a:spcAft>
                </a:pPr>
                <a14:m>
                  <m:oMath xmlns:m="http://schemas.openxmlformats.org/officeDocument/2006/math">
                    <m:sSup>
                      <m:sSup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e>
                      <m:sup>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up>
                    </m:sSup>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e>
                    </m:d>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6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argmax</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sub>
                    </m:sSub>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𝑞</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e>
                    </m:d>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      </m:t>
                    </m:r>
                  </m:oMath>
                </a14:m>
                <a:r>
                  <a:rPr lang="en-US" altLang="zh-CN" sz="16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(6.2.1)</a:t>
                </a:r>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spcAft>
                    <a:spcPts val="0"/>
                  </a:spcAft>
                </a:pPr>
                <a:r>
                  <a:rPr lang="zh-CN" altLang="en-US" sz="1600" dirty="0">
                    <a:solidFill>
                      <a:srgbClr val="000000"/>
                    </a:solidFill>
                    <a:latin typeface="Times New Roman" panose="02020603050405020304" pitchFamily="18" charset="0"/>
                    <a:ea typeface="楷体_GB2312"/>
                    <a:cs typeface="Times New Roman" panose="02020603050405020304" pitchFamily="18" charset="0"/>
                  </a:rPr>
                  <a:t>其中，动作</a:t>
                </a:r>
                <a14:m>
                  <m:oMath xmlns:m="http://schemas.openxmlformats.org/officeDocument/2006/math">
                    <m:r>
                      <a:rPr lang="en-US"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𝑎</m:t>
                    </m:r>
                  </m:oMath>
                </a14:m>
                <a:r>
                  <a:rPr lang="zh-CN" altLang="en-US" sz="1600" dirty="0">
                    <a:solidFill>
                      <a:srgbClr val="000000"/>
                    </a:solidFill>
                    <a:latin typeface="Times New Roman" panose="02020603050405020304" pitchFamily="18" charset="0"/>
                    <a:ea typeface="楷体_GB2312"/>
                    <a:cs typeface="Times New Roman" panose="02020603050405020304" pitchFamily="18" charset="0"/>
                  </a:rPr>
                  <a:t>从全部动作空间中遍历，即</a:t>
                </a:r>
                <a14:m>
                  <m:oMath xmlns:m="http://schemas.openxmlformats.org/officeDocument/2006/math">
                    <m:r>
                      <a:rPr lang="en-US" altLang="zh-CN" sz="1600">
                        <a:solidFill>
                          <a:srgbClr val="000000"/>
                        </a:solidFill>
                        <a:latin typeface="Cambria Math" panose="02040503050406030204" pitchFamily="18" charset="0"/>
                        <a:ea typeface="楷体_GB2312"/>
                        <a:cs typeface="Times New Roman" panose="02020603050405020304" pitchFamily="18" charset="0"/>
                      </a:rPr>
                      <m:t>𝑎</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𝐴</m:t>
                    </m:r>
                    <m:r>
                      <a:rPr lang="en-US" altLang="zh-CN" sz="1600">
                        <a:solidFill>
                          <a:srgbClr val="000000"/>
                        </a:solidFill>
                        <a:latin typeface="Cambria Math" panose="02040503050406030204" pitchFamily="18" charset="0"/>
                        <a:ea typeface="楷体_GB2312"/>
                        <a:cs typeface="Times New Roman" panose="02020603050405020304" pitchFamily="18" charset="0"/>
                      </a:rPr>
                      <m:t> </m:t>
                    </m:r>
                  </m:oMath>
                </a14:m>
                <a:r>
                  <a:rPr lang="zh-CN" altLang="en-US" sz="1600" dirty="0">
                    <a:solidFill>
                      <a:srgbClr val="000000"/>
                    </a:solidFill>
                    <a:latin typeface="Times New Roman" panose="02020603050405020304" pitchFamily="18" charset="0"/>
                    <a:ea typeface="楷体_GB2312"/>
                    <a:cs typeface="Times New Roman" panose="02020603050405020304" pitchFamily="18" charset="0"/>
                  </a:rPr>
                  <a:t>，而不是从上一个策略</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oMath>
                </a14:m>
                <a:r>
                  <a:rPr lang="zh-CN" altLang="en-US" sz="1600" dirty="0">
                    <a:solidFill>
                      <a:srgbClr val="000000"/>
                    </a:solidFill>
                    <a:latin typeface="Times New Roman" panose="02020603050405020304" pitchFamily="18" charset="0"/>
                    <a:ea typeface="楷体_GB2312"/>
                    <a:cs typeface="Times New Roman" panose="02020603050405020304" pitchFamily="18" charset="0"/>
                  </a:rPr>
                  <a:t>选择中选择。</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于是对于任意</a:t>
                </a:r>
                <a14:m>
                  <m:oMath xmlns:m="http://schemas.openxmlformats.org/officeDocument/2006/math">
                    <m:r>
                      <a:rPr lang="en-US" altLang="zh-CN" sz="1600">
                        <a:solidFill>
                          <a:srgbClr val="000000"/>
                        </a:solidFill>
                        <a:latin typeface="Cambria Math" panose="02040503050406030204" pitchFamily="18" charset="0"/>
                        <a:ea typeface="楷体_GB2312"/>
                        <a:cs typeface="Times New Roman" panose="02020603050405020304" pitchFamily="18" charset="0"/>
                      </a:rPr>
                      <m:t>𝑠</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a:solidFill>
                          <a:srgbClr val="000000"/>
                        </a:solidFill>
                        <a:latin typeface="Cambria Math" panose="02040503050406030204" pitchFamily="18" charset="0"/>
                        <a:ea typeface="楷体_GB2312"/>
                        <a:cs typeface="Times New Roman" panose="02020603050405020304" pitchFamily="18" charset="0"/>
                      </a:rPr>
                      <m:t>𝑆</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，有</a:t>
                </a: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𝑞</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sub>
                      </m:sSub>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r>
                            <a:rPr lang="en-US" altLang="zh-CN" sz="1600" i="1">
                              <a:solidFill>
                                <a:srgbClr val="000000"/>
                              </a:solidFill>
                              <a:latin typeface="Cambria Math" panose="02040503050406030204" pitchFamily="18" charset="0"/>
                              <a:ea typeface="楷体_GB2312"/>
                              <a:cs typeface="Times New Roman" panose="02020603050405020304" pitchFamily="18" charset="0"/>
                            </a:rPr>
                            <m:t>, </m:t>
                          </m:r>
                          <m:sSup>
                            <m:s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e>
                            <m: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up>
                          </m:sSup>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e>
                          </m:d>
                        </m:e>
                      </m:d>
                      <m:r>
                        <m:rPr>
                          <m:aln/>
                        </m:rPr>
                        <a:rPr lang="en-US" altLang="zh-CN" sz="16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𝑞</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sub>
                      </m:sSub>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r>
                            <a:rPr lang="en-US" altLang="zh-CN" sz="1600" i="1">
                              <a:solidFill>
                                <a:srgbClr val="000000"/>
                              </a:solidFill>
                              <a:latin typeface="Cambria Math" panose="02040503050406030204" pitchFamily="18" charset="0"/>
                              <a:ea typeface="楷体_GB2312"/>
                              <a:cs typeface="Times New Roman" panose="02020603050405020304" pitchFamily="18" charset="0"/>
                            </a:rPr>
                            <m:t>, </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argmax</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𝑎</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 </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𝑞</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sub>
                          </m:sSub>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𝑎</m:t>
                              </m:r>
                            </m:e>
                          </m:d>
                        </m:e>
                      </m:d>
                    </m:oMath>
                    <m:oMath xmlns:m="http://schemas.openxmlformats.org/officeDocument/2006/math">
                      <m:r>
                        <m:rPr>
                          <m:aln/>
                        </m:rPr>
                        <a:rPr lang="en-US" altLang="zh-CN" sz="1600" i="1">
                          <a:solidFill>
                            <a:srgbClr val="000000"/>
                          </a:solidFill>
                          <a:latin typeface="Cambria Math" panose="02040503050406030204" pitchFamily="18" charset="0"/>
                          <a:ea typeface="楷体_GB2312"/>
                          <a:cs typeface="Times New Roman" panose="02020603050405020304" pitchFamily="18" charset="0"/>
                        </a:rPr>
                        <m:t>=</m:t>
                      </m:r>
                      <m:func>
                        <m:func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uncPr>
                        <m:fName>
                          <m:limLow>
                            <m:limLow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limLowPr>
                            <m:e>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max</m:t>
                              </m:r>
                            </m:e>
                            <m:lim>
                              <m:r>
                                <a:rPr lang="en-US" altLang="zh-CN" sz="1600" i="1">
                                  <a:solidFill>
                                    <a:srgbClr val="000000"/>
                                  </a:solidFill>
                                  <a:latin typeface="Cambria Math" panose="02040503050406030204" pitchFamily="18" charset="0"/>
                                  <a:ea typeface="楷体_GB2312"/>
                                  <a:cs typeface="Times New Roman" panose="02020603050405020304" pitchFamily="18" charset="0"/>
                                </a:rPr>
                                <m:t>𝑎</m:t>
                              </m:r>
                            </m:lim>
                          </m:limLow>
                        </m:fName>
                        <m:e>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𝑞</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sub>
                          </m:sSub>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𝑎</m:t>
                              </m:r>
                            </m:e>
                          </m:d>
                        </m:e>
                      </m:func>
                    </m:oMath>
                  </m:oMathPara>
                </a14:m>
                <a:endParaRPr lang="en-US" altLang="zh-CN" sz="1600" dirty="0">
                  <a:solidFill>
                    <a:srgbClr val="000000"/>
                  </a:solidFill>
                  <a:latin typeface="Cambria Math" panose="02040503050406030204" pitchFamily="18" charset="0"/>
                  <a:ea typeface="楷体_GB2312"/>
                  <a:cs typeface="Times New Roman" panose="02020603050405020304" pitchFamily="18" charset="0"/>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m:rPr>
                          <m:aln/>
                        </m:rPr>
                        <a:rPr lang="en-US" altLang="zh-CN" sz="16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𝑞</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e>
                      </m:d>
                      <m:r>
                        <a:rPr lang="en-US" altLang="zh-CN" sz="1600" i="1">
                          <a:solidFill>
                            <a:srgbClr val="000000"/>
                          </a:solidFill>
                          <a:latin typeface="Cambria Math" panose="02040503050406030204" pitchFamily="18" charset="0"/>
                          <a:ea typeface="楷体_GB2312"/>
                          <a:cs typeface="Times New Roman" panose="02020603050405020304" pitchFamily="18" charset="0"/>
                        </a:rPr>
                        <m:t>)</m:t>
                      </m:r>
                    </m:oMath>
                  </m:oMathPara>
                </a14:m>
                <a:br>
                  <a:rPr lang="zh-CN" altLang="zh-CN" sz="1600" dirty="0">
                    <a:solidFill>
                      <a:srgbClr val="000000"/>
                    </a:solidFill>
                    <a:latin typeface="Cambria Math" panose="02040503050406030204" pitchFamily="18" charset="0"/>
                    <a:ea typeface="楷体_GB2312"/>
                    <a:cs typeface="Times New Roman" panose="02020603050405020304" pitchFamily="18" charset="0"/>
                  </a:rPr>
                </a:br>
                <a:r>
                  <a:rPr lang="zh-CN" altLang="zh-CN" sz="1600" dirty="0">
                    <a:solidFill>
                      <a:srgbClr val="000000"/>
                    </a:solidFill>
                    <a:latin typeface="Times New Roman" panose="02020603050405020304" pitchFamily="18" charset="0"/>
                    <a:ea typeface="楷体_GB2312"/>
                    <a:cs typeface="Times New Roman" panose="02020603050405020304" pitchFamily="18" charset="0"/>
                  </a:rPr>
                  <a:t>根据策略优化定理，可知策略</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不比策略</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差，因此策略</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是策略</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的一个改进。</a:t>
                </a:r>
              </a:p>
            </p:txBody>
          </p:sp>
        </mc:Choice>
        <mc:Fallback xmlns="">
          <p:sp>
            <p:nvSpPr>
              <p:cNvPr id="7" name="矩形 6">
                <a:extLst>
                  <a:ext uri="{FF2B5EF4-FFF2-40B4-BE49-F238E27FC236}">
                    <a16:creationId xmlns:a16="http://schemas.microsoft.com/office/drawing/2014/main" id="{D2CBDEA4-0F5B-4EF1-B27B-8675071C5E7A}"/>
                  </a:ext>
                </a:extLst>
              </p:cNvPr>
              <p:cNvSpPr>
                <a:spLocks noRot="1" noChangeAspect="1" noMove="1" noResize="1" noEditPoints="1" noAdjustHandles="1" noChangeArrowheads="1" noChangeShapeType="1" noTextEdit="1"/>
              </p:cNvSpPr>
              <p:nvPr/>
            </p:nvSpPr>
            <p:spPr>
              <a:xfrm>
                <a:off x="582966" y="2407795"/>
                <a:ext cx="11530818" cy="2841740"/>
              </a:xfrm>
              <a:prstGeom prst="rect">
                <a:avLst/>
              </a:prstGeom>
              <a:blipFill>
                <a:blip r:embed="rId3"/>
                <a:stretch>
                  <a:fillRect b="-2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圆角 1">
                <a:extLst>
                  <a:ext uri="{FF2B5EF4-FFF2-40B4-BE49-F238E27FC236}">
                    <a16:creationId xmlns:a16="http://schemas.microsoft.com/office/drawing/2014/main" id="{D5B4822C-9058-9728-B8DC-B55B76EF3913}"/>
                  </a:ext>
                </a:extLst>
              </p:cNvPr>
              <p:cNvSpPr/>
              <p:nvPr/>
            </p:nvSpPr>
            <p:spPr>
              <a:xfrm>
                <a:off x="1254034" y="5442857"/>
                <a:ext cx="9797143" cy="9434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直观理解为什么</a:t>
                </a:r>
                <a14:m>
                  <m:oMath xmlns:m="http://schemas.openxmlformats.org/officeDocument/2006/math">
                    <m:sSub>
                      <m:sSubPr>
                        <m:ctrlPr>
                          <a:rPr lang="zh-CN" altLang="zh-CN" sz="1800" i="1" kern="10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8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argmax</m:t>
                        </m:r>
                      </m:e>
                      <m:sub>
                        <m:r>
                          <a:rPr lang="en-US" altLang="zh-CN" sz="18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sub>
                    </m:sSub>
                    <m:sSub>
                      <m:sSubPr>
                        <m:ctrlPr>
                          <a:rPr lang="zh-CN" altLang="zh-CN" sz="18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𝑞</m:t>
                        </m:r>
                      </m:e>
                      <m:sub>
                        <m:r>
                          <a:rPr lang="en-US" altLang="zh-CN" sz="18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zh-CN" altLang="zh-CN" sz="18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8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e>
                    </m:d>
                  </m:oMath>
                </a14:m>
                <a:r>
                  <a:rPr lang="zh-CN" altLang="en-US" dirty="0"/>
                  <a:t>可以作为改进的策略：因为</a:t>
                </a:r>
                <a14:m>
                  <m:oMath xmlns:m="http://schemas.openxmlformats.org/officeDocument/2006/math">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𝑞</m:t>
                        </m:r>
                      </m:e>
                      <m:sub>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zh-CN" altLang="zh-CN" i="1" kern="10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e>
                    </m:d>
                  </m:oMath>
                </a14:m>
                <a:r>
                  <a:rPr lang="zh-CN" altLang="en-US" dirty="0"/>
                  <a:t>代表了在某个状态</a:t>
                </a:r>
                <a14:m>
                  <m:oMath xmlns:m="http://schemas.openxmlformats.org/officeDocument/2006/math">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oMath>
                </a14:m>
                <a:r>
                  <a:rPr lang="zh-CN" altLang="en-US" dirty="0"/>
                  <a:t>下选择某个动作</a:t>
                </a:r>
                <a14:m>
                  <m:oMath xmlns:m="http://schemas.openxmlformats.org/officeDocument/2006/math">
                    <m:r>
                      <a:rPr lang="en-US"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𝑎</m:t>
                    </m:r>
                  </m:oMath>
                </a14:m>
                <a:r>
                  <a:rPr lang="zh-CN" altLang="en-US" dirty="0"/>
                  <a:t>的未来价值，然后</a:t>
                </a:r>
                <a14:m>
                  <m:oMath xmlns:m="http://schemas.openxmlformats.org/officeDocument/2006/math">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argmax</m:t>
                        </m:r>
                      </m:e>
                      <m:sub>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sub>
                    </m:sSub>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𝑞</m:t>
                        </m:r>
                      </m:e>
                      <m:sub>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e>
                    </m:d>
                  </m:oMath>
                </a14:m>
                <a:r>
                  <a:rPr lang="zh-CN" altLang="en-US" dirty="0"/>
                  <a:t>的未来价值好，那么就选择该动作</a:t>
                </a:r>
                <a14:m>
                  <m:oMath xmlns:m="http://schemas.openxmlformats.org/officeDocument/2006/math">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argmax</m:t>
                        </m:r>
                      </m:e>
                      <m:sub>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sub>
                    </m:sSub>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𝑞</m:t>
                        </m:r>
                      </m:e>
                      <m:sub>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e>
                    </m:d>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 </m:t>
                    </m:r>
                  </m:oMath>
                </a14:m>
                <a:r>
                  <a:rPr lang="zh-CN" altLang="en-US" dirty="0"/>
                  <a:t>，从而改进原始策略</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𝜋</m:t>
                    </m:r>
                  </m:oMath>
                </a14:m>
                <a:r>
                  <a:rPr lang="zh-CN" altLang="en-US" dirty="0"/>
                  <a:t>。</a:t>
                </a:r>
                <a:endParaRPr lang="en-US" altLang="zh-CN" dirty="0"/>
              </a:p>
            </p:txBody>
          </p:sp>
        </mc:Choice>
        <mc:Fallback xmlns="">
          <p:sp>
            <p:nvSpPr>
              <p:cNvPr id="2" name="矩形: 圆角 1">
                <a:extLst>
                  <a:ext uri="{FF2B5EF4-FFF2-40B4-BE49-F238E27FC236}">
                    <a16:creationId xmlns:a16="http://schemas.microsoft.com/office/drawing/2014/main" id="{D5B4822C-9058-9728-B8DC-B55B76EF3913}"/>
                  </a:ext>
                </a:extLst>
              </p:cNvPr>
              <p:cNvSpPr>
                <a:spLocks noRot="1" noChangeAspect="1" noMove="1" noResize="1" noEditPoints="1" noAdjustHandles="1" noChangeArrowheads="1" noChangeShapeType="1" noTextEdit="1"/>
              </p:cNvSpPr>
              <p:nvPr/>
            </p:nvSpPr>
            <p:spPr>
              <a:xfrm>
                <a:off x="1254034" y="5442857"/>
                <a:ext cx="9797143" cy="943424"/>
              </a:xfrm>
              <a:prstGeom prst="roundRect">
                <a:avLst/>
              </a:prstGeom>
              <a:blipFill>
                <a:blip r:embed="rId4"/>
                <a:stretch>
                  <a:fillRect t="-2548" b="-573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791692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策略优化：策略优化例子</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p:pic>
        <p:nvPicPr>
          <p:cNvPr id="2" name="图片 1">
            <a:extLst>
              <a:ext uri="{FF2B5EF4-FFF2-40B4-BE49-F238E27FC236}">
                <a16:creationId xmlns:a16="http://schemas.microsoft.com/office/drawing/2014/main" id="{118AB227-88E8-414F-B2D0-66E3CD42BC82}"/>
              </a:ext>
            </a:extLst>
          </p:cNvPr>
          <p:cNvPicPr>
            <a:picLocks noChangeAspect="1"/>
          </p:cNvPicPr>
          <p:nvPr/>
        </p:nvPicPr>
        <p:blipFill>
          <a:blip r:embed="rId3"/>
          <a:stretch>
            <a:fillRect/>
          </a:stretch>
        </p:blipFill>
        <p:spPr>
          <a:xfrm>
            <a:off x="5468491" y="3429000"/>
            <a:ext cx="6619006" cy="2831055"/>
          </a:xfrm>
          <a:prstGeom prst="rect">
            <a:avLst/>
          </a:prstGeom>
        </p:spPr>
      </p:pic>
      <p:sp>
        <p:nvSpPr>
          <p:cNvPr id="8" name="矩形 7">
            <a:extLst>
              <a:ext uri="{FF2B5EF4-FFF2-40B4-BE49-F238E27FC236}">
                <a16:creationId xmlns:a16="http://schemas.microsoft.com/office/drawing/2014/main" id="{F500CD00-3C2C-4BF0-B5EA-FA818677744A}"/>
              </a:ext>
            </a:extLst>
          </p:cNvPr>
          <p:cNvSpPr/>
          <p:nvPr/>
        </p:nvSpPr>
        <p:spPr>
          <a:xfrm>
            <a:off x="431409" y="1632372"/>
            <a:ext cx="11183816" cy="352661"/>
          </a:xfrm>
          <a:prstGeom prst="rect">
            <a:avLst/>
          </a:prstGeom>
        </p:spPr>
        <p:txBody>
          <a:bodyPr wrap="square">
            <a:spAutoFit/>
          </a:bodyPr>
          <a:lstStyle/>
          <a:p>
            <a:pPr indent="266700" algn="just">
              <a:lnSpc>
                <a:spcPts val="22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以图</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6.8</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所示机器人寻路问题来介绍策略优化。图</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中</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给出了当前策略及其对应价值函数</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，求优化后的策略是什么。</a:t>
            </a:r>
            <a:endParaRPr lang="zh-CN" altLang="zh-CN" sz="1600" dirty="0">
              <a:solidFill>
                <a:srgbClr val="000000"/>
              </a:solidFill>
              <a:latin typeface="Times New Roman" panose="02020603050405020304" pitchFamily="18" charset="0"/>
              <a:ea typeface="楷体_GB231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64866369-3D50-484B-AB05-54915F5FEBD9}"/>
                  </a:ext>
                </a:extLst>
              </p:cNvPr>
              <p:cNvSpPr/>
              <p:nvPr/>
            </p:nvSpPr>
            <p:spPr>
              <a:xfrm>
                <a:off x="347001" y="3655475"/>
                <a:ext cx="6382043" cy="2611869"/>
              </a:xfrm>
              <a:prstGeom prst="rect">
                <a:avLst/>
              </a:prstGeom>
            </p:spPr>
            <p:txBody>
              <a:bodyPr wrap="square">
                <a:spAutoFit/>
              </a:bodyPr>
              <a:lstStyle/>
              <a:p>
                <a:pPr indent="266700" algn="just">
                  <a:lnSpc>
                    <a:spcPts val="2200"/>
                  </a:lnSpc>
                  <a:spcAft>
                    <a:spcPts val="0"/>
                  </a:spcAft>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计算状态</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sz="1400">
                            <a:solidFill>
                              <a:srgbClr val="000000"/>
                            </a:solidFill>
                            <a:latin typeface="Cambria Math" panose="02040503050406030204" pitchFamily="18" charset="0"/>
                            <a:ea typeface="楷体_GB2312"/>
                            <a:cs typeface="Times New Roman" panose="02020603050405020304" pitchFamily="18" charset="0"/>
                          </a:rPr>
                          <m:t>1</m:t>
                        </m:r>
                      </m:sub>
                    </m:sSub>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选择这两个不同动作后分别所得动作</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价值函数取值：</a:t>
                </a:r>
              </a:p>
              <a:p>
                <a:pPr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𝑞</m:t>
                          </m:r>
                        </m:e>
                        <m:sub>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e>
                            <m:sub>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m:t>
                              </m:r>
                            </m:sub>
                          </m:sSub>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zh-CN" altLang="zh-CN" sz="14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上</m:t>
                          </m:r>
                        </m:e>
                      </m:d>
                      <m:r>
                        <m:rPr>
                          <m:aln/>
                        </m:rP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nary>
                        <m:naryPr>
                          <m:chr m:val="∑"/>
                          <m:supHide m:val="on"/>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naryPr>
                        <m:sub>
                          <m:sSup>
                            <m:sSup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m:t>
                              </m:r>
                            </m:sup>
                          </m:sSup>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𝑆</m:t>
                          </m:r>
                        </m:sub>
                        <m:sup/>
                        <m:e>
                          <m:func>
                            <m:func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400" kern="100">
                                  <a:latin typeface="Cambria Math" panose="02040503050406030204" pitchFamily="18" charset="0"/>
                                  <a:ea typeface="华文楷体" panose="02010600040101010101" pitchFamily="2" charset="-122"/>
                                  <a:cs typeface="Times New Roman" panose="02020603050405020304" pitchFamily="18" charset="0"/>
                                </a:rPr>
                                <m:t>P</m:t>
                              </m:r>
                            </m:fName>
                            <m:e>
                              <m:d>
                                <m:d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m:t>
                                      </m:r>
                                    </m:sup>
                                  </m:sSup>
                                </m:e>
                                <m:e>
                                  <m:sSub>
                                    <m:sSub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𝑠</m:t>
                                      </m:r>
                                    </m:e>
                                    <m:sub>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1</m:t>
                                      </m:r>
                                    </m:sub>
                                  </m:sSub>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m:t>
                                  </m:r>
                                  <m:r>
                                    <a:rPr lang="zh-CN" altLang="zh-CN" sz="1400" kern="100">
                                      <a:latin typeface="Cambria Math" panose="02040503050406030204" pitchFamily="18" charset="0"/>
                                      <a:ea typeface="华文楷体" panose="02010600040101010101" pitchFamily="2" charset="-122"/>
                                      <a:cs typeface="Times New Roman" panose="02020603050405020304" pitchFamily="18" charset="0"/>
                                    </a:rPr>
                                    <m:t>上</m:t>
                                  </m:r>
                                </m:e>
                              </m:d>
                            </m:e>
                          </m:func>
                        </m:e>
                      </m:nary>
                      <m:d>
                        <m:dPr>
                          <m:begChr m:val="["/>
                          <m:endChr m:val="]"/>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𝑅</m:t>
                          </m:r>
                          <m:d>
                            <m:d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𝑠</m:t>
                                  </m:r>
                                </m:e>
                                <m:sub>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1</m:t>
                                  </m:r>
                                </m:sub>
                              </m:sSub>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m:t>
                              </m:r>
                              <m:r>
                                <a:rPr lang="zh-CN" altLang="zh-CN" sz="1400" kern="100">
                                  <a:latin typeface="Cambria Math" panose="02040503050406030204" pitchFamily="18" charset="0"/>
                                  <a:ea typeface="华文楷体" panose="02010600040101010101" pitchFamily="2" charset="-122"/>
                                  <a:cs typeface="Times New Roman" panose="02020603050405020304" pitchFamily="18" charset="0"/>
                                </a:rPr>
                                <m:t>上</m:t>
                              </m:r>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m:t>
                              </m:r>
                              <m:sSup>
                                <m:sSup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m:t>
                                  </m:r>
                                </m:sup>
                              </m:sSup>
                            </m:e>
                          </m:d>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𝛾</m:t>
                          </m:r>
                          <m:sSub>
                            <m:sSub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m:t>
                                  </m:r>
                                </m:sup>
                              </m:sSup>
                            </m:e>
                          </m:d>
                        </m:e>
                      </m:d>
                    </m:oMath>
                    <m:oMath xmlns:m="http://schemas.openxmlformats.org/officeDocument/2006/math">
                      <m:r>
                        <m:rPr>
                          <m:aln/>
                        </m:rP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m:t>
                      </m:r>
                      <m:d>
                        <m:d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0+0.99×0.3</m:t>
                          </m:r>
                        </m:e>
                      </m:d>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+0×⋯=0.297</m:t>
                      </m:r>
                    </m:oMath>
                  </m:oMathPara>
                </a14:m>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𝑞</m:t>
                          </m:r>
                        </m:e>
                        <m:sub>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e>
                            <m:sub>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m:t>
                              </m:r>
                            </m:sub>
                          </m:sSub>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zh-CN" altLang="zh-CN" sz="14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右</m:t>
                          </m:r>
                        </m:e>
                      </m:d>
                      <m:r>
                        <m:rPr>
                          <m:aln/>
                        </m:rP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nary>
                        <m:naryPr>
                          <m:chr m:val="∑"/>
                          <m:supHide m:val="on"/>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naryPr>
                        <m:sub>
                          <m:sSup>
                            <m:sSup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m:t>
                              </m:r>
                            </m:sup>
                          </m:sSup>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𝑆</m:t>
                          </m:r>
                        </m:sub>
                        <m:sup/>
                        <m:e>
                          <m:func>
                            <m:func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400" kern="100">
                                  <a:latin typeface="Cambria Math" panose="02040503050406030204" pitchFamily="18" charset="0"/>
                                  <a:ea typeface="华文楷体" panose="02010600040101010101" pitchFamily="2" charset="-122"/>
                                  <a:cs typeface="Times New Roman" panose="02020603050405020304" pitchFamily="18" charset="0"/>
                                </a:rPr>
                                <m:t>P</m:t>
                              </m:r>
                            </m:fName>
                            <m:e>
                              <m:d>
                                <m:d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m:t>
                                      </m:r>
                                    </m:sup>
                                  </m:sSup>
                                </m:e>
                                <m:e>
                                  <m:sSub>
                                    <m:sSub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𝑠</m:t>
                                      </m:r>
                                    </m:e>
                                    <m:sub>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1</m:t>
                                      </m:r>
                                    </m:sub>
                                  </m:sSub>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m:t>
                                  </m:r>
                                  <m:r>
                                    <a:rPr lang="zh-CN" altLang="zh-CN" sz="14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右</m:t>
                                  </m:r>
                                </m:e>
                              </m:d>
                            </m:e>
                          </m:func>
                        </m:e>
                      </m:nary>
                      <m:d>
                        <m:dPr>
                          <m:begChr m:val="["/>
                          <m:endChr m:val="]"/>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𝑅</m:t>
                          </m:r>
                          <m:d>
                            <m:d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𝑠</m:t>
                                  </m:r>
                                </m:e>
                                <m:sub>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1</m:t>
                                  </m:r>
                                </m:sub>
                              </m:sSub>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m:t>
                              </m:r>
                              <m:r>
                                <a:rPr lang="zh-CN" altLang="zh-CN" sz="14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右</m:t>
                              </m:r>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m:t>
                              </m:r>
                              <m:sSup>
                                <m:sSup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m:t>
                                  </m:r>
                                </m:sup>
                              </m:sSup>
                            </m:e>
                          </m:d>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𝛾</m:t>
                          </m:r>
                          <m:sSub>
                            <m:sSub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m:t>
                                  </m:r>
                                </m:sup>
                              </m:sSup>
                            </m:e>
                          </m:d>
                        </m:e>
                      </m:d>
                    </m:oMath>
                    <m:oMath xmlns:m="http://schemas.openxmlformats.org/officeDocument/2006/math">
                      <m:r>
                        <m:rPr>
                          <m:aln/>
                        </m:rP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m:t>
                      </m:r>
                      <m:d>
                        <m:d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0+0.99×0.4</m:t>
                          </m:r>
                        </m:e>
                      </m:d>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+0×⋯=0.396</m:t>
                      </m:r>
                    </m:oMath>
                  </m:oMathPara>
                </a14:m>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64866369-3D50-484B-AB05-54915F5FEBD9}"/>
                  </a:ext>
                </a:extLst>
              </p:cNvPr>
              <p:cNvSpPr>
                <a:spLocks noRot="1" noChangeAspect="1" noMove="1" noResize="1" noEditPoints="1" noAdjustHandles="1" noChangeArrowheads="1" noChangeShapeType="1" noTextEdit="1"/>
              </p:cNvSpPr>
              <p:nvPr/>
            </p:nvSpPr>
            <p:spPr>
              <a:xfrm>
                <a:off x="347001" y="3655475"/>
                <a:ext cx="6382043" cy="2611869"/>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99F62F2A-4754-495C-95F4-B94364F35C9D}"/>
                  </a:ext>
                </a:extLst>
              </p:cNvPr>
              <p:cNvSpPr/>
              <p:nvPr/>
            </p:nvSpPr>
            <p:spPr>
              <a:xfrm>
                <a:off x="575435" y="2730987"/>
                <a:ext cx="11039790" cy="584775"/>
              </a:xfrm>
              <a:prstGeom prst="rect">
                <a:avLst/>
              </a:prstGeom>
            </p:spPr>
            <p:txBody>
              <a:bodyPr wrap="square">
                <a:spAutoFit/>
              </a:bodyPr>
              <a:lstStyle/>
              <a:p>
                <a:r>
                  <a:rPr lang="zh-CN" altLang="en-US" sz="1600" b="1" dirty="0">
                    <a:solidFill>
                      <a:schemeClr val="accent6"/>
                    </a:solidFill>
                    <a:latin typeface="Times New Roman" panose="02020603050405020304" pitchFamily="18" charset="0"/>
                    <a:ea typeface="楷体_GB2312"/>
                    <a:cs typeface="Times New Roman" panose="02020603050405020304" pitchFamily="18" charset="0"/>
                  </a:rPr>
                  <a:t>问题：在当前策略下，智能体位于状态</a:t>
                </a:r>
                <a14:m>
                  <m:oMath xmlns:m="http://schemas.openxmlformats.org/officeDocument/2006/math">
                    <m:sSub>
                      <m:sSubPr>
                        <m:ctrlPr>
                          <a:rPr lang="zh-CN" altLang="zh-CN" sz="1600" b="1" i="1">
                            <a:solidFill>
                              <a:schemeClr val="accent6"/>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a:solidFill>
                              <a:schemeClr val="accent6"/>
                            </a:solidFill>
                            <a:latin typeface="Cambria Math" panose="02040503050406030204" pitchFamily="18" charset="0"/>
                            <a:ea typeface="楷体_GB2312"/>
                            <a:cs typeface="Times New Roman" panose="02020603050405020304" pitchFamily="18" charset="0"/>
                          </a:rPr>
                          <m:t>𝒔</m:t>
                        </m:r>
                      </m:e>
                      <m:sub>
                        <m:r>
                          <a:rPr lang="en-US" altLang="zh-CN" sz="1600" b="1" i="1">
                            <a:solidFill>
                              <a:schemeClr val="accent6"/>
                            </a:solidFill>
                            <a:latin typeface="Cambria Math" panose="02040503050406030204" pitchFamily="18" charset="0"/>
                            <a:ea typeface="楷体_GB2312"/>
                            <a:cs typeface="Times New Roman" panose="02020603050405020304" pitchFamily="18" charset="0"/>
                          </a:rPr>
                          <m:t>𝟏</m:t>
                        </m:r>
                      </m:sub>
                    </m:sSub>
                  </m:oMath>
                </a14:m>
                <a:r>
                  <a:rPr lang="zh-CN" altLang="en-US" sz="1600" b="1" dirty="0">
                    <a:solidFill>
                      <a:schemeClr val="accent6"/>
                    </a:solidFill>
                    <a:latin typeface="Times New Roman" panose="02020603050405020304" pitchFamily="18" charset="0"/>
                    <a:ea typeface="楷体_GB2312"/>
                    <a:cs typeface="Times New Roman" panose="02020603050405020304" pitchFamily="18" charset="0"/>
                  </a:rPr>
                  <a:t>、</a:t>
                </a:r>
                <a:r>
                  <a:rPr lang="zh-CN" altLang="zh-CN" sz="1600" b="1" dirty="0">
                    <a:solidFill>
                      <a:schemeClr val="accent6"/>
                    </a:solidFill>
                    <a:ea typeface="Cambria Math" panose="02040503050406030204" pitchFamily="18" charset="0"/>
                    <a:cs typeface="Times New Roman" panose="02020603050405020304" pitchFamily="18" charset="0"/>
                  </a:rPr>
                  <a:t> </a:t>
                </a:r>
                <a14:m>
                  <m:oMath xmlns:m="http://schemas.openxmlformats.org/officeDocument/2006/math">
                    <m:sSub>
                      <m:sSubPr>
                        <m:ctrlPr>
                          <a:rPr lang="zh-CN" altLang="zh-CN" sz="1600" b="1" i="1">
                            <a:solidFill>
                              <a:schemeClr val="accent6"/>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a:solidFill>
                              <a:schemeClr val="accent6"/>
                            </a:solidFill>
                            <a:latin typeface="Cambria Math" panose="02040503050406030204" pitchFamily="18" charset="0"/>
                            <a:ea typeface="楷体_GB2312"/>
                            <a:cs typeface="Times New Roman" panose="02020603050405020304" pitchFamily="18" charset="0"/>
                          </a:rPr>
                          <m:t>𝒔</m:t>
                        </m:r>
                      </m:e>
                      <m:sub>
                        <m:r>
                          <a:rPr lang="en-US" altLang="zh-CN" sz="1600" b="1" i="1">
                            <a:solidFill>
                              <a:schemeClr val="accent6"/>
                            </a:solidFill>
                            <a:latin typeface="Cambria Math" panose="02040503050406030204" pitchFamily="18" charset="0"/>
                            <a:ea typeface="楷体_GB2312"/>
                            <a:cs typeface="Times New Roman" panose="02020603050405020304" pitchFamily="18" charset="0"/>
                          </a:rPr>
                          <m:t>𝟐</m:t>
                        </m:r>
                      </m:sub>
                    </m:sSub>
                  </m:oMath>
                </a14:m>
                <a:r>
                  <a:rPr lang="zh-CN" altLang="en-US" sz="1600" b="1" dirty="0">
                    <a:solidFill>
                      <a:schemeClr val="accent6"/>
                    </a:solidFill>
                    <a:latin typeface="Times New Roman" panose="02020603050405020304" pitchFamily="18" charset="0"/>
                    <a:ea typeface="楷体_GB2312"/>
                    <a:cs typeface="Times New Roman" panose="02020603050405020304" pitchFamily="18" charset="0"/>
                  </a:rPr>
                  <a:t>、</a:t>
                </a:r>
                <a:r>
                  <a:rPr lang="zh-CN" altLang="zh-CN" sz="1600" b="1" dirty="0">
                    <a:solidFill>
                      <a:schemeClr val="accent6"/>
                    </a:solidFill>
                    <a:ea typeface="Cambria Math" panose="02040503050406030204" pitchFamily="18" charset="0"/>
                    <a:cs typeface="Times New Roman" panose="02020603050405020304" pitchFamily="18" charset="0"/>
                  </a:rPr>
                  <a:t> </a:t>
                </a:r>
                <a14:m>
                  <m:oMath xmlns:m="http://schemas.openxmlformats.org/officeDocument/2006/math">
                    <m:sSub>
                      <m:sSubPr>
                        <m:ctrlPr>
                          <a:rPr lang="zh-CN" altLang="zh-CN" sz="1600" b="1" i="1">
                            <a:solidFill>
                              <a:schemeClr val="accent6"/>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a:solidFill>
                              <a:schemeClr val="accent6"/>
                            </a:solidFill>
                            <a:latin typeface="Cambria Math" panose="02040503050406030204" pitchFamily="18" charset="0"/>
                            <a:ea typeface="楷体_GB2312"/>
                            <a:cs typeface="Times New Roman" panose="02020603050405020304" pitchFamily="18" charset="0"/>
                          </a:rPr>
                          <m:t>𝒔</m:t>
                        </m:r>
                      </m:e>
                      <m:sub>
                        <m:r>
                          <a:rPr lang="en-US" altLang="zh-CN" sz="1600" b="1" i="1">
                            <a:solidFill>
                              <a:schemeClr val="accent6"/>
                            </a:solidFill>
                            <a:latin typeface="Cambria Math" panose="02040503050406030204" pitchFamily="18" charset="0"/>
                            <a:ea typeface="楷体_GB2312"/>
                            <a:cs typeface="Times New Roman" panose="02020603050405020304" pitchFamily="18" charset="0"/>
                          </a:rPr>
                          <m:t>𝟒</m:t>
                        </m:r>
                      </m:sub>
                    </m:sSub>
                  </m:oMath>
                </a14:m>
                <a:r>
                  <a:rPr lang="zh-CN" altLang="en-US" sz="1600" b="1" dirty="0">
                    <a:solidFill>
                      <a:schemeClr val="accent6"/>
                    </a:solidFill>
                    <a:latin typeface="Times New Roman" panose="02020603050405020304" pitchFamily="18" charset="0"/>
                    <a:ea typeface="楷体_GB2312"/>
                    <a:cs typeface="Times New Roman" panose="02020603050405020304" pitchFamily="18" charset="0"/>
                  </a:rPr>
                  <a:t>的价值函数取值为</a:t>
                </a:r>
                <a:r>
                  <a:rPr lang="en-US" altLang="zh-CN" sz="1600" b="1" dirty="0">
                    <a:solidFill>
                      <a:schemeClr val="accent6"/>
                    </a:solidFill>
                    <a:latin typeface="Times New Roman" panose="02020603050405020304" pitchFamily="18" charset="0"/>
                    <a:ea typeface="楷体_GB2312"/>
                    <a:cs typeface="Times New Roman" panose="02020603050405020304" pitchFamily="18" charset="0"/>
                  </a:rPr>
                  <a:t>0.1</a:t>
                </a:r>
                <a:r>
                  <a:rPr lang="zh-CN" altLang="en-US" sz="1600" b="1" dirty="0">
                    <a:solidFill>
                      <a:schemeClr val="accent6"/>
                    </a:solidFill>
                    <a:latin typeface="Times New Roman" panose="02020603050405020304" pitchFamily="18" charset="0"/>
                    <a:ea typeface="楷体_GB2312"/>
                    <a:cs typeface="Times New Roman" panose="02020603050405020304" pitchFamily="18" charset="0"/>
                  </a:rPr>
                  <a:t>、</a:t>
                </a:r>
                <a:r>
                  <a:rPr lang="en-US" altLang="zh-CN" sz="1600" b="1" dirty="0">
                    <a:solidFill>
                      <a:schemeClr val="accent6"/>
                    </a:solidFill>
                    <a:latin typeface="Times New Roman" panose="02020603050405020304" pitchFamily="18" charset="0"/>
                    <a:ea typeface="楷体_GB2312"/>
                    <a:cs typeface="Times New Roman" panose="02020603050405020304" pitchFamily="18" charset="0"/>
                  </a:rPr>
                  <a:t>0.4</a:t>
                </a:r>
                <a:r>
                  <a:rPr lang="zh-CN" altLang="en-US" sz="1600" b="1" dirty="0">
                    <a:solidFill>
                      <a:schemeClr val="accent6"/>
                    </a:solidFill>
                    <a:latin typeface="Times New Roman" panose="02020603050405020304" pitchFamily="18" charset="0"/>
                    <a:ea typeface="楷体_GB2312"/>
                    <a:cs typeface="Times New Roman" panose="02020603050405020304" pitchFamily="18" charset="0"/>
                  </a:rPr>
                  <a:t>、</a:t>
                </a:r>
                <a:r>
                  <a:rPr lang="en-US" altLang="zh-CN" sz="1600" b="1" dirty="0">
                    <a:solidFill>
                      <a:schemeClr val="accent6"/>
                    </a:solidFill>
                    <a:latin typeface="Times New Roman" panose="02020603050405020304" pitchFamily="18" charset="0"/>
                    <a:ea typeface="楷体_GB2312"/>
                    <a:cs typeface="Times New Roman" panose="02020603050405020304" pitchFamily="18" charset="0"/>
                  </a:rPr>
                  <a:t>0.3</a:t>
                </a:r>
                <a:r>
                  <a:rPr lang="zh-CN" altLang="en-US" sz="1600" b="1" dirty="0">
                    <a:solidFill>
                      <a:schemeClr val="accent6"/>
                    </a:solidFill>
                    <a:latin typeface="Times New Roman" panose="02020603050405020304" pitchFamily="18" charset="0"/>
                    <a:ea typeface="楷体_GB2312"/>
                    <a:cs typeface="Times New Roman" panose="02020603050405020304" pitchFamily="18" charset="0"/>
                  </a:rPr>
                  <a:t>。</a:t>
                </a:r>
                <a:r>
                  <a:rPr lang="zh-CN" altLang="zh-CN" sz="1600" b="1" dirty="0">
                    <a:solidFill>
                      <a:schemeClr val="accent6"/>
                    </a:solidFill>
                    <a:latin typeface="Times New Roman" panose="02020603050405020304" pitchFamily="18" charset="0"/>
                    <a:ea typeface="楷体_GB2312"/>
                    <a:cs typeface="Times New Roman" panose="02020603050405020304" pitchFamily="18" charset="0"/>
                  </a:rPr>
                  <a:t>智能体</a:t>
                </a:r>
                <a:r>
                  <a:rPr lang="zh-CN" altLang="en-US" sz="1600" b="1" dirty="0">
                    <a:solidFill>
                      <a:schemeClr val="accent6"/>
                    </a:solidFill>
                    <a:latin typeface="Times New Roman" panose="02020603050405020304" pitchFamily="18" charset="0"/>
                    <a:ea typeface="楷体_GB2312"/>
                    <a:cs typeface="Times New Roman" panose="02020603050405020304" pitchFamily="18" charset="0"/>
                  </a:rPr>
                  <a:t>目前在</a:t>
                </a:r>
                <a:r>
                  <a:rPr lang="zh-CN" altLang="zh-CN" sz="1600" b="1" dirty="0">
                    <a:solidFill>
                      <a:schemeClr val="accent6"/>
                    </a:solidFill>
                    <a:latin typeface="Times New Roman" panose="02020603050405020304" pitchFamily="18" charset="0"/>
                    <a:ea typeface="楷体_GB2312"/>
                    <a:cs typeface="Times New Roman" panose="02020603050405020304" pitchFamily="18" charset="0"/>
                  </a:rPr>
                  <a:t>状态</a:t>
                </a:r>
                <a14:m>
                  <m:oMath xmlns:m="http://schemas.openxmlformats.org/officeDocument/2006/math">
                    <m:sSub>
                      <m:sSubPr>
                        <m:ctrlPr>
                          <a:rPr lang="zh-CN" altLang="zh-CN" sz="1600" b="1" i="1">
                            <a:solidFill>
                              <a:schemeClr val="accent6"/>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a:solidFill>
                              <a:schemeClr val="accent6"/>
                            </a:solidFill>
                            <a:latin typeface="Cambria Math" panose="02040503050406030204" pitchFamily="18" charset="0"/>
                            <a:ea typeface="楷体_GB2312"/>
                            <a:cs typeface="Times New Roman" panose="02020603050405020304" pitchFamily="18" charset="0"/>
                          </a:rPr>
                          <m:t>𝒔</m:t>
                        </m:r>
                      </m:e>
                      <m:sub>
                        <m:r>
                          <a:rPr lang="en-US" altLang="zh-CN" sz="1600" b="1" i="1">
                            <a:solidFill>
                              <a:schemeClr val="accent6"/>
                            </a:solidFill>
                            <a:latin typeface="Cambria Math" panose="02040503050406030204" pitchFamily="18" charset="0"/>
                            <a:ea typeface="楷体_GB2312"/>
                            <a:cs typeface="Times New Roman" panose="02020603050405020304" pitchFamily="18" charset="0"/>
                          </a:rPr>
                          <m:t>𝟏</m:t>
                        </m:r>
                      </m:sub>
                    </m:sSub>
                  </m:oMath>
                </a14:m>
                <a:r>
                  <a:rPr lang="zh-CN" altLang="en-US" sz="1600" b="1" dirty="0">
                    <a:solidFill>
                      <a:schemeClr val="accent6"/>
                    </a:solidFill>
                    <a:latin typeface="Times New Roman" panose="02020603050405020304" pitchFamily="18" charset="0"/>
                    <a:ea typeface="楷体_GB2312"/>
                    <a:cs typeface="Times New Roman" panose="02020603050405020304" pitchFamily="18" charset="0"/>
                  </a:rPr>
                  <a:t>，那么下一步是</a:t>
                </a:r>
                <a:r>
                  <a:rPr lang="zh-CN" altLang="zh-CN" sz="1600" b="1" dirty="0">
                    <a:solidFill>
                      <a:schemeClr val="accent6"/>
                    </a:solidFill>
                    <a:latin typeface="Times New Roman" panose="02020603050405020304" pitchFamily="18" charset="0"/>
                    <a:ea typeface="楷体_GB2312"/>
                    <a:cs typeface="Times New Roman" panose="02020603050405020304" pitchFamily="18" charset="0"/>
                  </a:rPr>
                  <a:t>采取</a:t>
                </a:r>
                <a:r>
                  <a:rPr lang="en-US" altLang="zh-CN" sz="1600" b="1" dirty="0">
                    <a:solidFill>
                      <a:schemeClr val="accent6"/>
                    </a:solidFill>
                    <a:latin typeface="Times New Roman" panose="02020603050405020304" pitchFamily="18" charset="0"/>
                    <a:ea typeface="楷体_GB2312"/>
                    <a:cs typeface="Times New Roman" panose="02020603050405020304" pitchFamily="18" charset="0"/>
                  </a:rPr>
                  <a:t>“</a:t>
                </a:r>
                <a:r>
                  <a:rPr lang="zh-CN" altLang="zh-CN" sz="1600" b="1" dirty="0">
                    <a:solidFill>
                      <a:schemeClr val="accent6"/>
                    </a:solidFill>
                    <a:latin typeface="Times New Roman" panose="02020603050405020304" pitchFamily="18" charset="0"/>
                    <a:ea typeface="楷体_GB2312"/>
                    <a:cs typeface="Times New Roman" panose="02020603050405020304" pitchFamily="18" charset="0"/>
                  </a:rPr>
                  <a:t>向上移动一个方格</a:t>
                </a:r>
                <a:r>
                  <a:rPr lang="en-US" altLang="zh-CN" sz="1600" b="1" dirty="0">
                    <a:solidFill>
                      <a:schemeClr val="accent6"/>
                    </a:solidFill>
                    <a:latin typeface="Times New Roman" panose="02020603050405020304" pitchFamily="18" charset="0"/>
                    <a:ea typeface="楷体_GB2312"/>
                    <a:cs typeface="Times New Roman" panose="02020603050405020304" pitchFamily="18" charset="0"/>
                  </a:rPr>
                  <a:t>”</a:t>
                </a:r>
                <a:r>
                  <a:rPr lang="zh-CN" altLang="zh-CN" sz="1600" b="1" dirty="0">
                    <a:solidFill>
                      <a:schemeClr val="accent6"/>
                    </a:solidFill>
                    <a:latin typeface="Times New Roman" panose="02020603050405020304" pitchFamily="18" charset="0"/>
                    <a:ea typeface="楷体_GB2312"/>
                    <a:cs typeface="Times New Roman" panose="02020603050405020304" pitchFamily="18" charset="0"/>
                  </a:rPr>
                  <a:t>或</a:t>
                </a:r>
                <a:r>
                  <a:rPr lang="en-US" altLang="zh-CN" sz="1600" b="1" dirty="0">
                    <a:solidFill>
                      <a:schemeClr val="accent6"/>
                    </a:solidFill>
                    <a:latin typeface="Times New Roman" panose="02020603050405020304" pitchFamily="18" charset="0"/>
                    <a:ea typeface="楷体_GB2312"/>
                    <a:cs typeface="Times New Roman" panose="02020603050405020304" pitchFamily="18" charset="0"/>
                  </a:rPr>
                  <a:t>“</a:t>
                </a:r>
                <a:r>
                  <a:rPr lang="zh-CN" altLang="zh-CN" sz="1600" b="1" dirty="0">
                    <a:solidFill>
                      <a:schemeClr val="accent6"/>
                    </a:solidFill>
                    <a:latin typeface="Times New Roman" panose="02020603050405020304" pitchFamily="18" charset="0"/>
                    <a:ea typeface="楷体_GB2312"/>
                    <a:cs typeface="Times New Roman" panose="02020603050405020304" pitchFamily="18" charset="0"/>
                  </a:rPr>
                  <a:t>向右移动一个方格</a:t>
                </a:r>
                <a:r>
                  <a:rPr lang="en-US" altLang="zh-CN" sz="1600" b="1" dirty="0">
                    <a:solidFill>
                      <a:schemeClr val="accent6"/>
                    </a:solidFill>
                    <a:latin typeface="Times New Roman" panose="02020603050405020304" pitchFamily="18" charset="0"/>
                    <a:ea typeface="楷体_GB2312"/>
                    <a:cs typeface="Times New Roman" panose="02020603050405020304" pitchFamily="18" charset="0"/>
                  </a:rPr>
                  <a:t>”</a:t>
                </a:r>
                <a:r>
                  <a:rPr lang="zh-CN" altLang="en-US" sz="1600" b="1" dirty="0">
                    <a:solidFill>
                      <a:schemeClr val="accent6"/>
                    </a:solidFill>
                    <a:latin typeface="Times New Roman" panose="02020603050405020304" pitchFamily="18" charset="0"/>
                    <a:ea typeface="楷体_GB2312"/>
                    <a:cs typeface="Times New Roman" panose="02020603050405020304" pitchFamily="18" charset="0"/>
                  </a:rPr>
                  <a:t>哪一个</a:t>
                </a:r>
                <a:r>
                  <a:rPr lang="zh-CN" altLang="zh-CN" sz="1600" b="1" dirty="0">
                    <a:solidFill>
                      <a:schemeClr val="accent6"/>
                    </a:solidFill>
                    <a:latin typeface="Times New Roman" panose="02020603050405020304" pitchFamily="18" charset="0"/>
                    <a:ea typeface="楷体_GB2312"/>
                    <a:cs typeface="Times New Roman" panose="02020603050405020304" pitchFamily="18" charset="0"/>
                  </a:rPr>
                  <a:t>行动</a:t>
                </a:r>
                <a:r>
                  <a:rPr lang="zh-CN" altLang="en-US" sz="1600" b="1" dirty="0">
                    <a:solidFill>
                      <a:schemeClr val="accent6"/>
                    </a:solidFill>
                    <a:latin typeface="Times New Roman" panose="02020603050405020304" pitchFamily="18" charset="0"/>
                    <a:ea typeface="楷体_GB2312"/>
                    <a:cs typeface="Times New Roman" panose="02020603050405020304" pitchFamily="18" charset="0"/>
                  </a:rPr>
                  <a:t>？</a:t>
                </a:r>
                <a:endParaRPr lang="zh-CN" altLang="en-US" sz="1600" b="1" dirty="0">
                  <a:solidFill>
                    <a:schemeClr val="accent6"/>
                  </a:solidFill>
                </a:endParaRPr>
              </a:p>
            </p:txBody>
          </p:sp>
        </mc:Choice>
        <mc:Fallback xmlns="">
          <p:sp>
            <p:nvSpPr>
              <p:cNvPr id="10" name="矩形 9">
                <a:extLst>
                  <a:ext uri="{FF2B5EF4-FFF2-40B4-BE49-F238E27FC236}">
                    <a16:creationId xmlns:a16="http://schemas.microsoft.com/office/drawing/2014/main" id="{99F62F2A-4754-495C-95F4-B94364F35C9D}"/>
                  </a:ext>
                </a:extLst>
              </p:cNvPr>
              <p:cNvSpPr>
                <a:spLocks noRot="1" noChangeAspect="1" noMove="1" noResize="1" noEditPoints="1" noAdjustHandles="1" noChangeArrowheads="1" noChangeShapeType="1" noTextEdit="1"/>
              </p:cNvSpPr>
              <p:nvPr/>
            </p:nvSpPr>
            <p:spPr>
              <a:xfrm>
                <a:off x="575435" y="2730987"/>
                <a:ext cx="11039790" cy="584775"/>
              </a:xfrm>
              <a:prstGeom prst="rect">
                <a:avLst/>
              </a:prstGeom>
              <a:blipFill>
                <a:blip r:embed="rId6"/>
                <a:stretch>
                  <a:fillRect l="-276" t="-4167" b="-1145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458582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 name="表格 1">
                <a:extLst>
                  <a:ext uri="{FF2B5EF4-FFF2-40B4-BE49-F238E27FC236}">
                    <a16:creationId xmlns:a16="http://schemas.microsoft.com/office/drawing/2014/main" id="{96D1088E-C589-232B-49CB-6C29FBDAB666}"/>
                  </a:ext>
                </a:extLst>
              </p:cNvPr>
              <p:cNvGraphicFramePr>
                <a:graphicFrameLocks noGrp="1"/>
              </p:cNvGraphicFramePr>
              <p:nvPr>
                <p:extLst>
                  <p:ext uri="{D42A27DB-BD31-4B8C-83A1-F6EECF244321}">
                    <p14:modId xmlns:p14="http://schemas.microsoft.com/office/powerpoint/2010/main" val="1371054645"/>
                  </p:ext>
                </p:extLst>
              </p:nvPr>
            </p:nvGraphicFramePr>
            <p:xfrm>
              <a:off x="2031999" y="719665"/>
              <a:ext cx="1312092" cy="1309432"/>
            </p:xfrm>
            <a:graphic>
              <a:graphicData uri="http://schemas.openxmlformats.org/drawingml/2006/table">
                <a:tbl>
                  <a:tblPr firstRow="1" bandRow="1">
                    <a:tableStyleId>{5940675A-B579-460E-94D1-54222C63F5DA}</a:tableStyleId>
                  </a:tblPr>
                  <a:tblGrid>
                    <a:gridCol w="656046">
                      <a:extLst>
                        <a:ext uri="{9D8B030D-6E8A-4147-A177-3AD203B41FA5}">
                          <a16:colId xmlns:a16="http://schemas.microsoft.com/office/drawing/2014/main" val="1585122931"/>
                        </a:ext>
                      </a:extLst>
                    </a:gridCol>
                    <a:gridCol w="656046">
                      <a:extLst>
                        <a:ext uri="{9D8B030D-6E8A-4147-A177-3AD203B41FA5}">
                          <a16:colId xmlns:a16="http://schemas.microsoft.com/office/drawing/2014/main" val="1762366326"/>
                        </a:ext>
                      </a:extLst>
                    </a:gridCol>
                  </a:tblGrid>
                  <a:tr h="654716">
                    <a:tc>
                      <a:txBody>
                        <a:bodyPr/>
                        <a:lstStyle/>
                        <a:p>
                          <a:pPr/>
                          <a14:m>
                            <m:oMathPara xmlns:m="http://schemas.openxmlformats.org/officeDocument/2006/math">
                              <m:oMathParaPr>
                                <m:jc m:val="centerGroup"/>
                              </m:oMathParaPr>
                              <m:oMath xmlns:m="http://schemas.openxmlformats.org/officeDocument/2006/math">
                                <m:sSub>
                                  <m:sSubPr>
                                    <m:ctrlPr>
                                      <a:rPr lang="zh-CN" altLang="zh-CN" sz="1800" i="1" kern="10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latin typeface="Cambria Math" panose="02040503050406030204" pitchFamily="18" charset="0"/>
                                        <a:ea typeface="华文楷体" panose="02010600040101010101" pitchFamily="2" charset="-122"/>
                                        <a:cs typeface="Times New Roman" panose="02020603050405020304" pitchFamily="18" charset="0"/>
                                      </a:rPr>
                                      <m:t>𝑠</m:t>
                                    </m:r>
                                  </m:e>
                                  <m:sub>
                                    <m:r>
                                      <a:rPr lang="en-US" altLang="zh-CN" sz="1800" b="0" i="1" kern="100" smtClean="0">
                                        <a:latin typeface="Cambria Math" panose="02040503050406030204" pitchFamily="18" charset="0"/>
                                        <a:ea typeface="华文楷体" panose="02010600040101010101" pitchFamily="2" charset="-122"/>
                                        <a:cs typeface="Times New Roman" panose="02020603050405020304" pitchFamily="18" charset="0"/>
                                      </a:rPr>
                                      <m:t>3</m:t>
                                    </m:r>
                                  </m:sub>
                                </m:sSub>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zh-CN" altLang="zh-CN" sz="1800" i="1" kern="10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latin typeface="Cambria Math" panose="02040503050406030204" pitchFamily="18" charset="0"/>
                                        <a:ea typeface="华文楷体" panose="02010600040101010101" pitchFamily="2" charset="-122"/>
                                        <a:cs typeface="Times New Roman" panose="02020603050405020304" pitchFamily="18" charset="0"/>
                                      </a:rPr>
                                      <m:t>𝑠</m:t>
                                    </m:r>
                                  </m:e>
                                  <m:sub>
                                    <m:r>
                                      <a:rPr lang="en-US" altLang="zh-CN" sz="1800" b="0" i="1" kern="100" smtClean="0">
                                        <a:latin typeface="Cambria Math" panose="02040503050406030204" pitchFamily="18" charset="0"/>
                                        <a:ea typeface="华文楷体" panose="02010600040101010101" pitchFamily="2" charset="-122"/>
                                        <a:cs typeface="Times New Roman" panose="02020603050405020304" pitchFamily="18" charset="0"/>
                                      </a:rPr>
                                      <m:t>4</m:t>
                                    </m:r>
                                  </m:sub>
                                </m:sSub>
                              </m:oMath>
                            </m:oMathPara>
                          </a14:m>
                          <a:endParaRPr lang="zh-CN" altLang="en-US" dirty="0"/>
                        </a:p>
                      </a:txBody>
                      <a:tcPr/>
                    </a:tc>
                    <a:extLst>
                      <a:ext uri="{0D108BD9-81ED-4DB2-BD59-A6C34878D82A}">
                        <a16:rowId xmlns:a16="http://schemas.microsoft.com/office/drawing/2014/main" val="883879690"/>
                      </a:ext>
                    </a:extLst>
                  </a:tr>
                  <a:tr h="654716">
                    <a:tc>
                      <a:txBody>
                        <a:bodyPr/>
                        <a:lstStyle/>
                        <a:p>
                          <a:pPr/>
                          <a14:m>
                            <m:oMathPara xmlns:m="http://schemas.openxmlformats.org/officeDocument/2006/math">
                              <m:oMathParaPr>
                                <m:jc m:val="centerGroup"/>
                              </m:oMathParaPr>
                              <m:oMath xmlns:m="http://schemas.openxmlformats.org/officeDocument/2006/math">
                                <m:sSub>
                                  <m:sSubPr>
                                    <m:ctrlPr>
                                      <a:rPr lang="zh-CN" altLang="zh-CN" sz="1800" i="1" kern="10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latin typeface="Cambria Math" panose="02040503050406030204" pitchFamily="18" charset="0"/>
                                        <a:ea typeface="华文楷体" panose="02010600040101010101" pitchFamily="2" charset="-122"/>
                                        <a:cs typeface="Times New Roman" panose="02020603050405020304" pitchFamily="18" charset="0"/>
                                      </a:rPr>
                                      <m:t>𝑠</m:t>
                                    </m:r>
                                  </m:e>
                                  <m:sub>
                                    <m:r>
                                      <a:rPr lang="en-US" altLang="zh-CN" sz="1800" i="1" kern="100">
                                        <a:latin typeface="Cambria Math" panose="02040503050406030204" pitchFamily="18" charset="0"/>
                                        <a:ea typeface="华文楷体" panose="02010600040101010101" pitchFamily="2" charset="-122"/>
                                        <a:cs typeface="Times New Roman" panose="02020603050405020304" pitchFamily="18" charset="0"/>
                                      </a:rPr>
                                      <m:t>1</m:t>
                                    </m:r>
                                  </m:sub>
                                </m:sSub>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zh-CN" altLang="zh-CN" sz="1800" i="1" kern="10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latin typeface="Cambria Math" panose="02040503050406030204" pitchFamily="18" charset="0"/>
                                        <a:ea typeface="华文楷体" panose="02010600040101010101" pitchFamily="2" charset="-122"/>
                                        <a:cs typeface="Times New Roman" panose="02020603050405020304" pitchFamily="18" charset="0"/>
                                      </a:rPr>
                                      <m:t>𝑠</m:t>
                                    </m:r>
                                  </m:e>
                                  <m:sub>
                                    <m:r>
                                      <a:rPr lang="en-US" altLang="zh-CN" sz="1800" b="0" i="1" kern="100" smtClean="0">
                                        <a:latin typeface="Cambria Math" panose="02040503050406030204" pitchFamily="18" charset="0"/>
                                        <a:ea typeface="华文楷体" panose="02010600040101010101" pitchFamily="2" charset="-122"/>
                                        <a:cs typeface="Times New Roman" panose="02020603050405020304" pitchFamily="18" charset="0"/>
                                      </a:rPr>
                                      <m:t>2</m:t>
                                    </m:r>
                                  </m:sub>
                                </m:sSub>
                              </m:oMath>
                            </m:oMathPara>
                          </a14:m>
                          <a:endParaRPr lang="zh-CN" altLang="en-US" dirty="0"/>
                        </a:p>
                      </a:txBody>
                      <a:tcPr/>
                    </a:tc>
                    <a:extLst>
                      <a:ext uri="{0D108BD9-81ED-4DB2-BD59-A6C34878D82A}">
                        <a16:rowId xmlns:a16="http://schemas.microsoft.com/office/drawing/2014/main" val="4275966637"/>
                      </a:ext>
                    </a:extLst>
                  </a:tr>
                </a:tbl>
              </a:graphicData>
            </a:graphic>
          </p:graphicFrame>
        </mc:Choice>
        <mc:Fallback xmlns="">
          <p:graphicFrame>
            <p:nvGraphicFramePr>
              <p:cNvPr id="2" name="表格 1">
                <a:extLst>
                  <a:ext uri="{FF2B5EF4-FFF2-40B4-BE49-F238E27FC236}">
                    <a16:creationId xmlns:a16="http://schemas.microsoft.com/office/drawing/2014/main" id="{96D1088E-C589-232B-49CB-6C29FBDAB666}"/>
                  </a:ext>
                </a:extLst>
              </p:cNvPr>
              <p:cNvGraphicFramePr>
                <a:graphicFrameLocks noGrp="1"/>
              </p:cNvGraphicFramePr>
              <p:nvPr>
                <p:extLst>
                  <p:ext uri="{D42A27DB-BD31-4B8C-83A1-F6EECF244321}">
                    <p14:modId xmlns:p14="http://schemas.microsoft.com/office/powerpoint/2010/main" val="1371054645"/>
                  </p:ext>
                </p:extLst>
              </p:nvPr>
            </p:nvGraphicFramePr>
            <p:xfrm>
              <a:off x="2031999" y="719665"/>
              <a:ext cx="1312092" cy="1309432"/>
            </p:xfrm>
            <a:graphic>
              <a:graphicData uri="http://schemas.openxmlformats.org/drawingml/2006/table">
                <a:tbl>
                  <a:tblPr firstRow="1" bandRow="1">
                    <a:tableStyleId>{5940675A-B579-460E-94D1-54222C63F5DA}</a:tableStyleId>
                  </a:tblPr>
                  <a:tblGrid>
                    <a:gridCol w="656046">
                      <a:extLst>
                        <a:ext uri="{9D8B030D-6E8A-4147-A177-3AD203B41FA5}">
                          <a16:colId xmlns:a16="http://schemas.microsoft.com/office/drawing/2014/main" val="1585122931"/>
                        </a:ext>
                      </a:extLst>
                    </a:gridCol>
                    <a:gridCol w="656046">
                      <a:extLst>
                        <a:ext uri="{9D8B030D-6E8A-4147-A177-3AD203B41FA5}">
                          <a16:colId xmlns:a16="http://schemas.microsoft.com/office/drawing/2014/main" val="1762366326"/>
                        </a:ext>
                      </a:extLst>
                    </a:gridCol>
                  </a:tblGrid>
                  <a:tr h="654716">
                    <a:tc>
                      <a:txBody>
                        <a:bodyPr/>
                        <a:lstStyle/>
                        <a:p>
                          <a:endParaRPr lang="zh-CN"/>
                        </a:p>
                      </a:txBody>
                      <a:tcPr>
                        <a:blipFill>
                          <a:blip r:embed="rId2"/>
                          <a:stretch>
                            <a:fillRect l="-926" t="-926" r="-101852" b="-100926"/>
                          </a:stretch>
                        </a:blipFill>
                      </a:tcPr>
                    </a:tc>
                    <a:tc>
                      <a:txBody>
                        <a:bodyPr/>
                        <a:lstStyle/>
                        <a:p>
                          <a:endParaRPr lang="zh-CN"/>
                        </a:p>
                      </a:txBody>
                      <a:tcPr>
                        <a:blipFill>
                          <a:blip r:embed="rId2"/>
                          <a:stretch>
                            <a:fillRect l="-100926" t="-926" r="-1852" b="-100926"/>
                          </a:stretch>
                        </a:blipFill>
                      </a:tcPr>
                    </a:tc>
                    <a:extLst>
                      <a:ext uri="{0D108BD9-81ED-4DB2-BD59-A6C34878D82A}">
                        <a16:rowId xmlns:a16="http://schemas.microsoft.com/office/drawing/2014/main" val="883879690"/>
                      </a:ext>
                    </a:extLst>
                  </a:tr>
                  <a:tr h="654716">
                    <a:tc>
                      <a:txBody>
                        <a:bodyPr/>
                        <a:lstStyle/>
                        <a:p>
                          <a:endParaRPr lang="zh-CN"/>
                        </a:p>
                      </a:txBody>
                      <a:tcPr>
                        <a:blipFill>
                          <a:blip r:embed="rId2"/>
                          <a:stretch>
                            <a:fillRect l="-926" t="-101869" r="-101852" b="-1869"/>
                          </a:stretch>
                        </a:blipFill>
                      </a:tcPr>
                    </a:tc>
                    <a:tc>
                      <a:txBody>
                        <a:bodyPr/>
                        <a:lstStyle/>
                        <a:p>
                          <a:endParaRPr lang="zh-CN"/>
                        </a:p>
                      </a:txBody>
                      <a:tcPr>
                        <a:blipFill>
                          <a:blip r:embed="rId2"/>
                          <a:stretch>
                            <a:fillRect l="-100926" t="-101869" r="-1852" b="-1869"/>
                          </a:stretch>
                        </a:blipFill>
                      </a:tcPr>
                    </a:tc>
                    <a:extLst>
                      <a:ext uri="{0D108BD9-81ED-4DB2-BD59-A6C34878D82A}">
                        <a16:rowId xmlns:a16="http://schemas.microsoft.com/office/drawing/2014/main" val="4275966637"/>
                      </a:ext>
                    </a:extLst>
                  </a:tr>
                </a:tbl>
              </a:graphicData>
            </a:graphic>
          </p:graphicFrame>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E31811C8-8B0D-3D52-6122-3DBBFC80FEBC}"/>
                  </a:ext>
                </a:extLst>
              </p:cNvPr>
              <p:cNvSpPr txBox="1"/>
              <p:nvPr/>
            </p:nvSpPr>
            <p:spPr>
              <a:xfrm>
                <a:off x="3048000" y="3246511"/>
                <a:ext cx="6096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i="1" kern="100" smtClean="0">
                          <a:latin typeface="Cambria Math" panose="02040503050406030204" pitchFamily="18" charset="0"/>
                          <a:ea typeface="华文楷体" panose="02010600040101010101" pitchFamily="2" charset="-122"/>
                          <a:cs typeface="Times New Roman" panose="02020603050405020304" pitchFamily="18" charset="0"/>
                        </a:rPr>
                        <m:t>𝛾</m:t>
                      </m:r>
                      <m:r>
                        <a:rPr lang="en-US" altLang="zh-CN" sz="1800" b="0" i="1" kern="100" smtClean="0">
                          <a:latin typeface="Cambria Math" panose="02040503050406030204" pitchFamily="18" charset="0"/>
                          <a:ea typeface="华文楷体" panose="02010600040101010101" pitchFamily="2" charset="-122"/>
                          <a:cs typeface="Times New Roman" panose="02020603050405020304" pitchFamily="18" charset="0"/>
                        </a:rPr>
                        <m:t>=0.99</m:t>
                      </m:r>
                      <m:r>
                        <a:rPr lang="zh-CN" altLang="en-US" i="1" kern="100">
                          <a:latin typeface="Cambria Math" panose="02040503050406030204" pitchFamily="18" charset="0"/>
                          <a:ea typeface="华文楷体" panose="02010600040101010101" pitchFamily="2" charset="-122"/>
                          <a:cs typeface="Times New Roman" panose="02020603050405020304" pitchFamily="18" charset="0"/>
                        </a:rPr>
                        <m:t>，</m:t>
                      </m:r>
                    </m:oMath>
                  </m:oMathPara>
                </a14:m>
                <a:endParaRPr lang="zh-CN" altLang="en-US" dirty="0"/>
              </a:p>
            </p:txBody>
          </p:sp>
        </mc:Choice>
        <mc:Fallback xmlns="">
          <p:sp>
            <p:nvSpPr>
              <p:cNvPr id="4" name="文本框 3">
                <a:extLst>
                  <a:ext uri="{FF2B5EF4-FFF2-40B4-BE49-F238E27FC236}">
                    <a16:creationId xmlns:a16="http://schemas.microsoft.com/office/drawing/2014/main" id="{E31811C8-8B0D-3D52-6122-3DBBFC80FEBC}"/>
                  </a:ext>
                </a:extLst>
              </p:cNvPr>
              <p:cNvSpPr txBox="1">
                <a:spLocks noRot="1" noChangeAspect="1" noMove="1" noResize="1" noEditPoints="1" noAdjustHandles="1" noChangeArrowheads="1" noChangeShapeType="1" noTextEdit="1"/>
              </p:cNvSpPr>
              <p:nvPr/>
            </p:nvSpPr>
            <p:spPr>
              <a:xfrm>
                <a:off x="3048000" y="3246511"/>
                <a:ext cx="6096000" cy="369332"/>
              </a:xfrm>
              <a:prstGeom prst="rect">
                <a:avLst/>
              </a:prstGeom>
              <a:blipFill>
                <a:blip r:embed="rId3"/>
                <a:stretch>
                  <a:fillRect b="-50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652269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策略优化：策略优化例子</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p:pic>
        <p:nvPicPr>
          <p:cNvPr id="2" name="图片 1">
            <a:extLst>
              <a:ext uri="{FF2B5EF4-FFF2-40B4-BE49-F238E27FC236}">
                <a16:creationId xmlns:a16="http://schemas.microsoft.com/office/drawing/2014/main" id="{118AB227-88E8-414F-B2D0-66E3CD42BC82}"/>
              </a:ext>
            </a:extLst>
          </p:cNvPr>
          <p:cNvPicPr>
            <a:picLocks noChangeAspect="1"/>
          </p:cNvPicPr>
          <p:nvPr/>
        </p:nvPicPr>
        <p:blipFill>
          <a:blip r:embed="rId3"/>
          <a:stretch>
            <a:fillRect/>
          </a:stretch>
        </p:blipFill>
        <p:spPr>
          <a:xfrm>
            <a:off x="6763913" y="2220686"/>
            <a:ext cx="5329385" cy="2753931"/>
          </a:xfrm>
          <a:prstGeom prst="rect">
            <a:avLst/>
          </a:prstGeom>
        </p:spPr>
      </p:pic>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F5DC0A92-59C5-45CB-89CA-ACD99C4DC99C}"/>
                  </a:ext>
                </a:extLst>
              </p:cNvPr>
              <p:cNvSpPr/>
              <p:nvPr/>
            </p:nvSpPr>
            <p:spPr>
              <a:xfrm>
                <a:off x="196946" y="2849354"/>
                <a:ext cx="6708952" cy="3006592"/>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智能体在状态</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选择</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向上移动一个方格</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行动所得回报</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𝑞</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sub>
                    </m:sSub>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zh-CN" altLang="zh-CN" sz="1600">
                            <a:solidFill>
                              <a:srgbClr val="000000"/>
                            </a:solidFill>
                            <a:latin typeface="Cambria Math" panose="02040503050406030204" pitchFamily="18" charset="0"/>
                            <a:ea typeface="楷体_GB2312"/>
                            <a:cs typeface="Times New Roman" panose="02020603050405020304" pitchFamily="18" charset="0"/>
                          </a:rPr>
                          <m:t>上</m:t>
                        </m:r>
                      </m:e>
                    </m:d>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值为</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0.297</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、选择</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向右移动一个方格</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行动所得回报</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𝑞</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sub>
                    </m:sSub>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zh-CN" altLang="zh-CN" sz="1600">
                            <a:solidFill>
                              <a:srgbClr val="000000"/>
                            </a:solidFill>
                            <a:latin typeface="Cambria Math" panose="02040503050406030204" pitchFamily="18" charset="0"/>
                            <a:ea typeface="楷体_GB2312"/>
                            <a:cs typeface="Times New Roman" panose="02020603050405020304" pitchFamily="18" charset="0"/>
                          </a:rPr>
                          <m:t>右</m:t>
                        </m:r>
                      </m:e>
                    </m:d>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值为</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0.396</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a:t>
                </a: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显然，智能体在状态</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应该选择</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向右移动一个方格</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行动，这样能够获得更大的回报。</a:t>
                </a: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经过策略优化后，状态</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处的新策略为</a:t>
                </a:r>
                <a14:m>
                  <m:oMath xmlns:m="http://schemas.openxmlformats.org/officeDocument/2006/math">
                    <m:sSup>
                      <m:s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e>
                      <m: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up>
                    </m:sSup>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Sub>
                      </m:e>
                    </m:d>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argmax</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𝑎</m:t>
                        </m:r>
                      </m:sub>
                    </m:sSub>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𝑞</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sub>
                    </m:sSub>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𝑎</m:t>
                        </m:r>
                      </m:e>
                    </m:d>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zh-CN" altLang="zh-CN" sz="1600">
                        <a:solidFill>
                          <a:srgbClr val="000000"/>
                        </a:solidFill>
                        <a:latin typeface="Cambria Math" panose="02040503050406030204" pitchFamily="18" charset="0"/>
                        <a:ea typeface="楷体_GB2312"/>
                        <a:cs typeface="Times New Roman" panose="02020603050405020304" pitchFamily="18" charset="0"/>
                      </a:rPr>
                      <m:t>右</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，则将</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处的策略从</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上</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更新为</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 “</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右</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值得注意的是，</a:t>
                </a:r>
                <a:r>
                  <a:rPr lang="zh-CN" altLang="zh-CN" sz="1600" dirty="0">
                    <a:solidFill>
                      <a:srgbClr val="000000"/>
                    </a:solidFill>
                    <a:ea typeface="Cambria Math" panose="02040503050406030204" pitchFamily="18" charset="0"/>
                    <a:cs typeface="Times New Roman" panose="02020603050405020304" pitchFamily="18" charset="0"/>
                  </a:rPr>
                  <a:t> </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原始</a:t>
                </a:r>
                <a14:m>
                  <m:oMath xmlns:m="http://schemas.openxmlformats.org/officeDocument/2006/math">
                    <m:r>
                      <a:rPr lang="zh-CN" altLang="en-US" sz="1600" dirty="0">
                        <a:solidFill>
                          <a:srgbClr val="000000"/>
                        </a:solidFill>
                        <a:latin typeface="Cambria Math" panose="02040503050406030204" pitchFamily="18" charset="0"/>
                        <a:ea typeface="楷体_GB2312"/>
                        <a:cs typeface="Times New Roman" panose="02020603050405020304" pitchFamily="18" charset="0"/>
                      </a:rPr>
                      <m:t>策略</m:t>
                    </m:r>
                    <m:r>
                      <a:rPr lang="zh-CN" altLang="en-US" sz="1600">
                        <a:solidFill>
                          <a:srgbClr val="000000"/>
                        </a:solidFill>
                        <a:latin typeface="Cambria Math" panose="02040503050406030204" pitchFamily="18" charset="0"/>
                        <a:ea typeface="楷体_GB2312"/>
                        <a:cs typeface="Times New Roman" panose="02020603050405020304" pitchFamily="18" charset="0"/>
                      </a:rPr>
                      <m:t>𝜋</m:t>
                    </m:r>
                    <m:d>
                      <m:dPr>
                        <m:ctrlPr>
                          <a:rPr lang="zh-CN" altLang="zh-CN" sz="1600" i="1">
                            <a:solidFill>
                              <a:srgbClr val="000000"/>
                            </a:solidFill>
                            <a:latin typeface="Cambria Math" panose="02040503050406030204" pitchFamily="18" charset="0"/>
                            <a:ea typeface="楷体_GB2312"/>
                            <a:cs typeface="Times New Roman" panose="02020603050405020304" pitchFamily="18" charset="0"/>
                          </a:rPr>
                        </m:ctrlPr>
                      </m:dPr>
                      <m:e>
                        <m:sSub>
                          <m:sSubPr>
                            <m:ctrlPr>
                              <a:rPr lang="zh-CN" altLang="zh-CN" sz="1600" i="1">
                                <a:solidFill>
                                  <a:srgbClr val="000000"/>
                                </a:solidFill>
                                <a:latin typeface="Cambria Math" panose="02040503050406030204" pitchFamily="18" charset="0"/>
                                <a:ea typeface="楷体_GB2312"/>
                                <a:cs typeface="Times New Roman" panose="02020603050405020304" pitchFamily="18" charset="0"/>
                              </a:rPr>
                            </m:ctrlPr>
                          </m:sSubPr>
                          <m:e>
                            <m:r>
                              <a:rPr lang="en-US" altLang="zh-CN" sz="1600">
                                <a:solidFill>
                                  <a:srgbClr val="000000"/>
                                </a:solidFill>
                                <a:latin typeface="Cambria Math" panose="02040503050406030204" pitchFamily="18" charset="0"/>
                                <a:ea typeface="楷体_GB2312"/>
                                <a:cs typeface="Times New Roman" panose="02020603050405020304" pitchFamily="18" charset="0"/>
                              </a:rPr>
                              <m:t>𝑠</m:t>
                            </m:r>
                          </m:e>
                          <m:sub>
                            <m:r>
                              <a:rPr lang="en-US" altLang="zh-CN" sz="1600">
                                <a:solidFill>
                                  <a:srgbClr val="000000"/>
                                </a:solidFill>
                                <a:latin typeface="Cambria Math" panose="02040503050406030204" pitchFamily="18" charset="0"/>
                                <a:ea typeface="楷体_GB2312"/>
                                <a:cs typeface="Times New Roman" panose="02020603050405020304" pitchFamily="18" charset="0"/>
                              </a:rPr>
                              <m:t>1</m:t>
                            </m:r>
                          </m:sub>
                        </m:sSub>
                      </m:e>
                    </m:d>
                  </m:oMath>
                </a14:m>
                <a:r>
                  <a:rPr lang="en-US" altLang="zh-CN" sz="1600" dirty="0">
                    <a:solidFill>
                      <a:srgbClr val="000000"/>
                    </a:solidFill>
                    <a:latin typeface="Times New Roman" panose="02020603050405020304" pitchFamily="18" charset="0"/>
                    <a:ea typeface="楷体_GB2312"/>
                    <a:cs typeface="Times New Roman" panose="02020603050405020304" pitchFamily="18" charset="0"/>
                  </a:rPr>
                  <a:t>={0.5</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的概率为上，</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0.5</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的概率为右</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其他状态的情况可用类似方法计算得到。</a:t>
                </a:r>
              </a:p>
            </p:txBody>
          </p:sp>
        </mc:Choice>
        <mc:Fallback xmlns="">
          <p:sp>
            <p:nvSpPr>
              <p:cNvPr id="7" name="矩形 6">
                <a:extLst>
                  <a:ext uri="{FF2B5EF4-FFF2-40B4-BE49-F238E27FC236}">
                    <a16:creationId xmlns:a16="http://schemas.microsoft.com/office/drawing/2014/main" id="{F5DC0A92-59C5-45CB-89CA-ACD99C4DC99C}"/>
                  </a:ext>
                </a:extLst>
              </p:cNvPr>
              <p:cNvSpPr>
                <a:spLocks noRot="1" noChangeAspect="1" noMove="1" noResize="1" noEditPoints="1" noAdjustHandles="1" noChangeArrowheads="1" noChangeShapeType="1" noTextEdit="1"/>
              </p:cNvSpPr>
              <p:nvPr/>
            </p:nvSpPr>
            <p:spPr>
              <a:xfrm>
                <a:off x="196946" y="2849354"/>
                <a:ext cx="6708952" cy="3006592"/>
              </a:xfrm>
              <a:prstGeom prst="rect">
                <a:avLst/>
              </a:prstGeom>
              <a:blipFill>
                <a:blip r:embed="rId4"/>
                <a:stretch>
                  <a:fillRect l="-363" r="-3451" b="-16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3B7A96A3-EA5D-412B-8493-EBE8C06661ED}"/>
                  </a:ext>
                </a:extLst>
              </p:cNvPr>
              <p:cNvSpPr/>
              <p:nvPr/>
            </p:nvSpPr>
            <p:spPr>
              <a:xfrm>
                <a:off x="412653" y="2131725"/>
                <a:ext cx="6096000" cy="584775"/>
              </a:xfrm>
              <a:prstGeom prst="rect">
                <a:avLst/>
              </a:prstGeom>
            </p:spPr>
            <p:txBody>
              <a:bodyPr>
                <a:spAutoFit/>
              </a:bodyPr>
              <a:lstStyle/>
              <a:p>
                <a:r>
                  <a:rPr lang="zh-CN" altLang="en-US" sz="1600" b="1" dirty="0">
                    <a:solidFill>
                      <a:schemeClr val="accent6"/>
                    </a:solidFill>
                    <a:latin typeface="Times New Roman" panose="02020603050405020304" pitchFamily="18" charset="0"/>
                    <a:ea typeface="楷体_GB2312"/>
                    <a:cs typeface="Times New Roman" panose="02020603050405020304" pitchFamily="18" charset="0"/>
                  </a:rPr>
                  <a:t>问题：</a:t>
                </a:r>
                <a:r>
                  <a:rPr lang="zh-CN" altLang="zh-CN" sz="1600" b="1" dirty="0">
                    <a:solidFill>
                      <a:schemeClr val="accent6"/>
                    </a:solidFill>
                    <a:latin typeface="Times New Roman" panose="02020603050405020304" pitchFamily="18" charset="0"/>
                    <a:ea typeface="楷体_GB2312"/>
                    <a:cs typeface="Times New Roman" panose="02020603050405020304" pitchFamily="18" charset="0"/>
                  </a:rPr>
                  <a:t>智能体</a:t>
                </a:r>
                <a:r>
                  <a:rPr lang="zh-CN" altLang="en-US" sz="1600" b="1" dirty="0">
                    <a:solidFill>
                      <a:schemeClr val="accent6"/>
                    </a:solidFill>
                    <a:latin typeface="Times New Roman" panose="02020603050405020304" pitchFamily="18" charset="0"/>
                    <a:ea typeface="楷体_GB2312"/>
                    <a:cs typeface="Times New Roman" panose="02020603050405020304" pitchFamily="18" charset="0"/>
                  </a:rPr>
                  <a:t>目前在</a:t>
                </a:r>
                <a:r>
                  <a:rPr lang="zh-CN" altLang="zh-CN" sz="1600" b="1" dirty="0">
                    <a:solidFill>
                      <a:schemeClr val="accent6"/>
                    </a:solidFill>
                    <a:latin typeface="Times New Roman" panose="02020603050405020304" pitchFamily="18" charset="0"/>
                    <a:ea typeface="楷体_GB2312"/>
                    <a:cs typeface="Times New Roman" panose="02020603050405020304" pitchFamily="18" charset="0"/>
                  </a:rPr>
                  <a:t>状态</a:t>
                </a:r>
                <a14:m>
                  <m:oMath xmlns:m="http://schemas.openxmlformats.org/officeDocument/2006/math">
                    <m:sSub>
                      <m:sSubPr>
                        <m:ctrlPr>
                          <a:rPr lang="zh-CN" altLang="zh-CN" sz="1600" b="1" i="1">
                            <a:solidFill>
                              <a:schemeClr val="accent6"/>
                            </a:solidFill>
                            <a:latin typeface="Cambria Math" panose="02040503050406030204" pitchFamily="18" charset="0"/>
                            <a:ea typeface="楷体_GB2312"/>
                            <a:cs typeface="Times New Roman" panose="02020603050405020304" pitchFamily="18" charset="0"/>
                          </a:rPr>
                        </m:ctrlPr>
                      </m:sSubPr>
                      <m:e>
                        <m:r>
                          <a:rPr lang="en-US" altLang="zh-CN" sz="1600" b="1">
                            <a:solidFill>
                              <a:schemeClr val="accent6"/>
                            </a:solidFill>
                            <a:latin typeface="Cambria Math" panose="02040503050406030204" pitchFamily="18" charset="0"/>
                            <a:ea typeface="楷体_GB2312"/>
                            <a:cs typeface="Times New Roman" panose="02020603050405020304" pitchFamily="18" charset="0"/>
                          </a:rPr>
                          <m:t>𝒔</m:t>
                        </m:r>
                      </m:e>
                      <m:sub>
                        <m:r>
                          <a:rPr lang="en-US" altLang="zh-CN" sz="1600" b="1">
                            <a:solidFill>
                              <a:schemeClr val="accent6"/>
                            </a:solidFill>
                            <a:latin typeface="Cambria Math" panose="02040503050406030204" pitchFamily="18" charset="0"/>
                            <a:ea typeface="楷体_GB2312"/>
                            <a:cs typeface="Times New Roman" panose="02020603050405020304" pitchFamily="18" charset="0"/>
                          </a:rPr>
                          <m:t>𝟏</m:t>
                        </m:r>
                      </m:sub>
                    </m:sSub>
                  </m:oMath>
                </a14:m>
                <a:r>
                  <a:rPr lang="zh-CN" altLang="en-US" sz="1600" b="1" dirty="0">
                    <a:solidFill>
                      <a:schemeClr val="accent6"/>
                    </a:solidFill>
                    <a:latin typeface="Times New Roman" panose="02020603050405020304" pitchFamily="18" charset="0"/>
                    <a:ea typeface="楷体_GB2312"/>
                    <a:cs typeface="Times New Roman" panose="02020603050405020304" pitchFamily="18" charset="0"/>
                  </a:rPr>
                  <a:t>，那么下一步是</a:t>
                </a:r>
                <a:r>
                  <a:rPr lang="zh-CN" altLang="zh-CN" sz="1600" b="1" dirty="0">
                    <a:solidFill>
                      <a:schemeClr val="accent6"/>
                    </a:solidFill>
                    <a:latin typeface="Times New Roman" panose="02020603050405020304" pitchFamily="18" charset="0"/>
                    <a:ea typeface="楷体_GB2312"/>
                    <a:cs typeface="Times New Roman" panose="02020603050405020304" pitchFamily="18" charset="0"/>
                  </a:rPr>
                  <a:t>采取</a:t>
                </a:r>
                <a:r>
                  <a:rPr lang="en-US" altLang="zh-CN" sz="1600" b="1" dirty="0">
                    <a:solidFill>
                      <a:schemeClr val="accent6"/>
                    </a:solidFill>
                    <a:latin typeface="Times New Roman" panose="02020603050405020304" pitchFamily="18" charset="0"/>
                    <a:ea typeface="楷体_GB2312"/>
                    <a:cs typeface="Times New Roman" panose="02020603050405020304" pitchFamily="18" charset="0"/>
                  </a:rPr>
                  <a:t>“</a:t>
                </a:r>
                <a:r>
                  <a:rPr lang="zh-CN" altLang="zh-CN" sz="1600" b="1" dirty="0">
                    <a:solidFill>
                      <a:schemeClr val="accent6"/>
                    </a:solidFill>
                    <a:latin typeface="Times New Roman" panose="02020603050405020304" pitchFamily="18" charset="0"/>
                    <a:ea typeface="楷体_GB2312"/>
                    <a:cs typeface="Times New Roman" panose="02020603050405020304" pitchFamily="18" charset="0"/>
                  </a:rPr>
                  <a:t>向上移动一个方格</a:t>
                </a:r>
                <a:r>
                  <a:rPr lang="en-US" altLang="zh-CN" sz="1600" b="1" dirty="0">
                    <a:solidFill>
                      <a:schemeClr val="accent6"/>
                    </a:solidFill>
                    <a:latin typeface="Times New Roman" panose="02020603050405020304" pitchFamily="18" charset="0"/>
                    <a:ea typeface="楷体_GB2312"/>
                    <a:cs typeface="Times New Roman" panose="02020603050405020304" pitchFamily="18" charset="0"/>
                  </a:rPr>
                  <a:t>”</a:t>
                </a:r>
                <a:r>
                  <a:rPr lang="zh-CN" altLang="zh-CN" sz="1600" b="1" dirty="0">
                    <a:solidFill>
                      <a:schemeClr val="accent6"/>
                    </a:solidFill>
                    <a:latin typeface="Times New Roman" panose="02020603050405020304" pitchFamily="18" charset="0"/>
                    <a:ea typeface="楷体_GB2312"/>
                    <a:cs typeface="Times New Roman" panose="02020603050405020304" pitchFamily="18" charset="0"/>
                  </a:rPr>
                  <a:t>或</a:t>
                </a:r>
                <a:r>
                  <a:rPr lang="en-US" altLang="zh-CN" sz="1600" b="1" dirty="0">
                    <a:solidFill>
                      <a:schemeClr val="accent6"/>
                    </a:solidFill>
                    <a:latin typeface="Times New Roman" panose="02020603050405020304" pitchFamily="18" charset="0"/>
                    <a:ea typeface="楷体_GB2312"/>
                    <a:cs typeface="Times New Roman" panose="02020603050405020304" pitchFamily="18" charset="0"/>
                  </a:rPr>
                  <a:t>“</a:t>
                </a:r>
                <a:r>
                  <a:rPr lang="zh-CN" altLang="zh-CN" sz="1600" b="1" dirty="0">
                    <a:solidFill>
                      <a:schemeClr val="accent6"/>
                    </a:solidFill>
                    <a:latin typeface="Times New Roman" panose="02020603050405020304" pitchFamily="18" charset="0"/>
                    <a:ea typeface="楷体_GB2312"/>
                    <a:cs typeface="Times New Roman" panose="02020603050405020304" pitchFamily="18" charset="0"/>
                  </a:rPr>
                  <a:t>向右移动一个方格</a:t>
                </a:r>
                <a:r>
                  <a:rPr lang="en-US" altLang="zh-CN" sz="1600" b="1" dirty="0">
                    <a:solidFill>
                      <a:schemeClr val="accent6"/>
                    </a:solidFill>
                    <a:latin typeface="Times New Roman" panose="02020603050405020304" pitchFamily="18" charset="0"/>
                    <a:ea typeface="楷体_GB2312"/>
                    <a:cs typeface="Times New Roman" panose="02020603050405020304" pitchFamily="18" charset="0"/>
                  </a:rPr>
                  <a:t>”</a:t>
                </a:r>
                <a:r>
                  <a:rPr lang="zh-CN" altLang="en-US" sz="1600" b="1" dirty="0">
                    <a:solidFill>
                      <a:schemeClr val="accent6"/>
                    </a:solidFill>
                    <a:latin typeface="Times New Roman" panose="02020603050405020304" pitchFamily="18" charset="0"/>
                    <a:ea typeface="楷体_GB2312"/>
                    <a:cs typeface="Times New Roman" panose="02020603050405020304" pitchFamily="18" charset="0"/>
                  </a:rPr>
                  <a:t>哪一个</a:t>
                </a:r>
                <a:r>
                  <a:rPr lang="zh-CN" altLang="zh-CN" sz="1600" b="1" dirty="0">
                    <a:solidFill>
                      <a:schemeClr val="accent6"/>
                    </a:solidFill>
                    <a:latin typeface="Times New Roman" panose="02020603050405020304" pitchFamily="18" charset="0"/>
                    <a:ea typeface="楷体_GB2312"/>
                    <a:cs typeface="Times New Roman" panose="02020603050405020304" pitchFamily="18" charset="0"/>
                  </a:rPr>
                  <a:t>行动</a:t>
                </a:r>
                <a:r>
                  <a:rPr lang="zh-CN" altLang="en-US" sz="1600" b="1" dirty="0">
                    <a:solidFill>
                      <a:schemeClr val="accent6"/>
                    </a:solidFill>
                    <a:latin typeface="Times New Roman" panose="02020603050405020304" pitchFamily="18" charset="0"/>
                    <a:ea typeface="楷体_GB2312"/>
                    <a:cs typeface="Times New Roman" panose="02020603050405020304" pitchFamily="18" charset="0"/>
                  </a:rPr>
                  <a:t>？</a:t>
                </a:r>
              </a:p>
            </p:txBody>
          </p:sp>
        </mc:Choice>
        <mc:Fallback xmlns="">
          <p:sp>
            <p:nvSpPr>
              <p:cNvPr id="11" name="矩形 10">
                <a:extLst>
                  <a:ext uri="{FF2B5EF4-FFF2-40B4-BE49-F238E27FC236}">
                    <a16:creationId xmlns:a16="http://schemas.microsoft.com/office/drawing/2014/main" id="{3B7A96A3-EA5D-412B-8493-EBE8C06661ED}"/>
                  </a:ext>
                </a:extLst>
              </p:cNvPr>
              <p:cNvSpPr>
                <a:spLocks noRot="1" noChangeAspect="1" noMove="1" noResize="1" noEditPoints="1" noAdjustHandles="1" noChangeArrowheads="1" noChangeShapeType="1" noTextEdit="1"/>
              </p:cNvSpPr>
              <p:nvPr/>
            </p:nvSpPr>
            <p:spPr>
              <a:xfrm>
                <a:off x="412653" y="2131725"/>
                <a:ext cx="6096000" cy="584775"/>
              </a:xfrm>
              <a:prstGeom prst="rect">
                <a:avLst/>
              </a:prstGeom>
              <a:blipFill>
                <a:blip r:embed="rId5"/>
                <a:stretch>
                  <a:fillRect l="-600" t="-4167" b="-13542"/>
                </a:stretch>
              </a:blipFill>
            </p:spPr>
            <p:txBody>
              <a:bodyPr/>
              <a:lstStyle/>
              <a:p>
                <a:r>
                  <a:rPr lang="zh-CN" altLang="en-US">
                    <a:noFill/>
                  </a:rPr>
                  <a:t> </a:t>
                </a:r>
              </a:p>
            </p:txBody>
          </p:sp>
        </mc:Fallback>
      </mc:AlternateContent>
      <p:sp>
        <p:nvSpPr>
          <p:cNvPr id="10" name="矩形 9">
            <a:extLst>
              <a:ext uri="{FF2B5EF4-FFF2-40B4-BE49-F238E27FC236}">
                <a16:creationId xmlns:a16="http://schemas.microsoft.com/office/drawing/2014/main" id="{A6DD4AF1-F17F-46C5-AD3D-05E2982098E1}"/>
              </a:ext>
            </a:extLst>
          </p:cNvPr>
          <p:cNvSpPr/>
          <p:nvPr/>
        </p:nvSpPr>
        <p:spPr>
          <a:xfrm>
            <a:off x="8077334" y="5041044"/>
            <a:ext cx="3239990" cy="338554"/>
          </a:xfrm>
          <a:prstGeom prst="rect">
            <a:avLst/>
          </a:prstGeom>
        </p:spPr>
        <p:txBody>
          <a:bodyPr wrap="none">
            <a:spAutoFit/>
          </a:bodyPr>
          <a:lstStyle/>
          <a:p>
            <a:r>
              <a:rPr lang="zh-CN" altLang="zh-CN" sz="1600" dirty="0">
                <a:solidFill>
                  <a:srgbClr val="000000"/>
                </a:solidFill>
                <a:latin typeface="Times New Roman" panose="02020603050405020304" pitchFamily="18" charset="0"/>
                <a:ea typeface="楷体_GB2312"/>
                <a:cs typeface="Times New Roman" panose="02020603050405020304" pitchFamily="18" charset="0"/>
              </a:rPr>
              <a:t>应该选择</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向右移动一个方格</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行动</a:t>
            </a:r>
            <a:endParaRPr lang="zh-CN" altLang="en-US" sz="1600" dirty="0"/>
          </a:p>
        </p:txBody>
      </p:sp>
    </p:spTree>
    <p:extLst>
      <p:ext uri="{BB962C8B-B14F-4D97-AF65-F5344CB8AC3E}">
        <p14:creationId xmlns:p14="http://schemas.microsoft.com/office/powerpoint/2010/main" val="39305805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DAB89CF4-30BF-7BE4-FEBD-126F4CEAFF2A}"/>
              </a:ext>
            </a:extLst>
          </p:cNvPr>
          <p:cNvSpPr/>
          <p:nvPr/>
        </p:nvSpPr>
        <p:spPr>
          <a:xfrm>
            <a:off x="7101837" y="4749407"/>
            <a:ext cx="4576355" cy="93729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4D4F72EC-413F-FEFA-1217-97857090A67D}"/>
              </a:ext>
            </a:extLst>
          </p:cNvPr>
          <p:cNvSpPr/>
          <p:nvPr/>
        </p:nvSpPr>
        <p:spPr>
          <a:xfrm>
            <a:off x="7101838" y="3065306"/>
            <a:ext cx="4576356" cy="156765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 name="组合 1">
            <a:extLst>
              <a:ext uri="{FF2B5EF4-FFF2-40B4-BE49-F238E27FC236}">
                <a16:creationId xmlns:a16="http://schemas.microsoft.com/office/drawing/2014/main" id="{707E7190-96EA-A6FF-15F8-5E19EA9F1EF3}"/>
              </a:ext>
            </a:extLst>
          </p:cNvPr>
          <p:cNvGrpSpPr/>
          <p:nvPr/>
        </p:nvGrpSpPr>
        <p:grpSpPr>
          <a:xfrm>
            <a:off x="2583380" y="726948"/>
            <a:ext cx="7464387" cy="497934"/>
            <a:chOff x="4099943" y="2819853"/>
            <a:chExt cx="2570275" cy="497934"/>
          </a:xfrm>
        </p:grpSpPr>
        <p:sp>
          <p:nvSpPr>
            <p:cNvPr id="3" name="平行四边形 2">
              <a:extLst>
                <a:ext uri="{FF2B5EF4-FFF2-40B4-BE49-F238E27FC236}">
                  <a16:creationId xmlns:a16="http://schemas.microsoft.com/office/drawing/2014/main" id="{7AFE5085-3820-A4C7-500B-2972A374E3A6}"/>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a:extLst>
                <a:ext uri="{FF2B5EF4-FFF2-40B4-BE49-F238E27FC236}">
                  <a16:creationId xmlns:a16="http://schemas.microsoft.com/office/drawing/2014/main" id="{36A542BA-2D77-4A66-1911-695CFEABCE63}"/>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a:extLst>
                <a:ext uri="{FF2B5EF4-FFF2-40B4-BE49-F238E27FC236}">
                  <a16:creationId xmlns:a16="http://schemas.microsoft.com/office/drawing/2014/main" id="{FF8CD799-433B-59D9-0291-80370FF13AE4}"/>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强化学习</a:t>
              </a: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基于价值的强化学习</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B43DCCE4-DC16-588D-D984-951188863355}"/>
                  </a:ext>
                </a:extLst>
              </p:cNvPr>
              <p:cNvSpPr/>
              <p:nvPr/>
            </p:nvSpPr>
            <p:spPr>
              <a:xfrm>
                <a:off x="356381" y="1454332"/>
                <a:ext cx="6331802" cy="3957494"/>
              </a:xfrm>
              <a:prstGeom prst="rect">
                <a:avLst/>
              </a:prstGeom>
            </p:spPr>
            <p:txBody>
              <a:bodyPr wrap="square">
                <a:spAutoFit/>
              </a:bodyPr>
              <a:lstStyle/>
              <a:p>
                <a:pPr indent="266700" algn="just">
                  <a:lnSpc>
                    <a:spcPct val="2000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回顾强化学习问题的定义</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 </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给定一个马尔可夫决策过程</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𝑀𝐷𝑃</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𝑆</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𝐴</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𝑃</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𝑅</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𝛾</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，强化学习会寻找一个最优策略</a:t>
                </a:r>
                <a14:m>
                  <m:oMath xmlns:m="http://schemas.openxmlformats.org/officeDocument/2006/math">
                    <m:sSup>
                      <m:s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e>
                      <m: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up>
                    </m:sSup>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，在策略</a:t>
                </a:r>
                <a14:m>
                  <m:oMath xmlns:m="http://schemas.openxmlformats.org/officeDocument/2006/math">
                    <m:sSup>
                      <m:s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e>
                      <m: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up>
                    </m:sSup>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作用下使得任意状态</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𝑆</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对应的价值函数</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𝑉</m:t>
                        </m:r>
                      </m:e>
                      <m:sub>
                        <m:sSup>
                          <m:s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e>
                          <m: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up>
                        </m:sSup>
                      </m:sub>
                    </m:sSub>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e>
                    </m:d>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取值最大。</a:t>
                </a:r>
              </a:p>
              <a:p>
                <a:pPr indent="266700" algn="just">
                  <a:lnSpc>
                    <a:spcPct val="2000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为了求解最优策略</a:t>
                </a:r>
                <a14:m>
                  <m:oMath xmlns:m="http://schemas.openxmlformats.org/officeDocument/2006/math">
                    <m:sSup>
                      <m:s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e>
                      <m: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up>
                    </m:sSup>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，图</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6.7</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中展示了一种思路</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从一个任意的策略开始，</a:t>
                </a: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342900" indent="-342900" algn="just">
                  <a:lnSpc>
                    <a:spcPct val="200000"/>
                  </a:lnSpc>
                  <a:spcAft>
                    <a:spcPts val="0"/>
                  </a:spcAft>
                  <a:buFont typeface="+mj-lt"/>
                  <a:buAutoNum type="arabicPeriod"/>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首先计算该策略下价值函数（</a:t>
                </a:r>
                <a:r>
                  <a:rPr lang="zh-CN" altLang="zh-CN" sz="1600" b="1" dirty="0">
                    <a:solidFill>
                      <a:srgbClr val="000000"/>
                    </a:solidFill>
                    <a:latin typeface="Times New Roman" panose="02020603050405020304" pitchFamily="18" charset="0"/>
                    <a:ea typeface="楷体_GB2312"/>
                    <a:cs typeface="Times New Roman" panose="02020603050405020304" pitchFamily="18" charset="0"/>
                  </a:rPr>
                  <a:t>策略评估</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a:t>
                </a: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342900" indent="-342900" algn="just">
                  <a:lnSpc>
                    <a:spcPct val="200000"/>
                  </a:lnSpc>
                  <a:spcAft>
                    <a:spcPts val="0"/>
                  </a:spcAft>
                  <a:buFont typeface="+mj-lt"/>
                  <a:buAutoNum type="arabicPeriod"/>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然后根据价值函数调整改进策略使其更优</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b="1" dirty="0">
                    <a:solidFill>
                      <a:srgbClr val="000000"/>
                    </a:solidFill>
                    <a:latin typeface="Times New Roman" panose="02020603050405020304" pitchFamily="18" charset="0"/>
                    <a:ea typeface="楷体_GB2312"/>
                    <a:cs typeface="Times New Roman" panose="02020603050405020304" pitchFamily="18" charset="0"/>
                  </a:rPr>
                  <a:t>策略优化</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a:t>
                </a: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342900" indent="-342900" algn="just">
                  <a:lnSpc>
                    <a:spcPct val="200000"/>
                  </a:lnSpc>
                  <a:spcAft>
                    <a:spcPts val="0"/>
                  </a:spcAft>
                  <a:buFont typeface="+mj-lt"/>
                  <a:buAutoNum type="arabicPeriod"/>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不断迭代这个过程直到策略收敛。</a:t>
                </a: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p:txBody>
          </p:sp>
        </mc:Choice>
        <mc:Fallback xmlns="">
          <p:sp>
            <p:nvSpPr>
              <p:cNvPr id="6" name="矩形 5">
                <a:extLst>
                  <a:ext uri="{FF2B5EF4-FFF2-40B4-BE49-F238E27FC236}">
                    <a16:creationId xmlns:a16="http://schemas.microsoft.com/office/drawing/2014/main" id="{B43DCCE4-DC16-588D-D984-951188863355}"/>
                  </a:ext>
                </a:extLst>
              </p:cNvPr>
              <p:cNvSpPr>
                <a:spLocks noRot="1" noChangeAspect="1" noMove="1" noResize="1" noEditPoints="1" noAdjustHandles="1" noChangeArrowheads="1" noChangeShapeType="1" noTextEdit="1"/>
              </p:cNvSpPr>
              <p:nvPr/>
            </p:nvSpPr>
            <p:spPr>
              <a:xfrm>
                <a:off x="356381" y="1454332"/>
                <a:ext cx="6331802" cy="3957494"/>
              </a:xfrm>
              <a:prstGeom prst="rect">
                <a:avLst/>
              </a:prstGeom>
              <a:blipFill>
                <a:blip r:embed="rId2"/>
                <a:stretch>
                  <a:fillRect l="-481" r="-577" b="-107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6277750B-439B-D778-409F-64CFD67683DB}"/>
                  </a:ext>
                </a:extLst>
              </p:cNvPr>
              <p:cNvSpPr txBox="1"/>
              <p:nvPr/>
            </p:nvSpPr>
            <p:spPr>
              <a:xfrm>
                <a:off x="7167153" y="4894886"/>
                <a:ext cx="4214950" cy="646331"/>
              </a:xfrm>
              <a:prstGeom prst="rect">
                <a:avLst/>
              </a:prstGeom>
              <a:noFill/>
            </p:spPr>
            <p:txBody>
              <a:bodyPr wrap="square">
                <a:spAutoFit/>
              </a:bodyPr>
              <a:lstStyle/>
              <a:p>
                <a:r>
                  <a:rPr lang="zh-CN" altLang="en-US" dirty="0"/>
                  <a:t>获取新策略</a:t>
                </a:r>
                <a14:m>
                  <m:oMath xmlns:m="http://schemas.openxmlformats.org/officeDocument/2006/math">
                    <m:sSup>
                      <m:sSupPr>
                        <m:ctrlPr>
                          <a:rPr lang="zh-CN" altLang="zh-CN" sz="1800" i="1" kern="10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e>
                      <m:sup>
                        <m:r>
                          <a:rPr lang="en-US" altLang="zh-CN" sz="18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up>
                    </m:sSup>
                    <m:d>
                      <m:dPr>
                        <m:ctrlPr>
                          <a:rPr lang="zh-CN" altLang="zh-CN" sz="18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e>
                    </m:d>
                    <m:r>
                      <a:rPr lang="en-US" altLang="zh-CN" sz="18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8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8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argmax</m:t>
                        </m:r>
                      </m:e>
                      <m:sub>
                        <m:r>
                          <a:rPr lang="en-US" altLang="zh-CN" sz="18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r>
                          <a:rPr lang="en-US" altLang="zh-CN" sz="1800" b="0" i="1" kern="100" smtClean="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b="0" i="1" kern="100" smtClean="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𝐴</m:t>
                        </m:r>
                      </m:sub>
                    </m:sSub>
                    <m:sSub>
                      <m:sSubPr>
                        <m:ctrlPr>
                          <a:rPr lang="zh-CN" altLang="zh-CN" sz="18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𝑞</m:t>
                        </m:r>
                      </m:e>
                      <m:sub>
                        <m:r>
                          <a:rPr lang="en-US" altLang="zh-CN" sz="18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zh-CN" altLang="zh-CN" sz="18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8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e>
                    </m:d>
                  </m:oMath>
                </a14:m>
                <a:r>
                  <a:rPr lang="zh-CN" altLang="en-US" dirty="0"/>
                  <a:t>（全局重新评估所有动作）</a:t>
                </a:r>
                <a:endParaRPr lang="en-US" altLang="zh-CN" dirty="0"/>
              </a:p>
            </p:txBody>
          </p:sp>
        </mc:Choice>
        <mc:Fallback xmlns="">
          <p:sp>
            <p:nvSpPr>
              <p:cNvPr id="10" name="文本框 9">
                <a:extLst>
                  <a:ext uri="{FF2B5EF4-FFF2-40B4-BE49-F238E27FC236}">
                    <a16:creationId xmlns:a16="http://schemas.microsoft.com/office/drawing/2014/main" id="{6277750B-439B-D778-409F-64CFD67683DB}"/>
                  </a:ext>
                </a:extLst>
              </p:cNvPr>
              <p:cNvSpPr txBox="1">
                <a:spLocks noRot="1" noChangeAspect="1" noMove="1" noResize="1" noEditPoints="1" noAdjustHandles="1" noChangeArrowheads="1" noChangeShapeType="1" noTextEdit="1"/>
              </p:cNvSpPr>
              <p:nvPr/>
            </p:nvSpPr>
            <p:spPr>
              <a:xfrm>
                <a:off x="7167153" y="4894886"/>
                <a:ext cx="4214950" cy="646331"/>
              </a:xfrm>
              <a:prstGeom prst="rect">
                <a:avLst/>
              </a:prstGeom>
              <a:blipFill>
                <a:blip r:embed="rId3"/>
                <a:stretch>
                  <a:fillRect l="-1302" t="-7547" b="-113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80E51A96-47D0-4D59-96EA-2BF3BB61FD3A}"/>
                  </a:ext>
                </a:extLst>
              </p:cNvPr>
              <p:cNvSpPr txBox="1"/>
              <p:nvPr/>
            </p:nvSpPr>
            <p:spPr>
              <a:xfrm>
                <a:off x="7167153" y="3132179"/>
                <a:ext cx="4576356" cy="1477328"/>
              </a:xfrm>
              <a:prstGeom prst="rect">
                <a:avLst/>
              </a:prstGeom>
              <a:noFill/>
            </p:spPr>
            <p:txBody>
              <a:bodyPr wrap="square">
                <a:spAutoFit/>
              </a:bodyPr>
              <a:lstStyle/>
              <a:p>
                <a:r>
                  <a:rPr lang="zh-CN" altLang="en-US" dirty="0"/>
                  <a:t>根据策略优化定理，</a:t>
                </a:r>
                <a:endParaRPr lang="en-US" altLang="zh-CN" dirty="0"/>
              </a:p>
              <a:p>
                <a:r>
                  <a:rPr lang="en-US" altLang="zh-CN" dirty="0"/>
                  <a:t>1. </a:t>
                </a:r>
                <a:r>
                  <a:rPr lang="zh-CN" altLang="en-US" dirty="0"/>
                  <a:t>计算当前状态</a:t>
                </a:r>
                <a14:m>
                  <m:oMath xmlns:m="http://schemas.openxmlformats.org/officeDocument/2006/math">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oMath>
                </a14:m>
                <a:r>
                  <a:rPr lang="zh-CN" altLang="en-US" dirty="0"/>
                  <a:t>的每一个下一状态</a:t>
                </a:r>
                <a14:m>
                  <m:oMath xmlns:m="http://schemas.openxmlformats.org/officeDocument/2006/math">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sup>
                    </m:sSup>
                  </m:oMath>
                </a14:m>
                <a:r>
                  <a:rPr lang="zh-CN" altLang="en-US" dirty="0"/>
                  <a:t>的价值函数</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𝑉</m:t>
                        </m:r>
                      </m:e>
                      <m:sub>
                        <m:r>
                          <a:rPr lang="en-US" altLang="zh-CN" i="1">
                            <a:solidFill>
                              <a:srgbClr val="000000"/>
                            </a:solidFill>
                            <a:latin typeface="Cambria Math" panose="02040503050406030204" pitchFamily="18" charset="0"/>
                            <a:ea typeface="楷体_GB2312"/>
                            <a:cs typeface="Times New Roman" panose="02020603050405020304" pitchFamily="18" charset="0"/>
                          </a:rPr>
                          <m:t>𝜋</m:t>
                        </m:r>
                      </m:sub>
                    </m:sSub>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rgbClr val="000000"/>
                            </a:solidFill>
                            <a:latin typeface="Cambria Math" panose="02040503050406030204" pitchFamily="18" charset="0"/>
                            <a:ea typeface="楷体_GB2312"/>
                            <a:cs typeface="Times New Roman" panose="02020603050405020304" pitchFamily="18" charset="0"/>
                          </a:rPr>
                          <m:t>𝑠</m:t>
                        </m:r>
                        <m:r>
                          <a:rPr lang="en-US" altLang="zh-CN" b="0" i="1" smtClean="0">
                            <a:solidFill>
                              <a:srgbClr val="000000"/>
                            </a:solidFill>
                            <a:latin typeface="Cambria Math" panose="02040503050406030204" pitchFamily="18" charset="0"/>
                            <a:ea typeface="楷体_GB2312"/>
                            <a:cs typeface="Times New Roman" panose="02020603050405020304" pitchFamily="18" charset="0"/>
                          </a:rPr>
                          <m:t>′</m:t>
                        </m:r>
                      </m:e>
                    </m:d>
                  </m:oMath>
                </a14:m>
                <a:r>
                  <a:rPr lang="zh-CN" altLang="en-US" dirty="0"/>
                  <a:t>，</a:t>
                </a:r>
                <a:endParaRPr lang="en-US" altLang="zh-CN" dirty="0"/>
              </a:p>
              <a:p>
                <a:r>
                  <a:rPr lang="en-US" altLang="zh-CN" dirty="0"/>
                  <a:t>2. </a:t>
                </a:r>
                <a:r>
                  <a:rPr lang="zh-CN" altLang="en-US" dirty="0"/>
                  <a:t>计算当前状态</a:t>
                </a:r>
                <a14:m>
                  <m:oMath xmlns:m="http://schemas.openxmlformats.org/officeDocument/2006/math">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oMath>
                </a14:m>
                <a:r>
                  <a:rPr lang="zh-CN" altLang="en-US" dirty="0"/>
                  <a:t>的每一个动作的动作</a:t>
                </a:r>
                <a:r>
                  <a:rPr lang="en-US" altLang="zh-CN" dirty="0"/>
                  <a:t>-</a:t>
                </a:r>
                <a:r>
                  <a:rPr lang="zh-CN" altLang="en-US" dirty="0"/>
                  <a:t>价值函数</a:t>
                </a:r>
                <a14:m>
                  <m:oMath xmlns:m="http://schemas.openxmlformats.org/officeDocument/2006/math">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𝑞</m:t>
                        </m:r>
                      </m:e>
                      <m:sub>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e>
                    </m:d>
                  </m:oMath>
                </a14:m>
                <a:endParaRPr lang="zh-CN" altLang="en-US" dirty="0"/>
              </a:p>
            </p:txBody>
          </p:sp>
        </mc:Choice>
        <mc:Fallback xmlns="">
          <p:sp>
            <p:nvSpPr>
              <p:cNvPr id="12" name="文本框 11">
                <a:extLst>
                  <a:ext uri="{FF2B5EF4-FFF2-40B4-BE49-F238E27FC236}">
                    <a16:creationId xmlns:a16="http://schemas.microsoft.com/office/drawing/2014/main" id="{80E51A96-47D0-4D59-96EA-2BF3BB61FD3A}"/>
                  </a:ext>
                </a:extLst>
              </p:cNvPr>
              <p:cNvSpPr txBox="1">
                <a:spLocks noRot="1" noChangeAspect="1" noMove="1" noResize="1" noEditPoints="1" noAdjustHandles="1" noChangeArrowheads="1" noChangeShapeType="1" noTextEdit="1"/>
              </p:cNvSpPr>
              <p:nvPr/>
            </p:nvSpPr>
            <p:spPr>
              <a:xfrm>
                <a:off x="7167153" y="3132179"/>
                <a:ext cx="4576356" cy="1477328"/>
              </a:xfrm>
              <a:prstGeom prst="rect">
                <a:avLst/>
              </a:prstGeom>
              <a:blipFill>
                <a:blip r:embed="rId4"/>
                <a:stretch>
                  <a:fillRect l="-1200" t="-3719" b="-4545"/>
                </a:stretch>
              </a:blipFill>
            </p:spPr>
            <p:txBody>
              <a:bodyPr/>
              <a:lstStyle/>
              <a:p>
                <a:r>
                  <a:rPr lang="zh-CN" altLang="en-US">
                    <a:noFill/>
                  </a:rPr>
                  <a:t> </a:t>
                </a:r>
              </a:p>
            </p:txBody>
          </p:sp>
        </mc:Fallback>
      </mc:AlternateContent>
      <p:cxnSp>
        <p:nvCxnSpPr>
          <p:cNvPr id="17" name="连接符: 肘形 16">
            <a:extLst>
              <a:ext uri="{FF2B5EF4-FFF2-40B4-BE49-F238E27FC236}">
                <a16:creationId xmlns:a16="http://schemas.microsoft.com/office/drawing/2014/main" id="{4C75085B-B6FA-DE3E-73DE-FF82A93E7E9F}"/>
              </a:ext>
            </a:extLst>
          </p:cNvPr>
          <p:cNvCxnSpPr>
            <a:cxnSpLocks/>
            <a:endCxn id="13" idx="1"/>
          </p:cNvCxnSpPr>
          <p:nvPr/>
        </p:nvCxnSpPr>
        <p:spPr>
          <a:xfrm flipV="1">
            <a:off x="4685211" y="3849133"/>
            <a:ext cx="2416627" cy="348398"/>
          </a:xfrm>
          <a:prstGeom prst="bentConnector3">
            <a:avLst>
              <a:gd name="adj1" fmla="val 7378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连接符: 肘形 17">
            <a:extLst>
              <a:ext uri="{FF2B5EF4-FFF2-40B4-BE49-F238E27FC236}">
                <a16:creationId xmlns:a16="http://schemas.microsoft.com/office/drawing/2014/main" id="{7D740D77-4DFC-3AF4-7467-73754F0A536A}"/>
              </a:ext>
            </a:extLst>
          </p:cNvPr>
          <p:cNvCxnSpPr>
            <a:cxnSpLocks/>
            <a:endCxn id="21" idx="1"/>
          </p:cNvCxnSpPr>
          <p:nvPr/>
        </p:nvCxnSpPr>
        <p:spPr>
          <a:xfrm>
            <a:off x="5834743" y="4749407"/>
            <a:ext cx="1267094" cy="46864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5326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13" grpId="0" animBg="1"/>
      <p:bldP spid="10" grpId="0"/>
      <p:bldP spid="1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基于价值的强化学习：策略评估</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7C8DAA94-98DD-4B4C-B613-4384E9EE4DA9}"/>
                  </a:ext>
                </a:extLst>
              </p:cNvPr>
              <p:cNvSpPr/>
              <p:nvPr/>
            </p:nvSpPr>
            <p:spPr>
              <a:xfrm>
                <a:off x="1702190" y="1684018"/>
                <a:ext cx="9683261" cy="369332"/>
              </a:xfrm>
              <a:prstGeom prst="rect">
                <a:avLst/>
              </a:prstGeom>
            </p:spPr>
            <p:txBody>
              <a:bodyPr wrap="square">
                <a:spAutoFit/>
              </a:bodyPr>
              <a:lstStyle/>
              <a:p>
                <a:r>
                  <a:rPr lang="zh-CN" altLang="zh-CN" dirty="0">
                    <a:ea typeface="等线" panose="02010600030101010101" pitchFamily="2" charset="-122"/>
                    <a:cs typeface="Times New Roman" panose="02020603050405020304" pitchFamily="18" charset="0"/>
                  </a:rPr>
                  <a:t>假定当前策略为</a:t>
                </a:r>
                <a14:m>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𝜋</m:t>
                    </m:r>
                  </m:oMath>
                </a14:m>
                <a:r>
                  <a:rPr lang="zh-CN" altLang="zh-CN" dirty="0">
                    <a:ea typeface="等线" panose="02010600030101010101" pitchFamily="2" charset="-122"/>
                    <a:cs typeface="Times New Roman" panose="02020603050405020304" pitchFamily="18" charset="0"/>
                  </a:rPr>
                  <a:t>，策略评估指的是根据策略</a:t>
                </a:r>
                <a14:m>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𝜋</m:t>
                    </m:r>
                  </m:oMath>
                </a14:m>
                <a:r>
                  <a:rPr lang="zh-CN" altLang="zh-CN" dirty="0">
                    <a:ea typeface="等线" panose="02010600030101010101" pitchFamily="2" charset="-122"/>
                    <a:cs typeface="Times New Roman" panose="02020603050405020304" pitchFamily="18" charset="0"/>
                  </a:rPr>
                  <a:t>来计算相应的价值函数</a:t>
                </a:r>
                <a14:m>
                  <m:oMath xmlns:m="http://schemas.openxmlformats.org/officeDocument/2006/math">
                    <m:sSub>
                      <m:sSubPr>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ea typeface="等线" panose="02010600030101010101" pitchFamily="2" charset="-122"/>
                            <a:cs typeface="Times New Roman" panose="02020603050405020304" pitchFamily="18" charset="0"/>
                          </a:rPr>
                          <m:t>𝑉</m:t>
                        </m:r>
                      </m:e>
                      <m:sub>
                        <m:r>
                          <a:rPr lang="en-US" altLang="zh-CN" i="1">
                            <a:latin typeface="Cambria Math" panose="02040503050406030204" pitchFamily="18" charset="0"/>
                            <a:ea typeface="等线" panose="02010600030101010101" pitchFamily="2" charset="-122"/>
                            <a:cs typeface="Times New Roman" panose="02020603050405020304" pitchFamily="18" charset="0"/>
                          </a:rPr>
                          <m:t>𝜋</m:t>
                        </m:r>
                      </m:sub>
                    </m:sSub>
                  </m:oMath>
                </a14:m>
                <a:r>
                  <a:rPr lang="zh-CN" altLang="zh-CN" dirty="0">
                    <a:ea typeface="等线" panose="02010600030101010101" pitchFamily="2" charset="-122"/>
                    <a:cs typeface="Times New Roman" panose="02020603050405020304" pitchFamily="18" charset="0"/>
                  </a:rPr>
                  <a:t>或动作</a:t>
                </a:r>
                <a:r>
                  <a:rPr lang="en-US" altLang="zh-CN" dirty="0">
                    <a:ea typeface="等线" panose="02010600030101010101" pitchFamily="2" charset="-122"/>
                    <a:cs typeface="Times New Roman" panose="02020603050405020304" pitchFamily="18" charset="0"/>
                  </a:rPr>
                  <a:t>-</a:t>
                </a:r>
                <a:r>
                  <a:rPr lang="zh-CN" altLang="zh-CN" dirty="0">
                    <a:ea typeface="等线" panose="02010600030101010101" pitchFamily="2" charset="-122"/>
                    <a:cs typeface="Times New Roman" panose="02020603050405020304" pitchFamily="18" charset="0"/>
                  </a:rPr>
                  <a:t>价值函数</a:t>
                </a:r>
                <a14:m>
                  <m:oMath xmlns:m="http://schemas.openxmlformats.org/officeDocument/2006/math">
                    <m:sSub>
                      <m:sSubPr>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i="1">
                            <a:latin typeface="Cambria Math" panose="02040503050406030204" pitchFamily="18" charset="0"/>
                            <a:ea typeface="等线" panose="02010600030101010101" pitchFamily="2" charset="-122"/>
                            <a:cs typeface="Times New Roman" panose="02020603050405020304" pitchFamily="18" charset="0"/>
                          </a:rPr>
                          <m:t>𝜋</m:t>
                        </m:r>
                      </m:sub>
                    </m:sSub>
                  </m:oMath>
                </a14:m>
                <a:r>
                  <a:rPr lang="zh-CN" altLang="zh-CN" dirty="0">
                    <a:ea typeface="等线" panose="02010600030101010101" pitchFamily="2" charset="-122"/>
                    <a:cs typeface="Times New Roman" panose="02020603050405020304" pitchFamily="18" charset="0"/>
                  </a:rPr>
                  <a:t>。</a:t>
                </a:r>
                <a:endParaRPr lang="zh-CN" altLang="en-US" dirty="0"/>
              </a:p>
            </p:txBody>
          </p:sp>
        </mc:Choice>
        <mc:Fallback xmlns="">
          <p:sp>
            <p:nvSpPr>
              <p:cNvPr id="8" name="矩形 7">
                <a:extLst>
                  <a:ext uri="{FF2B5EF4-FFF2-40B4-BE49-F238E27FC236}">
                    <a16:creationId xmlns:a16="http://schemas.microsoft.com/office/drawing/2014/main" id="{7C8DAA94-98DD-4B4C-B613-4384E9EE4DA9}"/>
                  </a:ext>
                </a:extLst>
              </p:cNvPr>
              <p:cNvSpPr>
                <a:spLocks noRot="1" noChangeAspect="1" noMove="1" noResize="1" noEditPoints="1" noAdjustHandles="1" noChangeArrowheads="1" noChangeShapeType="1" noTextEdit="1"/>
              </p:cNvSpPr>
              <p:nvPr/>
            </p:nvSpPr>
            <p:spPr>
              <a:xfrm>
                <a:off x="1702190" y="1684018"/>
                <a:ext cx="9683261" cy="369332"/>
              </a:xfrm>
              <a:prstGeom prst="rect">
                <a:avLst/>
              </a:prstGeom>
              <a:blipFill>
                <a:blip r:embed="rId3"/>
                <a:stretch>
                  <a:fillRect l="-503" t="-8197" b="-24590"/>
                </a:stretch>
              </a:blipFill>
            </p:spPr>
            <p:txBody>
              <a:bodyPr/>
              <a:lstStyle/>
              <a:p>
                <a:r>
                  <a:rPr lang="zh-CN" altLang="en-US">
                    <a:noFill/>
                  </a:rPr>
                  <a:t> </a:t>
                </a:r>
              </a:p>
            </p:txBody>
          </p:sp>
        </mc:Fallback>
      </mc:AlternateContent>
      <p:sp>
        <p:nvSpPr>
          <p:cNvPr id="12" name="矩形 11">
            <a:extLst>
              <a:ext uri="{FF2B5EF4-FFF2-40B4-BE49-F238E27FC236}">
                <a16:creationId xmlns:a16="http://schemas.microsoft.com/office/drawing/2014/main" id="{728C573C-26CC-467C-AD62-C248789C7C7D}"/>
              </a:ext>
            </a:extLst>
          </p:cNvPr>
          <p:cNvSpPr/>
          <p:nvPr/>
        </p:nvSpPr>
        <p:spPr>
          <a:xfrm>
            <a:off x="3708112" y="2340966"/>
            <a:ext cx="5611198" cy="1684244"/>
          </a:xfrm>
          <a:prstGeom prst="rect">
            <a:avLst/>
          </a:prstGeom>
        </p:spPr>
        <p:txBody>
          <a:bodyPr wrap="square">
            <a:spAutoFit/>
          </a:bodyPr>
          <a:lstStyle/>
          <a:p>
            <a:pPr marL="342900" indent="-342900">
              <a:lnSpc>
                <a:spcPct val="150000"/>
              </a:lnSpc>
              <a:buFont typeface="Wingdings" panose="05000000000000000000" pitchFamily="2" charset="2"/>
              <a:buChar char="l"/>
            </a:pPr>
            <a:r>
              <a:rPr lang="zh-CN" altLang="en-US" sz="2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动态规划</a:t>
            </a:r>
          </a:p>
          <a:p>
            <a:pPr marL="342900" indent="-342900">
              <a:lnSpc>
                <a:spcPct val="150000"/>
              </a:lnSpc>
              <a:buFont typeface="Wingdings" panose="05000000000000000000" pitchFamily="2" charset="2"/>
              <a:buChar char="l"/>
            </a:pPr>
            <a:r>
              <a:rPr lang="zh-CN" altLang="en-US" sz="2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蒙特卡洛采样</a:t>
            </a:r>
          </a:p>
          <a:p>
            <a:pPr marL="342900" indent="-342900">
              <a:lnSpc>
                <a:spcPct val="150000"/>
              </a:lnSpc>
              <a:buFont typeface="Wingdings" panose="05000000000000000000" pitchFamily="2" charset="2"/>
              <a:buChar char="l"/>
            </a:pPr>
            <a:r>
              <a:rPr lang="zh-CN" altLang="en-US" sz="2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时序差分（</a:t>
            </a:r>
            <a:r>
              <a:rPr lang="en-US" altLang="zh-CN" sz="2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Temporal Difference</a:t>
            </a:r>
            <a:r>
              <a:rPr lang="zh-CN" altLang="en-US" sz="2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13" name="矩形 12">
            <a:extLst>
              <a:ext uri="{FF2B5EF4-FFF2-40B4-BE49-F238E27FC236}">
                <a16:creationId xmlns:a16="http://schemas.microsoft.com/office/drawing/2014/main" id="{1B292725-D6FC-4A7F-A2C3-6365E78BCDE5}"/>
              </a:ext>
            </a:extLst>
          </p:cNvPr>
          <p:cNvSpPr/>
          <p:nvPr/>
        </p:nvSpPr>
        <p:spPr>
          <a:xfrm>
            <a:off x="1553896" y="4406334"/>
            <a:ext cx="9015629" cy="969111"/>
          </a:xfrm>
          <a:prstGeom prst="rect">
            <a:avLst/>
          </a:prstGeom>
        </p:spPr>
        <p:txBody>
          <a:bodyPr wrap="square">
            <a:spAutoFit/>
          </a:bodyPr>
          <a:lstStyle/>
          <a:p>
            <a:pPr algn="ctr">
              <a:lnSpc>
                <a:spcPct val="150000"/>
              </a:lnSpc>
            </a:pPr>
            <a:r>
              <a:rPr lang="zh-CN" altLang="zh-CN" sz="2000" b="1" dirty="0">
                <a:latin typeface="Times New Roman" panose="02020603050405020304" pitchFamily="18" charset="0"/>
                <a:ea typeface="华文楷体" panose="02010600040101010101" pitchFamily="2" charset="-122"/>
                <a:cs typeface="Times New Roman" panose="02020603050405020304" pitchFamily="18" charset="0"/>
              </a:rPr>
              <a:t>介绍在状态集合有限前提下三种常见的策略评估方法，它们分别是基于动态规划的方法、基于蒙特卡洛采样的方法和时序差分（</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temporal difference</a:t>
            </a:r>
            <a:r>
              <a:rPr lang="zh-CN" altLang="zh-CN" sz="2000" b="1" dirty="0">
                <a:latin typeface="Times New Roman" panose="02020603050405020304" pitchFamily="18" charset="0"/>
                <a:ea typeface="华文楷体" panose="02010600040101010101" pitchFamily="2" charset="-122"/>
                <a:cs typeface="Times New Roman" panose="02020603050405020304" pitchFamily="18" charset="0"/>
              </a:rPr>
              <a:t>）法</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000" b="1"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000" b="1"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2090886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动态规划</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p:sp>
        <p:nvSpPr>
          <p:cNvPr id="10" name="矩形 9">
            <a:extLst>
              <a:ext uri="{FF2B5EF4-FFF2-40B4-BE49-F238E27FC236}">
                <a16:creationId xmlns:a16="http://schemas.microsoft.com/office/drawing/2014/main" id="{DE2FBF2F-F561-4A72-96C8-C936F885FAC2}"/>
              </a:ext>
            </a:extLst>
          </p:cNvPr>
          <p:cNvSpPr/>
          <p:nvPr/>
        </p:nvSpPr>
        <p:spPr>
          <a:xfrm>
            <a:off x="3022374" y="1345441"/>
            <a:ext cx="7529117" cy="461665"/>
          </a:xfrm>
          <a:prstGeom prst="rect">
            <a:avLst/>
          </a:prstGeom>
        </p:spPr>
        <p:txBody>
          <a:bodyPr wrap="square">
            <a:spAutoFit/>
          </a:bodyPr>
          <a:lstStyle/>
          <a:p>
            <a:pPr>
              <a:lnSpc>
                <a:spcPct val="150000"/>
              </a:lnSpc>
            </a:pPr>
            <a:r>
              <a:rPr lang="zh-CN" altLang="en-US" sz="1600" b="1" dirty="0">
                <a:solidFill>
                  <a:srgbClr val="C00000"/>
                </a:solidFill>
                <a:latin typeface="微软雅黑" panose="020B0503020204020204" pitchFamily="34" charset="-122"/>
                <a:ea typeface="微软雅黑" panose="020B0503020204020204" pitchFamily="34" charset="-122"/>
              </a:rPr>
              <a:t>基于动态规划的价值函数更新：使用迭代的方法求解贝尔曼方程组</a:t>
            </a:r>
            <a:endParaRPr lang="en-US" altLang="zh-CN" sz="1600" b="1" dirty="0">
              <a:solidFill>
                <a:srgbClr val="C0000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B16ED5ED-30C6-4078-9EB7-B7215077F17C}"/>
                  </a:ext>
                </a:extLst>
              </p:cNvPr>
              <p:cNvSpPr txBox="1"/>
              <p:nvPr/>
            </p:nvSpPr>
            <p:spPr>
              <a:xfrm>
                <a:off x="2648984" y="2351154"/>
                <a:ext cx="7065579" cy="1764329"/>
              </a:xfrm>
              <a:prstGeom prst="rect">
                <a:avLst/>
              </a:prstGeom>
              <a:noFill/>
              <a:ln>
                <a:solidFill>
                  <a:schemeClr val="tx1"/>
                </a:solidFill>
              </a:ln>
            </p:spPr>
            <p:txBody>
              <a:bodyPr wrap="square" rtlCol="0">
                <a:spAutoFit/>
              </a:bodyPr>
              <a:lstStyle/>
              <a:p>
                <a:r>
                  <a:rPr lang="zh-CN" altLang="en-US" dirty="0">
                    <a:ea typeface="黑体" pitchFamily="49" charset="-122"/>
                  </a:rPr>
                  <a:t>随机初始化每一个</a:t>
                </a:r>
                <a14:m>
                  <m:oMath xmlns:m="http://schemas.openxmlformats.org/officeDocument/2006/math">
                    <m:r>
                      <a:rPr lang="zh-CN" altLang="en-US" i="1" dirty="0">
                        <a:latin typeface="Cambria Math" panose="02040503050406030204" pitchFamily="18" charset="0"/>
                        <a:ea typeface="黑体" pitchFamily="49" charset="-122"/>
                      </a:rPr>
                      <m:t>状态</m:t>
                    </m:r>
                    <m:r>
                      <a:rPr lang="zh-CN" altLang="en-US" i="1" dirty="0" smtClean="0">
                        <a:latin typeface="Cambria Math" panose="02040503050406030204" pitchFamily="18" charset="0"/>
                        <a:ea typeface="黑体" pitchFamily="49" charset="-122"/>
                      </a:rPr>
                      <m:t>的</m:t>
                    </m:r>
                    <m:sSub>
                      <m:sSubPr>
                        <m:ctrlPr>
                          <a:rPr lang="en-US" altLang="zh-CN" i="1">
                            <a:latin typeface="Cambria Math" panose="02040503050406030204" pitchFamily="18" charset="0"/>
                            <a:ea typeface="黑体" pitchFamily="49" charset="-122"/>
                          </a:rPr>
                        </m:ctrlPr>
                      </m:sSubPr>
                      <m:e>
                        <m:r>
                          <a:rPr lang="en-US" altLang="zh-CN" i="1">
                            <a:latin typeface="Cambria Math" panose="02040503050406030204" pitchFamily="18" charset="0"/>
                            <a:ea typeface="黑体" pitchFamily="49" charset="-122"/>
                          </a:rPr>
                          <m:t>𝑉</m:t>
                        </m:r>
                      </m:e>
                      <m:sub>
                        <m:r>
                          <a:rPr lang="en-US" altLang="zh-CN" i="1">
                            <a:latin typeface="Cambria Math" panose="02040503050406030204" pitchFamily="18" charset="0"/>
                            <a:ea typeface="黑体" pitchFamily="49" charset="-122"/>
                          </a:rPr>
                          <m:t>𝜋</m:t>
                        </m:r>
                      </m:sub>
                    </m:sSub>
                    <m:d>
                      <m:dPr>
                        <m:ctrlPr>
                          <a:rPr lang="en-US" altLang="zh-CN" i="1">
                            <a:latin typeface="Cambria Math" panose="02040503050406030204" pitchFamily="18" charset="0"/>
                            <a:ea typeface="黑体" pitchFamily="49" charset="-122"/>
                          </a:rPr>
                        </m:ctrlPr>
                      </m:dPr>
                      <m:e>
                        <m:r>
                          <a:rPr lang="en-US" altLang="zh-CN" i="1">
                            <a:latin typeface="Cambria Math" panose="02040503050406030204" pitchFamily="18" charset="0"/>
                            <a:ea typeface="黑体" pitchFamily="49" charset="-122"/>
                          </a:rPr>
                          <m:t>𝑠</m:t>
                        </m:r>
                      </m:e>
                    </m:d>
                    <m:r>
                      <a:rPr lang="zh-CN" altLang="en-US" i="1" smtClean="0">
                        <a:latin typeface="Cambria Math" panose="02040503050406030204" pitchFamily="18" charset="0"/>
                        <a:ea typeface="黑体" pitchFamily="49" charset="-122"/>
                      </a:rPr>
                      <m:t>（</m:t>
                    </m:r>
                  </m:oMath>
                </a14:m>
                <a:r>
                  <a:rPr lang="zh-CN" altLang="en-US" dirty="0">
                    <a:ea typeface="黑体" pitchFamily="49" charset="-122"/>
                  </a:rPr>
                  <a:t>如均为</a:t>
                </a:r>
                <a:r>
                  <a:rPr lang="en-US" altLang="zh-CN" dirty="0">
                    <a:ea typeface="黑体" pitchFamily="49" charset="-122"/>
                  </a:rPr>
                  <a:t>0</a:t>
                </a:r>
                <a:r>
                  <a:rPr lang="zh-CN" altLang="en-US" dirty="0">
                    <a:ea typeface="黑体" pitchFamily="49" charset="-122"/>
                  </a:rPr>
                  <a:t>）</a:t>
                </a:r>
                <a:endParaRPr lang="en-US" altLang="zh-CN" dirty="0">
                  <a:ea typeface="黑体" pitchFamily="49" charset="-122"/>
                </a:endParaRPr>
              </a:p>
              <a:p>
                <a:r>
                  <a:rPr lang="zh-CN" altLang="en-US" dirty="0">
                    <a:ea typeface="黑体" pitchFamily="49" charset="-122"/>
                  </a:rPr>
                  <a:t>循环</a:t>
                </a:r>
                <a:endParaRPr lang="en-US" altLang="zh-CN" dirty="0">
                  <a:ea typeface="黑体" pitchFamily="49" charset="-122"/>
                </a:endParaRPr>
              </a:p>
              <a:p>
                <a:r>
                  <a:rPr lang="en-US" altLang="zh-CN" dirty="0">
                    <a:ea typeface="黑体" pitchFamily="49" charset="-122"/>
                  </a:rPr>
                  <a:t>        </a:t>
                </a:r>
                <a:r>
                  <a:rPr lang="zh-CN" altLang="en-US" dirty="0">
                    <a:ea typeface="黑体" pitchFamily="49" charset="-122"/>
                  </a:rPr>
                  <a:t>枚举</a:t>
                </a:r>
                <a14:m>
                  <m:oMath xmlns:m="http://schemas.openxmlformats.org/officeDocument/2006/math">
                    <m:r>
                      <a:rPr lang="en-US" altLang="zh-CN" b="0" i="1" smtClean="0">
                        <a:latin typeface="Cambria Math" panose="02040503050406030204" pitchFamily="18" charset="0"/>
                        <a:ea typeface="黑体" pitchFamily="49" charset="-122"/>
                      </a:rPr>
                      <m:t>𝑠</m:t>
                    </m:r>
                    <m:r>
                      <a:rPr lang="en-US" altLang="zh-CN" b="0" i="1" smtClean="0">
                        <a:latin typeface="Cambria Math" panose="02040503050406030204" pitchFamily="18" charset="0"/>
                        <a:ea typeface="黑体" pitchFamily="49" charset="-122"/>
                      </a:rPr>
                      <m:t>∈</m:t>
                    </m:r>
                    <m:r>
                      <a:rPr lang="en-US" altLang="zh-CN" b="0" i="1" smtClean="0">
                        <a:latin typeface="Cambria Math" panose="02040503050406030204" pitchFamily="18" charset="0"/>
                        <a:ea typeface="黑体" pitchFamily="49" charset="-122"/>
                      </a:rPr>
                      <m:t>𝑆</m:t>
                    </m:r>
                  </m:oMath>
                </a14:m>
                <a:endParaRPr lang="en-US" altLang="zh-CN" dirty="0">
                  <a:ea typeface="黑体" pitchFamily="49" charset="-122"/>
                </a:endParaRPr>
              </a:p>
              <a:p>
                <a:r>
                  <a:rPr lang="en-US" altLang="zh-CN" dirty="0">
                    <a:ea typeface="黑体" pitchFamily="49" charset="-122"/>
                  </a:rPr>
                  <a:t>                </a:t>
                </a:r>
                <a14:m>
                  <m:oMath xmlns:m="http://schemas.openxmlformats.org/officeDocument/2006/math">
                    <m:sSub>
                      <m:sSubPr>
                        <m:ctrlPr>
                          <a:rPr lang="en-US" altLang="zh-CN" b="0" i="1" smtClean="0">
                            <a:latin typeface="Cambria Math" panose="02040503050406030204" pitchFamily="18" charset="0"/>
                            <a:ea typeface="黑体" pitchFamily="49" charset="-122"/>
                          </a:rPr>
                        </m:ctrlPr>
                      </m:sSubPr>
                      <m:e>
                        <m:r>
                          <a:rPr lang="en-US" altLang="zh-CN" b="0" i="1" smtClean="0">
                            <a:latin typeface="Cambria Math" panose="02040503050406030204" pitchFamily="18" charset="0"/>
                            <a:ea typeface="黑体" pitchFamily="49" charset="-122"/>
                          </a:rPr>
                          <m:t>𝑉</m:t>
                        </m:r>
                      </m:e>
                      <m:sub>
                        <m:r>
                          <a:rPr lang="en-US" altLang="zh-CN" b="0" i="1" smtClean="0">
                            <a:latin typeface="Cambria Math" panose="02040503050406030204" pitchFamily="18" charset="0"/>
                            <a:ea typeface="黑体" pitchFamily="49" charset="-122"/>
                          </a:rPr>
                          <m:t>𝜋</m:t>
                        </m:r>
                      </m:sub>
                    </m:sSub>
                    <m:d>
                      <m:dPr>
                        <m:ctrlPr>
                          <a:rPr lang="en-US" altLang="zh-CN" b="0" i="1" smtClean="0">
                            <a:latin typeface="Cambria Math" panose="02040503050406030204" pitchFamily="18" charset="0"/>
                            <a:ea typeface="黑体" pitchFamily="49" charset="-122"/>
                          </a:rPr>
                        </m:ctrlPr>
                      </m:dPr>
                      <m:e>
                        <m:r>
                          <a:rPr lang="en-US" altLang="zh-CN" b="0" i="1" smtClean="0">
                            <a:latin typeface="Cambria Math" panose="02040503050406030204" pitchFamily="18" charset="0"/>
                            <a:ea typeface="黑体" pitchFamily="49" charset="-122"/>
                          </a:rPr>
                          <m:t>𝑠</m:t>
                        </m:r>
                      </m:e>
                    </m:d>
                    <m:r>
                      <a:rPr lang="en-US" altLang="zh-CN" b="0" i="1" smtClean="0">
                        <a:latin typeface="Cambria Math" panose="02040503050406030204" pitchFamily="18" charset="0"/>
                        <a:ea typeface="黑体" pitchFamily="49" charset="-122"/>
                      </a:rPr>
                      <m:t>←</m:t>
                    </m:r>
                    <m:nary>
                      <m:naryPr>
                        <m:chr m:val="∑"/>
                        <m:supHide m:val="on"/>
                        <m:ctrlPr>
                          <a:rPr lang="en-US" altLang="zh-CN" i="1">
                            <a:latin typeface="Cambria Math" panose="02040503050406030204" pitchFamily="18" charset="0"/>
                            <a:ea typeface="黑体" panose="02010609060101010101" pitchFamily="49" charset="-122"/>
                          </a:rPr>
                        </m:ctrlPr>
                      </m:naryPr>
                      <m:sub>
                        <m:r>
                          <a:rPr lang="en-US" altLang="zh-CN" i="1">
                            <a:latin typeface="Cambria Math" panose="02040503050406030204" pitchFamily="18" charset="0"/>
                            <a:ea typeface="黑体" panose="02010609060101010101" pitchFamily="49" charset="-122"/>
                          </a:rPr>
                          <m:t>𝑎</m:t>
                        </m:r>
                        <m:r>
                          <a:rPr lang="en-US" altLang="zh-CN" i="1">
                            <a:latin typeface="Cambria Math" panose="02040503050406030204" pitchFamily="18" charset="0"/>
                            <a:ea typeface="黑体" panose="02010609060101010101" pitchFamily="49" charset="-122"/>
                          </a:rPr>
                          <m:t>∈</m:t>
                        </m:r>
                        <m:r>
                          <a:rPr lang="en-US" altLang="zh-CN" i="1">
                            <a:latin typeface="Cambria Math" panose="02040503050406030204" pitchFamily="18" charset="0"/>
                            <a:ea typeface="黑体" panose="02010609060101010101" pitchFamily="49" charset="-122"/>
                          </a:rPr>
                          <m:t>𝐴</m:t>
                        </m:r>
                      </m:sub>
                      <m:sup/>
                      <m:e>
                        <m:r>
                          <a:rPr lang="en-US" altLang="zh-CN" i="1">
                            <a:latin typeface="Cambria Math" panose="02040503050406030204" pitchFamily="18" charset="0"/>
                            <a:ea typeface="黑体" panose="02010609060101010101" pitchFamily="49" charset="-122"/>
                          </a:rPr>
                          <m:t>𝜋</m:t>
                        </m:r>
                        <m:d>
                          <m:dPr>
                            <m:ctrlPr>
                              <a:rPr lang="en-US" altLang="zh-CN" i="1">
                                <a:latin typeface="Cambria Math" panose="02040503050406030204" pitchFamily="18" charset="0"/>
                                <a:ea typeface="黑体" panose="02010609060101010101" pitchFamily="49" charset="-122"/>
                              </a:rPr>
                            </m:ctrlPr>
                          </m:dPr>
                          <m:e>
                            <m:r>
                              <a:rPr lang="en-US" altLang="zh-CN" i="1">
                                <a:latin typeface="Cambria Math" panose="02040503050406030204" pitchFamily="18" charset="0"/>
                                <a:ea typeface="黑体" panose="02010609060101010101" pitchFamily="49" charset="-122"/>
                              </a:rPr>
                              <m:t>𝑠</m:t>
                            </m:r>
                            <m:r>
                              <a:rPr lang="en-US" altLang="zh-CN" i="1">
                                <a:latin typeface="Cambria Math" panose="02040503050406030204" pitchFamily="18" charset="0"/>
                                <a:ea typeface="黑体" panose="02010609060101010101" pitchFamily="49" charset="-122"/>
                              </a:rPr>
                              <m:t>,</m:t>
                            </m:r>
                            <m:r>
                              <a:rPr lang="en-US" altLang="zh-CN" i="1">
                                <a:latin typeface="Cambria Math" panose="02040503050406030204" pitchFamily="18" charset="0"/>
                                <a:ea typeface="黑体" panose="02010609060101010101" pitchFamily="49" charset="-122"/>
                              </a:rPr>
                              <m:t>𝑎</m:t>
                            </m:r>
                          </m:e>
                        </m:d>
                        <m:nary>
                          <m:naryPr>
                            <m:chr m:val="∑"/>
                            <m:supHide m:val="on"/>
                            <m:ctrlPr>
                              <a:rPr lang="en-US" altLang="zh-CN" i="1">
                                <a:latin typeface="Cambria Math" panose="02040503050406030204" pitchFamily="18" charset="0"/>
                                <a:ea typeface="黑体" panose="02010609060101010101" pitchFamily="49" charset="-122"/>
                              </a:rPr>
                            </m:ctrlPr>
                          </m:naryPr>
                          <m:sub>
                            <m:sSup>
                              <m:sSupPr>
                                <m:ctrlPr>
                                  <a:rPr lang="en-US" altLang="zh-CN" i="1">
                                    <a:latin typeface="Cambria Math" panose="02040503050406030204" pitchFamily="18" charset="0"/>
                                    <a:ea typeface="黑体" panose="02010609060101010101" pitchFamily="49" charset="-122"/>
                                  </a:rPr>
                                </m:ctrlPr>
                              </m:sSupPr>
                              <m:e>
                                <m:r>
                                  <a:rPr lang="en-US" altLang="zh-CN" i="1">
                                    <a:latin typeface="Cambria Math" panose="02040503050406030204" pitchFamily="18" charset="0"/>
                                    <a:ea typeface="黑体" panose="02010609060101010101" pitchFamily="49" charset="-122"/>
                                  </a:rPr>
                                  <m:t>𝑠</m:t>
                                </m:r>
                              </m:e>
                              <m:sup>
                                <m:r>
                                  <a:rPr lang="en-US" altLang="zh-CN" i="1">
                                    <a:latin typeface="Cambria Math" panose="02040503050406030204" pitchFamily="18" charset="0"/>
                                    <a:ea typeface="黑体" panose="02010609060101010101" pitchFamily="49" charset="-122"/>
                                  </a:rPr>
                                  <m:t>′</m:t>
                                </m:r>
                              </m:sup>
                            </m:sSup>
                            <m:r>
                              <a:rPr lang="en-US" altLang="zh-CN" i="1">
                                <a:latin typeface="Cambria Math" panose="02040503050406030204" pitchFamily="18" charset="0"/>
                                <a:ea typeface="黑体" panose="02010609060101010101" pitchFamily="49" charset="-122"/>
                              </a:rPr>
                              <m:t>∈</m:t>
                            </m:r>
                            <m:r>
                              <a:rPr lang="en-US" altLang="zh-CN" i="1">
                                <a:latin typeface="Cambria Math" panose="02040503050406030204" pitchFamily="18" charset="0"/>
                                <a:ea typeface="黑体" panose="02010609060101010101" pitchFamily="49" charset="-122"/>
                              </a:rPr>
                              <m:t>𝑆</m:t>
                            </m:r>
                          </m:sub>
                          <m:sup/>
                          <m:e>
                            <m:r>
                              <a:rPr lang="en-US" altLang="zh-CN" i="1">
                                <a:latin typeface="Cambria Math" panose="02040503050406030204" pitchFamily="18" charset="0"/>
                                <a:ea typeface="黑体" panose="02010609060101010101" pitchFamily="49" charset="-122"/>
                              </a:rPr>
                              <m:t>𝑃𝑟</m:t>
                            </m:r>
                            <m:r>
                              <a:rPr lang="en-US" altLang="zh-CN" i="1">
                                <a:latin typeface="Cambria Math" panose="02040503050406030204" pitchFamily="18" charset="0"/>
                                <a:ea typeface="黑体" panose="02010609060101010101" pitchFamily="49" charset="-122"/>
                              </a:rPr>
                              <m:t>(</m:t>
                            </m:r>
                            <m:sSup>
                              <m:sSupPr>
                                <m:ctrlPr>
                                  <a:rPr lang="en-US" altLang="zh-CN" i="1">
                                    <a:latin typeface="Cambria Math" panose="02040503050406030204" pitchFamily="18" charset="0"/>
                                    <a:ea typeface="黑体" panose="02010609060101010101" pitchFamily="49" charset="-122"/>
                                  </a:rPr>
                                </m:ctrlPr>
                              </m:sSupPr>
                              <m:e>
                                <m:r>
                                  <a:rPr lang="en-US" altLang="zh-CN" i="1">
                                    <a:latin typeface="Cambria Math" panose="02040503050406030204" pitchFamily="18" charset="0"/>
                                    <a:ea typeface="黑体" panose="02010609060101010101" pitchFamily="49" charset="-122"/>
                                  </a:rPr>
                                  <m:t>𝑠</m:t>
                                </m:r>
                              </m:e>
                              <m:sup>
                                <m:r>
                                  <a:rPr lang="en-US" altLang="zh-CN" i="1">
                                    <a:latin typeface="Cambria Math" panose="02040503050406030204" pitchFamily="18" charset="0"/>
                                    <a:ea typeface="黑体" panose="02010609060101010101" pitchFamily="49" charset="-122"/>
                                  </a:rPr>
                                  <m:t>′</m:t>
                                </m:r>
                              </m:sup>
                            </m:sSup>
                            <m:r>
                              <a:rPr lang="en-US" altLang="zh-CN" i="1">
                                <a:latin typeface="Cambria Math" panose="02040503050406030204" pitchFamily="18" charset="0"/>
                                <a:ea typeface="黑体" panose="02010609060101010101" pitchFamily="49" charset="-122"/>
                              </a:rPr>
                              <m:t>|</m:t>
                            </m:r>
                            <m:r>
                              <a:rPr lang="en-US" altLang="zh-CN" i="1">
                                <a:latin typeface="Cambria Math" panose="02040503050406030204" pitchFamily="18" charset="0"/>
                                <a:ea typeface="黑体" panose="02010609060101010101" pitchFamily="49" charset="-122"/>
                              </a:rPr>
                              <m:t>𝑠</m:t>
                            </m:r>
                            <m:r>
                              <a:rPr lang="en-US" altLang="zh-CN" i="1">
                                <a:latin typeface="Cambria Math" panose="02040503050406030204" pitchFamily="18" charset="0"/>
                                <a:ea typeface="黑体" panose="02010609060101010101" pitchFamily="49" charset="-122"/>
                              </a:rPr>
                              <m:t>,</m:t>
                            </m:r>
                            <m:r>
                              <a:rPr lang="en-US" altLang="zh-CN" i="1">
                                <a:latin typeface="Cambria Math" panose="02040503050406030204" pitchFamily="18" charset="0"/>
                                <a:ea typeface="黑体" panose="02010609060101010101" pitchFamily="49" charset="-122"/>
                              </a:rPr>
                              <m:t>𝑎</m:t>
                            </m:r>
                            <m:r>
                              <a:rPr lang="en-US" altLang="zh-CN" i="1">
                                <a:latin typeface="Cambria Math" panose="02040503050406030204" pitchFamily="18" charset="0"/>
                                <a:ea typeface="黑体" panose="02010609060101010101" pitchFamily="49" charset="-122"/>
                              </a:rPr>
                              <m:t>)</m:t>
                            </m:r>
                          </m:e>
                        </m:nary>
                        <m:r>
                          <a:rPr lang="en-US" altLang="zh-CN" i="1">
                            <a:latin typeface="Cambria Math" panose="02040503050406030204" pitchFamily="18" charset="0"/>
                            <a:ea typeface="黑体" panose="02010609060101010101" pitchFamily="49" charset="-122"/>
                          </a:rPr>
                          <m:t>[</m:t>
                        </m:r>
                        <m:r>
                          <a:rPr lang="en-US" altLang="zh-CN" i="1">
                            <a:latin typeface="Cambria Math" panose="02040503050406030204" pitchFamily="18" charset="0"/>
                            <a:ea typeface="黑体" panose="02010609060101010101" pitchFamily="49" charset="-122"/>
                          </a:rPr>
                          <m:t>𝑅</m:t>
                        </m:r>
                        <m:d>
                          <m:dPr>
                            <m:ctrlPr>
                              <a:rPr lang="en-US" altLang="zh-CN" i="1">
                                <a:latin typeface="Cambria Math" panose="02040503050406030204" pitchFamily="18" charset="0"/>
                                <a:ea typeface="黑体" panose="02010609060101010101" pitchFamily="49" charset="-122"/>
                              </a:rPr>
                            </m:ctrlPr>
                          </m:dPr>
                          <m:e>
                            <m:r>
                              <a:rPr lang="en-US" altLang="zh-CN" i="1">
                                <a:latin typeface="Cambria Math" panose="02040503050406030204" pitchFamily="18" charset="0"/>
                                <a:ea typeface="黑体" panose="02010609060101010101" pitchFamily="49" charset="-122"/>
                              </a:rPr>
                              <m:t>𝑠</m:t>
                            </m:r>
                            <m:r>
                              <a:rPr lang="en-US" altLang="zh-CN" i="1">
                                <a:latin typeface="Cambria Math" panose="02040503050406030204" pitchFamily="18" charset="0"/>
                                <a:ea typeface="黑体" panose="02010609060101010101" pitchFamily="49" charset="-122"/>
                              </a:rPr>
                              <m:t>,</m:t>
                            </m:r>
                            <m:sSup>
                              <m:sSupPr>
                                <m:ctrlPr>
                                  <a:rPr lang="en-US" altLang="zh-CN" i="1">
                                    <a:latin typeface="Cambria Math" panose="02040503050406030204" pitchFamily="18" charset="0"/>
                                    <a:ea typeface="黑体" panose="02010609060101010101" pitchFamily="49" charset="-122"/>
                                  </a:rPr>
                                </m:ctrlPr>
                              </m:sSupPr>
                              <m:e>
                                <m:r>
                                  <a:rPr lang="en-US" altLang="zh-CN" i="1">
                                    <a:latin typeface="Cambria Math" panose="02040503050406030204" pitchFamily="18" charset="0"/>
                                    <a:ea typeface="黑体" panose="02010609060101010101" pitchFamily="49" charset="-122"/>
                                  </a:rPr>
                                  <m:t>𝑎</m:t>
                                </m:r>
                                <m:r>
                                  <a:rPr lang="en-US" altLang="zh-CN" i="1">
                                    <a:latin typeface="Cambria Math" panose="02040503050406030204" pitchFamily="18" charset="0"/>
                                    <a:ea typeface="黑体" panose="02010609060101010101" pitchFamily="49" charset="-122"/>
                                  </a:rPr>
                                  <m:t>,</m:t>
                                </m:r>
                                <m:r>
                                  <a:rPr lang="en-US" altLang="zh-CN" i="1">
                                    <a:latin typeface="Cambria Math" panose="02040503050406030204" pitchFamily="18" charset="0"/>
                                    <a:ea typeface="黑体" panose="02010609060101010101" pitchFamily="49" charset="-122"/>
                                  </a:rPr>
                                  <m:t>𝑠</m:t>
                                </m:r>
                              </m:e>
                              <m:sup>
                                <m:r>
                                  <a:rPr lang="en-US" altLang="zh-CN" i="1">
                                    <a:latin typeface="Cambria Math" panose="02040503050406030204" pitchFamily="18" charset="0"/>
                                    <a:ea typeface="黑体" panose="02010609060101010101" pitchFamily="49" charset="-122"/>
                                  </a:rPr>
                                  <m:t>′</m:t>
                                </m:r>
                              </m:sup>
                            </m:sSup>
                          </m:e>
                        </m:d>
                        <m:r>
                          <a:rPr lang="en-US" altLang="zh-CN" i="1">
                            <a:latin typeface="Cambria Math" panose="02040503050406030204" pitchFamily="18" charset="0"/>
                            <a:ea typeface="黑体" panose="02010609060101010101" pitchFamily="49" charset="-122"/>
                          </a:rPr>
                          <m:t>+</m:t>
                        </m:r>
                        <m:r>
                          <a:rPr lang="en-US" altLang="zh-CN" i="1">
                            <a:latin typeface="Cambria Math" panose="02040503050406030204" pitchFamily="18" charset="0"/>
                            <a:ea typeface="黑体" panose="02010609060101010101" pitchFamily="49" charset="-122"/>
                          </a:rPr>
                          <m:t>𝛾</m:t>
                        </m:r>
                        <m:sSub>
                          <m:sSubPr>
                            <m:ctrlPr>
                              <a:rPr lang="en-US" altLang="zh-CN" i="1">
                                <a:latin typeface="Cambria Math" panose="02040503050406030204" pitchFamily="18" charset="0"/>
                                <a:ea typeface="黑体" panose="02010609060101010101" pitchFamily="49" charset="-122"/>
                              </a:rPr>
                            </m:ctrlPr>
                          </m:sSubPr>
                          <m:e>
                            <m:r>
                              <a:rPr lang="en-US" altLang="zh-CN" i="1">
                                <a:latin typeface="Cambria Math" panose="02040503050406030204" pitchFamily="18" charset="0"/>
                                <a:ea typeface="黑体" panose="02010609060101010101" pitchFamily="49" charset="-122"/>
                              </a:rPr>
                              <m:t>𝑉</m:t>
                            </m:r>
                          </m:e>
                          <m:sub>
                            <m:r>
                              <a:rPr lang="en-US" altLang="zh-CN" i="1">
                                <a:latin typeface="Cambria Math" panose="02040503050406030204" pitchFamily="18" charset="0"/>
                                <a:ea typeface="黑体" panose="02010609060101010101" pitchFamily="49" charset="-122"/>
                              </a:rPr>
                              <m:t>𝜋</m:t>
                            </m:r>
                          </m:sub>
                        </m:sSub>
                        <m:d>
                          <m:dPr>
                            <m:ctrlPr>
                              <a:rPr lang="en-US" altLang="zh-CN" i="1">
                                <a:latin typeface="Cambria Math" panose="02040503050406030204" pitchFamily="18" charset="0"/>
                                <a:ea typeface="黑体" panose="02010609060101010101" pitchFamily="49" charset="-122"/>
                              </a:rPr>
                            </m:ctrlPr>
                          </m:dPr>
                          <m:e>
                            <m:sSup>
                              <m:sSupPr>
                                <m:ctrlPr>
                                  <a:rPr lang="en-US" altLang="zh-CN" i="1">
                                    <a:latin typeface="Cambria Math" panose="02040503050406030204" pitchFamily="18" charset="0"/>
                                    <a:ea typeface="黑体" panose="02010609060101010101" pitchFamily="49" charset="-122"/>
                                  </a:rPr>
                                </m:ctrlPr>
                              </m:sSupPr>
                              <m:e>
                                <m:r>
                                  <a:rPr lang="en-US" altLang="zh-CN" i="1">
                                    <a:latin typeface="Cambria Math" panose="02040503050406030204" pitchFamily="18" charset="0"/>
                                    <a:ea typeface="黑体" panose="02010609060101010101" pitchFamily="49" charset="-122"/>
                                  </a:rPr>
                                  <m:t>𝑠</m:t>
                                </m:r>
                              </m:e>
                              <m:sup>
                                <m:r>
                                  <a:rPr lang="en-US" altLang="zh-CN" i="1">
                                    <a:latin typeface="Cambria Math" panose="02040503050406030204" pitchFamily="18" charset="0"/>
                                    <a:ea typeface="黑体" panose="02010609060101010101" pitchFamily="49" charset="-122"/>
                                  </a:rPr>
                                  <m:t>′</m:t>
                                </m:r>
                              </m:sup>
                            </m:sSup>
                          </m:e>
                        </m:d>
                        <m:r>
                          <a:rPr lang="en-US" altLang="zh-CN" i="1">
                            <a:latin typeface="Cambria Math" panose="02040503050406030204" pitchFamily="18" charset="0"/>
                            <a:ea typeface="黑体" panose="02010609060101010101" pitchFamily="49" charset="-122"/>
                          </a:rPr>
                          <m:t>]</m:t>
                        </m:r>
                      </m:e>
                    </m:nary>
                  </m:oMath>
                </a14:m>
                <a:endParaRPr lang="en-US" altLang="zh-CN" dirty="0">
                  <a:ea typeface="黑体" panose="02010609060101010101" pitchFamily="49" charset="-122"/>
                </a:endParaRPr>
              </a:p>
              <a:p>
                <a:endParaRPr lang="en-US" altLang="zh-CN" dirty="0">
                  <a:ea typeface="黑体" panose="02010609060101010101" pitchFamily="49" charset="-122"/>
                </a:endParaRPr>
              </a:p>
              <a:p>
                <a:r>
                  <a:rPr lang="zh-CN" altLang="en-US" dirty="0">
                    <a:ea typeface="黑体" pitchFamily="49" charset="-122"/>
                  </a:rPr>
                  <a:t>直到</a:t>
                </a:r>
                <a14:m>
                  <m:oMath xmlns:m="http://schemas.openxmlformats.org/officeDocument/2006/math">
                    <m:sSub>
                      <m:sSubPr>
                        <m:ctrlPr>
                          <a:rPr lang="en-US" altLang="zh-CN" b="0" i="1" smtClean="0">
                            <a:latin typeface="Cambria Math" panose="02040503050406030204" pitchFamily="18" charset="0"/>
                            <a:ea typeface="黑体" pitchFamily="49" charset="-122"/>
                          </a:rPr>
                        </m:ctrlPr>
                      </m:sSubPr>
                      <m:e>
                        <m:r>
                          <a:rPr lang="en-US" altLang="zh-CN" b="0" i="1" smtClean="0">
                            <a:latin typeface="Cambria Math" panose="02040503050406030204" pitchFamily="18" charset="0"/>
                            <a:ea typeface="黑体" pitchFamily="49" charset="-122"/>
                          </a:rPr>
                          <m:t>𝑉</m:t>
                        </m:r>
                      </m:e>
                      <m:sub>
                        <m:r>
                          <a:rPr lang="en-US" altLang="zh-CN" b="0" i="1" smtClean="0">
                            <a:latin typeface="Cambria Math" panose="02040503050406030204" pitchFamily="18" charset="0"/>
                            <a:ea typeface="黑体" pitchFamily="49" charset="-122"/>
                          </a:rPr>
                          <m:t>𝜋</m:t>
                        </m:r>
                      </m:sub>
                    </m:sSub>
                    <m:r>
                      <a:rPr lang="zh-CN" altLang="en-US" i="1">
                        <a:latin typeface="Cambria Math" panose="02040503050406030204" pitchFamily="18" charset="0"/>
                        <a:ea typeface="黑体" pitchFamily="49" charset="-122"/>
                      </a:rPr>
                      <m:t>收敛</m:t>
                    </m:r>
                  </m:oMath>
                </a14:m>
                <a:endParaRPr lang="zh-CN" altLang="en-US" dirty="0">
                  <a:ea typeface="黑体" pitchFamily="49" charset="-122"/>
                </a:endParaRPr>
              </a:p>
            </p:txBody>
          </p:sp>
        </mc:Choice>
        <mc:Fallback xmlns="">
          <p:sp>
            <p:nvSpPr>
              <p:cNvPr id="11" name="文本框 10">
                <a:extLst>
                  <a:ext uri="{FF2B5EF4-FFF2-40B4-BE49-F238E27FC236}">
                    <a16:creationId xmlns:a16="http://schemas.microsoft.com/office/drawing/2014/main" id="{B16ED5ED-30C6-4078-9EB7-B7215077F17C}"/>
                  </a:ext>
                </a:extLst>
              </p:cNvPr>
              <p:cNvSpPr txBox="1">
                <a:spLocks noRot="1" noChangeAspect="1" noMove="1" noResize="1" noEditPoints="1" noAdjustHandles="1" noChangeArrowheads="1" noChangeShapeType="1" noTextEdit="1"/>
              </p:cNvSpPr>
              <p:nvPr/>
            </p:nvSpPr>
            <p:spPr>
              <a:xfrm>
                <a:off x="2648984" y="2351154"/>
                <a:ext cx="7065579" cy="1764329"/>
              </a:xfrm>
              <a:prstGeom prst="rect">
                <a:avLst/>
              </a:prstGeom>
              <a:blipFill>
                <a:blip r:embed="rId3"/>
                <a:stretch>
                  <a:fillRect l="-689" t="-2749" b="-6529"/>
                </a:stretch>
              </a:blipFill>
              <a:ln>
                <a:solidFill>
                  <a:schemeClr val="tx1"/>
                </a:solidFill>
              </a:ln>
            </p:spPr>
            <p:txBody>
              <a:bodyPr/>
              <a:lstStyle/>
              <a:p>
                <a:r>
                  <a:rPr lang="zh-CN" altLang="en-US">
                    <a:noFill/>
                  </a:rPr>
                  <a:t> </a:t>
                </a:r>
              </a:p>
            </p:txBody>
          </p:sp>
        </mc:Fallback>
      </mc:AlternateContent>
      <p:sp>
        <p:nvSpPr>
          <p:cNvPr id="15" name="矩形 14">
            <a:extLst>
              <a:ext uri="{FF2B5EF4-FFF2-40B4-BE49-F238E27FC236}">
                <a16:creationId xmlns:a16="http://schemas.microsoft.com/office/drawing/2014/main" id="{94BFED68-D686-4393-B8EF-6724AF6BF7AA}"/>
              </a:ext>
            </a:extLst>
          </p:cNvPr>
          <p:cNvSpPr/>
          <p:nvPr/>
        </p:nvSpPr>
        <p:spPr>
          <a:xfrm>
            <a:off x="1246537" y="5241755"/>
            <a:ext cx="10072468" cy="454035"/>
          </a:xfrm>
          <a:prstGeom prst="rect">
            <a:avLst/>
          </a:prstGeom>
        </p:spPr>
        <p:txBody>
          <a:bodyPr wrap="square">
            <a:spAutoFit/>
          </a:bodyPr>
          <a:lstStyle/>
          <a:p>
            <a:pPr>
              <a:lnSpc>
                <a:spcPct val="150000"/>
              </a:lnSpc>
            </a:pPr>
            <a:r>
              <a:rPr lang="zh-CN" altLang="en-US" b="1" dirty="0">
                <a:solidFill>
                  <a:schemeClr val="tx2"/>
                </a:solidFill>
                <a:latin typeface="Cambria Math" panose="02040503050406030204" pitchFamily="18" charset="0"/>
                <a:ea typeface="黑体" panose="02010609060101010101" pitchFamily="49" charset="-122"/>
              </a:rPr>
              <a:t>动态规划法的缺点：</a:t>
            </a:r>
            <a:r>
              <a:rPr lang="zh-CN" altLang="en-US" dirty="0">
                <a:latin typeface="Cambria Math" panose="02040503050406030204" pitchFamily="18" charset="0"/>
                <a:ea typeface="黑体" panose="02010609060101010101" pitchFamily="49" charset="-122"/>
              </a:rPr>
              <a:t>智能主体需要事先知道状态转移概率；无法处理状态集合大小无限的情况</a:t>
            </a:r>
            <a:endParaRPr lang="en-US" altLang="zh-CN" dirty="0">
              <a:latin typeface="Cambria Math" panose="02040503050406030204" pitchFamily="18" charset="0"/>
              <a:ea typeface="黑体" panose="02010609060101010101" pitchFamily="49" charset="-122"/>
            </a:endParaRPr>
          </a:p>
        </p:txBody>
      </p:sp>
      <p:sp>
        <p:nvSpPr>
          <p:cNvPr id="16" name="矩形 15">
            <a:extLst>
              <a:ext uri="{FF2B5EF4-FFF2-40B4-BE49-F238E27FC236}">
                <a16:creationId xmlns:a16="http://schemas.microsoft.com/office/drawing/2014/main" id="{A7DF6E67-5D40-4FA9-8610-0A192D54DDAA}"/>
              </a:ext>
            </a:extLst>
          </p:cNvPr>
          <p:cNvSpPr/>
          <p:nvPr/>
        </p:nvSpPr>
        <p:spPr>
          <a:xfrm>
            <a:off x="5601218" y="3144195"/>
            <a:ext cx="3760919" cy="419499"/>
          </a:xfrm>
          <a:prstGeom prst="rect">
            <a:avLst/>
          </a:prstGeom>
          <a:noFill/>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ea typeface="黑体" pitchFamily="49" charset="-122"/>
            </a:endParaRP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69155939-AD64-4269-BAD9-551942B3E9E2}"/>
                  </a:ext>
                </a:extLst>
              </p:cNvPr>
              <p:cNvSpPr txBox="1"/>
              <p:nvPr/>
            </p:nvSpPr>
            <p:spPr>
              <a:xfrm>
                <a:off x="7238335" y="2524767"/>
                <a:ext cx="82214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solidFill>
                                <a:srgbClr val="FF0000"/>
                              </a:solidFill>
                              <a:latin typeface="Cambria Math" panose="02040503050406030204" pitchFamily="18" charset="0"/>
                              <a:ea typeface="黑体" pitchFamily="49" charset="-122"/>
                            </a:rPr>
                          </m:ctrlPr>
                        </m:sSubPr>
                        <m:e>
                          <m:r>
                            <a:rPr lang="en-US" altLang="zh-CN" b="0" i="1" smtClean="0">
                              <a:solidFill>
                                <a:srgbClr val="FF0000"/>
                              </a:solidFill>
                              <a:latin typeface="Cambria Math" panose="02040503050406030204" pitchFamily="18" charset="0"/>
                              <a:ea typeface="黑体" pitchFamily="49" charset="-122"/>
                            </a:rPr>
                            <m:t>𝑞</m:t>
                          </m:r>
                        </m:e>
                        <m:sub>
                          <m:r>
                            <a:rPr lang="en-US" altLang="zh-CN" b="0" i="1" smtClean="0">
                              <a:solidFill>
                                <a:srgbClr val="FF0000"/>
                              </a:solidFill>
                              <a:latin typeface="Cambria Math" panose="02040503050406030204" pitchFamily="18" charset="0"/>
                              <a:ea typeface="黑体" pitchFamily="49" charset="-122"/>
                            </a:rPr>
                            <m:t>𝜋</m:t>
                          </m:r>
                        </m:sub>
                      </m:sSub>
                      <m:r>
                        <a:rPr lang="en-US" altLang="zh-CN" b="0" i="1" smtClean="0">
                          <a:solidFill>
                            <a:srgbClr val="FF0000"/>
                          </a:solidFill>
                          <a:latin typeface="Cambria Math" panose="02040503050406030204" pitchFamily="18" charset="0"/>
                          <a:ea typeface="黑体" pitchFamily="49" charset="-122"/>
                        </a:rPr>
                        <m:t>(</m:t>
                      </m:r>
                      <m:r>
                        <a:rPr lang="en-US" altLang="zh-CN" b="0" i="1" smtClean="0">
                          <a:solidFill>
                            <a:srgbClr val="FF0000"/>
                          </a:solidFill>
                          <a:latin typeface="Cambria Math" panose="02040503050406030204" pitchFamily="18" charset="0"/>
                          <a:ea typeface="黑体" pitchFamily="49" charset="-122"/>
                        </a:rPr>
                        <m:t>𝑠</m:t>
                      </m:r>
                      <m:r>
                        <a:rPr lang="en-US" altLang="zh-CN" b="0" i="1" smtClean="0">
                          <a:solidFill>
                            <a:srgbClr val="FF0000"/>
                          </a:solidFill>
                          <a:latin typeface="Cambria Math" panose="02040503050406030204" pitchFamily="18" charset="0"/>
                          <a:ea typeface="黑体" pitchFamily="49" charset="-122"/>
                        </a:rPr>
                        <m:t>,</m:t>
                      </m:r>
                      <m:r>
                        <a:rPr lang="en-US" altLang="zh-CN" b="0" i="1" smtClean="0">
                          <a:solidFill>
                            <a:srgbClr val="FF0000"/>
                          </a:solidFill>
                          <a:latin typeface="Cambria Math" panose="02040503050406030204" pitchFamily="18" charset="0"/>
                          <a:ea typeface="黑体" pitchFamily="49" charset="-122"/>
                        </a:rPr>
                        <m:t>𝑎</m:t>
                      </m:r>
                      <m:r>
                        <a:rPr lang="en-US" altLang="zh-CN" b="0" i="1" smtClean="0">
                          <a:solidFill>
                            <a:srgbClr val="FF0000"/>
                          </a:solidFill>
                          <a:latin typeface="Cambria Math" panose="02040503050406030204" pitchFamily="18" charset="0"/>
                          <a:ea typeface="黑体" pitchFamily="49" charset="-122"/>
                        </a:rPr>
                        <m:t>)</m:t>
                      </m:r>
                    </m:oMath>
                  </m:oMathPara>
                </a14:m>
                <a:endParaRPr lang="zh-CN" altLang="en-US" dirty="0">
                  <a:solidFill>
                    <a:srgbClr val="FF0000"/>
                  </a:solidFill>
                  <a:ea typeface="黑体" pitchFamily="49" charset="-122"/>
                </a:endParaRPr>
              </a:p>
            </p:txBody>
          </p:sp>
        </mc:Choice>
        <mc:Fallback xmlns="">
          <p:sp>
            <p:nvSpPr>
              <p:cNvPr id="17" name="文本框 16">
                <a:extLst>
                  <a:ext uri="{FF2B5EF4-FFF2-40B4-BE49-F238E27FC236}">
                    <a16:creationId xmlns:a16="http://schemas.microsoft.com/office/drawing/2014/main" id="{69155939-AD64-4269-BAD9-551942B3E9E2}"/>
                  </a:ext>
                </a:extLst>
              </p:cNvPr>
              <p:cNvSpPr txBox="1">
                <a:spLocks noRot="1" noChangeAspect="1" noMove="1" noResize="1" noEditPoints="1" noAdjustHandles="1" noChangeArrowheads="1" noChangeShapeType="1" noTextEdit="1"/>
              </p:cNvSpPr>
              <p:nvPr/>
            </p:nvSpPr>
            <p:spPr>
              <a:xfrm>
                <a:off x="7238335" y="2524767"/>
                <a:ext cx="822148" cy="276999"/>
              </a:xfrm>
              <a:prstGeom prst="rect">
                <a:avLst/>
              </a:prstGeom>
              <a:blipFill>
                <a:blip r:embed="rId4"/>
                <a:stretch>
                  <a:fillRect l="-6667" t="-2174" r="-9630" b="-32609"/>
                </a:stretch>
              </a:blipFill>
            </p:spPr>
            <p:txBody>
              <a:bodyPr/>
              <a:lstStyle/>
              <a:p>
                <a:r>
                  <a:rPr lang="zh-CN" altLang="en-US">
                    <a:noFill/>
                  </a:rPr>
                  <a:t> </a:t>
                </a:r>
              </a:p>
            </p:txBody>
          </p:sp>
        </mc:Fallback>
      </mc:AlternateContent>
      <p:sp>
        <p:nvSpPr>
          <p:cNvPr id="2" name="箭头: 上 1">
            <a:extLst>
              <a:ext uri="{FF2B5EF4-FFF2-40B4-BE49-F238E27FC236}">
                <a16:creationId xmlns:a16="http://schemas.microsoft.com/office/drawing/2014/main" id="{D8CE0C3E-8A29-48BB-B4D8-DD60D9452E8B}"/>
              </a:ext>
            </a:extLst>
          </p:cNvPr>
          <p:cNvSpPr/>
          <p:nvPr/>
        </p:nvSpPr>
        <p:spPr>
          <a:xfrm>
            <a:off x="7548590" y="2830973"/>
            <a:ext cx="201637" cy="210817"/>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8955DC71-3971-4B4D-9BFA-CA3F49FC0C2F}"/>
              </a:ext>
            </a:extLst>
          </p:cNvPr>
          <p:cNvSpPr/>
          <p:nvPr/>
        </p:nvSpPr>
        <p:spPr>
          <a:xfrm>
            <a:off x="7698845" y="2801766"/>
            <a:ext cx="723275" cy="307777"/>
          </a:xfrm>
          <a:prstGeom prst="rect">
            <a:avLst/>
          </a:prstGeom>
        </p:spPr>
        <p:txBody>
          <a:bodyPr wrap="none">
            <a:spAutoFit/>
          </a:bodyPr>
          <a:lstStyle/>
          <a:p>
            <a:r>
              <a:rPr lang="zh-CN" altLang="en-US" sz="1400" dirty="0">
                <a:latin typeface="Cambria Math" panose="02040503050406030204" pitchFamily="18" charset="0"/>
                <a:ea typeface="黑体" panose="02010609060101010101" pitchFamily="49" charset="-122"/>
              </a:rPr>
              <a:t>等同于</a:t>
            </a:r>
            <a:endParaRPr lang="zh-CN" altLang="en-US" sz="1400" dirty="0"/>
          </a:p>
        </p:txBody>
      </p:sp>
    </p:spTree>
    <p:extLst>
      <p:ext uri="{BB962C8B-B14F-4D97-AF65-F5344CB8AC3E}">
        <p14:creationId xmlns:p14="http://schemas.microsoft.com/office/powerpoint/2010/main" val="12074959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动态规划例子</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8037015F-210A-61DB-F66A-E6A53C045333}"/>
                  </a:ext>
                </a:extLst>
              </p:cNvPr>
              <p:cNvGraphicFramePr>
                <a:graphicFrameLocks noGrp="1"/>
              </p:cNvGraphicFramePr>
              <p:nvPr>
                <p:extLst>
                  <p:ext uri="{D42A27DB-BD31-4B8C-83A1-F6EECF244321}">
                    <p14:modId xmlns:p14="http://schemas.microsoft.com/office/powerpoint/2010/main" val="3819068899"/>
                  </p:ext>
                </p:extLst>
              </p:nvPr>
            </p:nvGraphicFramePr>
            <p:xfrm>
              <a:off x="325120" y="1616648"/>
              <a:ext cx="2861452" cy="3050464"/>
            </p:xfrm>
            <a:graphic>
              <a:graphicData uri="http://schemas.openxmlformats.org/drawingml/2006/table">
                <a:tbl>
                  <a:tblPr firstRow="1" bandRow="1">
                    <a:tableStyleId>{5C22544A-7EE6-4342-B048-85BDC9FD1C3A}</a:tableStyleId>
                  </a:tblPr>
                  <a:tblGrid>
                    <a:gridCol w="715363">
                      <a:extLst>
                        <a:ext uri="{9D8B030D-6E8A-4147-A177-3AD203B41FA5}">
                          <a16:colId xmlns:a16="http://schemas.microsoft.com/office/drawing/2014/main" val="1670238766"/>
                        </a:ext>
                      </a:extLst>
                    </a:gridCol>
                    <a:gridCol w="715363">
                      <a:extLst>
                        <a:ext uri="{9D8B030D-6E8A-4147-A177-3AD203B41FA5}">
                          <a16:colId xmlns:a16="http://schemas.microsoft.com/office/drawing/2014/main" val="3056630588"/>
                        </a:ext>
                      </a:extLst>
                    </a:gridCol>
                    <a:gridCol w="715363">
                      <a:extLst>
                        <a:ext uri="{9D8B030D-6E8A-4147-A177-3AD203B41FA5}">
                          <a16:colId xmlns:a16="http://schemas.microsoft.com/office/drawing/2014/main" val="4090804096"/>
                        </a:ext>
                      </a:extLst>
                    </a:gridCol>
                    <a:gridCol w="715363">
                      <a:extLst>
                        <a:ext uri="{9D8B030D-6E8A-4147-A177-3AD203B41FA5}">
                          <a16:colId xmlns:a16="http://schemas.microsoft.com/office/drawing/2014/main" val="2301106234"/>
                        </a:ext>
                      </a:extLst>
                    </a:gridCol>
                  </a:tblGrid>
                  <a:tr h="762616">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pitchFamily="18" charset="0"/>
                                        <a:ea typeface="黑体" panose="02010609060101010101" pitchFamily="49" charset="-122"/>
                                      </a:rPr>
                                      <m:t>𝑠</m:t>
                                    </m:r>
                                  </m:e>
                                  <m:sub>
                                    <m:r>
                                      <a:rPr lang="en-US" altLang="zh-CN" b="0" i="1" smtClean="0">
                                        <a:solidFill>
                                          <a:schemeClr val="tx1"/>
                                        </a:solidFill>
                                        <a:latin typeface="Cambria Math" panose="02040503050406030204" pitchFamily="18" charset="0"/>
                                        <a:ea typeface="黑体" panose="02010609060101010101" pitchFamily="49" charset="-122"/>
                                      </a:rPr>
                                      <m:t>4,4</m:t>
                                    </m:r>
                                  </m:sub>
                                </m:sSub>
                              </m:oMath>
                            </m:oMathPara>
                          </a14:m>
                          <a:endParaRPr lang="en-US" altLang="zh-CN" b="0" dirty="0">
                            <a:solidFill>
                              <a:schemeClr val="tx1"/>
                            </a:solidFill>
                          </a:endParaRPr>
                        </a:p>
                        <a:p>
                          <a:r>
                            <a:rPr lang="zh-CN" altLang="en-US" b="0" dirty="0">
                              <a:solidFill>
                                <a:schemeClr val="tx1"/>
                              </a:solidFill>
                            </a:rPr>
                            <a:t>终点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918515"/>
                      </a:ext>
                    </a:extLst>
                  </a:tr>
                  <a:tr h="762616">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4319969"/>
                      </a:ext>
                    </a:extLst>
                  </a:tr>
                  <a:tr h="762616">
                    <a:tc>
                      <a:txBody>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pitchFamily="18" charset="0"/>
                                        <a:ea typeface="黑体" panose="02010609060101010101" pitchFamily="49" charset="-122"/>
                                      </a:rPr>
                                      <m:t>𝑠</m:t>
                                    </m:r>
                                  </m:e>
                                  <m:sub>
                                    <m:r>
                                      <a:rPr lang="en-US" altLang="zh-CN" b="0" i="1" smtClean="0">
                                        <a:solidFill>
                                          <a:schemeClr val="tx1"/>
                                        </a:solidFill>
                                        <a:latin typeface="Cambria Math" panose="02040503050406030204" pitchFamily="18" charset="0"/>
                                        <a:ea typeface="黑体" panose="02010609060101010101" pitchFamily="49" charset="-122"/>
                                      </a:rPr>
                                      <m:t>2,1</m:t>
                                    </m:r>
                                  </m:sub>
                                </m:sSub>
                              </m:oMath>
                            </m:oMathPara>
                          </a14:m>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8835985"/>
                      </a:ext>
                    </a:extLst>
                  </a:tr>
                  <a:tr h="762616">
                    <a:tc>
                      <a:txBody>
                        <a:bodyPr/>
                        <a:lstStyle/>
                        <a:p>
                          <a:pPr algn="ctr"/>
                          <a14:m>
                            <m:oMath xmlns:m="http://schemas.openxmlformats.org/officeDocument/2006/math">
                              <m:sSub>
                                <m:sSubPr>
                                  <m:ctrlPr>
                                    <a:rPr lang="en-US" altLang="zh-CN" i="1" smtClean="0">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pitchFamily="18" charset="0"/>
                                      <a:ea typeface="黑体" panose="02010609060101010101" pitchFamily="49" charset="-122"/>
                                    </a:rPr>
                                    <m:t>𝑠</m:t>
                                  </m:r>
                                </m:e>
                                <m:sub>
                                  <m:r>
                                    <a:rPr lang="en-US" altLang="zh-CN" b="0" i="1" smtClean="0">
                                      <a:solidFill>
                                        <a:schemeClr val="tx1"/>
                                      </a:solidFill>
                                      <a:latin typeface="Cambria Math" panose="02040503050406030204" pitchFamily="18" charset="0"/>
                                      <a:ea typeface="黑体" panose="02010609060101010101" pitchFamily="49" charset="-122"/>
                                    </a:rPr>
                                    <m:t>1,1</m:t>
                                  </m:r>
                                </m:sub>
                              </m:sSub>
                            </m:oMath>
                          </a14:m>
                          <a:r>
                            <a:rPr lang="zh-CN" altLang="en-US" dirty="0">
                              <a:solidFill>
                                <a:schemeClr val="tx1"/>
                              </a:solidFill>
                            </a:rPr>
                            <a:t>起点</a:t>
                          </a:r>
                          <a:endParaRPr lang="en-US" altLang="zh-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pitchFamily="18" charset="0"/>
                                        <a:ea typeface="黑体" panose="02010609060101010101" pitchFamily="49" charset="-122"/>
                                      </a:rPr>
                                      <m:t>𝑠</m:t>
                                    </m:r>
                                  </m:e>
                                  <m:sub>
                                    <m:r>
                                      <a:rPr lang="en-US" altLang="zh-CN" b="0" i="1" smtClean="0">
                                        <a:solidFill>
                                          <a:schemeClr val="tx1"/>
                                        </a:solidFill>
                                        <a:latin typeface="Cambria Math" panose="02040503050406030204" pitchFamily="18" charset="0"/>
                                        <a:ea typeface="黑体" panose="02010609060101010101" pitchFamily="49" charset="-122"/>
                                      </a:rPr>
                                      <m:t>1,2</m:t>
                                    </m:r>
                                  </m:sub>
                                </m:sSub>
                              </m:oMath>
                            </m:oMathPara>
                          </a14:m>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657093"/>
                      </a:ext>
                    </a:extLst>
                  </a:tr>
                </a:tbl>
              </a:graphicData>
            </a:graphic>
          </p:graphicFrame>
        </mc:Choice>
        <mc:Fallback xmlns="">
          <p:graphicFrame>
            <p:nvGraphicFramePr>
              <p:cNvPr id="8" name="表格 7">
                <a:extLst>
                  <a:ext uri="{FF2B5EF4-FFF2-40B4-BE49-F238E27FC236}">
                    <a16:creationId xmlns:a16="http://schemas.microsoft.com/office/drawing/2014/main" id="{8037015F-210A-61DB-F66A-E6A53C045333}"/>
                  </a:ext>
                </a:extLst>
              </p:cNvPr>
              <p:cNvGraphicFramePr>
                <a:graphicFrameLocks noGrp="1"/>
              </p:cNvGraphicFramePr>
              <p:nvPr>
                <p:extLst>
                  <p:ext uri="{D42A27DB-BD31-4B8C-83A1-F6EECF244321}">
                    <p14:modId xmlns:p14="http://schemas.microsoft.com/office/powerpoint/2010/main" val="3819068899"/>
                  </p:ext>
                </p:extLst>
              </p:nvPr>
            </p:nvGraphicFramePr>
            <p:xfrm>
              <a:off x="325120" y="1616648"/>
              <a:ext cx="2861452" cy="3050464"/>
            </p:xfrm>
            <a:graphic>
              <a:graphicData uri="http://schemas.openxmlformats.org/drawingml/2006/table">
                <a:tbl>
                  <a:tblPr firstRow="1" bandRow="1">
                    <a:tableStyleId>{5C22544A-7EE6-4342-B048-85BDC9FD1C3A}</a:tableStyleId>
                  </a:tblPr>
                  <a:tblGrid>
                    <a:gridCol w="715363">
                      <a:extLst>
                        <a:ext uri="{9D8B030D-6E8A-4147-A177-3AD203B41FA5}">
                          <a16:colId xmlns:a16="http://schemas.microsoft.com/office/drawing/2014/main" val="1670238766"/>
                        </a:ext>
                      </a:extLst>
                    </a:gridCol>
                    <a:gridCol w="715363">
                      <a:extLst>
                        <a:ext uri="{9D8B030D-6E8A-4147-A177-3AD203B41FA5}">
                          <a16:colId xmlns:a16="http://schemas.microsoft.com/office/drawing/2014/main" val="3056630588"/>
                        </a:ext>
                      </a:extLst>
                    </a:gridCol>
                    <a:gridCol w="715363">
                      <a:extLst>
                        <a:ext uri="{9D8B030D-6E8A-4147-A177-3AD203B41FA5}">
                          <a16:colId xmlns:a16="http://schemas.microsoft.com/office/drawing/2014/main" val="4090804096"/>
                        </a:ext>
                      </a:extLst>
                    </a:gridCol>
                    <a:gridCol w="715363">
                      <a:extLst>
                        <a:ext uri="{9D8B030D-6E8A-4147-A177-3AD203B41FA5}">
                          <a16:colId xmlns:a16="http://schemas.microsoft.com/office/drawing/2014/main" val="2301106234"/>
                        </a:ext>
                      </a:extLst>
                    </a:gridCol>
                  </a:tblGrid>
                  <a:tr h="762616">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302564" t="-800" r="-1709" b="-302400"/>
                          </a:stretch>
                        </a:blipFill>
                      </a:tcPr>
                    </a:tc>
                    <a:extLst>
                      <a:ext uri="{0D108BD9-81ED-4DB2-BD59-A6C34878D82A}">
                        <a16:rowId xmlns:a16="http://schemas.microsoft.com/office/drawing/2014/main" val="94918515"/>
                      </a:ext>
                    </a:extLst>
                  </a:tr>
                  <a:tr h="762616">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4319969"/>
                      </a:ext>
                    </a:extLst>
                  </a:tr>
                  <a:tr h="762616">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847" t="-201600" r="-300000" b="-101600"/>
                          </a:stretch>
                        </a:blip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8835985"/>
                      </a:ext>
                    </a:extLst>
                  </a:tr>
                  <a:tr h="762616">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847" t="-301600" r="-300000" b="-1600"/>
                          </a:stretch>
                        </a:blip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01709" t="-301600" r="-202564" b="-1600"/>
                          </a:stretch>
                        </a:blip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657093"/>
                      </a:ext>
                    </a:extLst>
                  </a:tr>
                </a:tbl>
              </a:graphicData>
            </a:graphic>
          </p:graphicFrame>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6742E2F6-DFC7-DD9A-FB1E-8F8634496938}"/>
                  </a:ext>
                </a:extLst>
              </p:cNvPr>
              <p:cNvSpPr txBox="1"/>
              <p:nvPr/>
            </p:nvSpPr>
            <p:spPr>
              <a:xfrm>
                <a:off x="3489027" y="1484266"/>
                <a:ext cx="6096000" cy="369332"/>
              </a:xfrm>
              <a:prstGeom prst="rect">
                <a:avLst/>
              </a:prstGeom>
              <a:noFill/>
            </p:spPr>
            <p:txBody>
              <a:bodyPr wrap="square">
                <a:spAutoFit/>
              </a:bodyPr>
              <a:lstStyle/>
              <a:p>
                <a:pPr algn="l"/>
                <a:r>
                  <a:rPr lang="zh-CN" altLang="en-US" dirty="0">
                    <a:ea typeface="等线" panose="02010600030101010101" pitchFamily="2" charset="-122"/>
                    <a:cs typeface="Times New Roman" panose="02020603050405020304" pitchFamily="18" charset="0"/>
                  </a:rPr>
                  <a:t>一</a:t>
                </a:r>
                <a14:m>
                  <m:oMath xmlns:m="http://schemas.openxmlformats.org/officeDocument/2006/math">
                    <m:r>
                      <a:rPr lang="zh-CN" altLang="en-US" i="1">
                        <a:latin typeface="Cambria Math" panose="02040503050406030204" pitchFamily="18" charset="0"/>
                        <a:ea typeface="等线" panose="02010600030101010101" pitchFamily="2" charset="-122"/>
                        <a:cs typeface="Times New Roman" panose="02020603050405020304" pitchFamily="18" charset="0"/>
                      </a:rPr>
                      <m:t>、</m:t>
                    </m:r>
                    <m:r>
                      <a:rPr lang="en-US" altLang="zh-CN" i="1" smtClean="0">
                        <a:latin typeface="Cambria Math" panose="02040503050406030204" pitchFamily="18" charset="0"/>
                        <a:ea typeface="等线" panose="02010600030101010101" pitchFamily="2" charset="-122"/>
                        <a:cs typeface="Times New Roman" panose="02020603050405020304" pitchFamily="18" charset="0"/>
                      </a:rPr>
                      <m:t>𝑀𝐷𝑃</m:t>
                    </m:r>
                    <m:r>
                      <a:rPr lang="en-US" altLang="zh-CN" i="1" smtClean="0">
                        <a:latin typeface="Cambria Math" panose="02040503050406030204" pitchFamily="18" charset="0"/>
                        <a:ea typeface="等线" panose="02010600030101010101" pitchFamily="2" charset="-122"/>
                        <a:cs typeface="Times New Roman" panose="02020603050405020304" pitchFamily="18" charset="0"/>
                      </a:rPr>
                      <m:t>=(</m:t>
                    </m:r>
                    <m:r>
                      <a:rPr lang="en-US" altLang="zh-CN" i="1" smtClean="0">
                        <a:latin typeface="Cambria Math" panose="02040503050406030204" pitchFamily="18" charset="0"/>
                        <a:ea typeface="等线" panose="02010600030101010101" pitchFamily="2" charset="-122"/>
                        <a:cs typeface="Times New Roman" panose="02020603050405020304" pitchFamily="18" charset="0"/>
                      </a:rPr>
                      <m:t>𝑆</m:t>
                    </m:r>
                    <m:r>
                      <a:rPr lang="en-US" altLang="zh-CN" i="1" smtClean="0">
                        <a:latin typeface="Cambria Math" panose="02040503050406030204" pitchFamily="18" charset="0"/>
                        <a:ea typeface="等线" panose="02010600030101010101" pitchFamily="2" charset="-122"/>
                        <a:cs typeface="Times New Roman" panose="02020603050405020304" pitchFamily="18" charset="0"/>
                      </a:rPr>
                      <m:t>,</m:t>
                    </m:r>
                    <m:r>
                      <a:rPr lang="en-US" altLang="zh-CN" i="1" smtClean="0">
                        <a:latin typeface="Cambria Math" panose="02040503050406030204" pitchFamily="18" charset="0"/>
                        <a:ea typeface="等线" panose="02010600030101010101" pitchFamily="2" charset="-122"/>
                        <a:cs typeface="Times New Roman" panose="02020603050405020304" pitchFamily="18" charset="0"/>
                      </a:rPr>
                      <m:t>𝐴</m:t>
                    </m:r>
                    <m:r>
                      <a:rPr lang="en-US" altLang="zh-CN" i="1" smtClean="0">
                        <a:latin typeface="Cambria Math" panose="02040503050406030204" pitchFamily="18" charset="0"/>
                        <a:ea typeface="等线" panose="02010600030101010101" pitchFamily="2" charset="-122"/>
                        <a:cs typeface="Times New Roman" panose="02020603050405020304" pitchFamily="18" charset="0"/>
                      </a:rPr>
                      <m:t>,</m:t>
                    </m:r>
                    <m:r>
                      <a:rPr lang="en-US" altLang="zh-CN" i="1" smtClean="0">
                        <a:latin typeface="Cambria Math" panose="02040503050406030204" pitchFamily="18" charset="0"/>
                        <a:ea typeface="等线" panose="02010600030101010101" pitchFamily="2" charset="-122"/>
                        <a:cs typeface="Times New Roman" panose="02020603050405020304" pitchFamily="18" charset="0"/>
                      </a:rPr>
                      <m:t>𝑃</m:t>
                    </m:r>
                    <m:r>
                      <a:rPr lang="en-US" altLang="zh-CN" i="1" smtClean="0">
                        <a:latin typeface="Cambria Math" panose="02040503050406030204" pitchFamily="18" charset="0"/>
                        <a:ea typeface="等线" panose="02010600030101010101" pitchFamily="2" charset="-122"/>
                        <a:cs typeface="Times New Roman" panose="02020603050405020304" pitchFamily="18" charset="0"/>
                      </a:rPr>
                      <m:t>,</m:t>
                    </m:r>
                    <m:r>
                      <a:rPr lang="en-US" altLang="zh-CN" i="1" smtClean="0">
                        <a:latin typeface="Cambria Math" panose="02040503050406030204" pitchFamily="18" charset="0"/>
                        <a:ea typeface="等线" panose="02010600030101010101" pitchFamily="2" charset="-122"/>
                        <a:cs typeface="Times New Roman" panose="02020603050405020304" pitchFamily="18" charset="0"/>
                      </a:rPr>
                      <m:t>𝑅</m:t>
                    </m:r>
                    <m:r>
                      <a:rPr lang="en-US" altLang="zh-CN" i="1" smtClean="0">
                        <a:latin typeface="Cambria Math" panose="02040503050406030204" pitchFamily="18" charset="0"/>
                        <a:ea typeface="等线" panose="02010600030101010101" pitchFamily="2" charset="-122"/>
                        <a:cs typeface="Times New Roman" panose="02020603050405020304" pitchFamily="18" charset="0"/>
                      </a:rPr>
                      <m:t>,</m:t>
                    </m:r>
                    <m:r>
                      <a:rPr lang="en-US" altLang="zh-CN" i="1" smtClean="0">
                        <a:latin typeface="Cambria Math" panose="02040503050406030204" pitchFamily="18" charset="0"/>
                        <a:ea typeface="等线" panose="02010600030101010101" pitchFamily="2" charset="-122"/>
                        <a:cs typeface="Times New Roman" panose="02020603050405020304" pitchFamily="18" charset="0"/>
                      </a:rPr>
                      <m:t>𝛾</m:t>
                    </m:r>
                    <m:r>
                      <a:rPr lang="en-US" altLang="zh-CN" i="1" smtClean="0">
                        <a:latin typeface="Cambria Math" panose="02040503050406030204" pitchFamily="18" charset="0"/>
                        <a:ea typeface="等线" panose="02010600030101010101" pitchFamily="2" charset="-122"/>
                        <a:cs typeface="Times New Roman" panose="02020603050405020304" pitchFamily="18" charset="0"/>
                      </a:rPr>
                      <m:t>)</m:t>
                    </m:r>
                  </m:oMath>
                </a14:m>
                <a:r>
                  <a:rPr lang="zh-CN" altLang="en-US" b="1" i="0" dirty="0">
                    <a:solidFill>
                      <a:srgbClr val="000000"/>
                    </a:solidFill>
                    <a:effectLst/>
                    <a:latin typeface="Inter"/>
                  </a:rPr>
                  <a:t>模型</a:t>
                </a:r>
                <a:r>
                  <a:rPr lang="zh-CN" altLang="en-US" b="1" dirty="0">
                    <a:solidFill>
                      <a:srgbClr val="000000"/>
                    </a:solidFill>
                    <a:latin typeface="Inter"/>
                  </a:rPr>
                  <a:t>定义</a:t>
                </a:r>
                <a:endParaRPr lang="zh-CN" altLang="en-US" b="1" i="0" dirty="0">
                  <a:solidFill>
                    <a:srgbClr val="000000"/>
                  </a:solidFill>
                  <a:effectLst/>
                  <a:latin typeface="Inter"/>
                </a:endParaRPr>
              </a:p>
            </p:txBody>
          </p:sp>
        </mc:Choice>
        <mc:Fallback xmlns="">
          <p:sp>
            <p:nvSpPr>
              <p:cNvPr id="14" name="文本框 13">
                <a:extLst>
                  <a:ext uri="{FF2B5EF4-FFF2-40B4-BE49-F238E27FC236}">
                    <a16:creationId xmlns:a16="http://schemas.microsoft.com/office/drawing/2014/main" id="{6742E2F6-DFC7-DD9A-FB1E-8F8634496938}"/>
                  </a:ext>
                </a:extLst>
              </p:cNvPr>
              <p:cNvSpPr txBox="1">
                <a:spLocks noRot="1" noChangeAspect="1" noMove="1" noResize="1" noEditPoints="1" noAdjustHandles="1" noChangeArrowheads="1" noChangeShapeType="1" noTextEdit="1"/>
              </p:cNvSpPr>
              <p:nvPr/>
            </p:nvSpPr>
            <p:spPr>
              <a:xfrm>
                <a:off x="3489027" y="1484266"/>
                <a:ext cx="6096000" cy="369332"/>
              </a:xfrm>
              <a:prstGeom prst="rect">
                <a:avLst/>
              </a:prstGeom>
              <a:blipFill>
                <a:blip r:embed="rId4"/>
                <a:stretch>
                  <a:fillRect l="-800" t="-13115" b="-26230"/>
                </a:stretch>
              </a:blipFill>
            </p:spPr>
            <p:txBody>
              <a:bodyPr/>
              <a:lstStyle/>
              <a:p>
                <a:r>
                  <a:rPr lang="zh-CN" altLang="en-US">
                    <a:noFill/>
                  </a:rPr>
                  <a:t> </a:t>
                </a:r>
              </a:p>
            </p:txBody>
          </p:sp>
        </mc:Fallback>
      </mc:AlternateContent>
      <p:pic>
        <p:nvPicPr>
          <p:cNvPr id="19" name="图片 18">
            <a:extLst>
              <a:ext uri="{FF2B5EF4-FFF2-40B4-BE49-F238E27FC236}">
                <a16:creationId xmlns:a16="http://schemas.microsoft.com/office/drawing/2014/main" id="{49FC16AA-11C1-505F-39FE-48F4B2DE2525}"/>
              </a:ext>
            </a:extLst>
          </p:cNvPr>
          <p:cNvPicPr>
            <a:picLocks noChangeAspect="1"/>
          </p:cNvPicPr>
          <p:nvPr/>
        </p:nvPicPr>
        <p:blipFill>
          <a:blip r:embed="rId5"/>
          <a:stretch>
            <a:fillRect/>
          </a:stretch>
        </p:blipFill>
        <p:spPr>
          <a:xfrm>
            <a:off x="3489027" y="2112982"/>
            <a:ext cx="7609524" cy="4171429"/>
          </a:xfrm>
          <a:prstGeom prst="rect">
            <a:avLst/>
          </a:prstGeom>
        </p:spPr>
      </p:pic>
      <p:sp>
        <p:nvSpPr>
          <p:cNvPr id="20" name="矩形 19">
            <a:extLst>
              <a:ext uri="{FF2B5EF4-FFF2-40B4-BE49-F238E27FC236}">
                <a16:creationId xmlns:a16="http://schemas.microsoft.com/office/drawing/2014/main" id="{DF773FF6-9F2E-AFE5-C191-A742FE911A2E}"/>
              </a:ext>
            </a:extLst>
          </p:cNvPr>
          <p:cNvSpPr/>
          <p:nvPr/>
        </p:nvSpPr>
        <p:spPr>
          <a:xfrm>
            <a:off x="3294167" y="5251269"/>
            <a:ext cx="7713467" cy="1033142"/>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2288816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动态规划例子</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8037015F-210A-61DB-F66A-E6A53C045333}"/>
                  </a:ext>
                </a:extLst>
              </p:cNvPr>
              <p:cNvGraphicFramePr>
                <a:graphicFrameLocks noGrp="1"/>
              </p:cNvGraphicFramePr>
              <p:nvPr/>
            </p:nvGraphicFramePr>
            <p:xfrm>
              <a:off x="325120" y="1616648"/>
              <a:ext cx="2861452" cy="3050464"/>
            </p:xfrm>
            <a:graphic>
              <a:graphicData uri="http://schemas.openxmlformats.org/drawingml/2006/table">
                <a:tbl>
                  <a:tblPr firstRow="1" bandRow="1">
                    <a:tableStyleId>{5C22544A-7EE6-4342-B048-85BDC9FD1C3A}</a:tableStyleId>
                  </a:tblPr>
                  <a:tblGrid>
                    <a:gridCol w="715363">
                      <a:extLst>
                        <a:ext uri="{9D8B030D-6E8A-4147-A177-3AD203B41FA5}">
                          <a16:colId xmlns:a16="http://schemas.microsoft.com/office/drawing/2014/main" val="1670238766"/>
                        </a:ext>
                      </a:extLst>
                    </a:gridCol>
                    <a:gridCol w="715363">
                      <a:extLst>
                        <a:ext uri="{9D8B030D-6E8A-4147-A177-3AD203B41FA5}">
                          <a16:colId xmlns:a16="http://schemas.microsoft.com/office/drawing/2014/main" val="3056630588"/>
                        </a:ext>
                      </a:extLst>
                    </a:gridCol>
                    <a:gridCol w="715363">
                      <a:extLst>
                        <a:ext uri="{9D8B030D-6E8A-4147-A177-3AD203B41FA5}">
                          <a16:colId xmlns:a16="http://schemas.microsoft.com/office/drawing/2014/main" val="4090804096"/>
                        </a:ext>
                      </a:extLst>
                    </a:gridCol>
                    <a:gridCol w="715363">
                      <a:extLst>
                        <a:ext uri="{9D8B030D-6E8A-4147-A177-3AD203B41FA5}">
                          <a16:colId xmlns:a16="http://schemas.microsoft.com/office/drawing/2014/main" val="2301106234"/>
                        </a:ext>
                      </a:extLst>
                    </a:gridCol>
                  </a:tblGrid>
                  <a:tr h="762616">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pitchFamily="18" charset="0"/>
                                        <a:ea typeface="黑体" panose="02010609060101010101" pitchFamily="49" charset="-122"/>
                                      </a:rPr>
                                      <m:t>𝑠</m:t>
                                    </m:r>
                                  </m:e>
                                  <m:sub>
                                    <m:r>
                                      <a:rPr lang="en-US" altLang="zh-CN" b="0" i="1" smtClean="0">
                                        <a:solidFill>
                                          <a:schemeClr val="tx1"/>
                                        </a:solidFill>
                                        <a:latin typeface="Cambria Math" panose="02040503050406030204" pitchFamily="18" charset="0"/>
                                        <a:ea typeface="黑体" panose="02010609060101010101" pitchFamily="49" charset="-122"/>
                                      </a:rPr>
                                      <m:t>4,4</m:t>
                                    </m:r>
                                  </m:sub>
                                </m:sSub>
                              </m:oMath>
                            </m:oMathPara>
                          </a14:m>
                          <a:endParaRPr lang="en-US" altLang="zh-CN" b="0" dirty="0">
                            <a:solidFill>
                              <a:schemeClr val="tx1"/>
                            </a:solidFill>
                          </a:endParaRPr>
                        </a:p>
                        <a:p>
                          <a:r>
                            <a:rPr lang="zh-CN" altLang="en-US" b="0" dirty="0">
                              <a:solidFill>
                                <a:schemeClr val="tx1"/>
                              </a:solidFill>
                            </a:rPr>
                            <a:t>终点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918515"/>
                      </a:ext>
                    </a:extLst>
                  </a:tr>
                  <a:tr h="762616">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4319969"/>
                      </a:ext>
                    </a:extLst>
                  </a:tr>
                  <a:tr h="762616">
                    <a:tc>
                      <a:txBody>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pitchFamily="18" charset="0"/>
                                        <a:ea typeface="黑体" panose="02010609060101010101" pitchFamily="49" charset="-122"/>
                                      </a:rPr>
                                      <m:t>𝑠</m:t>
                                    </m:r>
                                  </m:e>
                                  <m:sub>
                                    <m:r>
                                      <a:rPr lang="en-US" altLang="zh-CN" b="0" i="1" smtClean="0">
                                        <a:solidFill>
                                          <a:schemeClr val="tx1"/>
                                        </a:solidFill>
                                        <a:latin typeface="Cambria Math" panose="02040503050406030204" pitchFamily="18" charset="0"/>
                                        <a:ea typeface="黑体" panose="02010609060101010101" pitchFamily="49" charset="-122"/>
                                      </a:rPr>
                                      <m:t>2,1</m:t>
                                    </m:r>
                                  </m:sub>
                                </m:sSub>
                              </m:oMath>
                            </m:oMathPara>
                          </a14:m>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8835985"/>
                      </a:ext>
                    </a:extLst>
                  </a:tr>
                  <a:tr h="762616">
                    <a:tc>
                      <a:txBody>
                        <a:bodyPr/>
                        <a:lstStyle/>
                        <a:p>
                          <a:pPr algn="ctr"/>
                          <a14:m>
                            <m:oMath xmlns:m="http://schemas.openxmlformats.org/officeDocument/2006/math">
                              <m:sSub>
                                <m:sSubPr>
                                  <m:ctrlPr>
                                    <a:rPr lang="en-US" altLang="zh-CN" i="1" smtClean="0">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pitchFamily="18" charset="0"/>
                                      <a:ea typeface="黑体" panose="02010609060101010101" pitchFamily="49" charset="-122"/>
                                    </a:rPr>
                                    <m:t>𝑠</m:t>
                                  </m:r>
                                </m:e>
                                <m:sub>
                                  <m:r>
                                    <a:rPr lang="en-US" altLang="zh-CN" b="0" i="1" smtClean="0">
                                      <a:solidFill>
                                        <a:schemeClr val="tx1"/>
                                      </a:solidFill>
                                      <a:latin typeface="Cambria Math" panose="02040503050406030204" pitchFamily="18" charset="0"/>
                                      <a:ea typeface="黑体" panose="02010609060101010101" pitchFamily="49" charset="-122"/>
                                    </a:rPr>
                                    <m:t>1,1</m:t>
                                  </m:r>
                                </m:sub>
                              </m:sSub>
                            </m:oMath>
                          </a14:m>
                          <a:r>
                            <a:rPr lang="zh-CN" altLang="en-US" dirty="0">
                              <a:solidFill>
                                <a:schemeClr val="tx1"/>
                              </a:solidFill>
                            </a:rPr>
                            <a:t>起点</a:t>
                          </a:r>
                          <a:endParaRPr lang="en-US" altLang="zh-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pitchFamily="18" charset="0"/>
                                        <a:ea typeface="黑体" panose="02010609060101010101" pitchFamily="49" charset="-122"/>
                                      </a:rPr>
                                      <m:t>𝑠</m:t>
                                    </m:r>
                                  </m:e>
                                  <m:sub>
                                    <m:r>
                                      <a:rPr lang="en-US" altLang="zh-CN" b="0" i="1" smtClean="0">
                                        <a:solidFill>
                                          <a:schemeClr val="tx1"/>
                                        </a:solidFill>
                                        <a:latin typeface="Cambria Math" panose="02040503050406030204" pitchFamily="18" charset="0"/>
                                        <a:ea typeface="黑体" panose="02010609060101010101" pitchFamily="49" charset="-122"/>
                                      </a:rPr>
                                      <m:t>1,2</m:t>
                                    </m:r>
                                  </m:sub>
                                </m:sSub>
                              </m:oMath>
                            </m:oMathPara>
                          </a14:m>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657093"/>
                      </a:ext>
                    </a:extLst>
                  </a:tr>
                </a:tbl>
              </a:graphicData>
            </a:graphic>
          </p:graphicFrame>
        </mc:Choice>
        <mc:Fallback xmlns="">
          <p:graphicFrame>
            <p:nvGraphicFramePr>
              <p:cNvPr id="8" name="表格 7">
                <a:extLst>
                  <a:ext uri="{FF2B5EF4-FFF2-40B4-BE49-F238E27FC236}">
                    <a16:creationId xmlns:a16="http://schemas.microsoft.com/office/drawing/2014/main" id="{8037015F-210A-61DB-F66A-E6A53C045333}"/>
                  </a:ext>
                </a:extLst>
              </p:cNvPr>
              <p:cNvGraphicFramePr>
                <a:graphicFrameLocks noGrp="1"/>
              </p:cNvGraphicFramePr>
              <p:nvPr/>
            </p:nvGraphicFramePr>
            <p:xfrm>
              <a:off x="325120" y="1616648"/>
              <a:ext cx="2861452" cy="3050464"/>
            </p:xfrm>
            <a:graphic>
              <a:graphicData uri="http://schemas.openxmlformats.org/drawingml/2006/table">
                <a:tbl>
                  <a:tblPr firstRow="1" bandRow="1">
                    <a:tableStyleId>{5C22544A-7EE6-4342-B048-85BDC9FD1C3A}</a:tableStyleId>
                  </a:tblPr>
                  <a:tblGrid>
                    <a:gridCol w="715363">
                      <a:extLst>
                        <a:ext uri="{9D8B030D-6E8A-4147-A177-3AD203B41FA5}">
                          <a16:colId xmlns:a16="http://schemas.microsoft.com/office/drawing/2014/main" val="1670238766"/>
                        </a:ext>
                      </a:extLst>
                    </a:gridCol>
                    <a:gridCol w="715363">
                      <a:extLst>
                        <a:ext uri="{9D8B030D-6E8A-4147-A177-3AD203B41FA5}">
                          <a16:colId xmlns:a16="http://schemas.microsoft.com/office/drawing/2014/main" val="3056630588"/>
                        </a:ext>
                      </a:extLst>
                    </a:gridCol>
                    <a:gridCol w="715363">
                      <a:extLst>
                        <a:ext uri="{9D8B030D-6E8A-4147-A177-3AD203B41FA5}">
                          <a16:colId xmlns:a16="http://schemas.microsoft.com/office/drawing/2014/main" val="4090804096"/>
                        </a:ext>
                      </a:extLst>
                    </a:gridCol>
                    <a:gridCol w="715363">
                      <a:extLst>
                        <a:ext uri="{9D8B030D-6E8A-4147-A177-3AD203B41FA5}">
                          <a16:colId xmlns:a16="http://schemas.microsoft.com/office/drawing/2014/main" val="2301106234"/>
                        </a:ext>
                      </a:extLst>
                    </a:gridCol>
                  </a:tblGrid>
                  <a:tr h="762616">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302564" t="-800" r="-1709" b="-302400"/>
                          </a:stretch>
                        </a:blipFill>
                      </a:tcPr>
                    </a:tc>
                    <a:extLst>
                      <a:ext uri="{0D108BD9-81ED-4DB2-BD59-A6C34878D82A}">
                        <a16:rowId xmlns:a16="http://schemas.microsoft.com/office/drawing/2014/main" val="94918515"/>
                      </a:ext>
                    </a:extLst>
                  </a:tr>
                  <a:tr h="762616">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4319969"/>
                      </a:ext>
                    </a:extLst>
                  </a:tr>
                  <a:tr h="762616">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847" t="-201600" r="-300000" b="-101600"/>
                          </a:stretch>
                        </a:blip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8835985"/>
                      </a:ext>
                    </a:extLst>
                  </a:tr>
                  <a:tr h="762616">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847" t="-301600" r="-300000" b="-1600"/>
                          </a:stretch>
                        </a:blip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01709" t="-301600" r="-202564" b="-1600"/>
                          </a:stretch>
                        </a:blip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657093"/>
                      </a:ext>
                    </a:extLst>
                  </a:tr>
                </a:tbl>
              </a:graphicData>
            </a:graphic>
          </p:graphicFrame>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6742E2F6-DFC7-DD9A-FB1E-8F8634496938}"/>
                  </a:ext>
                </a:extLst>
              </p:cNvPr>
              <p:cNvSpPr txBox="1"/>
              <p:nvPr/>
            </p:nvSpPr>
            <p:spPr>
              <a:xfrm>
                <a:off x="3489027" y="1484266"/>
                <a:ext cx="6096000" cy="369332"/>
              </a:xfrm>
              <a:prstGeom prst="rect">
                <a:avLst/>
              </a:prstGeom>
              <a:noFill/>
            </p:spPr>
            <p:txBody>
              <a:bodyPr wrap="square">
                <a:spAutoFit/>
              </a:bodyPr>
              <a:lstStyle/>
              <a:p>
                <a:r>
                  <a:rPr lang="zh-CN" altLang="en-US" dirty="0">
                    <a:ea typeface="等线" panose="02010600030101010101" pitchFamily="2" charset="-122"/>
                    <a:cs typeface="Times New Roman" panose="02020603050405020304" pitchFamily="18" charset="0"/>
                  </a:rPr>
                  <a:t>一</a:t>
                </a:r>
                <a14:m>
                  <m:oMath xmlns:m="http://schemas.openxmlformats.org/officeDocument/2006/math">
                    <m:r>
                      <a:rPr lang="zh-CN" altLang="en-US" i="1">
                        <a:latin typeface="Cambria Math" panose="02040503050406030204" pitchFamily="18" charset="0"/>
                        <a:ea typeface="等线" panose="02010600030101010101" pitchFamily="2" charset="-122"/>
                        <a:cs typeface="Times New Roman" panose="02020603050405020304" pitchFamily="18" charset="0"/>
                      </a:rPr>
                      <m:t>、</m:t>
                    </m:r>
                    <m:r>
                      <a:rPr lang="zh-CN" altLang="en-US" i="1">
                        <a:latin typeface="Cambria Math" panose="02040503050406030204" pitchFamily="18" charset="0"/>
                        <a:ea typeface="等线" panose="02010600030101010101" pitchFamily="2" charset="-122"/>
                        <a:cs typeface="Times New Roman" panose="02020603050405020304" pitchFamily="18" charset="0"/>
                      </a:rPr>
                      <m:t> </m:t>
                    </m:r>
                    <m:r>
                      <a:rPr lang="en-US" altLang="zh-CN" i="1" smtClean="0">
                        <a:latin typeface="Cambria Math" panose="02040503050406030204" pitchFamily="18" charset="0"/>
                        <a:ea typeface="等线" panose="02010600030101010101" pitchFamily="2" charset="-122"/>
                        <a:cs typeface="Times New Roman" panose="02020603050405020304" pitchFamily="18" charset="0"/>
                      </a:rPr>
                      <m:t>𝑀𝐷𝑃</m:t>
                    </m:r>
                    <m:r>
                      <a:rPr lang="en-US" altLang="zh-CN" i="1" smtClean="0">
                        <a:latin typeface="Cambria Math" panose="02040503050406030204" pitchFamily="18" charset="0"/>
                        <a:ea typeface="等线" panose="02010600030101010101" pitchFamily="2" charset="-122"/>
                        <a:cs typeface="Times New Roman" panose="02020603050405020304" pitchFamily="18" charset="0"/>
                      </a:rPr>
                      <m:t>=(</m:t>
                    </m:r>
                    <m:r>
                      <a:rPr lang="en-US" altLang="zh-CN" i="1" smtClean="0">
                        <a:latin typeface="Cambria Math" panose="02040503050406030204" pitchFamily="18" charset="0"/>
                        <a:ea typeface="等线" panose="02010600030101010101" pitchFamily="2" charset="-122"/>
                        <a:cs typeface="Times New Roman" panose="02020603050405020304" pitchFamily="18" charset="0"/>
                      </a:rPr>
                      <m:t>𝑆</m:t>
                    </m:r>
                    <m:r>
                      <a:rPr lang="en-US" altLang="zh-CN" i="1" smtClean="0">
                        <a:latin typeface="Cambria Math" panose="02040503050406030204" pitchFamily="18" charset="0"/>
                        <a:ea typeface="等线" panose="02010600030101010101" pitchFamily="2" charset="-122"/>
                        <a:cs typeface="Times New Roman" panose="02020603050405020304" pitchFamily="18" charset="0"/>
                      </a:rPr>
                      <m:t>,</m:t>
                    </m:r>
                    <m:r>
                      <a:rPr lang="en-US" altLang="zh-CN" i="1" smtClean="0">
                        <a:latin typeface="Cambria Math" panose="02040503050406030204" pitchFamily="18" charset="0"/>
                        <a:ea typeface="等线" panose="02010600030101010101" pitchFamily="2" charset="-122"/>
                        <a:cs typeface="Times New Roman" panose="02020603050405020304" pitchFamily="18" charset="0"/>
                      </a:rPr>
                      <m:t>𝐴</m:t>
                    </m:r>
                    <m:r>
                      <a:rPr lang="en-US" altLang="zh-CN" i="1" smtClean="0">
                        <a:latin typeface="Cambria Math" panose="02040503050406030204" pitchFamily="18" charset="0"/>
                        <a:ea typeface="等线" panose="02010600030101010101" pitchFamily="2" charset="-122"/>
                        <a:cs typeface="Times New Roman" panose="02020603050405020304" pitchFamily="18" charset="0"/>
                      </a:rPr>
                      <m:t>,</m:t>
                    </m:r>
                    <m:r>
                      <a:rPr lang="en-US" altLang="zh-CN" i="1" smtClean="0">
                        <a:latin typeface="Cambria Math" panose="02040503050406030204" pitchFamily="18" charset="0"/>
                        <a:ea typeface="等线" panose="02010600030101010101" pitchFamily="2" charset="-122"/>
                        <a:cs typeface="Times New Roman" panose="02020603050405020304" pitchFamily="18" charset="0"/>
                      </a:rPr>
                      <m:t>𝑃</m:t>
                    </m:r>
                    <m:r>
                      <a:rPr lang="en-US" altLang="zh-CN" i="1" smtClean="0">
                        <a:latin typeface="Cambria Math" panose="02040503050406030204" pitchFamily="18" charset="0"/>
                        <a:ea typeface="等线" panose="02010600030101010101" pitchFamily="2" charset="-122"/>
                        <a:cs typeface="Times New Roman" panose="02020603050405020304" pitchFamily="18" charset="0"/>
                      </a:rPr>
                      <m:t>,</m:t>
                    </m:r>
                    <m:r>
                      <a:rPr lang="en-US" altLang="zh-CN" i="1" smtClean="0">
                        <a:latin typeface="Cambria Math" panose="02040503050406030204" pitchFamily="18" charset="0"/>
                        <a:ea typeface="等线" panose="02010600030101010101" pitchFamily="2" charset="-122"/>
                        <a:cs typeface="Times New Roman" panose="02020603050405020304" pitchFamily="18" charset="0"/>
                      </a:rPr>
                      <m:t>𝑅</m:t>
                    </m:r>
                    <m:r>
                      <a:rPr lang="en-US" altLang="zh-CN" i="1" smtClean="0">
                        <a:latin typeface="Cambria Math" panose="02040503050406030204" pitchFamily="18" charset="0"/>
                        <a:ea typeface="等线" panose="02010600030101010101" pitchFamily="2" charset="-122"/>
                        <a:cs typeface="Times New Roman" panose="02020603050405020304" pitchFamily="18" charset="0"/>
                      </a:rPr>
                      <m:t>,</m:t>
                    </m:r>
                    <m:r>
                      <a:rPr lang="en-US" altLang="zh-CN" i="1" smtClean="0">
                        <a:latin typeface="Cambria Math" panose="02040503050406030204" pitchFamily="18" charset="0"/>
                        <a:ea typeface="等线" panose="02010600030101010101" pitchFamily="2" charset="-122"/>
                        <a:cs typeface="Times New Roman" panose="02020603050405020304" pitchFamily="18" charset="0"/>
                      </a:rPr>
                      <m:t>𝛾</m:t>
                    </m:r>
                    <m:r>
                      <a:rPr lang="en-US" altLang="zh-CN" i="1" smtClean="0">
                        <a:latin typeface="Cambria Math" panose="02040503050406030204" pitchFamily="18" charset="0"/>
                        <a:ea typeface="等线" panose="02010600030101010101" pitchFamily="2" charset="-122"/>
                        <a:cs typeface="Times New Roman" panose="02020603050405020304" pitchFamily="18" charset="0"/>
                      </a:rPr>
                      <m:t>)</m:t>
                    </m:r>
                  </m:oMath>
                </a14:m>
                <a:r>
                  <a:rPr lang="zh-CN" altLang="en-US" b="1" i="0" dirty="0">
                    <a:solidFill>
                      <a:srgbClr val="000000"/>
                    </a:solidFill>
                    <a:effectLst/>
                    <a:latin typeface="Inter"/>
                  </a:rPr>
                  <a:t>模型</a:t>
                </a:r>
                <a:r>
                  <a:rPr lang="zh-CN" altLang="en-US" b="1" dirty="0">
                    <a:solidFill>
                      <a:srgbClr val="000000"/>
                    </a:solidFill>
                    <a:latin typeface="Inter"/>
                  </a:rPr>
                  <a:t>定义</a:t>
                </a:r>
                <a:endParaRPr lang="zh-CN" altLang="en-US" b="1" i="0" dirty="0">
                  <a:solidFill>
                    <a:srgbClr val="000000"/>
                  </a:solidFill>
                  <a:effectLst/>
                  <a:latin typeface="Inter"/>
                </a:endParaRPr>
              </a:p>
            </p:txBody>
          </p:sp>
        </mc:Choice>
        <mc:Fallback xmlns="">
          <p:sp>
            <p:nvSpPr>
              <p:cNvPr id="14" name="文本框 13">
                <a:extLst>
                  <a:ext uri="{FF2B5EF4-FFF2-40B4-BE49-F238E27FC236}">
                    <a16:creationId xmlns:a16="http://schemas.microsoft.com/office/drawing/2014/main" id="{6742E2F6-DFC7-DD9A-FB1E-8F8634496938}"/>
                  </a:ext>
                </a:extLst>
              </p:cNvPr>
              <p:cNvSpPr txBox="1">
                <a:spLocks noRot="1" noChangeAspect="1" noMove="1" noResize="1" noEditPoints="1" noAdjustHandles="1" noChangeArrowheads="1" noChangeShapeType="1" noTextEdit="1"/>
              </p:cNvSpPr>
              <p:nvPr/>
            </p:nvSpPr>
            <p:spPr>
              <a:xfrm>
                <a:off x="3489027" y="1484266"/>
                <a:ext cx="6096000" cy="369332"/>
              </a:xfrm>
              <a:prstGeom prst="rect">
                <a:avLst/>
              </a:prstGeom>
              <a:blipFill>
                <a:blip r:embed="rId4"/>
                <a:stretch>
                  <a:fillRect l="-800" t="-13115" b="-26230"/>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6EE8DD10-6072-2C58-9B9C-1CB58E38742E}"/>
              </a:ext>
            </a:extLst>
          </p:cNvPr>
          <p:cNvPicPr>
            <a:picLocks noChangeAspect="1"/>
          </p:cNvPicPr>
          <p:nvPr/>
        </p:nvPicPr>
        <p:blipFill>
          <a:blip r:embed="rId5"/>
          <a:stretch>
            <a:fillRect/>
          </a:stretch>
        </p:blipFill>
        <p:spPr>
          <a:xfrm>
            <a:off x="3489027" y="1950100"/>
            <a:ext cx="6847619" cy="4180952"/>
          </a:xfrm>
          <a:prstGeom prst="rect">
            <a:avLst/>
          </a:prstGeom>
        </p:spPr>
      </p:pic>
    </p:spTree>
    <p:extLst>
      <p:ext uri="{BB962C8B-B14F-4D97-AF65-F5344CB8AC3E}">
        <p14:creationId xmlns:p14="http://schemas.microsoft.com/office/powerpoint/2010/main" val="8936363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动态规划例子</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8037015F-210A-61DB-F66A-E6A53C045333}"/>
                  </a:ext>
                </a:extLst>
              </p:cNvPr>
              <p:cNvGraphicFramePr>
                <a:graphicFrameLocks noGrp="1"/>
              </p:cNvGraphicFramePr>
              <p:nvPr/>
            </p:nvGraphicFramePr>
            <p:xfrm>
              <a:off x="325120" y="1616648"/>
              <a:ext cx="2861452" cy="3050464"/>
            </p:xfrm>
            <a:graphic>
              <a:graphicData uri="http://schemas.openxmlformats.org/drawingml/2006/table">
                <a:tbl>
                  <a:tblPr firstRow="1" bandRow="1">
                    <a:tableStyleId>{5C22544A-7EE6-4342-B048-85BDC9FD1C3A}</a:tableStyleId>
                  </a:tblPr>
                  <a:tblGrid>
                    <a:gridCol w="715363">
                      <a:extLst>
                        <a:ext uri="{9D8B030D-6E8A-4147-A177-3AD203B41FA5}">
                          <a16:colId xmlns:a16="http://schemas.microsoft.com/office/drawing/2014/main" val="1670238766"/>
                        </a:ext>
                      </a:extLst>
                    </a:gridCol>
                    <a:gridCol w="715363">
                      <a:extLst>
                        <a:ext uri="{9D8B030D-6E8A-4147-A177-3AD203B41FA5}">
                          <a16:colId xmlns:a16="http://schemas.microsoft.com/office/drawing/2014/main" val="3056630588"/>
                        </a:ext>
                      </a:extLst>
                    </a:gridCol>
                    <a:gridCol w="715363">
                      <a:extLst>
                        <a:ext uri="{9D8B030D-6E8A-4147-A177-3AD203B41FA5}">
                          <a16:colId xmlns:a16="http://schemas.microsoft.com/office/drawing/2014/main" val="4090804096"/>
                        </a:ext>
                      </a:extLst>
                    </a:gridCol>
                    <a:gridCol w="715363">
                      <a:extLst>
                        <a:ext uri="{9D8B030D-6E8A-4147-A177-3AD203B41FA5}">
                          <a16:colId xmlns:a16="http://schemas.microsoft.com/office/drawing/2014/main" val="2301106234"/>
                        </a:ext>
                      </a:extLst>
                    </a:gridCol>
                  </a:tblGrid>
                  <a:tr h="762616">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pitchFamily="18" charset="0"/>
                                        <a:ea typeface="黑体" panose="02010609060101010101" pitchFamily="49" charset="-122"/>
                                      </a:rPr>
                                      <m:t>𝑠</m:t>
                                    </m:r>
                                  </m:e>
                                  <m:sub>
                                    <m:r>
                                      <a:rPr lang="en-US" altLang="zh-CN" b="0" i="1" smtClean="0">
                                        <a:solidFill>
                                          <a:schemeClr val="tx1"/>
                                        </a:solidFill>
                                        <a:latin typeface="Cambria Math" panose="02040503050406030204" pitchFamily="18" charset="0"/>
                                        <a:ea typeface="黑体" panose="02010609060101010101" pitchFamily="49" charset="-122"/>
                                      </a:rPr>
                                      <m:t>4,4</m:t>
                                    </m:r>
                                  </m:sub>
                                </m:sSub>
                              </m:oMath>
                            </m:oMathPara>
                          </a14:m>
                          <a:endParaRPr lang="en-US" altLang="zh-CN" b="0" dirty="0">
                            <a:solidFill>
                              <a:schemeClr val="tx1"/>
                            </a:solidFill>
                          </a:endParaRPr>
                        </a:p>
                        <a:p>
                          <a:r>
                            <a:rPr lang="zh-CN" altLang="en-US" b="0" dirty="0">
                              <a:solidFill>
                                <a:schemeClr val="tx1"/>
                              </a:solidFill>
                            </a:rPr>
                            <a:t>终点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918515"/>
                      </a:ext>
                    </a:extLst>
                  </a:tr>
                  <a:tr h="762616">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4319969"/>
                      </a:ext>
                    </a:extLst>
                  </a:tr>
                  <a:tr h="762616">
                    <a:tc>
                      <a:txBody>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pitchFamily="18" charset="0"/>
                                        <a:ea typeface="黑体" panose="02010609060101010101" pitchFamily="49" charset="-122"/>
                                      </a:rPr>
                                      <m:t>𝑠</m:t>
                                    </m:r>
                                  </m:e>
                                  <m:sub>
                                    <m:r>
                                      <a:rPr lang="en-US" altLang="zh-CN" b="0" i="1" smtClean="0">
                                        <a:solidFill>
                                          <a:schemeClr val="tx1"/>
                                        </a:solidFill>
                                        <a:latin typeface="Cambria Math" panose="02040503050406030204" pitchFamily="18" charset="0"/>
                                        <a:ea typeface="黑体" panose="02010609060101010101" pitchFamily="49" charset="-122"/>
                                      </a:rPr>
                                      <m:t>2,1</m:t>
                                    </m:r>
                                  </m:sub>
                                </m:sSub>
                              </m:oMath>
                            </m:oMathPara>
                          </a14:m>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8835985"/>
                      </a:ext>
                    </a:extLst>
                  </a:tr>
                  <a:tr h="762616">
                    <a:tc>
                      <a:txBody>
                        <a:bodyPr/>
                        <a:lstStyle/>
                        <a:p>
                          <a:pPr algn="ctr"/>
                          <a14:m>
                            <m:oMath xmlns:m="http://schemas.openxmlformats.org/officeDocument/2006/math">
                              <m:sSub>
                                <m:sSubPr>
                                  <m:ctrlPr>
                                    <a:rPr lang="en-US" altLang="zh-CN" i="1" smtClean="0">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pitchFamily="18" charset="0"/>
                                      <a:ea typeface="黑体" panose="02010609060101010101" pitchFamily="49" charset="-122"/>
                                    </a:rPr>
                                    <m:t>𝑠</m:t>
                                  </m:r>
                                </m:e>
                                <m:sub>
                                  <m:r>
                                    <a:rPr lang="en-US" altLang="zh-CN" b="0" i="1" smtClean="0">
                                      <a:solidFill>
                                        <a:schemeClr val="tx1"/>
                                      </a:solidFill>
                                      <a:latin typeface="Cambria Math" panose="02040503050406030204" pitchFamily="18" charset="0"/>
                                      <a:ea typeface="黑体" panose="02010609060101010101" pitchFamily="49" charset="-122"/>
                                    </a:rPr>
                                    <m:t>1,1</m:t>
                                  </m:r>
                                </m:sub>
                              </m:sSub>
                            </m:oMath>
                          </a14:m>
                          <a:r>
                            <a:rPr lang="zh-CN" altLang="en-US" dirty="0">
                              <a:solidFill>
                                <a:schemeClr val="tx1"/>
                              </a:solidFill>
                            </a:rPr>
                            <a:t>起点</a:t>
                          </a:r>
                          <a:endParaRPr lang="en-US" altLang="zh-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pitchFamily="18" charset="0"/>
                                        <a:ea typeface="黑体" panose="02010609060101010101" pitchFamily="49" charset="-122"/>
                                      </a:rPr>
                                      <m:t>𝑠</m:t>
                                    </m:r>
                                  </m:e>
                                  <m:sub>
                                    <m:r>
                                      <a:rPr lang="en-US" altLang="zh-CN" b="0" i="1" smtClean="0">
                                        <a:solidFill>
                                          <a:schemeClr val="tx1"/>
                                        </a:solidFill>
                                        <a:latin typeface="Cambria Math" panose="02040503050406030204" pitchFamily="18" charset="0"/>
                                        <a:ea typeface="黑体" panose="02010609060101010101" pitchFamily="49" charset="-122"/>
                                      </a:rPr>
                                      <m:t>1,2</m:t>
                                    </m:r>
                                  </m:sub>
                                </m:sSub>
                              </m:oMath>
                            </m:oMathPara>
                          </a14:m>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657093"/>
                      </a:ext>
                    </a:extLst>
                  </a:tr>
                </a:tbl>
              </a:graphicData>
            </a:graphic>
          </p:graphicFrame>
        </mc:Choice>
        <mc:Fallback xmlns="">
          <p:graphicFrame>
            <p:nvGraphicFramePr>
              <p:cNvPr id="8" name="表格 7">
                <a:extLst>
                  <a:ext uri="{FF2B5EF4-FFF2-40B4-BE49-F238E27FC236}">
                    <a16:creationId xmlns:a16="http://schemas.microsoft.com/office/drawing/2014/main" id="{8037015F-210A-61DB-F66A-E6A53C045333}"/>
                  </a:ext>
                </a:extLst>
              </p:cNvPr>
              <p:cNvGraphicFramePr>
                <a:graphicFrameLocks noGrp="1"/>
              </p:cNvGraphicFramePr>
              <p:nvPr/>
            </p:nvGraphicFramePr>
            <p:xfrm>
              <a:off x="325120" y="1616648"/>
              <a:ext cx="2861452" cy="3050464"/>
            </p:xfrm>
            <a:graphic>
              <a:graphicData uri="http://schemas.openxmlformats.org/drawingml/2006/table">
                <a:tbl>
                  <a:tblPr firstRow="1" bandRow="1">
                    <a:tableStyleId>{5C22544A-7EE6-4342-B048-85BDC9FD1C3A}</a:tableStyleId>
                  </a:tblPr>
                  <a:tblGrid>
                    <a:gridCol w="715363">
                      <a:extLst>
                        <a:ext uri="{9D8B030D-6E8A-4147-A177-3AD203B41FA5}">
                          <a16:colId xmlns:a16="http://schemas.microsoft.com/office/drawing/2014/main" val="1670238766"/>
                        </a:ext>
                      </a:extLst>
                    </a:gridCol>
                    <a:gridCol w="715363">
                      <a:extLst>
                        <a:ext uri="{9D8B030D-6E8A-4147-A177-3AD203B41FA5}">
                          <a16:colId xmlns:a16="http://schemas.microsoft.com/office/drawing/2014/main" val="3056630588"/>
                        </a:ext>
                      </a:extLst>
                    </a:gridCol>
                    <a:gridCol w="715363">
                      <a:extLst>
                        <a:ext uri="{9D8B030D-6E8A-4147-A177-3AD203B41FA5}">
                          <a16:colId xmlns:a16="http://schemas.microsoft.com/office/drawing/2014/main" val="4090804096"/>
                        </a:ext>
                      </a:extLst>
                    </a:gridCol>
                    <a:gridCol w="715363">
                      <a:extLst>
                        <a:ext uri="{9D8B030D-6E8A-4147-A177-3AD203B41FA5}">
                          <a16:colId xmlns:a16="http://schemas.microsoft.com/office/drawing/2014/main" val="2301106234"/>
                        </a:ext>
                      </a:extLst>
                    </a:gridCol>
                  </a:tblGrid>
                  <a:tr h="762616">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302564" t="-800" r="-1709" b="-302400"/>
                          </a:stretch>
                        </a:blipFill>
                      </a:tcPr>
                    </a:tc>
                    <a:extLst>
                      <a:ext uri="{0D108BD9-81ED-4DB2-BD59-A6C34878D82A}">
                        <a16:rowId xmlns:a16="http://schemas.microsoft.com/office/drawing/2014/main" val="94918515"/>
                      </a:ext>
                    </a:extLst>
                  </a:tr>
                  <a:tr h="762616">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4319969"/>
                      </a:ext>
                    </a:extLst>
                  </a:tr>
                  <a:tr h="762616">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847" t="-201600" r="-300000" b="-101600"/>
                          </a:stretch>
                        </a:blip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8835985"/>
                      </a:ext>
                    </a:extLst>
                  </a:tr>
                  <a:tr h="762616">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847" t="-301600" r="-300000" b="-1600"/>
                          </a:stretch>
                        </a:blip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01709" t="-301600" r="-202564" b="-1600"/>
                          </a:stretch>
                        </a:blip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657093"/>
                      </a:ext>
                    </a:extLst>
                  </a:tr>
                </a:tbl>
              </a:graphicData>
            </a:graphic>
          </p:graphicFrame>
        </mc:Fallback>
      </mc:AlternateContent>
      <p:pic>
        <p:nvPicPr>
          <p:cNvPr id="9" name="图片 8">
            <a:extLst>
              <a:ext uri="{FF2B5EF4-FFF2-40B4-BE49-F238E27FC236}">
                <a16:creationId xmlns:a16="http://schemas.microsoft.com/office/drawing/2014/main" id="{EF8E02B1-3015-350D-9900-2DC66BD039DD}"/>
              </a:ext>
            </a:extLst>
          </p:cNvPr>
          <p:cNvPicPr>
            <a:picLocks noChangeAspect="1"/>
          </p:cNvPicPr>
          <p:nvPr/>
        </p:nvPicPr>
        <p:blipFill>
          <a:blip r:embed="rId4"/>
          <a:stretch>
            <a:fillRect/>
          </a:stretch>
        </p:blipFill>
        <p:spPr>
          <a:xfrm>
            <a:off x="3435611" y="1484266"/>
            <a:ext cx="3457143" cy="1361905"/>
          </a:xfrm>
          <a:prstGeom prst="rect">
            <a:avLst/>
          </a:prstGeom>
        </p:spPr>
      </p:pic>
      <p:pic>
        <p:nvPicPr>
          <p:cNvPr id="11" name="图片 10">
            <a:extLst>
              <a:ext uri="{FF2B5EF4-FFF2-40B4-BE49-F238E27FC236}">
                <a16:creationId xmlns:a16="http://schemas.microsoft.com/office/drawing/2014/main" id="{28A4AA01-1DD3-5D49-F786-6B4824A6CD39}"/>
              </a:ext>
            </a:extLst>
          </p:cNvPr>
          <p:cNvPicPr>
            <a:picLocks noChangeAspect="1"/>
          </p:cNvPicPr>
          <p:nvPr/>
        </p:nvPicPr>
        <p:blipFill>
          <a:blip r:embed="rId5"/>
          <a:stretch>
            <a:fillRect/>
          </a:stretch>
        </p:blipFill>
        <p:spPr>
          <a:xfrm>
            <a:off x="3435611" y="2816237"/>
            <a:ext cx="4495238" cy="2923809"/>
          </a:xfrm>
          <a:prstGeom prst="rect">
            <a:avLst/>
          </a:prstGeom>
        </p:spPr>
      </p:pic>
    </p:spTree>
    <p:extLst>
      <p:ext uri="{BB962C8B-B14F-4D97-AF65-F5344CB8AC3E}">
        <p14:creationId xmlns:p14="http://schemas.microsoft.com/office/powerpoint/2010/main" val="36692245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动态规划例子</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8037015F-210A-61DB-F66A-E6A53C045333}"/>
                  </a:ext>
                </a:extLst>
              </p:cNvPr>
              <p:cNvGraphicFramePr>
                <a:graphicFrameLocks noGrp="1"/>
              </p:cNvGraphicFramePr>
              <p:nvPr>
                <p:extLst>
                  <p:ext uri="{D42A27DB-BD31-4B8C-83A1-F6EECF244321}">
                    <p14:modId xmlns:p14="http://schemas.microsoft.com/office/powerpoint/2010/main" val="940073337"/>
                  </p:ext>
                </p:extLst>
              </p:nvPr>
            </p:nvGraphicFramePr>
            <p:xfrm>
              <a:off x="325120" y="1616648"/>
              <a:ext cx="2861452" cy="3050464"/>
            </p:xfrm>
            <a:graphic>
              <a:graphicData uri="http://schemas.openxmlformats.org/drawingml/2006/table">
                <a:tbl>
                  <a:tblPr firstRow="1" bandRow="1">
                    <a:tableStyleId>{5C22544A-7EE6-4342-B048-85BDC9FD1C3A}</a:tableStyleId>
                  </a:tblPr>
                  <a:tblGrid>
                    <a:gridCol w="715363">
                      <a:extLst>
                        <a:ext uri="{9D8B030D-6E8A-4147-A177-3AD203B41FA5}">
                          <a16:colId xmlns:a16="http://schemas.microsoft.com/office/drawing/2014/main" val="1670238766"/>
                        </a:ext>
                      </a:extLst>
                    </a:gridCol>
                    <a:gridCol w="715363">
                      <a:extLst>
                        <a:ext uri="{9D8B030D-6E8A-4147-A177-3AD203B41FA5}">
                          <a16:colId xmlns:a16="http://schemas.microsoft.com/office/drawing/2014/main" val="3056630588"/>
                        </a:ext>
                      </a:extLst>
                    </a:gridCol>
                    <a:gridCol w="715363">
                      <a:extLst>
                        <a:ext uri="{9D8B030D-6E8A-4147-A177-3AD203B41FA5}">
                          <a16:colId xmlns:a16="http://schemas.microsoft.com/office/drawing/2014/main" val="4090804096"/>
                        </a:ext>
                      </a:extLst>
                    </a:gridCol>
                    <a:gridCol w="715363">
                      <a:extLst>
                        <a:ext uri="{9D8B030D-6E8A-4147-A177-3AD203B41FA5}">
                          <a16:colId xmlns:a16="http://schemas.microsoft.com/office/drawing/2014/main" val="2301106234"/>
                        </a:ext>
                      </a:extLst>
                    </a:gridCol>
                  </a:tblGrid>
                  <a:tr h="762616">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pitchFamily="18" charset="0"/>
                                        <a:ea typeface="黑体" panose="02010609060101010101" pitchFamily="49" charset="-122"/>
                                      </a:rPr>
                                      <m:t>𝑠</m:t>
                                    </m:r>
                                  </m:e>
                                  <m:sub>
                                    <m:r>
                                      <a:rPr lang="en-US" altLang="zh-CN" b="0" i="1" smtClean="0">
                                        <a:solidFill>
                                          <a:schemeClr val="tx1"/>
                                        </a:solidFill>
                                        <a:latin typeface="Cambria Math" panose="02040503050406030204" pitchFamily="18" charset="0"/>
                                        <a:ea typeface="黑体" panose="02010609060101010101" pitchFamily="49" charset="-122"/>
                                      </a:rPr>
                                      <m:t>3,4</m:t>
                                    </m:r>
                                  </m:sub>
                                </m:sSub>
                              </m:oMath>
                            </m:oMathPara>
                          </a14:m>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pitchFamily="18" charset="0"/>
                                        <a:ea typeface="黑体" panose="02010609060101010101" pitchFamily="49" charset="-122"/>
                                      </a:rPr>
                                      <m:t>𝑠</m:t>
                                    </m:r>
                                  </m:e>
                                  <m:sub>
                                    <m:r>
                                      <a:rPr lang="en-US" altLang="zh-CN" b="0" i="1" smtClean="0">
                                        <a:solidFill>
                                          <a:schemeClr val="tx1"/>
                                        </a:solidFill>
                                        <a:latin typeface="Cambria Math" panose="02040503050406030204" pitchFamily="18" charset="0"/>
                                        <a:ea typeface="黑体" panose="02010609060101010101" pitchFamily="49" charset="-122"/>
                                      </a:rPr>
                                      <m:t>4,4</m:t>
                                    </m:r>
                                  </m:sub>
                                </m:sSub>
                              </m:oMath>
                            </m:oMathPara>
                          </a14:m>
                          <a:endParaRPr lang="en-US" altLang="zh-CN" b="0" dirty="0">
                            <a:solidFill>
                              <a:schemeClr val="tx1"/>
                            </a:solidFill>
                          </a:endParaRPr>
                        </a:p>
                        <a:p>
                          <a:r>
                            <a:rPr lang="zh-CN" altLang="en-US" b="0" dirty="0">
                              <a:solidFill>
                                <a:schemeClr val="tx1"/>
                              </a:solidFill>
                            </a:rPr>
                            <a:t>终点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918515"/>
                      </a:ext>
                    </a:extLst>
                  </a:tr>
                  <a:tr h="762616">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4319969"/>
                      </a:ext>
                    </a:extLst>
                  </a:tr>
                  <a:tr h="762616">
                    <a:tc>
                      <a:txBody>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pitchFamily="18" charset="0"/>
                                        <a:ea typeface="黑体" panose="02010609060101010101" pitchFamily="49" charset="-122"/>
                                      </a:rPr>
                                      <m:t>𝑠</m:t>
                                    </m:r>
                                  </m:e>
                                  <m:sub>
                                    <m:r>
                                      <a:rPr lang="en-US" altLang="zh-CN" b="0" i="1" smtClean="0">
                                        <a:solidFill>
                                          <a:schemeClr val="tx1"/>
                                        </a:solidFill>
                                        <a:latin typeface="Cambria Math" panose="02040503050406030204" pitchFamily="18" charset="0"/>
                                        <a:ea typeface="黑体" panose="02010609060101010101" pitchFamily="49" charset="-122"/>
                                      </a:rPr>
                                      <m:t>2,1</m:t>
                                    </m:r>
                                  </m:sub>
                                </m:sSub>
                              </m:oMath>
                            </m:oMathPara>
                          </a14:m>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8835985"/>
                      </a:ext>
                    </a:extLst>
                  </a:tr>
                  <a:tr h="762616">
                    <a:tc>
                      <a:txBody>
                        <a:bodyPr/>
                        <a:lstStyle/>
                        <a:p>
                          <a:pPr algn="ctr"/>
                          <a14:m>
                            <m:oMath xmlns:m="http://schemas.openxmlformats.org/officeDocument/2006/math">
                              <m:sSub>
                                <m:sSubPr>
                                  <m:ctrlPr>
                                    <a:rPr lang="en-US" altLang="zh-CN" i="1" smtClean="0">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pitchFamily="18" charset="0"/>
                                      <a:ea typeface="黑体" panose="02010609060101010101" pitchFamily="49" charset="-122"/>
                                    </a:rPr>
                                    <m:t>𝑠</m:t>
                                  </m:r>
                                </m:e>
                                <m:sub>
                                  <m:r>
                                    <a:rPr lang="en-US" altLang="zh-CN" b="0" i="1" smtClean="0">
                                      <a:solidFill>
                                        <a:schemeClr val="tx1"/>
                                      </a:solidFill>
                                      <a:latin typeface="Cambria Math" panose="02040503050406030204" pitchFamily="18" charset="0"/>
                                      <a:ea typeface="黑体" panose="02010609060101010101" pitchFamily="49" charset="-122"/>
                                    </a:rPr>
                                    <m:t>1,1</m:t>
                                  </m:r>
                                </m:sub>
                              </m:sSub>
                            </m:oMath>
                          </a14:m>
                          <a:r>
                            <a:rPr lang="zh-CN" altLang="en-US" dirty="0">
                              <a:solidFill>
                                <a:schemeClr val="tx1"/>
                              </a:solidFill>
                            </a:rPr>
                            <a:t>起点</a:t>
                          </a:r>
                          <a:endParaRPr lang="en-US" altLang="zh-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pitchFamily="18" charset="0"/>
                                        <a:ea typeface="黑体" panose="02010609060101010101" pitchFamily="49" charset="-122"/>
                                      </a:rPr>
                                      <m:t>𝑠</m:t>
                                    </m:r>
                                  </m:e>
                                  <m:sub>
                                    <m:r>
                                      <a:rPr lang="en-US" altLang="zh-CN" b="0" i="1" smtClean="0">
                                        <a:solidFill>
                                          <a:schemeClr val="tx1"/>
                                        </a:solidFill>
                                        <a:latin typeface="Cambria Math" panose="02040503050406030204" pitchFamily="18" charset="0"/>
                                        <a:ea typeface="黑体" panose="02010609060101010101" pitchFamily="49" charset="-122"/>
                                      </a:rPr>
                                      <m:t>1,2</m:t>
                                    </m:r>
                                  </m:sub>
                                </m:sSub>
                              </m:oMath>
                            </m:oMathPara>
                          </a14:m>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657093"/>
                      </a:ext>
                    </a:extLst>
                  </a:tr>
                </a:tbl>
              </a:graphicData>
            </a:graphic>
          </p:graphicFrame>
        </mc:Choice>
        <mc:Fallback xmlns="">
          <p:graphicFrame>
            <p:nvGraphicFramePr>
              <p:cNvPr id="8" name="表格 7">
                <a:extLst>
                  <a:ext uri="{FF2B5EF4-FFF2-40B4-BE49-F238E27FC236}">
                    <a16:creationId xmlns:a16="http://schemas.microsoft.com/office/drawing/2014/main" id="{8037015F-210A-61DB-F66A-E6A53C045333}"/>
                  </a:ext>
                </a:extLst>
              </p:cNvPr>
              <p:cNvGraphicFramePr>
                <a:graphicFrameLocks noGrp="1"/>
              </p:cNvGraphicFramePr>
              <p:nvPr>
                <p:extLst>
                  <p:ext uri="{D42A27DB-BD31-4B8C-83A1-F6EECF244321}">
                    <p14:modId xmlns:p14="http://schemas.microsoft.com/office/powerpoint/2010/main" val="940073337"/>
                  </p:ext>
                </p:extLst>
              </p:nvPr>
            </p:nvGraphicFramePr>
            <p:xfrm>
              <a:off x="325120" y="1616648"/>
              <a:ext cx="2861452" cy="3050464"/>
            </p:xfrm>
            <a:graphic>
              <a:graphicData uri="http://schemas.openxmlformats.org/drawingml/2006/table">
                <a:tbl>
                  <a:tblPr firstRow="1" bandRow="1">
                    <a:tableStyleId>{5C22544A-7EE6-4342-B048-85BDC9FD1C3A}</a:tableStyleId>
                  </a:tblPr>
                  <a:tblGrid>
                    <a:gridCol w="715363">
                      <a:extLst>
                        <a:ext uri="{9D8B030D-6E8A-4147-A177-3AD203B41FA5}">
                          <a16:colId xmlns:a16="http://schemas.microsoft.com/office/drawing/2014/main" val="1670238766"/>
                        </a:ext>
                      </a:extLst>
                    </a:gridCol>
                    <a:gridCol w="715363">
                      <a:extLst>
                        <a:ext uri="{9D8B030D-6E8A-4147-A177-3AD203B41FA5}">
                          <a16:colId xmlns:a16="http://schemas.microsoft.com/office/drawing/2014/main" val="3056630588"/>
                        </a:ext>
                      </a:extLst>
                    </a:gridCol>
                    <a:gridCol w="715363">
                      <a:extLst>
                        <a:ext uri="{9D8B030D-6E8A-4147-A177-3AD203B41FA5}">
                          <a16:colId xmlns:a16="http://schemas.microsoft.com/office/drawing/2014/main" val="4090804096"/>
                        </a:ext>
                      </a:extLst>
                    </a:gridCol>
                    <a:gridCol w="715363">
                      <a:extLst>
                        <a:ext uri="{9D8B030D-6E8A-4147-A177-3AD203B41FA5}">
                          <a16:colId xmlns:a16="http://schemas.microsoft.com/office/drawing/2014/main" val="2301106234"/>
                        </a:ext>
                      </a:extLst>
                    </a:gridCol>
                  </a:tblGrid>
                  <a:tr h="762616">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00000" t="-800" r="-100847" b="-302400"/>
                          </a:stretch>
                        </a:blip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302564" t="-800" r="-1709" b="-302400"/>
                          </a:stretch>
                        </a:blipFill>
                      </a:tcPr>
                    </a:tc>
                    <a:extLst>
                      <a:ext uri="{0D108BD9-81ED-4DB2-BD59-A6C34878D82A}">
                        <a16:rowId xmlns:a16="http://schemas.microsoft.com/office/drawing/2014/main" val="94918515"/>
                      </a:ext>
                    </a:extLst>
                  </a:tr>
                  <a:tr h="762616">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4319969"/>
                      </a:ext>
                    </a:extLst>
                  </a:tr>
                  <a:tr h="762616">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847" t="-201600" r="-300000" b="-101600"/>
                          </a:stretch>
                        </a:blip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8835985"/>
                      </a:ext>
                    </a:extLst>
                  </a:tr>
                  <a:tr h="762616">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847" t="-301600" r="-300000" b="-1600"/>
                          </a:stretch>
                        </a:blip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01709" t="-301600" r="-202564" b="-1600"/>
                          </a:stretch>
                        </a:blip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657093"/>
                      </a:ext>
                    </a:extLst>
                  </a:tr>
                </a:tbl>
              </a:graphicData>
            </a:graphic>
          </p:graphicFrame>
        </mc:Fallback>
      </mc:AlternateContent>
      <p:pic>
        <p:nvPicPr>
          <p:cNvPr id="13" name="图片 12">
            <a:extLst>
              <a:ext uri="{FF2B5EF4-FFF2-40B4-BE49-F238E27FC236}">
                <a16:creationId xmlns:a16="http://schemas.microsoft.com/office/drawing/2014/main" id="{57F1B945-964A-3774-A691-AA00FB48530F}"/>
              </a:ext>
            </a:extLst>
          </p:cNvPr>
          <p:cNvPicPr>
            <a:picLocks noChangeAspect="1"/>
          </p:cNvPicPr>
          <p:nvPr/>
        </p:nvPicPr>
        <p:blipFill>
          <a:blip r:embed="rId4"/>
          <a:stretch>
            <a:fillRect/>
          </a:stretch>
        </p:blipFill>
        <p:spPr>
          <a:xfrm>
            <a:off x="3433329" y="1376213"/>
            <a:ext cx="6614438" cy="5400037"/>
          </a:xfrm>
          <a:prstGeom prst="rect">
            <a:avLst/>
          </a:prstGeom>
        </p:spPr>
      </p:pic>
      <p:pic>
        <p:nvPicPr>
          <p:cNvPr id="9" name="图片 8">
            <a:extLst>
              <a:ext uri="{FF2B5EF4-FFF2-40B4-BE49-F238E27FC236}">
                <a16:creationId xmlns:a16="http://schemas.microsoft.com/office/drawing/2014/main" id="{8BC1F2D1-A655-8E6F-5852-56E931333ABD}"/>
              </a:ext>
            </a:extLst>
          </p:cNvPr>
          <p:cNvPicPr>
            <a:picLocks noChangeAspect="1"/>
          </p:cNvPicPr>
          <p:nvPr/>
        </p:nvPicPr>
        <p:blipFill>
          <a:blip r:embed="rId5"/>
          <a:stretch>
            <a:fillRect/>
          </a:stretch>
        </p:blipFill>
        <p:spPr>
          <a:xfrm>
            <a:off x="9918663" y="6038179"/>
            <a:ext cx="793787" cy="237317"/>
          </a:xfrm>
          <a:prstGeom prst="rect">
            <a:avLst/>
          </a:prstGeom>
        </p:spPr>
      </p:pic>
    </p:spTree>
    <p:extLst>
      <p:ext uri="{BB962C8B-B14F-4D97-AF65-F5344CB8AC3E}">
        <p14:creationId xmlns:p14="http://schemas.microsoft.com/office/powerpoint/2010/main" val="31810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动态规划例子</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mc:AlternateContent xmlns:mc="http://schemas.openxmlformats.org/markup-compatibility/2006" xmlns:a14="http://schemas.microsoft.com/office/drawing/2010/main">
        <mc:Choice Requires="a14">
          <p:graphicFrame>
            <p:nvGraphicFramePr>
              <p:cNvPr id="2" name="表格 1">
                <a:extLst>
                  <a:ext uri="{FF2B5EF4-FFF2-40B4-BE49-F238E27FC236}">
                    <a16:creationId xmlns:a16="http://schemas.microsoft.com/office/drawing/2014/main" id="{8C046B85-B121-A625-F84D-A5103B5AC358}"/>
                  </a:ext>
                </a:extLst>
              </p:cNvPr>
              <p:cNvGraphicFramePr>
                <a:graphicFrameLocks noGrp="1"/>
              </p:cNvGraphicFramePr>
              <p:nvPr>
                <p:extLst>
                  <p:ext uri="{D42A27DB-BD31-4B8C-83A1-F6EECF244321}">
                    <p14:modId xmlns:p14="http://schemas.microsoft.com/office/powerpoint/2010/main" val="813533232"/>
                  </p:ext>
                </p:extLst>
              </p:nvPr>
            </p:nvGraphicFramePr>
            <p:xfrm>
              <a:off x="325120" y="1616648"/>
              <a:ext cx="2861452" cy="3050464"/>
            </p:xfrm>
            <a:graphic>
              <a:graphicData uri="http://schemas.openxmlformats.org/drawingml/2006/table">
                <a:tbl>
                  <a:tblPr firstRow="1" bandRow="1">
                    <a:tableStyleId>{5C22544A-7EE6-4342-B048-85BDC9FD1C3A}</a:tableStyleId>
                  </a:tblPr>
                  <a:tblGrid>
                    <a:gridCol w="715363">
                      <a:extLst>
                        <a:ext uri="{9D8B030D-6E8A-4147-A177-3AD203B41FA5}">
                          <a16:colId xmlns:a16="http://schemas.microsoft.com/office/drawing/2014/main" val="1670238766"/>
                        </a:ext>
                      </a:extLst>
                    </a:gridCol>
                    <a:gridCol w="715363">
                      <a:extLst>
                        <a:ext uri="{9D8B030D-6E8A-4147-A177-3AD203B41FA5}">
                          <a16:colId xmlns:a16="http://schemas.microsoft.com/office/drawing/2014/main" val="3056630588"/>
                        </a:ext>
                      </a:extLst>
                    </a:gridCol>
                    <a:gridCol w="715363">
                      <a:extLst>
                        <a:ext uri="{9D8B030D-6E8A-4147-A177-3AD203B41FA5}">
                          <a16:colId xmlns:a16="http://schemas.microsoft.com/office/drawing/2014/main" val="4090804096"/>
                        </a:ext>
                      </a:extLst>
                    </a:gridCol>
                    <a:gridCol w="715363">
                      <a:extLst>
                        <a:ext uri="{9D8B030D-6E8A-4147-A177-3AD203B41FA5}">
                          <a16:colId xmlns:a16="http://schemas.microsoft.com/office/drawing/2014/main" val="2301106234"/>
                        </a:ext>
                      </a:extLst>
                    </a:gridCol>
                  </a:tblGrid>
                  <a:tr h="762616">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pitchFamily="18" charset="0"/>
                                        <a:ea typeface="黑体" panose="02010609060101010101" pitchFamily="49" charset="-122"/>
                                      </a:rPr>
                                      <m:t>𝑠</m:t>
                                    </m:r>
                                  </m:e>
                                  <m:sub>
                                    <m:r>
                                      <a:rPr lang="en-US" altLang="zh-CN" b="0" i="1" smtClean="0">
                                        <a:solidFill>
                                          <a:schemeClr val="tx1"/>
                                        </a:solidFill>
                                        <a:latin typeface="Cambria Math" panose="02040503050406030204" pitchFamily="18" charset="0"/>
                                        <a:ea typeface="黑体" panose="02010609060101010101" pitchFamily="49" charset="-122"/>
                                      </a:rPr>
                                      <m:t>3,4</m:t>
                                    </m:r>
                                  </m:sub>
                                </m:sSub>
                              </m:oMath>
                            </m:oMathPara>
                          </a14:m>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pitchFamily="18" charset="0"/>
                                        <a:ea typeface="黑体" panose="02010609060101010101" pitchFamily="49" charset="-122"/>
                                      </a:rPr>
                                      <m:t>𝑠</m:t>
                                    </m:r>
                                  </m:e>
                                  <m:sub>
                                    <m:r>
                                      <a:rPr lang="en-US" altLang="zh-CN" b="0" i="1" smtClean="0">
                                        <a:solidFill>
                                          <a:schemeClr val="tx1"/>
                                        </a:solidFill>
                                        <a:latin typeface="Cambria Math" panose="02040503050406030204" pitchFamily="18" charset="0"/>
                                        <a:ea typeface="黑体" panose="02010609060101010101" pitchFamily="49" charset="-122"/>
                                      </a:rPr>
                                      <m:t>4,4</m:t>
                                    </m:r>
                                  </m:sub>
                                </m:sSub>
                              </m:oMath>
                            </m:oMathPara>
                          </a14:m>
                          <a:endParaRPr lang="en-US" altLang="zh-CN" b="0" dirty="0">
                            <a:solidFill>
                              <a:schemeClr val="tx1"/>
                            </a:solidFill>
                          </a:endParaRPr>
                        </a:p>
                        <a:p>
                          <a:r>
                            <a:rPr lang="zh-CN" altLang="en-US" b="0" dirty="0">
                              <a:solidFill>
                                <a:schemeClr val="tx1"/>
                              </a:solidFill>
                            </a:rPr>
                            <a:t>终点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918515"/>
                      </a:ext>
                    </a:extLst>
                  </a:tr>
                  <a:tr h="762616">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4319969"/>
                      </a:ext>
                    </a:extLst>
                  </a:tr>
                  <a:tr h="762616">
                    <a:tc>
                      <a:txBody>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pitchFamily="18" charset="0"/>
                                        <a:ea typeface="黑体" panose="02010609060101010101" pitchFamily="49" charset="-122"/>
                                      </a:rPr>
                                      <m:t>𝑠</m:t>
                                    </m:r>
                                  </m:e>
                                  <m:sub>
                                    <m:r>
                                      <a:rPr lang="en-US" altLang="zh-CN" b="0" i="1" smtClean="0">
                                        <a:solidFill>
                                          <a:schemeClr val="tx1"/>
                                        </a:solidFill>
                                        <a:latin typeface="Cambria Math" panose="02040503050406030204" pitchFamily="18" charset="0"/>
                                        <a:ea typeface="黑体" panose="02010609060101010101" pitchFamily="49" charset="-122"/>
                                      </a:rPr>
                                      <m:t>2,1</m:t>
                                    </m:r>
                                  </m:sub>
                                </m:sSub>
                              </m:oMath>
                            </m:oMathPara>
                          </a14:m>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8835985"/>
                      </a:ext>
                    </a:extLst>
                  </a:tr>
                  <a:tr h="762616">
                    <a:tc>
                      <a:txBody>
                        <a:bodyPr/>
                        <a:lstStyle/>
                        <a:p>
                          <a:pPr algn="ctr"/>
                          <a14:m>
                            <m:oMath xmlns:m="http://schemas.openxmlformats.org/officeDocument/2006/math">
                              <m:sSub>
                                <m:sSubPr>
                                  <m:ctrlPr>
                                    <a:rPr lang="en-US" altLang="zh-CN" i="1" smtClean="0">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pitchFamily="18" charset="0"/>
                                      <a:ea typeface="黑体" panose="02010609060101010101" pitchFamily="49" charset="-122"/>
                                    </a:rPr>
                                    <m:t>𝑠</m:t>
                                  </m:r>
                                </m:e>
                                <m:sub>
                                  <m:r>
                                    <a:rPr lang="en-US" altLang="zh-CN" b="0" i="1" smtClean="0">
                                      <a:solidFill>
                                        <a:schemeClr val="tx1"/>
                                      </a:solidFill>
                                      <a:latin typeface="Cambria Math" panose="02040503050406030204" pitchFamily="18" charset="0"/>
                                      <a:ea typeface="黑体" panose="02010609060101010101" pitchFamily="49" charset="-122"/>
                                    </a:rPr>
                                    <m:t>1,1</m:t>
                                  </m:r>
                                </m:sub>
                              </m:sSub>
                            </m:oMath>
                          </a14:m>
                          <a:r>
                            <a:rPr lang="zh-CN" altLang="en-US" dirty="0">
                              <a:solidFill>
                                <a:schemeClr val="tx1"/>
                              </a:solidFill>
                            </a:rPr>
                            <a:t>起点</a:t>
                          </a:r>
                          <a:endParaRPr lang="en-US" altLang="zh-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pitchFamily="18" charset="0"/>
                                        <a:ea typeface="黑体" panose="02010609060101010101" pitchFamily="49" charset="-122"/>
                                      </a:rPr>
                                      <m:t>𝑠</m:t>
                                    </m:r>
                                  </m:e>
                                  <m:sub>
                                    <m:r>
                                      <a:rPr lang="en-US" altLang="zh-CN" b="0" i="1" smtClean="0">
                                        <a:solidFill>
                                          <a:schemeClr val="tx1"/>
                                        </a:solidFill>
                                        <a:latin typeface="Cambria Math" panose="02040503050406030204" pitchFamily="18" charset="0"/>
                                        <a:ea typeface="黑体" panose="02010609060101010101" pitchFamily="49" charset="-122"/>
                                      </a:rPr>
                                      <m:t>1,2</m:t>
                                    </m:r>
                                  </m:sub>
                                </m:sSub>
                              </m:oMath>
                            </m:oMathPara>
                          </a14:m>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657093"/>
                      </a:ext>
                    </a:extLst>
                  </a:tr>
                </a:tbl>
              </a:graphicData>
            </a:graphic>
          </p:graphicFrame>
        </mc:Choice>
        <mc:Fallback xmlns="">
          <p:graphicFrame>
            <p:nvGraphicFramePr>
              <p:cNvPr id="2" name="表格 1">
                <a:extLst>
                  <a:ext uri="{FF2B5EF4-FFF2-40B4-BE49-F238E27FC236}">
                    <a16:creationId xmlns:a16="http://schemas.microsoft.com/office/drawing/2014/main" id="{8C046B85-B121-A625-F84D-A5103B5AC358}"/>
                  </a:ext>
                </a:extLst>
              </p:cNvPr>
              <p:cNvGraphicFramePr>
                <a:graphicFrameLocks noGrp="1"/>
              </p:cNvGraphicFramePr>
              <p:nvPr>
                <p:extLst>
                  <p:ext uri="{D42A27DB-BD31-4B8C-83A1-F6EECF244321}">
                    <p14:modId xmlns:p14="http://schemas.microsoft.com/office/powerpoint/2010/main" val="813533232"/>
                  </p:ext>
                </p:extLst>
              </p:nvPr>
            </p:nvGraphicFramePr>
            <p:xfrm>
              <a:off x="325120" y="1616648"/>
              <a:ext cx="2861452" cy="3050464"/>
            </p:xfrm>
            <a:graphic>
              <a:graphicData uri="http://schemas.openxmlformats.org/drawingml/2006/table">
                <a:tbl>
                  <a:tblPr firstRow="1" bandRow="1">
                    <a:tableStyleId>{5C22544A-7EE6-4342-B048-85BDC9FD1C3A}</a:tableStyleId>
                  </a:tblPr>
                  <a:tblGrid>
                    <a:gridCol w="715363">
                      <a:extLst>
                        <a:ext uri="{9D8B030D-6E8A-4147-A177-3AD203B41FA5}">
                          <a16:colId xmlns:a16="http://schemas.microsoft.com/office/drawing/2014/main" val="1670238766"/>
                        </a:ext>
                      </a:extLst>
                    </a:gridCol>
                    <a:gridCol w="715363">
                      <a:extLst>
                        <a:ext uri="{9D8B030D-6E8A-4147-A177-3AD203B41FA5}">
                          <a16:colId xmlns:a16="http://schemas.microsoft.com/office/drawing/2014/main" val="3056630588"/>
                        </a:ext>
                      </a:extLst>
                    </a:gridCol>
                    <a:gridCol w="715363">
                      <a:extLst>
                        <a:ext uri="{9D8B030D-6E8A-4147-A177-3AD203B41FA5}">
                          <a16:colId xmlns:a16="http://schemas.microsoft.com/office/drawing/2014/main" val="4090804096"/>
                        </a:ext>
                      </a:extLst>
                    </a:gridCol>
                    <a:gridCol w="715363">
                      <a:extLst>
                        <a:ext uri="{9D8B030D-6E8A-4147-A177-3AD203B41FA5}">
                          <a16:colId xmlns:a16="http://schemas.microsoft.com/office/drawing/2014/main" val="2301106234"/>
                        </a:ext>
                      </a:extLst>
                    </a:gridCol>
                  </a:tblGrid>
                  <a:tr h="762616">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00000" t="-800" r="-100847" b="-302400"/>
                          </a:stretch>
                        </a:blip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302564" t="-800" r="-1709" b="-302400"/>
                          </a:stretch>
                        </a:blipFill>
                      </a:tcPr>
                    </a:tc>
                    <a:extLst>
                      <a:ext uri="{0D108BD9-81ED-4DB2-BD59-A6C34878D82A}">
                        <a16:rowId xmlns:a16="http://schemas.microsoft.com/office/drawing/2014/main" val="94918515"/>
                      </a:ext>
                    </a:extLst>
                  </a:tr>
                  <a:tr h="762616">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4319969"/>
                      </a:ext>
                    </a:extLst>
                  </a:tr>
                  <a:tr h="762616">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847" t="-201600" r="-300000" b="-101600"/>
                          </a:stretch>
                        </a:blip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8835985"/>
                      </a:ext>
                    </a:extLst>
                  </a:tr>
                  <a:tr h="762616">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847" t="-301600" r="-300000" b="-1600"/>
                          </a:stretch>
                        </a:blip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01709" t="-301600" r="-202564" b="-1600"/>
                          </a:stretch>
                        </a:blip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657093"/>
                      </a:ext>
                    </a:extLst>
                  </a:tr>
                </a:tbl>
              </a:graphicData>
            </a:graphic>
          </p:graphicFrame>
        </mc:Fallback>
      </mc:AlternateContent>
      <p:pic>
        <p:nvPicPr>
          <p:cNvPr id="9" name="图片 8">
            <a:extLst>
              <a:ext uri="{FF2B5EF4-FFF2-40B4-BE49-F238E27FC236}">
                <a16:creationId xmlns:a16="http://schemas.microsoft.com/office/drawing/2014/main" id="{8F08CD98-4AAE-7A52-5C12-CDB49E572057}"/>
              </a:ext>
            </a:extLst>
          </p:cNvPr>
          <p:cNvPicPr>
            <a:picLocks noChangeAspect="1"/>
          </p:cNvPicPr>
          <p:nvPr/>
        </p:nvPicPr>
        <p:blipFill>
          <a:blip r:embed="rId4"/>
          <a:stretch>
            <a:fillRect/>
          </a:stretch>
        </p:blipFill>
        <p:spPr>
          <a:xfrm>
            <a:off x="3294167" y="1605762"/>
            <a:ext cx="5257143" cy="4666667"/>
          </a:xfrm>
          <a:prstGeom prst="rect">
            <a:avLst/>
          </a:prstGeom>
        </p:spPr>
      </p:pic>
    </p:spTree>
    <p:extLst>
      <p:ext uri="{BB962C8B-B14F-4D97-AF65-F5344CB8AC3E}">
        <p14:creationId xmlns:p14="http://schemas.microsoft.com/office/powerpoint/2010/main" val="39460899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动态规划例子</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mc:AlternateContent xmlns:mc="http://schemas.openxmlformats.org/markup-compatibility/2006" xmlns:a14="http://schemas.microsoft.com/office/drawing/2010/main">
        <mc:Choice Requires="a14">
          <p:graphicFrame>
            <p:nvGraphicFramePr>
              <p:cNvPr id="2" name="表格 1">
                <a:extLst>
                  <a:ext uri="{FF2B5EF4-FFF2-40B4-BE49-F238E27FC236}">
                    <a16:creationId xmlns:a16="http://schemas.microsoft.com/office/drawing/2014/main" id="{8C046B85-B121-A625-F84D-A5103B5AC358}"/>
                  </a:ext>
                </a:extLst>
              </p:cNvPr>
              <p:cNvGraphicFramePr>
                <a:graphicFrameLocks noGrp="1"/>
              </p:cNvGraphicFramePr>
              <p:nvPr/>
            </p:nvGraphicFramePr>
            <p:xfrm>
              <a:off x="325120" y="1616648"/>
              <a:ext cx="2861452" cy="3050464"/>
            </p:xfrm>
            <a:graphic>
              <a:graphicData uri="http://schemas.openxmlformats.org/drawingml/2006/table">
                <a:tbl>
                  <a:tblPr firstRow="1" bandRow="1">
                    <a:tableStyleId>{5C22544A-7EE6-4342-B048-85BDC9FD1C3A}</a:tableStyleId>
                  </a:tblPr>
                  <a:tblGrid>
                    <a:gridCol w="715363">
                      <a:extLst>
                        <a:ext uri="{9D8B030D-6E8A-4147-A177-3AD203B41FA5}">
                          <a16:colId xmlns:a16="http://schemas.microsoft.com/office/drawing/2014/main" val="1670238766"/>
                        </a:ext>
                      </a:extLst>
                    </a:gridCol>
                    <a:gridCol w="715363">
                      <a:extLst>
                        <a:ext uri="{9D8B030D-6E8A-4147-A177-3AD203B41FA5}">
                          <a16:colId xmlns:a16="http://schemas.microsoft.com/office/drawing/2014/main" val="3056630588"/>
                        </a:ext>
                      </a:extLst>
                    </a:gridCol>
                    <a:gridCol w="715363">
                      <a:extLst>
                        <a:ext uri="{9D8B030D-6E8A-4147-A177-3AD203B41FA5}">
                          <a16:colId xmlns:a16="http://schemas.microsoft.com/office/drawing/2014/main" val="4090804096"/>
                        </a:ext>
                      </a:extLst>
                    </a:gridCol>
                    <a:gridCol w="715363">
                      <a:extLst>
                        <a:ext uri="{9D8B030D-6E8A-4147-A177-3AD203B41FA5}">
                          <a16:colId xmlns:a16="http://schemas.microsoft.com/office/drawing/2014/main" val="2301106234"/>
                        </a:ext>
                      </a:extLst>
                    </a:gridCol>
                  </a:tblGrid>
                  <a:tr h="762616">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pitchFamily="18" charset="0"/>
                                        <a:ea typeface="黑体" panose="02010609060101010101" pitchFamily="49" charset="-122"/>
                                      </a:rPr>
                                      <m:t>𝑠</m:t>
                                    </m:r>
                                  </m:e>
                                  <m:sub>
                                    <m:r>
                                      <a:rPr lang="en-US" altLang="zh-CN" b="0" i="1" smtClean="0">
                                        <a:solidFill>
                                          <a:schemeClr val="tx1"/>
                                        </a:solidFill>
                                        <a:latin typeface="Cambria Math" panose="02040503050406030204" pitchFamily="18" charset="0"/>
                                        <a:ea typeface="黑体" panose="02010609060101010101" pitchFamily="49" charset="-122"/>
                                      </a:rPr>
                                      <m:t>3,4</m:t>
                                    </m:r>
                                  </m:sub>
                                </m:sSub>
                              </m:oMath>
                            </m:oMathPara>
                          </a14:m>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pitchFamily="18" charset="0"/>
                                        <a:ea typeface="黑体" panose="02010609060101010101" pitchFamily="49" charset="-122"/>
                                      </a:rPr>
                                      <m:t>𝑠</m:t>
                                    </m:r>
                                  </m:e>
                                  <m:sub>
                                    <m:r>
                                      <a:rPr lang="en-US" altLang="zh-CN" b="0" i="1" smtClean="0">
                                        <a:solidFill>
                                          <a:schemeClr val="tx1"/>
                                        </a:solidFill>
                                        <a:latin typeface="Cambria Math" panose="02040503050406030204" pitchFamily="18" charset="0"/>
                                        <a:ea typeface="黑体" panose="02010609060101010101" pitchFamily="49" charset="-122"/>
                                      </a:rPr>
                                      <m:t>4,4</m:t>
                                    </m:r>
                                  </m:sub>
                                </m:sSub>
                              </m:oMath>
                            </m:oMathPara>
                          </a14:m>
                          <a:endParaRPr lang="en-US" altLang="zh-CN" b="0" dirty="0">
                            <a:solidFill>
                              <a:schemeClr val="tx1"/>
                            </a:solidFill>
                          </a:endParaRPr>
                        </a:p>
                        <a:p>
                          <a:r>
                            <a:rPr lang="zh-CN" altLang="en-US" b="0" dirty="0">
                              <a:solidFill>
                                <a:schemeClr val="tx1"/>
                              </a:solidFill>
                            </a:rPr>
                            <a:t>终点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918515"/>
                      </a:ext>
                    </a:extLst>
                  </a:tr>
                  <a:tr h="762616">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4319969"/>
                      </a:ext>
                    </a:extLst>
                  </a:tr>
                  <a:tr h="762616">
                    <a:tc>
                      <a:txBody>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pitchFamily="18" charset="0"/>
                                        <a:ea typeface="黑体" panose="02010609060101010101" pitchFamily="49" charset="-122"/>
                                      </a:rPr>
                                      <m:t>𝑠</m:t>
                                    </m:r>
                                  </m:e>
                                  <m:sub>
                                    <m:r>
                                      <a:rPr lang="en-US" altLang="zh-CN" b="0" i="1" smtClean="0">
                                        <a:solidFill>
                                          <a:schemeClr val="tx1"/>
                                        </a:solidFill>
                                        <a:latin typeface="Cambria Math" panose="02040503050406030204" pitchFamily="18" charset="0"/>
                                        <a:ea typeface="黑体" panose="02010609060101010101" pitchFamily="49" charset="-122"/>
                                      </a:rPr>
                                      <m:t>2,1</m:t>
                                    </m:r>
                                  </m:sub>
                                </m:sSub>
                              </m:oMath>
                            </m:oMathPara>
                          </a14:m>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8835985"/>
                      </a:ext>
                    </a:extLst>
                  </a:tr>
                  <a:tr h="762616">
                    <a:tc>
                      <a:txBody>
                        <a:bodyPr/>
                        <a:lstStyle/>
                        <a:p>
                          <a:pPr algn="ctr"/>
                          <a14:m>
                            <m:oMath xmlns:m="http://schemas.openxmlformats.org/officeDocument/2006/math">
                              <m:sSub>
                                <m:sSubPr>
                                  <m:ctrlPr>
                                    <a:rPr lang="en-US" altLang="zh-CN" i="1" smtClean="0">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pitchFamily="18" charset="0"/>
                                      <a:ea typeface="黑体" panose="02010609060101010101" pitchFamily="49" charset="-122"/>
                                    </a:rPr>
                                    <m:t>𝑠</m:t>
                                  </m:r>
                                </m:e>
                                <m:sub>
                                  <m:r>
                                    <a:rPr lang="en-US" altLang="zh-CN" b="0" i="1" smtClean="0">
                                      <a:solidFill>
                                        <a:schemeClr val="tx1"/>
                                      </a:solidFill>
                                      <a:latin typeface="Cambria Math" panose="02040503050406030204" pitchFamily="18" charset="0"/>
                                      <a:ea typeface="黑体" panose="02010609060101010101" pitchFamily="49" charset="-122"/>
                                    </a:rPr>
                                    <m:t>1,1</m:t>
                                  </m:r>
                                </m:sub>
                              </m:sSub>
                            </m:oMath>
                          </a14:m>
                          <a:r>
                            <a:rPr lang="zh-CN" altLang="en-US" dirty="0">
                              <a:solidFill>
                                <a:schemeClr val="tx1"/>
                              </a:solidFill>
                            </a:rPr>
                            <a:t>起点</a:t>
                          </a:r>
                          <a:endParaRPr lang="en-US" altLang="zh-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pitchFamily="18" charset="0"/>
                                        <a:ea typeface="黑体" panose="02010609060101010101" pitchFamily="49" charset="-122"/>
                                      </a:rPr>
                                      <m:t>𝑠</m:t>
                                    </m:r>
                                  </m:e>
                                  <m:sub>
                                    <m:r>
                                      <a:rPr lang="en-US" altLang="zh-CN" b="0" i="1" smtClean="0">
                                        <a:solidFill>
                                          <a:schemeClr val="tx1"/>
                                        </a:solidFill>
                                        <a:latin typeface="Cambria Math" panose="02040503050406030204" pitchFamily="18" charset="0"/>
                                        <a:ea typeface="黑体" panose="02010609060101010101" pitchFamily="49" charset="-122"/>
                                      </a:rPr>
                                      <m:t>1,2</m:t>
                                    </m:r>
                                  </m:sub>
                                </m:sSub>
                              </m:oMath>
                            </m:oMathPara>
                          </a14:m>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657093"/>
                      </a:ext>
                    </a:extLst>
                  </a:tr>
                </a:tbl>
              </a:graphicData>
            </a:graphic>
          </p:graphicFrame>
        </mc:Choice>
        <mc:Fallback xmlns="">
          <p:graphicFrame>
            <p:nvGraphicFramePr>
              <p:cNvPr id="2" name="表格 1">
                <a:extLst>
                  <a:ext uri="{FF2B5EF4-FFF2-40B4-BE49-F238E27FC236}">
                    <a16:creationId xmlns:a16="http://schemas.microsoft.com/office/drawing/2014/main" id="{8C046B85-B121-A625-F84D-A5103B5AC358}"/>
                  </a:ext>
                </a:extLst>
              </p:cNvPr>
              <p:cNvGraphicFramePr>
                <a:graphicFrameLocks noGrp="1"/>
              </p:cNvGraphicFramePr>
              <p:nvPr/>
            </p:nvGraphicFramePr>
            <p:xfrm>
              <a:off x="325120" y="1616648"/>
              <a:ext cx="2861452" cy="3050464"/>
            </p:xfrm>
            <a:graphic>
              <a:graphicData uri="http://schemas.openxmlformats.org/drawingml/2006/table">
                <a:tbl>
                  <a:tblPr firstRow="1" bandRow="1">
                    <a:tableStyleId>{5C22544A-7EE6-4342-B048-85BDC9FD1C3A}</a:tableStyleId>
                  </a:tblPr>
                  <a:tblGrid>
                    <a:gridCol w="715363">
                      <a:extLst>
                        <a:ext uri="{9D8B030D-6E8A-4147-A177-3AD203B41FA5}">
                          <a16:colId xmlns:a16="http://schemas.microsoft.com/office/drawing/2014/main" val="1670238766"/>
                        </a:ext>
                      </a:extLst>
                    </a:gridCol>
                    <a:gridCol w="715363">
                      <a:extLst>
                        <a:ext uri="{9D8B030D-6E8A-4147-A177-3AD203B41FA5}">
                          <a16:colId xmlns:a16="http://schemas.microsoft.com/office/drawing/2014/main" val="3056630588"/>
                        </a:ext>
                      </a:extLst>
                    </a:gridCol>
                    <a:gridCol w="715363">
                      <a:extLst>
                        <a:ext uri="{9D8B030D-6E8A-4147-A177-3AD203B41FA5}">
                          <a16:colId xmlns:a16="http://schemas.microsoft.com/office/drawing/2014/main" val="4090804096"/>
                        </a:ext>
                      </a:extLst>
                    </a:gridCol>
                    <a:gridCol w="715363">
                      <a:extLst>
                        <a:ext uri="{9D8B030D-6E8A-4147-A177-3AD203B41FA5}">
                          <a16:colId xmlns:a16="http://schemas.microsoft.com/office/drawing/2014/main" val="2301106234"/>
                        </a:ext>
                      </a:extLst>
                    </a:gridCol>
                  </a:tblGrid>
                  <a:tr h="762616">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00000" t="-800" r="-100847" b="-302400"/>
                          </a:stretch>
                        </a:blip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302564" t="-800" r="-1709" b="-302400"/>
                          </a:stretch>
                        </a:blipFill>
                      </a:tcPr>
                    </a:tc>
                    <a:extLst>
                      <a:ext uri="{0D108BD9-81ED-4DB2-BD59-A6C34878D82A}">
                        <a16:rowId xmlns:a16="http://schemas.microsoft.com/office/drawing/2014/main" val="94918515"/>
                      </a:ext>
                    </a:extLst>
                  </a:tr>
                  <a:tr h="762616">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4319969"/>
                      </a:ext>
                    </a:extLst>
                  </a:tr>
                  <a:tr h="762616">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847" t="-201600" r="-300000" b="-101600"/>
                          </a:stretch>
                        </a:blip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8835985"/>
                      </a:ext>
                    </a:extLst>
                  </a:tr>
                  <a:tr h="762616">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847" t="-301600" r="-300000" b="-1600"/>
                          </a:stretch>
                        </a:blip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01709" t="-301600" r="-202564" b="-1600"/>
                          </a:stretch>
                        </a:blip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657093"/>
                      </a:ext>
                    </a:extLst>
                  </a:tr>
                </a:tbl>
              </a:graphicData>
            </a:graphic>
          </p:graphicFrame>
        </mc:Fallback>
      </mc:AlternateContent>
      <p:pic>
        <p:nvPicPr>
          <p:cNvPr id="8" name="图片 7">
            <a:extLst>
              <a:ext uri="{FF2B5EF4-FFF2-40B4-BE49-F238E27FC236}">
                <a16:creationId xmlns:a16="http://schemas.microsoft.com/office/drawing/2014/main" id="{37ADB758-C9FC-2A0C-7643-3F0405E2870C}"/>
              </a:ext>
            </a:extLst>
          </p:cNvPr>
          <p:cNvPicPr>
            <a:picLocks noChangeAspect="1"/>
          </p:cNvPicPr>
          <p:nvPr/>
        </p:nvPicPr>
        <p:blipFill>
          <a:blip r:embed="rId4"/>
          <a:stretch>
            <a:fillRect/>
          </a:stretch>
        </p:blipFill>
        <p:spPr>
          <a:xfrm>
            <a:off x="3440510" y="1616648"/>
            <a:ext cx="8447134" cy="2685386"/>
          </a:xfrm>
          <a:prstGeom prst="rect">
            <a:avLst/>
          </a:prstGeom>
        </p:spPr>
      </p:pic>
      <p:pic>
        <p:nvPicPr>
          <p:cNvPr id="11" name="图片 10">
            <a:extLst>
              <a:ext uri="{FF2B5EF4-FFF2-40B4-BE49-F238E27FC236}">
                <a16:creationId xmlns:a16="http://schemas.microsoft.com/office/drawing/2014/main" id="{84D59858-A083-10E2-961D-3A2C9FE617F6}"/>
              </a:ext>
            </a:extLst>
          </p:cNvPr>
          <p:cNvPicPr>
            <a:picLocks noChangeAspect="1"/>
          </p:cNvPicPr>
          <p:nvPr/>
        </p:nvPicPr>
        <p:blipFill>
          <a:blip r:embed="rId5"/>
          <a:stretch>
            <a:fillRect/>
          </a:stretch>
        </p:blipFill>
        <p:spPr>
          <a:xfrm>
            <a:off x="3501470" y="3699780"/>
            <a:ext cx="5924434" cy="3158219"/>
          </a:xfrm>
          <a:prstGeom prst="rect">
            <a:avLst/>
          </a:prstGeom>
        </p:spPr>
      </p:pic>
    </p:spTree>
    <p:extLst>
      <p:ext uri="{BB962C8B-B14F-4D97-AF65-F5344CB8AC3E}">
        <p14:creationId xmlns:p14="http://schemas.microsoft.com/office/powerpoint/2010/main" val="1221706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动态规划例子</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mc:AlternateContent xmlns:mc="http://schemas.openxmlformats.org/markup-compatibility/2006" xmlns:a14="http://schemas.microsoft.com/office/drawing/2010/main">
        <mc:Choice Requires="a14">
          <p:graphicFrame>
            <p:nvGraphicFramePr>
              <p:cNvPr id="2" name="表格 1">
                <a:extLst>
                  <a:ext uri="{FF2B5EF4-FFF2-40B4-BE49-F238E27FC236}">
                    <a16:creationId xmlns:a16="http://schemas.microsoft.com/office/drawing/2014/main" id="{8C046B85-B121-A625-F84D-A5103B5AC358}"/>
                  </a:ext>
                </a:extLst>
              </p:cNvPr>
              <p:cNvGraphicFramePr>
                <a:graphicFrameLocks noGrp="1"/>
              </p:cNvGraphicFramePr>
              <p:nvPr/>
            </p:nvGraphicFramePr>
            <p:xfrm>
              <a:off x="325120" y="1616648"/>
              <a:ext cx="2861452" cy="3050464"/>
            </p:xfrm>
            <a:graphic>
              <a:graphicData uri="http://schemas.openxmlformats.org/drawingml/2006/table">
                <a:tbl>
                  <a:tblPr firstRow="1" bandRow="1">
                    <a:tableStyleId>{5C22544A-7EE6-4342-B048-85BDC9FD1C3A}</a:tableStyleId>
                  </a:tblPr>
                  <a:tblGrid>
                    <a:gridCol w="715363">
                      <a:extLst>
                        <a:ext uri="{9D8B030D-6E8A-4147-A177-3AD203B41FA5}">
                          <a16:colId xmlns:a16="http://schemas.microsoft.com/office/drawing/2014/main" val="1670238766"/>
                        </a:ext>
                      </a:extLst>
                    </a:gridCol>
                    <a:gridCol w="715363">
                      <a:extLst>
                        <a:ext uri="{9D8B030D-6E8A-4147-A177-3AD203B41FA5}">
                          <a16:colId xmlns:a16="http://schemas.microsoft.com/office/drawing/2014/main" val="3056630588"/>
                        </a:ext>
                      </a:extLst>
                    </a:gridCol>
                    <a:gridCol w="715363">
                      <a:extLst>
                        <a:ext uri="{9D8B030D-6E8A-4147-A177-3AD203B41FA5}">
                          <a16:colId xmlns:a16="http://schemas.microsoft.com/office/drawing/2014/main" val="4090804096"/>
                        </a:ext>
                      </a:extLst>
                    </a:gridCol>
                    <a:gridCol w="715363">
                      <a:extLst>
                        <a:ext uri="{9D8B030D-6E8A-4147-A177-3AD203B41FA5}">
                          <a16:colId xmlns:a16="http://schemas.microsoft.com/office/drawing/2014/main" val="2301106234"/>
                        </a:ext>
                      </a:extLst>
                    </a:gridCol>
                  </a:tblGrid>
                  <a:tr h="762616">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pitchFamily="18" charset="0"/>
                                        <a:ea typeface="黑体" panose="02010609060101010101" pitchFamily="49" charset="-122"/>
                                      </a:rPr>
                                      <m:t>𝑠</m:t>
                                    </m:r>
                                  </m:e>
                                  <m:sub>
                                    <m:r>
                                      <a:rPr lang="en-US" altLang="zh-CN" b="0" i="1" smtClean="0">
                                        <a:solidFill>
                                          <a:schemeClr val="tx1"/>
                                        </a:solidFill>
                                        <a:latin typeface="Cambria Math" panose="02040503050406030204" pitchFamily="18" charset="0"/>
                                        <a:ea typeface="黑体" panose="02010609060101010101" pitchFamily="49" charset="-122"/>
                                      </a:rPr>
                                      <m:t>3,4</m:t>
                                    </m:r>
                                  </m:sub>
                                </m:sSub>
                              </m:oMath>
                            </m:oMathPara>
                          </a14:m>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pitchFamily="18" charset="0"/>
                                        <a:ea typeface="黑体" panose="02010609060101010101" pitchFamily="49" charset="-122"/>
                                      </a:rPr>
                                      <m:t>𝑠</m:t>
                                    </m:r>
                                  </m:e>
                                  <m:sub>
                                    <m:r>
                                      <a:rPr lang="en-US" altLang="zh-CN" b="0" i="1" smtClean="0">
                                        <a:solidFill>
                                          <a:schemeClr val="tx1"/>
                                        </a:solidFill>
                                        <a:latin typeface="Cambria Math" panose="02040503050406030204" pitchFamily="18" charset="0"/>
                                        <a:ea typeface="黑体" panose="02010609060101010101" pitchFamily="49" charset="-122"/>
                                      </a:rPr>
                                      <m:t>4,4</m:t>
                                    </m:r>
                                  </m:sub>
                                </m:sSub>
                              </m:oMath>
                            </m:oMathPara>
                          </a14:m>
                          <a:endParaRPr lang="en-US" altLang="zh-CN" b="0" dirty="0">
                            <a:solidFill>
                              <a:schemeClr val="tx1"/>
                            </a:solidFill>
                          </a:endParaRPr>
                        </a:p>
                        <a:p>
                          <a:r>
                            <a:rPr lang="zh-CN" altLang="en-US" b="0" dirty="0">
                              <a:solidFill>
                                <a:schemeClr val="tx1"/>
                              </a:solidFill>
                            </a:rPr>
                            <a:t>终点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918515"/>
                      </a:ext>
                    </a:extLst>
                  </a:tr>
                  <a:tr h="762616">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4319969"/>
                      </a:ext>
                    </a:extLst>
                  </a:tr>
                  <a:tr h="762616">
                    <a:tc>
                      <a:txBody>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pitchFamily="18" charset="0"/>
                                        <a:ea typeface="黑体" panose="02010609060101010101" pitchFamily="49" charset="-122"/>
                                      </a:rPr>
                                      <m:t>𝑠</m:t>
                                    </m:r>
                                  </m:e>
                                  <m:sub>
                                    <m:r>
                                      <a:rPr lang="en-US" altLang="zh-CN" b="0" i="1" smtClean="0">
                                        <a:solidFill>
                                          <a:schemeClr val="tx1"/>
                                        </a:solidFill>
                                        <a:latin typeface="Cambria Math" panose="02040503050406030204" pitchFamily="18" charset="0"/>
                                        <a:ea typeface="黑体" panose="02010609060101010101" pitchFamily="49" charset="-122"/>
                                      </a:rPr>
                                      <m:t>2,1</m:t>
                                    </m:r>
                                  </m:sub>
                                </m:sSub>
                              </m:oMath>
                            </m:oMathPara>
                          </a14:m>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8835985"/>
                      </a:ext>
                    </a:extLst>
                  </a:tr>
                  <a:tr h="762616">
                    <a:tc>
                      <a:txBody>
                        <a:bodyPr/>
                        <a:lstStyle/>
                        <a:p>
                          <a:pPr algn="ctr"/>
                          <a14:m>
                            <m:oMath xmlns:m="http://schemas.openxmlformats.org/officeDocument/2006/math">
                              <m:sSub>
                                <m:sSubPr>
                                  <m:ctrlPr>
                                    <a:rPr lang="en-US" altLang="zh-CN" i="1" smtClean="0">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pitchFamily="18" charset="0"/>
                                      <a:ea typeface="黑体" panose="02010609060101010101" pitchFamily="49" charset="-122"/>
                                    </a:rPr>
                                    <m:t>𝑠</m:t>
                                  </m:r>
                                </m:e>
                                <m:sub>
                                  <m:r>
                                    <a:rPr lang="en-US" altLang="zh-CN" b="0" i="1" smtClean="0">
                                      <a:solidFill>
                                        <a:schemeClr val="tx1"/>
                                      </a:solidFill>
                                      <a:latin typeface="Cambria Math" panose="02040503050406030204" pitchFamily="18" charset="0"/>
                                      <a:ea typeface="黑体" panose="02010609060101010101" pitchFamily="49" charset="-122"/>
                                    </a:rPr>
                                    <m:t>1,1</m:t>
                                  </m:r>
                                </m:sub>
                              </m:sSub>
                            </m:oMath>
                          </a14:m>
                          <a:r>
                            <a:rPr lang="zh-CN" altLang="en-US" dirty="0">
                              <a:solidFill>
                                <a:schemeClr val="tx1"/>
                              </a:solidFill>
                            </a:rPr>
                            <a:t>起点</a:t>
                          </a:r>
                          <a:endParaRPr lang="en-US" altLang="zh-C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ea typeface="黑体" panose="02010609060101010101" pitchFamily="49" charset="-122"/>
                                      </a:rPr>
                                    </m:ctrlPr>
                                  </m:sSubPr>
                                  <m:e>
                                    <m:r>
                                      <a:rPr lang="en-US" altLang="zh-CN" b="0" i="1" smtClean="0">
                                        <a:solidFill>
                                          <a:schemeClr val="tx1"/>
                                        </a:solidFill>
                                        <a:latin typeface="Cambria Math" panose="02040503050406030204" pitchFamily="18" charset="0"/>
                                        <a:ea typeface="黑体" panose="02010609060101010101" pitchFamily="49" charset="-122"/>
                                      </a:rPr>
                                      <m:t>𝑠</m:t>
                                    </m:r>
                                  </m:e>
                                  <m:sub>
                                    <m:r>
                                      <a:rPr lang="en-US" altLang="zh-CN" b="0" i="1" smtClean="0">
                                        <a:solidFill>
                                          <a:schemeClr val="tx1"/>
                                        </a:solidFill>
                                        <a:latin typeface="Cambria Math" panose="02040503050406030204" pitchFamily="18" charset="0"/>
                                        <a:ea typeface="黑体" panose="02010609060101010101" pitchFamily="49" charset="-122"/>
                                      </a:rPr>
                                      <m:t>1,2</m:t>
                                    </m:r>
                                  </m:sub>
                                </m:sSub>
                              </m:oMath>
                            </m:oMathPara>
                          </a14:m>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657093"/>
                      </a:ext>
                    </a:extLst>
                  </a:tr>
                </a:tbl>
              </a:graphicData>
            </a:graphic>
          </p:graphicFrame>
        </mc:Choice>
        <mc:Fallback xmlns="">
          <p:graphicFrame>
            <p:nvGraphicFramePr>
              <p:cNvPr id="2" name="表格 1">
                <a:extLst>
                  <a:ext uri="{FF2B5EF4-FFF2-40B4-BE49-F238E27FC236}">
                    <a16:creationId xmlns:a16="http://schemas.microsoft.com/office/drawing/2014/main" id="{8C046B85-B121-A625-F84D-A5103B5AC358}"/>
                  </a:ext>
                </a:extLst>
              </p:cNvPr>
              <p:cNvGraphicFramePr>
                <a:graphicFrameLocks noGrp="1"/>
              </p:cNvGraphicFramePr>
              <p:nvPr/>
            </p:nvGraphicFramePr>
            <p:xfrm>
              <a:off x="325120" y="1616648"/>
              <a:ext cx="2861452" cy="3050464"/>
            </p:xfrm>
            <a:graphic>
              <a:graphicData uri="http://schemas.openxmlformats.org/drawingml/2006/table">
                <a:tbl>
                  <a:tblPr firstRow="1" bandRow="1">
                    <a:tableStyleId>{5C22544A-7EE6-4342-B048-85BDC9FD1C3A}</a:tableStyleId>
                  </a:tblPr>
                  <a:tblGrid>
                    <a:gridCol w="715363">
                      <a:extLst>
                        <a:ext uri="{9D8B030D-6E8A-4147-A177-3AD203B41FA5}">
                          <a16:colId xmlns:a16="http://schemas.microsoft.com/office/drawing/2014/main" val="1670238766"/>
                        </a:ext>
                      </a:extLst>
                    </a:gridCol>
                    <a:gridCol w="715363">
                      <a:extLst>
                        <a:ext uri="{9D8B030D-6E8A-4147-A177-3AD203B41FA5}">
                          <a16:colId xmlns:a16="http://schemas.microsoft.com/office/drawing/2014/main" val="3056630588"/>
                        </a:ext>
                      </a:extLst>
                    </a:gridCol>
                    <a:gridCol w="715363">
                      <a:extLst>
                        <a:ext uri="{9D8B030D-6E8A-4147-A177-3AD203B41FA5}">
                          <a16:colId xmlns:a16="http://schemas.microsoft.com/office/drawing/2014/main" val="4090804096"/>
                        </a:ext>
                      </a:extLst>
                    </a:gridCol>
                    <a:gridCol w="715363">
                      <a:extLst>
                        <a:ext uri="{9D8B030D-6E8A-4147-A177-3AD203B41FA5}">
                          <a16:colId xmlns:a16="http://schemas.microsoft.com/office/drawing/2014/main" val="2301106234"/>
                        </a:ext>
                      </a:extLst>
                    </a:gridCol>
                  </a:tblGrid>
                  <a:tr h="762616">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00000" t="-800" r="-100847" b="-302400"/>
                          </a:stretch>
                        </a:blip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302564" t="-800" r="-1709" b="-302400"/>
                          </a:stretch>
                        </a:blipFill>
                      </a:tcPr>
                    </a:tc>
                    <a:extLst>
                      <a:ext uri="{0D108BD9-81ED-4DB2-BD59-A6C34878D82A}">
                        <a16:rowId xmlns:a16="http://schemas.microsoft.com/office/drawing/2014/main" val="94918515"/>
                      </a:ext>
                    </a:extLst>
                  </a:tr>
                  <a:tr h="762616">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4319969"/>
                      </a:ext>
                    </a:extLst>
                  </a:tr>
                  <a:tr h="762616">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847" t="-201600" r="-300000" b="-101600"/>
                          </a:stretch>
                        </a:blip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8835985"/>
                      </a:ext>
                    </a:extLst>
                  </a:tr>
                  <a:tr h="762616">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847" t="-301600" r="-300000" b="-1600"/>
                          </a:stretch>
                        </a:blip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01709" t="-301600" r="-202564" b="-1600"/>
                          </a:stretch>
                        </a:blip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657093"/>
                      </a:ext>
                    </a:extLst>
                  </a:tr>
                </a:tbl>
              </a:graphicData>
            </a:graphic>
          </p:graphicFrame>
        </mc:Fallback>
      </mc:AlternateContent>
      <p:pic>
        <p:nvPicPr>
          <p:cNvPr id="11" name="图片 10">
            <a:extLst>
              <a:ext uri="{FF2B5EF4-FFF2-40B4-BE49-F238E27FC236}">
                <a16:creationId xmlns:a16="http://schemas.microsoft.com/office/drawing/2014/main" id="{84D59858-A083-10E2-961D-3A2C9FE617F6}"/>
              </a:ext>
            </a:extLst>
          </p:cNvPr>
          <p:cNvPicPr>
            <a:picLocks noChangeAspect="1"/>
          </p:cNvPicPr>
          <p:nvPr/>
        </p:nvPicPr>
        <p:blipFill>
          <a:blip r:embed="rId4"/>
          <a:stretch>
            <a:fillRect/>
          </a:stretch>
        </p:blipFill>
        <p:spPr>
          <a:xfrm>
            <a:off x="3501470" y="1616648"/>
            <a:ext cx="7422546" cy="3956838"/>
          </a:xfrm>
          <a:prstGeom prst="rect">
            <a:avLst/>
          </a:prstGeom>
        </p:spPr>
      </p:pic>
    </p:spTree>
    <p:extLst>
      <p:ext uri="{BB962C8B-B14F-4D97-AF65-F5344CB8AC3E}">
        <p14:creationId xmlns:p14="http://schemas.microsoft.com/office/powerpoint/2010/main" val="42062117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蒙特卡洛采样</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p:grpSp>
        <p:nvGrpSpPr>
          <p:cNvPr id="34" name="组合 33">
            <a:extLst>
              <a:ext uri="{FF2B5EF4-FFF2-40B4-BE49-F238E27FC236}">
                <a16:creationId xmlns:a16="http://schemas.microsoft.com/office/drawing/2014/main" id="{0B8B6FF7-5971-41EA-BA5E-B282CD18D2C8}"/>
              </a:ext>
            </a:extLst>
          </p:cNvPr>
          <p:cNvGrpSpPr/>
          <p:nvPr/>
        </p:nvGrpSpPr>
        <p:grpSpPr>
          <a:xfrm>
            <a:off x="8175989" y="3006390"/>
            <a:ext cx="1478757" cy="1971668"/>
            <a:chOff x="8158160" y="4067172"/>
            <a:chExt cx="1971676" cy="1971668"/>
          </a:xfrm>
        </p:grpSpPr>
        <mc:AlternateContent xmlns:mc="http://schemas.openxmlformats.org/markup-compatibility/2006" xmlns:a14="http://schemas.microsoft.com/office/drawing/2010/main">
          <mc:Choice Requires="a14">
            <p:sp>
              <p:nvSpPr>
                <p:cNvPr id="35" name="矩形 34">
                  <a:extLst>
                    <a:ext uri="{FF2B5EF4-FFF2-40B4-BE49-F238E27FC236}">
                      <a16:creationId xmlns:a16="http://schemas.microsoft.com/office/drawing/2014/main" id="{668AD1B0-527F-4947-A1E6-BA6E2A74E083}"/>
                    </a:ext>
                  </a:extLst>
                </p:cNvPr>
                <p:cNvSpPr/>
                <p:nvPr/>
              </p:nvSpPr>
              <p:spPr>
                <a:xfrm>
                  <a:off x="8158162" y="4067173"/>
                  <a:ext cx="657225" cy="657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ea typeface="黑体" pitchFamily="49" charset="-122"/>
                              </a:rPr>
                            </m:ctrlPr>
                          </m:sSubPr>
                          <m:e>
                            <m:r>
                              <a:rPr lang="en-US" altLang="zh-CN" sz="1600" i="1">
                                <a:latin typeface="Cambria Math" panose="02040503050406030204" pitchFamily="18" charset="0"/>
                                <a:ea typeface="黑体" pitchFamily="49" charset="-122"/>
                              </a:rPr>
                              <m:t>𝑠</m:t>
                            </m:r>
                          </m:e>
                          <m:sub>
                            <m:r>
                              <a:rPr lang="en-US" altLang="zh-CN" sz="1600" b="0" i="1" smtClean="0">
                                <a:latin typeface="Cambria Math" panose="02040503050406030204" pitchFamily="18" charset="0"/>
                                <a:ea typeface="黑体" pitchFamily="49" charset="-122"/>
                              </a:rPr>
                              <m:t>7</m:t>
                            </m:r>
                          </m:sub>
                        </m:sSub>
                      </m:oMath>
                    </m:oMathPara>
                  </a14:m>
                  <a:endParaRPr lang="zh-CN" altLang="en-US" sz="1600" dirty="0">
                    <a:ea typeface="黑体" pitchFamily="49" charset="-122"/>
                  </a:endParaRPr>
                </a:p>
              </p:txBody>
            </p:sp>
          </mc:Choice>
          <mc:Fallback xmlns="">
            <p:sp>
              <p:nvSpPr>
                <p:cNvPr id="35" name="矩形 34">
                  <a:extLst>
                    <a:ext uri="{FF2B5EF4-FFF2-40B4-BE49-F238E27FC236}">
                      <a16:creationId xmlns:a16="http://schemas.microsoft.com/office/drawing/2014/main" id="{668AD1B0-527F-4947-A1E6-BA6E2A74E083}"/>
                    </a:ext>
                  </a:extLst>
                </p:cNvPr>
                <p:cNvSpPr>
                  <a:spLocks noRot="1" noChangeAspect="1" noMove="1" noResize="1" noEditPoints="1" noAdjustHandles="1" noChangeArrowheads="1" noChangeShapeType="1" noTextEdit="1"/>
                </p:cNvSpPr>
                <p:nvPr/>
              </p:nvSpPr>
              <p:spPr>
                <a:xfrm>
                  <a:off x="8158162" y="4067173"/>
                  <a:ext cx="657225" cy="65722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矩形 35">
                  <a:extLst>
                    <a:ext uri="{FF2B5EF4-FFF2-40B4-BE49-F238E27FC236}">
                      <a16:creationId xmlns:a16="http://schemas.microsoft.com/office/drawing/2014/main" id="{7FFF98B1-41D6-41E2-B99C-43E2460327C7}"/>
                    </a:ext>
                  </a:extLst>
                </p:cNvPr>
                <p:cNvSpPr/>
                <p:nvPr/>
              </p:nvSpPr>
              <p:spPr>
                <a:xfrm>
                  <a:off x="8815386" y="4067173"/>
                  <a:ext cx="657225" cy="657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ea typeface="黑体" pitchFamily="49" charset="-122"/>
                              </a:rPr>
                            </m:ctrlPr>
                          </m:sSubPr>
                          <m:e>
                            <m:r>
                              <a:rPr lang="en-US" altLang="zh-CN" sz="1600" i="1">
                                <a:latin typeface="Cambria Math" panose="02040503050406030204" pitchFamily="18" charset="0"/>
                                <a:ea typeface="黑体" pitchFamily="49" charset="-122"/>
                              </a:rPr>
                              <m:t>𝑠</m:t>
                            </m:r>
                          </m:e>
                          <m:sub>
                            <m:r>
                              <a:rPr lang="en-US" altLang="zh-CN" sz="1600" b="0" i="1" smtClean="0">
                                <a:latin typeface="Cambria Math" panose="02040503050406030204" pitchFamily="18" charset="0"/>
                                <a:ea typeface="黑体" pitchFamily="49" charset="-122"/>
                              </a:rPr>
                              <m:t>8</m:t>
                            </m:r>
                          </m:sub>
                        </m:sSub>
                      </m:oMath>
                    </m:oMathPara>
                  </a14:m>
                  <a:endParaRPr lang="zh-CN" altLang="en-US" sz="1600" dirty="0">
                    <a:ea typeface="黑体" pitchFamily="49" charset="-122"/>
                  </a:endParaRPr>
                </a:p>
              </p:txBody>
            </p:sp>
          </mc:Choice>
          <mc:Fallback xmlns="">
            <p:sp>
              <p:nvSpPr>
                <p:cNvPr id="36" name="矩形 35">
                  <a:extLst>
                    <a:ext uri="{FF2B5EF4-FFF2-40B4-BE49-F238E27FC236}">
                      <a16:creationId xmlns:a16="http://schemas.microsoft.com/office/drawing/2014/main" id="{7FFF98B1-41D6-41E2-B99C-43E2460327C7}"/>
                    </a:ext>
                  </a:extLst>
                </p:cNvPr>
                <p:cNvSpPr>
                  <a:spLocks noRot="1" noChangeAspect="1" noMove="1" noResize="1" noEditPoints="1" noAdjustHandles="1" noChangeArrowheads="1" noChangeShapeType="1" noTextEdit="1"/>
                </p:cNvSpPr>
                <p:nvPr/>
              </p:nvSpPr>
              <p:spPr>
                <a:xfrm>
                  <a:off x="8815386" y="4067173"/>
                  <a:ext cx="657225" cy="65722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矩形 36">
                  <a:extLst>
                    <a:ext uri="{FF2B5EF4-FFF2-40B4-BE49-F238E27FC236}">
                      <a16:creationId xmlns:a16="http://schemas.microsoft.com/office/drawing/2014/main" id="{89C36137-F893-40D8-B5D1-531352B055C4}"/>
                    </a:ext>
                  </a:extLst>
                </p:cNvPr>
                <p:cNvSpPr/>
                <p:nvPr/>
              </p:nvSpPr>
              <p:spPr>
                <a:xfrm>
                  <a:off x="9472611" y="4067172"/>
                  <a:ext cx="657225" cy="657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ea typeface="黑体" pitchFamily="49" charset="-122"/>
                              </a:rPr>
                            </m:ctrlPr>
                          </m:sSubPr>
                          <m:e>
                            <m:r>
                              <a:rPr lang="en-US" altLang="zh-CN" sz="1600" i="1">
                                <a:latin typeface="Cambria Math" panose="02040503050406030204" pitchFamily="18" charset="0"/>
                                <a:ea typeface="黑体" pitchFamily="49" charset="-122"/>
                              </a:rPr>
                              <m:t>𝑠</m:t>
                            </m:r>
                          </m:e>
                          <m:sub>
                            <m:r>
                              <a:rPr lang="en-US" altLang="zh-CN" sz="1600" b="0" i="1" smtClean="0">
                                <a:latin typeface="Cambria Math" panose="02040503050406030204" pitchFamily="18" charset="0"/>
                                <a:ea typeface="黑体" pitchFamily="49" charset="-122"/>
                              </a:rPr>
                              <m:t>9</m:t>
                            </m:r>
                          </m:sub>
                        </m:sSub>
                      </m:oMath>
                    </m:oMathPara>
                  </a14:m>
                  <a:endParaRPr lang="zh-CN" altLang="en-US" sz="1600" dirty="0">
                    <a:ea typeface="黑体" pitchFamily="49" charset="-122"/>
                  </a:endParaRPr>
                </a:p>
              </p:txBody>
            </p:sp>
          </mc:Choice>
          <mc:Fallback xmlns="">
            <p:sp>
              <p:nvSpPr>
                <p:cNvPr id="37" name="矩形 36">
                  <a:extLst>
                    <a:ext uri="{FF2B5EF4-FFF2-40B4-BE49-F238E27FC236}">
                      <a16:creationId xmlns:a16="http://schemas.microsoft.com/office/drawing/2014/main" id="{89C36137-F893-40D8-B5D1-531352B055C4}"/>
                    </a:ext>
                  </a:extLst>
                </p:cNvPr>
                <p:cNvSpPr>
                  <a:spLocks noRot="1" noChangeAspect="1" noMove="1" noResize="1" noEditPoints="1" noAdjustHandles="1" noChangeArrowheads="1" noChangeShapeType="1" noTextEdit="1"/>
                </p:cNvSpPr>
                <p:nvPr/>
              </p:nvSpPr>
              <p:spPr>
                <a:xfrm>
                  <a:off x="9472611" y="4067172"/>
                  <a:ext cx="657225" cy="65722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矩形 37">
                  <a:extLst>
                    <a:ext uri="{FF2B5EF4-FFF2-40B4-BE49-F238E27FC236}">
                      <a16:creationId xmlns:a16="http://schemas.microsoft.com/office/drawing/2014/main" id="{EEE9EAEF-A8CF-4E76-94BB-CAC220386E1D}"/>
                    </a:ext>
                  </a:extLst>
                </p:cNvPr>
                <p:cNvSpPr/>
                <p:nvPr/>
              </p:nvSpPr>
              <p:spPr>
                <a:xfrm>
                  <a:off x="8158161" y="4724396"/>
                  <a:ext cx="657225" cy="657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ea typeface="黑体" pitchFamily="49" charset="-122"/>
                              </a:rPr>
                            </m:ctrlPr>
                          </m:sSubPr>
                          <m:e>
                            <m:r>
                              <a:rPr lang="en-US" altLang="zh-CN" sz="1600" i="1">
                                <a:latin typeface="Cambria Math" panose="02040503050406030204" pitchFamily="18" charset="0"/>
                                <a:ea typeface="黑体" pitchFamily="49" charset="-122"/>
                              </a:rPr>
                              <m:t>𝑠</m:t>
                            </m:r>
                          </m:e>
                          <m:sub>
                            <m:r>
                              <a:rPr lang="en-US" altLang="zh-CN" sz="1600" b="0" i="1" smtClean="0">
                                <a:latin typeface="Cambria Math" panose="02040503050406030204" pitchFamily="18" charset="0"/>
                                <a:ea typeface="黑体" pitchFamily="49" charset="-122"/>
                              </a:rPr>
                              <m:t>4</m:t>
                            </m:r>
                          </m:sub>
                        </m:sSub>
                      </m:oMath>
                    </m:oMathPara>
                  </a14:m>
                  <a:endParaRPr lang="zh-CN" altLang="en-US" sz="1600" dirty="0">
                    <a:ea typeface="黑体" pitchFamily="49" charset="-122"/>
                  </a:endParaRPr>
                </a:p>
              </p:txBody>
            </p:sp>
          </mc:Choice>
          <mc:Fallback xmlns="">
            <p:sp>
              <p:nvSpPr>
                <p:cNvPr id="38" name="矩形 37">
                  <a:extLst>
                    <a:ext uri="{FF2B5EF4-FFF2-40B4-BE49-F238E27FC236}">
                      <a16:creationId xmlns:a16="http://schemas.microsoft.com/office/drawing/2014/main" id="{EEE9EAEF-A8CF-4E76-94BB-CAC220386E1D}"/>
                    </a:ext>
                  </a:extLst>
                </p:cNvPr>
                <p:cNvSpPr>
                  <a:spLocks noRot="1" noChangeAspect="1" noMove="1" noResize="1" noEditPoints="1" noAdjustHandles="1" noChangeArrowheads="1" noChangeShapeType="1" noTextEdit="1"/>
                </p:cNvSpPr>
                <p:nvPr/>
              </p:nvSpPr>
              <p:spPr>
                <a:xfrm>
                  <a:off x="8158161" y="4724396"/>
                  <a:ext cx="657225" cy="657225"/>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矩形 38">
                  <a:extLst>
                    <a:ext uri="{FF2B5EF4-FFF2-40B4-BE49-F238E27FC236}">
                      <a16:creationId xmlns:a16="http://schemas.microsoft.com/office/drawing/2014/main" id="{3AD8DA39-7CF4-4C14-A064-20C2A5AD6AB0}"/>
                    </a:ext>
                  </a:extLst>
                </p:cNvPr>
                <p:cNvSpPr/>
                <p:nvPr/>
              </p:nvSpPr>
              <p:spPr>
                <a:xfrm>
                  <a:off x="8815385" y="4724393"/>
                  <a:ext cx="657225" cy="657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ea typeface="黑体" pitchFamily="49" charset="-122"/>
                              </a:rPr>
                            </m:ctrlPr>
                          </m:sSubPr>
                          <m:e>
                            <m:r>
                              <a:rPr lang="en-US" altLang="zh-CN" sz="1600" i="1">
                                <a:latin typeface="Cambria Math" panose="02040503050406030204" pitchFamily="18" charset="0"/>
                                <a:ea typeface="黑体" pitchFamily="49" charset="-122"/>
                              </a:rPr>
                              <m:t>𝑠</m:t>
                            </m:r>
                          </m:e>
                          <m:sub>
                            <m:r>
                              <a:rPr lang="en-US" altLang="zh-CN" sz="1600" b="0" i="1" smtClean="0">
                                <a:latin typeface="Cambria Math" panose="02040503050406030204" pitchFamily="18" charset="0"/>
                                <a:ea typeface="黑体" pitchFamily="49" charset="-122"/>
                              </a:rPr>
                              <m:t>5</m:t>
                            </m:r>
                          </m:sub>
                        </m:sSub>
                      </m:oMath>
                    </m:oMathPara>
                  </a14:m>
                  <a:endParaRPr lang="zh-CN" altLang="en-US" sz="1600" dirty="0">
                    <a:ea typeface="黑体" pitchFamily="49" charset="-122"/>
                  </a:endParaRPr>
                </a:p>
              </p:txBody>
            </p:sp>
          </mc:Choice>
          <mc:Fallback xmlns="">
            <p:sp>
              <p:nvSpPr>
                <p:cNvPr id="39" name="矩形 38">
                  <a:extLst>
                    <a:ext uri="{FF2B5EF4-FFF2-40B4-BE49-F238E27FC236}">
                      <a16:creationId xmlns:a16="http://schemas.microsoft.com/office/drawing/2014/main" id="{3AD8DA39-7CF4-4C14-A064-20C2A5AD6AB0}"/>
                    </a:ext>
                  </a:extLst>
                </p:cNvPr>
                <p:cNvSpPr>
                  <a:spLocks noRot="1" noChangeAspect="1" noMove="1" noResize="1" noEditPoints="1" noAdjustHandles="1" noChangeArrowheads="1" noChangeShapeType="1" noTextEdit="1"/>
                </p:cNvSpPr>
                <p:nvPr/>
              </p:nvSpPr>
              <p:spPr>
                <a:xfrm>
                  <a:off x="8815385" y="4724393"/>
                  <a:ext cx="657225" cy="657225"/>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矩形 39">
                  <a:extLst>
                    <a:ext uri="{FF2B5EF4-FFF2-40B4-BE49-F238E27FC236}">
                      <a16:creationId xmlns:a16="http://schemas.microsoft.com/office/drawing/2014/main" id="{BA850761-582A-4CD4-93DF-F8CC135D373A}"/>
                    </a:ext>
                  </a:extLst>
                </p:cNvPr>
                <p:cNvSpPr/>
                <p:nvPr/>
              </p:nvSpPr>
              <p:spPr>
                <a:xfrm>
                  <a:off x="9472595" y="4719517"/>
                  <a:ext cx="657225" cy="657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ea typeface="黑体" pitchFamily="49" charset="-122"/>
                              </a:rPr>
                            </m:ctrlPr>
                          </m:sSubPr>
                          <m:e>
                            <m:r>
                              <a:rPr lang="en-US" altLang="zh-CN" sz="1600" i="1">
                                <a:latin typeface="Cambria Math" panose="02040503050406030204" pitchFamily="18" charset="0"/>
                                <a:ea typeface="黑体" pitchFamily="49" charset="-122"/>
                              </a:rPr>
                              <m:t>𝑠</m:t>
                            </m:r>
                          </m:e>
                          <m:sub>
                            <m:r>
                              <a:rPr lang="en-US" altLang="zh-CN" sz="1600" b="0" i="1" smtClean="0">
                                <a:latin typeface="Cambria Math" panose="02040503050406030204" pitchFamily="18" charset="0"/>
                                <a:ea typeface="黑体" pitchFamily="49" charset="-122"/>
                              </a:rPr>
                              <m:t>6</m:t>
                            </m:r>
                          </m:sub>
                        </m:sSub>
                      </m:oMath>
                    </m:oMathPara>
                  </a14:m>
                  <a:endParaRPr lang="zh-CN" altLang="en-US" sz="1600" dirty="0">
                    <a:ea typeface="黑体" pitchFamily="49" charset="-122"/>
                  </a:endParaRPr>
                </a:p>
              </p:txBody>
            </p:sp>
          </mc:Choice>
          <mc:Fallback xmlns="">
            <p:sp>
              <p:nvSpPr>
                <p:cNvPr id="40" name="矩形 39">
                  <a:extLst>
                    <a:ext uri="{FF2B5EF4-FFF2-40B4-BE49-F238E27FC236}">
                      <a16:creationId xmlns:a16="http://schemas.microsoft.com/office/drawing/2014/main" id="{BA850761-582A-4CD4-93DF-F8CC135D373A}"/>
                    </a:ext>
                  </a:extLst>
                </p:cNvPr>
                <p:cNvSpPr>
                  <a:spLocks noRot="1" noChangeAspect="1" noMove="1" noResize="1" noEditPoints="1" noAdjustHandles="1" noChangeArrowheads="1" noChangeShapeType="1" noTextEdit="1"/>
                </p:cNvSpPr>
                <p:nvPr/>
              </p:nvSpPr>
              <p:spPr>
                <a:xfrm>
                  <a:off x="9472595" y="4719517"/>
                  <a:ext cx="657225" cy="657225"/>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矩形 40">
                  <a:extLst>
                    <a:ext uri="{FF2B5EF4-FFF2-40B4-BE49-F238E27FC236}">
                      <a16:creationId xmlns:a16="http://schemas.microsoft.com/office/drawing/2014/main" id="{B68CB7D6-396E-49AC-9220-243AEF8A4C77}"/>
                    </a:ext>
                  </a:extLst>
                </p:cNvPr>
                <p:cNvSpPr/>
                <p:nvPr/>
              </p:nvSpPr>
              <p:spPr>
                <a:xfrm>
                  <a:off x="8158160" y="5376742"/>
                  <a:ext cx="657225" cy="657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ea typeface="黑体" pitchFamily="49" charset="-122"/>
                              </a:rPr>
                            </m:ctrlPr>
                          </m:sSubPr>
                          <m:e>
                            <m:r>
                              <a:rPr lang="en-US" altLang="zh-CN" sz="1600" b="0" i="1" smtClean="0">
                                <a:latin typeface="Cambria Math" panose="02040503050406030204" pitchFamily="18" charset="0"/>
                                <a:ea typeface="黑体" pitchFamily="49" charset="-122"/>
                              </a:rPr>
                              <m:t>𝑠</m:t>
                            </m:r>
                          </m:e>
                          <m:sub>
                            <m:r>
                              <a:rPr lang="en-US" altLang="zh-CN" sz="1600" b="0" i="1" smtClean="0">
                                <a:latin typeface="Cambria Math" panose="02040503050406030204" pitchFamily="18" charset="0"/>
                                <a:ea typeface="黑体" pitchFamily="49" charset="-122"/>
                              </a:rPr>
                              <m:t>1</m:t>
                            </m:r>
                          </m:sub>
                        </m:sSub>
                      </m:oMath>
                    </m:oMathPara>
                  </a14:m>
                  <a:endParaRPr lang="zh-CN" altLang="en-US" sz="1600" dirty="0">
                    <a:ea typeface="黑体" pitchFamily="49" charset="-122"/>
                  </a:endParaRPr>
                </a:p>
              </p:txBody>
            </p:sp>
          </mc:Choice>
          <mc:Fallback xmlns="">
            <p:sp>
              <p:nvSpPr>
                <p:cNvPr id="41" name="矩形 40">
                  <a:extLst>
                    <a:ext uri="{FF2B5EF4-FFF2-40B4-BE49-F238E27FC236}">
                      <a16:creationId xmlns:a16="http://schemas.microsoft.com/office/drawing/2014/main" id="{B68CB7D6-396E-49AC-9220-243AEF8A4C77}"/>
                    </a:ext>
                  </a:extLst>
                </p:cNvPr>
                <p:cNvSpPr>
                  <a:spLocks noRot="1" noChangeAspect="1" noMove="1" noResize="1" noEditPoints="1" noAdjustHandles="1" noChangeArrowheads="1" noChangeShapeType="1" noTextEdit="1"/>
                </p:cNvSpPr>
                <p:nvPr/>
              </p:nvSpPr>
              <p:spPr>
                <a:xfrm>
                  <a:off x="8158160" y="5376742"/>
                  <a:ext cx="657225" cy="657225"/>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矩形 41">
                  <a:extLst>
                    <a:ext uri="{FF2B5EF4-FFF2-40B4-BE49-F238E27FC236}">
                      <a16:creationId xmlns:a16="http://schemas.microsoft.com/office/drawing/2014/main" id="{A2C27513-3129-4AB8-81A8-DBCE76FF0311}"/>
                    </a:ext>
                  </a:extLst>
                </p:cNvPr>
                <p:cNvSpPr/>
                <p:nvPr/>
              </p:nvSpPr>
              <p:spPr>
                <a:xfrm>
                  <a:off x="8815338" y="5381615"/>
                  <a:ext cx="657225" cy="657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ea typeface="黑体" pitchFamily="49" charset="-122"/>
                              </a:rPr>
                            </m:ctrlPr>
                          </m:sSubPr>
                          <m:e>
                            <m:r>
                              <a:rPr lang="en-US" altLang="zh-CN" sz="1600" i="1">
                                <a:latin typeface="Cambria Math" panose="02040503050406030204" pitchFamily="18" charset="0"/>
                                <a:ea typeface="黑体" pitchFamily="49" charset="-122"/>
                              </a:rPr>
                              <m:t>𝑠</m:t>
                            </m:r>
                          </m:e>
                          <m:sub>
                            <m:r>
                              <a:rPr lang="en-US" altLang="zh-CN" sz="1600" b="0" i="1" smtClean="0">
                                <a:latin typeface="Cambria Math" panose="02040503050406030204" pitchFamily="18" charset="0"/>
                                <a:ea typeface="黑体" pitchFamily="49" charset="-122"/>
                              </a:rPr>
                              <m:t>2</m:t>
                            </m:r>
                          </m:sub>
                        </m:sSub>
                      </m:oMath>
                    </m:oMathPara>
                  </a14:m>
                  <a:endParaRPr lang="zh-CN" altLang="en-US" sz="1600" dirty="0">
                    <a:ea typeface="黑体" pitchFamily="49" charset="-122"/>
                  </a:endParaRPr>
                </a:p>
              </p:txBody>
            </p:sp>
          </mc:Choice>
          <mc:Fallback xmlns="">
            <p:sp>
              <p:nvSpPr>
                <p:cNvPr id="42" name="矩形 41">
                  <a:extLst>
                    <a:ext uri="{FF2B5EF4-FFF2-40B4-BE49-F238E27FC236}">
                      <a16:creationId xmlns:a16="http://schemas.microsoft.com/office/drawing/2014/main" id="{A2C27513-3129-4AB8-81A8-DBCE76FF0311}"/>
                    </a:ext>
                  </a:extLst>
                </p:cNvPr>
                <p:cNvSpPr>
                  <a:spLocks noRot="1" noChangeAspect="1" noMove="1" noResize="1" noEditPoints="1" noAdjustHandles="1" noChangeArrowheads="1" noChangeShapeType="1" noTextEdit="1"/>
                </p:cNvSpPr>
                <p:nvPr/>
              </p:nvSpPr>
              <p:spPr>
                <a:xfrm>
                  <a:off x="8815338" y="5381615"/>
                  <a:ext cx="657225" cy="657225"/>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矩形 42">
                  <a:extLst>
                    <a:ext uri="{FF2B5EF4-FFF2-40B4-BE49-F238E27FC236}">
                      <a16:creationId xmlns:a16="http://schemas.microsoft.com/office/drawing/2014/main" id="{3FD4BF93-9775-4E59-938E-33D813D625F9}"/>
                    </a:ext>
                  </a:extLst>
                </p:cNvPr>
                <p:cNvSpPr/>
                <p:nvPr/>
              </p:nvSpPr>
              <p:spPr>
                <a:xfrm>
                  <a:off x="9472546" y="5376741"/>
                  <a:ext cx="657225" cy="657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ea typeface="黑体" pitchFamily="49" charset="-122"/>
                              </a:rPr>
                            </m:ctrlPr>
                          </m:sSubPr>
                          <m:e>
                            <m:r>
                              <a:rPr lang="en-US" altLang="zh-CN" sz="1600" i="1">
                                <a:latin typeface="Cambria Math" panose="02040503050406030204" pitchFamily="18" charset="0"/>
                                <a:ea typeface="黑体" pitchFamily="49" charset="-122"/>
                              </a:rPr>
                              <m:t>𝑠</m:t>
                            </m:r>
                          </m:e>
                          <m:sub>
                            <m:r>
                              <a:rPr lang="en-US" altLang="zh-CN" sz="1600" b="0" i="1" smtClean="0">
                                <a:latin typeface="Cambria Math" panose="02040503050406030204" pitchFamily="18" charset="0"/>
                                <a:ea typeface="黑体" pitchFamily="49" charset="-122"/>
                              </a:rPr>
                              <m:t>3</m:t>
                            </m:r>
                          </m:sub>
                        </m:sSub>
                      </m:oMath>
                    </m:oMathPara>
                  </a14:m>
                  <a:endParaRPr lang="zh-CN" altLang="en-US" sz="1600" dirty="0">
                    <a:ea typeface="黑体" pitchFamily="49" charset="-122"/>
                  </a:endParaRPr>
                </a:p>
              </p:txBody>
            </p:sp>
          </mc:Choice>
          <mc:Fallback xmlns="">
            <p:sp>
              <p:nvSpPr>
                <p:cNvPr id="43" name="矩形 42">
                  <a:extLst>
                    <a:ext uri="{FF2B5EF4-FFF2-40B4-BE49-F238E27FC236}">
                      <a16:creationId xmlns:a16="http://schemas.microsoft.com/office/drawing/2014/main" id="{3FD4BF93-9775-4E59-938E-33D813D625F9}"/>
                    </a:ext>
                  </a:extLst>
                </p:cNvPr>
                <p:cNvSpPr>
                  <a:spLocks noRot="1" noChangeAspect="1" noMove="1" noResize="1" noEditPoints="1" noAdjustHandles="1" noChangeArrowheads="1" noChangeShapeType="1" noTextEdit="1"/>
                </p:cNvSpPr>
                <p:nvPr/>
              </p:nvSpPr>
              <p:spPr>
                <a:xfrm>
                  <a:off x="9472546" y="5376741"/>
                  <a:ext cx="657225" cy="657225"/>
                </a:xfrm>
                <a:prstGeom prst="rect">
                  <a:avLst/>
                </a:prstGeom>
                <a:blipFill>
                  <a:blip r:embed="rId11"/>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8BDBA699-28D2-49BF-BA93-EC307DCCFC66}"/>
                  </a:ext>
                </a:extLst>
              </p:cNvPr>
              <p:cNvSpPr txBox="1"/>
              <p:nvPr/>
            </p:nvSpPr>
            <p:spPr>
              <a:xfrm>
                <a:off x="2399395" y="1602161"/>
                <a:ext cx="7600681" cy="1186672"/>
              </a:xfrm>
              <a:prstGeom prst="rect">
                <a:avLst/>
              </a:prstGeom>
              <a:noFill/>
              <a:ln>
                <a:solidFill>
                  <a:schemeClr val="tx1"/>
                </a:solidFill>
              </a:ln>
            </p:spPr>
            <p:txBody>
              <a:bodyPr wrap="square" rtlCol="0">
                <a:spAutoFit/>
              </a:bodyPr>
              <a:lstStyle/>
              <a:p>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选择不同的起始状态，按照当前策略</a:t>
                </a:r>
                <a14:m>
                  <m:oMath xmlns:m="http://schemas.openxmlformats.org/officeDocument/2006/math">
                    <m:r>
                      <a:rPr lang="en-US" altLang="zh-CN" sz="1600" b="1" i="1" smtClean="0">
                        <a:latin typeface="Cambria Math" panose="02040503050406030204" pitchFamily="18" charset="0"/>
                        <a:ea typeface="黑体" pitchFamily="49" charset="-122"/>
                      </a:rPr>
                      <m:t>𝝅</m:t>
                    </m:r>
                  </m:oMath>
                </a14:m>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采样若干轨迹，记它们的集合为</a:t>
                </a:r>
                <a14:m>
                  <m:oMath xmlns:m="http://schemas.openxmlformats.org/officeDocument/2006/math">
                    <m:r>
                      <a:rPr lang="en-US" altLang="zh-CN" sz="1600" b="1" i="1" smtClean="0">
                        <a:latin typeface="Cambria Math" panose="02040503050406030204" pitchFamily="18" charset="0"/>
                        <a:ea typeface="黑体" pitchFamily="49" charset="-122"/>
                      </a:rPr>
                      <m:t>𝑫</m:t>
                    </m:r>
                  </m:oMath>
                </a14:m>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枚举</a:t>
                </a:r>
                <a14:m>
                  <m:oMath xmlns:m="http://schemas.openxmlformats.org/officeDocument/2006/math">
                    <m:r>
                      <a:rPr lang="en-US" altLang="zh-CN" sz="1600" b="1" i="1" smtClean="0">
                        <a:latin typeface="Cambria Math" panose="02040503050406030204" pitchFamily="18" charset="0"/>
                        <a:ea typeface="黑体" pitchFamily="49" charset="-122"/>
                      </a:rPr>
                      <m:t>𝒔</m:t>
                    </m:r>
                    <m:r>
                      <a:rPr lang="en-US" altLang="zh-CN" sz="1600" b="1" i="1" smtClean="0">
                        <a:latin typeface="Cambria Math" panose="02040503050406030204" pitchFamily="18" charset="0"/>
                        <a:ea typeface="黑体" pitchFamily="49" charset="-122"/>
                      </a:rPr>
                      <m:t>∈</m:t>
                    </m:r>
                    <m:r>
                      <a:rPr lang="en-US" altLang="zh-CN" sz="1600" b="1" i="1" smtClean="0">
                        <a:latin typeface="Cambria Math" panose="02040503050406030204" pitchFamily="18" charset="0"/>
                        <a:ea typeface="黑体" pitchFamily="49" charset="-122"/>
                      </a:rPr>
                      <m:t>𝑺</m:t>
                    </m:r>
                  </m:oMath>
                </a14:m>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1600"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计算</a:t>
                </a:r>
                <a14:m>
                  <m:oMath xmlns:m="http://schemas.openxmlformats.org/officeDocument/2006/math">
                    <m:r>
                      <a:rPr lang="en-US" altLang="zh-CN" sz="1600" b="1" i="1" smtClean="0">
                        <a:latin typeface="Cambria Math" panose="02040503050406030204" pitchFamily="18" charset="0"/>
                        <a:ea typeface="黑体" pitchFamily="49" charset="-122"/>
                      </a:rPr>
                      <m:t>𝑫</m:t>
                    </m:r>
                  </m:oMath>
                </a14:m>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中</a:t>
                </a:r>
                <a14:m>
                  <m:oMath xmlns:m="http://schemas.openxmlformats.org/officeDocument/2006/math">
                    <m:r>
                      <a:rPr lang="en-US" altLang="zh-CN" sz="1600" b="1" i="1" dirty="0" smtClean="0">
                        <a:latin typeface="Cambria Math" panose="02040503050406030204" pitchFamily="18" charset="0"/>
                        <a:ea typeface="黑体" pitchFamily="49" charset="-122"/>
                      </a:rPr>
                      <m:t>𝒔</m:t>
                    </m:r>
                  </m:oMath>
                </a14:m>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每次出现时对应的反馈</a:t>
                </a:r>
                <a14:m>
                  <m:oMath xmlns:m="http://schemas.openxmlformats.org/officeDocument/2006/math">
                    <m:sSub>
                      <m:sSubPr>
                        <m:ctrlPr>
                          <a:rPr lang="en-US" altLang="zh-CN" sz="1600" b="1" i="1" smtClean="0">
                            <a:latin typeface="Cambria Math" panose="02040503050406030204" pitchFamily="18" charset="0"/>
                            <a:ea typeface="黑体" pitchFamily="49" charset="-122"/>
                          </a:rPr>
                        </m:ctrlPr>
                      </m:sSubPr>
                      <m:e>
                        <m:r>
                          <a:rPr lang="en-US" altLang="zh-CN" sz="1600" b="1" i="1" smtClean="0">
                            <a:latin typeface="Cambria Math" panose="02040503050406030204" pitchFamily="18" charset="0"/>
                            <a:ea typeface="黑体" pitchFamily="49" charset="-122"/>
                          </a:rPr>
                          <m:t>𝑮</m:t>
                        </m:r>
                      </m:e>
                      <m:sub>
                        <m:r>
                          <a:rPr lang="en-US" altLang="zh-CN" sz="1600" b="1" i="1" smtClean="0">
                            <a:latin typeface="Cambria Math" panose="02040503050406030204" pitchFamily="18" charset="0"/>
                            <a:ea typeface="黑体" pitchFamily="49" charset="-122"/>
                          </a:rPr>
                          <m:t>𝟏</m:t>
                        </m:r>
                      </m:sub>
                    </m:sSub>
                    <m:r>
                      <a:rPr lang="en-US" altLang="zh-CN" sz="1600" b="1" i="1" smtClean="0">
                        <a:latin typeface="Cambria Math" panose="02040503050406030204" pitchFamily="18" charset="0"/>
                        <a:ea typeface="黑体" pitchFamily="49" charset="-122"/>
                      </a:rPr>
                      <m:t>,</m:t>
                    </m:r>
                    <m:sSub>
                      <m:sSubPr>
                        <m:ctrlPr>
                          <a:rPr lang="en-US" altLang="zh-CN" sz="1600" b="1" i="1" smtClean="0">
                            <a:latin typeface="Cambria Math" panose="02040503050406030204" pitchFamily="18" charset="0"/>
                            <a:ea typeface="黑体" pitchFamily="49" charset="-122"/>
                          </a:rPr>
                        </m:ctrlPr>
                      </m:sSubPr>
                      <m:e>
                        <m:r>
                          <a:rPr lang="en-US" altLang="zh-CN" sz="1600" b="1" i="1" smtClean="0">
                            <a:latin typeface="Cambria Math" panose="02040503050406030204" pitchFamily="18" charset="0"/>
                            <a:ea typeface="黑体" pitchFamily="49" charset="-122"/>
                          </a:rPr>
                          <m:t>𝑮</m:t>
                        </m:r>
                      </m:e>
                      <m:sub>
                        <m:r>
                          <a:rPr lang="en-US" altLang="zh-CN" sz="1600" b="1" i="1" smtClean="0">
                            <a:latin typeface="Cambria Math" panose="02040503050406030204" pitchFamily="18" charset="0"/>
                            <a:ea typeface="黑体" pitchFamily="49" charset="-122"/>
                          </a:rPr>
                          <m:t>𝟐</m:t>
                        </m:r>
                      </m:sub>
                    </m:sSub>
                    <m:r>
                      <a:rPr lang="en-US" altLang="zh-CN" sz="1600" b="1" i="1" smtClean="0">
                        <a:latin typeface="Cambria Math" panose="02040503050406030204" pitchFamily="18" charset="0"/>
                        <a:ea typeface="黑体" pitchFamily="49" charset="-122"/>
                      </a:rPr>
                      <m:t>,⋯,</m:t>
                    </m:r>
                    <m:sSub>
                      <m:sSubPr>
                        <m:ctrlPr>
                          <a:rPr lang="en-US" altLang="zh-CN" sz="1600" b="1" i="1" smtClean="0">
                            <a:latin typeface="Cambria Math" panose="02040503050406030204" pitchFamily="18" charset="0"/>
                            <a:ea typeface="黑体" pitchFamily="49" charset="-122"/>
                          </a:rPr>
                        </m:ctrlPr>
                      </m:sSubPr>
                      <m:e>
                        <m:r>
                          <a:rPr lang="en-US" altLang="zh-CN" sz="1600" b="1" i="1" smtClean="0">
                            <a:latin typeface="Cambria Math" panose="02040503050406030204" pitchFamily="18" charset="0"/>
                            <a:ea typeface="黑体" pitchFamily="49" charset="-122"/>
                          </a:rPr>
                          <m:t>𝑮</m:t>
                        </m:r>
                      </m:e>
                      <m:sub>
                        <m:r>
                          <a:rPr lang="en-US" altLang="zh-CN" sz="1600" b="1" i="1" smtClean="0">
                            <a:latin typeface="Cambria Math" panose="02040503050406030204" pitchFamily="18" charset="0"/>
                            <a:ea typeface="黑体" pitchFamily="49" charset="-122"/>
                          </a:rPr>
                          <m:t>𝒌</m:t>
                        </m:r>
                      </m:sub>
                    </m:sSub>
                  </m:oMath>
                </a14:m>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1600" b="1" dirty="0">
                    <a:latin typeface="Times New Roman" panose="02020603050405020304" pitchFamily="18" charset="0"/>
                    <a:ea typeface="华文楷体" panose="02010600040101010101" pitchFamily="2" charset="-122"/>
                    <a:cs typeface="Times New Roman" panose="02020603050405020304" pitchFamily="18" charset="0"/>
                  </a:rPr>
                  <a:t>        </a:t>
                </a:r>
                <a14:m>
                  <m:oMath xmlns:m="http://schemas.openxmlformats.org/officeDocument/2006/math">
                    <m:sSub>
                      <m:sSubPr>
                        <m:ctrlPr>
                          <a:rPr lang="en-US" altLang="zh-CN" sz="1600" b="1" i="1" smtClean="0">
                            <a:latin typeface="Cambria Math" panose="02040503050406030204" pitchFamily="18" charset="0"/>
                            <a:ea typeface="黑体" pitchFamily="49" charset="-122"/>
                          </a:rPr>
                        </m:ctrlPr>
                      </m:sSubPr>
                      <m:e>
                        <m:r>
                          <a:rPr lang="en-US" altLang="zh-CN" sz="1600" b="1" i="1" smtClean="0">
                            <a:latin typeface="Cambria Math" panose="02040503050406030204" pitchFamily="18" charset="0"/>
                            <a:ea typeface="黑体" pitchFamily="49" charset="-122"/>
                          </a:rPr>
                          <m:t>𝑽</m:t>
                        </m:r>
                      </m:e>
                      <m:sub>
                        <m:r>
                          <a:rPr lang="en-US" altLang="zh-CN" sz="1600" b="1" i="1" smtClean="0">
                            <a:latin typeface="Cambria Math" panose="02040503050406030204" pitchFamily="18" charset="0"/>
                            <a:ea typeface="黑体" pitchFamily="49" charset="-122"/>
                          </a:rPr>
                          <m:t>𝝅</m:t>
                        </m:r>
                      </m:sub>
                    </m:sSub>
                    <m:d>
                      <m:dPr>
                        <m:ctrlPr>
                          <a:rPr lang="en-US" altLang="zh-CN" sz="1600" b="1" i="1" smtClean="0">
                            <a:latin typeface="Cambria Math" panose="02040503050406030204" pitchFamily="18" charset="0"/>
                            <a:ea typeface="黑体" pitchFamily="49" charset="-122"/>
                          </a:rPr>
                        </m:ctrlPr>
                      </m:dPr>
                      <m:e>
                        <m:r>
                          <a:rPr lang="en-US" altLang="zh-CN" sz="1600" b="1" i="1" smtClean="0">
                            <a:latin typeface="Cambria Math" panose="02040503050406030204" pitchFamily="18" charset="0"/>
                            <a:ea typeface="黑体" pitchFamily="49" charset="-122"/>
                          </a:rPr>
                          <m:t>𝒔</m:t>
                        </m:r>
                      </m:e>
                    </m:d>
                    <m:r>
                      <a:rPr lang="en-US" altLang="zh-CN" sz="1600" b="1" i="1" smtClean="0">
                        <a:latin typeface="Cambria Math" panose="02040503050406030204" pitchFamily="18" charset="0"/>
                        <a:ea typeface="黑体" pitchFamily="49" charset="-122"/>
                      </a:rPr>
                      <m:t>←</m:t>
                    </m:r>
                    <m:f>
                      <m:fPr>
                        <m:ctrlPr>
                          <a:rPr lang="en-US" altLang="zh-CN" sz="1600" b="1" i="1" smtClean="0">
                            <a:latin typeface="Cambria Math" panose="02040503050406030204" pitchFamily="18" charset="0"/>
                            <a:ea typeface="黑体" pitchFamily="49" charset="-122"/>
                          </a:rPr>
                        </m:ctrlPr>
                      </m:fPr>
                      <m:num>
                        <m:r>
                          <a:rPr lang="en-US" altLang="zh-CN" sz="1600" b="1" i="1" smtClean="0">
                            <a:latin typeface="Cambria Math" panose="02040503050406030204" pitchFamily="18" charset="0"/>
                            <a:ea typeface="黑体" pitchFamily="49" charset="-122"/>
                          </a:rPr>
                          <m:t>𝟏</m:t>
                        </m:r>
                      </m:num>
                      <m:den>
                        <m:r>
                          <a:rPr lang="en-US" altLang="zh-CN" sz="1600" b="1" i="1" smtClean="0">
                            <a:latin typeface="Cambria Math" panose="02040503050406030204" pitchFamily="18" charset="0"/>
                            <a:ea typeface="黑体" pitchFamily="49" charset="-122"/>
                          </a:rPr>
                          <m:t>𝒌</m:t>
                        </m:r>
                      </m:den>
                    </m:f>
                    <m:nary>
                      <m:naryPr>
                        <m:chr m:val="∑"/>
                        <m:ctrlPr>
                          <a:rPr lang="en-US" altLang="zh-CN" sz="1600" b="1" i="1" smtClean="0">
                            <a:latin typeface="Cambria Math" panose="02040503050406030204" pitchFamily="18" charset="0"/>
                            <a:ea typeface="黑体" pitchFamily="49" charset="-122"/>
                          </a:rPr>
                        </m:ctrlPr>
                      </m:naryPr>
                      <m:sub>
                        <m:r>
                          <a:rPr lang="en-US" altLang="zh-CN" sz="1600" b="1" i="1" smtClean="0">
                            <a:latin typeface="Cambria Math" panose="02040503050406030204" pitchFamily="18" charset="0"/>
                            <a:ea typeface="黑体" pitchFamily="49" charset="-122"/>
                          </a:rPr>
                          <m:t>𝒊</m:t>
                        </m:r>
                        <m:r>
                          <a:rPr lang="en-US" altLang="zh-CN" sz="1600" b="1" i="1" smtClean="0">
                            <a:latin typeface="Cambria Math" panose="02040503050406030204" pitchFamily="18" charset="0"/>
                            <a:ea typeface="黑体" pitchFamily="49" charset="-122"/>
                          </a:rPr>
                          <m:t>=</m:t>
                        </m:r>
                        <m:r>
                          <a:rPr lang="en-US" altLang="zh-CN" sz="1600" b="1" i="1" smtClean="0">
                            <a:latin typeface="Cambria Math" panose="02040503050406030204" pitchFamily="18" charset="0"/>
                            <a:ea typeface="黑体" pitchFamily="49" charset="-122"/>
                          </a:rPr>
                          <m:t>𝟏</m:t>
                        </m:r>
                      </m:sub>
                      <m:sup>
                        <m:r>
                          <a:rPr lang="en-US" altLang="zh-CN" sz="1600" b="1" i="1" smtClean="0">
                            <a:latin typeface="Cambria Math" panose="02040503050406030204" pitchFamily="18" charset="0"/>
                            <a:ea typeface="黑体" pitchFamily="49" charset="-122"/>
                          </a:rPr>
                          <m:t>𝒌</m:t>
                        </m:r>
                      </m:sup>
                      <m:e>
                        <m:sSub>
                          <m:sSubPr>
                            <m:ctrlPr>
                              <a:rPr lang="en-US" altLang="zh-CN" sz="1600" b="1" i="1" smtClean="0">
                                <a:latin typeface="Cambria Math" panose="02040503050406030204" pitchFamily="18" charset="0"/>
                                <a:ea typeface="黑体" pitchFamily="49" charset="-122"/>
                              </a:rPr>
                            </m:ctrlPr>
                          </m:sSubPr>
                          <m:e>
                            <m:r>
                              <a:rPr lang="en-US" altLang="zh-CN" sz="1600" b="1" i="1" smtClean="0">
                                <a:latin typeface="Cambria Math" panose="02040503050406030204" pitchFamily="18" charset="0"/>
                                <a:ea typeface="黑体" pitchFamily="49" charset="-122"/>
                              </a:rPr>
                              <m:t>𝑮</m:t>
                            </m:r>
                          </m:e>
                          <m:sub>
                            <m:r>
                              <a:rPr lang="en-US" altLang="zh-CN" sz="1600" b="1" i="1" smtClean="0">
                                <a:latin typeface="Cambria Math" panose="02040503050406030204" pitchFamily="18" charset="0"/>
                                <a:ea typeface="黑体" pitchFamily="49" charset="-122"/>
                              </a:rPr>
                              <m:t>𝒊</m:t>
                            </m:r>
                          </m:sub>
                        </m:sSub>
                      </m:e>
                    </m:nary>
                  </m:oMath>
                </a14:m>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44" name="文本框 43">
                <a:extLst>
                  <a:ext uri="{FF2B5EF4-FFF2-40B4-BE49-F238E27FC236}">
                    <a16:creationId xmlns:a16="http://schemas.microsoft.com/office/drawing/2014/main" id="{8BDBA699-28D2-49BF-BA93-EC307DCCFC66}"/>
                  </a:ext>
                </a:extLst>
              </p:cNvPr>
              <p:cNvSpPr txBox="1">
                <a:spLocks noRot="1" noChangeAspect="1" noMove="1" noResize="1" noEditPoints="1" noAdjustHandles="1" noChangeArrowheads="1" noChangeShapeType="1" noTextEdit="1"/>
              </p:cNvSpPr>
              <p:nvPr/>
            </p:nvSpPr>
            <p:spPr>
              <a:xfrm>
                <a:off x="2399395" y="1602161"/>
                <a:ext cx="7600681" cy="1186672"/>
              </a:xfrm>
              <a:prstGeom prst="rect">
                <a:avLst/>
              </a:prstGeom>
              <a:blipFill>
                <a:blip r:embed="rId12"/>
                <a:stretch>
                  <a:fillRect l="-401" t="-510" b="-43367"/>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矩形 44">
                <a:extLst>
                  <a:ext uri="{FF2B5EF4-FFF2-40B4-BE49-F238E27FC236}">
                    <a16:creationId xmlns:a16="http://schemas.microsoft.com/office/drawing/2014/main" id="{B19409EF-32C6-45C8-B6C5-AC23C07D1946}"/>
                  </a:ext>
                </a:extLst>
              </p:cNvPr>
              <p:cNvSpPr/>
              <p:nvPr/>
            </p:nvSpPr>
            <p:spPr>
              <a:xfrm>
                <a:off x="1205420" y="3006390"/>
                <a:ext cx="5866552" cy="2276970"/>
              </a:xfrm>
              <a:prstGeom prst="rect">
                <a:avLst/>
              </a:prstGeom>
            </p:spPr>
            <p:txBody>
              <a:bodyPr wrap="square">
                <a:spAutoFit/>
              </a:bodyPr>
              <a:lstStyle/>
              <a:p>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假设按照当前策略可样得到以下两条轨迹</a:t>
                </a:r>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d>
                        <m:dPr>
                          <m:ctrlPr>
                            <a:rPr lang="en-US" altLang="zh-CN" sz="1600" b="1" i="1" smtClean="0">
                              <a:latin typeface="Cambria Math" panose="02040503050406030204" pitchFamily="18" charset="0"/>
                              <a:ea typeface="黑体" panose="02010609060101010101" pitchFamily="49" charset="-122"/>
                            </a:rPr>
                          </m:ctrlPr>
                        </m:dPr>
                        <m:e>
                          <m:sSub>
                            <m:sSubPr>
                              <m:ctrlPr>
                                <a:rPr lang="en-US" altLang="zh-CN" sz="1600" b="1" i="1" smtClean="0">
                                  <a:latin typeface="Cambria Math" panose="02040503050406030204" pitchFamily="18" charset="0"/>
                                  <a:ea typeface="黑体" panose="02010609060101010101" pitchFamily="49" charset="-122"/>
                                </a:rPr>
                              </m:ctrlPr>
                            </m:sSubPr>
                            <m:e>
                              <m:r>
                                <a:rPr lang="en-US" altLang="zh-CN" sz="1600" b="1" i="1" smtClean="0">
                                  <a:latin typeface="Cambria Math" panose="02040503050406030204" pitchFamily="18" charset="0"/>
                                  <a:ea typeface="黑体" panose="02010609060101010101" pitchFamily="49" charset="-122"/>
                                </a:rPr>
                                <m:t>𝒔</m:t>
                              </m:r>
                            </m:e>
                            <m:sub>
                              <m:r>
                                <a:rPr lang="en-US" altLang="zh-CN" sz="1600" b="1" i="1" smtClean="0">
                                  <a:latin typeface="Cambria Math" panose="02040503050406030204" pitchFamily="18" charset="0"/>
                                  <a:ea typeface="黑体" panose="02010609060101010101" pitchFamily="49" charset="-122"/>
                                </a:rPr>
                                <m:t>𝟏</m:t>
                              </m:r>
                            </m:sub>
                          </m:sSub>
                          <m:r>
                            <a:rPr lang="en-US" altLang="zh-CN" sz="1600" b="1" i="1" smtClean="0">
                              <a:latin typeface="Cambria Math" panose="02040503050406030204" pitchFamily="18" charset="0"/>
                              <a:ea typeface="黑体" panose="02010609060101010101" pitchFamily="49" charset="-122"/>
                            </a:rPr>
                            <m:t>,</m:t>
                          </m:r>
                          <m:sSub>
                            <m:sSubPr>
                              <m:ctrlPr>
                                <a:rPr lang="en-US" altLang="zh-CN" sz="1600" b="1" i="1" smtClean="0">
                                  <a:latin typeface="Cambria Math" panose="02040503050406030204" pitchFamily="18" charset="0"/>
                                  <a:ea typeface="黑体" panose="02010609060101010101" pitchFamily="49" charset="-122"/>
                                </a:rPr>
                              </m:ctrlPr>
                            </m:sSubPr>
                            <m:e>
                              <m:r>
                                <a:rPr lang="en-US" altLang="zh-CN" sz="1600" b="1" i="1" smtClean="0">
                                  <a:latin typeface="Cambria Math" panose="02040503050406030204" pitchFamily="18" charset="0"/>
                                  <a:ea typeface="黑体" panose="02010609060101010101" pitchFamily="49" charset="-122"/>
                                </a:rPr>
                                <m:t>𝒔</m:t>
                              </m:r>
                            </m:e>
                            <m:sub>
                              <m:r>
                                <a:rPr lang="en-US" altLang="zh-CN" sz="1600" b="1" i="1" smtClean="0">
                                  <a:latin typeface="Cambria Math" panose="02040503050406030204" pitchFamily="18" charset="0"/>
                                  <a:ea typeface="黑体" panose="02010609060101010101" pitchFamily="49" charset="-122"/>
                                </a:rPr>
                                <m:t>𝟒</m:t>
                              </m:r>
                            </m:sub>
                          </m:sSub>
                          <m:r>
                            <a:rPr lang="en-US" altLang="zh-CN" sz="1600" b="1" i="1" smtClean="0">
                              <a:latin typeface="Cambria Math" panose="02040503050406030204" pitchFamily="18" charset="0"/>
                              <a:ea typeface="黑体" panose="02010609060101010101" pitchFamily="49" charset="-122"/>
                            </a:rPr>
                            <m:t>,</m:t>
                          </m:r>
                          <m:sSub>
                            <m:sSubPr>
                              <m:ctrlPr>
                                <a:rPr lang="en-US" altLang="zh-CN" sz="1600" b="1" i="1" smtClean="0">
                                  <a:latin typeface="Cambria Math" panose="02040503050406030204" pitchFamily="18" charset="0"/>
                                  <a:ea typeface="黑体" panose="02010609060101010101" pitchFamily="49" charset="-122"/>
                                </a:rPr>
                              </m:ctrlPr>
                            </m:sSubPr>
                            <m:e>
                              <m:r>
                                <a:rPr lang="en-US" altLang="zh-CN" sz="1600" b="1" i="1" smtClean="0">
                                  <a:latin typeface="Cambria Math" panose="02040503050406030204" pitchFamily="18" charset="0"/>
                                  <a:ea typeface="黑体" panose="02010609060101010101" pitchFamily="49" charset="-122"/>
                                </a:rPr>
                                <m:t>𝒔</m:t>
                              </m:r>
                            </m:e>
                            <m:sub>
                              <m:r>
                                <a:rPr lang="en-US" altLang="zh-CN" sz="1600" b="1" i="1" smtClean="0">
                                  <a:latin typeface="Cambria Math" panose="02040503050406030204" pitchFamily="18" charset="0"/>
                                  <a:ea typeface="黑体" panose="02010609060101010101" pitchFamily="49" charset="-122"/>
                                </a:rPr>
                                <m:t>𝟕</m:t>
                              </m:r>
                            </m:sub>
                          </m:sSub>
                          <m:r>
                            <a:rPr lang="en-US" altLang="zh-CN" sz="1600" b="1" i="1" smtClean="0">
                              <a:latin typeface="Cambria Math" panose="02040503050406030204" pitchFamily="18" charset="0"/>
                              <a:ea typeface="黑体" panose="02010609060101010101" pitchFamily="49" charset="-122"/>
                            </a:rPr>
                            <m:t>,</m:t>
                          </m:r>
                          <m:sSub>
                            <m:sSubPr>
                              <m:ctrlPr>
                                <a:rPr lang="en-US" altLang="zh-CN" sz="1600" b="1" i="1" smtClean="0">
                                  <a:latin typeface="Cambria Math" panose="02040503050406030204" pitchFamily="18" charset="0"/>
                                  <a:ea typeface="黑体" panose="02010609060101010101" pitchFamily="49" charset="-122"/>
                                </a:rPr>
                              </m:ctrlPr>
                            </m:sSubPr>
                            <m:e>
                              <m:r>
                                <a:rPr lang="en-US" altLang="zh-CN" sz="1600" b="1" i="1" smtClean="0">
                                  <a:latin typeface="Cambria Math" panose="02040503050406030204" pitchFamily="18" charset="0"/>
                                  <a:ea typeface="黑体" panose="02010609060101010101" pitchFamily="49" charset="-122"/>
                                </a:rPr>
                                <m:t>𝒔</m:t>
                              </m:r>
                            </m:e>
                            <m:sub>
                              <m:r>
                                <a:rPr lang="en-US" altLang="zh-CN" sz="1600" b="1" i="1" smtClean="0">
                                  <a:latin typeface="Cambria Math" panose="02040503050406030204" pitchFamily="18" charset="0"/>
                                  <a:ea typeface="黑体" panose="02010609060101010101" pitchFamily="49" charset="-122"/>
                                </a:rPr>
                                <m:t>𝟖</m:t>
                              </m:r>
                            </m:sub>
                          </m:sSub>
                          <m:r>
                            <a:rPr lang="en-US" altLang="zh-CN" sz="1600" b="1" i="1" smtClean="0">
                              <a:latin typeface="Cambria Math" panose="02040503050406030204" pitchFamily="18" charset="0"/>
                              <a:ea typeface="黑体" panose="02010609060101010101" pitchFamily="49" charset="-122"/>
                            </a:rPr>
                            <m:t>,</m:t>
                          </m:r>
                          <m:sSub>
                            <m:sSubPr>
                              <m:ctrlPr>
                                <a:rPr lang="en-US" altLang="zh-CN" sz="1600" b="1" i="1" smtClean="0">
                                  <a:latin typeface="Cambria Math" panose="02040503050406030204" pitchFamily="18" charset="0"/>
                                  <a:ea typeface="黑体" panose="02010609060101010101" pitchFamily="49" charset="-122"/>
                                </a:rPr>
                              </m:ctrlPr>
                            </m:sSubPr>
                            <m:e>
                              <m:r>
                                <a:rPr lang="en-US" altLang="zh-CN" sz="1600" b="1" i="1" smtClean="0">
                                  <a:latin typeface="Cambria Math" panose="02040503050406030204" pitchFamily="18" charset="0"/>
                                  <a:ea typeface="黑体" panose="02010609060101010101" pitchFamily="49" charset="-122"/>
                                </a:rPr>
                                <m:t>𝒔</m:t>
                              </m:r>
                            </m:e>
                            <m:sub>
                              <m:r>
                                <a:rPr lang="en-US" altLang="zh-CN" sz="1600" b="1" i="1" smtClean="0">
                                  <a:latin typeface="Cambria Math" panose="02040503050406030204" pitchFamily="18" charset="0"/>
                                  <a:ea typeface="黑体" panose="02010609060101010101" pitchFamily="49" charset="-122"/>
                                </a:rPr>
                                <m:t>𝟗</m:t>
                              </m:r>
                            </m:sub>
                          </m:sSub>
                        </m:e>
                      </m:d>
                    </m:oMath>
                    <m:oMath xmlns:m="http://schemas.openxmlformats.org/officeDocument/2006/math">
                      <m:r>
                        <a:rPr lang="en-US" altLang="zh-CN" sz="1600" b="1" i="1" smtClean="0">
                          <a:latin typeface="Cambria Math" panose="02040503050406030204" pitchFamily="18" charset="0"/>
                          <a:ea typeface="黑体" panose="02010609060101010101" pitchFamily="49" charset="-122"/>
                        </a:rPr>
                        <m:t>(</m:t>
                      </m:r>
                      <m:sSub>
                        <m:sSubPr>
                          <m:ctrlPr>
                            <a:rPr lang="en-US" altLang="zh-CN" sz="1600" b="1" i="1" smtClean="0">
                              <a:latin typeface="Cambria Math" panose="02040503050406030204" pitchFamily="18" charset="0"/>
                              <a:ea typeface="黑体" panose="02010609060101010101" pitchFamily="49" charset="-122"/>
                            </a:rPr>
                          </m:ctrlPr>
                        </m:sSubPr>
                        <m:e>
                          <m:r>
                            <a:rPr lang="en-US" altLang="zh-CN" sz="1600" b="1" i="1" smtClean="0">
                              <a:latin typeface="Cambria Math" panose="02040503050406030204" pitchFamily="18" charset="0"/>
                              <a:ea typeface="黑体" panose="02010609060101010101" pitchFamily="49" charset="-122"/>
                            </a:rPr>
                            <m:t>𝒔</m:t>
                          </m:r>
                        </m:e>
                        <m:sub>
                          <m:r>
                            <a:rPr lang="en-US" altLang="zh-CN" sz="1600" b="1" i="1" smtClean="0">
                              <a:latin typeface="Cambria Math" panose="02040503050406030204" pitchFamily="18" charset="0"/>
                              <a:ea typeface="黑体" panose="02010609060101010101" pitchFamily="49" charset="-122"/>
                            </a:rPr>
                            <m:t>𝟏</m:t>
                          </m:r>
                        </m:sub>
                      </m:sSub>
                      <m:r>
                        <a:rPr lang="en-US" altLang="zh-CN" sz="1600" b="1" i="1" smtClean="0">
                          <a:latin typeface="Cambria Math" panose="02040503050406030204" pitchFamily="18" charset="0"/>
                          <a:ea typeface="黑体" panose="02010609060101010101" pitchFamily="49" charset="-122"/>
                        </a:rPr>
                        <m:t>,</m:t>
                      </m:r>
                      <m:sSub>
                        <m:sSubPr>
                          <m:ctrlPr>
                            <a:rPr lang="en-US" altLang="zh-CN" sz="1600" b="1" i="1" smtClean="0">
                              <a:latin typeface="Cambria Math" panose="02040503050406030204" pitchFamily="18" charset="0"/>
                              <a:ea typeface="黑体" panose="02010609060101010101" pitchFamily="49" charset="-122"/>
                            </a:rPr>
                          </m:ctrlPr>
                        </m:sSubPr>
                        <m:e>
                          <m:r>
                            <a:rPr lang="en-US" altLang="zh-CN" sz="1600" b="1" i="1" smtClean="0">
                              <a:latin typeface="Cambria Math" panose="02040503050406030204" pitchFamily="18" charset="0"/>
                              <a:ea typeface="黑体" panose="02010609060101010101" pitchFamily="49" charset="-122"/>
                            </a:rPr>
                            <m:t>𝒔</m:t>
                          </m:r>
                        </m:e>
                        <m:sub>
                          <m:r>
                            <a:rPr lang="en-US" altLang="zh-CN" sz="1600" b="1" i="1" smtClean="0">
                              <a:latin typeface="Cambria Math" panose="02040503050406030204" pitchFamily="18" charset="0"/>
                              <a:ea typeface="黑体" panose="02010609060101010101" pitchFamily="49" charset="-122"/>
                            </a:rPr>
                            <m:t>𝟐</m:t>
                          </m:r>
                        </m:sub>
                      </m:sSub>
                      <m:r>
                        <a:rPr lang="en-US" altLang="zh-CN" sz="1600" b="1" i="1" smtClean="0">
                          <a:latin typeface="Cambria Math" panose="02040503050406030204" pitchFamily="18" charset="0"/>
                          <a:ea typeface="黑体" panose="02010609060101010101" pitchFamily="49" charset="-122"/>
                        </a:rPr>
                        <m:t>,</m:t>
                      </m:r>
                      <m:sSub>
                        <m:sSubPr>
                          <m:ctrlPr>
                            <a:rPr lang="en-US" altLang="zh-CN" sz="1600" b="1" i="1" smtClean="0">
                              <a:latin typeface="Cambria Math" panose="02040503050406030204" pitchFamily="18" charset="0"/>
                              <a:ea typeface="黑体" panose="02010609060101010101" pitchFamily="49" charset="-122"/>
                            </a:rPr>
                          </m:ctrlPr>
                        </m:sSubPr>
                        <m:e>
                          <m:r>
                            <a:rPr lang="en-US" altLang="zh-CN" sz="1600" b="1" i="1" smtClean="0">
                              <a:latin typeface="Cambria Math" panose="02040503050406030204" pitchFamily="18" charset="0"/>
                              <a:ea typeface="黑体" panose="02010609060101010101" pitchFamily="49" charset="-122"/>
                            </a:rPr>
                            <m:t>𝒔</m:t>
                          </m:r>
                        </m:e>
                        <m:sub>
                          <m:r>
                            <a:rPr lang="en-US" altLang="zh-CN" sz="1600" b="1" i="1" smtClean="0">
                              <a:latin typeface="Cambria Math" panose="02040503050406030204" pitchFamily="18" charset="0"/>
                              <a:ea typeface="黑体" panose="02010609060101010101" pitchFamily="49" charset="-122"/>
                            </a:rPr>
                            <m:t>𝟑</m:t>
                          </m:r>
                        </m:sub>
                      </m:sSub>
                      <m:r>
                        <a:rPr lang="en-US" altLang="zh-CN" sz="1600" b="1" i="1" smtClean="0">
                          <a:latin typeface="Cambria Math" panose="02040503050406030204" pitchFamily="18" charset="0"/>
                          <a:ea typeface="黑体" panose="02010609060101010101" pitchFamily="49" charset="-122"/>
                        </a:rPr>
                        <m:t>, </m:t>
                      </m:r>
                      <m:sSub>
                        <m:sSubPr>
                          <m:ctrlPr>
                            <a:rPr lang="en-US" altLang="zh-CN" sz="1600" b="1" i="1" smtClean="0">
                              <a:latin typeface="Cambria Math" panose="02040503050406030204" pitchFamily="18" charset="0"/>
                              <a:ea typeface="黑体" panose="02010609060101010101" pitchFamily="49" charset="-122"/>
                            </a:rPr>
                          </m:ctrlPr>
                        </m:sSubPr>
                        <m:e>
                          <m:r>
                            <a:rPr lang="en-US" altLang="zh-CN" sz="1600" b="1" i="1" smtClean="0">
                              <a:latin typeface="Cambria Math" panose="02040503050406030204" pitchFamily="18" charset="0"/>
                              <a:ea typeface="黑体" panose="02010609060101010101" pitchFamily="49" charset="-122"/>
                            </a:rPr>
                            <m:t>𝒔</m:t>
                          </m:r>
                        </m:e>
                        <m:sub>
                          <m:r>
                            <a:rPr lang="en-US" altLang="zh-CN" sz="1600" b="1" i="1" smtClean="0">
                              <a:latin typeface="Cambria Math" panose="02040503050406030204" pitchFamily="18" charset="0"/>
                              <a:ea typeface="黑体" panose="02010609060101010101" pitchFamily="49" charset="-122"/>
                            </a:rPr>
                            <m:t>𝒅</m:t>
                          </m:r>
                        </m:sub>
                      </m:sSub>
                      <m:r>
                        <a:rPr lang="en-US" altLang="zh-CN" sz="1600" b="1" i="1" smtClean="0">
                          <a:latin typeface="Cambria Math" panose="02040503050406030204" pitchFamily="18" charset="0"/>
                          <a:ea typeface="黑体" panose="02010609060101010101" pitchFamily="49" charset="-122"/>
                        </a:rPr>
                        <m:t>)</m:t>
                      </m:r>
                    </m:oMath>
                  </m:oMathPara>
                </a14:m>
                <a:endParaRPr lang="en-US" altLang="zh-CN" sz="1600" b="1" i="1" dirty="0">
                  <a:latin typeface="Times New Roman" panose="02020603050405020304" pitchFamily="18" charset="0"/>
                  <a:ea typeface="华文楷体" panose="02010600040101010101" pitchFamily="2" charset="-122"/>
                  <a:cs typeface="Times New Roman" panose="02020603050405020304" pitchFamily="18" charset="0"/>
                </a:endParaRPr>
              </a:p>
              <a:p>
                <a14:m>
                  <m:oMath xmlns:m="http://schemas.openxmlformats.org/officeDocument/2006/math">
                    <m:sSub>
                      <m:sSubPr>
                        <m:ctrlPr>
                          <a:rPr lang="en-US" altLang="zh-CN" sz="1600" b="1" i="1" smtClean="0">
                            <a:latin typeface="Cambria Math" panose="02040503050406030204" pitchFamily="18" charset="0"/>
                            <a:ea typeface="黑体" panose="02010609060101010101" pitchFamily="49" charset="-122"/>
                          </a:rPr>
                        </m:ctrlPr>
                      </m:sSubPr>
                      <m:e>
                        <m:r>
                          <a:rPr lang="en-US" altLang="zh-CN" sz="1600" b="1" i="1" smtClean="0">
                            <a:latin typeface="Cambria Math" panose="02040503050406030204" pitchFamily="18" charset="0"/>
                            <a:ea typeface="黑体" panose="02010609060101010101" pitchFamily="49" charset="-122"/>
                          </a:rPr>
                          <m:t>𝒔</m:t>
                        </m:r>
                      </m:e>
                      <m:sub>
                        <m:r>
                          <a:rPr lang="en-US" altLang="zh-CN" sz="1600" b="1" i="1" smtClean="0">
                            <a:latin typeface="Cambria Math" panose="02040503050406030204" pitchFamily="18" charset="0"/>
                            <a:ea typeface="黑体" panose="02010609060101010101" pitchFamily="49" charset="-122"/>
                          </a:rPr>
                          <m:t>𝟏</m:t>
                        </m:r>
                      </m:sub>
                    </m:sSub>
                  </m:oMath>
                </a14:m>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对应的反馈值分别为</a:t>
                </a:r>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sz="1600" b="1" i="1" smtClean="0">
                          <a:latin typeface="Cambria Math" panose="02040503050406030204" pitchFamily="18" charset="0"/>
                          <a:ea typeface="黑体" panose="02010609060101010101" pitchFamily="49" charset="-122"/>
                        </a:rPr>
                        <m:t>𝟎</m:t>
                      </m:r>
                      <m:r>
                        <a:rPr lang="en-US" altLang="zh-CN" sz="1600" b="1" i="1" smtClean="0">
                          <a:latin typeface="Cambria Math" panose="02040503050406030204" pitchFamily="18" charset="0"/>
                          <a:ea typeface="黑体" panose="02010609060101010101" pitchFamily="49" charset="-122"/>
                        </a:rPr>
                        <m:t>+</m:t>
                      </m:r>
                      <m:r>
                        <a:rPr lang="en-US" altLang="zh-CN" sz="1600" b="1" i="1" smtClean="0">
                          <a:latin typeface="Cambria Math" panose="02040503050406030204" pitchFamily="18" charset="0"/>
                          <a:ea typeface="黑体" panose="02010609060101010101" pitchFamily="49" charset="-122"/>
                        </a:rPr>
                        <m:t>𝜸</m:t>
                      </m:r>
                      <m:r>
                        <a:rPr lang="en-US" altLang="zh-CN" sz="1600" b="1" i="1" smtClean="0">
                          <a:latin typeface="Cambria Math" panose="02040503050406030204" pitchFamily="18" charset="0"/>
                          <a:ea typeface="黑体" panose="02010609060101010101" pitchFamily="49" charset="-122"/>
                        </a:rPr>
                        <m:t>×</m:t>
                      </m:r>
                      <m:r>
                        <a:rPr lang="en-US" altLang="zh-CN" sz="1600" b="1" i="1" smtClean="0">
                          <a:latin typeface="Cambria Math" panose="02040503050406030204" pitchFamily="18" charset="0"/>
                          <a:ea typeface="黑体" panose="02010609060101010101" pitchFamily="49" charset="-122"/>
                        </a:rPr>
                        <m:t>𝟎</m:t>
                      </m:r>
                      <m:r>
                        <a:rPr lang="en-US" altLang="zh-CN" sz="1600" b="1" i="1" smtClean="0">
                          <a:latin typeface="Cambria Math" panose="02040503050406030204" pitchFamily="18" charset="0"/>
                          <a:ea typeface="黑体" panose="02010609060101010101" pitchFamily="49" charset="-122"/>
                        </a:rPr>
                        <m:t>+⋯+</m:t>
                      </m:r>
                      <m:sSup>
                        <m:sSupPr>
                          <m:ctrlPr>
                            <a:rPr lang="en-US" altLang="zh-CN" sz="1600" b="1" i="1" smtClean="0">
                              <a:latin typeface="Cambria Math" panose="02040503050406030204" pitchFamily="18" charset="0"/>
                              <a:ea typeface="黑体" panose="02010609060101010101" pitchFamily="49" charset="-122"/>
                            </a:rPr>
                          </m:ctrlPr>
                        </m:sSupPr>
                        <m:e>
                          <m:r>
                            <a:rPr lang="en-US" altLang="zh-CN" sz="1600" b="1" i="1" smtClean="0">
                              <a:latin typeface="Cambria Math" panose="02040503050406030204" pitchFamily="18" charset="0"/>
                              <a:ea typeface="黑体" panose="02010609060101010101" pitchFamily="49" charset="-122"/>
                            </a:rPr>
                            <m:t>𝜸</m:t>
                          </m:r>
                        </m:e>
                        <m:sup>
                          <m:r>
                            <a:rPr lang="en-US" altLang="zh-CN" sz="1600" b="1" i="1" smtClean="0">
                              <a:latin typeface="Cambria Math" panose="02040503050406030204" pitchFamily="18" charset="0"/>
                              <a:ea typeface="黑体" panose="02010609060101010101" pitchFamily="49" charset="-122"/>
                            </a:rPr>
                            <m:t>𝟑</m:t>
                          </m:r>
                        </m:sup>
                      </m:sSup>
                      <m:r>
                        <a:rPr lang="en-US" altLang="zh-CN" sz="1600" b="1" i="1" smtClean="0">
                          <a:latin typeface="Cambria Math" panose="02040503050406030204" pitchFamily="18" charset="0"/>
                          <a:ea typeface="黑体" panose="02010609060101010101" pitchFamily="49" charset="-122"/>
                        </a:rPr>
                        <m:t>×</m:t>
                      </m:r>
                      <m:r>
                        <a:rPr lang="en-US" altLang="zh-CN" sz="1600" b="1" i="1" smtClean="0">
                          <a:latin typeface="Cambria Math" panose="02040503050406030204" pitchFamily="18" charset="0"/>
                          <a:ea typeface="黑体" panose="02010609060101010101" pitchFamily="49" charset="-122"/>
                        </a:rPr>
                        <m:t>𝟏</m:t>
                      </m:r>
                      <m:r>
                        <a:rPr lang="en-US" altLang="zh-CN" sz="1600" b="1" i="1" smtClean="0">
                          <a:latin typeface="Cambria Math" panose="02040503050406030204" pitchFamily="18" charset="0"/>
                          <a:ea typeface="黑体" panose="02010609060101010101" pitchFamily="49" charset="-122"/>
                        </a:rPr>
                        <m:t>=</m:t>
                      </m:r>
                      <m:r>
                        <a:rPr lang="en-US" altLang="zh-CN" sz="1600" b="1" i="1" smtClean="0">
                          <a:latin typeface="Cambria Math" panose="02040503050406030204" pitchFamily="18" charset="0"/>
                          <a:ea typeface="黑体" panose="02010609060101010101" pitchFamily="49" charset="-122"/>
                        </a:rPr>
                        <m:t>𝟎</m:t>
                      </m:r>
                      <m:r>
                        <a:rPr lang="en-US" altLang="zh-CN" sz="1600" b="1" i="1" smtClean="0">
                          <a:latin typeface="Cambria Math" panose="02040503050406030204" pitchFamily="18" charset="0"/>
                          <a:ea typeface="黑体" panose="02010609060101010101" pitchFamily="49" charset="-122"/>
                        </a:rPr>
                        <m:t>.</m:t>
                      </m:r>
                      <m:r>
                        <a:rPr lang="en-US" altLang="zh-CN" sz="1600" b="1" i="1" smtClean="0">
                          <a:latin typeface="Cambria Math" panose="02040503050406030204" pitchFamily="18" charset="0"/>
                          <a:ea typeface="黑体" panose="02010609060101010101" pitchFamily="49" charset="-122"/>
                        </a:rPr>
                        <m:t>𝟗𝟕𝟎</m:t>
                      </m:r>
                    </m:oMath>
                  </m:oMathPara>
                </a14:m>
                <a:endParaRPr lang="en-US" altLang="zh-CN" sz="1600" b="1" i="1" dirty="0">
                  <a:latin typeface="Times New Roman" panose="02020603050405020304" pitchFamily="18" charset="0"/>
                  <a:ea typeface="华文楷体" panose="02010600040101010101" pitchFamily="2"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sz="1600" b="1" i="1" smtClean="0">
                          <a:latin typeface="Cambria Math" panose="02040503050406030204" pitchFamily="18" charset="0"/>
                          <a:ea typeface="黑体" panose="02010609060101010101" pitchFamily="49" charset="-122"/>
                        </a:rPr>
                        <m:t>𝟎</m:t>
                      </m:r>
                      <m:r>
                        <a:rPr lang="en-US" altLang="zh-CN" sz="1600" b="1" i="1" smtClean="0">
                          <a:latin typeface="Cambria Math" panose="02040503050406030204" pitchFamily="18" charset="0"/>
                          <a:ea typeface="黑体" panose="02010609060101010101" pitchFamily="49" charset="-122"/>
                        </a:rPr>
                        <m:t>+</m:t>
                      </m:r>
                      <m:r>
                        <a:rPr lang="en-US" altLang="zh-CN" sz="1600" b="1" i="1" smtClean="0">
                          <a:latin typeface="Cambria Math" panose="02040503050406030204" pitchFamily="18" charset="0"/>
                          <a:ea typeface="黑体" panose="02010609060101010101" pitchFamily="49" charset="-122"/>
                        </a:rPr>
                        <m:t>𝜸</m:t>
                      </m:r>
                      <m:r>
                        <a:rPr lang="en-US" altLang="zh-CN" sz="1600" b="1" i="1" smtClean="0">
                          <a:latin typeface="Cambria Math" panose="02040503050406030204" pitchFamily="18" charset="0"/>
                          <a:ea typeface="黑体" panose="02010609060101010101" pitchFamily="49" charset="-122"/>
                        </a:rPr>
                        <m:t>×</m:t>
                      </m:r>
                      <m:r>
                        <a:rPr lang="en-US" altLang="zh-CN" sz="1600" b="1" i="1" smtClean="0">
                          <a:latin typeface="Cambria Math" panose="02040503050406030204" pitchFamily="18" charset="0"/>
                          <a:ea typeface="黑体" panose="02010609060101010101" pitchFamily="49" charset="-122"/>
                        </a:rPr>
                        <m:t>𝟎</m:t>
                      </m:r>
                      <m:r>
                        <a:rPr lang="en-US" altLang="zh-CN" sz="1600" b="1" i="1" smtClean="0">
                          <a:latin typeface="Cambria Math" panose="02040503050406030204" pitchFamily="18" charset="0"/>
                          <a:ea typeface="黑体" panose="02010609060101010101" pitchFamily="49" charset="-122"/>
                        </a:rPr>
                        <m:t>+</m:t>
                      </m:r>
                      <m:sSup>
                        <m:sSupPr>
                          <m:ctrlPr>
                            <a:rPr lang="en-US" altLang="zh-CN" sz="1600" b="1" i="1" smtClean="0">
                              <a:latin typeface="Cambria Math" panose="02040503050406030204" pitchFamily="18" charset="0"/>
                              <a:ea typeface="黑体" panose="02010609060101010101" pitchFamily="49" charset="-122"/>
                            </a:rPr>
                          </m:ctrlPr>
                        </m:sSupPr>
                        <m:e>
                          <m:r>
                            <a:rPr lang="en-US" altLang="zh-CN" sz="1600" b="1" i="1" smtClean="0">
                              <a:latin typeface="Cambria Math" panose="02040503050406030204" pitchFamily="18" charset="0"/>
                              <a:ea typeface="黑体" panose="02010609060101010101" pitchFamily="49" charset="-122"/>
                            </a:rPr>
                            <m:t>𝜸</m:t>
                          </m:r>
                        </m:e>
                        <m:sup>
                          <m:r>
                            <a:rPr lang="en-US" altLang="zh-CN" sz="1600" b="1" i="1" smtClean="0">
                              <a:latin typeface="Cambria Math" panose="02040503050406030204" pitchFamily="18" charset="0"/>
                              <a:ea typeface="黑体" panose="02010609060101010101" pitchFamily="49" charset="-122"/>
                            </a:rPr>
                            <m:t>𝟐</m:t>
                          </m:r>
                        </m:sup>
                      </m:sSup>
                      <m:r>
                        <a:rPr lang="en-US" altLang="zh-CN" sz="1600" b="1" i="1" smtClean="0">
                          <a:latin typeface="Cambria Math" panose="02040503050406030204" pitchFamily="18" charset="0"/>
                          <a:ea typeface="黑体" panose="02010609060101010101" pitchFamily="49" charset="-122"/>
                        </a:rPr>
                        <m:t>×</m:t>
                      </m:r>
                      <m:d>
                        <m:dPr>
                          <m:ctrlPr>
                            <a:rPr lang="en-US" altLang="zh-CN" sz="1600" b="1" i="1" smtClean="0">
                              <a:latin typeface="Cambria Math" panose="02040503050406030204" pitchFamily="18" charset="0"/>
                              <a:ea typeface="黑体" panose="02010609060101010101" pitchFamily="49" charset="-122"/>
                            </a:rPr>
                          </m:ctrlPr>
                        </m:dPr>
                        <m:e>
                          <m:r>
                            <a:rPr lang="en-US" altLang="zh-CN" sz="1600" b="1" i="1" smtClean="0">
                              <a:latin typeface="Cambria Math" panose="02040503050406030204" pitchFamily="18" charset="0"/>
                              <a:ea typeface="黑体" panose="02010609060101010101" pitchFamily="49" charset="-122"/>
                            </a:rPr>
                            <m:t>−</m:t>
                          </m:r>
                          <m:r>
                            <a:rPr lang="en-US" altLang="zh-CN" sz="1600" b="1" i="1" smtClean="0">
                              <a:latin typeface="Cambria Math" panose="02040503050406030204" pitchFamily="18" charset="0"/>
                              <a:ea typeface="黑体" panose="02010609060101010101" pitchFamily="49" charset="-122"/>
                            </a:rPr>
                            <m:t>𝟏</m:t>
                          </m:r>
                        </m:e>
                      </m:d>
                      <m:r>
                        <a:rPr lang="en-US" altLang="zh-CN" sz="1600" b="1" i="1" smtClean="0">
                          <a:latin typeface="Cambria Math" panose="02040503050406030204" pitchFamily="18" charset="0"/>
                          <a:ea typeface="黑体" panose="02010609060101010101" pitchFamily="49" charset="-122"/>
                        </a:rPr>
                        <m:t>=−</m:t>
                      </m:r>
                      <m:r>
                        <a:rPr lang="en-US" altLang="zh-CN" sz="1600" b="1" i="1" smtClean="0">
                          <a:latin typeface="Cambria Math" panose="02040503050406030204" pitchFamily="18" charset="0"/>
                          <a:ea typeface="黑体" panose="02010609060101010101" pitchFamily="49" charset="-122"/>
                        </a:rPr>
                        <m:t>𝟎</m:t>
                      </m:r>
                      <m:r>
                        <a:rPr lang="en-US" altLang="zh-CN" sz="1600" b="1" i="1" smtClean="0">
                          <a:latin typeface="Cambria Math" panose="02040503050406030204" pitchFamily="18" charset="0"/>
                          <a:ea typeface="黑体" panose="02010609060101010101" pitchFamily="49" charset="-122"/>
                        </a:rPr>
                        <m:t>.</m:t>
                      </m:r>
                      <m:r>
                        <a:rPr lang="en-US" altLang="zh-CN" sz="1600" b="1" i="1" smtClean="0">
                          <a:latin typeface="Cambria Math" panose="02040503050406030204" pitchFamily="18" charset="0"/>
                          <a:ea typeface="黑体" panose="02010609060101010101" pitchFamily="49" charset="-122"/>
                        </a:rPr>
                        <m:t>𝟗𝟖𝟎</m:t>
                      </m:r>
                    </m:oMath>
                  </m:oMathPara>
                </a14:m>
                <a:endParaRPr lang="en-US" altLang="zh-CN" sz="1600" b="1" i="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因此估计</a:t>
                </a:r>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sz="1600" b="1" i="1" smtClean="0">
                          <a:latin typeface="Cambria Math" panose="02040503050406030204" pitchFamily="18" charset="0"/>
                          <a:ea typeface="黑体" panose="02010609060101010101" pitchFamily="49" charset="-122"/>
                        </a:rPr>
                        <m:t>𝑽</m:t>
                      </m:r>
                      <m:d>
                        <m:dPr>
                          <m:ctrlPr>
                            <a:rPr lang="en-US" altLang="zh-CN" sz="1600" b="1" i="1" smtClean="0">
                              <a:latin typeface="Cambria Math" panose="02040503050406030204" pitchFamily="18" charset="0"/>
                              <a:ea typeface="黑体" panose="02010609060101010101" pitchFamily="49" charset="-122"/>
                            </a:rPr>
                          </m:ctrlPr>
                        </m:dPr>
                        <m:e>
                          <m:sSub>
                            <m:sSubPr>
                              <m:ctrlPr>
                                <a:rPr lang="en-US" altLang="zh-CN" sz="1600" b="1" i="1" smtClean="0">
                                  <a:latin typeface="Cambria Math" panose="02040503050406030204" pitchFamily="18" charset="0"/>
                                  <a:ea typeface="黑体" panose="02010609060101010101" pitchFamily="49" charset="-122"/>
                                </a:rPr>
                              </m:ctrlPr>
                            </m:sSubPr>
                            <m:e>
                              <m:r>
                                <a:rPr lang="en-US" altLang="zh-CN" sz="1600" b="1" i="1" smtClean="0">
                                  <a:latin typeface="Cambria Math" panose="02040503050406030204" pitchFamily="18" charset="0"/>
                                  <a:ea typeface="黑体" panose="02010609060101010101" pitchFamily="49" charset="-122"/>
                                </a:rPr>
                                <m:t>𝒔</m:t>
                              </m:r>
                            </m:e>
                            <m:sub>
                              <m:r>
                                <a:rPr lang="en-US" altLang="zh-CN" sz="1600" b="1" i="1" smtClean="0">
                                  <a:latin typeface="Cambria Math" panose="02040503050406030204" pitchFamily="18" charset="0"/>
                                  <a:ea typeface="黑体" panose="02010609060101010101" pitchFamily="49" charset="-122"/>
                                </a:rPr>
                                <m:t>𝟏</m:t>
                              </m:r>
                            </m:sub>
                          </m:sSub>
                        </m:e>
                      </m:d>
                      <m:r>
                        <a:rPr lang="en-US" altLang="zh-CN" sz="1600" b="1" i="1" smtClean="0">
                          <a:latin typeface="Cambria Math" panose="02040503050406030204" pitchFamily="18" charset="0"/>
                          <a:ea typeface="黑体" panose="02010609060101010101" pitchFamily="49" charset="-122"/>
                        </a:rPr>
                        <m:t>=</m:t>
                      </m:r>
                      <m:f>
                        <m:fPr>
                          <m:ctrlPr>
                            <a:rPr lang="en-US" altLang="zh-CN" sz="1600" b="1" i="1" smtClean="0">
                              <a:latin typeface="Cambria Math" panose="02040503050406030204" pitchFamily="18" charset="0"/>
                              <a:ea typeface="黑体" panose="02010609060101010101" pitchFamily="49" charset="-122"/>
                            </a:rPr>
                          </m:ctrlPr>
                        </m:fPr>
                        <m:num>
                          <m:r>
                            <a:rPr lang="en-US" altLang="zh-CN" sz="1600" b="1" i="1" smtClean="0">
                              <a:latin typeface="Cambria Math" panose="02040503050406030204" pitchFamily="18" charset="0"/>
                              <a:ea typeface="黑体" panose="02010609060101010101" pitchFamily="49" charset="-122"/>
                            </a:rPr>
                            <m:t>𝟏</m:t>
                          </m:r>
                        </m:num>
                        <m:den>
                          <m:r>
                            <a:rPr lang="en-US" altLang="zh-CN" sz="1600" b="1" i="1" smtClean="0">
                              <a:latin typeface="Cambria Math" panose="02040503050406030204" pitchFamily="18" charset="0"/>
                              <a:ea typeface="黑体" panose="02010609060101010101" pitchFamily="49" charset="-122"/>
                            </a:rPr>
                            <m:t>𝟐</m:t>
                          </m:r>
                        </m:den>
                      </m:f>
                      <m:d>
                        <m:dPr>
                          <m:ctrlPr>
                            <a:rPr lang="en-US" altLang="zh-CN" sz="1600" b="1" i="1" smtClean="0">
                              <a:latin typeface="Cambria Math" panose="02040503050406030204" pitchFamily="18" charset="0"/>
                              <a:ea typeface="黑体" panose="02010609060101010101" pitchFamily="49" charset="-122"/>
                            </a:rPr>
                          </m:ctrlPr>
                        </m:dPr>
                        <m:e>
                          <m:r>
                            <a:rPr lang="en-US" altLang="zh-CN" sz="1600" b="1" i="1" smtClean="0">
                              <a:latin typeface="Cambria Math" panose="02040503050406030204" pitchFamily="18" charset="0"/>
                              <a:ea typeface="黑体" panose="02010609060101010101" pitchFamily="49" charset="-122"/>
                            </a:rPr>
                            <m:t>𝟎</m:t>
                          </m:r>
                          <m:r>
                            <a:rPr lang="en-US" altLang="zh-CN" sz="1600" b="1" i="1" smtClean="0">
                              <a:latin typeface="Cambria Math" panose="02040503050406030204" pitchFamily="18" charset="0"/>
                              <a:ea typeface="黑体" panose="02010609060101010101" pitchFamily="49" charset="-122"/>
                            </a:rPr>
                            <m:t>.</m:t>
                          </m:r>
                          <m:r>
                            <a:rPr lang="en-US" altLang="zh-CN" sz="1600" b="1" i="1" smtClean="0">
                              <a:latin typeface="Cambria Math" panose="02040503050406030204" pitchFamily="18" charset="0"/>
                              <a:ea typeface="黑体" panose="02010609060101010101" pitchFamily="49" charset="-122"/>
                            </a:rPr>
                            <m:t>𝟗𝟕𝟎</m:t>
                          </m:r>
                          <m:r>
                            <a:rPr lang="en-US" altLang="zh-CN" sz="1600" b="1" i="1" smtClean="0">
                              <a:latin typeface="Cambria Math" panose="02040503050406030204" pitchFamily="18" charset="0"/>
                              <a:ea typeface="黑体" panose="02010609060101010101" pitchFamily="49" charset="-122"/>
                            </a:rPr>
                            <m:t>−</m:t>
                          </m:r>
                          <m:r>
                            <a:rPr lang="en-US" altLang="zh-CN" sz="1600" b="1" i="1" smtClean="0">
                              <a:latin typeface="Cambria Math" panose="02040503050406030204" pitchFamily="18" charset="0"/>
                              <a:ea typeface="黑体" panose="02010609060101010101" pitchFamily="49" charset="-122"/>
                            </a:rPr>
                            <m:t>𝟎</m:t>
                          </m:r>
                          <m:r>
                            <a:rPr lang="en-US" altLang="zh-CN" sz="1600" b="1" i="1" smtClean="0">
                              <a:latin typeface="Cambria Math" panose="02040503050406030204" pitchFamily="18" charset="0"/>
                              <a:ea typeface="黑体" panose="02010609060101010101" pitchFamily="49" charset="-122"/>
                            </a:rPr>
                            <m:t>.</m:t>
                          </m:r>
                          <m:r>
                            <a:rPr lang="en-US" altLang="zh-CN" sz="1600" b="1" i="1" smtClean="0">
                              <a:latin typeface="Cambria Math" panose="02040503050406030204" pitchFamily="18" charset="0"/>
                              <a:ea typeface="黑体" panose="02010609060101010101" pitchFamily="49" charset="-122"/>
                            </a:rPr>
                            <m:t>𝟗𝟖𝟎</m:t>
                          </m:r>
                        </m:e>
                      </m:d>
                      <m:r>
                        <a:rPr lang="en-US" altLang="zh-CN" sz="1600" b="1" i="1" smtClean="0">
                          <a:latin typeface="Cambria Math" panose="02040503050406030204" pitchFamily="18" charset="0"/>
                          <a:ea typeface="黑体" panose="02010609060101010101" pitchFamily="49" charset="-122"/>
                        </a:rPr>
                        <m:t>=−</m:t>
                      </m:r>
                      <m:r>
                        <a:rPr lang="en-US" altLang="zh-CN" sz="1600" b="1" i="1" smtClean="0">
                          <a:latin typeface="Cambria Math" panose="02040503050406030204" pitchFamily="18" charset="0"/>
                          <a:ea typeface="黑体" panose="02010609060101010101" pitchFamily="49" charset="-122"/>
                        </a:rPr>
                        <m:t>𝟎</m:t>
                      </m:r>
                      <m:r>
                        <a:rPr lang="en-US" altLang="zh-CN" sz="1600" b="1" i="1" smtClean="0">
                          <a:latin typeface="Cambria Math" panose="02040503050406030204" pitchFamily="18" charset="0"/>
                          <a:ea typeface="黑体" panose="02010609060101010101" pitchFamily="49" charset="-122"/>
                        </a:rPr>
                        <m:t>.</m:t>
                      </m:r>
                      <m:r>
                        <a:rPr lang="en-US" altLang="zh-CN" sz="1600" b="1" i="1" smtClean="0">
                          <a:latin typeface="Cambria Math" panose="02040503050406030204" pitchFamily="18" charset="0"/>
                          <a:ea typeface="黑体" panose="02010609060101010101" pitchFamily="49" charset="-122"/>
                        </a:rPr>
                        <m:t>𝟎𝟎𝟓</m:t>
                      </m:r>
                    </m:oMath>
                  </m:oMathPara>
                </a14:m>
                <a:br>
                  <a:rPr lang="en-US" altLang="zh-CN" sz="1600" b="1" i="1" dirty="0">
                    <a:latin typeface="Times New Roman" panose="02020603050405020304" pitchFamily="18" charset="0"/>
                    <a:ea typeface="华文楷体" panose="02010600040101010101" pitchFamily="2" charset="-122"/>
                    <a:cs typeface="Times New Roman" panose="02020603050405020304" pitchFamily="18" charset="0"/>
                  </a:rPr>
                </a:br>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45" name="矩形 44">
                <a:extLst>
                  <a:ext uri="{FF2B5EF4-FFF2-40B4-BE49-F238E27FC236}">
                    <a16:creationId xmlns:a16="http://schemas.microsoft.com/office/drawing/2014/main" id="{B19409EF-32C6-45C8-B6C5-AC23C07D1946}"/>
                  </a:ext>
                </a:extLst>
              </p:cNvPr>
              <p:cNvSpPr>
                <a:spLocks noRot="1" noChangeAspect="1" noMove="1" noResize="1" noEditPoints="1" noAdjustHandles="1" noChangeArrowheads="1" noChangeShapeType="1" noTextEdit="1"/>
              </p:cNvSpPr>
              <p:nvPr/>
            </p:nvSpPr>
            <p:spPr>
              <a:xfrm>
                <a:off x="1205420" y="3006390"/>
                <a:ext cx="5866552" cy="2276970"/>
              </a:xfrm>
              <a:prstGeom prst="rect">
                <a:avLst/>
              </a:prstGeom>
              <a:blipFill>
                <a:blip r:embed="rId13"/>
                <a:stretch>
                  <a:fillRect l="-624" t="-535"/>
                </a:stretch>
              </a:blipFill>
            </p:spPr>
            <p:txBody>
              <a:bodyPr/>
              <a:lstStyle/>
              <a:p>
                <a:r>
                  <a:rPr lang="zh-CN" altLang="en-US">
                    <a:noFill/>
                  </a:rPr>
                  <a:t> </a:t>
                </a:r>
              </a:p>
            </p:txBody>
          </p:sp>
        </mc:Fallback>
      </mc:AlternateContent>
      <p:cxnSp>
        <p:nvCxnSpPr>
          <p:cNvPr id="46" name="直接箭头连接符 45">
            <a:extLst>
              <a:ext uri="{FF2B5EF4-FFF2-40B4-BE49-F238E27FC236}">
                <a16:creationId xmlns:a16="http://schemas.microsoft.com/office/drawing/2014/main" id="{7A99EBDE-C195-46C5-8526-C8C4288D2180}"/>
              </a:ext>
            </a:extLst>
          </p:cNvPr>
          <p:cNvCxnSpPr>
            <a:cxnSpLocks/>
          </p:cNvCxnSpPr>
          <p:nvPr/>
        </p:nvCxnSpPr>
        <p:spPr>
          <a:xfrm flipV="1">
            <a:off x="8367388" y="3344379"/>
            <a:ext cx="0" cy="137299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59707699-2CE7-4E02-AA47-82379B86E7C5}"/>
              </a:ext>
            </a:extLst>
          </p:cNvPr>
          <p:cNvCxnSpPr>
            <a:cxnSpLocks/>
          </p:cNvCxnSpPr>
          <p:nvPr/>
        </p:nvCxnSpPr>
        <p:spPr>
          <a:xfrm>
            <a:off x="8367388" y="3383424"/>
            <a:ext cx="998646"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5EB18A3E-6BA0-4686-AF9B-8CFF67A5486A}"/>
              </a:ext>
            </a:extLst>
          </p:cNvPr>
          <p:cNvCxnSpPr>
            <a:cxnSpLocks/>
          </p:cNvCxnSpPr>
          <p:nvPr/>
        </p:nvCxnSpPr>
        <p:spPr>
          <a:xfrm>
            <a:off x="8369499" y="4717377"/>
            <a:ext cx="150522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72EBED09-CE80-496E-B709-EE107A11EA6A}"/>
              </a:ext>
            </a:extLst>
          </p:cNvPr>
          <p:cNvSpPr txBox="1"/>
          <p:nvPr/>
        </p:nvSpPr>
        <p:spPr>
          <a:xfrm>
            <a:off x="6324923" y="3643046"/>
            <a:ext cx="1562770" cy="1077218"/>
          </a:xfrm>
          <a:prstGeom prst="rect">
            <a:avLst/>
          </a:prstGeom>
          <a:noFill/>
          <a:ln>
            <a:solidFill>
              <a:schemeClr val="accent1"/>
            </a:solidFill>
          </a:ln>
        </p:spPr>
        <p:txBody>
          <a:bodyPr wrap="square" rtlCol="0">
            <a:spAutoFit/>
          </a:bodyPr>
          <a:lstStyle/>
          <a:p>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如果是确定的策略，每个起点只会产生一种轨迹</a:t>
            </a:r>
          </a:p>
        </p:txBody>
      </p:sp>
      <mc:AlternateContent xmlns:mc="http://schemas.openxmlformats.org/markup-compatibility/2006" xmlns:a14="http://schemas.microsoft.com/office/drawing/2010/main">
        <mc:Choice Requires="a14">
          <p:sp>
            <p:nvSpPr>
              <p:cNvPr id="50" name="矩形 49">
                <a:extLst>
                  <a:ext uri="{FF2B5EF4-FFF2-40B4-BE49-F238E27FC236}">
                    <a16:creationId xmlns:a16="http://schemas.microsoft.com/office/drawing/2014/main" id="{20A18756-6CDF-4E6A-9A90-0CAA870F4D7A}"/>
                  </a:ext>
                </a:extLst>
              </p:cNvPr>
              <p:cNvSpPr/>
              <p:nvPr/>
            </p:nvSpPr>
            <p:spPr>
              <a:xfrm>
                <a:off x="505375" y="5279162"/>
                <a:ext cx="11006688" cy="1323439"/>
              </a:xfrm>
              <a:prstGeom prst="rect">
                <a:avLst/>
              </a:prstGeom>
            </p:spPr>
            <p:txBody>
              <a:bodyPr wrap="square">
                <a:spAutoFit/>
              </a:bodyPr>
              <a:lstStyle/>
              <a:p>
                <a:pPr algn="just"/>
                <a:r>
                  <a:rPr lang="zh-CN" altLang="zh-CN" sz="1600" b="1" dirty="0">
                    <a:latin typeface="Times New Roman" panose="02020603050405020304" pitchFamily="18" charset="0"/>
                    <a:ea typeface="华文楷体" panose="02010600040101010101" pitchFamily="2" charset="-122"/>
                    <a:cs typeface="Times New Roman" panose="02020603050405020304" pitchFamily="18" charset="0"/>
                  </a:rPr>
                  <a:t>根据数理统计的知识，期望可以通过样本均值来估计的，这正是蒙特卡洛方法（</a:t>
                </a:r>
                <a:r>
                  <a:rPr lang="en-US" altLang="zh-CN" sz="1600" b="1" dirty="0">
                    <a:latin typeface="Times New Roman" panose="02020603050405020304" pitchFamily="18" charset="0"/>
                    <a:ea typeface="华文楷体" panose="02010600040101010101" pitchFamily="2" charset="-122"/>
                    <a:cs typeface="Times New Roman" panose="02020603050405020304" pitchFamily="18" charset="0"/>
                  </a:rPr>
                  <a:t>Monte-Carlo method</a:t>
                </a:r>
                <a:r>
                  <a:rPr lang="zh-CN" altLang="zh-CN" sz="1600" b="1" dirty="0">
                    <a:latin typeface="Times New Roman" panose="02020603050405020304" pitchFamily="18" charset="0"/>
                    <a:ea typeface="华文楷体" panose="02010600040101010101" pitchFamily="2" charset="-122"/>
                    <a:cs typeface="Times New Roman" panose="02020603050405020304" pitchFamily="18" charset="0"/>
                  </a:rPr>
                  <a:t>）的核心思想</a:t>
                </a: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。即</a:t>
                </a:r>
                <a:r>
                  <a:rPr lang="zh-CN" altLang="zh-CN" sz="1600" b="1" dirty="0">
                    <a:latin typeface="Times New Roman" panose="02020603050405020304" pitchFamily="18" charset="0"/>
                    <a:ea typeface="华文楷体" panose="02010600040101010101" pitchFamily="2" charset="-122"/>
                    <a:cs typeface="Times New Roman" panose="02020603050405020304" pitchFamily="18" charset="0"/>
                  </a:rPr>
                  <a:t>大数定理指出：对于独立同分布（</a:t>
                </a:r>
                <a:r>
                  <a:rPr lang="en-US" altLang="zh-CN" sz="1600" b="1" dirty="0">
                    <a:latin typeface="Times New Roman" panose="02020603050405020304" pitchFamily="18" charset="0"/>
                    <a:ea typeface="华文楷体" panose="02010600040101010101" pitchFamily="2" charset="-122"/>
                    <a:cs typeface="Times New Roman" panose="02020603050405020304" pitchFamily="18" charset="0"/>
                  </a:rPr>
                  <a:t>independent and identically distributed, </a:t>
                </a:r>
                <a:r>
                  <a:rPr lang="en-US" altLang="zh-CN" sz="1600" b="1" dirty="0" err="1">
                    <a:latin typeface="Times New Roman" panose="02020603050405020304" pitchFamily="18" charset="0"/>
                    <a:ea typeface="华文楷体" panose="02010600040101010101" pitchFamily="2" charset="-122"/>
                    <a:cs typeface="Times New Roman" panose="02020603050405020304" pitchFamily="18" charset="0"/>
                  </a:rPr>
                  <a:t>i.i.d</a:t>
                </a:r>
                <a:r>
                  <a:rPr lang="en-US" altLang="zh-CN" sz="16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b="1" dirty="0">
                    <a:latin typeface="Times New Roman" panose="02020603050405020304" pitchFamily="18" charset="0"/>
                    <a:ea typeface="华文楷体" panose="02010600040101010101" pitchFamily="2" charset="-122"/>
                    <a:cs typeface="Times New Roman" panose="02020603050405020304" pitchFamily="18" charset="0"/>
                  </a:rPr>
                  <a:t>的样本数据，当样本足够大的时候，样本平均值向期望值收敛。按照这样的思路可使用蒙特卡洛方法来进行策略评估：给定状态</a:t>
                </a:r>
                <a14:m>
                  <m:oMath xmlns:m="http://schemas.openxmlformats.org/officeDocument/2006/math">
                    <m:r>
                      <a:rPr lang="en-US" altLang="zh-CN" sz="1600" b="1">
                        <a:latin typeface="Cambria Math" panose="02040503050406030204" pitchFamily="18" charset="0"/>
                        <a:ea typeface="华文楷体" panose="02010600040101010101" pitchFamily="2" charset="-122"/>
                        <a:cs typeface="Times New Roman" panose="02020603050405020304" pitchFamily="18" charset="0"/>
                      </a:rPr>
                      <m:t>𝑠</m:t>
                    </m:r>
                  </m:oMath>
                </a14:m>
                <a:r>
                  <a:rPr lang="zh-CN" altLang="zh-CN" sz="1600" b="1" dirty="0">
                    <a:latin typeface="Times New Roman" panose="02020603050405020304" pitchFamily="18" charset="0"/>
                    <a:ea typeface="华文楷体" panose="02010600040101010101" pitchFamily="2" charset="-122"/>
                    <a:cs typeface="Times New Roman" panose="02020603050405020304" pitchFamily="18" charset="0"/>
                  </a:rPr>
                  <a:t>，从该状态出发不断采样后续状态，得到不同的采样序列。通过这些采样序列来分别计算状态</a:t>
                </a:r>
                <a14:m>
                  <m:oMath xmlns:m="http://schemas.openxmlformats.org/officeDocument/2006/math">
                    <m:r>
                      <a:rPr lang="en-US" altLang="zh-CN" sz="1600" b="1">
                        <a:latin typeface="Cambria Math" panose="02040503050406030204" pitchFamily="18" charset="0"/>
                        <a:ea typeface="华文楷体" panose="02010600040101010101" pitchFamily="2" charset="-122"/>
                        <a:cs typeface="Times New Roman" panose="02020603050405020304" pitchFamily="18" charset="0"/>
                      </a:rPr>
                      <m:t>𝑠</m:t>
                    </m:r>
                  </m:oMath>
                </a14:m>
                <a:r>
                  <a:rPr lang="zh-CN" altLang="zh-CN" sz="1600" b="1" dirty="0">
                    <a:latin typeface="Times New Roman" panose="02020603050405020304" pitchFamily="18" charset="0"/>
                    <a:ea typeface="华文楷体" panose="02010600040101010101" pitchFamily="2" charset="-122"/>
                    <a:cs typeface="Times New Roman" panose="02020603050405020304" pitchFamily="18" charset="0"/>
                  </a:rPr>
                  <a:t>的回报值，对这些回报值取均值，作为对状态</a:t>
                </a:r>
                <a14:m>
                  <m:oMath xmlns:m="http://schemas.openxmlformats.org/officeDocument/2006/math">
                    <m:r>
                      <a:rPr lang="en-US" altLang="zh-CN" sz="1600" b="1">
                        <a:latin typeface="Cambria Math" panose="02040503050406030204" pitchFamily="18" charset="0"/>
                        <a:ea typeface="华文楷体" panose="02010600040101010101" pitchFamily="2" charset="-122"/>
                        <a:cs typeface="Times New Roman" panose="02020603050405020304" pitchFamily="18" charset="0"/>
                      </a:rPr>
                      <m:t>𝑠</m:t>
                    </m:r>
                  </m:oMath>
                </a14:m>
                <a:r>
                  <a:rPr lang="zh-CN" altLang="zh-CN" sz="1600" b="1" dirty="0">
                    <a:latin typeface="Times New Roman" panose="02020603050405020304" pitchFamily="18" charset="0"/>
                    <a:ea typeface="华文楷体" panose="02010600040101010101" pitchFamily="2" charset="-122"/>
                    <a:cs typeface="Times New Roman" panose="02020603050405020304" pitchFamily="18" charset="0"/>
                  </a:rPr>
                  <a:t>价值函数的估计，从而避免对状态转移概率的依赖。</a:t>
                </a:r>
              </a:p>
            </p:txBody>
          </p:sp>
        </mc:Choice>
        <mc:Fallback xmlns="">
          <p:sp>
            <p:nvSpPr>
              <p:cNvPr id="50" name="矩形 49">
                <a:extLst>
                  <a:ext uri="{FF2B5EF4-FFF2-40B4-BE49-F238E27FC236}">
                    <a16:creationId xmlns:a16="http://schemas.microsoft.com/office/drawing/2014/main" id="{20A18756-6CDF-4E6A-9A90-0CAA870F4D7A}"/>
                  </a:ext>
                </a:extLst>
              </p:cNvPr>
              <p:cNvSpPr>
                <a:spLocks noRot="1" noChangeAspect="1" noMove="1" noResize="1" noEditPoints="1" noAdjustHandles="1" noChangeArrowheads="1" noChangeShapeType="1" noTextEdit="1"/>
              </p:cNvSpPr>
              <p:nvPr/>
            </p:nvSpPr>
            <p:spPr>
              <a:xfrm>
                <a:off x="505375" y="5279162"/>
                <a:ext cx="11006688" cy="1323439"/>
              </a:xfrm>
              <a:prstGeom prst="rect">
                <a:avLst/>
              </a:prstGeom>
              <a:blipFill>
                <a:blip r:embed="rId14"/>
                <a:stretch>
                  <a:fillRect l="-332" t="-1843" r="-2161" b="-5530"/>
                </a:stretch>
              </a:blipFill>
            </p:spPr>
            <p:txBody>
              <a:bodyPr/>
              <a:lstStyle/>
              <a:p>
                <a:r>
                  <a:rPr lang="zh-CN" altLang="en-US">
                    <a:noFill/>
                  </a:rPr>
                  <a:t> </a:t>
                </a:r>
              </a:p>
            </p:txBody>
          </p:sp>
        </mc:Fallback>
      </mc:AlternateContent>
      <p:sp>
        <p:nvSpPr>
          <p:cNvPr id="51" name="矩形 50">
            <a:extLst>
              <a:ext uri="{FF2B5EF4-FFF2-40B4-BE49-F238E27FC236}">
                <a16:creationId xmlns:a16="http://schemas.microsoft.com/office/drawing/2014/main" id="{FCFEEC52-FC4A-4989-A36F-C6A81D1E02D6}"/>
              </a:ext>
            </a:extLst>
          </p:cNvPr>
          <p:cNvSpPr/>
          <p:nvPr/>
        </p:nvSpPr>
        <p:spPr>
          <a:xfrm>
            <a:off x="547149" y="1723382"/>
            <a:ext cx="1819421" cy="787523"/>
          </a:xfrm>
          <a:prstGeom prst="rect">
            <a:avLst/>
          </a:prstGeom>
        </p:spPr>
        <p:txBody>
          <a:bodyPr wrap="square">
            <a:spAutoFit/>
          </a:bodyPr>
          <a:lstStyle/>
          <a:p>
            <a:pPr>
              <a:lnSpc>
                <a:spcPct val="150000"/>
              </a:lnSpc>
            </a:pPr>
            <a:r>
              <a:rPr lang="zh-CN" altLang="en-US" sz="1600" b="1" dirty="0">
                <a:solidFill>
                  <a:srgbClr val="C00000"/>
                </a:solidFill>
                <a:latin typeface="微软雅黑" panose="020B0503020204020204" pitchFamily="34" charset="-122"/>
                <a:ea typeface="微软雅黑" panose="020B0503020204020204" pitchFamily="34" charset="-122"/>
              </a:rPr>
              <a:t>基于蒙特卡洛采样的价值函数更新</a:t>
            </a:r>
            <a:endParaRPr lang="en-US" altLang="zh-CN" sz="1600" b="1"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51223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AAC532F2-883C-EA08-47E5-CBCFC7CDDE81}"/>
              </a:ext>
            </a:extLst>
          </p:cNvPr>
          <p:cNvGrpSpPr/>
          <p:nvPr/>
        </p:nvGrpSpPr>
        <p:grpSpPr>
          <a:xfrm>
            <a:off x="2583380" y="726948"/>
            <a:ext cx="7464387" cy="497934"/>
            <a:chOff x="4099943" y="2819853"/>
            <a:chExt cx="2570275" cy="497934"/>
          </a:xfrm>
        </p:grpSpPr>
        <p:sp>
          <p:nvSpPr>
            <p:cNvPr id="5" name="平行四边形 4">
              <a:extLst>
                <a:ext uri="{FF2B5EF4-FFF2-40B4-BE49-F238E27FC236}">
                  <a16:creationId xmlns:a16="http://schemas.microsoft.com/office/drawing/2014/main" id="{6DE563B1-8A63-2493-9093-5AB78147769D}"/>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平行四边形 5">
              <a:extLst>
                <a:ext uri="{FF2B5EF4-FFF2-40B4-BE49-F238E27FC236}">
                  <a16:creationId xmlns:a16="http://schemas.microsoft.com/office/drawing/2014/main" id="{447C28A1-42CE-251E-623A-F2D7CC535717}"/>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7" name="矩形 6">
              <a:extLst>
                <a:ext uri="{FF2B5EF4-FFF2-40B4-BE49-F238E27FC236}">
                  <a16:creationId xmlns:a16="http://schemas.microsoft.com/office/drawing/2014/main" id="{4B158DAA-24D0-5B92-91D7-49209356D2E6}"/>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蒙特卡洛是什么意思？</a:t>
              </a:r>
            </a:p>
          </p:txBody>
        </p:sp>
      </p:grpSp>
      <p:sp>
        <p:nvSpPr>
          <p:cNvPr id="9" name="文本框 8">
            <a:extLst>
              <a:ext uri="{FF2B5EF4-FFF2-40B4-BE49-F238E27FC236}">
                <a16:creationId xmlns:a16="http://schemas.microsoft.com/office/drawing/2014/main" id="{EEF1DEF7-1475-D9B8-60EA-07DFD9EF6B6D}"/>
              </a:ext>
            </a:extLst>
          </p:cNvPr>
          <p:cNvSpPr txBox="1"/>
          <p:nvPr/>
        </p:nvSpPr>
        <p:spPr>
          <a:xfrm>
            <a:off x="1158240" y="1911430"/>
            <a:ext cx="9875519" cy="3970318"/>
          </a:xfrm>
          <a:prstGeom prst="rect">
            <a:avLst/>
          </a:prstGeom>
          <a:noFill/>
        </p:spPr>
        <p:txBody>
          <a:bodyPr wrap="square">
            <a:spAutoFit/>
          </a:bodyPr>
          <a:lstStyle/>
          <a:p>
            <a:pPr algn="l"/>
            <a:r>
              <a:rPr lang="zh-CN" altLang="en-US" b="0" i="0" dirty="0">
                <a:solidFill>
                  <a:srgbClr val="000000"/>
                </a:solidFill>
                <a:effectLst/>
                <a:latin typeface="Inter"/>
              </a:rPr>
              <a:t>蒙特卡洛（</a:t>
            </a:r>
            <a:r>
              <a:rPr lang="en-US" altLang="zh-CN" b="0" i="0" dirty="0">
                <a:solidFill>
                  <a:srgbClr val="000000"/>
                </a:solidFill>
                <a:effectLst/>
                <a:latin typeface="Inter"/>
              </a:rPr>
              <a:t>Monte Carlo</a:t>
            </a:r>
            <a:r>
              <a:rPr lang="zh-CN" altLang="en-US" b="0" i="0" dirty="0">
                <a:solidFill>
                  <a:srgbClr val="000000"/>
                </a:solidFill>
                <a:effectLst/>
                <a:latin typeface="Inter"/>
              </a:rPr>
              <a:t>）本质是一个地名，它成为这种随机抽样方法的名称，源于一段充满历史感的命名故事。</a:t>
            </a:r>
          </a:p>
          <a:p>
            <a:pPr algn="l"/>
            <a:r>
              <a:rPr lang="zh-CN" altLang="en-US" b="1" i="0" dirty="0">
                <a:solidFill>
                  <a:srgbClr val="000000"/>
                </a:solidFill>
                <a:effectLst/>
                <a:latin typeface="Inter"/>
              </a:rPr>
              <a:t>名字的起源：地名与随机的绑定</a:t>
            </a:r>
          </a:p>
          <a:p>
            <a:pPr algn="l"/>
            <a:r>
              <a:rPr lang="zh-CN" altLang="en-US" b="0" i="0" dirty="0">
                <a:solidFill>
                  <a:srgbClr val="000000"/>
                </a:solidFill>
                <a:effectLst/>
                <a:latin typeface="Inter"/>
              </a:rPr>
              <a:t>蒙特卡洛是欧洲袖珍国家摩纳哥的一座城市，以</a:t>
            </a:r>
            <a:r>
              <a:rPr lang="zh-CN" altLang="en-US" b="1" i="0" dirty="0">
                <a:solidFill>
                  <a:srgbClr val="000000"/>
                </a:solidFill>
                <a:effectLst/>
                <a:latin typeface="Inter"/>
              </a:rPr>
              <a:t>豪华赌场</a:t>
            </a:r>
            <a:r>
              <a:rPr lang="zh-CN" altLang="en-US" b="0" i="0" dirty="0">
                <a:solidFill>
                  <a:srgbClr val="000000"/>
                </a:solidFill>
                <a:effectLst/>
                <a:latin typeface="Inter"/>
              </a:rPr>
              <a:t>闻名世界（比如著名的蒙特卡洛大赌场）。而赌场里的 </a:t>
            </a:r>
            <a:r>
              <a:rPr lang="en-US" altLang="zh-CN" b="0" i="0" dirty="0">
                <a:solidFill>
                  <a:srgbClr val="000000"/>
                </a:solidFill>
                <a:effectLst/>
                <a:latin typeface="Inter"/>
              </a:rPr>
              <a:t>roulette</a:t>
            </a:r>
            <a:r>
              <a:rPr lang="zh-CN" altLang="en-US" b="0" i="0" dirty="0">
                <a:solidFill>
                  <a:srgbClr val="000000"/>
                </a:solidFill>
                <a:effectLst/>
                <a:latin typeface="Inter"/>
              </a:rPr>
              <a:t>（轮盘赌）、骰子、扑克等游戏，核心都是 “随机事件”</a:t>
            </a:r>
            <a:r>
              <a:rPr lang="en-US" altLang="zh-CN" b="0" i="0" dirty="0">
                <a:solidFill>
                  <a:srgbClr val="000000"/>
                </a:solidFill>
                <a:effectLst/>
                <a:latin typeface="Inter"/>
              </a:rPr>
              <a:t>—— </a:t>
            </a:r>
            <a:r>
              <a:rPr lang="zh-CN" altLang="en-US" b="0" i="0" dirty="0">
                <a:solidFill>
                  <a:srgbClr val="000000"/>
                </a:solidFill>
                <a:effectLst/>
                <a:latin typeface="Inter"/>
              </a:rPr>
              <a:t>每一次下注、每一次掷骰子，结果都是不可预测但遵循统计规律的。</a:t>
            </a:r>
          </a:p>
          <a:p>
            <a:pPr algn="l"/>
            <a:r>
              <a:rPr lang="zh-CN" altLang="en-US" b="1" i="0" dirty="0">
                <a:solidFill>
                  <a:srgbClr val="000000"/>
                </a:solidFill>
                <a:effectLst/>
                <a:latin typeface="Inter"/>
              </a:rPr>
              <a:t>命名的历史背景</a:t>
            </a:r>
          </a:p>
          <a:p>
            <a:pPr algn="l"/>
            <a:r>
              <a:rPr lang="zh-CN" altLang="en-US" b="0" i="0" dirty="0">
                <a:solidFill>
                  <a:srgbClr val="000000"/>
                </a:solidFill>
                <a:effectLst/>
                <a:latin typeface="Inter"/>
              </a:rPr>
              <a:t>这种方法的命名要追溯到 </a:t>
            </a:r>
            <a:r>
              <a:rPr lang="en-US" altLang="zh-CN" b="0" i="0" dirty="0">
                <a:solidFill>
                  <a:srgbClr val="000000"/>
                </a:solidFill>
                <a:effectLst/>
                <a:latin typeface="Inter"/>
              </a:rPr>
              <a:t>20 </a:t>
            </a:r>
            <a:r>
              <a:rPr lang="zh-CN" altLang="en-US" b="0" i="0" dirty="0">
                <a:solidFill>
                  <a:srgbClr val="000000"/>
                </a:solidFill>
                <a:effectLst/>
                <a:latin typeface="Inter"/>
              </a:rPr>
              <a:t>世纪 </a:t>
            </a:r>
            <a:r>
              <a:rPr lang="en-US" altLang="zh-CN" b="0" i="0" dirty="0">
                <a:solidFill>
                  <a:srgbClr val="000000"/>
                </a:solidFill>
                <a:effectLst/>
                <a:latin typeface="Inter"/>
              </a:rPr>
              <a:t>40 </a:t>
            </a:r>
            <a:r>
              <a:rPr lang="zh-CN" altLang="en-US" b="0" i="0" dirty="0">
                <a:solidFill>
                  <a:srgbClr val="000000"/>
                </a:solidFill>
                <a:effectLst/>
                <a:latin typeface="Inter"/>
              </a:rPr>
              <a:t>年代：</a:t>
            </a:r>
          </a:p>
          <a:p>
            <a:pPr algn="l">
              <a:buFont typeface="Arial" panose="020B0604020202020204" pitchFamily="34" charset="0"/>
              <a:buChar char="•"/>
            </a:pPr>
            <a:r>
              <a:rPr lang="zh-CN" altLang="en-US" b="0" i="0" dirty="0">
                <a:solidFill>
                  <a:srgbClr val="000000"/>
                </a:solidFill>
                <a:effectLst/>
                <a:latin typeface="Inter"/>
              </a:rPr>
              <a:t>当时美国在开展曼哈顿计划（研制原子弹），物理学家冯・诺依曼（</a:t>
            </a:r>
            <a:r>
              <a:rPr lang="en-US" altLang="zh-CN" b="0" i="0" dirty="0">
                <a:solidFill>
                  <a:srgbClr val="000000"/>
                </a:solidFill>
                <a:effectLst/>
                <a:latin typeface="Inter"/>
              </a:rPr>
              <a:t>John von Neumann</a:t>
            </a:r>
            <a:r>
              <a:rPr lang="zh-CN" altLang="en-US" b="0" i="0" dirty="0">
                <a:solidFill>
                  <a:srgbClr val="000000"/>
                </a:solidFill>
                <a:effectLst/>
                <a:latin typeface="Inter"/>
              </a:rPr>
              <a:t>）和数学家乌拉姆（</a:t>
            </a:r>
            <a:r>
              <a:rPr lang="en-US" altLang="zh-CN" b="0" i="0" dirty="0">
                <a:solidFill>
                  <a:srgbClr val="000000"/>
                </a:solidFill>
                <a:effectLst/>
                <a:latin typeface="Inter"/>
              </a:rPr>
              <a:t>Stanislaw </a:t>
            </a:r>
            <a:r>
              <a:rPr lang="en-US" altLang="zh-CN" b="0" i="0" dirty="0" err="1">
                <a:solidFill>
                  <a:srgbClr val="000000"/>
                </a:solidFill>
                <a:effectLst/>
                <a:latin typeface="Inter"/>
              </a:rPr>
              <a:t>Ulam</a:t>
            </a:r>
            <a:r>
              <a:rPr lang="zh-CN" altLang="en-US" b="0" i="0" dirty="0">
                <a:solidFill>
                  <a:srgbClr val="000000"/>
                </a:solidFill>
                <a:effectLst/>
                <a:latin typeface="Inter"/>
              </a:rPr>
              <a:t>）需要解决核物理中的复杂高维积分问题，传统解析方法完全无法应对。</a:t>
            </a:r>
          </a:p>
          <a:p>
            <a:pPr algn="l">
              <a:buFont typeface="Arial" panose="020B0604020202020204" pitchFamily="34" charset="0"/>
              <a:buChar char="•"/>
            </a:pPr>
            <a:r>
              <a:rPr lang="zh-CN" altLang="en-US" b="0" i="0" dirty="0">
                <a:solidFill>
                  <a:srgbClr val="000000"/>
                </a:solidFill>
                <a:effectLst/>
                <a:latin typeface="Inter"/>
              </a:rPr>
              <a:t>他们想到用 “随机抽样 </a:t>
            </a:r>
            <a:r>
              <a:rPr lang="en-US" altLang="zh-CN" b="0" i="0" dirty="0">
                <a:solidFill>
                  <a:srgbClr val="000000"/>
                </a:solidFill>
                <a:effectLst/>
                <a:latin typeface="Inter"/>
              </a:rPr>
              <a:t>+ </a:t>
            </a:r>
            <a:r>
              <a:rPr lang="zh-CN" altLang="en-US" b="0" i="0" dirty="0">
                <a:solidFill>
                  <a:srgbClr val="000000"/>
                </a:solidFill>
                <a:effectLst/>
                <a:latin typeface="Inter"/>
              </a:rPr>
              <a:t>统计平均” 的思路近似求解，而这种 “依赖随机过程” 的核心逻辑，和蒙特卡洛赌场里的随机游戏高度契合。</a:t>
            </a:r>
          </a:p>
          <a:p>
            <a:pPr algn="l">
              <a:buFont typeface="Arial" panose="020B0604020202020204" pitchFamily="34" charset="0"/>
              <a:buChar char="•"/>
            </a:pPr>
            <a:r>
              <a:rPr lang="zh-CN" altLang="en-US" b="0" i="0" dirty="0">
                <a:solidFill>
                  <a:srgbClr val="000000"/>
                </a:solidFill>
                <a:effectLst/>
                <a:latin typeface="Inter"/>
              </a:rPr>
              <a:t>为了给这个新方法起一个形象、好记的名字，又能避开军事项目的敏感属性，他们便以 “蒙特卡洛” 命名 </a:t>
            </a:r>
            <a:r>
              <a:rPr lang="en-US" altLang="zh-CN" b="0" i="0" dirty="0">
                <a:solidFill>
                  <a:srgbClr val="000000"/>
                </a:solidFill>
                <a:effectLst/>
                <a:latin typeface="Inter"/>
              </a:rPr>
              <a:t>—— </a:t>
            </a:r>
            <a:r>
              <a:rPr lang="zh-CN" altLang="en-US" b="0" i="0" dirty="0">
                <a:solidFill>
                  <a:srgbClr val="000000"/>
                </a:solidFill>
                <a:effectLst/>
                <a:latin typeface="Inter"/>
              </a:rPr>
              <a:t>既暗示了方法的 “随机” 本质，又带有一定的趣味性和保密性。</a:t>
            </a:r>
          </a:p>
        </p:txBody>
      </p:sp>
    </p:spTree>
    <p:extLst>
      <p:ext uri="{BB962C8B-B14F-4D97-AF65-F5344CB8AC3E}">
        <p14:creationId xmlns:p14="http://schemas.microsoft.com/office/powerpoint/2010/main" val="39935816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47B545A-DC8F-5A06-5446-B431BD6D5F60}"/>
              </a:ext>
            </a:extLst>
          </p:cNvPr>
          <p:cNvGrpSpPr/>
          <p:nvPr/>
        </p:nvGrpSpPr>
        <p:grpSpPr>
          <a:xfrm>
            <a:off x="2583380" y="726948"/>
            <a:ext cx="7464387" cy="497934"/>
            <a:chOff x="4099943" y="2819853"/>
            <a:chExt cx="2570275" cy="497934"/>
          </a:xfrm>
        </p:grpSpPr>
        <p:sp>
          <p:nvSpPr>
            <p:cNvPr id="3" name="平行四边形 2">
              <a:extLst>
                <a:ext uri="{FF2B5EF4-FFF2-40B4-BE49-F238E27FC236}">
                  <a16:creationId xmlns:a16="http://schemas.microsoft.com/office/drawing/2014/main" id="{86083B10-4A9B-BE4B-CBDC-05005F1E1496}"/>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a:extLst>
                <a:ext uri="{FF2B5EF4-FFF2-40B4-BE49-F238E27FC236}">
                  <a16:creationId xmlns:a16="http://schemas.microsoft.com/office/drawing/2014/main" id="{F96D3ABF-33FA-0649-EA96-2237639B4526}"/>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a:extLst>
                <a:ext uri="{FF2B5EF4-FFF2-40B4-BE49-F238E27FC236}">
                  <a16:creationId xmlns:a16="http://schemas.microsoft.com/office/drawing/2014/main" id="{A466BA24-DFCF-13A6-C8B9-45045E1872E5}"/>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蒙特卡洛是什么意思？</a:t>
              </a:r>
            </a:p>
          </p:txBody>
        </p:sp>
      </p:grpSp>
      <p:sp>
        <p:nvSpPr>
          <p:cNvPr id="9" name="文本框 8">
            <a:extLst>
              <a:ext uri="{FF2B5EF4-FFF2-40B4-BE49-F238E27FC236}">
                <a16:creationId xmlns:a16="http://schemas.microsoft.com/office/drawing/2014/main" id="{CA3EB63B-D656-0E8E-C201-911357B318FF}"/>
              </a:ext>
            </a:extLst>
          </p:cNvPr>
          <p:cNvSpPr txBox="1"/>
          <p:nvPr/>
        </p:nvSpPr>
        <p:spPr>
          <a:xfrm>
            <a:off x="1362428" y="1554203"/>
            <a:ext cx="9840686" cy="1477328"/>
          </a:xfrm>
          <a:prstGeom prst="rect">
            <a:avLst/>
          </a:prstGeom>
          <a:noFill/>
        </p:spPr>
        <p:txBody>
          <a:bodyPr wrap="square">
            <a:spAutoFit/>
          </a:bodyPr>
          <a:lstStyle/>
          <a:p>
            <a:r>
              <a:rPr lang="zh-CN" altLang="en-US" b="1" dirty="0"/>
              <a:t>蒙特卡洛方法是一种通过  随机抽样（模拟随机过程） 来求解数学、物理、工程等领域问题的数值方法，核心思想是利用 “大量随机样本的统计规律” 近似得到问题的解。</a:t>
            </a:r>
            <a:r>
              <a:rPr lang="zh-CN" altLang="en-US" dirty="0"/>
              <a:t>其核心原理是基于</a:t>
            </a:r>
            <a:r>
              <a:rPr lang="zh-CN" altLang="en-US" b="1" dirty="0"/>
              <a:t>大数定律</a:t>
            </a:r>
            <a:r>
              <a:rPr lang="zh-CN" altLang="en-US" dirty="0"/>
              <a:t>：当随机样本数量足够大时，样本的统计特性（如均值、频率）会趋近于总体的真实特性。因此，蒙特卡洛方法通过生成大量随机试验结果，对结果进行统计分析，从而估计出问题的近似解。</a:t>
            </a:r>
          </a:p>
        </p:txBody>
      </p:sp>
      <p:pic>
        <p:nvPicPr>
          <p:cNvPr id="11" name="图片 10">
            <a:extLst>
              <a:ext uri="{FF2B5EF4-FFF2-40B4-BE49-F238E27FC236}">
                <a16:creationId xmlns:a16="http://schemas.microsoft.com/office/drawing/2014/main" id="{B345EAC9-E9CA-DB1B-288B-EAEBEF361374}"/>
              </a:ext>
            </a:extLst>
          </p:cNvPr>
          <p:cNvPicPr>
            <a:picLocks noChangeAspect="1"/>
          </p:cNvPicPr>
          <p:nvPr/>
        </p:nvPicPr>
        <p:blipFill>
          <a:blip r:embed="rId2"/>
          <a:stretch>
            <a:fillRect/>
          </a:stretch>
        </p:blipFill>
        <p:spPr>
          <a:xfrm>
            <a:off x="2199002" y="3030874"/>
            <a:ext cx="7933333" cy="3466667"/>
          </a:xfrm>
          <a:prstGeom prst="rect">
            <a:avLst/>
          </a:prstGeom>
        </p:spPr>
      </p:pic>
    </p:spTree>
    <p:extLst>
      <p:ext uri="{BB962C8B-B14F-4D97-AF65-F5344CB8AC3E}">
        <p14:creationId xmlns:p14="http://schemas.microsoft.com/office/powerpoint/2010/main" val="12293600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蒙特卡洛采样和动态规划方法相比的优劣</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p:sp>
        <p:nvSpPr>
          <p:cNvPr id="7" name="文本框 6">
            <a:extLst>
              <a:ext uri="{FF2B5EF4-FFF2-40B4-BE49-F238E27FC236}">
                <a16:creationId xmlns:a16="http://schemas.microsoft.com/office/drawing/2014/main" id="{778D0FBF-DADC-5FBE-EEDD-E2246DB4E9B5}"/>
              </a:ext>
            </a:extLst>
          </p:cNvPr>
          <p:cNvSpPr txBox="1"/>
          <p:nvPr/>
        </p:nvSpPr>
        <p:spPr>
          <a:xfrm>
            <a:off x="2165169" y="1696135"/>
            <a:ext cx="7882598" cy="1569660"/>
          </a:xfrm>
          <a:prstGeom prst="rect">
            <a:avLst/>
          </a:prstGeom>
          <a:noFill/>
        </p:spPr>
        <p:txBody>
          <a:bodyPr wrap="square">
            <a:spAutoFit/>
          </a:bodyPr>
          <a:lstStyle/>
          <a:p>
            <a:pPr algn="l"/>
            <a:r>
              <a:rPr lang="zh-CN" altLang="en-US" sz="2400" b="0" i="0" dirty="0">
                <a:solidFill>
                  <a:srgbClr val="000000"/>
                </a:solidFill>
                <a:effectLst/>
                <a:latin typeface="Inter"/>
              </a:rPr>
              <a:t>蒙特卡洛（</a:t>
            </a:r>
            <a:r>
              <a:rPr lang="en-US" altLang="zh-CN" sz="2400" b="0" i="0" dirty="0">
                <a:solidFill>
                  <a:srgbClr val="000000"/>
                </a:solidFill>
                <a:effectLst/>
                <a:latin typeface="Inter"/>
              </a:rPr>
              <a:t>Monte Carlo</a:t>
            </a:r>
            <a:r>
              <a:rPr lang="zh-CN" altLang="en-US" sz="2400" b="0" i="0" dirty="0">
                <a:solidFill>
                  <a:srgbClr val="000000"/>
                </a:solidFill>
                <a:effectLst/>
                <a:latin typeface="Inter"/>
              </a:rPr>
              <a:t>）规避了动态规划的两个难题：</a:t>
            </a:r>
            <a:endParaRPr lang="en-US" altLang="zh-CN" sz="2400" b="0" i="0" dirty="0">
              <a:solidFill>
                <a:srgbClr val="000000"/>
              </a:solidFill>
              <a:effectLst/>
              <a:latin typeface="Inter"/>
            </a:endParaRPr>
          </a:p>
          <a:p>
            <a:pPr marL="342900" indent="-342900" algn="l">
              <a:buFont typeface="+mj-lt"/>
              <a:buAutoNum type="arabicPeriod"/>
            </a:pPr>
            <a:r>
              <a:rPr lang="zh-CN" altLang="en-US" sz="2400" b="0" i="0" dirty="0">
                <a:solidFill>
                  <a:srgbClr val="000000"/>
                </a:solidFill>
                <a:effectLst/>
                <a:latin typeface="Inter"/>
              </a:rPr>
              <a:t>采样无需依赖状态之间的转移概率</a:t>
            </a:r>
            <a:endParaRPr lang="en-US" altLang="zh-CN" sz="2400" b="0" i="0" dirty="0">
              <a:solidFill>
                <a:srgbClr val="000000"/>
              </a:solidFill>
              <a:effectLst/>
              <a:latin typeface="Inter"/>
            </a:endParaRPr>
          </a:p>
          <a:p>
            <a:pPr marL="342900" indent="-342900" algn="l">
              <a:buFont typeface="+mj-lt"/>
              <a:buAutoNum type="arabicPeriod"/>
            </a:pPr>
            <a:r>
              <a:rPr lang="zh-CN" altLang="en-US" sz="2400" b="0" i="0" dirty="0">
                <a:solidFill>
                  <a:srgbClr val="000000"/>
                </a:solidFill>
                <a:effectLst/>
                <a:latin typeface="Inter"/>
              </a:rPr>
              <a:t>蒙特卡洛方法可以将计算资源集中在感兴趣状态上，以客服状态过多时计算效率低的问题。</a:t>
            </a:r>
          </a:p>
        </p:txBody>
      </p:sp>
      <p:sp>
        <p:nvSpPr>
          <p:cNvPr id="8" name="文本框 7">
            <a:extLst>
              <a:ext uri="{FF2B5EF4-FFF2-40B4-BE49-F238E27FC236}">
                <a16:creationId xmlns:a16="http://schemas.microsoft.com/office/drawing/2014/main" id="{F935955F-8453-3960-F635-A57B7E1D121E}"/>
              </a:ext>
            </a:extLst>
          </p:cNvPr>
          <p:cNvSpPr txBox="1"/>
          <p:nvPr/>
        </p:nvSpPr>
        <p:spPr>
          <a:xfrm>
            <a:off x="2165169" y="4212272"/>
            <a:ext cx="7882597" cy="1569660"/>
          </a:xfrm>
          <a:prstGeom prst="rect">
            <a:avLst/>
          </a:prstGeom>
          <a:noFill/>
        </p:spPr>
        <p:txBody>
          <a:bodyPr wrap="square">
            <a:spAutoFit/>
          </a:bodyPr>
          <a:lstStyle/>
          <a:p>
            <a:pPr algn="l"/>
            <a:r>
              <a:rPr lang="zh-CN" altLang="en-US" sz="2400" b="0" i="0" dirty="0">
                <a:solidFill>
                  <a:srgbClr val="000000"/>
                </a:solidFill>
                <a:effectLst/>
                <a:latin typeface="Inter"/>
              </a:rPr>
              <a:t>蒙特卡洛（</a:t>
            </a:r>
            <a:r>
              <a:rPr lang="en-US" altLang="zh-CN" sz="2400" b="0" i="0" dirty="0">
                <a:solidFill>
                  <a:srgbClr val="000000"/>
                </a:solidFill>
                <a:effectLst/>
                <a:latin typeface="Inter"/>
              </a:rPr>
              <a:t>Monte Carlo</a:t>
            </a:r>
            <a:r>
              <a:rPr lang="zh-CN" altLang="en-US" sz="2400" b="0" i="0" dirty="0">
                <a:solidFill>
                  <a:srgbClr val="000000"/>
                </a:solidFill>
                <a:effectLst/>
                <a:latin typeface="Inter"/>
              </a:rPr>
              <a:t>）的新问题：</a:t>
            </a:r>
            <a:endParaRPr lang="en-US" altLang="zh-CN" sz="2400" b="0" i="0" dirty="0">
              <a:solidFill>
                <a:srgbClr val="000000"/>
              </a:solidFill>
              <a:effectLst/>
              <a:latin typeface="Inter"/>
            </a:endParaRPr>
          </a:p>
          <a:p>
            <a:pPr marL="342900" indent="-342900" algn="l">
              <a:buFont typeface="+mj-lt"/>
              <a:buAutoNum type="arabicPeriod"/>
            </a:pPr>
            <a:r>
              <a:rPr lang="zh-CN" altLang="en-US" sz="2400" b="0" i="0" dirty="0">
                <a:solidFill>
                  <a:srgbClr val="000000"/>
                </a:solidFill>
                <a:effectLst/>
                <a:latin typeface="Inter"/>
              </a:rPr>
              <a:t>采样的估计方式难以准确</a:t>
            </a:r>
            <a:endParaRPr lang="en-US" altLang="zh-CN" sz="2400" b="0" i="0" dirty="0">
              <a:solidFill>
                <a:srgbClr val="000000"/>
              </a:solidFill>
              <a:effectLst/>
              <a:latin typeface="Inter"/>
            </a:endParaRPr>
          </a:p>
          <a:p>
            <a:pPr marL="342900" indent="-342900" algn="l">
              <a:buFont typeface="+mj-lt"/>
              <a:buAutoNum type="arabicPeriod"/>
            </a:pPr>
            <a:r>
              <a:rPr lang="zh-CN" altLang="en-US" sz="2400" dirty="0">
                <a:solidFill>
                  <a:srgbClr val="000000"/>
                </a:solidFill>
                <a:latin typeface="Inter"/>
              </a:rPr>
              <a:t>部分问题只有到终止状态时才有非零的回报值，导致采样轨迹较长，严重影响算法效率</a:t>
            </a:r>
            <a:endParaRPr lang="zh-CN" altLang="en-US" sz="2400" b="0" i="0" dirty="0">
              <a:solidFill>
                <a:srgbClr val="000000"/>
              </a:solidFill>
              <a:effectLst/>
              <a:latin typeface="Inter"/>
            </a:endParaRPr>
          </a:p>
        </p:txBody>
      </p:sp>
    </p:spTree>
    <p:extLst>
      <p:ext uri="{BB962C8B-B14F-4D97-AF65-F5344CB8AC3E}">
        <p14:creationId xmlns:p14="http://schemas.microsoft.com/office/powerpoint/2010/main" val="431632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E2670DC8-056A-55A0-C226-4021094CDE8D}"/>
              </a:ext>
            </a:extLst>
          </p:cNvPr>
          <p:cNvSpPr/>
          <p:nvPr/>
        </p:nvSpPr>
        <p:spPr>
          <a:xfrm>
            <a:off x="2583380" y="5345906"/>
            <a:ext cx="6790005" cy="55959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时序差分</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7565074E-F259-4DC8-9A4B-49B87ECCE0A6}"/>
                  </a:ext>
                </a:extLst>
              </p:cNvPr>
              <p:cNvSpPr txBox="1"/>
              <p:nvPr/>
            </p:nvSpPr>
            <p:spPr>
              <a:xfrm>
                <a:off x="2073320" y="2054444"/>
                <a:ext cx="6790005" cy="2862322"/>
              </a:xfrm>
              <a:prstGeom prst="rect">
                <a:avLst/>
              </a:prstGeom>
              <a:noFill/>
              <a:ln>
                <a:solidFill>
                  <a:schemeClr val="tx1"/>
                </a:solidFill>
              </a:ln>
            </p:spPr>
            <p:txBody>
              <a:bodyPr wrap="square" rtlCol="0">
                <a:spAutoFit/>
              </a:bodyPr>
              <a:lstStyle/>
              <a:p>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初始化</a:t>
                </a:r>
                <a14:m>
                  <m:oMath xmlns:m="http://schemas.openxmlformats.org/officeDocument/2006/math">
                    <m:sSub>
                      <m:sSub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𝜋</m:t>
                        </m:r>
                      </m:sub>
                    </m:sSub>
                  </m:oMath>
                </a14:m>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函数</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循环</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初始化</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s</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为初始状态</a:t>
                </a:r>
                <a:endPar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循环</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14:m>
                  <m:oMath xmlns:m="http://schemas.openxmlformats.org/officeDocument/2006/math">
                    <m:r>
                      <a:rPr lang="en-US" altLang="zh-CN" b="1">
                        <a:latin typeface="Cambria Math" panose="02040503050406030204" pitchFamily="18" charset="0"/>
                        <a:ea typeface="华文楷体" panose="02010600040101010101" pitchFamily="2" charset="-122"/>
                        <a:cs typeface="Times New Roman" panose="02020603050405020304" pitchFamily="18" charset="0"/>
                      </a:rPr>
                      <m:t>𝑎</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𝜋</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oMath>
                </a14:m>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执行动作</a:t>
                </a:r>
                <a14:m>
                  <m:oMath xmlns:m="http://schemas.openxmlformats.org/officeDocument/2006/math">
                    <m:r>
                      <a:rPr lang="en-US" altLang="zh-CN" b="1">
                        <a:latin typeface="Cambria Math" panose="02040503050406030204" pitchFamily="18" charset="0"/>
                        <a:ea typeface="华文楷体" panose="02010600040101010101" pitchFamily="2" charset="-122"/>
                        <a:cs typeface="Times New Roman" panose="02020603050405020304" pitchFamily="18" charset="0"/>
                      </a:rPr>
                      <m:t>𝑎</m:t>
                    </m:r>
                  </m:oMath>
                </a14:m>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，观察奖励</a:t>
                </a:r>
                <a14:m>
                  <m:oMath xmlns:m="http://schemas.openxmlformats.org/officeDocument/2006/math">
                    <m:r>
                      <a:rPr lang="en-US" altLang="zh-CN" b="1">
                        <a:latin typeface="Cambria Math" panose="02040503050406030204" pitchFamily="18" charset="0"/>
                        <a:ea typeface="华文楷体" panose="02010600040101010101" pitchFamily="2" charset="-122"/>
                        <a:cs typeface="Times New Roman" panose="02020603050405020304" pitchFamily="18" charset="0"/>
                      </a:rPr>
                      <m:t>𝑅</m:t>
                    </m:r>
                  </m:oMath>
                </a14:m>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和下一个状态</a:t>
                </a:r>
                <a14:m>
                  <m:oMath xmlns:m="http://schemas.openxmlformats.org/officeDocument/2006/math">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oMath>
                </a14:m>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更新</a:t>
                </a:r>
                <a14:m>
                  <m:oMath xmlns:m="http://schemas.openxmlformats.org/officeDocument/2006/math">
                    <m:sSub>
                      <m:sSub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e>
                    </m:d>
                    <m:r>
                      <a:rPr lang="en-US" altLang="zh-CN" b="1">
                        <a:latin typeface="Cambria Math" panose="02040503050406030204" pitchFamily="18" charset="0"/>
                        <a:ea typeface="华文楷体" panose="02010600040101010101" pitchFamily="2" charset="-122"/>
                        <a:cs typeface="Times New Roman" panose="02020603050405020304" pitchFamily="18" charset="0"/>
                      </a:rPr>
                      <m:t>←</m:t>
                    </m:r>
                    <m:sSub>
                      <m:sSub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e>
                    </m:d>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𝛼</m:t>
                    </m:r>
                    <m:d>
                      <m:dPr>
                        <m:begChr m:val="["/>
                        <m:endChr m:val="]"/>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𝑅</m:t>
                        </m:r>
                        <m:d>
                          <m:d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sSup>
                              <m:sSup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p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𝑎</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b="1">
                                    <a:latin typeface="Cambria Math" panose="02040503050406030204" pitchFamily="18" charset="0"/>
                                    <a:ea typeface="华文楷体" panose="02010600040101010101" pitchFamily="2" charset="-122"/>
                                    <a:cs typeface="Times New Roman" panose="02020603050405020304" pitchFamily="18" charset="0"/>
                                  </a:rPr>
                                  <m:t>′</m:t>
                                </m:r>
                              </m:sup>
                            </m:sSup>
                          </m:e>
                        </m:d>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𝛾</m:t>
                        </m:r>
                        <m:sSub>
                          <m:sSub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dPr>
                          <m:e>
                            <m:sSup>
                              <m:sSup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p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b="1">
                                    <a:latin typeface="Cambria Math" panose="02040503050406030204" pitchFamily="18" charset="0"/>
                                    <a:ea typeface="华文楷体" panose="02010600040101010101" pitchFamily="2" charset="-122"/>
                                    <a:cs typeface="Times New Roman" panose="02020603050405020304" pitchFamily="18" charset="0"/>
                                  </a:rPr>
                                  <m:t>′</m:t>
                                </m:r>
                              </m:sup>
                            </m:sSup>
                          </m:e>
                        </m:d>
                        <m:r>
                          <a:rPr lang="en-US" altLang="zh-CN" b="1">
                            <a:latin typeface="Cambria Math" panose="02040503050406030204" pitchFamily="18" charset="0"/>
                            <a:ea typeface="华文楷体" panose="02010600040101010101" pitchFamily="2" charset="-122"/>
                            <a:cs typeface="Times New Roman" panose="02020603050405020304" pitchFamily="18" charset="0"/>
                          </a:rPr>
                          <m:t>−</m:t>
                        </m:r>
                        <m:sSub>
                          <m:sSub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e>
                        </m:d>
                      </m:e>
                    </m:d>
                  </m:oMath>
                </a14:m>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14:m>
                  <m:oMath xmlns:m="http://schemas.openxmlformats.org/officeDocument/2006/math">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oMath>
                </a14:m>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直到</a:t>
                </a:r>
                <a14:m>
                  <m:oMath xmlns:m="http://schemas.openxmlformats.org/officeDocument/2006/math">
                    <m:r>
                      <a:rPr lang="en-US" altLang="zh-CN" b="1">
                        <a:solidFill>
                          <a:srgbClr val="FF0000"/>
                        </a:solidFill>
                        <a:latin typeface="Cambria Math" panose="02040503050406030204" pitchFamily="18" charset="0"/>
                        <a:ea typeface="华文楷体" panose="02010600040101010101" pitchFamily="2" charset="-122"/>
                        <a:cs typeface="Times New Roman" panose="02020603050405020304" pitchFamily="18" charset="0"/>
                      </a:rPr>
                      <m:t>𝑠</m:t>
                    </m:r>
                  </m:oMath>
                </a14:m>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是终止状态</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直到</a:t>
                </a:r>
                <a14:m>
                  <m:oMath xmlns:m="http://schemas.openxmlformats.org/officeDocument/2006/math">
                    <m:sSub>
                      <m:sSub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𝜋</m:t>
                        </m:r>
                      </m:sub>
                    </m:sSub>
                  </m:oMath>
                </a14:m>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收敛</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25" name="文本框 24">
                <a:extLst>
                  <a:ext uri="{FF2B5EF4-FFF2-40B4-BE49-F238E27FC236}">
                    <a16:creationId xmlns:a16="http://schemas.microsoft.com/office/drawing/2014/main" id="{7565074E-F259-4DC8-9A4B-49B87ECCE0A6}"/>
                  </a:ext>
                </a:extLst>
              </p:cNvPr>
              <p:cNvSpPr txBox="1">
                <a:spLocks noRot="1" noChangeAspect="1" noMove="1" noResize="1" noEditPoints="1" noAdjustHandles="1" noChangeArrowheads="1" noChangeShapeType="1" noTextEdit="1"/>
              </p:cNvSpPr>
              <p:nvPr/>
            </p:nvSpPr>
            <p:spPr>
              <a:xfrm>
                <a:off x="2073320" y="2054444"/>
                <a:ext cx="6790005" cy="2862322"/>
              </a:xfrm>
              <a:prstGeom prst="rect">
                <a:avLst/>
              </a:prstGeom>
              <a:blipFill>
                <a:blip r:embed="rId3"/>
                <a:stretch>
                  <a:fillRect l="-627" t="-636" b="-2331"/>
                </a:stretch>
              </a:blipFill>
              <a:ln>
                <a:solidFill>
                  <a:schemeClr val="tx1"/>
                </a:solidFill>
              </a:ln>
            </p:spPr>
            <p:txBody>
              <a:bodyPr/>
              <a:lstStyle/>
              <a:p>
                <a:r>
                  <a:rPr lang="zh-CN" altLang="en-US">
                    <a:noFill/>
                  </a:rPr>
                  <a:t> </a:t>
                </a:r>
              </a:p>
            </p:txBody>
          </p:sp>
        </mc:Fallback>
      </mc:AlternateContent>
      <p:sp>
        <p:nvSpPr>
          <p:cNvPr id="26" name="矩形 25">
            <a:extLst>
              <a:ext uri="{FF2B5EF4-FFF2-40B4-BE49-F238E27FC236}">
                <a16:creationId xmlns:a16="http://schemas.microsoft.com/office/drawing/2014/main" id="{633EEE38-1E34-4332-A676-297E02CB22A8}"/>
              </a:ext>
            </a:extLst>
          </p:cNvPr>
          <p:cNvSpPr/>
          <p:nvPr/>
        </p:nvSpPr>
        <p:spPr>
          <a:xfrm>
            <a:off x="2007671" y="1410728"/>
            <a:ext cx="7070742" cy="495585"/>
          </a:xfrm>
          <a:prstGeom prst="rect">
            <a:avLst/>
          </a:prstGeom>
        </p:spPr>
        <p:txBody>
          <a:bodyPr wrap="square">
            <a:spAutoFit/>
          </a:bodyPr>
          <a:lstStyle/>
          <a:p>
            <a:pPr>
              <a:lnSpc>
                <a:spcPct val="150000"/>
              </a:lnSpc>
            </a:pPr>
            <a:r>
              <a:rPr lang="zh-CN" altLang="en-US" sz="2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基于时序差分（</a:t>
            </a:r>
            <a:r>
              <a:rPr lang="en-US" altLang="zh-CN" sz="2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Temporal Difference</a:t>
            </a:r>
            <a:r>
              <a:rPr lang="zh-CN" altLang="en-US" sz="2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）的价值函数更新</a:t>
            </a:r>
            <a:endParaRPr lang="en-US" altLang="zh-CN" sz="20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 name="矩形 26">
            <a:extLst>
              <a:ext uri="{FF2B5EF4-FFF2-40B4-BE49-F238E27FC236}">
                <a16:creationId xmlns:a16="http://schemas.microsoft.com/office/drawing/2014/main" id="{421952CB-0F6E-4FEE-A210-5C287A5E18A4}"/>
              </a:ext>
            </a:extLst>
          </p:cNvPr>
          <p:cNvSpPr/>
          <p:nvPr/>
        </p:nvSpPr>
        <p:spPr>
          <a:xfrm>
            <a:off x="642425" y="5345906"/>
            <a:ext cx="10907150" cy="424412"/>
          </a:xfrm>
          <a:prstGeom prst="rect">
            <a:avLst/>
          </a:prstGeom>
        </p:spPr>
        <p:txBody>
          <a:bodyPr wrap="square">
            <a:spAutoFit/>
          </a:bodyPr>
          <a:lstStyle/>
          <a:p>
            <a:pPr algn="ctr">
              <a:lnSpc>
                <a:spcPct val="150000"/>
              </a:lnSpc>
            </a:pPr>
            <a:r>
              <a:rPr lang="zh-CN"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时序差分法可以看作蒙特卡罗方法和动态规划方法的有机结合</a:t>
            </a:r>
            <a:endParaRPr lang="zh-CN"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7685562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时序差分</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p:grpSp>
        <p:nvGrpSpPr>
          <p:cNvPr id="11" name="组合 10">
            <a:extLst>
              <a:ext uri="{FF2B5EF4-FFF2-40B4-BE49-F238E27FC236}">
                <a16:creationId xmlns:a16="http://schemas.microsoft.com/office/drawing/2014/main" id="{10113E20-2C87-49B7-B1B7-B1C9B70888B3}"/>
              </a:ext>
            </a:extLst>
          </p:cNvPr>
          <p:cNvGrpSpPr/>
          <p:nvPr/>
        </p:nvGrpSpPr>
        <p:grpSpPr>
          <a:xfrm>
            <a:off x="5619873" y="2101838"/>
            <a:ext cx="7507706" cy="1241388"/>
            <a:chOff x="1825196" y="4357021"/>
            <a:chExt cx="10010274" cy="1241388"/>
          </a:xfrm>
        </p:grpSpPr>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B53110B1-D6D9-4512-A347-F6B9954C2C01}"/>
                    </a:ext>
                  </a:extLst>
                </p:cNvPr>
                <p:cNvSpPr/>
                <p:nvPr/>
              </p:nvSpPr>
              <p:spPr>
                <a:xfrm>
                  <a:off x="1825196" y="4357021"/>
                  <a:ext cx="10010274" cy="507831"/>
                </a:xfrm>
                <a:prstGeom prst="rect">
                  <a:avLst/>
                </a:prstGeom>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sSub>
                          <m:sSub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e>
                        </m:d>
                        <m:r>
                          <a:rPr lang="en-US" altLang="zh-CN" b="1">
                            <a:latin typeface="Cambria Math" panose="02040503050406030204" pitchFamily="18" charset="0"/>
                            <a:ea typeface="华文楷体" panose="02010600040101010101" pitchFamily="2" charset="-122"/>
                            <a:cs typeface="Times New Roman" panose="02020603050405020304" pitchFamily="18" charset="0"/>
                          </a:rPr>
                          <m:t>←(1−</m:t>
                        </m:r>
                        <m:r>
                          <a:rPr lang="en-US" altLang="zh-CN" b="1">
                            <a:latin typeface="Cambria Math" panose="02040503050406030204" pitchFamily="18" charset="0"/>
                            <a:ea typeface="华文楷体" panose="02010600040101010101" pitchFamily="2" charset="-122"/>
                            <a:cs typeface="Times New Roman" panose="02020603050405020304" pitchFamily="18" charset="0"/>
                          </a:rPr>
                          <m:t>𝛼</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sSub>
                          <m:sSub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e>
                        </m:d>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𝛼</m:t>
                        </m:r>
                        <m:d>
                          <m:dPr>
                            <m:begChr m:val="["/>
                            <m:endChr m:val="]"/>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𝑅</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𝑎</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sSup>
                              <m:sSup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p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b="1">
                                    <a:latin typeface="Cambria Math" panose="02040503050406030204" pitchFamily="18" charset="0"/>
                                    <a:ea typeface="华文楷体" panose="02010600040101010101" pitchFamily="2" charset="-122"/>
                                    <a:cs typeface="Times New Roman" panose="02020603050405020304" pitchFamily="18" charset="0"/>
                                  </a:rPr>
                                  <m:t>′</m:t>
                                </m:r>
                              </m:sup>
                            </m:sSup>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𝛾</m:t>
                            </m:r>
                            <m:sSub>
                              <m:sSub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dPr>
                              <m:e>
                                <m:sSup>
                                  <m:sSup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p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b="1">
                                        <a:latin typeface="Cambria Math" panose="02040503050406030204" pitchFamily="18" charset="0"/>
                                        <a:ea typeface="华文楷体" panose="02010600040101010101" pitchFamily="2" charset="-122"/>
                                        <a:cs typeface="Times New Roman" panose="02020603050405020304" pitchFamily="18" charset="0"/>
                                      </a:rPr>
                                      <m:t>′</m:t>
                                    </m:r>
                                  </m:sup>
                                </m:sSup>
                              </m:e>
                            </m:d>
                          </m:e>
                        </m:d>
                      </m:oMath>
                    </m:oMathPara>
                  </a14:m>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2" name="矩形 11">
                  <a:extLst>
                    <a:ext uri="{FF2B5EF4-FFF2-40B4-BE49-F238E27FC236}">
                      <a16:creationId xmlns:a16="http://schemas.microsoft.com/office/drawing/2014/main" id="{B53110B1-D6D9-4512-A347-F6B9954C2C01}"/>
                    </a:ext>
                  </a:extLst>
                </p:cNvPr>
                <p:cNvSpPr>
                  <a:spLocks noRot="1" noChangeAspect="1" noMove="1" noResize="1" noEditPoints="1" noAdjustHandles="1" noChangeArrowheads="1" noChangeShapeType="1" noTextEdit="1"/>
                </p:cNvSpPr>
                <p:nvPr/>
              </p:nvSpPr>
              <p:spPr>
                <a:xfrm>
                  <a:off x="1825196" y="4357021"/>
                  <a:ext cx="10010274" cy="507831"/>
                </a:xfrm>
                <a:prstGeom prst="rect">
                  <a:avLst/>
                </a:prstGeom>
                <a:blipFill>
                  <a:blip r:embed="rId3"/>
                  <a:stretch>
                    <a:fillRect/>
                  </a:stretch>
                </a:blipFill>
              </p:spPr>
              <p:txBody>
                <a:bodyPr/>
                <a:lstStyle/>
                <a:p>
                  <a:r>
                    <a:rPr lang="zh-CN" altLang="en-US">
                      <a:noFill/>
                    </a:rPr>
                    <a:t> </a:t>
                  </a:r>
                </a:p>
              </p:txBody>
            </p:sp>
          </mc:Fallback>
        </mc:AlternateContent>
        <p:cxnSp>
          <p:nvCxnSpPr>
            <p:cNvPr id="13" name="直接连接符 12">
              <a:extLst>
                <a:ext uri="{FF2B5EF4-FFF2-40B4-BE49-F238E27FC236}">
                  <a16:creationId xmlns:a16="http://schemas.microsoft.com/office/drawing/2014/main" id="{5C2C3C28-983C-4071-BF8E-E35D956D98BB}"/>
                </a:ext>
              </a:extLst>
            </p:cNvPr>
            <p:cNvCxnSpPr>
              <a:cxnSpLocks/>
            </p:cNvCxnSpPr>
            <p:nvPr/>
          </p:nvCxnSpPr>
          <p:spPr>
            <a:xfrm>
              <a:off x="5784644" y="4932681"/>
              <a:ext cx="88000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583ED5BC-E6FC-4B98-8AFF-ADD1A2A53985}"/>
                </a:ext>
              </a:extLst>
            </p:cNvPr>
            <p:cNvCxnSpPr>
              <a:cxnSpLocks/>
            </p:cNvCxnSpPr>
            <p:nvPr/>
          </p:nvCxnSpPr>
          <p:spPr>
            <a:xfrm>
              <a:off x="7365070" y="4932681"/>
              <a:ext cx="253611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82F41B4A-8819-41C0-A2E0-8201E75412A7}"/>
                </a:ext>
              </a:extLst>
            </p:cNvPr>
            <p:cNvSpPr/>
            <p:nvPr/>
          </p:nvSpPr>
          <p:spPr>
            <a:xfrm>
              <a:off x="5411736" y="5075189"/>
              <a:ext cx="1625816" cy="523220"/>
            </a:xfrm>
            <a:prstGeom prst="rect">
              <a:avLst/>
            </a:prstGeom>
          </p:spPr>
          <p:txBody>
            <a:bodyPr wrap="square">
              <a:spAutoFit/>
            </a:bodyPr>
            <a:lstStyle/>
            <a:p>
              <a:pPr algn="ctr"/>
              <a:r>
                <a:rPr lang="zh-CN" altLang="en-US" sz="1400" b="1" dirty="0">
                  <a:solidFill>
                    <a:srgbClr val="0070C0"/>
                  </a:solidFill>
                  <a:latin typeface="微软雅黑" panose="020B0503020204020204" pitchFamily="34" charset="-122"/>
                  <a:ea typeface="微软雅黑" panose="020B0503020204020204" pitchFamily="34" charset="-122"/>
                </a:rPr>
                <a:t>过去的</a:t>
              </a:r>
              <a:endParaRPr lang="en-US" altLang="zh-CN" sz="1400" b="1" dirty="0">
                <a:solidFill>
                  <a:srgbClr val="0070C0"/>
                </a:solidFill>
                <a:latin typeface="微软雅黑" panose="020B0503020204020204" pitchFamily="34" charset="-122"/>
                <a:ea typeface="微软雅黑" panose="020B0503020204020204" pitchFamily="34" charset="-122"/>
              </a:endParaRPr>
            </a:p>
            <a:p>
              <a:pPr algn="ctr"/>
              <a:r>
                <a:rPr lang="zh-CN" altLang="en-US" sz="1400" b="1" dirty="0">
                  <a:solidFill>
                    <a:srgbClr val="0070C0"/>
                  </a:solidFill>
                  <a:latin typeface="微软雅黑" panose="020B0503020204020204" pitchFamily="34" charset="-122"/>
                  <a:ea typeface="微软雅黑" panose="020B0503020204020204" pitchFamily="34" charset="-122"/>
                </a:rPr>
                <a:t>价值函数值</a:t>
              </a:r>
            </a:p>
          </p:txBody>
        </p:sp>
        <p:sp>
          <p:nvSpPr>
            <p:cNvPr id="16" name="矩形 15">
              <a:extLst>
                <a:ext uri="{FF2B5EF4-FFF2-40B4-BE49-F238E27FC236}">
                  <a16:creationId xmlns:a16="http://schemas.microsoft.com/office/drawing/2014/main" id="{E5334884-3C68-4A85-BD42-05694F5BC32C}"/>
                </a:ext>
              </a:extLst>
            </p:cNvPr>
            <p:cNvSpPr/>
            <p:nvPr/>
          </p:nvSpPr>
          <p:spPr>
            <a:xfrm>
              <a:off x="7641582" y="5075189"/>
              <a:ext cx="1949205" cy="523220"/>
            </a:xfrm>
            <a:prstGeom prst="rect">
              <a:avLst/>
            </a:prstGeom>
          </p:spPr>
          <p:txBody>
            <a:bodyPr wrap="square">
              <a:spAutoFit/>
            </a:bodyPr>
            <a:lstStyle/>
            <a:p>
              <a:pPr algn="ctr"/>
              <a:r>
                <a:rPr lang="zh-CN" altLang="en-US" sz="1400" b="1" dirty="0">
                  <a:solidFill>
                    <a:srgbClr val="0070C0"/>
                  </a:solidFill>
                  <a:latin typeface="微软雅黑" panose="020B0503020204020204" pitchFamily="34" charset="-122"/>
                  <a:ea typeface="微软雅黑" panose="020B0503020204020204" pitchFamily="34" charset="-122"/>
                </a:rPr>
                <a:t>学习得到的</a:t>
              </a:r>
              <a:endParaRPr lang="en-US" altLang="zh-CN" sz="1400" b="1" dirty="0">
                <a:solidFill>
                  <a:srgbClr val="0070C0"/>
                </a:solidFill>
                <a:latin typeface="微软雅黑" panose="020B0503020204020204" pitchFamily="34" charset="-122"/>
                <a:ea typeface="微软雅黑" panose="020B0503020204020204" pitchFamily="34" charset="-122"/>
              </a:endParaRPr>
            </a:p>
            <a:p>
              <a:pPr algn="ctr"/>
              <a:r>
                <a:rPr lang="zh-CN" altLang="en-US" sz="1400" b="1" dirty="0">
                  <a:solidFill>
                    <a:srgbClr val="0070C0"/>
                  </a:solidFill>
                  <a:latin typeface="微软雅黑" panose="020B0503020204020204" pitchFamily="34" charset="-122"/>
                  <a:ea typeface="微软雅黑" panose="020B0503020204020204" pitchFamily="34" charset="-122"/>
                </a:rPr>
                <a:t>价值函数值</a:t>
              </a:r>
            </a:p>
          </p:txBody>
        </p:sp>
      </p:grpSp>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38D47807-E923-4ACA-8D13-5174ADE01EB0}"/>
                  </a:ext>
                </a:extLst>
              </p:cNvPr>
              <p:cNvSpPr/>
              <p:nvPr/>
            </p:nvSpPr>
            <p:spPr>
              <a:xfrm>
                <a:off x="215705" y="4436805"/>
                <a:ext cx="11831527" cy="1631216"/>
              </a:xfrm>
              <a:prstGeom prst="rect">
                <a:avLst/>
              </a:prstGeom>
            </p:spPr>
            <p:txBody>
              <a:bodyPr wrap="square">
                <a:spAutoFit/>
              </a:bodyPr>
              <a:lstStyle/>
              <a:p>
                <a:pPr marL="285750" indent="-285750">
                  <a:buFont typeface="Wingdings" panose="05000000000000000000" pitchFamily="2" charset="2"/>
                  <a:buChar char="l"/>
                </a:pPr>
                <a:r>
                  <a:rPr lang="zh-CN"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时序差分法借鉴蒙特卡洛</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方</a:t>
                </a:r>
                <a:r>
                  <a:rPr lang="zh-CN"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法思想</a:t>
                </a:r>
                <a:r>
                  <a:rPr lang="zh-CN" altLang="zh-CN" sz="2000" dirty="0">
                    <a:latin typeface="Times New Roman" panose="02020603050405020304" pitchFamily="18" charset="0"/>
                    <a:ea typeface="黑体" panose="02010609060101010101" pitchFamily="49" charset="-122"/>
                    <a:cs typeface="Times New Roman" panose="02020603050405020304" pitchFamily="18" charset="0"/>
                  </a:rPr>
                  <a:t>，通过采样</a:t>
                </a:r>
                <a14:m>
                  <m:oMath xmlns:m="http://schemas.openxmlformats.org/officeDocument/2006/math">
                    <m:r>
                      <a:rPr lang="en-US" altLang="zh-CN" sz="2000">
                        <a:latin typeface="Cambria Math" panose="02040503050406030204" pitchFamily="18" charset="0"/>
                        <a:ea typeface="黑体" panose="02010609060101010101" pitchFamily="49" charset="-122"/>
                        <a:cs typeface="Times New Roman" panose="02020603050405020304" pitchFamily="18" charset="0"/>
                      </a:rPr>
                      <m:t>𝑎</m:t>
                    </m:r>
                  </m:oMath>
                </a14:m>
                <a:r>
                  <a:rPr lang="zh-CN" altLang="zh-CN" sz="2000" dirty="0">
                    <a:latin typeface="Times New Roman" panose="02020603050405020304" pitchFamily="18" charset="0"/>
                    <a:ea typeface="黑体" panose="02010609060101010101" pitchFamily="49" charset="-122"/>
                    <a:cs typeface="Times New Roman" panose="02020603050405020304" pitchFamily="18" charset="0"/>
                  </a:rPr>
                  <a:t>和</a:t>
                </a:r>
                <a14:m>
                  <m:oMath xmlns:m="http://schemas.openxmlformats.org/officeDocument/2006/math">
                    <m:sSup>
                      <m:sSupPr>
                        <m:ctrlPr>
                          <a:rPr lang="zh-CN" altLang="zh-CN" sz="2000" i="1">
                            <a:latin typeface="Cambria Math" panose="02040503050406030204" pitchFamily="18" charset="0"/>
                            <a:ea typeface="黑体" panose="02010609060101010101" pitchFamily="49" charset="-122"/>
                            <a:cs typeface="Times New Roman" panose="02020603050405020304" pitchFamily="18" charset="0"/>
                          </a:rPr>
                        </m:ctrlPr>
                      </m:sSupPr>
                      <m:e>
                        <m:r>
                          <a:rPr lang="en-US" altLang="zh-CN" sz="2000">
                            <a:latin typeface="Cambria Math" panose="02040503050406030204" pitchFamily="18" charset="0"/>
                            <a:ea typeface="黑体" panose="02010609060101010101" pitchFamily="49" charset="-122"/>
                            <a:cs typeface="Times New Roman" panose="02020603050405020304" pitchFamily="18" charset="0"/>
                          </a:rPr>
                          <m:t>𝑠</m:t>
                        </m:r>
                      </m:e>
                      <m:sup>
                        <m:r>
                          <a:rPr lang="en-US" altLang="zh-CN" sz="2000">
                            <a:latin typeface="Cambria Math" panose="02040503050406030204" pitchFamily="18" charset="0"/>
                            <a:ea typeface="黑体" panose="02010609060101010101" pitchFamily="49" charset="-122"/>
                            <a:cs typeface="Times New Roman" panose="02020603050405020304" pitchFamily="18" charset="0"/>
                          </a:rPr>
                          <m:t>′</m:t>
                        </m:r>
                      </m:sup>
                    </m:sSup>
                  </m:oMath>
                </a14:m>
                <a:r>
                  <a:rPr lang="zh-CN" altLang="zh-CN" sz="2000" dirty="0">
                    <a:latin typeface="Times New Roman" panose="02020603050405020304" pitchFamily="18" charset="0"/>
                    <a:ea typeface="黑体" panose="02010609060101010101" pitchFamily="49" charset="-122"/>
                    <a:cs typeface="Times New Roman" panose="02020603050405020304" pitchFamily="18" charset="0"/>
                  </a:rPr>
                  <a:t>来估计</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计算</a:t>
                </a:r>
                <a14:m>
                  <m:oMath xmlns:m="http://schemas.openxmlformats.org/officeDocument/2006/math">
                    <m:sSub>
                      <m:sSubPr>
                        <m:ctrlPr>
                          <a:rPr lang="zh-CN" altLang="zh-CN" sz="2000" i="1">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000">
                            <a:latin typeface="Cambria Math" panose="02040503050406030204" pitchFamily="18" charset="0"/>
                            <a:ea typeface="黑体" panose="02010609060101010101" pitchFamily="49" charset="-122"/>
                            <a:cs typeface="Times New Roman" panose="02020603050405020304" pitchFamily="18" charset="0"/>
                          </a:rPr>
                          <m:t>𝑉</m:t>
                        </m:r>
                      </m:e>
                      <m:sub>
                        <m:r>
                          <a:rPr lang="en-US" altLang="zh-CN" sz="2000">
                            <a:latin typeface="Cambria Math" panose="02040503050406030204" pitchFamily="18" charset="0"/>
                            <a:ea typeface="黑体" panose="02010609060101010101" pitchFamily="49" charset="-122"/>
                            <a:cs typeface="Times New Roman" panose="02020603050405020304" pitchFamily="18" charset="0"/>
                          </a:rPr>
                          <m:t>𝜋</m:t>
                        </m:r>
                      </m:sub>
                    </m:sSub>
                    <m:r>
                      <a:rPr lang="en-US" altLang="zh-CN" sz="2000">
                        <a:latin typeface="Cambria Math" panose="02040503050406030204" pitchFamily="18" charset="0"/>
                        <a:ea typeface="黑体" panose="02010609060101010101" pitchFamily="49" charset="-122"/>
                        <a:cs typeface="Times New Roman" panose="02020603050405020304" pitchFamily="18" charset="0"/>
                      </a:rPr>
                      <m:t>(</m:t>
                    </m:r>
                    <m:r>
                      <a:rPr lang="en-US" altLang="zh-CN" sz="2000">
                        <a:latin typeface="Cambria Math" panose="02040503050406030204" pitchFamily="18" charset="0"/>
                        <a:ea typeface="黑体" panose="02010609060101010101" pitchFamily="49" charset="-122"/>
                        <a:cs typeface="Times New Roman" panose="02020603050405020304" pitchFamily="18" charset="0"/>
                      </a:rPr>
                      <m:t>𝑠</m:t>
                    </m:r>
                    <m:r>
                      <a:rPr lang="en-US" altLang="zh-CN" sz="2000">
                        <a:latin typeface="Cambria Math" panose="02040503050406030204" pitchFamily="18" charset="0"/>
                        <a:ea typeface="黑体" panose="02010609060101010101" pitchFamily="49" charset="-122"/>
                        <a:cs typeface="Times New Roman" panose="02020603050405020304" pitchFamily="18" charset="0"/>
                      </a:rPr>
                      <m:t>)</m:t>
                    </m:r>
                  </m:oMath>
                </a14:m>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marL="285750" indent="-285750">
                  <a:buFont typeface="Wingdings" panose="05000000000000000000" pitchFamily="2" charset="2"/>
                  <a:buChar char="l"/>
                </a:pPr>
                <a:r>
                  <a:rPr lang="zh-CN"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时序差分法</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借鉴</a:t>
                </a:r>
                <a:r>
                  <a:rPr lang="zh-CN"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动态规划方法思想</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，基于之前估计值进行更新状态值函数</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marL="742950" lvl="1" indent="-285750">
                  <a:buFont typeface="Wingdings" panose="05000000000000000000" pitchFamily="2" charset="2"/>
                  <a:buChar char="l"/>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具体而言，</a:t>
                </a:r>
                <a:r>
                  <a:rPr lang="zh-CN" altLang="zh-CN" sz="2000" dirty="0">
                    <a:latin typeface="Times New Roman" panose="02020603050405020304" pitchFamily="18" charset="0"/>
                    <a:ea typeface="黑体" panose="02010609060101010101" pitchFamily="49" charset="-122"/>
                    <a:cs typeface="Times New Roman" panose="02020603050405020304" pitchFamily="18" charset="0"/>
                  </a:rPr>
                  <a:t>由于通过采样进行计算，所得结果可能不准确，因此时序差分法并没有将这个估计值照单全收，而是以</a:t>
                </a:r>
                <a14:m>
                  <m:oMath xmlns:m="http://schemas.openxmlformats.org/officeDocument/2006/math">
                    <m:r>
                      <a:rPr lang="en-US" altLang="zh-CN" sz="2000">
                        <a:latin typeface="Cambria Math" panose="02040503050406030204" pitchFamily="18" charset="0"/>
                        <a:ea typeface="黑体" panose="02010609060101010101" pitchFamily="49" charset="-122"/>
                        <a:cs typeface="Times New Roman" panose="02020603050405020304" pitchFamily="18" charset="0"/>
                      </a:rPr>
                      <m:t>𝛼</m:t>
                    </m:r>
                  </m:oMath>
                </a14:m>
                <a:r>
                  <a:rPr lang="zh-CN" altLang="zh-CN" sz="2000" dirty="0">
                    <a:latin typeface="Times New Roman" panose="02020603050405020304" pitchFamily="18" charset="0"/>
                    <a:ea typeface="黑体" panose="02010609060101010101" pitchFamily="49" charset="-122"/>
                    <a:cs typeface="Times New Roman" panose="02020603050405020304" pitchFamily="18" charset="0"/>
                  </a:rPr>
                  <a:t>作为权重来接受新的估计值，即把价值函数更新为</a:t>
                </a:r>
                <a14:m>
                  <m:oMath xmlns:m="http://schemas.openxmlformats.org/officeDocument/2006/math">
                    <m:d>
                      <m:dPr>
                        <m:ctrlPr>
                          <a:rPr lang="zh-CN" altLang="zh-CN" sz="2000" i="1">
                            <a:latin typeface="Cambria Math" panose="02040503050406030204" pitchFamily="18" charset="0"/>
                            <a:ea typeface="黑体" panose="02010609060101010101" pitchFamily="49" charset="-122"/>
                            <a:cs typeface="Times New Roman" panose="02020603050405020304" pitchFamily="18" charset="0"/>
                          </a:rPr>
                        </m:ctrlPr>
                      </m:dPr>
                      <m:e>
                        <m:r>
                          <a:rPr lang="en-US" altLang="zh-CN" sz="2000">
                            <a:latin typeface="Cambria Math" panose="02040503050406030204" pitchFamily="18" charset="0"/>
                            <a:ea typeface="黑体" panose="02010609060101010101" pitchFamily="49" charset="-122"/>
                            <a:cs typeface="Times New Roman" panose="02020603050405020304" pitchFamily="18" charset="0"/>
                          </a:rPr>
                          <m:t>1−</m:t>
                        </m:r>
                        <m:r>
                          <a:rPr lang="en-US" altLang="zh-CN" sz="2000">
                            <a:latin typeface="Cambria Math" panose="02040503050406030204" pitchFamily="18" charset="0"/>
                            <a:ea typeface="黑体" panose="02010609060101010101" pitchFamily="49" charset="-122"/>
                            <a:cs typeface="Times New Roman" panose="02020603050405020304" pitchFamily="18" charset="0"/>
                          </a:rPr>
                          <m:t>𝛼</m:t>
                        </m:r>
                      </m:e>
                    </m:d>
                    <m:sSub>
                      <m:sSubPr>
                        <m:ctrlPr>
                          <a:rPr lang="zh-CN" altLang="zh-CN" sz="2000" i="1">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000">
                            <a:latin typeface="Cambria Math" panose="02040503050406030204" pitchFamily="18" charset="0"/>
                            <a:ea typeface="黑体" panose="02010609060101010101" pitchFamily="49" charset="-122"/>
                            <a:cs typeface="Times New Roman" panose="02020603050405020304" pitchFamily="18" charset="0"/>
                          </a:rPr>
                          <m:t>𝑉</m:t>
                        </m:r>
                      </m:e>
                      <m:sub>
                        <m:r>
                          <a:rPr lang="en-US" altLang="zh-CN" sz="2000">
                            <a:latin typeface="Cambria Math" panose="02040503050406030204" pitchFamily="18" charset="0"/>
                            <a:ea typeface="黑体" panose="02010609060101010101" pitchFamily="49" charset="-122"/>
                            <a:cs typeface="Times New Roman" panose="02020603050405020304" pitchFamily="18" charset="0"/>
                          </a:rPr>
                          <m:t>𝜋</m:t>
                        </m:r>
                      </m:sub>
                    </m:sSub>
                    <m:d>
                      <m:dPr>
                        <m:ctrlPr>
                          <a:rPr lang="zh-CN" altLang="zh-CN" sz="2000" i="1">
                            <a:latin typeface="Cambria Math" panose="02040503050406030204" pitchFamily="18" charset="0"/>
                            <a:ea typeface="黑体" panose="02010609060101010101" pitchFamily="49" charset="-122"/>
                            <a:cs typeface="Times New Roman" panose="02020603050405020304" pitchFamily="18" charset="0"/>
                          </a:rPr>
                        </m:ctrlPr>
                      </m:dPr>
                      <m:e>
                        <m:r>
                          <a:rPr lang="en-US" altLang="zh-CN" sz="2000">
                            <a:latin typeface="Cambria Math" panose="02040503050406030204" pitchFamily="18" charset="0"/>
                            <a:ea typeface="黑体" panose="02010609060101010101" pitchFamily="49" charset="-122"/>
                            <a:cs typeface="Times New Roman" panose="02020603050405020304" pitchFamily="18" charset="0"/>
                          </a:rPr>
                          <m:t>𝑠</m:t>
                        </m:r>
                      </m:e>
                    </m:d>
                    <m:r>
                      <a:rPr lang="en-US" altLang="zh-CN" sz="2000">
                        <a:latin typeface="Cambria Math" panose="02040503050406030204" pitchFamily="18" charset="0"/>
                        <a:ea typeface="黑体" panose="02010609060101010101" pitchFamily="49" charset="-122"/>
                        <a:cs typeface="Times New Roman" panose="02020603050405020304" pitchFamily="18" charset="0"/>
                      </a:rPr>
                      <m:t>+</m:t>
                    </m:r>
                    <m:r>
                      <a:rPr lang="en-US" altLang="zh-CN" sz="2000">
                        <a:latin typeface="Cambria Math" panose="02040503050406030204" pitchFamily="18" charset="0"/>
                        <a:ea typeface="黑体" panose="02010609060101010101" pitchFamily="49" charset="-122"/>
                        <a:cs typeface="Times New Roman" panose="02020603050405020304" pitchFamily="18" charset="0"/>
                      </a:rPr>
                      <m:t>𝛼</m:t>
                    </m:r>
                    <m:r>
                      <a:rPr lang="en-US" altLang="zh-CN" sz="2000">
                        <a:latin typeface="Cambria Math" panose="02040503050406030204" pitchFamily="18" charset="0"/>
                        <a:ea typeface="黑体" panose="02010609060101010101" pitchFamily="49" charset="-122"/>
                        <a:cs typeface="Times New Roman" panose="02020603050405020304" pitchFamily="18" charset="0"/>
                      </a:rPr>
                      <m:t>[</m:t>
                    </m:r>
                    <m:r>
                      <a:rPr lang="en-US" altLang="zh-CN" sz="2000">
                        <a:latin typeface="Cambria Math" panose="02040503050406030204" pitchFamily="18" charset="0"/>
                        <a:ea typeface="黑体" panose="02010609060101010101" pitchFamily="49" charset="-122"/>
                        <a:cs typeface="Times New Roman" panose="02020603050405020304" pitchFamily="18" charset="0"/>
                      </a:rPr>
                      <m:t>𝑅</m:t>
                    </m:r>
                    <m:r>
                      <a:rPr lang="en-US" altLang="zh-CN" sz="2000">
                        <a:latin typeface="Cambria Math" panose="02040503050406030204" pitchFamily="18" charset="0"/>
                        <a:ea typeface="黑体" panose="02010609060101010101" pitchFamily="49" charset="-122"/>
                        <a:cs typeface="Times New Roman" panose="02020603050405020304" pitchFamily="18" charset="0"/>
                      </a:rPr>
                      <m:t>+</m:t>
                    </m:r>
                    <m:r>
                      <a:rPr lang="en-US" altLang="zh-CN" sz="2000">
                        <a:latin typeface="Cambria Math" panose="02040503050406030204" pitchFamily="18" charset="0"/>
                        <a:ea typeface="黑体" panose="02010609060101010101" pitchFamily="49" charset="-122"/>
                        <a:cs typeface="Times New Roman" panose="02020603050405020304" pitchFamily="18" charset="0"/>
                      </a:rPr>
                      <m:t>𝛾</m:t>
                    </m:r>
                    <m:sSub>
                      <m:sSubPr>
                        <m:ctrlPr>
                          <a:rPr lang="zh-CN" altLang="zh-CN" sz="2000" i="1">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000">
                            <a:latin typeface="Cambria Math" panose="02040503050406030204" pitchFamily="18" charset="0"/>
                            <a:ea typeface="黑体" panose="02010609060101010101" pitchFamily="49" charset="-122"/>
                            <a:cs typeface="Times New Roman" panose="02020603050405020304" pitchFamily="18" charset="0"/>
                          </a:rPr>
                          <m:t>𝑉</m:t>
                        </m:r>
                      </m:e>
                      <m:sub>
                        <m:r>
                          <a:rPr lang="en-US" altLang="zh-CN" sz="2000">
                            <a:latin typeface="Cambria Math" panose="02040503050406030204" pitchFamily="18" charset="0"/>
                            <a:ea typeface="黑体" panose="02010609060101010101" pitchFamily="49" charset="-122"/>
                            <a:cs typeface="Times New Roman" panose="02020603050405020304" pitchFamily="18" charset="0"/>
                          </a:rPr>
                          <m:t>𝜋</m:t>
                        </m:r>
                      </m:sub>
                    </m:sSub>
                    <m:d>
                      <m:dPr>
                        <m:ctrlPr>
                          <a:rPr lang="zh-CN" altLang="zh-CN" sz="2000" i="1">
                            <a:latin typeface="Cambria Math" panose="02040503050406030204" pitchFamily="18" charset="0"/>
                            <a:ea typeface="黑体" panose="02010609060101010101" pitchFamily="49" charset="-122"/>
                            <a:cs typeface="Times New Roman" panose="02020603050405020304" pitchFamily="18" charset="0"/>
                          </a:rPr>
                        </m:ctrlPr>
                      </m:dPr>
                      <m:e>
                        <m:sSup>
                          <m:sSupPr>
                            <m:ctrlPr>
                              <a:rPr lang="zh-CN" altLang="zh-CN" sz="2000" i="1">
                                <a:latin typeface="Cambria Math" panose="02040503050406030204" pitchFamily="18" charset="0"/>
                                <a:ea typeface="黑体" panose="02010609060101010101" pitchFamily="49" charset="-122"/>
                                <a:cs typeface="Times New Roman" panose="02020603050405020304" pitchFamily="18" charset="0"/>
                              </a:rPr>
                            </m:ctrlPr>
                          </m:sSupPr>
                          <m:e>
                            <m:r>
                              <a:rPr lang="en-US" altLang="zh-CN" sz="2000">
                                <a:latin typeface="Cambria Math" panose="02040503050406030204" pitchFamily="18" charset="0"/>
                                <a:ea typeface="黑体" panose="02010609060101010101" pitchFamily="49" charset="-122"/>
                                <a:cs typeface="Times New Roman" panose="02020603050405020304" pitchFamily="18" charset="0"/>
                              </a:rPr>
                              <m:t>𝑠</m:t>
                            </m:r>
                          </m:e>
                          <m:sup>
                            <m:r>
                              <a:rPr lang="en-US" altLang="zh-CN" sz="2000">
                                <a:latin typeface="Cambria Math" panose="02040503050406030204" pitchFamily="18" charset="0"/>
                                <a:ea typeface="黑体" panose="02010609060101010101" pitchFamily="49" charset="-122"/>
                                <a:cs typeface="Times New Roman" panose="02020603050405020304" pitchFamily="18" charset="0"/>
                              </a:rPr>
                              <m:t>′</m:t>
                            </m:r>
                          </m:sup>
                        </m:sSup>
                      </m:e>
                    </m:d>
                    <m:r>
                      <a:rPr lang="en-US" altLang="zh-CN" sz="2000">
                        <a:latin typeface="Cambria Math" panose="02040503050406030204" pitchFamily="18" charset="0"/>
                        <a:ea typeface="黑体" panose="02010609060101010101" pitchFamily="49" charset="-122"/>
                        <a:cs typeface="Times New Roman" panose="02020603050405020304" pitchFamily="18" charset="0"/>
                      </a:rPr>
                      <m:t>]</m:t>
                    </m:r>
                  </m:oMath>
                </a14:m>
                <a:endParaRPr lang="zh-CN" altLang="zh-CN" sz="1400" b="1"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17" name="矩形 16">
                <a:extLst>
                  <a:ext uri="{FF2B5EF4-FFF2-40B4-BE49-F238E27FC236}">
                    <a16:creationId xmlns:a16="http://schemas.microsoft.com/office/drawing/2014/main" id="{38D47807-E923-4ACA-8D13-5174ADE01EB0}"/>
                  </a:ext>
                </a:extLst>
              </p:cNvPr>
              <p:cNvSpPr>
                <a:spLocks noRot="1" noChangeAspect="1" noMove="1" noResize="1" noEditPoints="1" noAdjustHandles="1" noChangeArrowheads="1" noChangeShapeType="1" noTextEdit="1"/>
              </p:cNvSpPr>
              <p:nvPr/>
            </p:nvSpPr>
            <p:spPr>
              <a:xfrm>
                <a:off x="215705" y="4436805"/>
                <a:ext cx="11831527" cy="1631216"/>
              </a:xfrm>
              <a:prstGeom prst="rect">
                <a:avLst/>
              </a:prstGeom>
              <a:blipFill>
                <a:blip r:embed="rId4"/>
                <a:stretch>
                  <a:fillRect l="-464" t="-2996" b="-33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25C7CF7B-B367-7299-AA12-EC208CAEAB11}"/>
                  </a:ext>
                </a:extLst>
              </p:cNvPr>
              <p:cNvSpPr txBox="1"/>
              <p:nvPr/>
            </p:nvSpPr>
            <p:spPr>
              <a:xfrm>
                <a:off x="184817" y="1369748"/>
                <a:ext cx="6790005" cy="2862322"/>
              </a:xfrm>
              <a:prstGeom prst="rect">
                <a:avLst/>
              </a:prstGeom>
              <a:noFill/>
              <a:ln>
                <a:solidFill>
                  <a:schemeClr val="tx1"/>
                </a:solidFill>
              </a:ln>
            </p:spPr>
            <p:txBody>
              <a:bodyPr wrap="square" rtlCol="0">
                <a:spAutoFit/>
              </a:bodyPr>
              <a:lstStyle/>
              <a:p>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初始化</a:t>
                </a:r>
                <a14:m>
                  <m:oMath xmlns:m="http://schemas.openxmlformats.org/officeDocument/2006/math">
                    <m:sSub>
                      <m:sSub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𝜋</m:t>
                        </m:r>
                      </m:sub>
                    </m:sSub>
                  </m:oMath>
                </a14:m>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函数</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循环</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初始化</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s</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为初始状态</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循环</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14:m>
                  <m:oMath xmlns:m="http://schemas.openxmlformats.org/officeDocument/2006/math">
                    <m:r>
                      <a:rPr lang="en-US" altLang="zh-CN" b="1">
                        <a:latin typeface="Cambria Math" panose="02040503050406030204" pitchFamily="18" charset="0"/>
                        <a:ea typeface="华文楷体" panose="02010600040101010101" pitchFamily="2" charset="-122"/>
                        <a:cs typeface="Times New Roman" panose="02020603050405020304" pitchFamily="18" charset="0"/>
                      </a:rPr>
                      <m:t>𝑎</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𝜋</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oMath>
                </a14:m>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执行动作</a:t>
                </a:r>
                <a14:m>
                  <m:oMath xmlns:m="http://schemas.openxmlformats.org/officeDocument/2006/math">
                    <m:r>
                      <a:rPr lang="en-US" altLang="zh-CN" b="1">
                        <a:latin typeface="Cambria Math" panose="02040503050406030204" pitchFamily="18" charset="0"/>
                        <a:ea typeface="华文楷体" panose="02010600040101010101" pitchFamily="2" charset="-122"/>
                        <a:cs typeface="Times New Roman" panose="02020603050405020304" pitchFamily="18" charset="0"/>
                      </a:rPr>
                      <m:t>𝑎</m:t>
                    </m:r>
                  </m:oMath>
                </a14:m>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，观察奖励</a:t>
                </a:r>
                <a14:m>
                  <m:oMath xmlns:m="http://schemas.openxmlformats.org/officeDocument/2006/math">
                    <m:r>
                      <a:rPr lang="en-US" altLang="zh-CN" b="1">
                        <a:latin typeface="Cambria Math" panose="02040503050406030204" pitchFamily="18" charset="0"/>
                        <a:ea typeface="华文楷体" panose="02010600040101010101" pitchFamily="2" charset="-122"/>
                        <a:cs typeface="Times New Roman" panose="02020603050405020304" pitchFamily="18" charset="0"/>
                      </a:rPr>
                      <m:t>𝑅</m:t>
                    </m:r>
                  </m:oMath>
                </a14:m>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和下一个状态</a:t>
                </a:r>
                <a14:m>
                  <m:oMath xmlns:m="http://schemas.openxmlformats.org/officeDocument/2006/math">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oMath>
                </a14:m>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更新</a:t>
                </a:r>
                <a14:m>
                  <m:oMath xmlns:m="http://schemas.openxmlformats.org/officeDocument/2006/math">
                    <m:sSub>
                      <m:sSub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e>
                    </m:d>
                    <m:r>
                      <a:rPr lang="en-US" altLang="zh-CN" b="1">
                        <a:latin typeface="Cambria Math" panose="02040503050406030204" pitchFamily="18" charset="0"/>
                        <a:ea typeface="华文楷体" panose="02010600040101010101" pitchFamily="2" charset="-122"/>
                        <a:cs typeface="Times New Roman" panose="02020603050405020304" pitchFamily="18" charset="0"/>
                      </a:rPr>
                      <m:t>←</m:t>
                    </m:r>
                    <m:sSub>
                      <m:sSub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e>
                    </m:d>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𝛼</m:t>
                    </m:r>
                    <m:d>
                      <m:dPr>
                        <m:begChr m:val="["/>
                        <m:endChr m:val="]"/>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𝑅</m:t>
                        </m:r>
                        <m:d>
                          <m:d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sSup>
                              <m:sSup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p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𝑎</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b="1">
                                    <a:latin typeface="Cambria Math" panose="02040503050406030204" pitchFamily="18" charset="0"/>
                                    <a:ea typeface="华文楷体" panose="02010600040101010101" pitchFamily="2" charset="-122"/>
                                    <a:cs typeface="Times New Roman" panose="02020603050405020304" pitchFamily="18" charset="0"/>
                                  </a:rPr>
                                  <m:t>′</m:t>
                                </m:r>
                              </m:sup>
                            </m:sSup>
                          </m:e>
                        </m:d>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𝛾</m:t>
                        </m:r>
                        <m:sSub>
                          <m:sSub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dPr>
                          <m:e>
                            <m:sSup>
                              <m:sSup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p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b="1">
                                    <a:latin typeface="Cambria Math" panose="02040503050406030204" pitchFamily="18" charset="0"/>
                                    <a:ea typeface="华文楷体" panose="02010600040101010101" pitchFamily="2" charset="-122"/>
                                    <a:cs typeface="Times New Roman" panose="02020603050405020304" pitchFamily="18" charset="0"/>
                                  </a:rPr>
                                  <m:t>′</m:t>
                                </m:r>
                              </m:sup>
                            </m:sSup>
                          </m:e>
                        </m:d>
                        <m:r>
                          <a:rPr lang="en-US" altLang="zh-CN" b="1">
                            <a:latin typeface="Cambria Math" panose="02040503050406030204" pitchFamily="18" charset="0"/>
                            <a:ea typeface="华文楷体" panose="02010600040101010101" pitchFamily="2" charset="-122"/>
                            <a:cs typeface="Times New Roman" panose="02020603050405020304" pitchFamily="18" charset="0"/>
                          </a:rPr>
                          <m:t>−</m:t>
                        </m:r>
                        <m:sSub>
                          <m:sSub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e>
                        </m:d>
                      </m:e>
                    </m:d>
                  </m:oMath>
                </a14:m>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14:m>
                  <m:oMath xmlns:m="http://schemas.openxmlformats.org/officeDocument/2006/math">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oMath>
                </a14:m>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直到</a:t>
                </a:r>
                <a14:m>
                  <m:oMath xmlns:m="http://schemas.openxmlformats.org/officeDocument/2006/math">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oMath>
                </a14:m>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是终止状态</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直到</a:t>
                </a:r>
                <a14:m>
                  <m:oMath xmlns:m="http://schemas.openxmlformats.org/officeDocument/2006/math">
                    <m:sSub>
                      <m:sSub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𝜋</m:t>
                        </m:r>
                      </m:sub>
                    </m:sSub>
                    <m:r>
                      <a:rPr lang="zh-CN" altLang="en-US" b="1">
                        <a:latin typeface="Cambria Math" panose="02040503050406030204" pitchFamily="18" charset="0"/>
                        <a:ea typeface="华文楷体" panose="02010600040101010101" pitchFamily="2" charset="-122"/>
                        <a:cs typeface="Times New Roman" panose="02020603050405020304" pitchFamily="18" charset="0"/>
                      </a:rPr>
                      <m:t>收敛</m:t>
                    </m:r>
                  </m:oMath>
                </a14:m>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25C7CF7B-B367-7299-AA12-EC208CAEAB11}"/>
                  </a:ext>
                </a:extLst>
              </p:cNvPr>
              <p:cNvSpPr txBox="1">
                <a:spLocks noRot="1" noChangeAspect="1" noMove="1" noResize="1" noEditPoints="1" noAdjustHandles="1" noChangeArrowheads="1" noChangeShapeType="1" noTextEdit="1"/>
              </p:cNvSpPr>
              <p:nvPr/>
            </p:nvSpPr>
            <p:spPr>
              <a:xfrm>
                <a:off x="184817" y="1369748"/>
                <a:ext cx="6790005" cy="2862322"/>
              </a:xfrm>
              <a:prstGeom prst="rect">
                <a:avLst/>
              </a:prstGeom>
              <a:blipFill>
                <a:blip r:embed="rId5"/>
                <a:stretch>
                  <a:fillRect l="-627" t="-849" b="-2548"/>
                </a:stretch>
              </a:blipFill>
              <a:ln>
                <a:solidFill>
                  <a:schemeClr val="tx1"/>
                </a:solidFill>
              </a:ln>
            </p:spPr>
            <p:txBody>
              <a:bodyPr/>
              <a:lstStyle/>
              <a:p>
                <a:r>
                  <a:rPr lang="zh-CN" altLang="en-US">
                    <a:noFill/>
                  </a:rPr>
                  <a:t> </a:t>
                </a:r>
              </a:p>
            </p:txBody>
          </p:sp>
        </mc:Fallback>
      </mc:AlternateContent>
      <p:cxnSp>
        <p:nvCxnSpPr>
          <p:cNvPr id="9" name="连接符: 曲线 8">
            <a:extLst>
              <a:ext uri="{FF2B5EF4-FFF2-40B4-BE49-F238E27FC236}">
                <a16:creationId xmlns:a16="http://schemas.microsoft.com/office/drawing/2014/main" id="{E5058F1A-7152-26B9-0F7F-4B0B73770350}"/>
              </a:ext>
            </a:extLst>
          </p:cNvPr>
          <p:cNvCxnSpPr/>
          <p:nvPr/>
        </p:nvCxnSpPr>
        <p:spPr>
          <a:xfrm flipV="1">
            <a:off x="6282771" y="2429691"/>
            <a:ext cx="806006" cy="766355"/>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4418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时序差分</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p:grpSp>
        <p:nvGrpSpPr>
          <p:cNvPr id="11" name="组合 10">
            <a:extLst>
              <a:ext uri="{FF2B5EF4-FFF2-40B4-BE49-F238E27FC236}">
                <a16:creationId xmlns:a16="http://schemas.microsoft.com/office/drawing/2014/main" id="{10113E20-2C87-49B7-B1B7-B1C9B70888B3}"/>
              </a:ext>
            </a:extLst>
          </p:cNvPr>
          <p:cNvGrpSpPr/>
          <p:nvPr/>
        </p:nvGrpSpPr>
        <p:grpSpPr>
          <a:xfrm>
            <a:off x="5619873" y="2101838"/>
            <a:ext cx="7507706" cy="1241388"/>
            <a:chOff x="1825196" y="4357021"/>
            <a:chExt cx="10010274" cy="1241388"/>
          </a:xfrm>
        </p:grpSpPr>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B53110B1-D6D9-4512-A347-F6B9954C2C01}"/>
                    </a:ext>
                  </a:extLst>
                </p:cNvPr>
                <p:cNvSpPr/>
                <p:nvPr/>
              </p:nvSpPr>
              <p:spPr>
                <a:xfrm>
                  <a:off x="1825196" y="4357021"/>
                  <a:ext cx="10010274" cy="507831"/>
                </a:xfrm>
                <a:prstGeom prst="rect">
                  <a:avLst/>
                </a:prstGeom>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sSub>
                          <m:sSub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e>
                        </m:d>
                        <m:r>
                          <a:rPr lang="en-US" altLang="zh-CN" b="1">
                            <a:latin typeface="Cambria Math" panose="02040503050406030204" pitchFamily="18" charset="0"/>
                            <a:ea typeface="华文楷体" panose="02010600040101010101" pitchFamily="2" charset="-122"/>
                            <a:cs typeface="Times New Roman" panose="02020603050405020304" pitchFamily="18" charset="0"/>
                          </a:rPr>
                          <m:t>←(1−</m:t>
                        </m:r>
                        <m:r>
                          <a:rPr lang="en-US" altLang="zh-CN" b="1">
                            <a:latin typeface="Cambria Math" panose="02040503050406030204" pitchFamily="18" charset="0"/>
                            <a:ea typeface="华文楷体" panose="02010600040101010101" pitchFamily="2" charset="-122"/>
                            <a:cs typeface="Times New Roman" panose="02020603050405020304" pitchFamily="18" charset="0"/>
                          </a:rPr>
                          <m:t>𝛼</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sSub>
                          <m:sSub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e>
                        </m:d>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𝛼</m:t>
                        </m:r>
                        <m:d>
                          <m:dPr>
                            <m:begChr m:val="["/>
                            <m:endChr m:val="]"/>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𝑅</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𝑎</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sSup>
                              <m:sSup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p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b="1">
                                    <a:latin typeface="Cambria Math" panose="02040503050406030204" pitchFamily="18" charset="0"/>
                                    <a:ea typeface="华文楷体" panose="02010600040101010101" pitchFamily="2" charset="-122"/>
                                    <a:cs typeface="Times New Roman" panose="02020603050405020304" pitchFamily="18" charset="0"/>
                                  </a:rPr>
                                  <m:t>′</m:t>
                                </m:r>
                              </m:sup>
                            </m:sSup>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𝛾</m:t>
                            </m:r>
                            <m:sSub>
                              <m:sSub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dPr>
                              <m:e>
                                <m:sSup>
                                  <m:sSup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p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b="1">
                                        <a:latin typeface="Cambria Math" panose="02040503050406030204" pitchFamily="18" charset="0"/>
                                        <a:ea typeface="华文楷体" panose="02010600040101010101" pitchFamily="2" charset="-122"/>
                                        <a:cs typeface="Times New Roman" panose="02020603050405020304" pitchFamily="18" charset="0"/>
                                      </a:rPr>
                                      <m:t>′</m:t>
                                    </m:r>
                                  </m:sup>
                                </m:sSup>
                              </m:e>
                            </m:d>
                          </m:e>
                        </m:d>
                      </m:oMath>
                    </m:oMathPara>
                  </a14:m>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2" name="矩形 11">
                  <a:extLst>
                    <a:ext uri="{FF2B5EF4-FFF2-40B4-BE49-F238E27FC236}">
                      <a16:creationId xmlns:a16="http://schemas.microsoft.com/office/drawing/2014/main" id="{B53110B1-D6D9-4512-A347-F6B9954C2C01}"/>
                    </a:ext>
                  </a:extLst>
                </p:cNvPr>
                <p:cNvSpPr>
                  <a:spLocks noRot="1" noChangeAspect="1" noMove="1" noResize="1" noEditPoints="1" noAdjustHandles="1" noChangeArrowheads="1" noChangeShapeType="1" noTextEdit="1"/>
                </p:cNvSpPr>
                <p:nvPr/>
              </p:nvSpPr>
              <p:spPr>
                <a:xfrm>
                  <a:off x="1825196" y="4357021"/>
                  <a:ext cx="10010274" cy="507831"/>
                </a:xfrm>
                <a:prstGeom prst="rect">
                  <a:avLst/>
                </a:prstGeom>
                <a:blipFill>
                  <a:blip r:embed="rId3"/>
                  <a:stretch>
                    <a:fillRect/>
                  </a:stretch>
                </a:blipFill>
              </p:spPr>
              <p:txBody>
                <a:bodyPr/>
                <a:lstStyle/>
                <a:p>
                  <a:r>
                    <a:rPr lang="zh-CN" altLang="en-US">
                      <a:noFill/>
                    </a:rPr>
                    <a:t> </a:t>
                  </a:r>
                </a:p>
              </p:txBody>
            </p:sp>
          </mc:Fallback>
        </mc:AlternateContent>
        <p:cxnSp>
          <p:nvCxnSpPr>
            <p:cNvPr id="13" name="直接连接符 12">
              <a:extLst>
                <a:ext uri="{FF2B5EF4-FFF2-40B4-BE49-F238E27FC236}">
                  <a16:creationId xmlns:a16="http://schemas.microsoft.com/office/drawing/2014/main" id="{5C2C3C28-983C-4071-BF8E-E35D956D98BB}"/>
                </a:ext>
              </a:extLst>
            </p:cNvPr>
            <p:cNvCxnSpPr>
              <a:cxnSpLocks/>
            </p:cNvCxnSpPr>
            <p:nvPr/>
          </p:nvCxnSpPr>
          <p:spPr>
            <a:xfrm>
              <a:off x="5784644" y="4932681"/>
              <a:ext cx="88000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583ED5BC-E6FC-4B98-8AFF-ADD1A2A53985}"/>
                </a:ext>
              </a:extLst>
            </p:cNvPr>
            <p:cNvCxnSpPr>
              <a:cxnSpLocks/>
            </p:cNvCxnSpPr>
            <p:nvPr/>
          </p:nvCxnSpPr>
          <p:spPr>
            <a:xfrm>
              <a:off x="7365070" y="4932681"/>
              <a:ext cx="253611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82F41B4A-8819-41C0-A2E0-8201E75412A7}"/>
                </a:ext>
              </a:extLst>
            </p:cNvPr>
            <p:cNvSpPr/>
            <p:nvPr/>
          </p:nvSpPr>
          <p:spPr>
            <a:xfrm>
              <a:off x="5411736" y="5075189"/>
              <a:ext cx="1625816" cy="523220"/>
            </a:xfrm>
            <a:prstGeom prst="rect">
              <a:avLst/>
            </a:prstGeom>
          </p:spPr>
          <p:txBody>
            <a:bodyPr wrap="square">
              <a:spAutoFit/>
            </a:bodyPr>
            <a:lstStyle/>
            <a:p>
              <a:pPr algn="ctr"/>
              <a:r>
                <a:rPr lang="zh-CN" altLang="en-US" sz="1400" b="1" dirty="0">
                  <a:solidFill>
                    <a:srgbClr val="0070C0"/>
                  </a:solidFill>
                  <a:latin typeface="微软雅黑" panose="020B0503020204020204" pitchFamily="34" charset="-122"/>
                  <a:ea typeface="微软雅黑" panose="020B0503020204020204" pitchFamily="34" charset="-122"/>
                </a:rPr>
                <a:t>过去的</a:t>
              </a:r>
              <a:endParaRPr lang="en-US" altLang="zh-CN" sz="1400" b="1" dirty="0">
                <a:solidFill>
                  <a:srgbClr val="0070C0"/>
                </a:solidFill>
                <a:latin typeface="微软雅黑" panose="020B0503020204020204" pitchFamily="34" charset="-122"/>
                <a:ea typeface="微软雅黑" panose="020B0503020204020204" pitchFamily="34" charset="-122"/>
              </a:endParaRPr>
            </a:p>
            <a:p>
              <a:pPr algn="ctr"/>
              <a:r>
                <a:rPr lang="zh-CN" altLang="en-US" sz="1400" b="1" dirty="0">
                  <a:solidFill>
                    <a:srgbClr val="0070C0"/>
                  </a:solidFill>
                  <a:latin typeface="微软雅黑" panose="020B0503020204020204" pitchFamily="34" charset="-122"/>
                  <a:ea typeface="微软雅黑" panose="020B0503020204020204" pitchFamily="34" charset="-122"/>
                </a:rPr>
                <a:t>价值函数值</a:t>
              </a:r>
            </a:p>
          </p:txBody>
        </p:sp>
        <p:sp>
          <p:nvSpPr>
            <p:cNvPr id="16" name="矩形 15">
              <a:extLst>
                <a:ext uri="{FF2B5EF4-FFF2-40B4-BE49-F238E27FC236}">
                  <a16:creationId xmlns:a16="http://schemas.microsoft.com/office/drawing/2014/main" id="{E5334884-3C68-4A85-BD42-05694F5BC32C}"/>
                </a:ext>
              </a:extLst>
            </p:cNvPr>
            <p:cNvSpPr/>
            <p:nvPr/>
          </p:nvSpPr>
          <p:spPr>
            <a:xfrm>
              <a:off x="7641582" y="5075189"/>
              <a:ext cx="1949205" cy="523220"/>
            </a:xfrm>
            <a:prstGeom prst="rect">
              <a:avLst/>
            </a:prstGeom>
          </p:spPr>
          <p:txBody>
            <a:bodyPr wrap="square">
              <a:spAutoFit/>
            </a:bodyPr>
            <a:lstStyle/>
            <a:p>
              <a:pPr algn="ctr"/>
              <a:r>
                <a:rPr lang="zh-CN" altLang="en-US" sz="1400" b="1" dirty="0">
                  <a:solidFill>
                    <a:srgbClr val="0070C0"/>
                  </a:solidFill>
                  <a:latin typeface="微软雅黑" panose="020B0503020204020204" pitchFamily="34" charset="-122"/>
                  <a:ea typeface="微软雅黑" panose="020B0503020204020204" pitchFamily="34" charset="-122"/>
                </a:rPr>
                <a:t>学习得到的</a:t>
              </a:r>
              <a:endParaRPr lang="en-US" altLang="zh-CN" sz="1400" b="1" dirty="0">
                <a:solidFill>
                  <a:srgbClr val="0070C0"/>
                </a:solidFill>
                <a:latin typeface="微软雅黑" panose="020B0503020204020204" pitchFamily="34" charset="-122"/>
                <a:ea typeface="微软雅黑" panose="020B0503020204020204" pitchFamily="34" charset="-122"/>
              </a:endParaRPr>
            </a:p>
            <a:p>
              <a:pPr algn="ctr"/>
              <a:r>
                <a:rPr lang="zh-CN" altLang="en-US" sz="1400" b="1" dirty="0">
                  <a:solidFill>
                    <a:srgbClr val="0070C0"/>
                  </a:solidFill>
                  <a:latin typeface="微软雅黑" panose="020B0503020204020204" pitchFamily="34" charset="-122"/>
                  <a:ea typeface="微软雅黑" panose="020B0503020204020204" pitchFamily="34" charset="-122"/>
                </a:rPr>
                <a:t>价值函数值</a:t>
              </a:r>
            </a:p>
          </p:txBody>
        </p:sp>
      </p:gr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25C7CF7B-B367-7299-AA12-EC208CAEAB11}"/>
                  </a:ext>
                </a:extLst>
              </p:cNvPr>
              <p:cNvSpPr txBox="1"/>
              <p:nvPr/>
            </p:nvSpPr>
            <p:spPr>
              <a:xfrm>
                <a:off x="184817" y="1369748"/>
                <a:ext cx="6790005" cy="2862322"/>
              </a:xfrm>
              <a:prstGeom prst="rect">
                <a:avLst/>
              </a:prstGeom>
              <a:noFill/>
              <a:ln>
                <a:solidFill>
                  <a:schemeClr val="tx1"/>
                </a:solidFill>
              </a:ln>
            </p:spPr>
            <p:txBody>
              <a:bodyPr wrap="square" rtlCol="0">
                <a:spAutoFit/>
              </a:bodyPr>
              <a:lstStyle/>
              <a:p>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初始化</a:t>
                </a:r>
                <a14:m>
                  <m:oMath xmlns:m="http://schemas.openxmlformats.org/officeDocument/2006/math">
                    <m:sSub>
                      <m:sSub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𝜋</m:t>
                        </m:r>
                      </m:sub>
                    </m:sSub>
                  </m:oMath>
                </a14:m>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函数</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循环</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初始化</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s</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为初始状态</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循环</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14:m>
                  <m:oMath xmlns:m="http://schemas.openxmlformats.org/officeDocument/2006/math">
                    <m:r>
                      <a:rPr lang="en-US" altLang="zh-CN" b="1">
                        <a:latin typeface="Cambria Math" panose="02040503050406030204" pitchFamily="18" charset="0"/>
                        <a:ea typeface="华文楷体" panose="02010600040101010101" pitchFamily="2" charset="-122"/>
                        <a:cs typeface="Times New Roman" panose="02020603050405020304" pitchFamily="18" charset="0"/>
                      </a:rPr>
                      <m:t>𝑎</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𝜋</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oMath>
                </a14:m>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执行动作</a:t>
                </a:r>
                <a14:m>
                  <m:oMath xmlns:m="http://schemas.openxmlformats.org/officeDocument/2006/math">
                    <m:r>
                      <a:rPr lang="en-US" altLang="zh-CN" b="1">
                        <a:latin typeface="Cambria Math" panose="02040503050406030204" pitchFamily="18" charset="0"/>
                        <a:ea typeface="华文楷体" panose="02010600040101010101" pitchFamily="2" charset="-122"/>
                        <a:cs typeface="Times New Roman" panose="02020603050405020304" pitchFamily="18" charset="0"/>
                      </a:rPr>
                      <m:t>𝑎</m:t>
                    </m:r>
                  </m:oMath>
                </a14:m>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，观察奖励</a:t>
                </a:r>
                <a14:m>
                  <m:oMath xmlns:m="http://schemas.openxmlformats.org/officeDocument/2006/math">
                    <m:r>
                      <a:rPr lang="en-US" altLang="zh-CN" b="1">
                        <a:latin typeface="Cambria Math" panose="02040503050406030204" pitchFamily="18" charset="0"/>
                        <a:ea typeface="华文楷体" panose="02010600040101010101" pitchFamily="2" charset="-122"/>
                        <a:cs typeface="Times New Roman" panose="02020603050405020304" pitchFamily="18" charset="0"/>
                      </a:rPr>
                      <m:t>𝑅</m:t>
                    </m:r>
                  </m:oMath>
                </a14:m>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和下一个状态</a:t>
                </a:r>
                <a14:m>
                  <m:oMath xmlns:m="http://schemas.openxmlformats.org/officeDocument/2006/math">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oMath>
                </a14:m>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更新</a:t>
                </a:r>
                <a14:m>
                  <m:oMath xmlns:m="http://schemas.openxmlformats.org/officeDocument/2006/math">
                    <m:sSub>
                      <m:sSub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e>
                    </m:d>
                    <m:r>
                      <a:rPr lang="en-US" altLang="zh-CN" b="1">
                        <a:latin typeface="Cambria Math" panose="02040503050406030204" pitchFamily="18" charset="0"/>
                        <a:ea typeface="华文楷体" panose="02010600040101010101" pitchFamily="2" charset="-122"/>
                        <a:cs typeface="Times New Roman" panose="02020603050405020304" pitchFamily="18" charset="0"/>
                      </a:rPr>
                      <m:t>←</m:t>
                    </m:r>
                    <m:sSub>
                      <m:sSub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e>
                    </m:d>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𝛼</m:t>
                    </m:r>
                    <m:d>
                      <m:dPr>
                        <m:begChr m:val="["/>
                        <m:endChr m:val="]"/>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𝑅</m:t>
                        </m:r>
                        <m:d>
                          <m:d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sSup>
                              <m:sSup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p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𝑎</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b="1">
                                    <a:latin typeface="Cambria Math" panose="02040503050406030204" pitchFamily="18" charset="0"/>
                                    <a:ea typeface="华文楷体" panose="02010600040101010101" pitchFamily="2" charset="-122"/>
                                    <a:cs typeface="Times New Roman" panose="02020603050405020304" pitchFamily="18" charset="0"/>
                                  </a:rPr>
                                  <m:t>′</m:t>
                                </m:r>
                              </m:sup>
                            </m:sSup>
                          </m:e>
                        </m:d>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𝛾</m:t>
                        </m:r>
                        <m:sSub>
                          <m:sSub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dPr>
                          <m:e>
                            <m:sSup>
                              <m:sSup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p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b="1">
                                    <a:latin typeface="Cambria Math" panose="02040503050406030204" pitchFamily="18" charset="0"/>
                                    <a:ea typeface="华文楷体" panose="02010600040101010101" pitchFamily="2" charset="-122"/>
                                    <a:cs typeface="Times New Roman" panose="02020603050405020304" pitchFamily="18" charset="0"/>
                                  </a:rPr>
                                  <m:t>′</m:t>
                                </m:r>
                              </m:sup>
                            </m:sSup>
                          </m:e>
                        </m:d>
                        <m:r>
                          <a:rPr lang="en-US" altLang="zh-CN" b="1">
                            <a:latin typeface="Cambria Math" panose="02040503050406030204" pitchFamily="18" charset="0"/>
                            <a:ea typeface="华文楷体" panose="02010600040101010101" pitchFamily="2" charset="-122"/>
                            <a:cs typeface="Times New Roman" panose="02020603050405020304" pitchFamily="18" charset="0"/>
                          </a:rPr>
                          <m:t>−</m:t>
                        </m:r>
                        <m:sSub>
                          <m:sSub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e>
                        </m:d>
                      </m:e>
                    </m:d>
                  </m:oMath>
                </a14:m>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14:m>
                  <m:oMath xmlns:m="http://schemas.openxmlformats.org/officeDocument/2006/math">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oMath>
                </a14:m>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直到</a:t>
                </a:r>
                <a14:m>
                  <m:oMath xmlns:m="http://schemas.openxmlformats.org/officeDocument/2006/math">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oMath>
                </a14:m>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是终止状态</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直到</a:t>
                </a:r>
                <a14:m>
                  <m:oMath xmlns:m="http://schemas.openxmlformats.org/officeDocument/2006/math">
                    <m:sSub>
                      <m:sSub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𝜋</m:t>
                        </m:r>
                      </m:sub>
                    </m:sSub>
                    <m:r>
                      <a:rPr lang="zh-CN" altLang="en-US" b="1">
                        <a:latin typeface="Cambria Math" panose="02040503050406030204" pitchFamily="18" charset="0"/>
                        <a:ea typeface="华文楷体" panose="02010600040101010101" pitchFamily="2" charset="-122"/>
                        <a:cs typeface="Times New Roman" panose="02020603050405020304" pitchFamily="18" charset="0"/>
                      </a:rPr>
                      <m:t>收敛</m:t>
                    </m:r>
                  </m:oMath>
                </a14:m>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25C7CF7B-B367-7299-AA12-EC208CAEAB11}"/>
                  </a:ext>
                </a:extLst>
              </p:cNvPr>
              <p:cNvSpPr txBox="1">
                <a:spLocks noRot="1" noChangeAspect="1" noMove="1" noResize="1" noEditPoints="1" noAdjustHandles="1" noChangeArrowheads="1" noChangeShapeType="1" noTextEdit="1"/>
              </p:cNvSpPr>
              <p:nvPr/>
            </p:nvSpPr>
            <p:spPr>
              <a:xfrm>
                <a:off x="184817" y="1369748"/>
                <a:ext cx="6790005" cy="2862322"/>
              </a:xfrm>
              <a:prstGeom prst="rect">
                <a:avLst/>
              </a:prstGeom>
              <a:blipFill>
                <a:blip r:embed="rId5"/>
                <a:stretch>
                  <a:fillRect l="-627" t="-849" b="-2548"/>
                </a:stretch>
              </a:blipFill>
              <a:ln>
                <a:solidFill>
                  <a:schemeClr val="tx1"/>
                </a:solidFill>
              </a:ln>
            </p:spPr>
            <p:txBody>
              <a:bodyPr/>
              <a:lstStyle/>
              <a:p>
                <a:r>
                  <a:rPr lang="zh-CN" altLang="en-US">
                    <a:noFill/>
                  </a:rPr>
                  <a:t> </a:t>
                </a:r>
              </a:p>
            </p:txBody>
          </p:sp>
        </mc:Fallback>
      </mc:AlternateContent>
      <p:cxnSp>
        <p:nvCxnSpPr>
          <p:cNvPr id="9" name="连接符: 曲线 8">
            <a:extLst>
              <a:ext uri="{FF2B5EF4-FFF2-40B4-BE49-F238E27FC236}">
                <a16:creationId xmlns:a16="http://schemas.microsoft.com/office/drawing/2014/main" id="{E5058F1A-7152-26B9-0F7F-4B0B73770350}"/>
              </a:ext>
            </a:extLst>
          </p:cNvPr>
          <p:cNvCxnSpPr/>
          <p:nvPr/>
        </p:nvCxnSpPr>
        <p:spPr>
          <a:xfrm flipV="1">
            <a:off x="6282771" y="2429691"/>
            <a:ext cx="806006" cy="766355"/>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pic>
        <p:nvPicPr>
          <p:cNvPr id="20" name="图片 19">
            <a:extLst>
              <a:ext uri="{FF2B5EF4-FFF2-40B4-BE49-F238E27FC236}">
                <a16:creationId xmlns:a16="http://schemas.microsoft.com/office/drawing/2014/main" id="{02A30B18-4509-9980-8036-C323087E2492}"/>
              </a:ext>
            </a:extLst>
          </p:cNvPr>
          <p:cNvPicPr>
            <a:picLocks noChangeAspect="1"/>
          </p:cNvPicPr>
          <p:nvPr/>
        </p:nvPicPr>
        <p:blipFill>
          <a:blip r:embed="rId6"/>
          <a:stretch>
            <a:fillRect/>
          </a:stretch>
        </p:blipFill>
        <p:spPr>
          <a:xfrm>
            <a:off x="184816" y="4813672"/>
            <a:ext cx="5204173" cy="1415678"/>
          </a:xfrm>
          <a:prstGeom prst="rect">
            <a:avLst/>
          </a:prstGeom>
        </p:spPr>
      </p:pic>
      <p:sp>
        <p:nvSpPr>
          <p:cNvPr id="22" name="文本框 21">
            <a:extLst>
              <a:ext uri="{FF2B5EF4-FFF2-40B4-BE49-F238E27FC236}">
                <a16:creationId xmlns:a16="http://schemas.microsoft.com/office/drawing/2014/main" id="{92CF6FC8-E899-6FEA-83D5-0578EA1B9817}"/>
              </a:ext>
            </a:extLst>
          </p:cNvPr>
          <p:cNvSpPr txBox="1"/>
          <p:nvPr/>
        </p:nvSpPr>
        <p:spPr>
          <a:xfrm>
            <a:off x="1993946" y="6229350"/>
            <a:ext cx="1585912" cy="369332"/>
          </a:xfrm>
          <a:prstGeom prst="rect">
            <a:avLst/>
          </a:prstGeom>
          <a:noFill/>
        </p:spPr>
        <p:txBody>
          <a:bodyPr wrap="square">
            <a:spAutoFit/>
          </a:bodyPr>
          <a:lstStyle/>
          <a:p>
            <a:r>
              <a:rPr lang="zh-CN" altLang="zh-CN" sz="18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动态规划方法</a:t>
            </a:r>
            <a:endParaRPr lang="zh-CN" altLang="en-US" dirty="0"/>
          </a:p>
        </p:txBody>
      </p:sp>
      <p:pic>
        <p:nvPicPr>
          <p:cNvPr id="27" name="图片 26">
            <a:extLst>
              <a:ext uri="{FF2B5EF4-FFF2-40B4-BE49-F238E27FC236}">
                <a16:creationId xmlns:a16="http://schemas.microsoft.com/office/drawing/2014/main" id="{27FB53F9-C3B1-5C22-0C2F-E821908B8AFB}"/>
              </a:ext>
            </a:extLst>
          </p:cNvPr>
          <p:cNvPicPr>
            <a:picLocks noChangeAspect="1"/>
          </p:cNvPicPr>
          <p:nvPr/>
        </p:nvPicPr>
        <p:blipFill>
          <a:blip r:embed="rId7"/>
          <a:stretch>
            <a:fillRect/>
          </a:stretch>
        </p:blipFill>
        <p:spPr>
          <a:xfrm>
            <a:off x="5446196" y="5138377"/>
            <a:ext cx="6446196" cy="1450780"/>
          </a:xfrm>
          <a:prstGeom prst="rect">
            <a:avLst/>
          </a:prstGeom>
        </p:spPr>
      </p:pic>
      <p:sp>
        <p:nvSpPr>
          <p:cNvPr id="28" name="文本框 27">
            <a:extLst>
              <a:ext uri="{FF2B5EF4-FFF2-40B4-BE49-F238E27FC236}">
                <a16:creationId xmlns:a16="http://schemas.microsoft.com/office/drawing/2014/main" id="{50D8A4CA-440C-B7A9-81B5-C7399BFEB27E}"/>
              </a:ext>
            </a:extLst>
          </p:cNvPr>
          <p:cNvSpPr txBox="1"/>
          <p:nvPr/>
        </p:nvSpPr>
        <p:spPr>
          <a:xfrm>
            <a:off x="8000378" y="6229350"/>
            <a:ext cx="1585912" cy="369332"/>
          </a:xfrm>
          <a:prstGeom prst="rect">
            <a:avLst/>
          </a:prstGeom>
          <a:noFill/>
        </p:spPr>
        <p:txBody>
          <a:bodyPr wrap="square">
            <a:spAutoFit/>
          </a:bodyPr>
          <a:lstStyle/>
          <a:p>
            <a:r>
              <a:rPr lang="zh-CN" altLang="zh-CN" sz="18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蒙特卡洛</a:t>
            </a:r>
            <a:r>
              <a:rPr lang="zh-CN" altLang="en-US" sz="18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方</a:t>
            </a:r>
            <a:r>
              <a:rPr lang="zh-CN" altLang="zh-CN" sz="18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法</a:t>
            </a:r>
            <a:endParaRPr lang="zh-CN" altLang="en-US" dirty="0"/>
          </a:p>
        </p:txBody>
      </p:sp>
      <p:sp>
        <p:nvSpPr>
          <p:cNvPr id="32" name="文本框 31">
            <a:extLst>
              <a:ext uri="{FF2B5EF4-FFF2-40B4-BE49-F238E27FC236}">
                <a16:creationId xmlns:a16="http://schemas.microsoft.com/office/drawing/2014/main" id="{4DDCEDDC-BCAC-F738-291C-3F1836336729}"/>
              </a:ext>
            </a:extLst>
          </p:cNvPr>
          <p:cNvSpPr txBox="1"/>
          <p:nvPr/>
        </p:nvSpPr>
        <p:spPr>
          <a:xfrm>
            <a:off x="2648208" y="4259674"/>
            <a:ext cx="1558040" cy="369332"/>
          </a:xfrm>
          <a:prstGeom prst="rect">
            <a:avLst/>
          </a:prstGeom>
          <a:noFill/>
        </p:spPr>
        <p:txBody>
          <a:bodyPr wrap="square">
            <a:spAutoFit/>
          </a:bodyPr>
          <a:lstStyle/>
          <a:p>
            <a:r>
              <a:rPr lang="zh-CN" altLang="en-US"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时序差分方法</a:t>
            </a:r>
          </a:p>
        </p:txBody>
      </p:sp>
    </p:spTree>
    <p:extLst>
      <p:ext uri="{BB962C8B-B14F-4D97-AF65-F5344CB8AC3E}">
        <p14:creationId xmlns:p14="http://schemas.microsoft.com/office/powerpoint/2010/main" val="3336724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时序差分价值函数更新例子</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p:sp>
        <p:nvSpPr>
          <p:cNvPr id="19" name="矩形 18">
            <a:extLst>
              <a:ext uri="{FF2B5EF4-FFF2-40B4-BE49-F238E27FC236}">
                <a16:creationId xmlns:a16="http://schemas.microsoft.com/office/drawing/2014/main" id="{FB0BC499-5964-4829-9FD7-1CFF1F9752BA}"/>
              </a:ext>
            </a:extLst>
          </p:cNvPr>
          <p:cNvSpPr/>
          <p:nvPr/>
        </p:nvSpPr>
        <p:spPr>
          <a:xfrm>
            <a:off x="1780904" y="3352307"/>
            <a:ext cx="4922044" cy="584775"/>
          </a:xfrm>
          <a:prstGeom prst="rect">
            <a:avLst/>
          </a:prstGeom>
        </p:spPr>
        <p:txBody>
          <a:bodyPr wrap="square">
            <a:spAutoFit/>
          </a:bodyPr>
          <a:lstStyle/>
          <a:p>
            <a:br>
              <a:rPr lang="en-US" altLang="zh-CN" sz="1600" dirty="0">
                <a:latin typeface="Times New Roman" panose="02020603050405020304" pitchFamily="18" charset="0"/>
                <a:ea typeface="黑体" panose="02010609060101010101" pitchFamily="49" charset="-122"/>
                <a:cs typeface="Times New Roman" panose="02020603050405020304" pitchFamily="18" charset="0"/>
              </a:rPr>
            </a:br>
            <a:endParaRPr lang="en-US" altLang="zh-CN" sz="1600" dirty="0">
              <a:latin typeface="Times New Roman" panose="02020603050405020304" pitchFamily="18" charset="0"/>
              <a:cs typeface="Times New Roman" panose="02020603050405020304" pitchFamily="18" charset="0"/>
            </a:endParaRPr>
          </a:p>
        </p:txBody>
      </p:sp>
      <p:grpSp>
        <p:nvGrpSpPr>
          <p:cNvPr id="20" name="组合 19">
            <a:extLst>
              <a:ext uri="{FF2B5EF4-FFF2-40B4-BE49-F238E27FC236}">
                <a16:creationId xmlns:a16="http://schemas.microsoft.com/office/drawing/2014/main" id="{29D4E47A-75B1-41C4-A1CB-825588513FD3}"/>
              </a:ext>
            </a:extLst>
          </p:cNvPr>
          <p:cNvGrpSpPr/>
          <p:nvPr/>
        </p:nvGrpSpPr>
        <p:grpSpPr>
          <a:xfrm>
            <a:off x="7907651" y="1543467"/>
            <a:ext cx="2652974" cy="3270512"/>
            <a:chOff x="7049432" y="2956264"/>
            <a:chExt cx="3537299" cy="3524180"/>
          </a:xfrm>
        </p:grpSpPr>
        <p:grpSp>
          <p:nvGrpSpPr>
            <p:cNvPr id="21" name="组合 20">
              <a:extLst>
                <a:ext uri="{FF2B5EF4-FFF2-40B4-BE49-F238E27FC236}">
                  <a16:creationId xmlns:a16="http://schemas.microsoft.com/office/drawing/2014/main" id="{E3E82E9B-BEA2-475E-9AB1-83D18E6C1F25}"/>
                </a:ext>
              </a:extLst>
            </p:cNvPr>
            <p:cNvGrpSpPr/>
            <p:nvPr/>
          </p:nvGrpSpPr>
          <p:grpSpPr>
            <a:xfrm>
              <a:off x="7049432" y="2956264"/>
              <a:ext cx="3537299" cy="3524180"/>
              <a:chOff x="7049432" y="2956264"/>
              <a:chExt cx="3537299" cy="3524180"/>
            </a:xfrm>
          </p:grpSpPr>
          <p:grpSp>
            <p:nvGrpSpPr>
              <p:cNvPr id="24" name="组合 23">
                <a:extLst>
                  <a:ext uri="{FF2B5EF4-FFF2-40B4-BE49-F238E27FC236}">
                    <a16:creationId xmlns:a16="http://schemas.microsoft.com/office/drawing/2014/main" id="{485EA2D3-98AD-4F86-AEA5-609559EB2750}"/>
                  </a:ext>
                </a:extLst>
              </p:cNvPr>
              <p:cNvGrpSpPr/>
              <p:nvPr/>
            </p:nvGrpSpPr>
            <p:grpSpPr>
              <a:xfrm>
                <a:off x="7049432" y="2956264"/>
                <a:ext cx="3537299" cy="3524180"/>
                <a:chOff x="8110122" y="3225144"/>
                <a:chExt cx="2670363" cy="2660459"/>
              </a:xfrm>
            </p:grpSpPr>
            <p:grpSp>
              <p:nvGrpSpPr>
                <p:cNvPr id="26" name="组合 25">
                  <a:extLst>
                    <a:ext uri="{FF2B5EF4-FFF2-40B4-BE49-F238E27FC236}">
                      <a16:creationId xmlns:a16="http://schemas.microsoft.com/office/drawing/2014/main" id="{49F87ACB-4214-495D-82BF-8D1863015B63}"/>
                    </a:ext>
                  </a:extLst>
                </p:cNvPr>
                <p:cNvGrpSpPr/>
                <p:nvPr/>
              </p:nvGrpSpPr>
              <p:grpSpPr>
                <a:xfrm>
                  <a:off x="8110122" y="3225144"/>
                  <a:ext cx="2670363" cy="2660459"/>
                  <a:chOff x="8158160" y="4724393"/>
                  <a:chExt cx="1314449" cy="1309574"/>
                </a:xfrm>
              </p:grpSpPr>
              <mc:AlternateContent xmlns:mc="http://schemas.openxmlformats.org/markup-compatibility/2006" xmlns:a14="http://schemas.microsoft.com/office/drawing/2010/main">
                <mc:Choice Requires="a14">
                  <p:sp>
                    <p:nvSpPr>
                      <p:cNvPr id="29" name="矩形 28">
                        <a:extLst>
                          <a:ext uri="{FF2B5EF4-FFF2-40B4-BE49-F238E27FC236}">
                            <a16:creationId xmlns:a16="http://schemas.microsoft.com/office/drawing/2014/main" id="{8A2EC0C5-41FC-4BA4-B494-D7A2992DD0DB}"/>
                          </a:ext>
                        </a:extLst>
                      </p:cNvPr>
                      <p:cNvSpPr/>
                      <p:nvPr/>
                    </p:nvSpPr>
                    <p:spPr>
                      <a:xfrm>
                        <a:off x="8158161" y="4724396"/>
                        <a:ext cx="657225" cy="657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ea typeface="黑体" pitchFamily="49" charset="-122"/>
                                    </a:rPr>
                                  </m:ctrlPr>
                                </m:sSubPr>
                                <m:e>
                                  <m:r>
                                    <a:rPr lang="en-US" altLang="zh-CN" sz="1600" i="1" smtClean="0">
                                      <a:latin typeface="Cambria Math" panose="02040503050406030204" pitchFamily="18" charset="0"/>
                                      <a:ea typeface="黑体" pitchFamily="49" charset="-122"/>
                                    </a:rPr>
                                    <m:t>𝑉</m:t>
                                  </m:r>
                                </m:e>
                                <m:sub>
                                  <m:r>
                                    <a:rPr lang="en-US" altLang="zh-CN" sz="1600" b="0" i="1" smtClean="0">
                                      <a:latin typeface="Cambria Math" panose="02040503050406030204" pitchFamily="18" charset="0"/>
                                      <a:ea typeface="黑体" pitchFamily="49" charset="-122"/>
                                    </a:rPr>
                                    <m:t>𝜋</m:t>
                                  </m:r>
                                </m:sub>
                              </m:sSub>
                              <m:d>
                                <m:dPr>
                                  <m:ctrlPr>
                                    <a:rPr lang="en-US" altLang="zh-CN" sz="1600" b="0" i="1">
                                      <a:latin typeface="Cambria Math" panose="02040503050406030204" pitchFamily="18" charset="0"/>
                                      <a:ea typeface="黑体" pitchFamily="49" charset="-122"/>
                                    </a:rPr>
                                  </m:ctrlPr>
                                </m:dPr>
                                <m:e>
                                  <m:sSub>
                                    <m:sSubPr>
                                      <m:ctrlPr>
                                        <a:rPr lang="en-US" altLang="zh-CN" sz="1600" i="1">
                                          <a:latin typeface="Cambria Math" panose="02040503050406030204" pitchFamily="18" charset="0"/>
                                          <a:ea typeface="黑体" pitchFamily="49" charset="-122"/>
                                        </a:rPr>
                                      </m:ctrlPr>
                                    </m:sSubPr>
                                    <m:e>
                                      <m:r>
                                        <a:rPr lang="en-US" altLang="zh-CN" sz="1600" i="1">
                                          <a:latin typeface="Cambria Math" panose="02040503050406030204" pitchFamily="18" charset="0"/>
                                          <a:ea typeface="黑体" pitchFamily="49" charset="-122"/>
                                        </a:rPr>
                                        <m:t>𝑠</m:t>
                                      </m:r>
                                    </m:e>
                                    <m:sub>
                                      <m:r>
                                        <a:rPr lang="en-US" altLang="zh-CN" sz="1600" b="0" i="1" smtClean="0">
                                          <a:latin typeface="Cambria Math" panose="02040503050406030204" pitchFamily="18" charset="0"/>
                                          <a:ea typeface="黑体" pitchFamily="49" charset="-122"/>
                                        </a:rPr>
                                        <m:t>4</m:t>
                                      </m:r>
                                    </m:sub>
                                  </m:sSub>
                                </m:e>
                              </m:d>
                              <m:r>
                                <a:rPr lang="en-US" altLang="zh-CN" sz="1600" b="0" i="1" smtClean="0">
                                  <a:latin typeface="Cambria Math" panose="02040503050406030204" pitchFamily="18" charset="0"/>
                                  <a:ea typeface="黑体" pitchFamily="49" charset="-122"/>
                                </a:rPr>
                                <m:t>=0.3</m:t>
                              </m:r>
                            </m:oMath>
                          </m:oMathPara>
                        </a14:m>
                        <a:endParaRPr lang="zh-CN" altLang="en-US" sz="1600" dirty="0">
                          <a:latin typeface="Times New Roman" panose="02020603050405020304" pitchFamily="18" charset="0"/>
                          <a:ea typeface="黑体" pitchFamily="49" charset="-122"/>
                          <a:cs typeface="Times New Roman" panose="02020603050405020304" pitchFamily="18" charset="0"/>
                        </a:endParaRPr>
                      </a:p>
                    </p:txBody>
                  </p:sp>
                </mc:Choice>
                <mc:Fallback xmlns="">
                  <p:sp>
                    <p:nvSpPr>
                      <p:cNvPr id="29" name="矩形 28">
                        <a:extLst>
                          <a:ext uri="{FF2B5EF4-FFF2-40B4-BE49-F238E27FC236}">
                            <a16:creationId xmlns:a16="http://schemas.microsoft.com/office/drawing/2014/main" id="{8A2EC0C5-41FC-4BA4-B494-D7A2992DD0DB}"/>
                          </a:ext>
                        </a:extLst>
                      </p:cNvPr>
                      <p:cNvSpPr>
                        <a:spLocks noRot="1" noChangeAspect="1" noMove="1" noResize="1" noEditPoints="1" noAdjustHandles="1" noChangeArrowheads="1" noChangeShapeType="1" noTextEdit="1"/>
                      </p:cNvSpPr>
                      <p:nvPr/>
                    </p:nvSpPr>
                    <p:spPr>
                      <a:xfrm>
                        <a:off x="8158161" y="4724396"/>
                        <a:ext cx="657225" cy="657225"/>
                      </a:xfrm>
                      <a:prstGeom prst="rect">
                        <a:avLst/>
                      </a:prstGeom>
                      <a:blipFill>
                        <a:blip r:embed="rId4"/>
                        <a:stretch>
                          <a:fillRect/>
                        </a:stretch>
                      </a:blipFill>
                    </p:spPr>
                    <p:txBody>
                      <a:bodyPr/>
                      <a:lstStyle/>
                      <a:p>
                        <a:r>
                          <a:rPr lang="zh-CN" altLang="en-US">
                            <a:noFill/>
                          </a:rPr>
                          <a:t> </a:t>
                        </a:r>
                      </a:p>
                    </p:txBody>
                  </p:sp>
                </mc:Fallback>
              </mc:AlternateContent>
              <p:sp>
                <p:nvSpPr>
                  <p:cNvPr id="30" name="矩形 29">
                    <a:extLst>
                      <a:ext uri="{FF2B5EF4-FFF2-40B4-BE49-F238E27FC236}">
                        <a16:creationId xmlns:a16="http://schemas.microsoft.com/office/drawing/2014/main" id="{7829F1A0-9AAF-4646-A65E-7D75F9FB9FFB}"/>
                      </a:ext>
                    </a:extLst>
                  </p:cNvPr>
                  <p:cNvSpPr/>
                  <p:nvPr/>
                </p:nvSpPr>
                <p:spPr>
                  <a:xfrm>
                    <a:off x="8815384" y="4724393"/>
                    <a:ext cx="657225" cy="657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1600" dirty="0">
                      <a:latin typeface="Times New Roman" panose="02020603050405020304" pitchFamily="18" charset="0"/>
                      <a:ea typeface="黑体" pitchFamily="49" charset="-122"/>
                      <a:cs typeface="Times New Roman" panose="02020603050405020304" pitchFamily="18" charset="0"/>
                    </a:endParaRPr>
                  </a:p>
                </p:txBody>
              </p:sp>
              <p:sp>
                <p:nvSpPr>
                  <p:cNvPr id="31" name="矩形 30">
                    <a:extLst>
                      <a:ext uri="{FF2B5EF4-FFF2-40B4-BE49-F238E27FC236}">
                        <a16:creationId xmlns:a16="http://schemas.microsoft.com/office/drawing/2014/main" id="{9B6EAEA9-FFEE-4DB9-A769-82BDC7828ED8}"/>
                      </a:ext>
                    </a:extLst>
                  </p:cNvPr>
                  <p:cNvSpPr/>
                  <p:nvPr/>
                </p:nvSpPr>
                <p:spPr>
                  <a:xfrm>
                    <a:off x="8158160" y="5376742"/>
                    <a:ext cx="657225" cy="657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1600" dirty="0">
                      <a:latin typeface="Times New Roman" panose="02020603050405020304" pitchFamily="18" charset="0"/>
                      <a:ea typeface="黑体"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2" name="矩形 31">
                        <a:extLst>
                          <a:ext uri="{FF2B5EF4-FFF2-40B4-BE49-F238E27FC236}">
                            <a16:creationId xmlns:a16="http://schemas.microsoft.com/office/drawing/2014/main" id="{E676EA55-5179-45B9-8F3A-F70F2E989E75}"/>
                          </a:ext>
                        </a:extLst>
                      </p:cNvPr>
                      <p:cNvSpPr/>
                      <p:nvPr/>
                    </p:nvSpPr>
                    <p:spPr>
                      <a:xfrm>
                        <a:off x="8815338" y="5381615"/>
                        <a:ext cx="657225" cy="65234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ea typeface="黑体" pitchFamily="49" charset="-122"/>
                                    </a:rPr>
                                  </m:ctrlPr>
                                </m:sSubPr>
                                <m:e>
                                  <m:r>
                                    <a:rPr lang="en-US" altLang="zh-CN" sz="1600" i="1" smtClean="0">
                                      <a:latin typeface="Cambria Math" panose="02040503050406030204" pitchFamily="18" charset="0"/>
                                      <a:ea typeface="黑体" pitchFamily="49" charset="-122"/>
                                    </a:rPr>
                                    <m:t>𝑉</m:t>
                                  </m:r>
                                </m:e>
                                <m:sub>
                                  <m:r>
                                    <a:rPr lang="en-US" altLang="zh-CN" sz="1600" b="0" i="1" smtClean="0">
                                      <a:latin typeface="Cambria Math" panose="02040503050406030204" pitchFamily="18" charset="0"/>
                                      <a:ea typeface="黑体" pitchFamily="49" charset="-122"/>
                                    </a:rPr>
                                    <m:t>𝜋</m:t>
                                  </m:r>
                                </m:sub>
                              </m:sSub>
                              <m:d>
                                <m:dPr>
                                  <m:ctrlPr>
                                    <a:rPr lang="en-US" altLang="zh-CN" sz="1600" b="0" i="1" smtClean="0">
                                      <a:latin typeface="Cambria Math" panose="02040503050406030204" pitchFamily="18" charset="0"/>
                                      <a:ea typeface="黑体" pitchFamily="49" charset="-122"/>
                                    </a:rPr>
                                  </m:ctrlPr>
                                </m:dPr>
                                <m:e>
                                  <m:sSub>
                                    <m:sSubPr>
                                      <m:ctrlPr>
                                        <a:rPr lang="en-US" altLang="zh-CN" sz="1600" i="1">
                                          <a:latin typeface="Cambria Math" panose="02040503050406030204" pitchFamily="18" charset="0"/>
                                          <a:ea typeface="黑体" pitchFamily="49" charset="-122"/>
                                        </a:rPr>
                                      </m:ctrlPr>
                                    </m:sSubPr>
                                    <m:e>
                                      <m:r>
                                        <a:rPr lang="en-US" altLang="zh-CN" sz="1600" i="1">
                                          <a:latin typeface="Cambria Math" panose="02040503050406030204" pitchFamily="18" charset="0"/>
                                          <a:ea typeface="黑体" pitchFamily="49" charset="-122"/>
                                        </a:rPr>
                                        <m:t>𝑠</m:t>
                                      </m:r>
                                    </m:e>
                                    <m:sub>
                                      <m:r>
                                        <a:rPr lang="en-US" altLang="zh-CN" sz="1600" b="0" i="1" smtClean="0">
                                          <a:latin typeface="Cambria Math" panose="02040503050406030204" pitchFamily="18" charset="0"/>
                                          <a:ea typeface="黑体" pitchFamily="49" charset="-122"/>
                                        </a:rPr>
                                        <m:t>2</m:t>
                                      </m:r>
                                    </m:sub>
                                  </m:sSub>
                                </m:e>
                              </m:d>
                              <m:r>
                                <a:rPr lang="en-US" altLang="zh-CN" sz="1600" b="0" i="1" smtClean="0">
                                  <a:latin typeface="Cambria Math" panose="02040503050406030204" pitchFamily="18" charset="0"/>
                                  <a:ea typeface="黑体" pitchFamily="49" charset="-122"/>
                                </a:rPr>
                                <m:t>=0.4</m:t>
                              </m:r>
                            </m:oMath>
                          </m:oMathPara>
                        </a14:m>
                        <a:endParaRPr lang="zh-CN" altLang="en-US" sz="1600" dirty="0">
                          <a:latin typeface="Times New Roman" panose="02020603050405020304" pitchFamily="18" charset="0"/>
                          <a:ea typeface="黑体" pitchFamily="49" charset="-122"/>
                          <a:cs typeface="Times New Roman" panose="02020603050405020304" pitchFamily="18" charset="0"/>
                        </a:endParaRPr>
                      </a:p>
                    </p:txBody>
                  </p:sp>
                </mc:Choice>
                <mc:Fallback xmlns="">
                  <p:sp>
                    <p:nvSpPr>
                      <p:cNvPr id="32" name="矩形 31">
                        <a:extLst>
                          <a:ext uri="{FF2B5EF4-FFF2-40B4-BE49-F238E27FC236}">
                            <a16:creationId xmlns:a16="http://schemas.microsoft.com/office/drawing/2014/main" id="{E676EA55-5179-45B9-8F3A-F70F2E989E75}"/>
                          </a:ext>
                        </a:extLst>
                      </p:cNvPr>
                      <p:cNvSpPr>
                        <a:spLocks noRot="1" noChangeAspect="1" noMove="1" noResize="1" noEditPoints="1" noAdjustHandles="1" noChangeArrowheads="1" noChangeShapeType="1" noTextEdit="1"/>
                      </p:cNvSpPr>
                      <p:nvPr/>
                    </p:nvSpPr>
                    <p:spPr>
                      <a:xfrm>
                        <a:off x="8815338" y="5381615"/>
                        <a:ext cx="657225" cy="652349"/>
                      </a:xfrm>
                      <a:prstGeom prst="rect">
                        <a:avLst/>
                      </a:prstGeom>
                      <a:blipFill>
                        <a:blip r:embed="rId5"/>
                        <a:stretch>
                          <a:fillRect/>
                        </a:stretch>
                      </a:blipFill>
                    </p:spPr>
                    <p:txBody>
                      <a:bodyPr/>
                      <a:lstStyle/>
                      <a:p>
                        <a:r>
                          <a:rPr lang="zh-CN" altLang="en-US">
                            <a:noFill/>
                          </a:rPr>
                          <a:t> </a:t>
                        </a:r>
                      </a:p>
                    </p:txBody>
                  </p:sp>
                </mc:Fallback>
              </mc:AlternateContent>
            </p:grpSp>
            <p:sp>
              <p:nvSpPr>
                <p:cNvPr id="27" name="箭头: 下 26">
                  <a:extLst>
                    <a:ext uri="{FF2B5EF4-FFF2-40B4-BE49-F238E27FC236}">
                      <a16:creationId xmlns:a16="http://schemas.microsoft.com/office/drawing/2014/main" id="{CB986C5F-BC59-43AE-8D61-4CC120109B07}"/>
                    </a:ext>
                  </a:extLst>
                </p:cNvPr>
                <p:cNvSpPr/>
                <p:nvPr/>
              </p:nvSpPr>
              <p:spPr>
                <a:xfrm rot="10800000">
                  <a:off x="8682313" y="5522965"/>
                  <a:ext cx="190502" cy="300441"/>
                </a:xfrm>
                <a:prstGeom prst="downArrow">
                  <a:avLst/>
                </a:prstGeom>
                <a:solidFill>
                  <a:schemeClr val="accent2"/>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1600" dirty="0">
                    <a:latin typeface="Times New Roman" panose="02020603050405020304" pitchFamily="18" charset="0"/>
                    <a:ea typeface="黑体"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8" name="矩形 27">
                      <a:extLst>
                        <a:ext uri="{FF2B5EF4-FFF2-40B4-BE49-F238E27FC236}">
                          <a16:creationId xmlns:a16="http://schemas.microsoft.com/office/drawing/2014/main" id="{61491CEF-59DD-4CBA-9879-7A09CE72DFDD}"/>
                        </a:ext>
                      </a:extLst>
                    </p:cNvPr>
                    <p:cNvSpPr/>
                    <p:nvPr/>
                  </p:nvSpPr>
                  <p:spPr>
                    <a:xfrm>
                      <a:off x="8116031" y="5090856"/>
                      <a:ext cx="1323272" cy="275403"/>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ea typeface="黑体" pitchFamily="49" charset="-122"/>
                                  </a:rPr>
                                </m:ctrlPr>
                              </m:sSubPr>
                              <m:e>
                                <m:r>
                                  <a:rPr lang="en-US" altLang="zh-CN" sz="1600" i="1">
                                    <a:latin typeface="Cambria Math" panose="02040503050406030204" pitchFamily="18" charset="0"/>
                                    <a:ea typeface="黑体" pitchFamily="49" charset="-122"/>
                                  </a:rPr>
                                  <m:t>𝑉</m:t>
                                </m:r>
                              </m:e>
                              <m:sub>
                                <m:r>
                                  <a:rPr lang="en-US" altLang="zh-CN" sz="1600" i="1">
                                    <a:latin typeface="Cambria Math" panose="02040503050406030204" pitchFamily="18" charset="0"/>
                                    <a:ea typeface="黑体" pitchFamily="49" charset="-122"/>
                                  </a:rPr>
                                  <m:t>𝜋</m:t>
                                </m:r>
                              </m:sub>
                            </m:sSub>
                            <m:d>
                              <m:dPr>
                                <m:ctrlPr>
                                  <a:rPr lang="en-US" altLang="zh-CN" sz="1600" i="1">
                                    <a:latin typeface="Cambria Math" panose="02040503050406030204" pitchFamily="18" charset="0"/>
                                    <a:ea typeface="黑体" pitchFamily="49" charset="-122"/>
                                  </a:rPr>
                                </m:ctrlPr>
                              </m:dPr>
                              <m:e>
                                <m:sSub>
                                  <m:sSubPr>
                                    <m:ctrlPr>
                                      <a:rPr lang="en-US" altLang="zh-CN" sz="1600" i="1">
                                        <a:latin typeface="Cambria Math" panose="02040503050406030204" pitchFamily="18" charset="0"/>
                                        <a:ea typeface="黑体" pitchFamily="49" charset="-122"/>
                                      </a:rPr>
                                    </m:ctrlPr>
                                  </m:sSubPr>
                                  <m:e>
                                    <m:r>
                                      <a:rPr lang="en-US" altLang="zh-CN" sz="1600" i="1">
                                        <a:latin typeface="Cambria Math" panose="02040503050406030204" pitchFamily="18" charset="0"/>
                                        <a:ea typeface="黑体" pitchFamily="49" charset="-122"/>
                                      </a:rPr>
                                      <m:t>𝑠</m:t>
                                    </m:r>
                                  </m:e>
                                  <m:sub>
                                    <m:r>
                                      <a:rPr lang="en-US" altLang="zh-CN" sz="1600" b="0" i="1" smtClean="0">
                                        <a:latin typeface="Cambria Math" panose="02040503050406030204" pitchFamily="18" charset="0"/>
                                        <a:ea typeface="黑体" pitchFamily="49" charset="-122"/>
                                      </a:rPr>
                                      <m:t>1</m:t>
                                    </m:r>
                                  </m:sub>
                                </m:sSub>
                              </m:e>
                            </m:d>
                            <m:r>
                              <a:rPr lang="en-US" altLang="zh-CN" sz="1600" i="1">
                                <a:latin typeface="Cambria Math" panose="02040503050406030204" pitchFamily="18" charset="0"/>
                                <a:ea typeface="黑体" pitchFamily="49" charset="-122"/>
                              </a:rPr>
                              <m:t>=</m:t>
                            </m:r>
                            <m:r>
                              <a:rPr lang="en-US" altLang="zh-CN" sz="1600" b="0" i="1" smtClean="0">
                                <a:solidFill>
                                  <a:schemeClr val="tx1"/>
                                </a:solidFill>
                                <a:latin typeface="Cambria Math" panose="02040503050406030204" pitchFamily="18" charset="0"/>
                                <a:ea typeface="黑体" pitchFamily="49" charset="-122"/>
                              </a:rPr>
                              <m:t>0.1</m:t>
                            </m:r>
                          </m:oMath>
                        </m:oMathPara>
                      </a14:m>
                      <a:endParaRPr lang="zh-CN" altLang="en-US" sz="1600" dirty="0">
                        <a:latin typeface="Times New Roman" panose="02020603050405020304" pitchFamily="18" charset="0"/>
                        <a:ea typeface="黑体" pitchFamily="49" charset="-122"/>
                        <a:cs typeface="Times New Roman" panose="02020603050405020304" pitchFamily="18" charset="0"/>
                      </a:endParaRPr>
                    </a:p>
                  </p:txBody>
                </p:sp>
              </mc:Choice>
              <mc:Fallback xmlns="">
                <p:sp>
                  <p:nvSpPr>
                    <p:cNvPr id="28" name="矩形 27">
                      <a:extLst>
                        <a:ext uri="{FF2B5EF4-FFF2-40B4-BE49-F238E27FC236}">
                          <a16:creationId xmlns:a16="http://schemas.microsoft.com/office/drawing/2014/main" id="{61491CEF-59DD-4CBA-9879-7A09CE72DFDD}"/>
                        </a:ext>
                      </a:extLst>
                    </p:cNvPr>
                    <p:cNvSpPr>
                      <a:spLocks noRot="1" noChangeAspect="1" noMove="1" noResize="1" noEditPoints="1" noAdjustHandles="1" noChangeArrowheads="1" noChangeShapeType="1" noTextEdit="1"/>
                    </p:cNvSpPr>
                    <p:nvPr/>
                  </p:nvSpPr>
                  <p:spPr>
                    <a:xfrm>
                      <a:off x="8116031" y="5090856"/>
                      <a:ext cx="1323272" cy="275403"/>
                    </a:xfrm>
                    <a:prstGeom prst="rect">
                      <a:avLst/>
                    </a:prstGeom>
                    <a:blipFill>
                      <a:blip r:embed="rId6"/>
                      <a:stretch>
                        <a:fillRect/>
                      </a:stretch>
                    </a:blipFill>
                  </p:spPr>
                  <p:txBody>
                    <a:bodyPr/>
                    <a:lstStyle/>
                    <a:p>
                      <a:r>
                        <a:rPr lang="zh-CN" altLang="en-US">
                          <a:noFill/>
                        </a:rPr>
                        <a:t> </a:t>
                      </a:r>
                    </a:p>
                  </p:txBody>
                </p:sp>
              </mc:Fallback>
            </mc:AlternateContent>
          </p:grpSp>
          <p:sp>
            <p:nvSpPr>
              <p:cNvPr id="25" name="箭头: 下 24">
                <a:extLst>
                  <a:ext uri="{FF2B5EF4-FFF2-40B4-BE49-F238E27FC236}">
                    <a16:creationId xmlns:a16="http://schemas.microsoft.com/office/drawing/2014/main" id="{AEF83D9C-7932-4BAD-B2FD-A8E552726693}"/>
                  </a:ext>
                </a:extLst>
              </p:cNvPr>
              <p:cNvSpPr/>
              <p:nvPr/>
            </p:nvSpPr>
            <p:spPr>
              <a:xfrm rot="10800000">
                <a:off x="7807387" y="4178510"/>
                <a:ext cx="252476" cy="431247"/>
              </a:xfrm>
              <a:prstGeom prst="downArrow">
                <a:avLst/>
              </a:prstGeom>
              <a:solidFill>
                <a:schemeClr val="accent2"/>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1600" dirty="0">
                  <a:latin typeface="Times New Roman" panose="02020603050405020304" pitchFamily="18" charset="0"/>
                  <a:ea typeface="黑体" pitchFamily="49" charset="-122"/>
                  <a:cs typeface="Times New Roman" panose="02020603050405020304" pitchFamily="18" charset="0"/>
                </a:endParaRPr>
              </a:p>
            </p:txBody>
          </p:sp>
        </p:grpSp>
        <p:sp>
          <p:nvSpPr>
            <p:cNvPr id="22" name="箭头: 下 21">
              <a:extLst>
                <a:ext uri="{FF2B5EF4-FFF2-40B4-BE49-F238E27FC236}">
                  <a16:creationId xmlns:a16="http://schemas.microsoft.com/office/drawing/2014/main" id="{3904A067-C8D5-42D8-95B5-87867979FB7C}"/>
                </a:ext>
              </a:extLst>
            </p:cNvPr>
            <p:cNvSpPr/>
            <p:nvPr/>
          </p:nvSpPr>
          <p:spPr>
            <a:xfrm rot="10800000">
              <a:off x="9565418" y="6000076"/>
              <a:ext cx="263033" cy="397979"/>
            </a:xfrm>
            <a:prstGeom prst="downArrow">
              <a:avLst/>
            </a:prstGeom>
            <a:solidFill>
              <a:schemeClr val="accent2"/>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1600" dirty="0">
                <a:latin typeface="Times New Roman" panose="02020603050405020304" pitchFamily="18" charset="0"/>
                <a:ea typeface="黑体" pitchFamily="49" charset="-122"/>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33" name="矩形 32">
                <a:extLst>
                  <a:ext uri="{FF2B5EF4-FFF2-40B4-BE49-F238E27FC236}">
                    <a16:creationId xmlns:a16="http://schemas.microsoft.com/office/drawing/2014/main" id="{2B68DC49-142C-4FCC-81C8-C667F91A4BF3}"/>
                  </a:ext>
                </a:extLst>
              </p:cNvPr>
              <p:cNvSpPr/>
              <p:nvPr/>
            </p:nvSpPr>
            <p:spPr>
              <a:xfrm>
                <a:off x="367502" y="4403114"/>
                <a:ext cx="5989825" cy="1938992"/>
              </a:xfrm>
              <a:prstGeom prst="rect">
                <a:avLst/>
              </a:prstGeom>
            </p:spPr>
            <p:txBody>
              <a:bodyPr wrap="square">
                <a:spAutoFit/>
              </a:bodyPr>
              <a:lstStyle/>
              <a:p>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假设</a:t>
                </a:r>
                <a14:m>
                  <m:oMath xmlns:m="http://schemas.openxmlformats.org/officeDocument/2006/math">
                    <m:r>
                      <a:rPr lang="en-US" altLang="zh-CN" sz="2000" b="1">
                        <a:latin typeface="Cambria Math" panose="02040503050406030204" pitchFamily="18" charset="0"/>
                        <a:ea typeface="华文楷体" panose="02010600040101010101" pitchFamily="2" charset="-122"/>
                        <a:cs typeface="Times New Roman" panose="02020603050405020304" pitchFamily="18" charset="0"/>
                      </a:rPr>
                      <m:t>𝛼</m:t>
                    </m:r>
                    <m:r>
                      <a:rPr lang="en-US" altLang="zh-CN" sz="2000" b="1">
                        <a:latin typeface="Cambria Math" panose="02040503050406030204" pitchFamily="18" charset="0"/>
                        <a:ea typeface="华文楷体" panose="02010600040101010101" pitchFamily="2" charset="-122"/>
                        <a:cs typeface="Times New Roman" panose="02020603050405020304" pitchFamily="18" charset="0"/>
                      </a:rPr>
                      <m:t>=0.5</m:t>
                    </m:r>
                  </m:oMath>
                </a14:m>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，更新</a:t>
                </a:r>
                <a14:m>
                  <m:oMath xmlns:m="http://schemas.openxmlformats.org/officeDocument/2006/math">
                    <m:sSub>
                      <m:sSubPr>
                        <m:ctrlPr>
                          <a:rPr lang="en-US" altLang="zh-CN" sz="2000"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sz="2000"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sz="2000" b="1">
                            <a:latin typeface="Cambria Math" panose="02040503050406030204" pitchFamily="18" charset="0"/>
                            <a:ea typeface="华文楷体" panose="02010600040101010101" pitchFamily="2" charset="-122"/>
                            <a:cs typeface="Times New Roman" panose="02020603050405020304" pitchFamily="18" charset="0"/>
                          </a:rPr>
                          <m:t>𝜋</m:t>
                        </m:r>
                      </m:sub>
                    </m:sSub>
                    <m:r>
                      <a:rPr lang="en-US" altLang="zh-CN" sz="2000" b="1">
                        <a:latin typeface="Cambria Math" panose="02040503050406030204" pitchFamily="18" charset="0"/>
                        <a:ea typeface="华文楷体" panose="02010600040101010101" pitchFamily="2" charset="-122"/>
                        <a:cs typeface="Times New Roman" panose="02020603050405020304" pitchFamily="18" charset="0"/>
                      </a:rPr>
                      <m:t>(</m:t>
                    </m:r>
                    <m:sSub>
                      <m:sSubPr>
                        <m:ctrlPr>
                          <a:rPr lang="en-US" altLang="zh-CN" sz="2000"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sz="2000" b="1">
                            <a:latin typeface="Cambria Math" panose="02040503050406030204" pitchFamily="18" charset="0"/>
                            <a:ea typeface="华文楷体" panose="02010600040101010101" pitchFamily="2" charset="-122"/>
                            <a:cs typeface="Times New Roman" panose="02020603050405020304" pitchFamily="18" charset="0"/>
                          </a:rPr>
                          <m:t>𝑠</m:t>
                        </m:r>
                      </m:e>
                      <m:sub>
                        <m:r>
                          <a:rPr lang="en-US" altLang="zh-CN" sz="2000" b="1">
                            <a:latin typeface="Cambria Math" panose="02040503050406030204" pitchFamily="18" charset="0"/>
                            <a:ea typeface="华文楷体" panose="02010600040101010101" pitchFamily="2" charset="-122"/>
                            <a:cs typeface="Times New Roman" panose="02020603050405020304" pitchFamily="18" charset="0"/>
                          </a:rPr>
                          <m:t>1</m:t>
                        </m:r>
                      </m:sub>
                    </m:sSub>
                    <m:r>
                      <a:rPr lang="en-US" altLang="zh-CN" sz="2000" b="1">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的值：</a:t>
                </a:r>
                <a:endParaRPr lang="en-US" altLang="zh-CN" sz="2000"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从</a:t>
                </a:r>
                <a14:m>
                  <m:oMath xmlns:m="http://schemas.openxmlformats.org/officeDocument/2006/math">
                    <m:r>
                      <a:rPr lang="en-US" altLang="zh-CN" sz="2000" b="1">
                        <a:latin typeface="Cambria Math" panose="02040503050406030204" pitchFamily="18" charset="0"/>
                        <a:ea typeface="华文楷体" panose="02010600040101010101" pitchFamily="2" charset="-122"/>
                        <a:cs typeface="Times New Roman" panose="02020603050405020304" pitchFamily="18" charset="0"/>
                      </a:rPr>
                      <m:t>𝜋</m:t>
                    </m:r>
                    <m:r>
                      <a:rPr lang="en-US" altLang="zh-CN" sz="2000" b="1">
                        <a:latin typeface="Cambria Math" panose="02040503050406030204" pitchFamily="18" charset="0"/>
                        <a:ea typeface="华文楷体" panose="02010600040101010101" pitchFamily="2" charset="-122"/>
                        <a:cs typeface="Times New Roman" panose="02020603050405020304" pitchFamily="18" charset="0"/>
                      </a:rPr>
                      <m:t>(</m:t>
                    </m:r>
                    <m:sSub>
                      <m:sSubPr>
                        <m:ctrlPr>
                          <a:rPr lang="en-US" altLang="zh-CN" sz="2000"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sz="2000" b="1">
                            <a:latin typeface="Cambria Math" panose="02040503050406030204" pitchFamily="18" charset="0"/>
                            <a:ea typeface="华文楷体" panose="02010600040101010101" pitchFamily="2" charset="-122"/>
                            <a:cs typeface="Times New Roman" panose="02020603050405020304" pitchFamily="18" charset="0"/>
                          </a:rPr>
                          <m:t>𝑠</m:t>
                        </m:r>
                      </m:e>
                      <m:sub>
                        <m:r>
                          <a:rPr lang="en-US" altLang="zh-CN" sz="2000" b="1">
                            <a:latin typeface="Cambria Math" panose="02040503050406030204" pitchFamily="18" charset="0"/>
                            <a:ea typeface="华文楷体" panose="02010600040101010101" pitchFamily="2" charset="-122"/>
                            <a:cs typeface="Times New Roman" panose="02020603050405020304" pitchFamily="18" charset="0"/>
                          </a:rPr>
                          <m:t>1</m:t>
                        </m:r>
                      </m:sub>
                    </m:sSub>
                    <m:r>
                      <a:rPr lang="en-US" altLang="zh-CN" sz="2000" b="1">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 中采样得到动作</a:t>
                </a:r>
                <a14:m>
                  <m:oMath xmlns:m="http://schemas.openxmlformats.org/officeDocument/2006/math">
                    <m:r>
                      <a:rPr lang="en-US" altLang="zh-CN" sz="2000" b="1">
                        <a:latin typeface="Cambria Math" panose="02040503050406030204" pitchFamily="18" charset="0"/>
                        <a:ea typeface="华文楷体" panose="02010600040101010101" pitchFamily="2" charset="-122"/>
                        <a:cs typeface="Times New Roman" panose="02020603050405020304" pitchFamily="18" charset="0"/>
                      </a:rPr>
                      <m:t>𝑎</m:t>
                    </m:r>
                    <m:r>
                      <a:rPr lang="en-US" altLang="zh-CN" sz="2000" b="1">
                        <a:latin typeface="Cambria Math" panose="02040503050406030204" pitchFamily="18" charset="0"/>
                        <a:ea typeface="华文楷体" panose="02010600040101010101" pitchFamily="2" charset="-122"/>
                        <a:cs typeface="Times New Roman" panose="02020603050405020304" pitchFamily="18" charset="0"/>
                      </a:rPr>
                      <m:t>=</m:t>
                    </m:r>
                    <m:r>
                      <a:rPr lang="zh-CN" altLang="en-US" sz="2000" b="1">
                        <a:latin typeface="Cambria Math" panose="02040503050406030204" pitchFamily="18" charset="0"/>
                        <a:ea typeface="华文楷体" panose="02010600040101010101" pitchFamily="2" charset="-122"/>
                        <a:cs typeface="Times New Roman" panose="02020603050405020304" pitchFamily="18" charset="0"/>
                      </a:rPr>
                      <m:t>上</m:t>
                    </m:r>
                  </m:oMath>
                </a14:m>
                <a:endParaRPr lang="en-US" altLang="zh-CN" sz="2000"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从</a:t>
                </a:r>
                <a14:m>
                  <m:oMath xmlns:m="http://schemas.openxmlformats.org/officeDocument/2006/math">
                    <m:r>
                      <a:rPr lang="en-US" altLang="zh-CN" sz="2000" b="1">
                        <a:latin typeface="Cambria Math" panose="02040503050406030204" pitchFamily="18" charset="0"/>
                        <a:ea typeface="华文楷体" panose="02010600040101010101" pitchFamily="2" charset="-122"/>
                        <a:cs typeface="Times New Roman" panose="02020603050405020304" pitchFamily="18" charset="0"/>
                      </a:rPr>
                      <m:t>𝑃𝑟</m:t>
                    </m:r>
                    <m:r>
                      <a:rPr lang="en-US" altLang="zh-CN" sz="2000" b="1">
                        <a:latin typeface="Cambria Math" panose="02040503050406030204" pitchFamily="18" charset="0"/>
                        <a:ea typeface="华文楷体" panose="02010600040101010101" pitchFamily="2" charset="-122"/>
                        <a:cs typeface="Times New Roman" panose="02020603050405020304" pitchFamily="18" charset="0"/>
                      </a:rPr>
                      <m:t>(⋅|</m:t>
                    </m:r>
                    <m:sSub>
                      <m:sSubPr>
                        <m:ctrlPr>
                          <a:rPr lang="en-US" altLang="zh-CN" sz="2000"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sz="2000" b="1">
                            <a:latin typeface="Cambria Math" panose="02040503050406030204" pitchFamily="18" charset="0"/>
                            <a:ea typeface="华文楷体" panose="02010600040101010101" pitchFamily="2" charset="-122"/>
                            <a:cs typeface="Times New Roman" panose="02020603050405020304" pitchFamily="18" charset="0"/>
                          </a:rPr>
                          <m:t>𝑠</m:t>
                        </m:r>
                      </m:e>
                      <m:sub>
                        <m:r>
                          <a:rPr lang="en-US" altLang="zh-CN" sz="2000" b="1">
                            <a:latin typeface="Cambria Math" panose="02040503050406030204" pitchFamily="18" charset="0"/>
                            <a:ea typeface="华文楷体" panose="02010600040101010101" pitchFamily="2" charset="-122"/>
                            <a:cs typeface="Times New Roman" panose="02020603050405020304" pitchFamily="18" charset="0"/>
                          </a:rPr>
                          <m:t>1</m:t>
                        </m:r>
                      </m:sub>
                    </m:sSub>
                    <m:r>
                      <a:rPr lang="en-US" altLang="zh-CN" sz="2000" b="1">
                        <a:latin typeface="Cambria Math" panose="02040503050406030204" pitchFamily="18" charset="0"/>
                        <a:ea typeface="华文楷体" panose="02010600040101010101" pitchFamily="2" charset="-122"/>
                        <a:cs typeface="Times New Roman" panose="02020603050405020304" pitchFamily="18" charset="0"/>
                      </a:rPr>
                      <m:t>,</m:t>
                    </m:r>
                    <m:r>
                      <a:rPr lang="zh-CN" altLang="en-US" sz="2000" b="1">
                        <a:latin typeface="Cambria Math" panose="02040503050406030204" pitchFamily="18" charset="0"/>
                        <a:ea typeface="华文楷体" panose="02010600040101010101" pitchFamily="2" charset="-122"/>
                        <a:cs typeface="Times New Roman" panose="02020603050405020304" pitchFamily="18" charset="0"/>
                      </a:rPr>
                      <m:t>上</m:t>
                    </m:r>
                    <m:r>
                      <a:rPr lang="en-US" altLang="zh-CN" sz="2000" b="1">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中采样得到下一步状态</a:t>
                </a:r>
                <a14:m>
                  <m:oMath xmlns:m="http://schemas.openxmlformats.org/officeDocument/2006/math">
                    <m:sSup>
                      <m:sSupPr>
                        <m:ctrlPr>
                          <a:rPr lang="en-US" altLang="zh-CN" sz="2000" b="1" i="1">
                            <a:latin typeface="Cambria Math" panose="02040503050406030204" pitchFamily="18" charset="0"/>
                            <a:ea typeface="华文楷体" panose="02010600040101010101" pitchFamily="2" charset="-122"/>
                            <a:cs typeface="Times New Roman" panose="02020603050405020304" pitchFamily="18" charset="0"/>
                          </a:rPr>
                        </m:ctrlPr>
                      </m:sSupPr>
                      <m:e>
                        <m:r>
                          <a:rPr lang="en-US" altLang="zh-CN" sz="2000" b="1">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sz="2000" b="1">
                            <a:latin typeface="Cambria Math" panose="02040503050406030204" pitchFamily="18" charset="0"/>
                            <a:ea typeface="华文楷体" panose="02010600040101010101" pitchFamily="2" charset="-122"/>
                            <a:cs typeface="Times New Roman" panose="02020603050405020304" pitchFamily="18" charset="0"/>
                          </a:rPr>
                          <m:t>′</m:t>
                        </m:r>
                      </m:sup>
                    </m:sSup>
                    <m:r>
                      <a:rPr lang="en-US" altLang="zh-CN" sz="2000" b="1">
                        <a:latin typeface="Cambria Math" panose="02040503050406030204" pitchFamily="18" charset="0"/>
                        <a:ea typeface="华文楷体" panose="02010600040101010101" pitchFamily="2" charset="-122"/>
                        <a:cs typeface="Times New Roman" panose="02020603050405020304" pitchFamily="18" charset="0"/>
                      </a:rPr>
                      <m:t>=</m:t>
                    </m:r>
                    <m:sSub>
                      <m:sSubPr>
                        <m:ctrlPr>
                          <a:rPr lang="en-US" altLang="zh-CN" sz="2000"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sz="2000" b="1">
                            <a:latin typeface="Cambria Math" panose="02040503050406030204" pitchFamily="18" charset="0"/>
                            <a:ea typeface="华文楷体" panose="02010600040101010101" pitchFamily="2" charset="-122"/>
                            <a:cs typeface="Times New Roman" panose="02020603050405020304" pitchFamily="18" charset="0"/>
                          </a:rPr>
                          <m:t>𝑠</m:t>
                        </m:r>
                      </m:e>
                      <m:sub>
                        <m:r>
                          <a:rPr lang="en-US" altLang="zh-CN" sz="2000" b="1">
                            <a:latin typeface="Cambria Math" panose="02040503050406030204" pitchFamily="18" charset="0"/>
                            <a:ea typeface="华文楷体" panose="02010600040101010101" pitchFamily="2" charset="-122"/>
                            <a:cs typeface="Times New Roman" panose="02020603050405020304" pitchFamily="18" charset="0"/>
                          </a:rPr>
                          <m:t>4</m:t>
                        </m:r>
                      </m:sub>
                    </m:sSub>
                  </m:oMath>
                </a14:m>
                <a:endParaRPr lang="en-US" altLang="zh-CN" sz="2000" b="1"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000" b="1" dirty="0">
                  <a:latin typeface="Times New Roman" panose="02020603050405020304" pitchFamily="18" charset="0"/>
                  <a:ea typeface="华文楷体" panose="02010600040101010101" pitchFamily="2"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altLang="zh-CN" sz="2000"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sz="2000"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sz="2000" b="1">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en-US" altLang="zh-CN" sz="2000" b="1" i="1">
                              <a:latin typeface="Cambria Math" panose="02040503050406030204" pitchFamily="18" charset="0"/>
                              <a:ea typeface="华文楷体" panose="02010600040101010101" pitchFamily="2" charset="-122"/>
                              <a:cs typeface="Times New Roman" panose="02020603050405020304" pitchFamily="18" charset="0"/>
                            </a:rPr>
                          </m:ctrlPr>
                        </m:dPr>
                        <m:e>
                          <m:sSub>
                            <m:sSubPr>
                              <m:ctrlPr>
                                <a:rPr lang="en-US" altLang="zh-CN" sz="2000"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sz="2000" b="1">
                                  <a:latin typeface="Cambria Math" panose="02040503050406030204" pitchFamily="18" charset="0"/>
                                  <a:ea typeface="华文楷体" panose="02010600040101010101" pitchFamily="2" charset="-122"/>
                                  <a:cs typeface="Times New Roman" panose="02020603050405020304" pitchFamily="18" charset="0"/>
                                </a:rPr>
                                <m:t>𝑠</m:t>
                              </m:r>
                            </m:e>
                            <m:sub>
                              <m:r>
                                <a:rPr lang="en-US" altLang="zh-CN" sz="2000" b="1">
                                  <a:latin typeface="Cambria Math" panose="02040503050406030204" pitchFamily="18" charset="0"/>
                                  <a:ea typeface="华文楷体" panose="02010600040101010101" pitchFamily="2" charset="-122"/>
                                  <a:cs typeface="Times New Roman" panose="02020603050405020304" pitchFamily="18" charset="0"/>
                                </a:rPr>
                                <m:t>1</m:t>
                              </m:r>
                            </m:sub>
                          </m:sSub>
                        </m:e>
                      </m:d>
                      <m:r>
                        <a:rPr lang="en-US" altLang="zh-CN" sz="2000" b="1">
                          <a:latin typeface="Cambria Math" panose="02040503050406030204" pitchFamily="18" charset="0"/>
                          <a:ea typeface="华文楷体" panose="02010600040101010101" pitchFamily="2" charset="-122"/>
                          <a:cs typeface="Times New Roman" panose="02020603050405020304" pitchFamily="18" charset="0"/>
                        </a:rPr>
                        <m:t>←</m:t>
                      </m:r>
                      <m:sSub>
                        <m:sSubPr>
                          <m:ctrlPr>
                            <a:rPr lang="en-US" altLang="zh-CN" sz="2000"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sz="2000"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sz="2000" b="1">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en-US" altLang="zh-CN" sz="2000" b="1" i="1">
                              <a:latin typeface="Cambria Math" panose="02040503050406030204" pitchFamily="18" charset="0"/>
                              <a:ea typeface="华文楷体" panose="02010600040101010101" pitchFamily="2" charset="-122"/>
                              <a:cs typeface="Times New Roman" panose="02020603050405020304" pitchFamily="18" charset="0"/>
                            </a:rPr>
                          </m:ctrlPr>
                        </m:dPr>
                        <m:e>
                          <m:sSub>
                            <m:sSubPr>
                              <m:ctrlPr>
                                <a:rPr lang="en-US" altLang="zh-CN" sz="2000"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sz="2000" b="1">
                                  <a:latin typeface="Cambria Math" panose="02040503050406030204" pitchFamily="18" charset="0"/>
                                  <a:ea typeface="华文楷体" panose="02010600040101010101" pitchFamily="2" charset="-122"/>
                                  <a:cs typeface="Times New Roman" panose="02020603050405020304" pitchFamily="18" charset="0"/>
                                </a:rPr>
                                <m:t>𝑠</m:t>
                              </m:r>
                            </m:e>
                            <m:sub>
                              <m:r>
                                <a:rPr lang="en-US" altLang="zh-CN" sz="2000" b="1">
                                  <a:latin typeface="Cambria Math" panose="02040503050406030204" pitchFamily="18" charset="0"/>
                                  <a:ea typeface="华文楷体" panose="02010600040101010101" pitchFamily="2" charset="-122"/>
                                  <a:cs typeface="Times New Roman" panose="02020603050405020304" pitchFamily="18" charset="0"/>
                                </a:rPr>
                                <m:t>1</m:t>
                              </m:r>
                            </m:sub>
                          </m:sSub>
                        </m:e>
                      </m:d>
                      <m:r>
                        <a:rPr lang="en-US" altLang="zh-CN" sz="2000" b="1">
                          <a:latin typeface="Cambria Math" panose="02040503050406030204" pitchFamily="18" charset="0"/>
                          <a:ea typeface="华文楷体" panose="02010600040101010101" pitchFamily="2" charset="-122"/>
                          <a:cs typeface="Times New Roman" panose="02020603050405020304" pitchFamily="18" charset="0"/>
                        </a:rPr>
                        <m:t>+</m:t>
                      </m:r>
                      <m:r>
                        <a:rPr lang="en-US" altLang="zh-CN" sz="2000" b="1">
                          <a:latin typeface="Cambria Math" panose="02040503050406030204" pitchFamily="18" charset="0"/>
                          <a:ea typeface="华文楷体" panose="02010600040101010101" pitchFamily="2" charset="-122"/>
                          <a:cs typeface="Times New Roman" panose="02020603050405020304" pitchFamily="18" charset="0"/>
                        </a:rPr>
                        <m:t>𝛼</m:t>
                      </m:r>
                      <m:r>
                        <a:rPr lang="en-US" altLang="zh-CN" sz="2000" b="1">
                          <a:latin typeface="Cambria Math" panose="02040503050406030204" pitchFamily="18" charset="0"/>
                          <a:ea typeface="华文楷体" panose="02010600040101010101" pitchFamily="2" charset="-122"/>
                          <a:cs typeface="Times New Roman" panose="02020603050405020304" pitchFamily="18" charset="0"/>
                        </a:rPr>
                        <m:t>[</m:t>
                      </m:r>
                      <m:r>
                        <a:rPr lang="en-US" altLang="zh-CN" sz="2000" b="1">
                          <a:latin typeface="Cambria Math" panose="02040503050406030204" pitchFamily="18" charset="0"/>
                          <a:ea typeface="华文楷体" panose="02010600040101010101" pitchFamily="2" charset="-122"/>
                          <a:cs typeface="Times New Roman" panose="02020603050405020304" pitchFamily="18" charset="0"/>
                        </a:rPr>
                        <m:t>𝑅</m:t>
                      </m:r>
                      <m:d>
                        <m:dPr>
                          <m:ctrlPr>
                            <a:rPr lang="en-US" altLang="zh-CN" sz="2000" b="1" i="1">
                              <a:latin typeface="Cambria Math" panose="02040503050406030204" pitchFamily="18" charset="0"/>
                              <a:ea typeface="华文楷体" panose="02010600040101010101" pitchFamily="2" charset="-122"/>
                              <a:cs typeface="Times New Roman" panose="02020603050405020304" pitchFamily="18" charset="0"/>
                            </a:rPr>
                          </m:ctrlPr>
                        </m:dPr>
                        <m:e>
                          <m:sSub>
                            <m:sSubPr>
                              <m:ctrlPr>
                                <a:rPr lang="en-US" altLang="zh-CN" sz="2000"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sz="2000" b="1">
                                  <a:latin typeface="Cambria Math" panose="02040503050406030204" pitchFamily="18" charset="0"/>
                                  <a:ea typeface="华文楷体" panose="02010600040101010101" pitchFamily="2" charset="-122"/>
                                  <a:cs typeface="Times New Roman" panose="02020603050405020304" pitchFamily="18" charset="0"/>
                                </a:rPr>
                                <m:t>𝑠</m:t>
                              </m:r>
                            </m:e>
                            <m:sub>
                              <m:r>
                                <a:rPr lang="en-US" altLang="zh-CN" sz="2000" b="1">
                                  <a:latin typeface="Cambria Math" panose="02040503050406030204" pitchFamily="18" charset="0"/>
                                  <a:ea typeface="华文楷体" panose="02010600040101010101" pitchFamily="2" charset="-122"/>
                                  <a:cs typeface="Times New Roman" panose="02020603050405020304" pitchFamily="18" charset="0"/>
                                </a:rPr>
                                <m:t>1</m:t>
                              </m:r>
                            </m:sub>
                          </m:sSub>
                          <m:r>
                            <a:rPr lang="en-US" altLang="zh-CN" sz="2000" b="1">
                              <a:latin typeface="Cambria Math" panose="02040503050406030204" pitchFamily="18" charset="0"/>
                              <a:ea typeface="华文楷体" panose="02010600040101010101" pitchFamily="2" charset="-122"/>
                              <a:cs typeface="Times New Roman" panose="02020603050405020304" pitchFamily="18" charset="0"/>
                            </a:rPr>
                            <m:t>,</m:t>
                          </m:r>
                          <m:r>
                            <a:rPr lang="zh-CN" altLang="en-US" sz="2000" b="1">
                              <a:latin typeface="Cambria Math" panose="02040503050406030204" pitchFamily="18" charset="0"/>
                              <a:ea typeface="华文楷体" panose="02010600040101010101" pitchFamily="2" charset="-122"/>
                              <a:cs typeface="Times New Roman" panose="02020603050405020304" pitchFamily="18" charset="0"/>
                            </a:rPr>
                            <m:t>上</m:t>
                          </m:r>
                          <m:r>
                            <a:rPr lang="en-US" altLang="zh-CN" sz="2000" b="1">
                              <a:latin typeface="Cambria Math" panose="02040503050406030204" pitchFamily="18" charset="0"/>
                              <a:ea typeface="华文楷体" panose="02010600040101010101" pitchFamily="2" charset="-122"/>
                              <a:cs typeface="Times New Roman" panose="02020603050405020304" pitchFamily="18" charset="0"/>
                            </a:rPr>
                            <m:t>,</m:t>
                          </m:r>
                          <m:sSub>
                            <m:sSubPr>
                              <m:ctrlPr>
                                <a:rPr lang="en-US" altLang="zh-CN" sz="2000"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sz="2000" b="1">
                                  <a:latin typeface="Cambria Math" panose="02040503050406030204" pitchFamily="18" charset="0"/>
                                  <a:ea typeface="华文楷体" panose="02010600040101010101" pitchFamily="2" charset="-122"/>
                                  <a:cs typeface="Times New Roman" panose="02020603050405020304" pitchFamily="18" charset="0"/>
                                </a:rPr>
                                <m:t>𝑠</m:t>
                              </m:r>
                            </m:e>
                            <m:sub>
                              <m:r>
                                <a:rPr lang="en-US" altLang="zh-CN" sz="2000" b="1">
                                  <a:latin typeface="Cambria Math" panose="02040503050406030204" pitchFamily="18" charset="0"/>
                                  <a:ea typeface="华文楷体" panose="02010600040101010101" pitchFamily="2" charset="-122"/>
                                  <a:cs typeface="Times New Roman" panose="02020603050405020304" pitchFamily="18" charset="0"/>
                                </a:rPr>
                                <m:t>4</m:t>
                              </m:r>
                            </m:sub>
                          </m:sSub>
                        </m:e>
                      </m:d>
                      <m:r>
                        <a:rPr lang="en-US" altLang="zh-CN" sz="2000" b="1">
                          <a:latin typeface="Cambria Math" panose="02040503050406030204" pitchFamily="18" charset="0"/>
                          <a:ea typeface="华文楷体" panose="02010600040101010101" pitchFamily="2" charset="-122"/>
                          <a:cs typeface="Times New Roman" panose="02020603050405020304" pitchFamily="18" charset="0"/>
                        </a:rPr>
                        <m:t>+</m:t>
                      </m:r>
                      <m:r>
                        <a:rPr lang="en-US" altLang="zh-CN" sz="2000" b="1">
                          <a:latin typeface="Cambria Math" panose="02040503050406030204" pitchFamily="18" charset="0"/>
                          <a:ea typeface="华文楷体" panose="02010600040101010101" pitchFamily="2" charset="-122"/>
                          <a:cs typeface="Times New Roman" panose="02020603050405020304" pitchFamily="18" charset="0"/>
                        </a:rPr>
                        <m:t>𝛾</m:t>
                      </m:r>
                      <m:sSub>
                        <m:sSubPr>
                          <m:ctrlPr>
                            <a:rPr lang="en-US" altLang="zh-CN" sz="2000"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sz="2000"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sz="2000" b="1">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en-US" altLang="zh-CN" sz="2000" b="1" i="1">
                              <a:latin typeface="Cambria Math" panose="02040503050406030204" pitchFamily="18" charset="0"/>
                              <a:ea typeface="华文楷体" panose="02010600040101010101" pitchFamily="2" charset="-122"/>
                              <a:cs typeface="Times New Roman" panose="02020603050405020304" pitchFamily="18" charset="0"/>
                            </a:rPr>
                          </m:ctrlPr>
                        </m:dPr>
                        <m:e>
                          <m:sSub>
                            <m:sSubPr>
                              <m:ctrlPr>
                                <a:rPr lang="en-US" altLang="zh-CN" sz="2000"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sz="2000" b="1">
                                  <a:latin typeface="Cambria Math" panose="02040503050406030204" pitchFamily="18" charset="0"/>
                                  <a:ea typeface="华文楷体" panose="02010600040101010101" pitchFamily="2" charset="-122"/>
                                  <a:cs typeface="Times New Roman" panose="02020603050405020304" pitchFamily="18" charset="0"/>
                                </a:rPr>
                                <m:t>𝑠</m:t>
                              </m:r>
                            </m:e>
                            <m:sub>
                              <m:r>
                                <a:rPr lang="en-US" altLang="zh-CN" sz="2000" b="1">
                                  <a:latin typeface="Cambria Math" panose="02040503050406030204" pitchFamily="18" charset="0"/>
                                  <a:ea typeface="华文楷体" panose="02010600040101010101" pitchFamily="2" charset="-122"/>
                                  <a:cs typeface="Times New Roman" panose="02020603050405020304" pitchFamily="18" charset="0"/>
                                </a:rPr>
                                <m:t>4</m:t>
                              </m:r>
                            </m:sub>
                          </m:sSub>
                        </m:e>
                      </m:d>
                      <m:r>
                        <a:rPr lang="en-US" altLang="zh-CN" sz="2000" b="1">
                          <a:latin typeface="Cambria Math" panose="02040503050406030204" pitchFamily="18" charset="0"/>
                          <a:ea typeface="华文楷体" panose="02010600040101010101" pitchFamily="2" charset="-122"/>
                          <a:cs typeface="Times New Roman" panose="02020603050405020304" pitchFamily="18" charset="0"/>
                        </a:rPr>
                        <m:t>−</m:t>
                      </m:r>
                      <m:sSub>
                        <m:sSubPr>
                          <m:ctrlPr>
                            <a:rPr lang="en-US" altLang="zh-CN" sz="2000"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sz="2000"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sz="2000" b="1">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en-US" altLang="zh-CN" sz="2000" b="1" i="1">
                              <a:latin typeface="Cambria Math" panose="02040503050406030204" pitchFamily="18" charset="0"/>
                              <a:ea typeface="华文楷体" panose="02010600040101010101" pitchFamily="2" charset="-122"/>
                              <a:cs typeface="Times New Roman" panose="02020603050405020304" pitchFamily="18" charset="0"/>
                            </a:rPr>
                          </m:ctrlPr>
                        </m:dPr>
                        <m:e>
                          <m:sSub>
                            <m:sSubPr>
                              <m:ctrlPr>
                                <a:rPr lang="en-US" altLang="zh-CN" sz="2000"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sz="2000" b="1">
                                  <a:latin typeface="Cambria Math" panose="02040503050406030204" pitchFamily="18" charset="0"/>
                                  <a:ea typeface="华文楷体" panose="02010600040101010101" pitchFamily="2" charset="-122"/>
                                  <a:cs typeface="Times New Roman" panose="02020603050405020304" pitchFamily="18" charset="0"/>
                                </a:rPr>
                                <m:t>𝑠</m:t>
                              </m:r>
                            </m:e>
                            <m:sub>
                              <m:r>
                                <a:rPr lang="en-US" altLang="zh-CN" sz="2000" b="1">
                                  <a:latin typeface="Cambria Math" panose="02040503050406030204" pitchFamily="18" charset="0"/>
                                  <a:ea typeface="华文楷体" panose="02010600040101010101" pitchFamily="2" charset="-122"/>
                                  <a:cs typeface="Times New Roman" panose="02020603050405020304" pitchFamily="18" charset="0"/>
                                </a:rPr>
                                <m:t>1</m:t>
                              </m:r>
                            </m:sub>
                          </m:sSub>
                        </m:e>
                      </m:d>
                      <m:r>
                        <a:rPr lang="en-US" altLang="zh-CN" sz="2000" b="1">
                          <a:latin typeface="Cambria Math" panose="02040503050406030204" pitchFamily="18" charset="0"/>
                          <a:ea typeface="华文楷体" panose="02010600040101010101" pitchFamily="2" charset="-122"/>
                          <a:cs typeface="Times New Roman" panose="02020603050405020304" pitchFamily="18" charset="0"/>
                        </a:rPr>
                        <m:t>]</m:t>
                      </m:r>
                    </m:oMath>
                  </m:oMathPara>
                </a14:m>
                <a:endParaRPr lang="en-US" altLang="zh-CN" sz="2000"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               </a:t>
                </a:r>
                <a14:m>
                  <m:oMath xmlns:m="http://schemas.openxmlformats.org/officeDocument/2006/math">
                    <m:r>
                      <a:rPr lang="en-US" altLang="zh-CN" sz="2000" b="1">
                        <a:latin typeface="Cambria Math" panose="02040503050406030204" pitchFamily="18" charset="0"/>
                        <a:ea typeface="华文楷体" panose="02010600040101010101" pitchFamily="2" charset="-122"/>
                        <a:cs typeface="Times New Roman" panose="02020603050405020304" pitchFamily="18" charset="0"/>
                      </a:rPr>
                      <m:t>=0.1+0.5×[0+0.99×0.3−0.1]=0.199</m:t>
                    </m:r>
                  </m:oMath>
                </a14:m>
                <a:endParaRPr lang="en-US" altLang="zh-CN" sz="2000" b="1"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33" name="矩形 32">
                <a:extLst>
                  <a:ext uri="{FF2B5EF4-FFF2-40B4-BE49-F238E27FC236}">
                    <a16:creationId xmlns:a16="http://schemas.microsoft.com/office/drawing/2014/main" id="{2B68DC49-142C-4FCC-81C8-C667F91A4BF3}"/>
                  </a:ext>
                </a:extLst>
              </p:cNvPr>
              <p:cNvSpPr>
                <a:spLocks noRot="1" noChangeAspect="1" noMove="1" noResize="1" noEditPoints="1" noAdjustHandles="1" noChangeArrowheads="1" noChangeShapeType="1" noTextEdit="1"/>
              </p:cNvSpPr>
              <p:nvPr/>
            </p:nvSpPr>
            <p:spPr>
              <a:xfrm>
                <a:off x="367502" y="4403114"/>
                <a:ext cx="5989825" cy="1938992"/>
              </a:xfrm>
              <a:prstGeom prst="rect">
                <a:avLst/>
              </a:prstGeom>
              <a:blipFill>
                <a:blip r:embed="rId7"/>
                <a:stretch>
                  <a:fillRect l="-1017" t="-1258" b="-2830"/>
                </a:stretch>
              </a:blipFill>
            </p:spPr>
            <p:txBody>
              <a:bodyPr/>
              <a:lstStyle/>
              <a:p>
                <a:r>
                  <a:rPr lang="zh-CN" altLang="en-US">
                    <a:noFill/>
                  </a:rPr>
                  <a:t> </a:t>
                </a:r>
              </a:p>
            </p:txBody>
          </p:sp>
        </mc:Fallback>
      </mc:AlternateContent>
      <p:cxnSp>
        <p:nvCxnSpPr>
          <p:cNvPr id="34" name="直接箭头连接符 33">
            <a:extLst>
              <a:ext uri="{FF2B5EF4-FFF2-40B4-BE49-F238E27FC236}">
                <a16:creationId xmlns:a16="http://schemas.microsoft.com/office/drawing/2014/main" id="{7D7A6778-65BB-41E4-ABD5-02EBF566ADA8}"/>
              </a:ext>
            </a:extLst>
          </p:cNvPr>
          <p:cNvCxnSpPr>
            <a:cxnSpLocks/>
          </p:cNvCxnSpPr>
          <p:nvPr/>
        </p:nvCxnSpPr>
        <p:spPr>
          <a:xfrm>
            <a:off x="8878006" y="4243141"/>
            <a:ext cx="0" cy="2957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矩形 34">
                <a:extLst>
                  <a:ext uri="{FF2B5EF4-FFF2-40B4-BE49-F238E27FC236}">
                    <a16:creationId xmlns:a16="http://schemas.microsoft.com/office/drawing/2014/main" id="{871E24D1-EF95-4F9E-8FBE-F7DBFAB43E42}"/>
                  </a:ext>
                </a:extLst>
              </p:cNvPr>
              <p:cNvSpPr/>
              <p:nvPr/>
            </p:nvSpPr>
            <p:spPr>
              <a:xfrm>
                <a:off x="8558979" y="4547580"/>
                <a:ext cx="732893"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1600" i="1" smtClean="0">
                          <a:solidFill>
                            <a:srgbClr val="FF0000"/>
                          </a:solidFill>
                          <a:latin typeface="Cambria Math" panose="02040503050406030204" pitchFamily="18" charset="0"/>
                          <a:ea typeface="黑体" pitchFamily="49" charset="-122"/>
                        </a:rPr>
                        <m:t>0.1</m:t>
                      </m:r>
                      <m:r>
                        <a:rPr lang="en-US" altLang="zh-CN" sz="1600" b="0" i="1" smtClean="0">
                          <a:solidFill>
                            <a:srgbClr val="FF0000"/>
                          </a:solidFill>
                          <a:latin typeface="Cambria Math" panose="02040503050406030204" pitchFamily="18" charset="0"/>
                          <a:ea typeface="黑体" pitchFamily="49" charset="-122"/>
                        </a:rPr>
                        <m:t>99</m:t>
                      </m:r>
                    </m:oMath>
                  </m:oMathPara>
                </a14:m>
                <a:endParaRPr lang="zh-CN" altLang="en-US" sz="16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35" name="矩形 34">
                <a:extLst>
                  <a:ext uri="{FF2B5EF4-FFF2-40B4-BE49-F238E27FC236}">
                    <a16:creationId xmlns:a16="http://schemas.microsoft.com/office/drawing/2014/main" id="{871E24D1-EF95-4F9E-8FBE-F7DBFAB43E42}"/>
                  </a:ext>
                </a:extLst>
              </p:cNvPr>
              <p:cNvSpPr>
                <a:spLocks noRot="1" noChangeAspect="1" noMove="1" noResize="1" noEditPoints="1" noAdjustHandles="1" noChangeArrowheads="1" noChangeShapeType="1" noTextEdit="1"/>
              </p:cNvSpPr>
              <p:nvPr/>
            </p:nvSpPr>
            <p:spPr>
              <a:xfrm>
                <a:off x="8558979" y="4547580"/>
                <a:ext cx="732893" cy="338554"/>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048503CC-501D-EE1E-DB57-993667885063}"/>
                  </a:ext>
                </a:extLst>
              </p:cNvPr>
              <p:cNvSpPr txBox="1"/>
              <p:nvPr/>
            </p:nvSpPr>
            <p:spPr>
              <a:xfrm>
                <a:off x="184817" y="1369748"/>
                <a:ext cx="6790005" cy="2862322"/>
              </a:xfrm>
              <a:prstGeom prst="rect">
                <a:avLst/>
              </a:prstGeom>
              <a:noFill/>
              <a:ln>
                <a:solidFill>
                  <a:schemeClr val="tx1"/>
                </a:solidFill>
              </a:ln>
            </p:spPr>
            <p:txBody>
              <a:bodyPr wrap="square" rtlCol="0">
                <a:spAutoFit/>
              </a:bodyPr>
              <a:lstStyle/>
              <a:p>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初始化</a:t>
                </a:r>
                <a14:m>
                  <m:oMath xmlns:m="http://schemas.openxmlformats.org/officeDocument/2006/math">
                    <m:sSub>
                      <m:sSub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𝜋</m:t>
                        </m:r>
                      </m:sub>
                    </m:sSub>
                  </m:oMath>
                </a14:m>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函数</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循环</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初始化</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s</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为初始状态</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循环</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14:m>
                  <m:oMath xmlns:m="http://schemas.openxmlformats.org/officeDocument/2006/math">
                    <m:r>
                      <a:rPr lang="en-US" altLang="zh-CN" b="1">
                        <a:latin typeface="Cambria Math" panose="02040503050406030204" pitchFamily="18" charset="0"/>
                        <a:ea typeface="华文楷体" panose="02010600040101010101" pitchFamily="2" charset="-122"/>
                        <a:cs typeface="Times New Roman" panose="02020603050405020304" pitchFamily="18" charset="0"/>
                      </a:rPr>
                      <m:t>𝑎</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𝜋</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oMath>
                </a14:m>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执行动作</a:t>
                </a:r>
                <a14:m>
                  <m:oMath xmlns:m="http://schemas.openxmlformats.org/officeDocument/2006/math">
                    <m:r>
                      <a:rPr lang="en-US" altLang="zh-CN" b="1">
                        <a:latin typeface="Cambria Math" panose="02040503050406030204" pitchFamily="18" charset="0"/>
                        <a:ea typeface="华文楷体" panose="02010600040101010101" pitchFamily="2" charset="-122"/>
                        <a:cs typeface="Times New Roman" panose="02020603050405020304" pitchFamily="18" charset="0"/>
                      </a:rPr>
                      <m:t>𝑎</m:t>
                    </m:r>
                  </m:oMath>
                </a14:m>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，观察奖励</a:t>
                </a:r>
                <a14:m>
                  <m:oMath xmlns:m="http://schemas.openxmlformats.org/officeDocument/2006/math">
                    <m:r>
                      <a:rPr lang="en-US" altLang="zh-CN" b="1">
                        <a:latin typeface="Cambria Math" panose="02040503050406030204" pitchFamily="18" charset="0"/>
                        <a:ea typeface="华文楷体" panose="02010600040101010101" pitchFamily="2" charset="-122"/>
                        <a:cs typeface="Times New Roman" panose="02020603050405020304" pitchFamily="18" charset="0"/>
                      </a:rPr>
                      <m:t>𝑅</m:t>
                    </m:r>
                  </m:oMath>
                </a14:m>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和下一个状态</a:t>
                </a:r>
                <a14:m>
                  <m:oMath xmlns:m="http://schemas.openxmlformats.org/officeDocument/2006/math">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oMath>
                </a14:m>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更新</a:t>
                </a:r>
                <a14:m>
                  <m:oMath xmlns:m="http://schemas.openxmlformats.org/officeDocument/2006/math">
                    <m:sSub>
                      <m:sSub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e>
                    </m:d>
                    <m:r>
                      <a:rPr lang="en-US" altLang="zh-CN" b="1">
                        <a:latin typeface="Cambria Math" panose="02040503050406030204" pitchFamily="18" charset="0"/>
                        <a:ea typeface="华文楷体" panose="02010600040101010101" pitchFamily="2" charset="-122"/>
                        <a:cs typeface="Times New Roman" panose="02020603050405020304" pitchFamily="18" charset="0"/>
                      </a:rPr>
                      <m:t>←</m:t>
                    </m:r>
                    <m:sSub>
                      <m:sSub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e>
                    </m:d>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𝛼</m:t>
                    </m:r>
                    <m:d>
                      <m:dPr>
                        <m:begChr m:val="["/>
                        <m:endChr m:val="]"/>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𝑅</m:t>
                        </m:r>
                        <m:d>
                          <m:d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sSup>
                              <m:sSup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p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𝑎</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b="1">
                                    <a:latin typeface="Cambria Math" panose="02040503050406030204" pitchFamily="18" charset="0"/>
                                    <a:ea typeface="华文楷体" panose="02010600040101010101" pitchFamily="2" charset="-122"/>
                                    <a:cs typeface="Times New Roman" panose="02020603050405020304" pitchFamily="18" charset="0"/>
                                  </a:rPr>
                                  <m:t>′</m:t>
                                </m:r>
                              </m:sup>
                            </m:sSup>
                          </m:e>
                        </m:d>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𝛾</m:t>
                        </m:r>
                        <m:sSub>
                          <m:sSub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dPr>
                          <m:e>
                            <m:sSup>
                              <m:sSup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p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b="1">
                                    <a:latin typeface="Cambria Math" panose="02040503050406030204" pitchFamily="18" charset="0"/>
                                    <a:ea typeface="华文楷体" panose="02010600040101010101" pitchFamily="2" charset="-122"/>
                                    <a:cs typeface="Times New Roman" panose="02020603050405020304" pitchFamily="18" charset="0"/>
                                  </a:rPr>
                                  <m:t>′</m:t>
                                </m:r>
                              </m:sup>
                            </m:sSup>
                          </m:e>
                        </m:d>
                        <m:r>
                          <a:rPr lang="en-US" altLang="zh-CN" b="1">
                            <a:latin typeface="Cambria Math" panose="02040503050406030204" pitchFamily="18" charset="0"/>
                            <a:ea typeface="华文楷体" panose="02010600040101010101" pitchFamily="2" charset="-122"/>
                            <a:cs typeface="Times New Roman" panose="02020603050405020304" pitchFamily="18" charset="0"/>
                          </a:rPr>
                          <m:t>−</m:t>
                        </m:r>
                        <m:sSub>
                          <m:sSub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e>
                        </m:d>
                      </m:e>
                    </m:d>
                  </m:oMath>
                </a14:m>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14:m>
                  <m:oMath xmlns:m="http://schemas.openxmlformats.org/officeDocument/2006/math">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r>
                      <a:rPr lang="en-US" altLang="zh-CN" b="1">
                        <a:latin typeface="Cambria Math" panose="02040503050406030204" pitchFamily="18" charset="0"/>
                        <a:ea typeface="华文楷体" panose="02010600040101010101" pitchFamily="2" charset="-122"/>
                        <a:cs typeface="Times New Roman" panose="02020603050405020304" pitchFamily="18" charset="0"/>
                      </a:rPr>
                      <m:t>′</m:t>
                    </m:r>
                  </m:oMath>
                </a14:m>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直到</a:t>
                </a:r>
                <a14:m>
                  <m:oMath xmlns:m="http://schemas.openxmlformats.org/officeDocument/2006/math">
                    <m:r>
                      <a:rPr lang="en-US" altLang="zh-CN" b="1">
                        <a:latin typeface="Cambria Math" panose="02040503050406030204" pitchFamily="18" charset="0"/>
                        <a:ea typeface="华文楷体" panose="02010600040101010101" pitchFamily="2" charset="-122"/>
                        <a:cs typeface="Times New Roman" panose="02020603050405020304" pitchFamily="18" charset="0"/>
                      </a:rPr>
                      <m:t>𝑠</m:t>
                    </m:r>
                  </m:oMath>
                </a14:m>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是终止状态</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直到</a:t>
                </a:r>
                <a14:m>
                  <m:oMath xmlns:m="http://schemas.openxmlformats.org/officeDocument/2006/math">
                    <m:sSub>
                      <m:sSubPr>
                        <m:ctrlPr>
                          <a:rPr lang="en-US" altLang="zh-CN"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b="1">
                            <a:latin typeface="Cambria Math" panose="02040503050406030204" pitchFamily="18" charset="0"/>
                            <a:ea typeface="华文楷体" panose="02010600040101010101" pitchFamily="2" charset="-122"/>
                            <a:cs typeface="Times New Roman" panose="02020603050405020304" pitchFamily="18" charset="0"/>
                          </a:rPr>
                          <m:t>𝜋</m:t>
                        </m:r>
                      </m:sub>
                    </m:sSub>
                  </m:oMath>
                </a14:m>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收敛</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2" name="文本框 1">
                <a:extLst>
                  <a:ext uri="{FF2B5EF4-FFF2-40B4-BE49-F238E27FC236}">
                    <a16:creationId xmlns:a16="http://schemas.microsoft.com/office/drawing/2014/main" id="{048503CC-501D-EE1E-DB57-993667885063}"/>
                  </a:ext>
                </a:extLst>
              </p:cNvPr>
              <p:cNvSpPr txBox="1">
                <a:spLocks noRot="1" noChangeAspect="1" noMove="1" noResize="1" noEditPoints="1" noAdjustHandles="1" noChangeArrowheads="1" noChangeShapeType="1" noTextEdit="1"/>
              </p:cNvSpPr>
              <p:nvPr/>
            </p:nvSpPr>
            <p:spPr>
              <a:xfrm>
                <a:off x="184817" y="1369748"/>
                <a:ext cx="6790005" cy="2862322"/>
              </a:xfrm>
              <a:prstGeom prst="rect">
                <a:avLst/>
              </a:prstGeom>
              <a:blipFill>
                <a:blip r:embed="rId9"/>
                <a:stretch>
                  <a:fillRect l="-627" t="-849" b="-2548"/>
                </a:stretch>
              </a:blipFill>
              <a:ln>
                <a:solidFill>
                  <a:schemeClr val="tx1"/>
                </a:solidFill>
              </a:ln>
            </p:spPr>
            <p:txBody>
              <a:bodyPr/>
              <a:lstStyle/>
              <a:p>
                <a:r>
                  <a:rPr lang="zh-CN" altLang="en-US">
                    <a:noFill/>
                  </a:rPr>
                  <a:t> </a:t>
                </a:r>
              </a:p>
            </p:txBody>
          </p:sp>
        </mc:Fallback>
      </mc:AlternateContent>
    </p:spTree>
    <p:extLst>
      <p:ext uri="{BB962C8B-B14F-4D97-AF65-F5344CB8AC3E}">
        <p14:creationId xmlns:p14="http://schemas.microsoft.com/office/powerpoint/2010/main" val="1141477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基于价值的强化学习算法</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p:pic>
        <p:nvPicPr>
          <p:cNvPr id="2" name="图片 1">
            <a:extLst>
              <a:ext uri="{FF2B5EF4-FFF2-40B4-BE49-F238E27FC236}">
                <a16:creationId xmlns:a16="http://schemas.microsoft.com/office/drawing/2014/main" id="{5E40612E-05E3-4FBE-ADB3-A73207570049}"/>
              </a:ext>
            </a:extLst>
          </p:cNvPr>
          <p:cNvPicPr>
            <a:picLocks noChangeAspect="1"/>
          </p:cNvPicPr>
          <p:nvPr/>
        </p:nvPicPr>
        <p:blipFill>
          <a:blip r:embed="rId3"/>
          <a:stretch>
            <a:fillRect/>
          </a:stretch>
        </p:blipFill>
        <p:spPr>
          <a:xfrm>
            <a:off x="1258086" y="1514200"/>
            <a:ext cx="9675827" cy="4688921"/>
          </a:xfrm>
          <a:prstGeom prst="rect">
            <a:avLst/>
          </a:prstGeom>
        </p:spPr>
      </p:pic>
      <p:sp>
        <p:nvSpPr>
          <p:cNvPr id="11" name="矩形 10">
            <a:extLst>
              <a:ext uri="{FF2B5EF4-FFF2-40B4-BE49-F238E27FC236}">
                <a16:creationId xmlns:a16="http://schemas.microsoft.com/office/drawing/2014/main" id="{FC05BDFD-071F-BFB2-580D-1E386DD27E87}"/>
              </a:ext>
            </a:extLst>
          </p:cNvPr>
          <p:cNvSpPr/>
          <p:nvPr/>
        </p:nvSpPr>
        <p:spPr>
          <a:xfrm>
            <a:off x="6718301" y="4137300"/>
            <a:ext cx="3056478" cy="1206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策略评估是迭代求解的。如果要等到策略评估函数收敛，可能会降低算法执行的效率。</a:t>
            </a:r>
          </a:p>
        </p:txBody>
      </p:sp>
      <p:cxnSp>
        <p:nvCxnSpPr>
          <p:cNvPr id="13" name="连接符: 曲线 12">
            <a:extLst>
              <a:ext uri="{FF2B5EF4-FFF2-40B4-BE49-F238E27FC236}">
                <a16:creationId xmlns:a16="http://schemas.microsoft.com/office/drawing/2014/main" id="{F780BDED-5923-E150-C030-8FF1A287B04B}"/>
              </a:ext>
            </a:extLst>
          </p:cNvPr>
          <p:cNvCxnSpPr>
            <a:cxnSpLocks/>
            <a:endCxn id="11" idx="1"/>
          </p:cNvCxnSpPr>
          <p:nvPr/>
        </p:nvCxnSpPr>
        <p:spPr>
          <a:xfrm>
            <a:off x="4699000" y="4241800"/>
            <a:ext cx="2019301" cy="49875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8373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基于价值的强化学习算法</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DD2A4AD0-F7D1-4DD0-A54A-8739952578C5}"/>
                  </a:ext>
                </a:extLst>
              </p:cNvPr>
              <p:cNvSpPr/>
              <p:nvPr/>
            </p:nvSpPr>
            <p:spPr>
              <a:xfrm>
                <a:off x="8268689" y="2921168"/>
                <a:ext cx="3750871" cy="1015663"/>
              </a:xfrm>
              <a:prstGeom prst="rect">
                <a:avLst/>
              </a:prstGeom>
            </p:spPr>
            <p:txBody>
              <a:bodyPr wrap="square">
                <a:spAutoFit/>
              </a:bodyPr>
              <a:lstStyle/>
              <a:p>
                <a:pPr latinLnBrk="1">
                  <a:lnSpc>
                    <a:spcPct val="150000"/>
                  </a:lnSpc>
                  <a:spcAft>
                    <a:spcPts val="0"/>
                  </a:spcAft>
                </a:pPr>
                <a14:m>
                  <m:oMathPara xmlns:m="http://schemas.openxmlformats.org/officeDocument/2006/math">
                    <m:oMathParaPr>
                      <m:jc m:val="centerGroup"/>
                    </m:oMathParaPr>
                    <m:oMath xmlns:m="http://schemas.openxmlformats.org/officeDocument/2006/math">
                      <m:r>
                        <a:rPr lang="en-US" altLang="zh-CN" sz="20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d>
                        <m:dPr>
                          <m:ctrlPr>
                            <a:rPr lang="zh-CN"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0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e>
                      </m:d>
                      <m:r>
                        <m:rPr>
                          <m:aln/>
                        </m:rPr>
                        <a:rPr lang="en-US" altLang="zh-CN" sz="20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m:rPr>
                          <m:sty m:val="p"/>
                        </m:rPr>
                        <a:rPr lang="en-US" altLang="zh-CN" sz="20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argma</m:t>
                      </m:r>
                      <m:sSub>
                        <m:sSubPr>
                          <m:ctrlPr>
                            <a:rPr lang="zh-CN"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20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x</m:t>
                          </m:r>
                        </m:e>
                        <m:sub>
                          <m:r>
                            <m:rPr>
                              <m:sty m:val="p"/>
                            </m:rPr>
                            <a:rPr lang="en-US" altLang="zh-CN" sz="20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a</m:t>
                          </m:r>
                        </m:sub>
                      </m:sSub>
                      <m:sSub>
                        <m:sSubPr>
                          <m:ctrlPr>
                            <a:rPr lang="zh-CN"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𝑞</m:t>
                          </m:r>
                        </m:e>
                        <m:sub>
                          <m:r>
                            <a:rPr lang="en-US" altLang="zh-CN" sz="20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sub>
                      </m:sSub>
                      <m:r>
                        <a:rPr lang="en-US" altLang="zh-CN" sz="20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20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20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20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r>
                        <a:rPr lang="en-US" altLang="zh-CN" sz="20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oMath>
                    <m:oMath xmlns:m="http://schemas.openxmlformats.org/officeDocument/2006/math">
                      <m:sSub>
                        <m:sSubPr>
                          <m:ctrlPr>
                            <a:rPr lang="zh-CN"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sz="20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zh-CN"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0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e>
                      </m:d>
                      <m:r>
                        <m:rPr>
                          <m:aln/>
                        </m:rPr>
                        <a:rPr lang="en-US" altLang="zh-CN" sz="20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𝑞</m:t>
                          </m:r>
                        </m:e>
                        <m:sub>
                          <m:r>
                            <a:rPr lang="en-US" altLang="zh-CN" sz="20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sub>
                      </m:sSub>
                      <m:r>
                        <a:rPr lang="en-US" altLang="zh-CN" sz="20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20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20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20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r>
                        <a:rPr lang="en-US" altLang="zh-CN" sz="20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20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20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oMath>
                  </m:oMathPara>
                </a14:m>
                <a:endParaRPr lang="zh-CN" altLang="zh-CN" sz="2000"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7" name="矩形 6">
                <a:extLst>
                  <a:ext uri="{FF2B5EF4-FFF2-40B4-BE49-F238E27FC236}">
                    <a16:creationId xmlns:a16="http://schemas.microsoft.com/office/drawing/2014/main" id="{DD2A4AD0-F7D1-4DD0-A54A-8739952578C5}"/>
                  </a:ext>
                </a:extLst>
              </p:cNvPr>
              <p:cNvSpPr>
                <a:spLocks noRot="1" noChangeAspect="1" noMove="1" noResize="1" noEditPoints="1" noAdjustHandles="1" noChangeArrowheads="1" noChangeShapeType="1" noTextEdit="1"/>
              </p:cNvSpPr>
              <p:nvPr/>
            </p:nvSpPr>
            <p:spPr>
              <a:xfrm>
                <a:off x="8268689" y="2921168"/>
                <a:ext cx="3750871" cy="1015663"/>
              </a:xfrm>
              <a:prstGeom prst="rect">
                <a:avLst/>
              </a:prstGeom>
              <a:blipFill>
                <a:blip r:embed="rId3"/>
                <a:stretch>
                  <a:fillRect/>
                </a:stretch>
              </a:blipFill>
            </p:spPr>
            <p:txBody>
              <a:bodyPr/>
              <a:lstStyle/>
              <a:p>
                <a:r>
                  <a:rPr lang="zh-CN" altLang="en-US">
                    <a:noFill/>
                  </a:rPr>
                  <a:t> </a:t>
                </a:r>
              </a:p>
            </p:txBody>
          </p:sp>
        </mc:Fallback>
      </mc:AlternateContent>
      <p:sp>
        <p:nvSpPr>
          <p:cNvPr id="8" name="矩形 7">
            <a:extLst>
              <a:ext uri="{FF2B5EF4-FFF2-40B4-BE49-F238E27FC236}">
                <a16:creationId xmlns:a16="http://schemas.microsoft.com/office/drawing/2014/main" id="{F5AA0C19-0C1B-423F-B0FF-9710442C277B}"/>
              </a:ext>
            </a:extLst>
          </p:cNvPr>
          <p:cNvSpPr/>
          <p:nvPr/>
        </p:nvSpPr>
        <p:spPr>
          <a:xfrm>
            <a:off x="8183256" y="2319606"/>
            <a:ext cx="3824988" cy="640816"/>
          </a:xfrm>
          <a:prstGeom prst="rect">
            <a:avLst/>
          </a:prstGeom>
        </p:spPr>
        <p:txBody>
          <a:bodyPr wrap="square">
            <a:spAutoFit/>
          </a:bodyPr>
          <a:lstStyle/>
          <a:p>
            <a:pPr indent="266700" algn="just">
              <a:lnSpc>
                <a:spcPts val="2200"/>
              </a:lnSpc>
              <a:spcBef>
                <a:spcPts val="600"/>
              </a:spcBef>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算法</a:t>
            </a:r>
            <a:r>
              <a:rPr lang="en-US" altLang="zh-CN" dirty="0">
                <a:solidFill>
                  <a:srgbClr val="000000"/>
                </a:solidFill>
                <a:latin typeface="Times New Roman" panose="02020603050405020304" pitchFamily="18" charset="0"/>
                <a:ea typeface="楷体_GB2312"/>
                <a:cs typeface="Times New Roman" panose="02020603050405020304" pitchFamily="18" charset="0"/>
              </a:rPr>
              <a:t>6.5</a:t>
            </a:r>
            <a:r>
              <a:rPr lang="zh-CN" altLang="zh-CN" dirty="0">
                <a:solidFill>
                  <a:srgbClr val="000000"/>
                </a:solidFill>
                <a:latin typeface="Times New Roman" panose="02020603050405020304" pitchFamily="18" charset="0"/>
                <a:ea typeface="楷体_GB2312"/>
                <a:cs typeface="Times New Roman" panose="02020603050405020304" pitchFamily="18" charset="0"/>
              </a:rPr>
              <a:t>中的第</a:t>
            </a:r>
            <a:r>
              <a:rPr lang="en-US" altLang="zh-CN" dirty="0">
                <a:solidFill>
                  <a:srgbClr val="000000"/>
                </a:solidFill>
                <a:latin typeface="Times New Roman" panose="02020603050405020304" pitchFamily="18" charset="0"/>
                <a:ea typeface="楷体_GB2312"/>
                <a:cs typeface="Times New Roman" panose="02020603050405020304" pitchFamily="18" charset="0"/>
              </a:rPr>
              <a:t>4</a:t>
            </a:r>
            <a:r>
              <a:rPr lang="zh-CN" altLang="zh-CN" dirty="0">
                <a:solidFill>
                  <a:srgbClr val="000000"/>
                </a:solidFill>
                <a:latin typeface="Times New Roman" panose="02020603050405020304" pitchFamily="18" charset="0"/>
                <a:ea typeface="楷体_GB2312"/>
                <a:cs typeface="Times New Roman" panose="02020603050405020304" pitchFamily="18" charset="0"/>
              </a:rPr>
              <a:t>行可以拆分成如下两步，即：</a:t>
            </a: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6C69B2F4-8D0C-4A23-A021-A3D518885BF0}"/>
                  </a:ext>
                </a:extLst>
              </p:cNvPr>
              <p:cNvSpPr/>
              <p:nvPr/>
            </p:nvSpPr>
            <p:spPr>
              <a:xfrm>
                <a:off x="8096250" y="4041582"/>
                <a:ext cx="4095750" cy="1769331"/>
              </a:xfrm>
              <a:prstGeom prst="rect">
                <a:avLst/>
              </a:prstGeom>
            </p:spPr>
            <p:txBody>
              <a:bodyPr wrap="square">
                <a:spAutoFit/>
              </a:bodyPr>
              <a:lstStyle/>
              <a:p>
                <a:pPr indent="266700" algn="just">
                  <a:lnSpc>
                    <a:spcPts val="22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其中</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𝑞</m:t>
                        </m:r>
                      </m:e>
                      <m:sub>
                        <m:r>
                          <a:rPr lang="en-US" altLang="zh-CN" i="1">
                            <a:solidFill>
                              <a:srgbClr val="000000"/>
                            </a:solidFill>
                            <a:latin typeface="Cambria Math" panose="02040503050406030204" pitchFamily="18" charset="0"/>
                            <a:ea typeface="楷体_GB2312"/>
                            <a:cs typeface="Times New Roman" panose="02020603050405020304" pitchFamily="18" charset="0"/>
                          </a:rPr>
                          <m:t>𝜋</m:t>
                        </m:r>
                      </m:sub>
                    </m:sSub>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rgbClr val="000000"/>
                            </a:solidFill>
                            <a:latin typeface="Cambria Math" panose="02040503050406030204" pitchFamily="18" charset="0"/>
                            <a:ea typeface="楷体_GB2312"/>
                            <a:cs typeface="Times New Roman" panose="02020603050405020304" pitchFamily="18" charset="0"/>
                          </a:rPr>
                          <m:t>𝑠</m:t>
                        </m:r>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𝑎</m:t>
                        </m:r>
                      </m:e>
                    </m:d>
                    <m:r>
                      <a:rPr lang="en-US" altLang="zh-CN">
                        <a:solidFill>
                          <a:srgbClr val="000000"/>
                        </a:solidFill>
                        <a:latin typeface="Cambria Math" panose="02040503050406030204" pitchFamily="18" charset="0"/>
                        <a:ea typeface="楷体_GB2312"/>
                        <a:cs typeface="Times New Roman" panose="02020603050405020304" pitchFamily="18" charset="0"/>
                      </a:rPr>
                      <m:t>=</m:t>
                    </m:r>
                    <m:nary>
                      <m:naryPr>
                        <m:chr m:val="∑"/>
                        <m:limLoc m:val="subSup"/>
                        <m:supHide m:val="on"/>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𝑠</m:t>
                            </m:r>
                          </m:e>
                          <m:sup>
                            <m:r>
                              <a:rPr lang="en-US" altLang="zh-CN" i="1">
                                <a:solidFill>
                                  <a:srgbClr val="000000"/>
                                </a:solidFill>
                                <a:latin typeface="Cambria Math" panose="02040503050406030204" pitchFamily="18" charset="0"/>
                                <a:ea typeface="楷体_GB2312"/>
                                <a:cs typeface="Times New Roman" panose="02020603050405020304" pitchFamily="18" charset="0"/>
                              </a:rPr>
                              <m:t>′</m:t>
                            </m:r>
                          </m:sup>
                        </m:sSup>
                      </m:sub>
                      <m:sup/>
                      <m:e>
                        <m:r>
                          <a:rPr lang="en-US" altLang="zh-CN" i="1">
                            <a:solidFill>
                              <a:srgbClr val="000000"/>
                            </a:solidFill>
                            <a:latin typeface="Cambria Math" panose="02040503050406030204" pitchFamily="18" charset="0"/>
                            <a:ea typeface="楷体_GB2312"/>
                            <a:cs typeface="Times New Roman" panose="02020603050405020304" pitchFamily="18" charset="0"/>
                          </a:rPr>
                          <m:t>𝑃</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𝑠</m:t>
                                </m:r>
                              </m:e>
                              <m:sup>
                                <m:r>
                                  <a:rPr lang="en-US" altLang="zh-CN" i="1">
                                    <a:solidFill>
                                      <a:srgbClr val="000000"/>
                                    </a:solidFill>
                                    <a:latin typeface="Cambria Math" panose="02040503050406030204" pitchFamily="18" charset="0"/>
                                    <a:ea typeface="楷体_GB2312"/>
                                    <a:cs typeface="Times New Roman" panose="02020603050405020304" pitchFamily="18" charset="0"/>
                                  </a:rPr>
                                  <m:t>′</m:t>
                                </m:r>
                              </m:sup>
                            </m:sSup>
                          </m:e>
                          <m:e>
                            <m:r>
                              <a:rPr lang="en-US" altLang="zh-CN" i="1">
                                <a:solidFill>
                                  <a:srgbClr val="000000"/>
                                </a:solidFill>
                                <a:latin typeface="Cambria Math" panose="02040503050406030204" pitchFamily="18" charset="0"/>
                                <a:ea typeface="楷体_GB2312"/>
                                <a:cs typeface="Times New Roman" panose="02020603050405020304" pitchFamily="18" charset="0"/>
                              </a:rPr>
                              <m:t>𝑠</m:t>
                            </m:r>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𝑎</m:t>
                            </m:r>
                          </m:e>
                        </m:d>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𝑅</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rgbClr val="000000"/>
                                </a:solidFill>
                                <a:latin typeface="Cambria Math" panose="02040503050406030204" pitchFamily="18" charset="0"/>
                                <a:ea typeface="楷体_GB2312"/>
                                <a:cs typeface="Times New Roman" panose="02020603050405020304" pitchFamily="18" charset="0"/>
                              </a:rPr>
                              <m:t>𝑠</m:t>
                            </m:r>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𝑎</m:t>
                            </m:r>
                            <m:r>
                              <a:rPr lang="en-US" altLang="zh-CN">
                                <a:solidFill>
                                  <a:srgbClr val="000000"/>
                                </a:solidFill>
                                <a:latin typeface="Cambria Math" panose="02040503050406030204" pitchFamily="18" charset="0"/>
                                <a:ea typeface="楷体_GB2312"/>
                                <a:cs typeface="Times New Roman" panose="02020603050405020304" pitchFamily="18" charset="0"/>
                              </a:rPr>
                              <m:t>,</m:t>
                            </m:r>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𝑠</m:t>
                                </m:r>
                              </m:e>
                              <m:sup>
                                <m:r>
                                  <a:rPr lang="en-US" altLang="zh-CN" i="1">
                                    <a:solidFill>
                                      <a:srgbClr val="000000"/>
                                    </a:solidFill>
                                    <a:latin typeface="Cambria Math" panose="02040503050406030204" pitchFamily="18" charset="0"/>
                                    <a:ea typeface="楷体_GB2312"/>
                                    <a:cs typeface="Times New Roman" panose="02020603050405020304" pitchFamily="18" charset="0"/>
                                  </a:rPr>
                                  <m:t>′</m:t>
                                </m:r>
                              </m:sup>
                            </m:sSup>
                          </m:e>
                        </m:d>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𝛾</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𝑉</m:t>
                            </m:r>
                          </m:e>
                          <m:sub>
                            <m:r>
                              <a:rPr lang="en-US" altLang="zh-CN" i="1">
                                <a:solidFill>
                                  <a:srgbClr val="000000"/>
                                </a:solidFill>
                                <a:latin typeface="Cambria Math" panose="02040503050406030204" pitchFamily="18" charset="0"/>
                                <a:ea typeface="楷体_GB2312"/>
                                <a:cs typeface="Times New Roman" panose="02020603050405020304" pitchFamily="18" charset="0"/>
                              </a:rPr>
                              <m:t>𝜋</m:t>
                            </m:r>
                          </m:sub>
                        </m:sSub>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𝑠</m:t>
                                </m:r>
                              </m:e>
                              <m:sup>
                                <m:r>
                                  <a:rPr lang="en-US" altLang="zh-CN" i="1">
                                    <a:solidFill>
                                      <a:srgbClr val="000000"/>
                                    </a:solidFill>
                                    <a:latin typeface="Cambria Math" panose="02040503050406030204" pitchFamily="18" charset="0"/>
                                    <a:ea typeface="楷体_GB2312"/>
                                    <a:cs typeface="Times New Roman" panose="02020603050405020304" pitchFamily="18" charset="0"/>
                                  </a:rPr>
                                  <m:t>′</m:t>
                                </m:r>
                              </m:sup>
                            </m:sSup>
                          </m:e>
                        </m:d>
                        <m:r>
                          <a:rPr lang="en-US" altLang="zh-CN">
                            <a:solidFill>
                              <a:srgbClr val="000000"/>
                            </a:solidFill>
                            <a:latin typeface="Cambria Math" panose="02040503050406030204" pitchFamily="18" charset="0"/>
                            <a:ea typeface="楷体_GB2312"/>
                            <a:cs typeface="Times New Roman" panose="02020603050405020304" pitchFamily="18" charset="0"/>
                          </a:rPr>
                          <m:t>]</m:t>
                        </m:r>
                      </m:e>
                    </m:nary>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。这两步分别对应了策略优化和策略评估两个阶段。</a:t>
                </a:r>
                <a:r>
                  <a:rPr lang="zh-CN" altLang="zh-CN" dirty="0">
                    <a:solidFill>
                      <a:srgbClr val="FF0000"/>
                    </a:solidFill>
                    <a:latin typeface="Times New Roman" panose="02020603050405020304" pitchFamily="18" charset="0"/>
                    <a:ea typeface="楷体_GB2312"/>
                    <a:cs typeface="Times New Roman" panose="02020603050405020304" pitchFamily="18" charset="0"/>
                  </a:rPr>
                  <a:t>也就是说，在算法</a:t>
                </a:r>
                <a:r>
                  <a:rPr lang="en-US" altLang="zh-CN" dirty="0">
                    <a:solidFill>
                      <a:srgbClr val="FF0000"/>
                    </a:solidFill>
                    <a:latin typeface="Times New Roman" panose="02020603050405020304" pitchFamily="18" charset="0"/>
                    <a:ea typeface="楷体_GB2312"/>
                    <a:cs typeface="Times New Roman" panose="02020603050405020304" pitchFamily="18" charset="0"/>
                  </a:rPr>
                  <a:t>6.5</a:t>
                </a:r>
                <a:r>
                  <a:rPr lang="zh-CN" altLang="zh-CN" dirty="0">
                    <a:solidFill>
                      <a:srgbClr val="FF0000"/>
                    </a:solidFill>
                    <a:latin typeface="Times New Roman" panose="02020603050405020304" pitchFamily="18" charset="0"/>
                    <a:ea typeface="楷体_GB2312"/>
                    <a:cs typeface="Times New Roman" panose="02020603050405020304" pitchFamily="18" charset="0"/>
                  </a:rPr>
                  <a:t>的内层循环中，就已经交替进行了一次策略优化和一次策略评估。</a:t>
                </a:r>
              </a:p>
            </p:txBody>
          </p:sp>
        </mc:Choice>
        <mc:Fallback xmlns="">
          <p:sp>
            <p:nvSpPr>
              <p:cNvPr id="9" name="矩形 8">
                <a:extLst>
                  <a:ext uri="{FF2B5EF4-FFF2-40B4-BE49-F238E27FC236}">
                    <a16:creationId xmlns:a16="http://schemas.microsoft.com/office/drawing/2014/main" id="{6C69B2F4-8D0C-4A23-A021-A3D518885BF0}"/>
                  </a:ext>
                </a:extLst>
              </p:cNvPr>
              <p:cNvSpPr>
                <a:spLocks noRot="1" noChangeAspect="1" noMove="1" noResize="1" noEditPoints="1" noAdjustHandles="1" noChangeArrowheads="1" noChangeShapeType="1" noTextEdit="1"/>
              </p:cNvSpPr>
              <p:nvPr/>
            </p:nvSpPr>
            <p:spPr>
              <a:xfrm>
                <a:off x="8096250" y="4041582"/>
                <a:ext cx="4095750" cy="1769331"/>
              </a:xfrm>
              <a:prstGeom prst="rect">
                <a:avLst/>
              </a:prstGeom>
              <a:blipFill>
                <a:blip r:embed="rId4"/>
                <a:stretch>
                  <a:fillRect l="-8185" t="-9310" r="-1339" b="-4828"/>
                </a:stretch>
              </a:blipFill>
            </p:spPr>
            <p:txBody>
              <a:bodyPr/>
              <a:lstStyle/>
              <a:p>
                <a:r>
                  <a:rPr lang="zh-CN" altLang="en-US">
                    <a:noFill/>
                  </a:rPr>
                  <a:t> </a:t>
                </a:r>
              </a:p>
            </p:txBody>
          </p:sp>
        </mc:Fallback>
      </mc:AlternateContent>
      <p:grpSp>
        <p:nvGrpSpPr>
          <p:cNvPr id="11" name="组合 10">
            <a:extLst>
              <a:ext uri="{FF2B5EF4-FFF2-40B4-BE49-F238E27FC236}">
                <a16:creationId xmlns:a16="http://schemas.microsoft.com/office/drawing/2014/main" id="{15860DD4-EA6E-4F77-9715-6F7EDE3766F1}"/>
              </a:ext>
            </a:extLst>
          </p:cNvPr>
          <p:cNvGrpSpPr/>
          <p:nvPr/>
        </p:nvGrpSpPr>
        <p:grpSpPr>
          <a:xfrm>
            <a:off x="-130474" y="1448630"/>
            <a:ext cx="8096251" cy="4552768"/>
            <a:chOff x="852473" y="1871214"/>
            <a:chExt cx="4155955" cy="2714853"/>
          </a:xfrm>
        </p:grpSpPr>
        <p:pic>
          <p:nvPicPr>
            <p:cNvPr id="50" name="图片 49">
              <a:extLst>
                <a:ext uri="{FF2B5EF4-FFF2-40B4-BE49-F238E27FC236}">
                  <a16:creationId xmlns:a16="http://schemas.microsoft.com/office/drawing/2014/main" id="{670ACCB7-82AE-47E0-B8A4-629F52EC6F42}"/>
                </a:ext>
              </a:extLst>
            </p:cNvPr>
            <p:cNvPicPr>
              <a:picLocks noChangeAspect="1"/>
            </p:cNvPicPr>
            <p:nvPr/>
          </p:nvPicPr>
          <p:blipFill>
            <a:blip r:embed="rId5"/>
            <a:stretch>
              <a:fillRect/>
            </a:stretch>
          </p:blipFill>
          <p:spPr>
            <a:xfrm>
              <a:off x="852473" y="1871214"/>
              <a:ext cx="4155955" cy="2714853"/>
            </a:xfrm>
            <a:prstGeom prst="rect">
              <a:avLst/>
            </a:prstGeom>
          </p:spPr>
        </p:pic>
        <p:pic>
          <p:nvPicPr>
            <p:cNvPr id="10" name="图片 9">
              <a:extLst>
                <a:ext uri="{FF2B5EF4-FFF2-40B4-BE49-F238E27FC236}">
                  <a16:creationId xmlns:a16="http://schemas.microsoft.com/office/drawing/2014/main" id="{2FD07126-02F0-42C1-B476-7DFE5C4D3A9D}"/>
                </a:ext>
              </a:extLst>
            </p:cNvPr>
            <p:cNvPicPr>
              <a:picLocks noChangeAspect="1"/>
            </p:cNvPicPr>
            <p:nvPr/>
          </p:nvPicPr>
          <p:blipFill>
            <a:blip r:embed="rId6"/>
            <a:stretch>
              <a:fillRect/>
            </a:stretch>
          </p:blipFill>
          <p:spPr>
            <a:xfrm>
              <a:off x="1159235" y="4198224"/>
              <a:ext cx="3111660" cy="177809"/>
            </a:xfrm>
            <a:prstGeom prst="rect">
              <a:avLst/>
            </a:prstGeom>
          </p:spPr>
        </p:pic>
      </p:grpSp>
      <p:grpSp>
        <p:nvGrpSpPr>
          <p:cNvPr id="14" name="组合 13">
            <a:extLst>
              <a:ext uri="{FF2B5EF4-FFF2-40B4-BE49-F238E27FC236}">
                <a16:creationId xmlns:a16="http://schemas.microsoft.com/office/drawing/2014/main" id="{5BD80216-EEFB-4DAD-70DF-40A9574E5387}"/>
              </a:ext>
            </a:extLst>
          </p:cNvPr>
          <p:cNvGrpSpPr/>
          <p:nvPr/>
        </p:nvGrpSpPr>
        <p:grpSpPr>
          <a:xfrm>
            <a:off x="7564829" y="1323896"/>
            <a:ext cx="4695435" cy="910260"/>
            <a:chOff x="7629525" y="1265754"/>
            <a:chExt cx="4695435" cy="910260"/>
          </a:xfrm>
        </p:grpSpPr>
        <p:sp>
          <p:nvSpPr>
            <p:cNvPr id="13" name="流程图: 可选过程 12">
              <a:extLst>
                <a:ext uri="{FF2B5EF4-FFF2-40B4-BE49-F238E27FC236}">
                  <a16:creationId xmlns:a16="http://schemas.microsoft.com/office/drawing/2014/main" id="{C8C523FC-B18C-8F9D-2A64-4B7DE65B8526}"/>
                </a:ext>
              </a:extLst>
            </p:cNvPr>
            <p:cNvSpPr/>
            <p:nvPr/>
          </p:nvSpPr>
          <p:spPr>
            <a:xfrm>
              <a:off x="7629525" y="1265754"/>
              <a:ext cx="4562475" cy="910260"/>
            </a:xfrm>
            <a:prstGeom prst="flowChartAlternate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AB2A62C6-9F74-DF38-833C-788F2769341D}"/>
                    </a:ext>
                  </a:extLst>
                </p:cNvPr>
                <p:cNvSpPr/>
                <p:nvPr/>
              </p:nvSpPr>
              <p:spPr>
                <a:xfrm>
                  <a:off x="7770573" y="1692745"/>
                  <a:ext cx="4554387" cy="37317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zh-CN" sz="1600" i="1" smtClean="0">
                                <a:latin typeface="Cambria Math" panose="02040503050406030204" pitchFamily="18" charset="0"/>
                              </a:rPr>
                            </m:ctrlPr>
                          </m:sSubPr>
                          <m:e>
                            <m:r>
                              <a:rPr lang="en-US" altLang="zh-CN" sz="1600" i="1">
                                <a:latin typeface="Cambria Math"/>
                              </a:rPr>
                              <m:t>𝑉</m:t>
                            </m:r>
                          </m:e>
                          <m:sub>
                            <m:r>
                              <a:rPr lang="en-US" altLang="zh-CN" sz="1600" i="1">
                                <a:latin typeface="Cambria Math"/>
                              </a:rPr>
                              <m:t>𝜋</m:t>
                            </m:r>
                          </m:sub>
                        </m:sSub>
                        <m:d>
                          <m:dPr>
                            <m:ctrlPr>
                              <a:rPr lang="zh-CN" altLang="zh-CN" sz="1600" i="1">
                                <a:latin typeface="Cambria Math" panose="02040503050406030204" pitchFamily="18" charset="0"/>
                              </a:rPr>
                            </m:ctrlPr>
                          </m:dPr>
                          <m:e>
                            <m:r>
                              <a:rPr lang="en-US" altLang="zh-CN" sz="1600" i="1">
                                <a:latin typeface="Cambria Math"/>
                              </a:rPr>
                              <m:t>𝑠</m:t>
                            </m:r>
                          </m:e>
                        </m:d>
                        <m:sSub>
                          <m:sSubPr>
                            <m:ctrlPr>
                              <a:rPr lang="zh-CN" altLang="zh-CN" sz="1600" i="1">
                                <a:latin typeface="Cambria Math" panose="02040503050406030204" pitchFamily="18" charset="0"/>
                              </a:rPr>
                            </m:ctrlPr>
                          </m:sSubPr>
                          <m:e>
                            <m:r>
                              <a:rPr lang="en-US" altLang="zh-CN" sz="1600" b="0" i="1" smtClean="0">
                                <a:latin typeface="Cambria Math"/>
                              </a:rPr>
                              <m:t>=</m:t>
                            </m:r>
                            <m:r>
                              <a:rPr lang="en-US" altLang="zh-CN" sz="1600" i="1">
                                <a:latin typeface="Cambria Math"/>
                              </a:rPr>
                              <m:t>𝔼</m:t>
                            </m:r>
                          </m:e>
                          <m:sub>
                            <m:r>
                              <a:rPr lang="en-US" altLang="zh-CN" sz="1600" i="1">
                                <a:latin typeface="Cambria Math"/>
                              </a:rPr>
                              <m:t>𝑎</m:t>
                            </m:r>
                            <m:r>
                              <a:rPr lang="en-US" altLang="zh-CN" sz="1600" i="1">
                                <a:latin typeface="Cambria Math"/>
                              </a:rPr>
                              <m:t>∼</m:t>
                            </m:r>
                            <m:r>
                              <a:rPr lang="en-US" altLang="zh-CN" sz="1600" i="1">
                                <a:latin typeface="Cambria Math"/>
                              </a:rPr>
                              <m:t>𝜋</m:t>
                            </m:r>
                            <m:r>
                              <a:rPr lang="en-US" altLang="zh-CN" sz="1600" i="1">
                                <a:latin typeface="Cambria Math"/>
                              </a:rPr>
                              <m:t>(</m:t>
                            </m:r>
                            <m:r>
                              <a:rPr lang="en-US" altLang="zh-CN" sz="1600" i="1">
                                <a:latin typeface="Cambria Math"/>
                              </a:rPr>
                              <m:t>𝑠</m:t>
                            </m:r>
                            <m:r>
                              <a:rPr lang="en-US" altLang="zh-CN" sz="1600" i="1">
                                <a:latin typeface="Cambria Math"/>
                              </a:rPr>
                              <m:t>,⋅)</m:t>
                            </m:r>
                          </m:sub>
                        </m:sSub>
                        <m:sSub>
                          <m:sSubPr>
                            <m:ctrlPr>
                              <a:rPr lang="zh-CN" altLang="zh-CN" sz="1600" i="1">
                                <a:latin typeface="Cambria Math" panose="02040503050406030204" pitchFamily="18" charset="0"/>
                              </a:rPr>
                            </m:ctrlPr>
                          </m:sSubPr>
                          <m:e>
                            <m:r>
                              <a:rPr lang="en-US" altLang="zh-CN" sz="1600" i="1">
                                <a:latin typeface="Cambria Math"/>
                              </a:rPr>
                              <m:t>𝔼</m:t>
                            </m:r>
                          </m:e>
                          <m:sub>
                            <m:sSup>
                              <m:sSupPr>
                                <m:ctrlPr>
                                  <a:rPr lang="zh-CN" altLang="zh-CN" sz="1600" i="1">
                                    <a:latin typeface="Cambria Math" panose="02040503050406030204" pitchFamily="18" charset="0"/>
                                  </a:rPr>
                                </m:ctrlPr>
                              </m:sSupPr>
                              <m:e>
                                <m:r>
                                  <a:rPr lang="en-US" altLang="zh-CN" sz="1600" i="1">
                                    <a:latin typeface="Cambria Math"/>
                                  </a:rPr>
                                  <m:t>𝑠</m:t>
                                </m:r>
                              </m:e>
                              <m:sup>
                                <m:r>
                                  <a:rPr lang="en-US" altLang="zh-CN" sz="1600" i="1">
                                    <a:latin typeface="Cambria Math"/>
                                  </a:rPr>
                                  <m:t>′</m:t>
                                </m:r>
                              </m:sup>
                            </m:sSup>
                            <m:r>
                              <a:rPr lang="en-US" altLang="zh-CN" sz="1600" i="1">
                                <a:latin typeface="Cambria Math"/>
                              </a:rPr>
                              <m:t>~</m:t>
                            </m:r>
                            <m:r>
                              <a:rPr lang="en-US" altLang="zh-CN" sz="1600" i="1">
                                <a:latin typeface="Cambria Math"/>
                              </a:rPr>
                              <m:t>𝑃</m:t>
                            </m:r>
                            <m:r>
                              <a:rPr lang="en-US" altLang="zh-CN" sz="1600" i="1">
                                <a:latin typeface="Cambria Math"/>
                              </a:rPr>
                              <m:t>(⋅|</m:t>
                            </m:r>
                            <m:r>
                              <a:rPr lang="en-US" altLang="zh-CN" sz="1600" i="1">
                                <a:latin typeface="Cambria Math"/>
                              </a:rPr>
                              <m:t>𝑠</m:t>
                            </m:r>
                            <m:r>
                              <a:rPr lang="en-US" altLang="zh-CN" sz="1600" i="1">
                                <a:latin typeface="Cambria Math"/>
                              </a:rPr>
                              <m:t>,</m:t>
                            </m:r>
                            <m:r>
                              <a:rPr lang="en-US" altLang="zh-CN" sz="1600" i="1">
                                <a:latin typeface="Cambria Math"/>
                              </a:rPr>
                              <m:t>𝑎</m:t>
                            </m:r>
                            <m:r>
                              <a:rPr lang="en-US" altLang="zh-CN" sz="1600" i="1">
                                <a:latin typeface="Cambria Math"/>
                              </a:rPr>
                              <m:t>)</m:t>
                            </m:r>
                          </m:sub>
                        </m:sSub>
                        <m:d>
                          <m:dPr>
                            <m:begChr m:val="["/>
                            <m:endChr m:val="]"/>
                            <m:ctrlPr>
                              <a:rPr lang="zh-CN" altLang="zh-CN" sz="1600" i="1">
                                <a:latin typeface="Cambria Math" panose="02040503050406030204" pitchFamily="18" charset="0"/>
                              </a:rPr>
                            </m:ctrlPr>
                          </m:dPr>
                          <m:e>
                            <m:r>
                              <a:rPr lang="en-US" altLang="zh-CN" sz="1600" i="1">
                                <a:latin typeface="Cambria Math"/>
                              </a:rPr>
                              <m:t>𝑅</m:t>
                            </m:r>
                            <m:d>
                              <m:dPr>
                                <m:ctrlPr>
                                  <a:rPr lang="zh-CN" altLang="zh-CN" sz="1600" i="1">
                                    <a:latin typeface="Cambria Math" panose="02040503050406030204" pitchFamily="18" charset="0"/>
                                  </a:rPr>
                                </m:ctrlPr>
                              </m:dPr>
                              <m:e>
                                <m:r>
                                  <a:rPr lang="en-US" altLang="zh-CN" sz="1600" i="1">
                                    <a:latin typeface="Cambria Math"/>
                                  </a:rPr>
                                  <m:t>𝑠</m:t>
                                </m:r>
                                <m:r>
                                  <a:rPr lang="en-US" altLang="zh-CN" sz="1600" i="1">
                                    <a:latin typeface="Cambria Math"/>
                                  </a:rPr>
                                  <m:t>,</m:t>
                                </m:r>
                                <m:sSup>
                                  <m:sSupPr>
                                    <m:ctrlPr>
                                      <a:rPr lang="zh-CN" altLang="zh-CN" sz="1600" i="1">
                                        <a:latin typeface="Cambria Math" panose="02040503050406030204" pitchFamily="18" charset="0"/>
                                      </a:rPr>
                                    </m:ctrlPr>
                                  </m:sSupPr>
                                  <m:e>
                                    <m:r>
                                      <a:rPr lang="en-US" altLang="zh-CN" sz="1600" i="1">
                                        <a:latin typeface="Cambria Math"/>
                                      </a:rPr>
                                      <m:t>𝑎</m:t>
                                    </m:r>
                                    <m:r>
                                      <a:rPr lang="en-US" altLang="zh-CN" sz="1600" i="1">
                                        <a:latin typeface="Cambria Math"/>
                                      </a:rPr>
                                      <m:t>,</m:t>
                                    </m:r>
                                    <m:r>
                                      <a:rPr lang="en-US" altLang="zh-CN" sz="1600" i="1">
                                        <a:latin typeface="Cambria Math"/>
                                      </a:rPr>
                                      <m:t>𝑠</m:t>
                                    </m:r>
                                  </m:e>
                                  <m:sup>
                                    <m:r>
                                      <a:rPr lang="en-US" altLang="zh-CN" sz="1600" i="1">
                                        <a:latin typeface="Cambria Math"/>
                                      </a:rPr>
                                      <m:t>′</m:t>
                                    </m:r>
                                  </m:sup>
                                </m:sSup>
                              </m:e>
                            </m:d>
                            <m:r>
                              <a:rPr lang="en-US" altLang="zh-CN" sz="1600" i="1">
                                <a:latin typeface="Cambria Math"/>
                              </a:rPr>
                              <m:t>+</m:t>
                            </m:r>
                            <m:r>
                              <a:rPr lang="en-US" altLang="zh-CN" sz="1600" i="1">
                                <a:latin typeface="Cambria Math"/>
                              </a:rPr>
                              <m:t>𝛾</m:t>
                            </m:r>
                            <m:sSub>
                              <m:sSubPr>
                                <m:ctrlPr>
                                  <a:rPr lang="zh-CN" altLang="zh-CN" sz="1600" i="1">
                                    <a:latin typeface="Cambria Math" panose="02040503050406030204" pitchFamily="18" charset="0"/>
                                  </a:rPr>
                                </m:ctrlPr>
                              </m:sSubPr>
                              <m:e>
                                <m:r>
                                  <a:rPr lang="en-US" altLang="zh-CN" sz="1600" i="1">
                                    <a:latin typeface="Cambria Math"/>
                                  </a:rPr>
                                  <m:t>𝑉</m:t>
                                </m:r>
                              </m:e>
                              <m:sub>
                                <m:r>
                                  <a:rPr lang="en-US" altLang="zh-CN" sz="1600" i="1">
                                    <a:latin typeface="Cambria Math"/>
                                  </a:rPr>
                                  <m:t>𝜋</m:t>
                                </m:r>
                              </m:sub>
                            </m:sSub>
                            <m:d>
                              <m:dPr>
                                <m:ctrlPr>
                                  <a:rPr lang="zh-CN" altLang="zh-CN" sz="1600" i="1">
                                    <a:latin typeface="Cambria Math" panose="02040503050406030204" pitchFamily="18" charset="0"/>
                                  </a:rPr>
                                </m:ctrlPr>
                              </m:dPr>
                              <m:e>
                                <m:sSup>
                                  <m:sSupPr>
                                    <m:ctrlPr>
                                      <a:rPr lang="zh-CN" altLang="zh-CN" sz="1600" i="1">
                                        <a:latin typeface="Cambria Math" panose="02040503050406030204" pitchFamily="18" charset="0"/>
                                      </a:rPr>
                                    </m:ctrlPr>
                                  </m:sSupPr>
                                  <m:e>
                                    <m:r>
                                      <a:rPr lang="en-US" altLang="zh-CN" sz="1600" i="1">
                                        <a:latin typeface="Cambria Math"/>
                                      </a:rPr>
                                      <m:t>𝑠</m:t>
                                    </m:r>
                                  </m:e>
                                  <m:sup>
                                    <m:r>
                                      <a:rPr lang="en-US" altLang="zh-CN" sz="1600" i="1">
                                        <a:latin typeface="Cambria Math"/>
                                      </a:rPr>
                                      <m:t>′</m:t>
                                    </m:r>
                                  </m:sup>
                                </m:sSup>
                              </m:e>
                            </m:d>
                          </m:e>
                        </m:d>
                      </m:oMath>
                    </m:oMathPara>
                  </a14:m>
                  <a:endParaRPr lang="zh-CN" altLang="en-US" sz="1600" dirty="0"/>
                </a:p>
              </p:txBody>
            </p:sp>
          </mc:Choice>
          <mc:Fallback xmlns="">
            <p:sp>
              <p:nvSpPr>
                <p:cNvPr id="2" name="矩形 1">
                  <a:extLst>
                    <a:ext uri="{FF2B5EF4-FFF2-40B4-BE49-F238E27FC236}">
                      <a16:creationId xmlns:a16="http://schemas.microsoft.com/office/drawing/2014/main" id="{AB2A62C6-9F74-DF38-833C-788F2769341D}"/>
                    </a:ext>
                  </a:extLst>
                </p:cNvPr>
                <p:cNvSpPr>
                  <a:spLocks noRot="1" noChangeAspect="1" noMove="1" noResize="1" noEditPoints="1" noAdjustHandles="1" noChangeArrowheads="1" noChangeShapeType="1" noTextEdit="1"/>
                </p:cNvSpPr>
                <p:nvPr/>
              </p:nvSpPr>
              <p:spPr>
                <a:xfrm>
                  <a:off x="7770573" y="1692745"/>
                  <a:ext cx="4554387" cy="373179"/>
                </a:xfrm>
                <a:prstGeom prst="rect">
                  <a:avLst/>
                </a:prstGeom>
                <a:blipFill>
                  <a:blip r:embed="rId7"/>
                  <a:stretch>
                    <a:fillRect b="-6557"/>
                  </a:stretch>
                </a:blipFill>
              </p:spPr>
              <p:txBody>
                <a:bodyPr/>
                <a:lstStyle/>
                <a:p>
                  <a:r>
                    <a:rPr lang="zh-CN" altLang="en-US">
                      <a:noFill/>
                    </a:rPr>
                    <a:t> </a:t>
                  </a:r>
                </a:p>
              </p:txBody>
            </p:sp>
          </mc:Fallback>
        </mc:AlternateContent>
        <p:sp>
          <p:nvSpPr>
            <p:cNvPr id="12" name="矩形 11">
              <a:extLst>
                <a:ext uri="{FF2B5EF4-FFF2-40B4-BE49-F238E27FC236}">
                  <a16:creationId xmlns:a16="http://schemas.microsoft.com/office/drawing/2014/main" id="{43A687C4-EB5D-5A59-DF5F-CC34D384E1F3}"/>
                </a:ext>
              </a:extLst>
            </p:cNvPr>
            <p:cNvSpPr/>
            <p:nvPr/>
          </p:nvSpPr>
          <p:spPr>
            <a:xfrm>
              <a:off x="8863908" y="1363029"/>
              <a:ext cx="2236510" cy="338554"/>
            </a:xfrm>
            <a:prstGeom prst="rect">
              <a:avLst/>
            </a:prstGeom>
          </p:spPr>
          <p:txBody>
            <a:bodyPr wrap="none">
              <a:spAutoFit/>
            </a:bodyPr>
            <a:lstStyle/>
            <a:p>
              <a:r>
                <a:rPr lang="zh-CN" altLang="en-US" sz="1600" kern="0" dirty="0">
                  <a:solidFill>
                    <a:srgbClr val="C00000"/>
                  </a:solidFill>
                  <a:latin typeface="黑体" panose="02010609060101010101" pitchFamily="49" charset="-122"/>
                  <a:ea typeface="黑体" panose="02010609060101010101" pitchFamily="49" charset="-122"/>
                  <a:cs typeface="Times New Roman" pitchFamily="18" charset="0"/>
                </a:rPr>
                <a:t>价值函数的</a:t>
              </a:r>
              <a:r>
                <a:rPr lang="zh-CN" altLang="zh-CN" sz="1600" kern="0" dirty="0">
                  <a:solidFill>
                    <a:srgbClr val="C00000"/>
                  </a:solidFill>
                  <a:latin typeface="黑体" panose="02010609060101010101" pitchFamily="49" charset="-122"/>
                  <a:ea typeface="黑体" panose="02010609060101010101" pitchFamily="49" charset="-122"/>
                  <a:cs typeface="Times New Roman" pitchFamily="18" charset="0"/>
                </a:rPr>
                <a:t>贝尔曼方程</a:t>
              </a:r>
              <a:endParaRPr lang="zh-CN" altLang="en-US" sz="1600" dirty="0">
                <a:solidFill>
                  <a:srgbClr val="C00000"/>
                </a:solidFill>
                <a:latin typeface="黑体" panose="02010609060101010101" pitchFamily="49" charset="-122"/>
                <a:ea typeface="黑体" panose="02010609060101010101" pitchFamily="49" charset="-122"/>
              </a:endParaRPr>
            </a:p>
          </p:txBody>
        </p:sp>
      </p:grpSp>
    </p:spTree>
    <p:extLst>
      <p:ext uri="{BB962C8B-B14F-4D97-AF65-F5344CB8AC3E}">
        <p14:creationId xmlns:p14="http://schemas.microsoft.com/office/powerpoint/2010/main" val="2169454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基于价值的强化学习算法</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p:sp>
        <p:nvSpPr>
          <p:cNvPr id="2" name="矩形 1">
            <a:extLst>
              <a:ext uri="{FF2B5EF4-FFF2-40B4-BE49-F238E27FC236}">
                <a16:creationId xmlns:a16="http://schemas.microsoft.com/office/drawing/2014/main" id="{64C57909-41D7-44CC-B8D8-56EE5D7B2574}"/>
              </a:ext>
            </a:extLst>
          </p:cNvPr>
          <p:cNvSpPr/>
          <p:nvPr/>
        </p:nvSpPr>
        <p:spPr>
          <a:xfrm>
            <a:off x="811236" y="1454332"/>
            <a:ext cx="9636369" cy="640816"/>
          </a:xfrm>
          <a:prstGeom prst="rect">
            <a:avLst/>
          </a:prstGeom>
        </p:spPr>
        <p:txBody>
          <a:bodyPr wrap="square">
            <a:spAutoFit/>
          </a:bodyPr>
          <a:lstStyle/>
          <a:p>
            <a:pPr indent="266700" algn="ctr">
              <a:lnSpc>
                <a:spcPts val="22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以机器人寻路问题为例，假设价值函数的初值如图</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6.9(a)</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所示，则完成算法</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6.5</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中一次外层循环后，价值函数的值如图</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6.9(b)</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所示。</a:t>
            </a:r>
          </a:p>
        </p:txBody>
      </p:sp>
      <p:pic>
        <p:nvPicPr>
          <p:cNvPr id="12" name="图片 11">
            <a:extLst>
              <a:ext uri="{FF2B5EF4-FFF2-40B4-BE49-F238E27FC236}">
                <a16:creationId xmlns:a16="http://schemas.microsoft.com/office/drawing/2014/main" id="{38F24339-3F37-4897-A8F2-800038AC7922}"/>
              </a:ext>
            </a:extLst>
          </p:cNvPr>
          <p:cNvPicPr>
            <a:picLocks noChangeAspect="1"/>
          </p:cNvPicPr>
          <p:nvPr/>
        </p:nvPicPr>
        <p:blipFill>
          <a:blip r:embed="rId3"/>
          <a:stretch>
            <a:fillRect/>
          </a:stretch>
        </p:blipFill>
        <p:spPr>
          <a:xfrm>
            <a:off x="5339714" y="2095148"/>
            <a:ext cx="6461761" cy="4389950"/>
          </a:xfrm>
          <a:prstGeom prst="rect">
            <a:avLst/>
          </a:prstGeom>
        </p:spPr>
      </p:pic>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34BACD0B-D505-400D-A449-3FD94E043F48}"/>
                  </a:ext>
                </a:extLst>
              </p:cNvPr>
              <p:cNvSpPr/>
              <p:nvPr/>
            </p:nvSpPr>
            <p:spPr>
              <a:xfrm>
                <a:off x="186771" y="2211650"/>
                <a:ext cx="4976072" cy="4238661"/>
              </a:xfrm>
              <a:prstGeom prst="rect">
                <a:avLst/>
              </a:prstGeom>
            </p:spPr>
            <p:txBody>
              <a:bodyPr wrap="square">
                <a:spAutoFit/>
              </a:bodyPr>
              <a:lstStyle/>
              <a:p>
                <a:pPr indent="266700" algn="just">
                  <a:lnSpc>
                    <a:spcPts val="2200"/>
                  </a:lnSpc>
                  <a:spcAft>
                    <a:spcPts val="0"/>
                  </a:spcAft>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以状态</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sz="1400">
                            <a:solidFill>
                              <a:srgbClr val="000000"/>
                            </a:solidFill>
                            <a:latin typeface="Cambria Math" panose="02040503050406030204" pitchFamily="18" charset="0"/>
                            <a:ea typeface="楷体_GB2312"/>
                            <a:cs typeface="Times New Roman" panose="02020603050405020304" pitchFamily="18" charset="0"/>
                          </a:rPr>
                          <m:t>8</m:t>
                        </m:r>
                      </m:sub>
                    </m:sSub>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为例：</a:t>
                </a:r>
              </a:p>
              <a:p>
                <a:pPr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𝑞</m:t>
                          </m:r>
                        </m:e>
                        <m:sub>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e>
                            <m:sub>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8</m:t>
                              </m:r>
                            </m:sub>
                          </m:sSub>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zh-CN" altLang="zh-CN" sz="14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右</m:t>
                          </m:r>
                        </m:e>
                      </m:d>
                      <m:r>
                        <m:rPr>
                          <m:aln/>
                        </m:rP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nary>
                        <m:naryPr>
                          <m:chr m:val="∑"/>
                          <m:limLoc m:val="subSup"/>
                          <m:supHide m:val="on"/>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sSup>
                            <m:sSup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up>
                          </m:sSup>
                        </m:sub>
                        <m:sup/>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𝑃</m:t>
                          </m:r>
                          <m:d>
                            <m:d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up>
                              </m:sSup>
                            </m:e>
                            <m:e>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e>
                                <m:sub>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8</m:t>
                                  </m:r>
                                </m:sub>
                              </m:sSub>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zh-CN" altLang="zh-CN" sz="14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右</m:t>
                              </m:r>
                            </m:e>
                          </m:d>
                          <m:d>
                            <m:dPr>
                              <m:begChr m:val="["/>
                              <m:endChr m:val="]"/>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𝑅</m:t>
                              </m:r>
                              <m:d>
                                <m:d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e>
                                    <m:sub>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8</m:t>
                                      </m:r>
                                    </m:sub>
                                  </m:sSub>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zh-CN" altLang="zh-CN" sz="14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右</m:t>
                                  </m:r>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p>
                                    <m:sSup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up>
                                  </m:sSup>
                                </m:e>
                              </m:d>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𝛾</m:t>
                              </m:r>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up>
                                  </m:sSup>
                                </m:e>
                              </m:d>
                            </m:e>
                          </m:d>
                        </m:e>
                      </m:nary>
                    </m:oMath>
                    <m:oMath xmlns:m="http://schemas.openxmlformats.org/officeDocument/2006/math">
                      <m:r>
                        <m:rPr>
                          <m:aln/>
                        </m:rPr>
                        <a:rPr lang="en-US" altLang="zh-CN" sz="14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m:t>
                      </m:r>
                      <m:d>
                        <m:d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1+0.99×0</m:t>
                          </m:r>
                        </m:e>
                      </m:d>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+0×⋯=1</m:t>
                      </m:r>
                    </m:oMath>
                  </m:oMathPara>
                </a14:m>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𝑞</m:t>
                          </m:r>
                        </m:e>
                        <m:sub>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e>
                            <m:sub>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8</m:t>
                              </m:r>
                            </m:sub>
                          </m:sSub>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zh-CN" altLang="zh-CN" sz="14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上</m:t>
                          </m:r>
                        </m:e>
                      </m:d>
                      <m:r>
                        <m:rPr>
                          <m:aln/>
                        </m:rP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nary>
                        <m:naryPr>
                          <m:chr m:val="∑"/>
                          <m:limLoc m:val="subSup"/>
                          <m:supHide m:val="on"/>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sSup>
                            <m:sSup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up>
                          </m:sSup>
                        </m:sub>
                        <m:sup/>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𝑃</m:t>
                          </m:r>
                          <m:d>
                            <m:d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up>
                              </m:sSup>
                            </m:e>
                            <m:e>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e>
                                <m:sub>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8</m:t>
                                  </m:r>
                                </m:sub>
                              </m:sSub>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zh-CN" altLang="zh-CN" sz="14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上</m:t>
                              </m:r>
                            </m:e>
                          </m:d>
                          <m:d>
                            <m:dPr>
                              <m:begChr m:val="["/>
                              <m:endChr m:val="]"/>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𝑅</m:t>
                              </m:r>
                              <m:d>
                                <m:d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e>
                                    <m:sub>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8</m:t>
                                      </m:r>
                                    </m:sub>
                                  </m:sSub>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zh-CN" altLang="zh-CN" sz="14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上</m:t>
                                  </m:r>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p>
                                    <m:sSup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up>
                                  </m:sSup>
                                </m:e>
                              </m:d>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𝛾</m:t>
                              </m:r>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e>
                                    <m:sup>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up>
                                  </m:sSup>
                                </m:e>
                              </m:d>
                            </m:e>
                          </m:d>
                        </m:e>
                      </m:nary>
                    </m:oMath>
                    <m:oMath xmlns:m="http://schemas.openxmlformats.org/officeDocument/2006/math">
                      <m:r>
                        <m:rPr>
                          <m:aln/>
                        </m:rPr>
                        <a:rPr lang="en-US" altLang="zh-CN" sz="14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m:t>
                      </m:r>
                      <m:d>
                        <m:d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−1+0.99×0</m:t>
                          </m:r>
                        </m:e>
                      </m:d>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+0×⋯=−1</m:t>
                      </m:r>
                    </m:oMath>
                    <m:oMath xmlns:m="http://schemas.openxmlformats.org/officeDocument/2006/math">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𝑉</m:t>
                      </m:r>
                      <m:d>
                        <m:d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e>
                            <m:sub>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8</m:t>
                              </m:r>
                            </m:sub>
                          </m:sSub>
                        </m:e>
                      </m:d>
                      <m:r>
                        <m:rPr>
                          <m:aln/>
                        </m:rP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4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max</m:t>
                          </m:r>
                        </m:e>
                        <m:sub>
                          <m:r>
                            <m:rPr>
                              <m:sty m:val="p"/>
                            </m:rPr>
                            <a:rPr lang="en-US" altLang="zh-CN" sz="14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a</m:t>
                          </m:r>
                        </m:sub>
                      </m:sSub>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𝑞</m:t>
                          </m:r>
                        </m:e>
                        <m:sub>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sub>
                      </m:sSub>
                      <m:d>
                        <m:d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e>
                            <m:sub>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8</m:t>
                              </m:r>
                            </m:sub>
                          </m:sSub>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e>
                      </m:d>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func>
                        <m:func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4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max</m:t>
                          </m:r>
                        </m:fName>
                        <m:e>
                          <m:d>
                            <m:dPr>
                              <m:begChr m:val="{"/>
                              <m:endChr m:val="}"/>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1,−1</m:t>
                              </m:r>
                            </m:e>
                          </m:d>
                        </m:e>
                      </m:func>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m:t>
                      </m:r>
                    </m:oMath>
                  </m:oMathPara>
                </a14:m>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spcAft>
                    <a:spcPts val="0"/>
                  </a:spcAft>
                </a:pPr>
                <a:r>
                  <a:rPr lang="en-US" altLang="zh-CN" sz="1400"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ts val="2200"/>
                  </a:lnSpc>
                  <a:spcAft>
                    <a:spcPts val="0"/>
                  </a:spcAft>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因此状态</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8</m:t>
                        </m:r>
                      </m:sub>
                    </m:sSub>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的价值函数更新为</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1</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，同理可更新其他状态的价值函数。图</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6.9(c)</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和图</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6.9(d)</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分别为完成了两次和三次外层循环后的价值函数，而图</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6.9(e)</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则为完成</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5</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次外层循环后的结果，这个结果已经收敛。图</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6.9(f)</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给出了根据图</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6.9(e)</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计算出的策略（动作</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价值相同的情况优先取动作</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上</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a:t>
                </a:r>
              </a:p>
            </p:txBody>
          </p:sp>
        </mc:Choice>
        <mc:Fallback xmlns="">
          <p:sp>
            <p:nvSpPr>
              <p:cNvPr id="13" name="矩形 12">
                <a:extLst>
                  <a:ext uri="{FF2B5EF4-FFF2-40B4-BE49-F238E27FC236}">
                    <a16:creationId xmlns:a16="http://schemas.microsoft.com/office/drawing/2014/main" id="{34BACD0B-D505-400D-A449-3FD94E043F48}"/>
                  </a:ext>
                </a:extLst>
              </p:cNvPr>
              <p:cNvSpPr>
                <a:spLocks noRot="1" noChangeAspect="1" noMove="1" noResize="1" noEditPoints="1" noAdjustHandles="1" noChangeArrowheads="1" noChangeShapeType="1" noTextEdit="1"/>
              </p:cNvSpPr>
              <p:nvPr/>
            </p:nvSpPr>
            <p:spPr>
              <a:xfrm>
                <a:off x="186771" y="2211650"/>
                <a:ext cx="4976072" cy="4238661"/>
              </a:xfrm>
              <a:prstGeom prst="rect">
                <a:avLst/>
              </a:prstGeom>
              <a:blipFill>
                <a:blip r:embed="rId4"/>
                <a:stretch>
                  <a:fillRect l="-368" r="-368" b="-71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83757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zh-CN" altLang="en-US" sz="20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价值迭代算法的问题</a:t>
              </a:r>
              <a:endPar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p:grpSp>
        <p:nvGrpSpPr>
          <p:cNvPr id="11" name="组合 10">
            <a:extLst>
              <a:ext uri="{FF2B5EF4-FFF2-40B4-BE49-F238E27FC236}">
                <a16:creationId xmlns:a16="http://schemas.microsoft.com/office/drawing/2014/main" id="{15860DD4-EA6E-4F77-9715-6F7EDE3766F1}"/>
              </a:ext>
            </a:extLst>
          </p:cNvPr>
          <p:cNvGrpSpPr/>
          <p:nvPr/>
        </p:nvGrpSpPr>
        <p:grpSpPr>
          <a:xfrm>
            <a:off x="-1" y="1454332"/>
            <a:ext cx="8096251" cy="4552768"/>
            <a:chOff x="852473" y="1871214"/>
            <a:chExt cx="4155955" cy="2714853"/>
          </a:xfrm>
        </p:grpSpPr>
        <p:pic>
          <p:nvPicPr>
            <p:cNvPr id="50" name="图片 49">
              <a:extLst>
                <a:ext uri="{FF2B5EF4-FFF2-40B4-BE49-F238E27FC236}">
                  <a16:creationId xmlns:a16="http://schemas.microsoft.com/office/drawing/2014/main" id="{670ACCB7-82AE-47E0-B8A4-629F52EC6F42}"/>
                </a:ext>
              </a:extLst>
            </p:cNvPr>
            <p:cNvPicPr>
              <a:picLocks noChangeAspect="1"/>
            </p:cNvPicPr>
            <p:nvPr/>
          </p:nvPicPr>
          <p:blipFill>
            <a:blip r:embed="rId3"/>
            <a:stretch>
              <a:fillRect/>
            </a:stretch>
          </p:blipFill>
          <p:spPr>
            <a:xfrm>
              <a:off x="852473" y="1871214"/>
              <a:ext cx="4155955" cy="2714853"/>
            </a:xfrm>
            <a:prstGeom prst="rect">
              <a:avLst/>
            </a:prstGeom>
          </p:spPr>
        </p:pic>
        <p:pic>
          <p:nvPicPr>
            <p:cNvPr id="10" name="图片 9">
              <a:extLst>
                <a:ext uri="{FF2B5EF4-FFF2-40B4-BE49-F238E27FC236}">
                  <a16:creationId xmlns:a16="http://schemas.microsoft.com/office/drawing/2014/main" id="{2FD07126-02F0-42C1-B476-7DFE5C4D3A9D}"/>
                </a:ext>
              </a:extLst>
            </p:cNvPr>
            <p:cNvPicPr>
              <a:picLocks noChangeAspect="1"/>
            </p:cNvPicPr>
            <p:nvPr/>
          </p:nvPicPr>
          <p:blipFill>
            <a:blip r:embed="rId4"/>
            <a:stretch>
              <a:fillRect/>
            </a:stretch>
          </p:blipFill>
          <p:spPr>
            <a:xfrm>
              <a:off x="1159235" y="4198224"/>
              <a:ext cx="3111660" cy="177809"/>
            </a:xfrm>
            <a:prstGeom prst="rect">
              <a:avLst/>
            </a:prstGeom>
          </p:spPr>
        </p:pic>
      </p:grpSp>
      <p:sp>
        <p:nvSpPr>
          <p:cNvPr id="2" name="矩形 1">
            <a:extLst>
              <a:ext uri="{FF2B5EF4-FFF2-40B4-BE49-F238E27FC236}">
                <a16:creationId xmlns:a16="http://schemas.microsoft.com/office/drawing/2014/main" id="{6FC47549-0B78-2128-B78B-806D4674CD26}"/>
              </a:ext>
            </a:extLst>
          </p:cNvPr>
          <p:cNvSpPr/>
          <p:nvPr/>
        </p:nvSpPr>
        <p:spPr>
          <a:xfrm>
            <a:off x="7923329" y="4455569"/>
            <a:ext cx="4117667" cy="1285032"/>
          </a:xfrm>
          <a:prstGeom prst="rect">
            <a:avLst/>
          </a:prstGeom>
        </p:spPr>
        <p:txBody>
          <a:bodyPr wrap="square">
            <a:spAutoFit/>
          </a:bodyPr>
          <a:lstStyle/>
          <a:p>
            <a:pPr>
              <a:lnSpc>
                <a:spcPct val="150000"/>
              </a:lnSpc>
            </a:pPr>
            <a:r>
              <a:rPr lang="zh-CN" altLang="en-US" b="1" dirty="0">
                <a:solidFill>
                  <a:schemeClr val="tx2"/>
                </a:solidFill>
                <a:latin typeface="Cambria Math" panose="02040503050406030204" pitchFamily="18" charset="0"/>
                <a:ea typeface="黑体" panose="02010609060101010101" pitchFamily="49" charset="-122"/>
              </a:rPr>
              <a:t>与动态规划法具有相似的缺点：</a:t>
            </a:r>
            <a:r>
              <a:rPr lang="zh-CN" altLang="en-US" dirty="0">
                <a:latin typeface="Cambria Math" panose="02040503050406030204" pitchFamily="18" charset="0"/>
                <a:ea typeface="黑体" panose="02010609060101010101" pitchFamily="49" charset="-122"/>
              </a:rPr>
              <a:t>智能主体需要事先知道状态转移概率；无法处理状态集合大小无限的情况</a:t>
            </a:r>
            <a:endParaRPr lang="en-US" altLang="zh-CN" dirty="0">
              <a:latin typeface="Cambria Math" panose="02040503050406030204" pitchFamily="18" charset="0"/>
              <a:ea typeface="黑体" panose="02010609060101010101" pitchFamily="49" charset="-122"/>
            </a:endParaRPr>
          </a:p>
        </p:txBody>
      </p:sp>
      <p:pic>
        <p:nvPicPr>
          <p:cNvPr id="17" name="图片 16">
            <a:extLst>
              <a:ext uri="{FF2B5EF4-FFF2-40B4-BE49-F238E27FC236}">
                <a16:creationId xmlns:a16="http://schemas.microsoft.com/office/drawing/2014/main" id="{9FBF27E0-4552-B989-9510-B543EB0AD8AA}"/>
              </a:ext>
            </a:extLst>
          </p:cNvPr>
          <p:cNvPicPr>
            <a:picLocks noChangeAspect="1"/>
          </p:cNvPicPr>
          <p:nvPr/>
        </p:nvPicPr>
        <p:blipFill>
          <a:blip r:embed="rId5"/>
          <a:stretch>
            <a:fillRect/>
          </a:stretch>
        </p:blipFill>
        <p:spPr>
          <a:xfrm>
            <a:off x="7999203" y="2842067"/>
            <a:ext cx="4117667" cy="1120118"/>
          </a:xfrm>
          <a:prstGeom prst="rect">
            <a:avLst/>
          </a:prstGeom>
        </p:spPr>
      </p:pic>
      <p:sp>
        <p:nvSpPr>
          <p:cNvPr id="21" name="文本框 20">
            <a:extLst>
              <a:ext uri="{FF2B5EF4-FFF2-40B4-BE49-F238E27FC236}">
                <a16:creationId xmlns:a16="http://schemas.microsoft.com/office/drawing/2014/main" id="{58777190-E3B3-6918-B6A4-6E06E331D247}"/>
              </a:ext>
            </a:extLst>
          </p:cNvPr>
          <p:cNvSpPr txBox="1"/>
          <p:nvPr/>
        </p:nvSpPr>
        <p:spPr>
          <a:xfrm>
            <a:off x="9319849" y="2521143"/>
            <a:ext cx="1476375" cy="369332"/>
          </a:xfrm>
          <a:prstGeom prst="rect">
            <a:avLst/>
          </a:prstGeom>
          <a:noFill/>
        </p:spPr>
        <p:txBody>
          <a:bodyPr wrap="square">
            <a:spAutoFit/>
          </a:bodyPr>
          <a:lstStyle/>
          <a:p>
            <a:r>
              <a:rPr lang="zh-CN" altLang="en-US" dirty="0"/>
              <a:t>动态规划法</a:t>
            </a:r>
          </a:p>
        </p:txBody>
      </p:sp>
    </p:spTree>
    <p:extLst>
      <p:ext uri="{BB962C8B-B14F-4D97-AF65-F5344CB8AC3E}">
        <p14:creationId xmlns:p14="http://schemas.microsoft.com/office/powerpoint/2010/main" val="29745810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流程图: 可选过程 8">
            <a:extLst>
              <a:ext uri="{FF2B5EF4-FFF2-40B4-BE49-F238E27FC236}">
                <a16:creationId xmlns:a16="http://schemas.microsoft.com/office/drawing/2014/main" id="{4DDFB502-026E-7CA9-5D8C-F5402B058CB1}"/>
              </a:ext>
            </a:extLst>
          </p:cNvPr>
          <p:cNvSpPr/>
          <p:nvPr/>
        </p:nvSpPr>
        <p:spPr>
          <a:xfrm>
            <a:off x="6810254" y="1752362"/>
            <a:ext cx="5197821" cy="910260"/>
          </a:xfrm>
          <a:prstGeom prst="flowChartAlternate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2C8F93FF-7CAA-40B6-989B-665B09ED4B37}"/>
                  </a:ext>
                </a:extLst>
              </p:cNvPr>
              <p:cNvSpPr txBox="1"/>
              <p:nvPr/>
            </p:nvSpPr>
            <p:spPr>
              <a:xfrm>
                <a:off x="729942" y="2244002"/>
                <a:ext cx="5721658" cy="2246769"/>
              </a:xfrm>
              <a:prstGeom prst="rect">
                <a:avLst/>
              </a:prstGeom>
              <a:noFill/>
              <a:ln>
                <a:solidFill>
                  <a:schemeClr val="tx1"/>
                </a:solidFill>
              </a:ln>
            </p:spPr>
            <p:txBody>
              <a:bodyPr wrap="square" rtlCol="0">
                <a:spAutoFit/>
              </a:bodyPr>
              <a:lstStyle/>
              <a:p>
                <a:r>
                  <a:rPr lang="zh-CN" altLang="en-US" sz="1400" dirty="0">
                    <a:latin typeface="Times New Roman" panose="02020603050405020304" pitchFamily="18" charset="0"/>
                    <a:ea typeface="黑体" pitchFamily="49" charset="-122"/>
                    <a:cs typeface="Times New Roman" panose="02020603050405020304" pitchFamily="18" charset="0"/>
                  </a:rPr>
                  <a:t>初始化</a:t>
                </a:r>
                <a14:m>
                  <m:oMath xmlns:m="http://schemas.openxmlformats.org/officeDocument/2006/math">
                    <m:sSub>
                      <m:sSubPr>
                        <m:ctrlPr>
                          <a:rPr lang="en-US" altLang="zh-CN" sz="1400" i="1" smtClean="0">
                            <a:solidFill>
                              <a:schemeClr val="tx1"/>
                            </a:solidFill>
                            <a:latin typeface="Cambria Math" panose="02040503050406030204" pitchFamily="18" charset="0"/>
                            <a:ea typeface="黑体" pitchFamily="49" charset="-122"/>
                          </a:rPr>
                        </m:ctrlPr>
                      </m:sSubPr>
                      <m:e>
                        <m:r>
                          <a:rPr lang="en-US" altLang="zh-CN" sz="1400" i="1">
                            <a:solidFill>
                              <a:schemeClr val="tx1"/>
                            </a:solidFill>
                            <a:latin typeface="Cambria Math" panose="02040503050406030204" pitchFamily="18" charset="0"/>
                            <a:ea typeface="黑体" pitchFamily="49" charset="-122"/>
                          </a:rPr>
                          <m:t>𝑞</m:t>
                        </m:r>
                      </m:e>
                      <m:sub>
                        <m:r>
                          <a:rPr lang="en-US" altLang="zh-CN" sz="1400" i="1">
                            <a:solidFill>
                              <a:schemeClr val="tx1"/>
                            </a:solidFill>
                            <a:latin typeface="Cambria Math" panose="02040503050406030204" pitchFamily="18" charset="0"/>
                            <a:ea typeface="黑体" pitchFamily="49" charset="-122"/>
                          </a:rPr>
                          <m:t>𝜋</m:t>
                        </m:r>
                      </m:sub>
                    </m:sSub>
                  </m:oMath>
                </a14:m>
                <a:r>
                  <a:rPr lang="zh-CN" altLang="en-US" sz="1400" dirty="0">
                    <a:latin typeface="Times New Roman" panose="02020603050405020304" pitchFamily="18" charset="0"/>
                    <a:ea typeface="黑体" pitchFamily="49" charset="-122"/>
                    <a:cs typeface="Times New Roman" panose="02020603050405020304" pitchFamily="18" charset="0"/>
                  </a:rPr>
                  <a:t>函数</a:t>
                </a:r>
                <a:endParaRPr lang="en-US" altLang="zh-CN" sz="1400" dirty="0">
                  <a:latin typeface="Times New Roman" panose="02020603050405020304" pitchFamily="18" charset="0"/>
                  <a:ea typeface="黑体" pitchFamily="49" charset="-122"/>
                  <a:cs typeface="Times New Roman" panose="02020603050405020304" pitchFamily="18" charset="0"/>
                </a:endParaRPr>
              </a:p>
              <a:p>
                <a:r>
                  <a:rPr lang="zh-CN" altLang="en-US" sz="1400" dirty="0">
                    <a:latin typeface="Times New Roman" panose="02020603050405020304" pitchFamily="18" charset="0"/>
                    <a:ea typeface="黑体" pitchFamily="49" charset="-122"/>
                    <a:cs typeface="Times New Roman" panose="02020603050405020304" pitchFamily="18" charset="0"/>
                  </a:rPr>
                  <a:t>循环</a:t>
                </a:r>
                <a:endParaRPr lang="en-US" altLang="zh-CN" sz="1400" dirty="0">
                  <a:latin typeface="Times New Roman" panose="02020603050405020304" pitchFamily="18" charset="0"/>
                  <a:ea typeface="黑体" pitchFamily="49" charset="-122"/>
                  <a:cs typeface="Times New Roman" panose="02020603050405020304" pitchFamily="18" charset="0"/>
                </a:endParaRPr>
              </a:p>
              <a:p>
                <a:r>
                  <a:rPr lang="en-US" altLang="zh-CN" sz="1400" dirty="0">
                    <a:latin typeface="Times New Roman" panose="02020603050405020304" pitchFamily="18" charset="0"/>
                    <a:ea typeface="黑体" pitchFamily="49" charset="-122"/>
                    <a:cs typeface="Times New Roman" panose="02020603050405020304" pitchFamily="18" charset="0"/>
                  </a:rPr>
                  <a:t>        </a:t>
                </a:r>
                <a:r>
                  <a:rPr lang="zh-CN" altLang="en-US" sz="1400" dirty="0">
                    <a:solidFill>
                      <a:srgbClr val="FF0000"/>
                    </a:solidFill>
                    <a:latin typeface="Times New Roman" panose="02020603050405020304" pitchFamily="18" charset="0"/>
                    <a:ea typeface="黑体" pitchFamily="49" charset="-122"/>
                    <a:cs typeface="Times New Roman" panose="02020603050405020304" pitchFamily="18" charset="0"/>
                  </a:rPr>
                  <a:t>初始化</a:t>
                </a:r>
                <a:r>
                  <a:rPr lang="en-US" altLang="zh-CN" sz="1400" dirty="0">
                    <a:solidFill>
                      <a:srgbClr val="FF0000"/>
                    </a:solidFill>
                    <a:latin typeface="Times New Roman" panose="02020603050405020304" pitchFamily="18" charset="0"/>
                    <a:ea typeface="黑体" pitchFamily="49" charset="-122"/>
                    <a:cs typeface="Times New Roman" panose="02020603050405020304" pitchFamily="18" charset="0"/>
                  </a:rPr>
                  <a:t>s</a:t>
                </a:r>
                <a:r>
                  <a:rPr lang="zh-CN" altLang="en-US" sz="1400" dirty="0">
                    <a:solidFill>
                      <a:srgbClr val="FF0000"/>
                    </a:solidFill>
                    <a:latin typeface="Times New Roman" panose="02020603050405020304" pitchFamily="18" charset="0"/>
                    <a:ea typeface="黑体" pitchFamily="49" charset="-122"/>
                    <a:cs typeface="Times New Roman" panose="02020603050405020304" pitchFamily="18" charset="0"/>
                  </a:rPr>
                  <a:t>为初始状态</a:t>
                </a:r>
                <a:endParaRPr lang="en-US" altLang="zh-CN" sz="1400" dirty="0">
                  <a:solidFill>
                    <a:srgbClr val="FF0000"/>
                  </a:solidFill>
                  <a:latin typeface="Times New Roman" panose="02020603050405020304" pitchFamily="18" charset="0"/>
                  <a:ea typeface="黑体" pitchFamily="49" charset="-122"/>
                  <a:cs typeface="Times New Roman" panose="02020603050405020304" pitchFamily="18" charset="0"/>
                </a:endParaRPr>
              </a:p>
              <a:p>
                <a:r>
                  <a:rPr lang="en-US" altLang="zh-CN" sz="1400" dirty="0">
                    <a:latin typeface="Times New Roman" panose="02020603050405020304" pitchFamily="18" charset="0"/>
                    <a:ea typeface="黑体" pitchFamily="49" charset="-122"/>
                    <a:cs typeface="Times New Roman" panose="02020603050405020304" pitchFamily="18" charset="0"/>
                  </a:rPr>
                  <a:t>        </a:t>
                </a:r>
                <a:r>
                  <a:rPr lang="zh-CN" altLang="en-US" sz="1400" dirty="0">
                    <a:latin typeface="Times New Roman" panose="02020603050405020304" pitchFamily="18" charset="0"/>
                    <a:ea typeface="黑体" pitchFamily="49" charset="-122"/>
                    <a:cs typeface="Times New Roman" panose="02020603050405020304" pitchFamily="18" charset="0"/>
                  </a:rPr>
                  <a:t>循环</a:t>
                </a:r>
                <a:endParaRPr lang="en-US" altLang="zh-CN" sz="1400" dirty="0">
                  <a:latin typeface="Times New Roman" panose="02020603050405020304" pitchFamily="18" charset="0"/>
                  <a:ea typeface="黑体" pitchFamily="49" charset="-122"/>
                  <a:cs typeface="Times New Roman" panose="02020603050405020304" pitchFamily="18" charset="0"/>
                </a:endParaRPr>
              </a:p>
              <a:p>
                <a:r>
                  <a:rPr lang="en-US" altLang="zh-CN" sz="1400" dirty="0">
                    <a:latin typeface="Times New Roman" panose="02020603050405020304" pitchFamily="18" charset="0"/>
                    <a:ea typeface="黑体" pitchFamily="49" charset="-122"/>
                    <a:cs typeface="Times New Roman" panose="02020603050405020304" pitchFamily="18" charset="0"/>
                  </a:rPr>
                  <a:t>                </a:t>
                </a:r>
                <a14:m>
                  <m:oMath xmlns:m="http://schemas.openxmlformats.org/officeDocument/2006/math">
                    <m:r>
                      <a:rPr lang="en-US" altLang="zh-CN" sz="1400" b="0" i="1" smtClean="0">
                        <a:latin typeface="Cambria Math" panose="02040503050406030204" pitchFamily="18" charset="0"/>
                        <a:ea typeface="黑体" pitchFamily="49" charset="-122"/>
                      </a:rPr>
                      <m:t>𝑎</m:t>
                    </m:r>
                    <m:r>
                      <a:rPr lang="en-US" altLang="zh-CN" sz="1400" b="0" i="1" smtClean="0">
                        <a:latin typeface="Cambria Math" panose="02040503050406030204" pitchFamily="18" charset="0"/>
                        <a:ea typeface="黑体" pitchFamily="49" charset="-122"/>
                      </a:rPr>
                      <m:t>∼</m:t>
                    </m:r>
                    <m:r>
                      <a:rPr lang="en-US" altLang="zh-CN" sz="1400" b="0" i="1" smtClean="0">
                        <a:latin typeface="Cambria Math" panose="02040503050406030204" pitchFamily="18" charset="0"/>
                        <a:ea typeface="黑体" pitchFamily="49" charset="-122"/>
                      </a:rPr>
                      <m:t>𝜋</m:t>
                    </m:r>
                    <m:r>
                      <a:rPr lang="en-US" altLang="zh-CN" sz="1400" b="0" i="1" smtClean="0">
                        <a:latin typeface="Cambria Math" panose="02040503050406030204" pitchFamily="18" charset="0"/>
                        <a:ea typeface="黑体" pitchFamily="49" charset="-122"/>
                      </a:rPr>
                      <m:t>(</m:t>
                    </m:r>
                    <m:r>
                      <a:rPr lang="en-US" altLang="zh-CN" sz="1400" b="0" i="1" smtClean="0">
                        <a:latin typeface="Cambria Math" panose="02040503050406030204" pitchFamily="18" charset="0"/>
                        <a:ea typeface="黑体" pitchFamily="49" charset="-122"/>
                      </a:rPr>
                      <m:t>𝑠</m:t>
                    </m:r>
                    <m:r>
                      <a:rPr lang="en-US" altLang="zh-CN" sz="1400" b="0" i="1" smtClean="0">
                        <a:latin typeface="Cambria Math" panose="02040503050406030204" pitchFamily="18" charset="0"/>
                        <a:ea typeface="黑体" pitchFamily="49" charset="-122"/>
                      </a:rPr>
                      <m:t>,⋅)</m:t>
                    </m:r>
                  </m:oMath>
                </a14:m>
                <a:r>
                  <a:rPr lang="en-US" altLang="zh-CN" sz="1400" dirty="0">
                    <a:latin typeface="Times New Roman" panose="02020603050405020304" pitchFamily="18" charset="0"/>
                    <a:ea typeface="黑体" pitchFamily="49" charset="-122"/>
                    <a:cs typeface="Times New Roman" panose="02020603050405020304" pitchFamily="18" charset="0"/>
                  </a:rPr>
                  <a:t> </a:t>
                </a:r>
              </a:p>
              <a:p>
                <a:r>
                  <a:rPr lang="en-US" altLang="zh-CN" sz="1400" dirty="0">
                    <a:latin typeface="Times New Roman" panose="02020603050405020304" pitchFamily="18" charset="0"/>
                    <a:ea typeface="黑体" pitchFamily="49" charset="-122"/>
                    <a:cs typeface="Times New Roman" panose="02020603050405020304" pitchFamily="18" charset="0"/>
                  </a:rPr>
                  <a:t>                </a:t>
                </a:r>
                <a:r>
                  <a:rPr lang="zh-CN" altLang="en-US" sz="1400" dirty="0">
                    <a:latin typeface="Times New Roman" panose="02020603050405020304" pitchFamily="18" charset="0"/>
                    <a:ea typeface="黑体" pitchFamily="49" charset="-122"/>
                    <a:cs typeface="Times New Roman" panose="02020603050405020304" pitchFamily="18" charset="0"/>
                  </a:rPr>
                  <a:t>执行动作</a:t>
                </a:r>
                <a14:m>
                  <m:oMath xmlns:m="http://schemas.openxmlformats.org/officeDocument/2006/math">
                    <m:r>
                      <a:rPr lang="en-US" altLang="zh-CN" sz="1400" b="0" i="1" smtClean="0">
                        <a:latin typeface="Cambria Math" panose="02040503050406030204" pitchFamily="18" charset="0"/>
                        <a:ea typeface="黑体" pitchFamily="49" charset="-122"/>
                      </a:rPr>
                      <m:t>𝑎</m:t>
                    </m:r>
                  </m:oMath>
                </a14:m>
                <a:r>
                  <a:rPr lang="zh-CN" altLang="en-US" sz="1400" dirty="0">
                    <a:latin typeface="Times New Roman" panose="02020603050405020304" pitchFamily="18" charset="0"/>
                    <a:ea typeface="黑体" pitchFamily="49" charset="-122"/>
                    <a:cs typeface="Times New Roman" panose="02020603050405020304" pitchFamily="18" charset="0"/>
                  </a:rPr>
                  <a:t>，观察奖励</a:t>
                </a:r>
                <a14:m>
                  <m:oMath xmlns:m="http://schemas.openxmlformats.org/officeDocument/2006/math">
                    <m:r>
                      <a:rPr lang="en-US" altLang="zh-CN" sz="1400" b="0" i="1" smtClean="0">
                        <a:latin typeface="Cambria Math" panose="02040503050406030204" pitchFamily="18" charset="0"/>
                        <a:ea typeface="黑体" pitchFamily="49" charset="-122"/>
                      </a:rPr>
                      <m:t>𝑅</m:t>
                    </m:r>
                  </m:oMath>
                </a14:m>
                <a:r>
                  <a:rPr lang="zh-CN" altLang="en-US" sz="1400" dirty="0">
                    <a:latin typeface="Times New Roman" panose="02020603050405020304" pitchFamily="18" charset="0"/>
                    <a:ea typeface="黑体" pitchFamily="49" charset="-122"/>
                    <a:cs typeface="Times New Roman" panose="02020603050405020304" pitchFamily="18" charset="0"/>
                  </a:rPr>
                  <a:t>和下一个状态</a:t>
                </a:r>
                <a14:m>
                  <m:oMath xmlns:m="http://schemas.openxmlformats.org/officeDocument/2006/math">
                    <m:r>
                      <a:rPr lang="en-US" altLang="zh-CN" sz="1400" b="0" i="1" smtClean="0">
                        <a:latin typeface="Cambria Math" panose="02040503050406030204" pitchFamily="18" charset="0"/>
                        <a:ea typeface="黑体" pitchFamily="49" charset="-122"/>
                      </a:rPr>
                      <m:t>𝑠</m:t>
                    </m:r>
                    <m:r>
                      <a:rPr lang="en-US" altLang="zh-CN" sz="1400" b="0" i="1" smtClean="0">
                        <a:latin typeface="Cambria Math" panose="02040503050406030204" pitchFamily="18" charset="0"/>
                        <a:ea typeface="黑体" pitchFamily="49" charset="-122"/>
                      </a:rPr>
                      <m:t>′</m:t>
                    </m:r>
                  </m:oMath>
                </a14:m>
                <a:endParaRPr lang="en-US" altLang="zh-CN" sz="1400" dirty="0">
                  <a:latin typeface="Times New Roman" panose="02020603050405020304" pitchFamily="18" charset="0"/>
                  <a:ea typeface="黑体" pitchFamily="49" charset="-122"/>
                  <a:cs typeface="Times New Roman" panose="02020603050405020304" pitchFamily="18" charset="0"/>
                </a:endParaRPr>
              </a:p>
              <a:p>
                <a:r>
                  <a:rPr lang="zh-CN" altLang="en-US" sz="1400" dirty="0">
                    <a:latin typeface="Times New Roman" panose="02020603050405020304" pitchFamily="18" charset="0"/>
                    <a:ea typeface="黑体" pitchFamily="49" charset="-122"/>
                    <a:cs typeface="Times New Roman" panose="02020603050405020304" pitchFamily="18" charset="0"/>
                  </a:rPr>
                  <a:t>                更新</a:t>
                </a:r>
                <a14:m>
                  <m:oMath xmlns:m="http://schemas.openxmlformats.org/officeDocument/2006/math">
                    <m:sSub>
                      <m:sSubPr>
                        <m:ctrlPr>
                          <a:rPr lang="en-US" altLang="zh-CN" sz="1400" i="1">
                            <a:latin typeface="Cambria Math" panose="02040503050406030204" pitchFamily="18" charset="0"/>
                            <a:ea typeface="黑体" pitchFamily="49" charset="-122"/>
                          </a:rPr>
                        </m:ctrlPr>
                      </m:sSubPr>
                      <m:e>
                        <m:r>
                          <a:rPr lang="en-US" altLang="zh-CN" sz="1400" i="1">
                            <a:latin typeface="Cambria Math" panose="02040503050406030204" pitchFamily="18" charset="0"/>
                            <a:ea typeface="黑体" pitchFamily="49" charset="-122"/>
                          </a:rPr>
                          <m:t>𝑉</m:t>
                        </m:r>
                      </m:e>
                      <m:sub>
                        <m:r>
                          <a:rPr lang="en-US" altLang="zh-CN" sz="1400" i="1">
                            <a:latin typeface="Cambria Math" panose="02040503050406030204" pitchFamily="18" charset="0"/>
                            <a:ea typeface="黑体" pitchFamily="49" charset="-122"/>
                          </a:rPr>
                          <m:t>𝜋</m:t>
                        </m:r>
                      </m:sub>
                    </m:sSub>
                    <m:d>
                      <m:dPr>
                        <m:ctrlPr>
                          <a:rPr lang="en-US" altLang="zh-CN" sz="1400" i="1">
                            <a:latin typeface="Cambria Math" panose="02040503050406030204" pitchFamily="18" charset="0"/>
                            <a:ea typeface="黑体" pitchFamily="49" charset="-122"/>
                          </a:rPr>
                        </m:ctrlPr>
                      </m:dPr>
                      <m:e>
                        <m:r>
                          <a:rPr lang="en-US" altLang="zh-CN" sz="1400" i="1">
                            <a:latin typeface="Cambria Math" panose="02040503050406030204" pitchFamily="18" charset="0"/>
                            <a:ea typeface="黑体" pitchFamily="49" charset="-122"/>
                          </a:rPr>
                          <m:t>𝑠</m:t>
                        </m:r>
                      </m:e>
                    </m:d>
                    <m:r>
                      <a:rPr lang="en-US" altLang="zh-CN" sz="1400" i="1">
                        <a:latin typeface="Cambria Math" panose="02040503050406030204" pitchFamily="18" charset="0"/>
                        <a:ea typeface="黑体" pitchFamily="49" charset="-122"/>
                      </a:rPr>
                      <m:t>←</m:t>
                    </m:r>
                    <m:sSub>
                      <m:sSubPr>
                        <m:ctrlPr>
                          <a:rPr lang="en-US" altLang="zh-CN" sz="1400" i="1">
                            <a:latin typeface="Cambria Math" panose="02040503050406030204" pitchFamily="18" charset="0"/>
                            <a:ea typeface="黑体" pitchFamily="49" charset="-122"/>
                          </a:rPr>
                        </m:ctrlPr>
                      </m:sSubPr>
                      <m:e>
                        <m:r>
                          <a:rPr lang="en-US" altLang="zh-CN" sz="1400" i="1">
                            <a:latin typeface="Cambria Math" panose="02040503050406030204" pitchFamily="18" charset="0"/>
                            <a:ea typeface="黑体" pitchFamily="49" charset="-122"/>
                          </a:rPr>
                          <m:t>𝑉</m:t>
                        </m:r>
                      </m:e>
                      <m:sub>
                        <m:r>
                          <a:rPr lang="en-US" altLang="zh-CN" sz="1400" i="1">
                            <a:latin typeface="Cambria Math" panose="02040503050406030204" pitchFamily="18" charset="0"/>
                            <a:ea typeface="黑体" pitchFamily="49" charset="-122"/>
                          </a:rPr>
                          <m:t>𝜋</m:t>
                        </m:r>
                      </m:sub>
                    </m:sSub>
                    <m:d>
                      <m:dPr>
                        <m:ctrlPr>
                          <a:rPr lang="en-US" altLang="zh-CN" sz="1400" i="1">
                            <a:latin typeface="Cambria Math" panose="02040503050406030204" pitchFamily="18" charset="0"/>
                            <a:ea typeface="黑体" pitchFamily="49" charset="-122"/>
                          </a:rPr>
                        </m:ctrlPr>
                      </m:dPr>
                      <m:e>
                        <m:r>
                          <a:rPr lang="en-US" altLang="zh-CN" sz="1400" i="1">
                            <a:latin typeface="Cambria Math" panose="02040503050406030204" pitchFamily="18" charset="0"/>
                            <a:ea typeface="黑体" pitchFamily="49" charset="-122"/>
                          </a:rPr>
                          <m:t>𝑠</m:t>
                        </m:r>
                      </m:e>
                    </m:d>
                    <m:r>
                      <a:rPr lang="en-US" altLang="zh-CN" sz="1400" i="1">
                        <a:latin typeface="Cambria Math" panose="02040503050406030204" pitchFamily="18" charset="0"/>
                        <a:ea typeface="黑体" pitchFamily="49" charset="-122"/>
                      </a:rPr>
                      <m:t>+</m:t>
                    </m:r>
                    <m:r>
                      <a:rPr lang="en-US" altLang="zh-CN" sz="1400" i="1">
                        <a:latin typeface="Cambria Math" panose="02040503050406030204" pitchFamily="18" charset="0"/>
                        <a:ea typeface="黑体" pitchFamily="49" charset="-122"/>
                      </a:rPr>
                      <m:t>𝛼</m:t>
                    </m:r>
                    <m:d>
                      <m:dPr>
                        <m:begChr m:val="["/>
                        <m:endChr m:val="]"/>
                        <m:ctrlPr>
                          <a:rPr lang="en-US" altLang="zh-CN" sz="1400" i="1">
                            <a:latin typeface="Cambria Math" panose="02040503050406030204" pitchFamily="18" charset="0"/>
                            <a:ea typeface="黑体" pitchFamily="49" charset="-122"/>
                          </a:rPr>
                        </m:ctrlPr>
                      </m:dPr>
                      <m:e>
                        <m:r>
                          <a:rPr lang="en-US" altLang="zh-CN" sz="1400" i="1">
                            <a:latin typeface="Cambria Math" panose="02040503050406030204" pitchFamily="18" charset="0"/>
                            <a:ea typeface="黑体" pitchFamily="49" charset="-122"/>
                          </a:rPr>
                          <m:t>𝑅</m:t>
                        </m:r>
                        <m:r>
                          <a:rPr lang="en-US" altLang="zh-CN" sz="1400" i="1">
                            <a:latin typeface="Cambria Math" panose="02040503050406030204" pitchFamily="18" charset="0"/>
                            <a:ea typeface="黑体" pitchFamily="49" charset="-122"/>
                          </a:rPr>
                          <m:t>+</m:t>
                        </m:r>
                        <m:r>
                          <a:rPr lang="en-US" altLang="zh-CN" sz="1400" i="1">
                            <a:latin typeface="Cambria Math" panose="02040503050406030204" pitchFamily="18" charset="0"/>
                            <a:ea typeface="黑体" pitchFamily="49" charset="-122"/>
                          </a:rPr>
                          <m:t>𝛾</m:t>
                        </m:r>
                        <m:sSub>
                          <m:sSubPr>
                            <m:ctrlPr>
                              <a:rPr lang="en-US" altLang="zh-CN" sz="1400" i="1">
                                <a:latin typeface="Cambria Math" panose="02040503050406030204" pitchFamily="18" charset="0"/>
                                <a:ea typeface="黑体" pitchFamily="49" charset="-122"/>
                              </a:rPr>
                            </m:ctrlPr>
                          </m:sSubPr>
                          <m:e>
                            <m:r>
                              <a:rPr lang="en-US" altLang="zh-CN" sz="1400" i="1">
                                <a:latin typeface="Cambria Math" panose="02040503050406030204" pitchFamily="18" charset="0"/>
                                <a:ea typeface="黑体" pitchFamily="49" charset="-122"/>
                              </a:rPr>
                              <m:t>𝑉</m:t>
                            </m:r>
                          </m:e>
                          <m:sub>
                            <m:r>
                              <a:rPr lang="en-US" altLang="zh-CN" sz="1400" i="1">
                                <a:latin typeface="Cambria Math" panose="02040503050406030204" pitchFamily="18" charset="0"/>
                                <a:ea typeface="黑体" pitchFamily="49" charset="-122"/>
                              </a:rPr>
                              <m:t>𝜋</m:t>
                            </m:r>
                          </m:sub>
                        </m:sSub>
                        <m:d>
                          <m:dPr>
                            <m:ctrlPr>
                              <a:rPr lang="en-US" altLang="zh-CN" sz="1400" i="1">
                                <a:latin typeface="Cambria Math" panose="02040503050406030204" pitchFamily="18" charset="0"/>
                                <a:ea typeface="黑体" pitchFamily="49" charset="-122"/>
                              </a:rPr>
                            </m:ctrlPr>
                          </m:dPr>
                          <m:e>
                            <m:sSup>
                              <m:sSupPr>
                                <m:ctrlPr>
                                  <a:rPr lang="en-US" altLang="zh-CN" sz="1400" i="1">
                                    <a:latin typeface="Cambria Math" panose="02040503050406030204" pitchFamily="18" charset="0"/>
                                    <a:ea typeface="黑体" pitchFamily="49" charset="-122"/>
                                  </a:rPr>
                                </m:ctrlPr>
                              </m:sSupPr>
                              <m:e>
                                <m:r>
                                  <a:rPr lang="en-US" altLang="zh-CN" sz="1400" i="1">
                                    <a:latin typeface="Cambria Math" panose="02040503050406030204" pitchFamily="18" charset="0"/>
                                    <a:ea typeface="黑体" pitchFamily="49" charset="-122"/>
                                  </a:rPr>
                                  <m:t>𝑠</m:t>
                                </m:r>
                              </m:e>
                              <m:sup>
                                <m:r>
                                  <a:rPr lang="en-US" altLang="zh-CN" sz="1400" i="1">
                                    <a:latin typeface="Cambria Math" panose="02040503050406030204" pitchFamily="18" charset="0"/>
                                    <a:ea typeface="黑体" pitchFamily="49" charset="-122"/>
                                  </a:rPr>
                                  <m:t>′</m:t>
                                </m:r>
                              </m:sup>
                            </m:sSup>
                          </m:e>
                        </m:d>
                        <m:r>
                          <a:rPr lang="en-US" altLang="zh-CN" sz="1400" i="1">
                            <a:latin typeface="Cambria Math" panose="02040503050406030204" pitchFamily="18" charset="0"/>
                            <a:ea typeface="黑体" pitchFamily="49" charset="-122"/>
                          </a:rPr>
                          <m:t>−</m:t>
                        </m:r>
                        <m:sSub>
                          <m:sSubPr>
                            <m:ctrlPr>
                              <a:rPr lang="en-US" altLang="zh-CN" sz="1400" i="1">
                                <a:latin typeface="Cambria Math" panose="02040503050406030204" pitchFamily="18" charset="0"/>
                                <a:ea typeface="黑体" pitchFamily="49" charset="-122"/>
                              </a:rPr>
                            </m:ctrlPr>
                          </m:sSubPr>
                          <m:e>
                            <m:r>
                              <a:rPr lang="en-US" altLang="zh-CN" sz="1400" i="1">
                                <a:latin typeface="Cambria Math" panose="02040503050406030204" pitchFamily="18" charset="0"/>
                                <a:ea typeface="黑体" pitchFamily="49" charset="-122"/>
                              </a:rPr>
                              <m:t>𝑉</m:t>
                            </m:r>
                          </m:e>
                          <m:sub>
                            <m:r>
                              <a:rPr lang="en-US" altLang="zh-CN" sz="1400" i="1">
                                <a:latin typeface="Cambria Math" panose="02040503050406030204" pitchFamily="18" charset="0"/>
                                <a:ea typeface="黑体" pitchFamily="49" charset="-122"/>
                              </a:rPr>
                              <m:t>𝜋</m:t>
                            </m:r>
                          </m:sub>
                        </m:sSub>
                        <m:d>
                          <m:dPr>
                            <m:ctrlPr>
                              <a:rPr lang="en-US" altLang="zh-CN" sz="1400" i="1">
                                <a:latin typeface="Cambria Math" panose="02040503050406030204" pitchFamily="18" charset="0"/>
                                <a:ea typeface="黑体" pitchFamily="49" charset="-122"/>
                              </a:rPr>
                            </m:ctrlPr>
                          </m:dPr>
                          <m:e>
                            <m:r>
                              <a:rPr lang="en-US" altLang="zh-CN" sz="1400" i="1">
                                <a:latin typeface="Cambria Math" panose="02040503050406030204" pitchFamily="18" charset="0"/>
                                <a:ea typeface="黑体" pitchFamily="49" charset="-122"/>
                              </a:rPr>
                              <m:t>𝑠</m:t>
                            </m:r>
                          </m:e>
                        </m:d>
                      </m:e>
                    </m:d>
                  </m:oMath>
                </a14:m>
                <a:endParaRPr lang="en-US" altLang="zh-CN" sz="1400" b="0" dirty="0">
                  <a:latin typeface="Times New Roman" panose="02020603050405020304" pitchFamily="18" charset="0"/>
                  <a:ea typeface="黑体" pitchFamily="49" charset="-122"/>
                  <a:cs typeface="Times New Roman" panose="02020603050405020304" pitchFamily="18" charset="0"/>
                </a:endParaRPr>
              </a:p>
              <a:p>
                <a:r>
                  <a:rPr lang="en-US" altLang="zh-CN" sz="1400" dirty="0">
                    <a:latin typeface="Times New Roman" panose="02020603050405020304" pitchFamily="18" charset="0"/>
                    <a:ea typeface="黑体" pitchFamily="49" charset="-122"/>
                    <a:cs typeface="Times New Roman" panose="02020603050405020304" pitchFamily="18" charset="0"/>
                  </a:rPr>
                  <a:t>                </a:t>
                </a:r>
                <a14:m>
                  <m:oMath xmlns:m="http://schemas.openxmlformats.org/officeDocument/2006/math">
                    <m:r>
                      <a:rPr lang="en-US" altLang="zh-CN" sz="1400" b="0" i="1" smtClean="0">
                        <a:latin typeface="Cambria Math" panose="02040503050406030204" pitchFamily="18" charset="0"/>
                        <a:ea typeface="黑体" pitchFamily="49" charset="-122"/>
                      </a:rPr>
                      <m:t>𝑠</m:t>
                    </m:r>
                    <m:r>
                      <a:rPr lang="en-US" altLang="zh-CN" sz="1400" b="0" i="1" smtClean="0">
                        <a:latin typeface="Cambria Math" panose="02040503050406030204" pitchFamily="18" charset="0"/>
                        <a:ea typeface="黑体" pitchFamily="49" charset="-122"/>
                      </a:rPr>
                      <m:t>←</m:t>
                    </m:r>
                    <m:r>
                      <a:rPr lang="en-US" altLang="zh-CN" sz="1400" b="0" i="1" smtClean="0">
                        <a:latin typeface="Cambria Math" panose="02040503050406030204" pitchFamily="18" charset="0"/>
                        <a:ea typeface="黑体" pitchFamily="49" charset="-122"/>
                      </a:rPr>
                      <m:t>𝑠</m:t>
                    </m:r>
                    <m:r>
                      <a:rPr lang="en-US" altLang="zh-CN" sz="1400" b="0" i="1" smtClean="0">
                        <a:latin typeface="Cambria Math" panose="02040503050406030204" pitchFamily="18" charset="0"/>
                        <a:ea typeface="黑体" pitchFamily="49" charset="-122"/>
                      </a:rPr>
                      <m:t>′</m:t>
                    </m:r>
                  </m:oMath>
                </a14:m>
                <a:endParaRPr lang="en-US" altLang="zh-CN" sz="1400" dirty="0">
                  <a:latin typeface="Times New Roman" panose="02020603050405020304" pitchFamily="18" charset="0"/>
                  <a:ea typeface="黑体" pitchFamily="49" charset="-122"/>
                  <a:cs typeface="Times New Roman" panose="02020603050405020304" pitchFamily="18" charset="0"/>
                </a:endParaRPr>
              </a:p>
              <a:p>
                <a:r>
                  <a:rPr lang="en-US" altLang="zh-CN" sz="1400" dirty="0">
                    <a:latin typeface="Times New Roman" panose="02020603050405020304" pitchFamily="18" charset="0"/>
                    <a:ea typeface="黑体" pitchFamily="49" charset="-122"/>
                    <a:cs typeface="Times New Roman" panose="02020603050405020304" pitchFamily="18" charset="0"/>
                  </a:rPr>
                  <a:t>        </a:t>
                </a:r>
                <a:r>
                  <a:rPr lang="zh-CN" altLang="en-US" sz="1400" dirty="0">
                    <a:solidFill>
                      <a:srgbClr val="FF0000"/>
                    </a:solidFill>
                    <a:latin typeface="Times New Roman" panose="02020603050405020304" pitchFamily="18" charset="0"/>
                    <a:ea typeface="黑体" pitchFamily="49" charset="-122"/>
                    <a:cs typeface="Times New Roman" panose="02020603050405020304" pitchFamily="18" charset="0"/>
                  </a:rPr>
                  <a:t>直到</a:t>
                </a:r>
                <a14:m>
                  <m:oMath xmlns:m="http://schemas.openxmlformats.org/officeDocument/2006/math">
                    <m:r>
                      <a:rPr lang="en-US" altLang="zh-CN" sz="1400" b="0" i="1" smtClean="0">
                        <a:solidFill>
                          <a:srgbClr val="FF0000"/>
                        </a:solidFill>
                        <a:latin typeface="Cambria Math" panose="02040503050406030204" pitchFamily="18" charset="0"/>
                        <a:ea typeface="黑体" pitchFamily="49" charset="-122"/>
                      </a:rPr>
                      <m:t>𝑠</m:t>
                    </m:r>
                  </m:oMath>
                </a14:m>
                <a:r>
                  <a:rPr lang="zh-CN" altLang="en-US" sz="1400" dirty="0">
                    <a:solidFill>
                      <a:srgbClr val="FF0000"/>
                    </a:solidFill>
                    <a:latin typeface="Times New Roman" panose="02020603050405020304" pitchFamily="18" charset="0"/>
                    <a:ea typeface="黑体" pitchFamily="49" charset="-122"/>
                    <a:cs typeface="Times New Roman" panose="02020603050405020304" pitchFamily="18" charset="0"/>
                  </a:rPr>
                  <a:t>是终止状态</a:t>
                </a:r>
                <a:endParaRPr lang="en-US" altLang="zh-CN" sz="1400" dirty="0">
                  <a:solidFill>
                    <a:srgbClr val="FF0000"/>
                  </a:solidFill>
                  <a:latin typeface="Times New Roman" panose="02020603050405020304" pitchFamily="18" charset="0"/>
                  <a:ea typeface="黑体" pitchFamily="49" charset="-122"/>
                  <a:cs typeface="Times New Roman" panose="02020603050405020304" pitchFamily="18" charset="0"/>
                </a:endParaRPr>
              </a:p>
              <a:p>
                <a:r>
                  <a:rPr lang="zh-CN" altLang="en-US" sz="1400" dirty="0">
                    <a:latin typeface="Times New Roman" panose="02020603050405020304" pitchFamily="18" charset="0"/>
                    <a:ea typeface="黑体" pitchFamily="49" charset="-122"/>
                    <a:cs typeface="Times New Roman" panose="02020603050405020304" pitchFamily="18" charset="0"/>
                  </a:rPr>
                  <a:t>直到</a:t>
                </a:r>
                <a14:m>
                  <m:oMath xmlns:m="http://schemas.openxmlformats.org/officeDocument/2006/math">
                    <m:sSub>
                      <m:sSubPr>
                        <m:ctrlPr>
                          <a:rPr lang="en-US" altLang="zh-CN" sz="1400" b="0" i="1" smtClean="0">
                            <a:latin typeface="Cambria Math" panose="02040503050406030204" pitchFamily="18" charset="0"/>
                            <a:ea typeface="黑体" pitchFamily="49" charset="-122"/>
                          </a:rPr>
                        </m:ctrlPr>
                      </m:sSubPr>
                      <m:e>
                        <m:r>
                          <a:rPr lang="en-US" altLang="zh-CN" sz="1400" b="0" i="1" smtClean="0">
                            <a:latin typeface="Cambria Math"/>
                            <a:ea typeface="黑体" pitchFamily="49" charset="-122"/>
                          </a:rPr>
                          <m:t>𝑞</m:t>
                        </m:r>
                      </m:e>
                      <m:sub>
                        <m:r>
                          <a:rPr lang="en-US" altLang="zh-CN" sz="1400" b="0" i="1" smtClean="0">
                            <a:latin typeface="Cambria Math" panose="02040503050406030204" pitchFamily="18" charset="0"/>
                            <a:ea typeface="黑体" pitchFamily="49" charset="-122"/>
                          </a:rPr>
                          <m:t>𝜋</m:t>
                        </m:r>
                      </m:sub>
                    </m:sSub>
                    <m:r>
                      <a:rPr lang="zh-CN" altLang="en-US" sz="1400" i="1">
                        <a:latin typeface="Cambria Math" panose="02040503050406030204" pitchFamily="18" charset="0"/>
                        <a:ea typeface="黑体" pitchFamily="49" charset="-122"/>
                      </a:rPr>
                      <m:t>收敛</m:t>
                    </m:r>
                  </m:oMath>
                </a14:m>
                <a:endParaRPr lang="en-US" altLang="zh-CN" sz="14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29" name="文本框 28">
                <a:extLst>
                  <a:ext uri="{FF2B5EF4-FFF2-40B4-BE49-F238E27FC236}">
                    <a16:creationId xmlns:a16="http://schemas.microsoft.com/office/drawing/2014/main" id="{2C8F93FF-7CAA-40B6-989B-665B09ED4B37}"/>
                  </a:ext>
                </a:extLst>
              </p:cNvPr>
              <p:cNvSpPr txBox="1">
                <a:spLocks noRot="1" noChangeAspect="1" noMove="1" noResize="1" noEditPoints="1" noAdjustHandles="1" noChangeArrowheads="1" noChangeShapeType="1" noTextEdit="1"/>
              </p:cNvSpPr>
              <p:nvPr/>
            </p:nvSpPr>
            <p:spPr>
              <a:xfrm>
                <a:off x="729942" y="2244002"/>
                <a:ext cx="5721658" cy="2246769"/>
              </a:xfrm>
              <a:prstGeom prst="rect">
                <a:avLst/>
              </a:prstGeom>
              <a:blipFill>
                <a:blip r:embed="rId3"/>
                <a:stretch>
                  <a:fillRect l="-213" t="-539" b="-1348"/>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0F88C0A3-88A4-8A7E-D8A7-B8ACB1269916}"/>
                  </a:ext>
                </a:extLst>
              </p:cNvPr>
              <p:cNvSpPr txBox="1"/>
              <p:nvPr/>
            </p:nvSpPr>
            <p:spPr>
              <a:xfrm>
                <a:off x="2838451" y="2977507"/>
                <a:ext cx="2499213" cy="37253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0" i="1" dirty="0" smtClean="0">
                          <a:solidFill>
                            <a:srgbClr val="FF0000"/>
                          </a:solidFill>
                          <a:latin typeface="Cambria Math" panose="02040503050406030204" pitchFamily="18" charset="0"/>
                          <a:ea typeface="黑体" pitchFamily="49" charset="-122"/>
                        </a:rPr>
                        <m:t>𝑎</m:t>
                      </m:r>
                      <m:r>
                        <a:rPr lang="en-US" altLang="zh-CN" sz="1800" b="0" i="1" dirty="0" smtClean="0">
                          <a:solidFill>
                            <a:srgbClr val="FF0000"/>
                          </a:solidFill>
                          <a:latin typeface="Cambria Math" panose="02040503050406030204" pitchFamily="18" charset="0"/>
                          <a:ea typeface="黑体" pitchFamily="49" charset="-122"/>
                        </a:rPr>
                        <m:t>=</m:t>
                      </m:r>
                      <m:sSub>
                        <m:sSubPr>
                          <m:ctrlPr>
                            <a:rPr lang="en-US" altLang="zh-CN" sz="1800" b="0" i="1" dirty="0" smtClean="0">
                              <a:solidFill>
                                <a:srgbClr val="FF0000"/>
                              </a:solidFill>
                              <a:latin typeface="Cambria Math" panose="02040503050406030204" pitchFamily="18" charset="0"/>
                              <a:ea typeface="黑体" pitchFamily="49" charset="-122"/>
                            </a:rPr>
                          </m:ctrlPr>
                        </m:sSubPr>
                        <m:e>
                          <m:r>
                            <m:rPr>
                              <m:sty m:val="p"/>
                            </m:rPr>
                            <a:rPr lang="en-US" altLang="zh-CN" sz="1800" b="0" i="0" dirty="0" smtClean="0">
                              <a:solidFill>
                                <a:srgbClr val="FF0000"/>
                              </a:solidFill>
                              <a:latin typeface="Cambria Math" panose="02040503050406030204" pitchFamily="18" charset="0"/>
                              <a:ea typeface="黑体" pitchFamily="49" charset="-122"/>
                            </a:rPr>
                            <m:t>argmax</m:t>
                          </m:r>
                        </m:e>
                        <m:sub>
                          <m:sSup>
                            <m:sSupPr>
                              <m:ctrlPr>
                                <a:rPr lang="en-US" altLang="zh-CN" sz="1800" b="0" i="1" dirty="0" smtClean="0">
                                  <a:solidFill>
                                    <a:srgbClr val="FF0000"/>
                                  </a:solidFill>
                                  <a:latin typeface="Cambria Math" panose="02040503050406030204" pitchFamily="18" charset="0"/>
                                  <a:ea typeface="黑体" pitchFamily="49" charset="-122"/>
                                </a:rPr>
                              </m:ctrlPr>
                            </m:sSupPr>
                            <m:e>
                              <m:r>
                                <a:rPr lang="en-US" altLang="zh-CN" sz="1800" b="0" i="1" dirty="0" smtClean="0">
                                  <a:solidFill>
                                    <a:srgbClr val="FF0000"/>
                                  </a:solidFill>
                                  <a:latin typeface="Cambria Math" panose="02040503050406030204" pitchFamily="18" charset="0"/>
                                  <a:ea typeface="黑体" pitchFamily="49" charset="-122"/>
                                </a:rPr>
                                <m:t>𝑎</m:t>
                              </m:r>
                            </m:e>
                            <m:sup>
                              <m:r>
                                <a:rPr lang="en-US" altLang="zh-CN" sz="1800" b="0" i="1" dirty="0" smtClean="0">
                                  <a:solidFill>
                                    <a:srgbClr val="FF0000"/>
                                  </a:solidFill>
                                  <a:latin typeface="Cambria Math" panose="02040503050406030204" pitchFamily="18" charset="0"/>
                                  <a:ea typeface="黑体" pitchFamily="49" charset="-122"/>
                                </a:rPr>
                                <m:t>′</m:t>
                              </m:r>
                            </m:sup>
                          </m:sSup>
                        </m:sub>
                      </m:sSub>
                      <m:sSub>
                        <m:sSubPr>
                          <m:ctrlPr>
                            <a:rPr lang="en-US" altLang="zh-CN" sz="1800" b="0" i="1" dirty="0" smtClean="0">
                              <a:solidFill>
                                <a:srgbClr val="FF0000"/>
                              </a:solidFill>
                              <a:latin typeface="Cambria Math" panose="02040503050406030204" pitchFamily="18" charset="0"/>
                              <a:ea typeface="黑体" pitchFamily="49" charset="-122"/>
                            </a:rPr>
                          </m:ctrlPr>
                        </m:sSubPr>
                        <m:e>
                          <m:r>
                            <a:rPr lang="en-US" altLang="zh-CN" sz="1800" b="0" i="1" dirty="0" smtClean="0">
                              <a:solidFill>
                                <a:srgbClr val="FF0000"/>
                              </a:solidFill>
                              <a:latin typeface="Cambria Math" panose="02040503050406030204" pitchFamily="18" charset="0"/>
                              <a:ea typeface="黑体" pitchFamily="49" charset="-122"/>
                            </a:rPr>
                            <m:t>𝑞</m:t>
                          </m:r>
                        </m:e>
                        <m:sub>
                          <m:r>
                            <a:rPr lang="en-US" altLang="zh-CN" sz="1800" b="0" i="1" dirty="0" smtClean="0">
                              <a:solidFill>
                                <a:srgbClr val="FF0000"/>
                              </a:solidFill>
                              <a:latin typeface="Cambria Math" panose="02040503050406030204" pitchFamily="18" charset="0"/>
                              <a:ea typeface="黑体" pitchFamily="49" charset="-122"/>
                            </a:rPr>
                            <m:t>𝜋</m:t>
                          </m:r>
                        </m:sub>
                      </m:sSub>
                      <m:r>
                        <a:rPr lang="en-US" altLang="zh-CN" sz="1800" b="0" i="1" dirty="0" smtClean="0">
                          <a:solidFill>
                            <a:srgbClr val="FF0000"/>
                          </a:solidFill>
                          <a:latin typeface="Cambria Math" panose="02040503050406030204" pitchFamily="18" charset="0"/>
                          <a:ea typeface="黑体" pitchFamily="49" charset="-122"/>
                        </a:rPr>
                        <m:t>(</m:t>
                      </m:r>
                      <m:r>
                        <a:rPr lang="en-US" altLang="zh-CN" sz="1800" b="0" i="1" dirty="0" smtClean="0">
                          <a:solidFill>
                            <a:srgbClr val="FF0000"/>
                          </a:solidFill>
                          <a:latin typeface="Cambria Math" panose="02040503050406030204" pitchFamily="18" charset="0"/>
                          <a:ea typeface="黑体" pitchFamily="49" charset="-122"/>
                        </a:rPr>
                        <m:t>𝑠</m:t>
                      </m:r>
                      <m:r>
                        <a:rPr lang="en-US" altLang="zh-CN" sz="1800" b="0" i="1" dirty="0" smtClean="0">
                          <a:solidFill>
                            <a:srgbClr val="FF0000"/>
                          </a:solidFill>
                          <a:latin typeface="Cambria Math" panose="02040503050406030204" pitchFamily="18" charset="0"/>
                          <a:ea typeface="黑体" pitchFamily="49" charset="-122"/>
                        </a:rPr>
                        <m:t>,</m:t>
                      </m:r>
                      <m:r>
                        <a:rPr lang="en-US" altLang="zh-CN" sz="1800" b="0" i="1" dirty="0" smtClean="0">
                          <a:solidFill>
                            <a:srgbClr val="FF0000"/>
                          </a:solidFill>
                          <a:latin typeface="Cambria Math" panose="02040503050406030204" pitchFamily="18" charset="0"/>
                          <a:ea typeface="黑体" pitchFamily="49" charset="-122"/>
                        </a:rPr>
                        <m:t>𝑎</m:t>
                      </m:r>
                      <m:r>
                        <a:rPr lang="en-US" altLang="zh-CN" sz="1800" b="0" i="1" dirty="0" smtClean="0">
                          <a:solidFill>
                            <a:srgbClr val="FF0000"/>
                          </a:solidFill>
                          <a:latin typeface="Cambria Math" panose="02040503050406030204" pitchFamily="18" charset="0"/>
                          <a:ea typeface="黑体" pitchFamily="49" charset="-122"/>
                        </a:rPr>
                        <m:t>′)</m:t>
                      </m:r>
                    </m:oMath>
                  </m:oMathPara>
                </a14:m>
                <a:endParaRPr lang="en-US" altLang="zh-CN" sz="1800" dirty="0">
                  <a:latin typeface="Times New Roman" panose="02020603050405020304" pitchFamily="18" charset="0"/>
                  <a:ea typeface="黑体" pitchFamily="49" charset="-122"/>
                  <a:cs typeface="Times New Roman" panose="02020603050405020304" pitchFamily="18" charset="0"/>
                </a:endParaRPr>
              </a:p>
            </p:txBody>
          </p:sp>
        </mc:Choice>
        <mc:Fallback xmlns="">
          <p:sp>
            <p:nvSpPr>
              <p:cNvPr id="10" name="文本框 9">
                <a:extLst>
                  <a:ext uri="{FF2B5EF4-FFF2-40B4-BE49-F238E27FC236}">
                    <a16:creationId xmlns:a16="http://schemas.microsoft.com/office/drawing/2014/main" id="{0F88C0A3-88A4-8A7E-D8A7-B8ACB1269916}"/>
                  </a:ext>
                </a:extLst>
              </p:cNvPr>
              <p:cNvSpPr txBox="1">
                <a:spLocks noRot="1" noChangeAspect="1" noMove="1" noResize="1" noEditPoints="1" noAdjustHandles="1" noChangeArrowheads="1" noChangeShapeType="1" noTextEdit="1"/>
              </p:cNvSpPr>
              <p:nvPr/>
            </p:nvSpPr>
            <p:spPr>
              <a:xfrm>
                <a:off x="2838451" y="2977507"/>
                <a:ext cx="2499213" cy="372538"/>
              </a:xfrm>
              <a:prstGeom prst="rect">
                <a:avLst/>
              </a:prstGeom>
              <a:blipFill>
                <a:blip r:embed="rId4"/>
                <a:stretch>
                  <a:fillRect b="-12903"/>
                </a:stretch>
              </a:blipFill>
            </p:spPr>
            <p:txBody>
              <a:bodyPr/>
              <a:lstStyle/>
              <a:p>
                <a:r>
                  <a:rPr lang="zh-CN" altLang="en-US">
                    <a:noFill/>
                  </a:rPr>
                  <a:t> </a:t>
                </a:r>
              </a:p>
            </p:txBody>
          </p:sp>
        </mc:Fallback>
      </mc:AlternateContent>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en-US" altLang="zh-CN"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Q</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学习算法</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p:sp>
        <p:nvSpPr>
          <p:cNvPr id="30" name="矩形 29">
            <a:extLst>
              <a:ext uri="{FF2B5EF4-FFF2-40B4-BE49-F238E27FC236}">
                <a16:creationId xmlns:a16="http://schemas.microsoft.com/office/drawing/2014/main" id="{4C035EA0-1A03-406C-A041-5FEC5AB5CDC7}"/>
              </a:ext>
            </a:extLst>
          </p:cNvPr>
          <p:cNvSpPr/>
          <p:nvPr/>
        </p:nvSpPr>
        <p:spPr>
          <a:xfrm>
            <a:off x="729942" y="4042956"/>
            <a:ext cx="4922044" cy="523220"/>
          </a:xfrm>
          <a:prstGeom prst="rect">
            <a:avLst/>
          </a:prstGeom>
        </p:spPr>
        <p:txBody>
          <a:bodyPr wrap="square">
            <a:spAutoFit/>
          </a:bodyPr>
          <a:lstStyle/>
          <a:p>
            <a:br>
              <a:rPr lang="en-US" altLang="zh-CN" sz="1400" dirty="0">
                <a:latin typeface="Times New Roman" panose="02020603050405020304" pitchFamily="18" charset="0"/>
                <a:ea typeface="黑体" panose="02010609060101010101" pitchFamily="49" charset="-122"/>
                <a:cs typeface="Times New Roman" panose="02020603050405020304" pitchFamily="18" charset="0"/>
              </a:rPr>
            </a:br>
            <a:endParaRPr lang="en-US" altLang="zh-CN" sz="1400" dirty="0">
              <a:latin typeface="Times New Roman" panose="02020603050405020304" pitchFamily="18" charset="0"/>
              <a:cs typeface="Times New Roman" panose="02020603050405020304" pitchFamily="18" charset="0"/>
            </a:endParaRPr>
          </a:p>
        </p:txBody>
      </p:sp>
      <p:sp>
        <p:nvSpPr>
          <p:cNvPr id="33" name="矩形 32">
            <a:extLst>
              <a:ext uri="{FF2B5EF4-FFF2-40B4-BE49-F238E27FC236}">
                <a16:creationId xmlns:a16="http://schemas.microsoft.com/office/drawing/2014/main" id="{FCF19E15-CE6D-44EF-BB56-6F44CE6A06D8}"/>
              </a:ext>
            </a:extLst>
          </p:cNvPr>
          <p:cNvSpPr/>
          <p:nvPr/>
        </p:nvSpPr>
        <p:spPr>
          <a:xfrm>
            <a:off x="2861074" y="3011807"/>
            <a:ext cx="2499213" cy="338622"/>
          </a:xfrm>
          <a:prstGeom prst="rect">
            <a:avLst/>
          </a:prstGeom>
          <a:no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400" dirty="0">
              <a:latin typeface="Times New Roman" panose="02020603050405020304" pitchFamily="18" charset="0"/>
              <a:ea typeface="黑体" pitchFamily="49" charset="-122"/>
              <a:cs typeface="Times New Roman" panose="02020603050405020304" pitchFamily="18" charset="0"/>
            </a:endParaRPr>
          </a:p>
        </p:txBody>
      </p:sp>
      <p:sp>
        <p:nvSpPr>
          <p:cNvPr id="34" name="矩形 33">
            <a:extLst>
              <a:ext uri="{FF2B5EF4-FFF2-40B4-BE49-F238E27FC236}">
                <a16:creationId xmlns:a16="http://schemas.microsoft.com/office/drawing/2014/main" id="{8741B680-1938-4869-B21C-FDBCBC0A0DC8}"/>
              </a:ext>
            </a:extLst>
          </p:cNvPr>
          <p:cNvSpPr/>
          <p:nvPr/>
        </p:nvSpPr>
        <p:spPr>
          <a:xfrm>
            <a:off x="6484342" y="4250101"/>
            <a:ext cx="4248216" cy="414456"/>
          </a:xfrm>
          <a:prstGeom prst="rect">
            <a:avLst/>
          </a:prstGeom>
          <a:no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400" dirty="0">
              <a:latin typeface="Times New Roman" panose="02020603050405020304" pitchFamily="18" charset="0"/>
              <a:ea typeface="黑体" pitchFamily="49" charset="-122"/>
              <a:cs typeface="Times New Roman" panose="02020603050405020304" pitchFamily="18" charset="0"/>
            </a:endParaRPr>
          </a:p>
        </p:txBody>
      </p:sp>
      <p:cxnSp>
        <p:nvCxnSpPr>
          <p:cNvPr id="36" name="直接箭头连接符 35">
            <a:extLst>
              <a:ext uri="{FF2B5EF4-FFF2-40B4-BE49-F238E27FC236}">
                <a16:creationId xmlns:a16="http://schemas.microsoft.com/office/drawing/2014/main" id="{FAC39BC3-7DF4-4598-B13B-961D87299F67}"/>
              </a:ext>
            </a:extLst>
          </p:cNvPr>
          <p:cNvCxnSpPr>
            <a:cxnSpLocks/>
            <a:endCxn id="38" idx="0"/>
          </p:cNvCxnSpPr>
          <p:nvPr/>
        </p:nvCxnSpPr>
        <p:spPr>
          <a:xfrm>
            <a:off x="8602410" y="3902650"/>
            <a:ext cx="0" cy="3166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矩形 36">
                <a:extLst>
                  <a:ext uri="{FF2B5EF4-FFF2-40B4-BE49-F238E27FC236}">
                    <a16:creationId xmlns:a16="http://schemas.microsoft.com/office/drawing/2014/main" id="{01C595CD-7EDB-403B-879B-E5BD0C946D3D}"/>
                  </a:ext>
                </a:extLst>
              </p:cNvPr>
              <p:cNvSpPr/>
              <p:nvPr/>
            </p:nvSpPr>
            <p:spPr>
              <a:xfrm>
                <a:off x="5816332" y="3027229"/>
                <a:ext cx="3525452" cy="307777"/>
              </a:xfrm>
              <a:prstGeom prst="rect">
                <a:avLst/>
              </a:prstGeom>
              <a:ln/>
            </p:spPr>
            <p:style>
              <a:lnRef idx="2">
                <a:schemeClr val="accent1"/>
              </a:lnRef>
              <a:fillRef idx="1">
                <a:schemeClr val="lt1"/>
              </a:fillRef>
              <a:effectRef idx="0">
                <a:schemeClr val="accent1"/>
              </a:effectRef>
              <a:fontRef idx="minor">
                <a:schemeClr val="dk1"/>
              </a:fontRef>
            </p:style>
            <p:txBody>
              <a:bodyPr wrap="none">
                <a:spAutoFit/>
              </a:bodyPr>
              <a:lstStyle/>
              <a:p>
                <a:r>
                  <a:rPr lang="zh-CN" altLang="en-US" sz="1400" dirty="0">
                    <a:latin typeface="Times New Roman" panose="02020603050405020304" pitchFamily="18" charset="0"/>
                    <a:ea typeface="黑体" pitchFamily="49" charset="-122"/>
                    <a:cs typeface="Times New Roman" panose="02020603050405020304" pitchFamily="18" charset="0"/>
                  </a:rPr>
                  <a:t>先前的策略优化：</a:t>
                </a:r>
                <a14:m>
                  <m:oMath xmlns:m="http://schemas.openxmlformats.org/officeDocument/2006/math">
                    <m:sSup>
                      <m:sSupPr>
                        <m:ctrlPr>
                          <a:rPr lang="en-US" altLang="zh-CN" sz="1400" i="1">
                            <a:latin typeface="Cambria Math" panose="02040503050406030204" pitchFamily="18" charset="0"/>
                            <a:ea typeface="黑体" panose="02010609060101010101" pitchFamily="49" charset="-122"/>
                          </a:rPr>
                        </m:ctrlPr>
                      </m:sSupPr>
                      <m:e>
                        <m:r>
                          <a:rPr lang="en-US" altLang="zh-CN" sz="1400" i="1">
                            <a:latin typeface="Cambria Math" panose="02040503050406030204" pitchFamily="18" charset="0"/>
                            <a:ea typeface="黑体" panose="02010609060101010101" pitchFamily="49" charset="-122"/>
                          </a:rPr>
                          <m:t>𝜋</m:t>
                        </m:r>
                      </m:e>
                      <m:sup>
                        <m:r>
                          <a:rPr lang="en-US" altLang="zh-CN" sz="1400" i="1">
                            <a:latin typeface="Cambria Math" panose="02040503050406030204" pitchFamily="18" charset="0"/>
                            <a:ea typeface="黑体" panose="02010609060101010101" pitchFamily="49" charset="-122"/>
                          </a:rPr>
                          <m:t>′</m:t>
                        </m:r>
                      </m:sup>
                    </m:sSup>
                    <m:d>
                      <m:dPr>
                        <m:ctrlPr>
                          <a:rPr lang="en-US" altLang="zh-CN" sz="1400" i="1">
                            <a:latin typeface="Cambria Math" panose="02040503050406030204" pitchFamily="18" charset="0"/>
                            <a:ea typeface="黑体" panose="02010609060101010101" pitchFamily="49" charset="-122"/>
                          </a:rPr>
                        </m:ctrlPr>
                      </m:dPr>
                      <m:e>
                        <m:r>
                          <a:rPr lang="en-US" altLang="zh-CN" sz="1400" i="1">
                            <a:latin typeface="Cambria Math" panose="02040503050406030204" pitchFamily="18" charset="0"/>
                            <a:ea typeface="黑体" panose="02010609060101010101" pitchFamily="49" charset="-122"/>
                          </a:rPr>
                          <m:t>𝑠</m:t>
                        </m:r>
                      </m:e>
                    </m:d>
                    <m:r>
                      <a:rPr lang="en-US" altLang="zh-CN" sz="1400" i="1">
                        <a:latin typeface="Cambria Math" panose="02040503050406030204" pitchFamily="18" charset="0"/>
                        <a:ea typeface="黑体" panose="02010609060101010101" pitchFamily="49" charset="-122"/>
                      </a:rPr>
                      <m:t>=</m:t>
                    </m:r>
                    <m:sSub>
                      <m:sSubPr>
                        <m:ctrlPr>
                          <a:rPr lang="en-US" altLang="zh-CN" sz="1400" i="1">
                            <a:latin typeface="Cambria Math" panose="02040503050406030204" pitchFamily="18" charset="0"/>
                            <a:ea typeface="黑体" panose="02010609060101010101" pitchFamily="49" charset="-122"/>
                          </a:rPr>
                        </m:ctrlPr>
                      </m:sSubPr>
                      <m:e>
                        <m:r>
                          <m:rPr>
                            <m:sty m:val="p"/>
                          </m:rPr>
                          <a:rPr lang="en-US" altLang="zh-CN" sz="1400">
                            <a:latin typeface="Cambria Math" panose="02040503050406030204" pitchFamily="18" charset="0"/>
                            <a:ea typeface="黑体" panose="02010609060101010101" pitchFamily="49" charset="-122"/>
                          </a:rPr>
                          <m:t>argmax</m:t>
                        </m:r>
                      </m:e>
                      <m:sub>
                        <m:r>
                          <a:rPr lang="en-US" altLang="zh-CN" sz="1400" i="1">
                            <a:latin typeface="Cambria Math" panose="02040503050406030204" pitchFamily="18" charset="0"/>
                            <a:ea typeface="黑体" panose="02010609060101010101" pitchFamily="49" charset="-122"/>
                          </a:rPr>
                          <m:t>𝑎</m:t>
                        </m:r>
                      </m:sub>
                    </m:sSub>
                    <m:sSub>
                      <m:sSubPr>
                        <m:ctrlPr>
                          <a:rPr lang="en-US" altLang="zh-CN" sz="1400" i="1">
                            <a:latin typeface="Cambria Math" panose="02040503050406030204" pitchFamily="18" charset="0"/>
                            <a:ea typeface="黑体" panose="02010609060101010101" pitchFamily="49" charset="-122"/>
                          </a:rPr>
                        </m:ctrlPr>
                      </m:sSubPr>
                      <m:e>
                        <m:r>
                          <a:rPr lang="en-US" altLang="zh-CN" sz="1400" i="1">
                            <a:latin typeface="Cambria Math" panose="02040503050406030204" pitchFamily="18" charset="0"/>
                            <a:ea typeface="黑体" panose="02010609060101010101" pitchFamily="49" charset="-122"/>
                          </a:rPr>
                          <m:t>𝑞</m:t>
                        </m:r>
                      </m:e>
                      <m:sub>
                        <m:r>
                          <a:rPr lang="en-US" altLang="zh-CN" sz="1400" i="1">
                            <a:latin typeface="Cambria Math" panose="02040503050406030204" pitchFamily="18" charset="0"/>
                            <a:ea typeface="黑体" panose="02010609060101010101" pitchFamily="49" charset="-122"/>
                          </a:rPr>
                          <m:t>𝜋</m:t>
                        </m:r>
                      </m:sub>
                    </m:sSub>
                    <m:r>
                      <a:rPr lang="en-US" altLang="zh-CN" sz="1400" i="1">
                        <a:latin typeface="Cambria Math" panose="02040503050406030204" pitchFamily="18" charset="0"/>
                        <a:ea typeface="黑体" panose="02010609060101010101" pitchFamily="49" charset="-122"/>
                      </a:rPr>
                      <m:t>(</m:t>
                    </m:r>
                    <m:r>
                      <a:rPr lang="en-US" altLang="zh-CN" sz="1400" i="1">
                        <a:latin typeface="Cambria Math" panose="02040503050406030204" pitchFamily="18" charset="0"/>
                        <a:ea typeface="黑体" panose="02010609060101010101" pitchFamily="49" charset="-122"/>
                      </a:rPr>
                      <m:t>𝑠</m:t>
                    </m:r>
                    <m:r>
                      <a:rPr lang="en-US" altLang="zh-CN" sz="1400" i="1">
                        <a:latin typeface="Cambria Math" panose="02040503050406030204" pitchFamily="18" charset="0"/>
                        <a:ea typeface="黑体" panose="02010609060101010101" pitchFamily="49" charset="-122"/>
                      </a:rPr>
                      <m:t>,</m:t>
                    </m:r>
                    <m:r>
                      <a:rPr lang="en-US" altLang="zh-CN" sz="1400" i="1">
                        <a:latin typeface="Cambria Math" panose="02040503050406030204" pitchFamily="18" charset="0"/>
                        <a:ea typeface="黑体" panose="02010609060101010101" pitchFamily="49" charset="-122"/>
                      </a:rPr>
                      <m:t>𝑎</m:t>
                    </m:r>
                    <m:r>
                      <a:rPr lang="en-US" altLang="zh-CN" sz="1400" i="1">
                        <a:latin typeface="Cambria Math" panose="02040503050406030204" pitchFamily="18" charset="0"/>
                        <a:ea typeface="黑体" panose="02010609060101010101" pitchFamily="49" charset="-122"/>
                      </a:rPr>
                      <m:t>)</m:t>
                    </m:r>
                  </m:oMath>
                </a14:m>
                <a:endParaRPr lang="zh-CN" altLang="en-US" sz="1400" dirty="0">
                  <a:latin typeface="Times New Roman" panose="02020603050405020304" pitchFamily="18" charset="0"/>
                  <a:cs typeface="Times New Roman" panose="02020603050405020304" pitchFamily="18" charset="0"/>
                </a:endParaRPr>
              </a:p>
            </p:txBody>
          </p:sp>
        </mc:Choice>
        <mc:Fallback xmlns="">
          <p:sp>
            <p:nvSpPr>
              <p:cNvPr id="37" name="矩形 36">
                <a:extLst>
                  <a:ext uri="{FF2B5EF4-FFF2-40B4-BE49-F238E27FC236}">
                    <a16:creationId xmlns:a16="http://schemas.microsoft.com/office/drawing/2014/main" id="{01C595CD-7EDB-403B-879B-E5BD0C946D3D}"/>
                  </a:ext>
                </a:extLst>
              </p:cNvPr>
              <p:cNvSpPr>
                <a:spLocks noRot="1" noChangeAspect="1" noMove="1" noResize="1" noEditPoints="1" noAdjustHandles="1" noChangeArrowheads="1" noChangeShapeType="1" noTextEdit="1"/>
              </p:cNvSpPr>
              <p:nvPr/>
            </p:nvSpPr>
            <p:spPr>
              <a:xfrm>
                <a:off x="5816332" y="3027229"/>
                <a:ext cx="3525452" cy="307777"/>
              </a:xfrm>
              <a:prstGeom prst="rect">
                <a:avLst/>
              </a:prstGeom>
              <a:blipFill>
                <a:blip r:embed="rId5"/>
                <a:stretch>
                  <a:fillRect l="-345" t="-3846" b="-15385"/>
                </a:stretch>
              </a:blip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矩形 37">
                <a:extLst>
                  <a:ext uri="{FF2B5EF4-FFF2-40B4-BE49-F238E27FC236}">
                    <a16:creationId xmlns:a16="http://schemas.microsoft.com/office/drawing/2014/main" id="{5629DD3B-D629-4FC1-97C1-84EE52AE0C6D}"/>
                  </a:ext>
                </a:extLst>
              </p:cNvPr>
              <p:cNvSpPr/>
              <p:nvPr/>
            </p:nvSpPr>
            <p:spPr>
              <a:xfrm>
                <a:off x="5908943" y="4219275"/>
                <a:ext cx="5386933" cy="41319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400" i="1" smtClean="0">
                              <a:solidFill>
                                <a:srgbClr val="FF0000"/>
                              </a:solidFill>
                              <a:latin typeface="Cambria Math" panose="02040503050406030204" pitchFamily="18" charset="0"/>
                              <a:ea typeface="黑体" pitchFamily="49" charset="-122"/>
                            </a:rPr>
                          </m:ctrlPr>
                        </m:sSubPr>
                        <m:e>
                          <m:r>
                            <a:rPr lang="en-US" altLang="zh-CN" sz="1400" i="1">
                              <a:solidFill>
                                <a:srgbClr val="FF0000"/>
                              </a:solidFill>
                              <a:latin typeface="Cambria Math" panose="02040503050406030204" pitchFamily="18" charset="0"/>
                              <a:ea typeface="黑体" pitchFamily="49" charset="-122"/>
                            </a:rPr>
                            <m:t>𝑞</m:t>
                          </m:r>
                        </m:e>
                        <m:sub>
                          <m:r>
                            <a:rPr lang="en-US" altLang="zh-CN" sz="1400" i="1">
                              <a:solidFill>
                                <a:srgbClr val="FF0000"/>
                              </a:solidFill>
                              <a:latin typeface="Cambria Math" panose="02040503050406030204" pitchFamily="18" charset="0"/>
                              <a:ea typeface="黑体" pitchFamily="49" charset="-122"/>
                            </a:rPr>
                            <m:t>𝜋</m:t>
                          </m:r>
                        </m:sub>
                      </m:sSub>
                      <m:d>
                        <m:dPr>
                          <m:ctrlPr>
                            <a:rPr lang="en-US" altLang="zh-CN" sz="1400" i="1">
                              <a:solidFill>
                                <a:srgbClr val="FF0000"/>
                              </a:solidFill>
                              <a:latin typeface="Cambria Math" panose="02040503050406030204" pitchFamily="18" charset="0"/>
                              <a:ea typeface="黑体" pitchFamily="49" charset="-122"/>
                            </a:rPr>
                          </m:ctrlPr>
                        </m:dPr>
                        <m:e>
                          <m:r>
                            <a:rPr lang="en-US" altLang="zh-CN" sz="1400" i="1">
                              <a:solidFill>
                                <a:srgbClr val="FF0000"/>
                              </a:solidFill>
                              <a:latin typeface="Cambria Math" panose="02040503050406030204" pitchFamily="18" charset="0"/>
                              <a:ea typeface="黑体" pitchFamily="49" charset="-122"/>
                            </a:rPr>
                            <m:t>𝑠</m:t>
                          </m:r>
                          <m:r>
                            <a:rPr lang="en-US" altLang="zh-CN" sz="1400" i="1">
                              <a:solidFill>
                                <a:srgbClr val="FF0000"/>
                              </a:solidFill>
                              <a:latin typeface="Cambria Math" panose="02040503050406030204" pitchFamily="18" charset="0"/>
                              <a:ea typeface="黑体" pitchFamily="49" charset="-122"/>
                            </a:rPr>
                            <m:t>,</m:t>
                          </m:r>
                          <m:r>
                            <a:rPr lang="en-US" altLang="zh-CN" sz="1400" i="1">
                              <a:solidFill>
                                <a:srgbClr val="FF0000"/>
                              </a:solidFill>
                              <a:latin typeface="Cambria Math" panose="02040503050406030204" pitchFamily="18" charset="0"/>
                              <a:ea typeface="黑体" pitchFamily="49" charset="-122"/>
                            </a:rPr>
                            <m:t>𝑎</m:t>
                          </m:r>
                        </m:e>
                      </m:d>
                      <m:r>
                        <a:rPr lang="en-US" altLang="zh-CN" sz="1400" i="1">
                          <a:solidFill>
                            <a:srgbClr val="FF0000"/>
                          </a:solidFill>
                          <a:latin typeface="Cambria Math" panose="02040503050406030204" pitchFamily="18" charset="0"/>
                          <a:ea typeface="黑体" pitchFamily="49" charset="-122"/>
                        </a:rPr>
                        <m:t>←</m:t>
                      </m:r>
                      <m:r>
                        <a:rPr lang="en-US" altLang="zh-CN" sz="1400" b="0" i="1" smtClean="0">
                          <a:solidFill>
                            <a:srgbClr val="FF0000"/>
                          </a:solidFill>
                          <a:latin typeface="Cambria Math"/>
                          <a:ea typeface="黑体" pitchFamily="49" charset="-122"/>
                        </a:rPr>
                        <m:t>(1−</m:t>
                      </m:r>
                      <m:r>
                        <a:rPr lang="en-US" altLang="zh-CN" sz="1400" i="1">
                          <a:solidFill>
                            <a:srgbClr val="FF0000"/>
                          </a:solidFill>
                          <a:latin typeface="Cambria Math" panose="02040503050406030204" pitchFamily="18" charset="0"/>
                          <a:ea typeface="黑体" pitchFamily="49" charset="-122"/>
                        </a:rPr>
                        <m:t>𝛼</m:t>
                      </m:r>
                      <m:r>
                        <a:rPr lang="en-US" altLang="zh-CN" sz="1400" b="0" i="1" smtClean="0">
                          <a:solidFill>
                            <a:srgbClr val="FF0000"/>
                          </a:solidFill>
                          <a:latin typeface="Cambria Math"/>
                          <a:ea typeface="黑体" pitchFamily="49" charset="-122"/>
                        </a:rPr>
                        <m:t>)</m:t>
                      </m:r>
                      <m:sSub>
                        <m:sSubPr>
                          <m:ctrlPr>
                            <a:rPr lang="en-US" altLang="zh-CN" sz="1400" i="1">
                              <a:solidFill>
                                <a:srgbClr val="FF0000"/>
                              </a:solidFill>
                              <a:latin typeface="Cambria Math" panose="02040503050406030204" pitchFamily="18" charset="0"/>
                              <a:ea typeface="黑体" pitchFamily="49" charset="-122"/>
                            </a:rPr>
                          </m:ctrlPr>
                        </m:sSubPr>
                        <m:e>
                          <m:r>
                            <a:rPr lang="en-US" altLang="zh-CN" sz="1400" i="1">
                              <a:solidFill>
                                <a:srgbClr val="FF0000"/>
                              </a:solidFill>
                              <a:latin typeface="Cambria Math" panose="02040503050406030204" pitchFamily="18" charset="0"/>
                              <a:ea typeface="黑体" pitchFamily="49" charset="-122"/>
                            </a:rPr>
                            <m:t>𝑞</m:t>
                          </m:r>
                        </m:e>
                        <m:sub>
                          <m:r>
                            <a:rPr lang="en-US" altLang="zh-CN" sz="1400" i="1">
                              <a:solidFill>
                                <a:srgbClr val="FF0000"/>
                              </a:solidFill>
                              <a:latin typeface="Cambria Math" panose="02040503050406030204" pitchFamily="18" charset="0"/>
                              <a:ea typeface="黑体" pitchFamily="49" charset="-122"/>
                            </a:rPr>
                            <m:t>𝜋</m:t>
                          </m:r>
                        </m:sub>
                      </m:sSub>
                      <m:d>
                        <m:dPr>
                          <m:ctrlPr>
                            <a:rPr lang="en-US" altLang="zh-CN" sz="1400" i="1">
                              <a:solidFill>
                                <a:srgbClr val="FF0000"/>
                              </a:solidFill>
                              <a:latin typeface="Cambria Math" panose="02040503050406030204" pitchFamily="18" charset="0"/>
                              <a:ea typeface="黑体" pitchFamily="49" charset="-122"/>
                            </a:rPr>
                          </m:ctrlPr>
                        </m:dPr>
                        <m:e>
                          <m:r>
                            <a:rPr lang="en-US" altLang="zh-CN" sz="1400" i="1">
                              <a:solidFill>
                                <a:srgbClr val="FF0000"/>
                              </a:solidFill>
                              <a:latin typeface="Cambria Math" panose="02040503050406030204" pitchFamily="18" charset="0"/>
                              <a:ea typeface="黑体" pitchFamily="49" charset="-122"/>
                            </a:rPr>
                            <m:t>𝑠</m:t>
                          </m:r>
                          <m:r>
                            <a:rPr lang="en-US" altLang="zh-CN" sz="1400" i="1">
                              <a:solidFill>
                                <a:srgbClr val="FF0000"/>
                              </a:solidFill>
                              <a:latin typeface="Cambria Math" panose="02040503050406030204" pitchFamily="18" charset="0"/>
                              <a:ea typeface="黑体" pitchFamily="49" charset="-122"/>
                            </a:rPr>
                            <m:t>,</m:t>
                          </m:r>
                          <m:r>
                            <a:rPr lang="en-US" altLang="zh-CN" sz="1400" i="1">
                              <a:solidFill>
                                <a:srgbClr val="FF0000"/>
                              </a:solidFill>
                              <a:latin typeface="Cambria Math" panose="02040503050406030204" pitchFamily="18" charset="0"/>
                              <a:ea typeface="黑体" pitchFamily="49" charset="-122"/>
                            </a:rPr>
                            <m:t>𝑎</m:t>
                          </m:r>
                        </m:e>
                      </m:d>
                      <m:r>
                        <a:rPr lang="en-US" altLang="zh-CN" sz="1400" i="1">
                          <a:solidFill>
                            <a:srgbClr val="FF0000"/>
                          </a:solidFill>
                          <a:latin typeface="Cambria Math" panose="02040503050406030204" pitchFamily="18" charset="0"/>
                          <a:ea typeface="黑体" pitchFamily="49" charset="-122"/>
                        </a:rPr>
                        <m:t>+</m:t>
                      </m:r>
                      <m:r>
                        <a:rPr lang="en-US" altLang="zh-CN" sz="1400" i="1">
                          <a:solidFill>
                            <a:srgbClr val="FF0000"/>
                          </a:solidFill>
                          <a:latin typeface="Cambria Math" panose="02040503050406030204" pitchFamily="18" charset="0"/>
                          <a:ea typeface="黑体" pitchFamily="49" charset="-122"/>
                        </a:rPr>
                        <m:t>𝛼</m:t>
                      </m:r>
                      <m:d>
                        <m:dPr>
                          <m:begChr m:val="["/>
                          <m:endChr m:val="]"/>
                          <m:ctrlPr>
                            <a:rPr lang="en-US" altLang="zh-CN" sz="1400" i="1">
                              <a:solidFill>
                                <a:srgbClr val="FF0000"/>
                              </a:solidFill>
                              <a:latin typeface="Cambria Math" panose="02040503050406030204" pitchFamily="18" charset="0"/>
                              <a:ea typeface="黑体" pitchFamily="49" charset="-122"/>
                            </a:rPr>
                          </m:ctrlPr>
                        </m:dPr>
                        <m:e>
                          <m:r>
                            <a:rPr lang="en-US" altLang="zh-CN" sz="1400" i="1">
                              <a:solidFill>
                                <a:srgbClr val="FF0000"/>
                              </a:solidFill>
                              <a:latin typeface="Cambria Math" panose="02040503050406030204" pitchFamily="18" charset="0"/>
                              <a:ea typeface="黑体" pitchFamily="49" charset="-122"/>
                            </a:rPr>
                            <m:t>𝑅</m:t>
                          </m:r>
                          <m:r>
                            <a:rPr lang="en-US" altLang="zh-CN" sz="1400" i="1">
                              <a:solidFill>
                                <a:srgbClr val="FF0000"/>
                              </a:solidFill>
                              <a:latin typeface="Cambria Math" panose="02040503050406030204" pitchFamily="18" charset="0"/>
                              <a:ea typeface="黑体" pitchFamily="49" charset="-122"/>
                            </a:rPr>
                            <m:t>+</m:t>
                          </m:r>
                          <m:r>
                            <a:rPr lang="en-US" altLang="zh-CN" sz="1400" i="1">
                              <a:solidFill>
                                <a:srgbClr val="FF0000"/>
                              </a:solidFill>
                              <a:latin typeface="Cambria Math" panose="02040503050406030204" pitchFamily="18" charset="0"/>
                              <a:ea typeface="黑体" pitchFamily="49" charset="-122"/>
                            </a:rPr>
                            <m:t>𝛾</m:t>
                          </m:r>
                          <m:sSub>
                            <m:sSubPr>
                              <m:ctrlPr>
                                <a:rPr lang="en-US" altLang="zh-CN" sz="1400" i="1">
                                  <a:solidFill>
                                    <a:srgbClr val="FF0000"/>
                                  </a:solidFill>
                                  <a:latin typeface="Cambria Math" panose="02040503050406030204" pitchFamily="18" charset="0"/>
                                  <a:ea typeface="黑体" pitchFamily="49" charset="-122"/>
                                </a:rPr>
                              </m:ctrlPr>
                            </m:sSubPr>
                            <m:e>
                              <m:r>
                                <a:rPr lang="en-US" altLang="zh-CN" sz="1400" i="1">
                                  <a:solidFill>
                                    <a:srgbClr val="FF0000"/>
                                  </a:solidFill>
                                  <a:latin typeface="Cambria Math" panose="02040503050406030204" pitchFamily="18" charset="0"/>
                                  <a:ea typeface="黑体" pitchFamily="49" charset="-122"/>
                                </a:rPr>
                                <m:t> </m:t>
                              </m:r>
                              <m:limLow>
                                <m:limLowPr>
                                  <m:ctrlPr>
                                    <a:rPr lang="en-US" altLang="zh-CN" sz="1400" i="1">
                                      <a:solidFill>
                                        <a:srgbClr val="FF0000"/>
                                      </a:solidFill>
                                      <a:latin typeface="Cambria Math" panose="02040503050406030204" pitchFamily="18" charset="0"/>
                                      <a:ea typeface="黑体" pitchFamily="49" charset="-122"/>
                                    </a:rPr>
                                  </m:ctrlPr>
                                </m:limLowPr>
                                <m:e>
                                  <m:r>
                                    <m:rPr>
                                      <m:sty m:val="p"/>
                                    </m:rPr>
                                    <a:rPr lang="en-US" altLang="zh-CN" sz="1400">
                                      <a:solidFill>
                                        <a:srgbClr val="FF0000"/>
                                      </a:solidFill>
                                      <a:latin typeface="Cambria Math" panose="02040503050406030204" pitchFamily="18" charset="0"/>
                                      <a:ea typeface="黑体" pitchFamily="49" charset="-122"/>
                                    </a:rPr>
                                    <m:t>max</m:t>
                                  </m:r>
                                </m:e>
                                <m:lim>
                                  <m:sSup>
                                    <m:sSupPr>
                                      <m:ctrlPr>
                                        <a:rPr lang="en-US" altLang="zh-CN" sz="1400" i="1">
                                          <a:solidFill>
                                            <a:srgbClr val="FF0000"/>
                                          </a:solidFill>
                                          <a:latin typeface="Cambria Math" panose="02040503050406030204" pitchFamily="18" charset="0"/>
                                          <a:ea typeface="黑体" pitchFamily="49" charset="-122"/>
                                        </a:rPr>
                                      </m:ctrlPr>
                                    </m:sSupPr>
                                    <m:e>
                                      <m:r>
                                        <a:rPr lang="en-US" altLang="zh-CN" sz="1400" i="1">
                                          <a:solidFill>
                                            <a:srgbClr val="FF0000"/>
                                          </a:solidFill>
                                          <a:latin typeface="Cambria Math" panose="02040503050406030204" pitchFamily="18" charset="0"/>
                                          <a:ea typeface="黑体" pitchFamily="49" charset="-122"/>
                                        </a:rPr>
                                        <m:t>𝑎</m:t>
                                      </m:r>
                                    </m:e>
                                    <m:sup>
                                      <m:r>
                                        <a:rPr lang="en-US" altLang="zh-CN" sz="1400" i="1">
                                          <a:solidFill>
                                            <a:srgbClr val="FF0000"/>
                                          </a:solidFill>
                                          <a:latin typeface="Cambria Math" panose="02040503050406030204" pitchFamily="18" charset="0"/>
                                          <a:ea typeface="黑体" pitchFamily="49" charset="-122"/>
                                        </a:rPr>
                                        <m:t>′</m:t>
                                      </m:r>
                                    </m:sup>
                                  </m:sSup>
                                </m:lim>
                              </m:limLow>
                              <m:r>
                                <a:rPr lang="en-US" altLang="zh-CN" sz="1400" i="1">
                                  <a:solidFill>
                                    <a:srgbClr val="FF0000"/>
                                  </a:solidFill>
                                  <a:latin typeface="Cambria Math" panose="02040503050406030204" pitchFamily="18" charset="0"/>
                                  <a:ea typeface="黑体" pitchFamily="49" charset="-122"/>
                                </a:rPr>
                                <m:t> </m:t>
                              </m:r>
                              <m:r>
                                <a:rPr lang="en-US" altLang="zh-CN" sz="1400" i="1">
                                  <a:solidFill>
                                    <a:srgbClr val="FF0000"/>
                                  </a:solidFill>
                                  <a:latin typeface="Cambria Math" panose="02040503050406030204" pitchFamily="18" charset="0"/>
                                  <a:ea typeface="黑体" pitchFamily="49" charset="-122"/>
                                </a:rPr>
                                <m:t>𝑞</m:t>
                              </m:r>
                            </m:e>
                            <m:sub>
                              <m:r>
                                <a:rPr lang="en-US" altLang="zh-CN" sz="1400" i="1">
                                  <a:solidFill>
                                    <a:srgbClr val="FF0000"/>
                                  </a:solidFill>
                                  <a:latin typeface="Cambria Math" panose="02040503050406030204" pitchFamily="18" charset="0"/>
                                  <a:ea typeface="黑体" pitchFamily="49" charset="-122"/>
                                </a:rPr>
                                <m:t>𝜋</m:t>
                              </m:r>
                            </m:sub>
                          </m:sSub>
                          <m:d>
                            <m:dPr>
                              <m:ctrlPr>
                                <a:rPr lang="en-US" altLang="zh-CN" sz="1400" i="1">
                                  <a:solidFill>
                                    <a:srgbClr val="FF0000"/>
                                  </a:solidFill>
                                  <a:latin typeface="Cambria Math" panose="02040503050406030204" pitchFamily="18" charset="0"/>
                                  <a:ea typeface="黑体" pitchFamily="49" charset="-122"/>
                                </a:rPr>
                              </m:ctrlPr>
                            </m:dPr>
                            <m:e>
                              <m:sSup>
                                <m:sSupPr>
                                  <m:ctrlPr>
                                    <a:rPr lang="en-US" altLang="zh-CN" sz="1400" i="1">
                                      <a:solidFill>
                                        <a:srgbClr val="FF0000"/>
                                      </a:solidFill>
                                      <a:latin typeface="Cambria Math" panose="02040503050406030204" pitchFamily="18" charset="0"/>
                                      <a:ea typeface="黑体" pitchFamily="49" charset="-122"/>
                                    </a:rPr>
                                  </m:ctrlPr>
                                </m:sSupPr>
                                <m:e>
                                  <m:r>
                                    <a:rPr lang="en-US" altLang="zh-CN" sz="1400" i="1">
                                      <a:solidFill>
                                        <a:srgbClr val="FF0000"/>
                                      </a:solidFill>
                                      <a:latin typeface="Cambria Math" panose="02040503050406030204" pitchFamily="18" charset="0"/>
                                      <a:ea typeface="黑体" pitchFamily="49" charset="-122"/>
                                    </a:rPr>
                                    <m:t>𝑠</m:t>
                                  </m:r>
                                </m:e>
                                <m:sup>
                                  <m:r>
                                    <a:rPr lang="en-US" altLang="zh-CN" sz="1400" i="1">
                                      <a:solidFill>
                                        <a:srgbClr val="FF0000"/>
                                      </a:solidFill>
                                      <a:latin typeface="Cambria Math" panose="02040503050406030204" pitchFamily="18" charset="0"/>
                                      <a:ea typeface="黑体" pitchFamily="49" charset="-122"/>
                                    </a:rPr>
                                    <m:t>′</m:t>
                                  </m:r>
                                </m:sup>
                              </m:sSup>
                              <m:r>
                                <a:rPr lang="en-US" altLang="zh-CN" sz="1400" i="1">
                                  <a:solidFill>
                                    <a:srgbClr val="FF0000"/>
                                  </a:solidFill>
                                  <a:latin typeface="Cambria Math" panose="02040503050406030204" pitchFamily="18" charset="0"/>
                                  <a:ea typeface="黑体" pitchFamily="49" charset="-122"/>
                                </a:rPr>
                                <m:t>,</m:t>
                              </m:r>
                              <m:r>
                                <a:rPr lang="en-US" altLang="zh-CN" sz="1400" i="1">
                                  <a:solidFill>
                                    <a:srgbClr val="FF0000"/>
                                  </a:solidFill>
                                  <a:latin typeface="Cambria Math" panose="02040503050406030204" pitchFamily="18" charset="0"/>
                                  <a:ea typeface="黑体" pitchFamily="49" charset="-122"/>
                                </a:rPr>
                                <m:t>𝑎</m:t>
                              </m:r>
                              <m:r>
                                <a:rPr lang="en-US" altLang="zh-CN" sz="1400" i="1">
                                  <a:solidFill>
                                    <a:srgbClr val="FF0000"/>
                                  </a:solidFill>
                                  <a:latin typeface="Cambria Math" panose="02040503050406030204" pitchFamily="18" charset="0"/>
                                  <a:ea typeface="黑体" pitchFamily="49" charset="-122"/>
                                </a:rPr>
                                <m:t>′</m:t>
                              </m:r>
                            </m:e>
                          </m:d>
                        </m:e>
                      </m:d>
                    </m:oMath>
                  </m:oMathPara>
                </a14:m>
                <a:endParaRPr lang="zh-CN" altLang="en-US" sz="1400" dirty="0"/>
              </a:p>
            </p:txBody>
          </p:sp>
        </mc:Choice>
        <mc:Fallback xmlns="">
          <p:sp>
            <p:nvSpPr>
              <p:cNvPr id="38" name="矩形 37">
                <a:extLst>
                  <a:ext uri="{FF2B5EF4-FFF2-40B4-BE49-F238E27FC236}">
                    <a16:creationId xmlns:a16="http://schemas.microsoft.com/office/drawing/2014/main" id="{5629DD3B-D629-4FC1-97C1-84EE52AE0C6D}"/>
                  </a:ext>
                </a:extLst>
              </p:cNvPr>
              <p:cNvSpPr>
                <a:spLocks noRot="1" noChangeAspect="1" noMove="1" noResize="1" noEditPoints="1" noAdjustHandles="1" noChangeArrowheads="1" noChangeShapeType="1" noTextEdit="1"/>
              </p:cNvSpPr>
              <p:nvPr/>
            </p:nvSpPr>
            <p:spPr>
              <a:xfrm>
                <a:off x="5908943" y="4219275"/>
                <a:ext cx="5386933" cy="413190"/>
              </a:xfrm>
              <a:prstGeom prst="rect">
                <a:avLst/>
              </a:prstGeom>
              <a:blipFill>
                <a:blip r:embed="rId6"/>
                <a:stretch>
                  <a:fillRect b="-14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矩形 39">
                <a:extLst>
                  <a:ext uri="{FF2B5EF4-FFF2-40B4-BE49-F238E27FC236}">
                    <a16:creationId xmlns:a16="http://schemas.microsoft.com/office/drawing/2014/main" id="{7C5802E1-E182-4AE6-9E66-86E7B998EF8B}"/>
                  </a:ext>
                </a:extLst>
              </p:cNvPr>
              <p:cNvSpPr/>
              <p:nvPr/>
            </p:nvSpPr>
            <p:spPr>
              <a:xfrm>
                <a:off x="617173" y="5424961"/>
                <a:ext cx="11213756" cy="706091"/>
              </a:xfrm>
              <a:prstGeom prst="rect">
                <a:avLst/>
              </a:prstGeom>
            </p:spPr>
            <p:txBody>
              <a:bodyPr wrap="square">
                <a:spAutoFit/>
              </a:bodyPr>
              <a:lstStyle/>
              <a:p>
                <a:pPr algn="ctr">
                  <a:lnSpc>
                    <a:spcPct val="150000"/>
                  </a:lnSpc>
                </a:pPr>
                <a:r>
                  <a:rPr lang="en-US" altLang="zh-CN" sz="1400" b="1" dirty="0">
                    <a:latin typeface="Times New Roman" panose="02020603050405020304" pitchFamily="18" charset="0"/>
                    <a:ea typeface="华文楷体" panose="02010600040101010101" pitchFamily="2" charset="-122"/>
                    <a:cs typeface="Times New Roman" panose="02020603050405020304" pitchFamily="18" charset="0"/>
                  </a:rPr>
                  <a:t>Q</a:t>
                </a:r>
                <a:r>
                  <a:rPr lang="zh-CN" altLang="zh-CN" sz="1400" b="1" dirty="0">
                    <a:latin typeface="Times New Roman" panose="02020603050405020304" pitchFamily="18" charset="0"/>
                    <a:ea typeface="华文楷体" panose="02010600040101010101" pitchFamily="2" charset="-122"/>
                    <a:cs typeface="Times New Roman" panose="02020603050405020304" pitchFamily="18" charset="0"/>
                  </a:rPr>
                  <a:t>学习中直接记录和更新动作</a:t>
                </a:r>
                <a:r>
                  <a:rPr lang="en-US" altLang="zh-CN" sz="14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400" b="1" dirty="0">
                    <a:latin typeface="Times New Roman" panose="02020603050405020304" pitchFamily="18" charset="0"/>
                    <a:ea typeface="华文楷体" panose="02010600040101010101" pitchFamily="2" charset="-122"/>
                    <a:cs typeface="Times New Roman" panose="02020603050405020304" pitchFamily="18" charset="0"/>
                  </a:rPr>
                  <a:t>价值函数</a:t>
                </a:r>
                <a14:m>
                  <m:oMath xmlns:m="http://schemas.openxmlformats.org/officeDocument/2006/math">
                    <m:sSub>
                      <m:sSubPr>
                        <m:ctrlPr>
                          <a:rPr lang="zh-CN" altLang="zh-CN" sz="1400"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sz="1400" b="1">
                            <a:latin typeface="Cambria Math" panose="02040503050406030204" pitchFamily="18" charset="0"/>
                            <a:ea typeface="华文楷体" panose="02010600040101010101" pitchFamily="2" charset="-122"/>
                            <a:cs typeface="Times New Roman" panose="02020603050405020304" pitchFamily="18" charset="0"/>
                          </a:rPr>
                          <m:t>𝑞</m:t>
                        </m:r>
                      </m:e>
                      <m:sub>
                        <m:r>
                          <a:rPr lang="en-US" altLang="zh-CN" sz="1400" b="1">
                            <a:latin typeface="Cambria Math" panose="02040503050406030204" pitchFamily="18" charset="0"/>
                            <a:ea typeface="华文楷体" panose="02010600040101010101" pitchFamily="2" charset="-122"/>
                            <a:cs typeface="Times New Roman" panose="02020603050405020304" pitchFamily="18" charset="0"/>
                          </a:rPr>
                          <m:t>𝜋</m:t>
                        </m:r>
                      </m:sub>
                    </m:sSub>
                  </m:oMath>
                </a14:m>
                <a:r>
                  <a:rPr lang="zh-CN" altLang="zh-CN" sz="1400" b="1" dirty="0">
                    <a:latin typeface="Times New Roman" panose="02020603050405020304" pitchFamily="18" charset="0"/>
                    <a:ea typeface="华文楷体" panose="02010600040101010101" pitchFamily="2" charset="-122"/>
                    <a:cs typeface="Times New Roman" panose="02020603050405020304" pitchFamily="18" charset="0"/>
                  </a:rPr>
                  <a:t>而不是价值函数</a:t>
                </a:r>
                <a14:m>
                  <m:oMath xmlns:m="http://schemas.openxmlformats.org/officeDocument/2006/math">
                    <m:sSub>
                      <m:sSubPr>
                        <m:ctrlPr>
                          <a:rPr lang="zh-CN" altLang="zh-CN" sz="1400"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sz="1400"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sz="1400" b="1">
                            <a:latin typeface="Cambria Math" panose="02040503050406030204" pitchFamily="18" charset="0"/>
                            <a:ea typeface="华文楷体" panose="02010600040101010101" pitchFamily="2" charset="-122"/>
                            <a:cs typeface="Times New Roman" panose="02020603050405020304" pitchFamily="18" charset="0"/>
                          </a:rPr>
                          <m:t>𝜋</m:t>
                        </m:r>
                      </m:sub>
                    </m:sSub>
                  </m:oMath>
                </a14:m>
                <a:r>
                  <a:rPr lang="zh-CN" altLang="zh-CN" sz="1400" b="1" dirty="0">
                    <a:latin typeface="Times New Roman" panose="02020603050405020304" pitchFamily="18" charset="0"/>
                    <a:ea typeface="华文楷体" panose="02010600040101010101" pitchFamily="2" charset="-122"/>
                    <a:cs typeface="Times New Roman" panose="02020603050405020304" pitchFamily="18" charset="0"/>
                  </a:rPr>
                  <a:t>，这是因为策略优化要求已知动作</a:t>
                </a:r>
                <a:r>
                  <a:rPr lang="en-US" altLang="zh-CN" sz="14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400" b="1" dirty="0">
                    <a:latin typeface="Times New Roman" panose="02020603050405020304" pitchFamily="18" charset="0"/>
                    <a:ea typeface="华文楷体" panose="02010600040101010101" pitchFamily="2" charset="-122"/>
                    <a:cs typeface="Times New Roman" panose="02020603050405020304" pitchFamily="18" charset="0"/>
                  </a:rPr>
                  <a:t>价值函数</a:t>
                </a:r>
                <a14:m>
                  <m:oMath xmlns:m="http://schemas.openxmlformats.org/officeDocument/2006/math">
                    <m:sSub>
                      <m:sSubPr>
                        <m:ctrlPr>
                          <a:rPr lang="zh-CN" altLang="zh-CN" sz="1400"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sz="1400" b="1">
                            <a:latin typeface="Cambria Math" panose="02040503050406030204" pitchFamily="18" charset="0"/>
                            <a:ea typeface="华文楷体" panose="02010600040101010101" pitchFamily="2" charset="-122"/>
                            <a:cs typeface="Times New Roman" panose="02020603050405020304" pitchFamily="18" charset="0"/>
                          </a:rPr>
                          <m:t>𝑞</m:t>
                        </m:r>
                      </m:e>
                      <m:sub>
                        <m:r>
                          <a:rPr lang="en-US" altLang="zh-CN" sz="1400" b="1">
                            <a:latin typeface="Cambria Math" panose="02040503050406030204" pitchFamily="18" charset="0"/>
                            <a:ea typeface="华文楷体" panose="02010600040101010101" pitchFamily="2" charset="-122"/>
                            <a:cs typeface="Times New Roman" panose="02020603050405020304" pitchFamily="18" charset="0"/>
                          </a:rPr>
                          <m:t>𝜋</m:t>
                        </m:r>
                      </m:sub>
                    </m:sSub>
                  </m:oMath>
                </a14:m>
                <a:r>
                  <a:rPr lang="zh-CN" altLang="zh-CN" sz="1400" b="1" dirty="0">
                    <a:latin typeface="Times New Roman" panose="02020603050405020304" pitchFamily="18" charset="0"/>
                    <a:ea typeface="华文楷体" panose="02010600040101010101" pitchFamily="2" charset="-122"/>
                    <a:cs typeface="Times New Roman" panose="02020603050405020304" pitchFamily="18" charset="0"/>
                  </a:rPr>
                  <a:t>，如果算法仍然记录价值函数</a:t>
                </a:r>
                <a14:m>
                  <m:oMath xmlns:m="http://schemas.openxmlformats.org/officeDocument/2006/math">
                    <m:sSub>
                      <m:sSubPr>
                        <m:ctrlPr>
                          <a:rPr lang="zh-CN" altLang="zh-CN" sz="1400"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sz="1400" b="1">
                            <a:latin typeface="Cambria Math" panose="02040503050406030204" pitchFamily="18" charset="0"/>
                            <a:ea typeface="华文楷体" panose="02010600040101010101" pitchFamily="2" charset="-122"/>
                            <a:cs typeface="Times New Roman" panose="02020603050405020304" pitchFamily="18" charset="0"/>
                          </a:rPr>
                          <m:t>𝑉</m:t>
                        </m:r>
                      </m:e>
                      <m:sub>
                        <m:r>
                          <a:rPr lang="en-US" altLang="zh-CN" sz="1400" b="1">
                            <a:latin typeface="Cambria Math" panose="02040503050406030204" pitchFamily="18" charset="0"/>
                            <a:ea typeface="华文楷体" panose="02010600040101010101" pitchFamily="2" charset="-122"/>
                            <a:cs typeface="Times New Roman" panose="02020603050405020304" pitchFamily="18" charset="0"/>
                          </a:rPr>
                          <m:t>𝜋</m:t>
                        </m:r>
                      </m:sub>
                    </m:sSub>
                  </m:oMath>
                </a14:m>
                <a:r>
                  <a:rPr lang="zh-CN" altLang="zh-CN" sz="1400" b="1" dirty="0">
                    <a:latin typeface="Times New Roman" panose="02020603050405020304" pitchFamily="18" charset="0"/>
                    <a:ea typeface="华文楷体" panose="02010600040101010101" pitchFamily="2" charset="-122"/>
                    <a:cs typeface="Times New Roman" panose="02020603050405020304" pitchFamily="18" charset="0"/>
                  </a:rPr>
                  <a:t>，在不知道状态转移概率的情况下将无法求出</a:t>
                </a:r>
                <a14:m>
                  <m:oMath xmlns:m="http://schemas.openxmlformats.org/officeDocument/2006/math">
                    <m:sSub>
                      <m:sSubPr>
                        <m:ctrlPr>
                          <a:rPr lang="zh-CN" altLang="zh-CN" sz="1400" b="1" i="1">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sz="1400" b="1">
                            <a:latin typeface="Cambria Math" panose="02040503050406030204" pitchFamily="18" charset="0"/>
                            <a:ea typeface="华文楷体" panose="02010600040101010101" pitchFamily="2" charset="-122"/>
                            <a:cs typeface="Times New Roman" panose="02020603050405020304" pitchFamily="18" charset="0"/>
                          </a:rPr>
                          <m:t>𝑞</m:t>
                        </m:r>
                      </m:e>
                      <m:sub>
                        <m:r>
                          <a:rPr lang="en-US" altLang="zh-CN" sz="1400" b="1">
                            <a:latin typeface="Cambria Math" panose="02040503050406030204" pitchFamily="18" charset="0"/>
                            <a:ea typeface="华文楷体" panose="02010600040101010101" pitchFamily="2" charset="-122"/>
                            <a:cs typeface="Times New Roman" panose="02020603050405020304" pitchFamily="18" charset="0"/>
                          </a:rPr>
                          <m:t>𝜋</m:t>
                        </m:r>
                      </m:sub>
                    </m:sSub>
                  </m:oMath>
                </a14:m>
                <a:r>
                  <a:rPr lang="zh-CN" altLang="zh-CN" sz="14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1400" b="1" dirty="0">
                    <a:latin typeface="Times New Roman" panose="02020603050405020304" pitchFamily="18" charset="0"/>
                    <a:ea typeface="华文楷体" panose="02010600040101010101" pitchFamily="2" charset="-122"/>
                    <a:cs typeface="Times New Roman" panose="02020603050405020304" pitchFamily="18" charset="0"/>
                  </a:rPr>
                  <a:t>于是，</a:t>
                </a:r>
                <a:r>
                  <a:rPr lang="en-US" altLang="zh-CN" sz="1400" b="1" dirty="0">
                    <a:latin typeface="Times New Roman" panose="02020603050405020304" pitchFamily="18" charset="0"/>
                    <a:ea typeface="华文楷体" panose="02010600040101010101" pitchFamily="2" charset="-122"/>
                    <a:cs typeface="Times New Roman" panose="02020603050405020304" pitchFamily="18" charset="0"/>
                  </a:rPr>
                  <a:t>Q</a:t>
                </a:r>
                <a:r>
                  <a:rPr lang="zh-CN" altLang="en-US" sz="1400" b="1" dirty="0">
                    <a:latin typeface="Times New Roman" panose="02020603050405020304" pitchFamily="18" charset="0"/>
                    <a:ea typeface="华文楷体" panose="02010600040101010101" pitchFamily="2" charset="-122"/>
                    <a:cs typeface="Times New Roman" panose="02020603050405020304" pitchFamily="18" charset="0"/>
                  </a:rPr>
                  <a:t>学习中，只有动作</a:t>
                </a:r>
                <a:r>
                  <a:rPr lang="en-US" altLang="zh-CN" sz="14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1400" b="1" dirty="0">
                    <a:latin typeface="Times New Roman" panose="02020603050405020304" pitchFamily="18" charset="0"/>
                    <a:ea typeface="华文楷体" panose="02010600040101010101" pitchFamily="2" charset="-122"/>
                    <a:cs typeface="Times New Roman" panose="02020603050405020304" pitchFamily="18" charset="0"/>
                  </a:rPr>
                  <a:t>价值函数（即</a:t>
                </a:r>
                <a:r>
                  <a:rPr lang="en-US" altLang="zh-CN" sz="1400" b="1" dirty="0">
                    <a:latin typeface="Times New Roman" panose="02020603050405020304" pitchFamily="18" charset="0"/>
                    <a:ea typeface="华文楷体" panose="02010600040101010101" pitchFamily="2" charset="-122"/>
                    <a:cs typeface="Times New Roman" panose="02020603050405020304" pitchFamily="18" charset="0"/>
                  </a:rPr>
                  <a:t>q</a:t>
                </a:r>
                <a:r>
                  <a:rPr lang="zh-CN" altLang="en-US" sz="1400" b="1" dirty="0">
                    <a:latin typeface="Times New Roman" panose="02020603050405020304" pitchFamily="18" charset="0"/>
                    <a:ea typeface="华文楷体" panose="02010600040101010101" pitchFamily="2" charset="-122"/>
                    <a:cs typeface="Times New Roman" panose="02020603050405020304" pitchFamily="18" charset="0"/>
                  </a:rPr>
                  <a:t>函数）参与计算。</a:t>
                </a:r>
                <a:endParaRPr lang="zh-CN" altLang="zh-CN" sz="1400" b="1"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40" name="矩形 39">
                <a:extLst>
                  <a:ext uri="{FF2B5EF4-FFF2-40B4-BE49-F238E27FC236}">
                    <a16:creationId xmlns:a16="http://schemas.microsoft.com/office/drawing/2014/main" id="{7C5802E1-E182-4AE6-9E66-86E7B998EF8B}"/>
                  </a:ext>
                </a:extLst>
              </p:cNvPr>
              <p:cNvSpPr>
                <a:spLocks noRot="1" noChangeAspect="1" noMove="1" noResize="1" noEditPoints="1" noAdjustHandles="1" noChangeArrowheads="1" noChangeShapeType="1" noTextEdit="1"/>
              </p:cNvSpPr>
              <p:nvPr/>
            </p:nvSpPr>
            <p:spPr>
              <a:xfrm>
                <a:off x="617173" y="5424961"/>
                <a:ext cx="11213756" cy="706091"/>
              </a:xfrm>
              <a:prstGeom prst="rect">
                <a:avLst/>
              </a:prstGeom>
              <a:blipFill>
                <a:blip r:embed="rId7"/>
                <a:stretch>
                  <a:fillRect b="-7759"/>
                </a:stretch>
              </a:blipFill>
            </p:spPr>
            <p:txBody>
              <a:bodyPr/>
              <a:lstStyle/>
              <a:p>
                <a:r>
                  <a:rPr lang="zh-CN" altLang="en-US">
                    <a:noFill/>
                  </a:rPr>
                  <a:t> </a:t>
                </a:r>
              </a:p>
            </p:txBody>
          </p:sp>
        </mc:Fallback>
      </mc:AlternateContent>
      <p:cxnSp>
        <p:nvCxnSpPr>
          <p:cNvPr id="7" name="直接连接符 6">
            <a:extLst>
              <a:ext uri="{FF2B5EF4-FFF2-40B4-BE49-F238E27FC236}">
                <a16:creationId xmlns:a16="http://schemas.microsoft.com/office/drawing/2014/main" id="{0C23645C-C22F-F65E-4FBD-A58F0050AA2A}"/>
              </a:ext>
            </a:extLst>
          </p:cNvPr>
          <p:cNvCxnSpPr/>
          <p:nvPr/>
        </p:nvCxnSpPr>
        <p:spPr>
          <a:xfrm>
            <a:off x="1526932" y="3257425"/>
            <a:ext cx="747347"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直接连接符 10">
            <a:extLst>
              <a:ext uri="{FF2B5EF4-FFF2-40B4-BE49-F238E27FC236}">
                <a16:creationId xmlns:a16="http://schemas.microsoft.com/office/drawing/2014/main" id="{8804AF3E-5AB4-71D4-0CD0-C5C477A5D2FA}"/>
              </a:ext>
            </a:extLst>
          </p:cNvPr>
          <p:cNvCxnSpPr>
            <a:cxnSpLocks/>
          </p:cNvCxnSpPr>
          <p:nvPr/>
        </p:nvCxnSpPr>
        <p:spPr>
          <a:xfrm>
            <a:off x="1526932" y="3682387"/>
            <a:ext cx="3358660" cy="0"/>
          </a:xfrm>
          <a:prstGeom prst="line">
            <a:avLst/>
          </a:prstGeom>
          <a:ln w="1905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12556994-D6F0-2D9D-8C2F-1F330B4203F4}"/>
                  </a:ext>
                </a:extLst>
              </p:cNvPr>
              <p:cNvSpPr txBox="1"/>
              <p:nvPr/>
            </p:nvSpPr>
            <p:spPr>
              <a:xfrm>
                <a:off x="5445532" y="3480953"/>
                <a:ext cx="4820952" cy="435697"/>
              </a:xfrm>
              <a:prstGeom prst="rect">
                <a:avLst/>
              </a:prstGeom>
              <a:noFill/>
            </p:spPr>
            <p:txBody>
              <a:bodyPr wrap="square">
                <a:spAutoFit/>
              </a:bodyPr>
              <a:lstStyle/>
              <a:p>
                <a:r>
                  <a:rPr lang="zh-CN" altLang="en-US" sz="1400" dirty="0">
                    <a:solidFill>
                      <a:srgbClr val="FF0000"/>
                    </a:solidFill>
                    <a:latin typeface="Times New Roman" panose="02020603050405020304" pitchFamily="18" charset="0"/>
                    <a:ea typeface="黑体" pitchFamily="49" charset="-122"/>
                    <a:cs typeface="Times New Roman" panose="02020603050405020304" pitchFamily="18" charset="0"/>
                  </a:rPr>
                  <a:t>更新</a:t>
                </a:r>
                <a14:m>
                  <m:oMath xmlns:m="http://schemas.openxmlformats.org/officeDocument/2006/math">
                    <m:sSub>
                      <m:sSubPr>
                        <m:ctrlPr>
                          <a:rPr lang="en-US" altLang="zh-CN" sz="1400" b="0" i="1" smtClean="0">
                            <a:solidFill>
                              <a:srgbClr val="FF0000"/>
                            </a:solidFill>
                            <a:latin typeface="Cambria Math" panose="02040503050406030204" pitchFamily="18" charset="0"/>
                            <a:ea typeface="黑体" pitchFamily="49" charset="-122"/>
                          </a:rPr>
                        </m:ctrlPr>
                      </m:sSubPr>
                      <m:e>
                        <m:r>
                          <a:rPr lang="en-US" altLang="zh-CN" sz="1400" b="0" i="1" smtClean="0">
                            <a:solidFill>
                              <a:srgbClr val="FF0000"/>
                            </a:solidFill>
                            <a:latin typeface="Cambria Math" panose="02040503050406030204" pitchFamily="18" charset="0"/>
                            <a:ea typeface="黑体" pitchFamily="49" charset="-122"/>
                          </a:rPr>
                          <m:t>𝑞</m:t>
                        </m:r>
                      </m:e>
                      <m:sub>
                        <m:r>
                          <a:rPr lang="en-US" altLang="zh-CN" sz="1400" b="0" i="1" smtClean="0">
                            <a:solidFill>
                              <a:srgbClr val="FF0000"/>
                            </a:solidFill>
                            <a:latin typeface="Cambria Math" panose="02040503050406030204" pitchFamily="18" charset="0"/>
                            <a:ea typeface="黑体" pitchFamily="49" charset="-122"/>
                          </a:rPr>
                          <m:t>𝜋</m:t>
                        </m:r>
                      </m:sub>
                    </m:sSub>
                    <m:d>
                      <m:dPr>
                        <m:ctrlPr>
                          <a:rPr lang="en-US" altLang="zh-CN" sz="1400" b="0" i="1" smtClean="0">
                            <a:solidFill>
                              <a:srgbClr val="FF0000"/>
                            </a:solidFill>
                            <a:latin typeface="Cambria Math" panose="02040503050406030204" pitchFamily="18" charset="0"/>
                            <a:ea typeface="黑体" pitchFamily="49" charset="-122"/>
                          </a:rPr>
                        </m:ctrlPr>
                      </m:dPr>
                      <m:e>
                        <m:r>
                          <a:rPr lang="en-US" altLang="zh-CN" sz="1400" b="0" i="1" smtClean="0">
                            <a:solidFill>
                              <a:srgbClr val="FF0000"/>
                            </a:solidFill>
                            <a:latin typeface="Cambria Math" panose="02040503050406030204" pitchFamily="18" charset="0"/>
                            <a:ea typeface="黑体" pitchFamily="49" charset="-122"/>
                          </a:rPr>
                          <m:t>𝑠</m:t>
                        </m:r>
                        <m:r>
                          <a:rPr lang="en-US" altLang="zh-CN" sz="1400" b="0" i="1" smtClean="0">
                            <a:solidFill>
                              <a:srgbClr val="FF0000"/>
                            </a:solidFill>
                            <a:latin typeface="Cambria Math" panose="02040503050406030204" pitchFamily="18" charset="0"/>
                            <a:ea typeface="黑体" pitchFamily="49" charset="-122"/>
                          </a:rPr>
                          <m:t>,</m:t>
                        </m:r>
                        <m:r>
                          <a:rPr lang="en-US" altLang="zh-CN" sz="1400" b="0" i="1" smtClean="0">
                            <a:solidFill>
                              <a:srgbClr val="FF0000"/>
                            </a:solidFill>
                            <a:latin typeface="Cambria Math" panose="02040503050406030204" pitchFamily="18" charset="0"/>
                            <a:ea typeface="黑体" pitchFamily="49" charset="-122"/>
                          </a:rPr>
                          <m:t>𝑎</m:t>
                        </m:r>
                      </m:e>
                    </m:d>
                    <m:r>
                      <a:rPr lang="en-US" altLang="zh-CN" sz="1400" b="0" i="1" smtClean="0">
                        <a:solidFill>
                          <a:srgbClr val="FF0000"/>
                        </a:solidFill>
                        <a:latin typeface="Cambria Math" panose="02040503050406030204" pitchFamily="18" charset="0"/>
                        <a:ea typeface="黑体" pitchFamily="49" charset="-122"/>
                      </a:rPr>
                      <m:t>←</m:t>
                    </m:r>
                    <m:sSub>
                      <m:sSubPr>
                        <m:ctrlPr>
                          <a:rPr lang="en-US" altLang="zh-CN" sz="1400" b="0" i="1" smtClean="0">
                            <a:solidFill>
                              <a:srgbClr val="FF0000"/>
                            </a:solidFill>
                            <a:latin typeface="Cambria Math" panose="02040503050406030204" pitchFamily="18" charset="0"/>
                            <a:ea typeface="黑体" pitchFamily="49" charset="-122"/>
                          </a:rPr>
                        </m:ctrlPr>
                      </m:sSubPr>
                      <m:e>
                        <m:r>
                          <a:rPr lang="en-US" altLang="zh-CN" sz="1400" b="0" i="1" smtClean="0">
                            <a:solidFill>
                              <a:srgbClr val="FF0000"/>
                            </a:solidFill>
                            <a:latin typeface="Cambria Math" panose="02040503050406030204" pitchFamily="18" charset="0"/>
                            <a:ea typeface="黑体" pitchFamily="49" charset="-122"/>
                          </a:rPr>
                          <m:t>𝑞</m:t>
                        </m:r>
                      </m:e>
                      <m:sub>
                        <m:r>
                          <a:rPr lang="en-US" altLang="zh-CN" sz="1400" b="0" i="1" smtClean="0">
                            <a:solidFill>
                              <a:srgbClr val="FF0000"/>
                            </a:solidFill>
                            <a:latin typeface="Cambria Math" panose="02040503050406030204" pitchFamily="18" charset="0"/>
                            <a:ea typeface="黑体" pitchFamily="49" charset="-122"/>
                          </a:rPr>
                          <m:t>𝜋</m:t>
                        </m:r>
                      </m:sub>
                    </m:sSub>
                    <m:d>
                      <m:dPr>
                        <m:ctrlPr>
                          <a:rPr lang="en-US" altLang="zh-CN" sz="1400" b="0" i="1" smtClean="0">
                            <a:solidFill>
                              <a:srgbClr val="FF0000"/>
                            </a:solidFill>
                            <a:latin typeface="Cambria Math" panose="02040503050406030204" pitchFamily="18" charset="0"/>
                            <a:ea typeface="黑体" pitchFamily="49" charset="-122"/>
                          </a:rPr>
                        </m:ctrlPr>
                      </m:dPr>
                      <m:e>
                        <m:r>
                          <a:rPr lang="en-US" altLang="zh-CN" sz="1400" b="0" i="1" smtClean="0">
                            <a:solidFill>
                              <a:srgbClr val="FF0000"/>
                            </a:solidFill>
                            <a:latin typeface="Cambria Math" panose="02040503050406030204" pitchFamily="18" charset="0"/>
                            <a:ea typeface="黑体" pitchFamily="49" charset="-122"/>
                          </a:rPr>
                          <m:t>𝑠</m:t>
                        </m:r>
                        <m:r>
                          <a:rPr lang="en-US" altLang="zh-CN" sz="1400" b="0" i="1" smtClean="0">
                            <a:solidFill>
                              <a:srgbClr val="FF0000"/>
                            </a:solidFill>
                            <a:latin typeface="Cambria Math" panose="02040503050406030204" pitchFamily="18" charset="0"/>
                            <a:ea typeface="黑体" pitchFamily="49" charset="-122"/>
                          </a:rPr>
                          <m:t>,</m:t>
                        </m:r>
                        <m:r>
                          <a:rPr lang="en-US" altLang="zh-CN" sz="1400" b="0" i="1" smtClean="0">
                            <a:solidFill>
                              <a:srgbClr val="FF0000"/>
                            </a:solidFill>
                            <a:latin typeface="Cambria Math" panose="02040503050406030204" pitchFamily="18" charset="0"/>
                            <a:ea typeface="黑体" pitchFamily="49" charset="-122"/>
                          </a:rPr>
                          <m:t>𝑎</m:t>
                        </m:r>
                      </m:e>
                    </m:d>
                    <m:r>
                      <a:rPr lang="en-US" altLang="zh-CN" sz="1400" b="0" i="1" smtClean="0">
                        <a:solidFill>
                          <a:srgbClr val="FF0000"/>
                        </a:solidFill>
                        <a:latin typeface="Cambria Math" panose="02040503050406030204" pitchFamily="18" charset="0"/>
                        <a:ea typeface="黑体" pitchFamily="49" charset="-122"/>
                      </a:rPr>
                      <m:t>+</m:t>
                    </m:r>
                    <m:r>
                      <a:rPr lang="en-US" altLang="zh-CN" sz="1400" b="0" i="1" smtClean="0">
                        <a:solidFill>
                          <a:srgbClr val="FF0000"/>
                        </a:solidFill>
                        <a:latin typeface="Cambria Math" panose="02040503050406030204" pitchFamily="18" charset="0"/>
                        <a:ea typeface="黑体" pitchFamily="49" charset="-122"/>
                      </a:rPr>
                      <m:t>𝛼</m:t>
                    </m:r>
                    <m:d>
                      <m:dPr>
                        <m:begChr m:val="["/>
                        <m:endChr m:val="]"/>
                        <m:ctrlPr>
                          <a:rPr lang="en-US" altLang="zh-CN" sz="1400" b="0" i="1" smtClean="0">
                            <a:solidFill>
                              <a:srgbClr val="FF0000"/>
                            </a:solidFill>
                            <a:latin typeface="Cambria Math" panose="02040503050406030204" pitchFamily="18" charset="0"/>
                            <a:ea typeface="黑体" pitchFamily="49" charset="-122"/>
                          </a:rPr>
                        </m:ctrlPr>
                      </m:dPr>
                      <m:e>
                        <m:r>
                          <a:rPr lang="en-US" altLang="zh-CN" sz="1400" b="0" i="1" smtClean="0">
                            <a:solidFill>
                              <a:srgbClr val="FF0000"/>
                            </a:solidFill>
                            <a:latin typeface="Cambria Math" panose="02040503050406030204" pitchFamily="18" charset="0"/>
                            <a:ea typeface="黑体" pitchFamily="49" charset="-122"/>
                          </a:rPr>
                          <m:t>𝑅</m:t>
                        </m:r>
                        <m:r>
                          <a:rPr lang="en-US" altLang="zh-CN" sz="1400" b="0" i="1" smtClean="0">
                            <a:solidFill>
                              <a:srgbClr val="FF0000"/>
                            </a:solidFill>
                            <a:latin typeface="Cambria Math" panose="02040503050406030204" pitchFamily="18" charset="0"/>
                            <a:ea typeface="黑体" pitchFamily="49" charset="-122"/>
                          </a:rPr>
                          <m:t>+</m:t>
                        </m:r>
                        <m:r>
                          <a:rPr lang="en-US" altLang="zh-CN" sz="1400" b="0" i="1" smtClean="0">
                            <a:solidFill>
                              <a:srgbClr val="FF0000"/>
                            </a:solidFill>
                            <a:latin typeface="Cambria Math" panose="02040503050406030204" pitchFamily="18" charset="0"/>
                            <a:ea typeface="黑体" pitchFamily="49" charset="-122"/>
                          </a:rPr>
                          <m:t>𝛾</m:t>
                        </m:r>
                        <m:sSub>
                          <m:sSubPr>
                            <m:ctrlPr>
                              <a:rPr lang="en-US" altLang="zh-CN" sz="1400" b="0" i="1" smtClean="0">
                                <a:solidFill>
                                  <a:srgbClr val="FF0000"/>
                                </a:solidFill>
                                <a:latin typeface="Cambria Math" panose="02040503050406030204" pitchFamily="18" charset="0"/>
                                <a:ea typeface="黑体" pitchFamily="49" charset="-122"/>
                              </a:rPr>
                            </m:ctrlPr>
                          </m:sSubPr>
                          <m:e>
                            <m:r>
                              <a:rPr lang="en-US" altLang="zh-CN" sz="1400" b="0" i="1" smtClean="0">
                                <a:solidFill>
                                  <a:srgbClr val="FF0000"/>
                                </a:solidFill>
                                <a:latin typeface="Cambria Math" panose="02040503050406030204" pitchFamily="18" charset="0"/>
                                <a:ea typeface="黑体" pitchFamily="49" charset="-122"/>
                              </a:rPr>
                              <m:t> </m:t>
                            </m:r>
                            <m:limLow>
                              <m:limLowPr>
                                <m:ctrlPr>
                                  <a:rPr lang="en-US" altLang="zh-CN" sz="1400" b="0" i="1" smtClean="0">
                                    <a:solidFill>
                                      <a:srgbClr val="FF0000"/>
                                    </a:solidFill>
                                    <a:latin typeface="Cambria Math" panose="02040503050406030204" pitchFamily="18" charset="0"/>
                                    <a:ea typeface="黑体" pitchFamily="49" charset="-122"/>
                                  </a:rPr>
                                </m:ctrlPr>
                              </m:limLowPr>
                              <m:e>
                                <m:r>
                                  <m:rPr>
                                    <m:sty m:val="p"/>
                                  </m:rPr>
                                  <a:rPr lang="en-US" altLang="zh-CN" sz="1400" b="0" i="0" smtClean="0">
                                    <a:solidFill>
                                      <a:srgbClr val="FF0000"/>
                                    </a:solidFill>
                                    <a:latin typeface="Cambria Math" panose="02040503050406030204" pitchFamily="18" charset="0"/>
                                    <a:ea typeface="黑体" pitchFamily="49" charset="-122"/>
                                  </a:rPr>
                                  <m:t>max</m:t>
                                </m:r>
                              </m:e>
                              <m:lim>
                                <m:sSup>
                                  <m:sSupPr>
                                    <m:ctrlPr>
                                      <a:rPr lang="en-US" altLang="zh-CN" sz="1400" b="0" i="1" smtClean="0">
                                        <a:solidFill>
                                          <a:srgbClr val="FF0000"/>
                                        </a:solidFill>
                                        <a:latin typeface="Cambria Math" panose="02040503050406030204" pitchFamily="18" charset="0"/>
                                        <a:ea typeface="黑体" pitchFamily="49" charset="-122"/>
                                      </a:rPr>
                                    </m:ctrlPr>
                                  </m:sSupPr>
                                  <m:e>
                                    <m:r>
                                      <a:rPr lang="en-US" altLang="zh-CN" sz="1400" b="0" i="1" smtClean="0">
                                        <a:solidFill>
                                          <a:srgbClr val="FF0000"/>
                                        </a:solidFill>
                                        <a:latin typeface="Cambria Math" panose="02040503050406030204" pitchFamily="18" charset="0"/>
                                        <a:ea typeface="黑体" pitchFamily="49" charset="-122"/>
                                      </a:rPr>
                                      <m:t>𝑎</m:t>
                                    </m:r>
                                  </m:e>
                                  <m:sup>
                                    <m:r>
                                      <a:rPr lang="en-US" altLang="zh-CN" sz="1400" b="0" i="1" smtClean="0">
                                        <a:solidFill>
                                          <a:srgbClr val="FF0000"/>
                                        </a:solidFill>
                                        <a:latin typeface="Cambria Math" panose="02040503050406030204" pitchFamily="18" charset="0"/>
                                        <a:ea typeface="黑体" pitchFamily="49" charset="-122"/>
                                      </a:rPr>
                                      <m:t>′</m:t>
                                    </m:r>
                                  </m:sup>
                                </m:sSup>
                              </m:lim>
                            </m:limLow>
                            <m:r>
                              <a:rPr lang="en-US" altLang="zh-CN" sz="1400" b="0" i="1" smtClean="0">
                                <a:solidFill>
                                  <a:srgbClr val="FF0000"/>
                                </a:solidFill>
                                <a:latin typeface="Cambria Math" panose="02040503050406030204" pitchFamily="18" charset="0"/>
                                <a:ea typeface="黑体" pitchFamily="49" charset="-122"/>
                              </a:rPr>
                              <m:t> </m:t>
                            </m:r>
                            <m:r>
                              <a:rPr lang="en-US" altLang="zh-CN" sz="1400" b="0" i="1" smtClean="0">
                                <a:solidFill>
                                  <a:srgbClr val="FF0000"/>
                                </a:solidFill>
                                <a:latin typeface="Cambria Math" panose="02040503050406030204" pitchFamily="18" charset="0"/>
                                <a:ea typeface="黑体" pitchFamily="49" charset="-122"/>
                              </a:rPr>
                              <m:t>𝑞</m:t>
                            </m:r>
                          </m:e>
                          <m:sub>
                            <m:r>
                              <a:rPr lang="en-US" altLang="zh-CN" sz="1400" b="0" i="1" smtClean="0">
                                <a:solidFill>
                                  <a:srgbClr val="FF0000"/>
                                </a:solidFill>
                                <a:latin typeface="Cambria Math" panose="02040503050406030204" pitchFamily="18" charset="0"/>
                                <a:ea typeface="黑体" pitchFamily="49" charset="-122"/>
                              </a:rPr>
                              <m:t>𝜋</m:t>
                            </m:r>
                          </m:sub>
                        </m:sSub>
                        <m:d>
                          <m:dPr>
                            <m:ctrlPr>
                              <a:rPr lang="en-US" altLang="zh-CN" sz="1400" b="0" i="1" smtClean="0">
                                <a:solidFill>
                                  <a:srgbClr val="FF0000"/>
                                </a:solidFill>
                                <a:latin typeface="Cambria Math" panose="02040503050406030204" pitchFamily="18" charset="0"/>
                                <a:ea typeface="黑体" pitchFamily="49" charset="-122"/>
                              </a:rPr>
                            </m:ctrlPr>
                          </m:dPr>
                          <m:e>
                            <m:sSup>
                              <m:sSupPr>
                                <m:ctrlPr>
                                  <a:rPr lang="en-US" altLang="zh-CN" sz="1400" b="0" i="1" smtClean="0">
                                    <a:solidFill>
                                      <a:srgbClr val="FF0000"/>
                                    </a:solidFill>
                                    <a:latin typeface="Cambria Math" panose="02040503050406030204" pitchFamily="18" charset="0"/>
                                    <a:ea typeface="黑体" pitchFamily="49" charset="-122"/>
                                  </a:rPr>
                                </m:ctrlPr>
                              </m:sSupPr>
                              <m:e>
                                <m:r>
                                  <a:rPr lang="en-US" altLang="zh-CN" sz="1400" b="0" i="1" smtClean="0">
                                    <a:solidFill>
                                      <a:srgbClr val="FF0000"/>
                                    </a:solidFill>
                                    <a:latin typeface="Cambria Math" panose="02040503050406030204" pitchFamily="18" charset="0"/>
                                    <a:ea typeface="黑体" pitchFamily="49" charset="-122"/>
                                  </a:rPr>
                                  <m:t>𝑠</m:t>
                                </m:r>
                              </m:e>
                              <m:sup>
                                <m:r>
                                  <a:rPr lang="en-US" altLang="zh-CN" sz="1400" b="0" i="1" smtClean="0">
                                    <a:solidFill>
                                      <a:srgbClr val="FF0000"/>
                                    </a:solidFill>
                                    <a:latin typeface="Cambria Math" panose="02040503050406030204" pitchFamily="18" charset="0"/>
                                    <a:ea typeface="黑体" pitchFamily="49" charset="-122"/>
                                  </a:rPr>
                                  <m:t>′</m:t>
                                </m:r>
                              </m:sup>
                            </m:sSup>
                            <m:r>
                              <a:rPr lang="en-US" altLang="zh-CN" sz="1400" b="0" i="1" smtClean="0">
                                <a:solidFill>
                                  <a:srgbClr val="FF0000"/>
                                </a:solidFill>
                                <a:latin typeface="Cambria Math" panose="02040503050406030204" pitchFamily="18" charset="0"/>
                                <a:ea typeface="黑体" pitchFamily="49" charset="-122"/>
                              </a:rPr>
                              <m:t>,</m:t>
                            </m:r>
                            <m:r>
                              <a:rPr lang="en-US" altLang="zh-CN" sz="1400" b="0" i="1" smtClean="0">
                                <a:solidFill>
                                  <a:srgbClr val="FF0000"/>
                                </a:solidFill>
                                <a:latin typeface="Cambria Math" panose="02040503050406030204" pitchFamily="18" charset="0"/>
                                <a:ea typeface="黑体" pitchFamily="49" charset="-122"/>
                              </a:rPr>
                              <m:t>𝑎</m:t>
                            </m:r>
                            <m:r>
                              <a:rPr lang="en-US" altLang="zh-CN" sz="1400" b="0" i="1" smtClean="0">
                                <a:solidFill>
                                  <a:srgbClr val="FF0000"/>
                                </a:solidFill>
                                <a:latin typeface="Cambria Math" panose="02040503050406030204" pitchFamily="18" charset="0"/>
                                <a:ea typeface="黑体" pitchFamily="49" charset="-122"/>
                              </a:rPr>
                              <m:t>′</m:t>
                            </m:r>
                          </m:e>
                        </m:d>
                        <m:r>
                          <a:rPr lang="en-US" altLang="zh-CN" sz="1400" b="0" i="1" smtClean="0">
                            <a:solidFill>
                              <a:srgbClr val="FF0000"/>
                            </a:solidFill>
                            <a:latin typeface="Cambria Math" panose="02040503050406030204" pitchFamily="18" charset="0"/>
                            <a:ea typeface="黑体" pitchFamily="49" charset="-122"/>
                          </a:rPr>
                          <m:t>−</m:t>
                        </m:r>
                        <m:sSub>
                          <m:sSubPr>
                            <m:ctrlPr>
                              <a:rPr lang="en-US" altLang="zh-CN" sz="1400" b="0" i="1" smtClean="0">
                                <a:solidFill>
                                  <a:srgbClr val="FF0000"/>
                                </a:solidFill>
                                <a:latin typeface="Cambria Math" panose="02040503050406030204" pitchFamily="18" charset="0"/>
                                <a:ea typeface="黑体" pitchFamily="49" charset="-122"/>
                              </a:rPr>
                            </m:ctrlPr>
                          </m:sSubPr>
                          <m:e>
                            <m:r>
                              <a:rPr lang="en-US" altLang="zh-CN" sz="1400" b="0" i="1" smtClean="0">
                                <a:solidFill>
                                  <a:srgbClr val="FF0000"/>
                                </a:solidFill>
                                <a:latin typeface="Cambria Math" panose="02040503050406030204" pitchFamily="18" charset="0"/>
                                <a:ea typeface="黑体" pitchFamily="49" charset="-122"/>
                              </a:rPr>
                              <m:t>𝑞</m:t>
                            </m:r>
                          </m:e>
                          <m:sub>
                            <m:r>
                              <a:rPr lang="en-US" altLang="zh-CN" sz="1400" b="0" i="1" smtClean="0">
                                <a:solidFill>
                                  <a:srgbClr val="FF0000"/>
                                </a:solidFill>
                                <a:latin typeface="Cambria Math" panose="02040503050406030204" pitchFamily="18" charset="0"/>
                                <a:ea typeface="黑体" pitchFamily="49" charset="-122"/>
                              </a:rPr>
                              <m:t>𝜋</m:t>
                            </m:r>
                          </m:sub>
                        </m:sSub>
                        <m:d>
                          <m:dPr>
                            <m:ctrlPr>
                              <a:rPr lang="en-US" altLang="zh-CN" sz="1400" b="0" i="1" smtClean="0">
                                <a:solidFill>
                                  <a:srgbClr val="FF0000"/>
                                </a:solidFill>
                                <a:latin typeface="Cambria Math" panose="02040503050406030204" pitchFamily="18" charset="0"/>
                                <a:ea typeface="黑体" pitchFamily="49" charset="-122"/>
                              </a:rPr>
                            </m:ctrlPr>
                          </m:dPr>
                          <m:e>
                            <m:r>
                              <a:rPr lang="en-US" altLang="zh-CN" sz="1400" b="0" i="1" smtClean="0">
                                <a:solidFill>
                                  <a:srgbClr val="FF0000"/>
                                </a:solidFill>
                                <a:latin typeface="Cambria Math" panose="02040503050406030204" pitchFamily="18" charset="0"/>
                                <a:ea typeface="黑体" pitchFamily="49" charset="-122"/>
                              </a:rPr>
                              <m:t>𝑠</m:t>
                            </m:r>
                            <m:r>
                              <a:rPr lang="en-US" altLang="zh-CN" sz="1400" b="0" i="1" smtClean="0">
                                <a:solidFill>
                                  <a:srgbClr val="FF0000"/>
                                </a:solidFill>
                                <a:latin typeface="Cambria Math" panose="02040503050406030204" pitchFamily="18" charset="0"/>
                                <a:ea typeface="黑体" pitchFamily="49" charset="-122"/>
                              </a:rPr>
                              <m:t>,</m:t>
                            </m:r>
                            <m:r>
                              <a:rPr lang="en-US" altLang="zh-CN" sz="1400" b="0" i="1" smtClean="0">
                                <a:solidFill>
                                  <a:srgbClr val="FF0000"/>
                                </a:solidFill>
                                <a:latin typeface="Cambria Math" panose="02040503050406030204" pitchFamily="18" charset="0"/>
                                <a:ea typeface="黑体" pitchFamily="49" charset="-122"/>
                              </a:rPr>
                              <m:t>𝑎</m:t>
                            </m:r>
                          </m:e>
                        </m:d>
                      </m:e>
                    </m:d>
                  </m:oMath>
                </a14:m>
                <a:endParaRPr lang="zh-CN" altLang="en-US" dirty="0"/>
              </a:p>
            </p:txBody>
          </p:sp>
        </mc:Choice>
        <mc:Fallback xmlns="">
          <p:sp>
            <p:nvSpPr>
              <p:cNvPr id="14" name="文本框 13">
                <a:extLst>
                  <a:ext uri="{FF2B5EF4-FFF2-40B4-BE49-F238E27FC236}">
                    <a16:creationId xmlns:a16="http://schemas.microsoft.com/office/drawing/2014/main" id="{12556994-D6F0-2D9D-8C2F-1F330B4203F4}"/>
                  </a:ext>
                </a:extLst>
              </p:cNvPr>
              <p:cNvSpPr txBox="1">
                <a:spLocks noRot="1" noChangeAspect="1" noMove="1" noResize="1" noEditPoints="1" noAdjustHandles="1" noChangeArrowheads="1" noChangeShapeType="1" noTextEdit="1"/>
              </p:cNvSpPr>
              <p:nvPr/>
            </p:nvSpPr>
            <p:spPr>
              <a:xfrm>
                <a:off x="5445532" y="3480953"/>
                <a:ext cx="4820952" cy="435697"/>
              </a:xfrm>
              <a:prstGeom prst="rect">
                <a:avLst/>
              </a:prstGeom>
              <a:blipFill>
                <a:blip r:embed="rId8"/>
                <a:stretch>
                  <a:fillRect l="-379"/>
                </a:stretch>
              </a:blipFill>
            </p:spPr>
            <p:txBody>
              <a:bodyPr/>
              <a:lstStyle/>
              <a:p>
                <a:r>
                  <a:rPr lang="zh-CN" altLang="en-US">
                    <a:noFill/>
                  </a:rPr>
                  <a:t> </a:t>
                </a:r>
              </a:p>
            </p:txBody>
          </p:sp>
        </mc:Fallback>
      </mc:AlternateContent>
      <p:sp>
        <p:nvSpPr>
          <p:cNvPr id="15" name="矩形 14">
            <a:extLst>
              <a:ext uri="{FF2B5EF4-FFF2-40B4-BE49-F238E27FC236}">
                <a16:creationId xmlns:a16="http://schemas.microsoft.com/office/drawing/2014/main" id="{23D86DDC-A78A-37B6-59A2-822B448B048B}"/>
              </a:ext>
            </a:extLst>
          </p:cNvPr>
          <p:cNvSpPr/>
          <p:nvPr/>
        </p:nvSpPr>
        <p:spPr>
          <a:xfrm>
            <a:off x="5445532" y="3514000"/>
            <a:ext cx="4726661" cy="402650"/>
          </a:xfrm>
          <a:prstGeom prst="rect">
            <a:avLst/>
          </a:prstGeom>
          <a:no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400" dirty="0">
              <a:latin typeface="Times New Roman" panose="02020603050405020304" pitchFamily="18" charset="0"/>
              <a:ea typeface="黑体" pitchFamily="49" charset="-122"/>
              <a:cs typeface="Times New Roman" panose="02020603050405020304" pitchFamily="18" charset="0"/>
            </a:endParaRPr>
          </a:p>
        </p:txBody>
      </p:sp>
      <p:sp>
        <p:nvSpPr>
          <p:cNvPr id="16" name="箭头: 燕尾形 15">
            <a:extLst>
              <a:ext uri="{FF2B5EF4-FFF2-40B4-BE49-F238E27FC236}">
                <a16:creationId xmlns:a16="http://schemas.microsoft.com/office/drawing/2014/main" id="{81CC53BB-9953-98F8-30C5-2B3871DBEEFB}"/>
              </a:ext>
            </a:extLst>
          </p:cNvPr>
          <p:cNvSpPr/>
          <p:nvPr/>
        </p:nvSpPr>
        <p:spPr>
          <a:xfrm>
            <a:off x="2446673" y="3163776"/>
            <a:ext cx="294208" cy="184213"/>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燕尾形 21">
            <a:extLst>
              <a:ext uri="{FF2B5EF4-FFF2-40B4-BE49-F238E27FC236}">
                <a16:creationId xmlns:a16="http://schemas.microsoft.com/office/drawing/2014/main" id="{4C0614B0-A5C2-6D7B-331A-A992EE2F6FA3}"/>
              </a:ext>
            </a:extLst>
          </p:cNvPr>
          <p:cNvSpPr/>
          <p:nvPr/>
        </p:nvSpPr>
        <p:spPr>
          <a:xfrm>
            <a:off x="5057033" y="3599677"/>
            <a:ext cx="294208" cy="184213"/>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箭头连接符 23">
            <a:extLst>
              <a:ext uri="{FF2B5EF4-FFF2-40B4-BE49-F238E27FC236}">
                <a16:creationId xmlns:a16="http://schemas.microsoft.com/office/drawing/2014/main" id="{0282C9CA-518D-E9DB-5EEA-8BBEF9801E71}"/>
              </a:ext>
            </a:extLst>
          </p:cNvPr>
          <p:cNvCxnSpPr>
            <a:cxnSpLocks/>
          </p:cNvCxnSpPr>
          <p:nvPr/>
        </p:nvCxnSpPr>
        <p:spPr>
          <a:xfrm flipV="1">
            <a:off x="5445532" y="3160863"/>
            <a:ext cx="326647" cy="29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21097218-D69D-E983-2CD2-924EA266D6B6}"/>
              </a:ext>
            </a:extLst>
          </p:cNvPr>
          <p:cNvSpPr txBox="1"/>
          <p:nvPr/>
        </p:nvSpPr>
        <p:spPr>
          <a:xfrm>
            <a:off x="3481350" y="1293514"/>
            <a:ext cx="6096000" cy="369332"/>
          </a:xfrm>
          <a:prstGeom prst="rect">
            <a:avLst/>
          </a:prstGeom>
          <a:noFill/>
        </p:spPr>
        <p:txBody>
          <a:bodyPr wrap="square">
            <a:spAutoFit/>
          </a:bodyPr>
          <a:lstStyle/>
          <a:p>
            <a:r>
              <a:rPr lang="en-US" altLang="zh-CN" sz="18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Q</a:t>
            </a:r>
            <a:r>
              <a:rPr lang="zh-CN" altLang="en-US" sz="18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学习算法：结合时序差分方法和价值迭代算法</a:t>
            </a:r>
            <a:endParaRPr lang="zh-CN" altLang="en-US" dirty="0"/>
          </a:p>
        </p:txBody>
      </p:sp>
      <p:sp>
        <p:nvSpPr>
          <p:cNvPr id="32" name="文本框 31">
            <a:extLst>
              <a:ext uri="{FF2B5EF4-FFF2-40B4-BE49-F238E27FC236}">
                <a16:creationId xmlns:a16="http://schemas.microsoft.com/office/drawing/2014/main" id="{66AC9E78-FBB5-BC87-F1A1-F58CAC6AF2C0}"/>
              </a:ext>
            </a:extLst>
          </p:cNvPr>
          <p:cNvSpPr txBox="1"/>
          <p:nvPr/>
        </p:nvSpPr>
        <p:spPr>
          <a:xfrm>
            <a:off x="2508354" y="1902524"/>
            <a:ext cx="1571625" cy="369332"/>
          </a:xfrm>
          <a:prstGeom prst="rect">
            <a:avLst/>
          </a:prstGeom>
          <a:noFill/>
        </p:spPr>
        <p:txBody>
          <a:bodyPr wrap="square">
            <a:spAutoFit/>
          </a:bodyPr>
          <a:lstStyle/>
          <a:p>
            <a:r>
              <a:rPr lang="zh-CN" altLang="en-US" sz="18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时序差分方法</a:t>
            </a:r>
            <a:endParaRPr lang="zh-CN" altLang="en-US" dirty="0"/>
          </a:p>
        </p:txBody>
      </p:sp>
      <p:sp>
        <p:nvSpPr>
          <p:cNvPr id="35" name="箭头: 燕尾形 34">
            <a:extLst>
              <a:ext uri="{FF2B5EF4-FFF2-40B4-BE49-F238E27FC236}">
                <a16:creationId xmlns:a16="http://schemas.microsoft.com/office/drawing/2014/main" id="{F56ECD71-F19F-194B-0D22-D74F81A27552}"/>
              </a:ext>
            </a:extLst>
          </p:cNvPr>
          <p:cNvSpPr/>
          <p:nvPr/>
        </p:nvSpPr>
        <p:spPr>
          <a:xfrm>
            <a:off x="4114734" y="1995084"/>
            <a:ext cx="294208" cy="184213"/>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a:extLst>
              <a:ext uri="{FF2B5EF4-FFF2-40B4-BE49-F238E27FC236}">
                <a16:creationId xmlns:a16="http://schemas.microsoft.com/office/drawing/2014/main" id="{D1D56185-2361-0CFB-C45E-AEF219E67829}"/>
              </a:ext>
            </a:extLst>
          </p:cNvPr>
          <p:cNvSpPr txBox="1"/>
          <p:nvPr/>
        </p:nvSpPr>
        <p:spPr>
          <a:xfrm>
            <a:off x="4499331" y="1902524"/>
            <a:ext cx="1409612" cy="369332"/>
          </a:xfrm>
          <a:prstGeom prst="rect">
            <a:avLst/>
          </a:prstGeom>
          <a:noFill/>
        </p:spPr>
        <p:txBody>
          <a:bodyPr wrap="square">
            <a:spAutoFit/>
          </a:bodyPr>
          <a:lstStyle/>
          <a:p>
            <a:r>
              <a:rPr lang="en-US" altLang="zh-CN" sz="18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Q</a:t>
            </a:r>
            <a:r>
              <a:rPr lang="zh-CN" altLang="en-US" sz="18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学习算法</a:t>
            </a:r>
            <a:endParaRPr lang="zh-CN" altLang="en-US" dirty="0"/>
          </a:p>
        </p:txBody>
      </p:sp>
      <p:cxnSp>
        <p:nvCxnSpPr>
          <p:cNvPr id="45" name="直接连接符 44">
            <a:extLst>
              <a:ext uri="{FF2B5EF4-FFF2-40B4-BE49-F238E27FC236}">
                <a16:creationId xmlns:a16="http://schemas.microsoft.com/office/drawing/2014/main" id="{514F69A3-3BC7-99D8-2A55-87B14CD74399}"/>
              </a:ext>
            </a:extLst>
          </p:cNvPr>
          <p:cNvCxnSpPr>
            <a:cxnSpLocks/>
          </p:cNvCxnSpPr>
          <p:nvPr/>
        </p:nvCxnSpPr>
        <p:spPr>
          <a:xfrm>
            <a:off x="7845801" y="4607925"/>
            <a:ext cx="66000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2110EDF3-5A61-0D1F-5544-2B8E93F5E90D}"/>
              </a:ext>
            </a:extLst>
          </p:cNvPr>
          <p:cNvCxnSpPr>
            <a:cxnSpLocks/>
          </p:cNvCxnSpPr>
          <p:nvPr/>
        </p:nvCxnSpPr>
        <p:spPr>
          <a:xfrm>
            <a:off x="9031121" y="4607925"/>
            <a:ext cx="1902084"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47" name="矩形 46">
            <a:extLst>
              <a:ext uri="{FF2B5EF4-FFF2-40B4-BE49-F238E27FC236}">
                <a16:creationId xmlns:a16="http://schemas.microsoft.com/office/drawing/2014/main" id="{689F3518-C558-0CE7-7EED-80765762D4A6}"/>
              </a:ext>
            </a:extLst>
          </p:cNvPr>
          <p:cNvSpPr/>
          <p:nvPr/>
        </p:nvSpPr>
        <p:spPr>
          <a:xfrm>
            <a:off x="7566120" y="4750433"/>
            <a:ext cx="1219362" cy="523220"/>
          </a:xfrm>
          <a:prstGeom prst="rect">
            <a:avLst/>
          </a:prstGeom>
        </p:spPr>
        <p:txBody>
          <a:bodyPr wrap="square">
            <a:spAutoFit/>
          </a:bodyPr>
          <a:lstStyle/>
          <a:p>
            <a:pPr algn="ctr"/>
            <a:r>
              <a:rPr lang="zh-CN" altLang="en-US" sz="1400" b="1" dirty="0">
                <a:solidFill>
                  <a:srgbClr val="0070C0"/>
                </a:solidFill>
                <a:latin typeface="微软雅黑" panose="020B0503020204020204" pitchFamily="34" charset="-122"/>
                <a:ea typeface="微软雅黑" panose="020B0503020204020204" pitchFamily="34" charset="-122"/>
              </a:rPr>
              <a:t>过去的</a:t>
            </a:r>
            <a:endParaRPr lang="en-US" altLang="zh-CN" sz="1400" b="1" dirty="0">
              <a:solidFill>
                <a:srgbClr val="0070C0"/>
              </a:solidFill>
              <a:latin typeface="微软雅黑" panose="020B0503020204020204" pitchFamily="34" charset="-122"/>
              <a:ea typeface="微软雅黑" panose="020B0503020204020204" pitchFamily="34" charset="-122"/>
            </a:endParaRPr>
          </a:p>
          <a:p>
            <a:pPr algn="ctr"/>
            <a:r>
              <a:rPr lang="zh-CN" altLang="en-US" sz="1400" b="1" dirty="0">
                <a:solidFill>
                  <a:srgbClr val="0070C0"/>
                </a:solidFill>
                <a:latin typeface="微软雅黑" panose="020B0503020204020204" pitchFamily="34" charset="-122"/>
                <a:ea typeface="微软雅黑" panose="020B0503020204020204" pitchFamily="34" charset="-122"/>
              </a:rPr>
              <a:t>价值函数值</a:t>
            </a:r>
          </a:p>
        </p:txBody>
      </p:sp>
      <p:sp>
        <p:nvSpPr>
          <p:cNvPr id="48" name="矩形 47">
            <a:extLst>
              <a:ext uri="{FF2B5EF4-FFF2-40B4-BE49-F238E27FC236}">
                <a16:creationId xmlns:a16="http://schemas.microsoft.com/office/drawing/2014/main" id="{A99F65D0-0ED3-1B97-A701-7A76EA5A5DB5}"/>
              </a:ext>
            </a:extLst>
          </p:cNvPr>
          <p:cNvSpPr/>
          <p:nvPr/>
        </p:nvSpPr>
        <p:spPr>
          <a:xfrm>
            <a:off x="9238505" y="4750433"/>
            <a:ext cx="1461904" cy="523220"/>
          </a:xfrm>
          <a:prstGeom prst="rect">
            <a:avLst/>
          </a:prstGeom>
        </p:spPr>
        <p:txBody>
          <a:bodyPr wrap="square">
            <a:spAutoFit/>
          </a:bodyPr>
          <a:lstStyle/>
          <a:p>
            <a:pPr algn="ctr"/>
            <a:r>
              <a:rPr lang="zh-CN" altLang="en-US" sz="1400" b="1" dirty="0">
                <a:solidFill>
                  <a:srgbClr val="0070C0"/>
                </a:solidFill>
                <a:latin typeface="微软雅黑" panose="020B0503020204020204" pitchFamily="34" charset="-122"/>
                <a:ea typeface="微软雅黑" panose="020B0503020204020204" pitchFamily="34" charset="-122"/>
              </a:rPr>
              <a:t>学习得到的</a:t>
            </a:r>
            <a:endParaRPr lang="en-US" altLang="zh-CN" sz="1400" b="1" dirty="0">
              <a:solidFill>
                <a:srgbClr val="0070C0"/>
              </a:solidFill>
              <a:latin typeface="微软雅黑" panose="020B0503020204020204" pitchFamily="34" charset="-122"/>
              <a:ea typeface="微软雅黑" panose="020B0503020204020204" pitchFamily="34" charset="-122"/>
            </a:endParaRPr>
          </a:p>
          <a:p>
            <a:pPr algn="ctr"/>
            <a:r>
              <a:rPr lang="zh-CN" altLang="en-US" sz="1400" b="1" dirty="0">
                <a:solidFill>
                  <a:srgbClr val="0070C0"/>
                </a:solidFill>
                <a:latin typeface="微软雅黑" panose="020B0503020204020204" pitchFamily="34" charset="-122"/>
                <a:ea typeface="微软雅黑" panose="020B0503020204020204" pitchFamily="34" charset="-122"/>
              </a:rPr>
              <a:t>价值函数值</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8FEF02FD-C436-8AD9-26AF-4764E424B43C}"/>
                  </a:ext>
                </a:extLst>
              </p:cNvPr>
              <p:cNvSpPr/>
              <p:nvPr/>
            </p:nvSpPr>
            <p:spPr>
              <a:xfrm>
                <a:off x="6810254" y="2212068"/>
                <a:ext cx="5197821" cy="39209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a:rPr>
                            <m:t>𝑞</m:t>
                          </m:r>
                        </m:e>
                        <m:sub>
                          <m:r>
                            <a:rPr lang="en-US" altLang="zh-CN" sz="1600" i="1">
                              <a:latin typeface="Cambria Math"/>
                            </a:rPr>
                            <m:t>𝜋</m:t>
                          </m:r>
                        </m:sub>
                      </m:sSub>
                      <m:d>
                        <m:dPr>
                          <m:ctrlPr>
                            <a:rPr lang="zh-CN" altLang="zh-CN" sz="1600" i="1">
                              <a:latin typeface="Cambria Math" panose="02040503050406030204" pitchFamily="18" charset="0"/>
                            </a:rPr>
                          </m:ctrlPr>
                        </m:dPr>
                        <m:e>
                          <m:r>
                            <a:rPr lang="en-US" altLang="zh-CN" sz="1600" i="1">
                              <a:latin typeface="Cambria Math"/>
                            </a:rPr>
                            <m:t>𝑠</m:t>
                          </m:r>
                          <m:r>
                            <a:rPr lang="en-US" altLang="zh-CN" sz="1600" i="1">
                              <a:latin typeface="Cambria Math"/>
                            </a:rPr>
                            <m:t>,</m:t>
                          </m:r>
                          <m:r>
                            <a:rPr lang="en-US" altLang="zh-CN" sz="1600" i="1">
                              <a:latin typeface="Cambria Math"/>
                            </a:rPr>
                            <m:t>𝑎</m:t>
                          </m:r>
                        </m:e>
                      </m:d>
                      <m:r>
                        <a:rPr lang="en-US" altLang="zh-CN" sz="1600" i="1">
                          <a:latin typeface="Cambria Math"/>
                        </a:rPr>
                        <m:t>=</m:t>
                      </m:r>
                      <m:sSub>
                        <m:sSubPr>
                          <m:ctrlPr>
                            <a:rPr lang="zh-CN" altLang="zh-CN" sz="1600" i="1">
                              <a:latin typeface="Cambria Math" panose="02040503050406030204" pitchFamily="18" charset="0"/>
                            </a:rPr>
                          </m:ctrlPr>
                        </m:sSubPr>
                        <m:e>
                          <m:r>
                            <a:rPr lang="en-US" altLang="zh-CN" sz="1600" i="1">
                              <a:latin typeface="Cambria Math"/>
                            </a:rPr>
                            <m:t>𝔼</m:t>
                          </m:r>
                        </m:e>
                        <m:sub>
                          <m:sSup>
                            <m:sSupPr>
                              <m:ctrlPr>
                                <a:rPr lang="zh-CN" altLang="zh-CN" sz="1600" i="1">
                                  <a:latin typeface="Cambria Math" panose="02040503050406030204" pitchFamily="18" charset="0"/>
                                </a:rPr>
                              </m:ctrlPr>
                            </m:sSupPr>
                            <m:e>
                              <m:r>
                                <a:rPr lang="en-US" altLang="zh-CN" sz="1600" i="1">
                                  <a:latin typeface="Cambria Math"/>
                                </a:rPr>
                                <m:t>𝑠</m:t>
                              </m:r>
                            </m:e>
                            <m:sup>
                              <m:r>
                                <a:rPr lang="en-US" altLang="zh-CN" sz="1600" i="1">
                                  <a:latin typeface="Cambria Math"/>
                                </a:rPr>
                                <m:t>′</m:t>
                              </m:r>
                            </m:sup>
                          </m:sSup>
                          <m:r>
                            <a:rPr lang="en-US" altLang="zh-CN" sz="1600" i="1">
                              <a:latin typeface="Cambria Math"/>
                            </a:rPr>
                            <m:t>~</m:t>
                          </m:r>
                          <m:r>
                            <a:rPr lang="en-US" altLang="zh-CN" sz="1600" i="1">
                              <a:latin typeface="Cambria Math"/>
                            </a:rPr>
                            <m:t>𝑃</m:t>
                          </m:r>
                          <m:r>
                            <a:rPr lang="en-US" altLang="zh-CN" sz="1600" i="1">
                              <a:latin typeface="Cambria Math"/>
                            </a:rPr>
                            <m:t>(⋅|</m:t>
                          </m:r>
                          <m:r>
                            <a:rPr lang="en-US" altLang="zh-CN" sz="1600" i="1">
                              <a:latin typeface="Cambria Math"/>
                            </a:rPr>
                            <m:t>𝑠</m:t>
                          </m:r>
                          <m:r>
                            <a:rPr lang="en-US" altLang="zh-CN" sz="1600" i="1">
                              <a:latin typeface="Cambria Math"/>
                            </a:rPr>
                            <m:t>,</m:t>
                          </m:r>
                          <m:r>
                            <a:rPr lang="en-US" altLang="zh-CN" sz="1600" i="1">
                              <a:latin typeface="Cambria Math"/>
                            </a:rPr>
                            <m:t>𝑎</m:t>
                          </m:r>
                          <m:r>
                            <a:rPr lang="en-US" altLang="zh-CN" sz="1600" i="1">
                              <a:latin typeface="Cambria Math"/>
                            </a:rPr>
                            <m:t>)</m:t>
                          </m:r>
                        </m:sub>
                      </m:sSub>
                      <m:r>
                        <a:rPr lang="en-US" altLang="zh-CN" sz="1600">
                          <a:latin typeface="Cambria Math"/>
                        </a:rPr>
                        <m:t>[</m:t>
                      </m:r>
                      <m:r>
                        <a:rPr lang="en-US" altLang="zh-CN" sz="1600" i="1">
                          <a:latin typeface="Cambria Math"/>
                        </a:rPr>
                        <m:t>𝑅</m:t>
                      </m:r>
                      <m:d>
                        <m:dPr>
                          <m:ctrlPr>
                            <a:rPr lang="zh-CN" altLang="zh-CN" sz="1600" i="1">
                              <a:latin typeface="Cambria Math" panose="02040503050406030204" pitchFamily="18" charset="0"/>
                            </a:rPr>
                          </m:ctrlPr>
                        </m:dPr>
                        <m:e>
                          <m:r>
                            <a:rPr lang="en-US" altLang="zh-CN" sz="1600" i="1">
                              <a:latin typeface="Cambria Math"/>
                            </a:rPr>
                            <m:t>𝑠</m:t>
                          </m:r>
                          <m:r>
                            <a:rPr lang="en-US" altLang="zh-CN" sz="1600" i="1">
                              <a:latin typeface="Cambria Math"/>
                            </a:rPr>
                            <m:t>,</m:t>
                          </m:r>
                          <m:r>
                            <a:rPr lang="en-US" altLang="zh-CN" sz="1600" i="1">
                              <a:latin typeface="Cambria Math"/>
                            </a:rPr>
                            <m:t>𝑎</m:t>
                          </m:r>
                          <m:r>
                            <a:rPr lang="en-US" altLang="zh-CN" sz="1600" i="1">
                              <a:latin typeface="Cambria Math"/>
                            </a:rPr>
                            <m:t>,</m:t>
                          </m:r>
                          <m:sSup>
                            <m:sSupPr>
                              <m:ctrlPr>
                                <a:rPr lang="zh-CN" altLang="zh-CN" sz="1600" i="1">
                                  <a:latin typeface="Cambria Math" panose="02040503050406030204" pitchFamily="18" charset="0"/>
                                </a:rPr>
                              </m:ctrlPr>
                            </m:sSupPr>
                            <m:e>
                              <m:r>
                                <a:rPr lang="en-US" altLang="zh-CN" sz="1600" i="1">
                                  <a:latin typeface="Cambria Math"/>
                                </a:rPr>
                                <m:t>𝑠</m:t>
                              </m:r>
                            </m:e>
                            <m:sup>
                              <m:r>
                                <a:rPr lang="en-US" altLang="zh-CN" sz="1600" i="1">
                                  <a:latin typeface="Cambria Math"/>
                                </a:rPr>
                                <m:t>′</m:t>
                              </m:r>
                            </m:sup>
                          </m:sSup>
                        </m:e>
                      </m:d>
                      <m:r>
                        <a:rPr lang="en-US" altLang="zh-CN" sz="1600" i="1">
                          <a:latin typeface="Cambria Math"/>
                        </a:rPr>
                        <m:t>+</m:t>
                      </m:r>
                      <m:r>
                        <a:rPr lang="en-US" altLang="zh-CN" sz="1600" i="1">
                          <a:latin typeface="Cambria Math"/>
                        </a:rPr>
                        <m:t>𝛾</m:t>
                      </m:r>
                      <m:sSub>
                        <m:sSubPr>
                          <m:ctrlPr>
                            <a:rPr lang="zh-CN" altLang="zh-CN" sz="1600" i="1">
                              <a:latin typeface="Cambria Math" panose="02040503050406030204" pitchFamily="18" charset="0"/>
                            </a:rPr>
                          </m:ctrlPr>
                        </m:sSubPr>
                        <m:e>
                          <m:r>
                            <a:rPr lang="en-US" altLang="zh-CN" sz="1600" i="1">
                              <a:latin typeface="Cambria Math"/>
                            </a:rPr>
                            <m:t>𝔼</m:t>
                          </m:r>
                        </m:e>
                        <m:sub>
                          <m:sSup>
                            <m:sSupPr>
                              <m:ctrlPr>
                                <a:rPr lang="zh-CN" altLang="zh-CN" sz="1600" i="1">
                                  <a:latin typeface="Cambria Math" panose="02040503050406030204" pitchFamily="18" charset="0"/>
                                </a:rPr>
                              </m:ctrlPr>
                            </m:sSupPr>
                            <m:e>
                              <m:r>
                                <a:rPr lang="en-US" altLang="zh-CN" sz="1600" i="1">
                                  <a:latin typeface="Cambria Math"/>
                                </a:rPr>
                                <m:t>𝑎</m:t>
                              </m:r>
                            </m:e>
                            <m:sup>
                              <m:r>
                                <a:rPr lang="en-US" altLang="zh-CN" sz="1600" i="1">
                                  <a:latin typeface="Cambria Math"/>
                                </a:rPr>
                                <m:t>′</m:t>
                              </m:r>
                            </m:sup>
                          </m:sSup>
                          <m:r>
                            <a:rPr lang="en-US" altLang="zh-CN" sz="1600" i="1">
                              <a:latin typeface="Cambria Math"/>
                            </a:rPr>
                            <m:t>~</m:t>
                          </m:r>
                          <m:r>
                            <a:rPr lang="en-US" altLang="zh-CN" sz="1600" i="1">
                              <a:latin typeface="Cambria Math"/>
                            </a:rPr>
                            <m:t>𝜋</m:t>
                          </m:r>
                          <m:d>
                            <m:dPr>
                              <m:ctrlPr>
                                <a:rPr lang="zh-CN" altLang="zh-CN" sz="1600" i="1">
                                  <a:latin typeface="Cambria Math" panose="02040503050406030204" pitchFamily="18" charset="0"/>
                                </a:rPr>
                              </m:ctrlPr>
                            </m:dPr>
                            <m:e>
                              <m:sSup>
                                <m:sSupPr>
                                  <m:ctrlPr>
                                    <a:rPr lang="zh-CN" altLang="zh-CN" sz="1600" i="1">
                                      <a:latin typeface="Cambria Math" panose="02040503050406030204" pitchFamily="18" charset="0"/>
                                    </a:rPr>
                                  </m:ctrlPr>
                                </m:sSupPr>
                                <m:e>
                                  <m:r>
                                    <a:rPr lang="en-US" altLang="zh-CN" sz="1600" i="1">
                                      <a:latin typeface="Cambria Math"/>
                                    </a:rPr>
                                    <m:t>𝑠</m:t>
                                  </m:r>
                                </m:e>
                                <m:sup>
                                  <m:r>
                                    <a:rPr lang="en-US" altLang="zh-CN" sz="1600" i="1">
                                      <a:latin typeface="Cambria Math"/>
                                    </a:rPr>
                                    <m:t>′</m:t>
                                  </m:r>
                                </m:sup>
                              </m:sSup>
                              <m:r>
                                <a:rPr lang="en-US" altLang="zh-CN" sz="1600" i="1">
                                  <a:latin typeface="Cambria Math"/>
                                </a:rPr>
                                <m:t>,⋅</m:t>
                              </m:r>
                            </m:e>
                          </m:d>
                        </m:sub>
                      </m:sSub>
                      <m:d>
                        <m:dPr>
                          <m:begChr m:val="["/>
                          <m:endChr m:val="]"/>
                          <m:ctrlPr>
                            <a:rPr lang="zh-CN" altLang="zh-CN" sz="1600" i="1">
                              <a:latin typeface="Cambria Math" panose="02040503050406030204" pitchFamily="18" charset="0"/>
                            </a:rPr>
                          </m:ctrlPr>
                        </m:dPr>
                        <m:e>
                          <m:sSub>
                            <m:sSubPr>
                              <m:ctrlPr>
                                <a:rPr lang="zh-CN" altLang="zh-CN" sz="1600" i="1">
                                  <a:latin typeface="Cambria Math" panose="02040503050406030204" pitchFamily="18" charset="0"/>
                                </a:rPr>
                              </m:ctrlPr>
                            </m:sSubPr>
                            <m:e>
                              <m:r>
                                <a:rPr lang="en-US" altLang="zh-CN" sz="1600" i="1">
                                  <a:latin typeface="Cambria Math"/>
                                </a:rPr>
                                <m:t>𝑞</m:t>
                              </m:r>
                            </m:e>
                            <m:sub>
                              <m:r>
                                <a:rPr lang="en-US" altLang="zh-CN" sz="1600" i="1">
                                  <a:latin typeface="Cambria Math"/>
                                </a:rPr>
                                <m:t>𝜋</m:t>
                              </m:r>
                            </m:sub>
                          </m:sSub>
                          <m:d>
                            <m:dPr>
                              <m:ctrlPr>
                                <a:rPr lang="zh-CN" altLang="zh-CN" sz="1600" i="1">
                                  <a:latin typeface="Cambria Math" panose="02040503050406030204" pitchFamily="18" charset="0"/>
                                </a:rPr>
                              </m:ctrlPr>
                            </m:dPr>
                            <m:e>
                              <m:sSup>
                                <m:sSupPr>
                                  <m:ctrlPr>
                                    <a:rPr lang="zh-CN" altLang="zh-CN" sz="1600" i="1">
                                      <a:latin typeface="Cambria Math" panose="02040503050406030204" pitchFamily="18" charset="0"/>
                                    </a:rPr>
                                  </m:ctrlPr>
                                </m:sSupPr>
                                <m:e>
                                  <m:r>
                                    <a:rPr lang="en-US" altLang="zh-CN" sz="1600" i="1">
                                      <a:latin typeface="Cambria Math"/>
                                    </a:rPr>
                                    <m:t>𝑠</m:t>
                                  </m:r>
                                </m:e>
                                <m:sup>
                                  <m:r>
                                    <a:rPr lang="en-US" altLang="zh-CN" sz="1600" i="1">
                                      <a:latin typeface="Cambria Math"/>
                                    </a:rPr>
                                    <m:t>′</m:t>
                                  </m:r>
                                </m:sup>
                              </m:sSup>
                              <m:r>
                                <a:rPr lang="en-US" altLang="zh-CN" sz="1600" i="1">
                                  <a:latin typeface="Cambria Math"/>
                                </a:rPr>
                                <m:t>,</m:t>
                              </m:r>
                              <m:sSup>
                                <m:sSupPr>
                                  <m:ctrlPr>
                                    <a:rPr lang="zh-CN" altLang="zh-CN" sz="1600" i="1">
                                      <a:latin typeface="Cambria Math" panose="02040503050406030204" pitchFamily="18" charset="0"/>
                                    </a:rPr>
                                  </m:ctrlPr>
                                </m:sSupPr>
                                <m:e>
                                  <m:r>
                                    <a:rPr lang="en-US" altLang="zh-CN" sz="1600" i="1">
                                      <a:latin typeface="Cambria Math"/>
                                    </a:rPr>
                                    <m:t>𝑎</m:t>
                                  </m:r>
                                </m:e>
                                <m:sup>
                                  <m:r>
                                    <a:rPr lang="en-US" altLang="zh-CN" sz="1600" i="1">
                                      <a:latin typeface="Cambria Math"/>
                                    </a:rPr>
                                    <m:t>′</m:t>
                                  </m:r>
                                </m:sup>
                              </m:sSup>
                            </m:e>
                          </m:d>
                        </m:e>
                      </m:d>
                      <m:r>
                        <a:rPr lang="en-US" altLang="zh-CN" sz="1600">
                          <a:latin typeface="Cambria Math"/>
                        </a:rPr>
                        <m:t>]</m:t>
                      </m:r>
                    </m:oMath>
                  </m:oMathPara>
                </a14:m>
                <a:endParaRPr lang="zh-CN" altLang="en-US" sz="1600" dirty="0"/>
              </a:p>
            </p:txBody>
          </p:sp>
        </mc:Choice>
        <mc:Fallback xmlns="">
          <p:sp>
            <p:nvSpPr>
              <p:cNvPr id="2" name="矩形 1">
                <a:extLst>
                  <a:ext uri="{FF2B5EF4-FFF2-40B4-BE49-F238E27FC236}">
                    <a16:creationId xmlns:a16="http://schemas.microsoft.com/office/drawing/2014/main" id="{8FEF02FD-C436-8AD9-26AF-4764E424B43C}"/>
                  </a:ext>
                </a:extLst>
              </p:cNvPr>
              <p:cNvSpPr>
                <a:spLocks noRot="1" noChangeAspect="1" noMove="1" noResize="1" noEditPoints="1" noAdjustHandles="1" noChangeArrowheads="1" noChangeShapeType="1" noTextEdit="1"/>
              </p:cNvSpPr>
              <p:nvPr/>
            </p:nvSpPr>
            <p:spPr>
              <a:xfrm>
                <a:off x="6810254" y="2212068"/>
                <a:ext cx="5197821" cy="392095"/>
              </a:xfrm>
              <a:prstGeom prst="rect">
                <a:avLst/>
              </a:prstGeom>
              <a:blipFill>
                <a:blip r:embed="rId9"/>
                <a:stretch>
                  <a:fillRect b="-1563"/>
                </a:stretch>
              </a:blipFill>
            </p:spPr>
            <p:txBody>
              <a:bodyPr/>
              <a:lstStyle/>
              <a:p>
                <a:r>
                  <a:rPr lang="zh-CN" altLang="en-US">
                    <a:noFill/>
                  </a:rPr>
                  <a:t> </a:t>
                </a:r>
              </a:p>
            </p:txBody>
          </p:sp>
        </mc:Fallback>
      </mc:AlternateContent>
      <p:sp>
        <p:nvSpPr>
          <p:cNvPr id="8" name="矩形 7">
            <a:extLst>
              <a:ext uri="{FF2B5EF4-FFF2-40B4-BE49-F238E27FC236}">
                <a16:creationId xmlns:a16="http://schemas.microsoft.com/office/drawing/2014/main" id="{B1950983-FB27-E80E-34A6-CE66E29E555B}"/>
              </a:ext>
            </a:extLst>
          </p:cNvPr>
          <p:cNvSpPr/>
          <p:nvPr/>
        </p:nvSpPr>
        <p:spPr>
          <a:xfrm>
            <a:off x="7950938" y="1935467"/>
            <a:ext cx="2749471" cy="338554"/>
          </a:xfrm>
          <a:prstGeom prst="rect">
            <a:avLst/>
          </a:prstGeom>
        </p:spPr>
        <p:txBody>
          <a:bodyPr wrap="none">
            <a:spAutoFit/>
          </a:bodyPr>
          <a:lstStyle/>
          <a:p>
            <a:r>
              <a:rPr lang="zh-CN" altLang="en-US" sz="1600" kern="0" dirty="0">
                <a:solidFill>
                  <a:srgbClr val="C00000"/>
                </a:solidFill>
                <a:latin typeface="黑体" panose="02010609060101010101" pitchFamily="49" charset="-122"/>
                <a:ea typeface="黑体" panose="02010609060101010101" pitchFamily="49" charset="-122"/>
                <a:cs typeface="Times New Roman" pitchFamily="18" charset="0"/>
              </a:rPr>
              <a:t>动作</a:t>
            </a:r>
            <a:r>
              <a:rPr lang="en-US" altLang="zh-CN" sz="1600" kern="0" dirty="0">
                <a:solidFill>
                  <a:srgbClr val="C00000"/>
                </a:solidFill>
                <a:latin typeface="黑体" panose="02010609060101010101" pitchFamily="49" charset="-122"/>
                <a:ea typeface="黑体" panose="02010609060101010101" pitchFamily="49" charset="-122"/>
                <a:cs typeface="Times New Roman" pitchFamily="18" charset="0"/>
              </a:rPr>
              <a:t>-</a:t>
            </a:r>
            <a:r>
              <a:rPr lang="zh-CN" altLang="en-US" sz="1600" kern="0" dirty="0">
                <a:solidFill>
                  <a:srgbClr val="C00000"/>
                </a:solidFill>
                <a:latin typeface="黑体" panose="02010609060101010101" pitchFamily="49" charset="-122"/>
                <a:ea typeface="黑体" panose="02010609060101010101" pitchFamily="49" charset="-122"/>
                <a:cs typeface="Times New Roman" pitchFamily="18" charset="0"/>
              </a:rPr>
              <a:t>价值函数的</a:t>
            </a:r>
            <a:r>
              <a:rPr lang="zh-CN" altLang="zh-CN" sz="1600" kern="0" dirty="0">
                <a:solidFill>
                  <a:srgbClr val="C00000"/>
                </a:solidFill>
                <a:latin typeface="黑体" panose="02010609060101010101" pitchFamily="49" charset="-122"/>
                <a:ea typeface="黑体" panose="02010609060101010101" pitchFamily="49" charset="-122"/>
                <a:cs typeface="Times New Roman" pitchFamily="18" charset="0"/>
              </a:rPr>
              <a:t>贝尔曼方程</a:t>
            </a:r>
            <a:endParaRPr lang="zh-CN" altLang="en-US" sz="1600" dirty="0">
              <a:solidFill>
                <a:srgbClr val="C00000"/>
              </a:solidFill>
              <a:latin typeface="黑体" panose="02010609060101010101" pitchFamily="49" charset="-122"/>
              <a:ea typeface="黑体" panose="02010609060101010101" pitchFamily="49" charset="-122"/>
            </a:endParaRPr>
          </a:p>
        </p:txBody>
      </p:sp>
      <p:cxnSp>
        <p:nvCxnSpPr>
          <p:cNvPr id="13" name="连接符: 曲线 12">
            <a:extLst>
              <a:ext uri="{FF2B5EF4-FFF2-40B4-BE49-F238E27FC236}">
                <a16:creationId xmlns:a16="http://schemas.microsoft.com/office/drawing/2014/main" id="{720417FA-5C42-0AC1-1B2F-008567DFC467}"/>
              </a:ext>
            </a:extLst>
          </p:cNvPr>
          <p:cNvCxnSpPr>
            <a:cxnSpLocks/>
            <a:stCxn id="48" idx="3"/>
            <a:endCxn id="9" idx="2"/>
          </p:cNvCxnSpPr>
          <p:nvPr/>
        </p:nvCxnSpPr>
        <p:spPr>
          <a:xfrm flipH="1" flipV="1">
            <a:off x="9409165" y="2662622"/>
            <a:ext cx="1291244" cy="2349421"/>
          </a:xfrm>
          <a:prstGeom prst="curvedConnector4">
            <a:avLst>
              <a:gd name="adj1" fmla="val -50161"/>
              <a:gd name="adj2" fmla="val 72596"/>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8888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8"/>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33" grpId="0" animBg="1"/>
      <p:bldP spid="34" grpId="0" animBg="1"/>
      <p:bldP spid="37" grpId="0" animBg="1"/>
      <p:bldP spid="38" grpId="0"/>
      <p:bldP spid="14" grpId="0"/>
      <p:bldP spid="15" grpId="0" animBg="1"/>
      <p:bldP spid="16" grpId="0" animBg="1"/>
      <p:bldP spid="22" grpId="0" animBg="1"/>
      <p:bldP spid="35" grpId="0" animBg="1"/>
      <p:bldP spid="41" grpId="0"/>
      <p:bldP spid="47" grpId="0"/>
      <p:bldP spid="48" grpId="0"/>
      <p:bldP spid="2" grpId="0"/>
      <p:bldP spid="8"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en-US" altLang="zh-CN"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Q</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学习算法</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p:pic>
        <p:nvPicPr>
          <p:cNvPr id="2" name="图片 1">
            <a:extLst>
              <a:ext uri="{FF2B5EF4-FFF2-40B4-BE49-F238E27FC236}">
                <a16:creationId xmlns:a16="http://schemas.microsoft.com/office/drawing/2014/main" id="{9F384184-6A19-4348-BA6E-F09E17659BA3}"/>
              </a:ext>
            </a:extLst>
          </p:cNvPr>
          <p:cNvPicPr>
            <a:picLocks noChangeAspect="1"/>
          </p:cNvPicPr>
          <p:nvPr/>
        </p:nvPicPr>
        <p:blipFill>
          <a:blip r:embed="rId3"/>
          <a:stretch>
            <a:fillRect/>
          </a:stretch>
        </p:blipFill>
        <p:spPr>
          <a:xfrm>
            <a:off x="5884985" y="1484266"/>
            <a:ext cx="6241366" cy="4298022"/>
          </a:xfrm>
          <a:prstGeom prst="rect">
            <a:avLst/>
          </a:prstGeom>
        </p:spPr>
      </p:pic>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8A6F7826-0E49-4A7B-89C9-CF8AE80098F7}"/>
                  </a:ext>
                </a:extLst>
              </p:cNvPr>
              <p:cNvSpPr/>
              <p:nvPr/>
            </p:nvSpPr>
            <p:spPr>
              <a:xfrm>
                <a:off x="65649" y="2094469"/>
                <a:ext cx="5884985" cy="3363741"/>
              </a:xfrm>
              <a:prstGeom prst="rect">
                <a:avLst/>
              </a:prstGeom>
            </p:spPr>
            <p:txBody>
              <a:bodyPr wrap="square">
                <a:spAutoFit/>
              </a:bodyPr>
              <a:lstStyle/>
              <a:p>
                <a:pPr marL="285750" indent="-285750" algn="just">
                  <a:lnSpc>
                    <a:spcPct val="150000"/>
                  </a:lnSpc>
                  <a:buFont typeface="Wingdings" panose="05000000000000000000" pitchFamily="2" charset="2"/>
                  <a:buChar char="l"/>
                </a:pPr>
                <a:r>
                  <a:rPr lang="zh-CN" altLang="zh-CN" dirty="0">
                    <a:latin typeface="Times New Roman" panose="02020603050405020304" pitchFamily="18" charset="0"/>
                    <a:ea typeface="黑体" panose="02010609060101010101" pitchFamily="49" charset="-122"/>
                    <a:cs typeface="Times New Roman" panose="02020603050405020304" pitchFamily="18" charset="0"/>
                  </a:rPr>
                  <a:t>图</a:t>
                </a:r>
                <a:r>
                  <a:rPr lang="en-US" altLang="zh-CN" dirty="0">
                    <a:latin typeface="Times New Roman" panose="02020603050405020304" pitchFamily="18" charset="0"/>
                    <a:ea typeface="黑体" panose="02010609060101010101" pitchFamily="49" charset="-122"/>
                    <a:cs typeface="Times New Roman" panose="02020603050405020304" pitchFamily="18" charset="0"/>
                  </a:rPr>
                  <a:t>6.10(a)</a:t>
                </a:r>
                <a:r>
                  <a:rPr lang="zh-CN" altLang="zh-CN" dirty="0">
                    <a:latin typeface="Times New Roman" panose="02020603050405020304" pitchFamily="18" charset="0"/>
                    <a:ea typeface="黑体" panose="02010609060101010101" pitchFamily="49" charset="-122"/>
                    <a:cs typeface="Times New Roman" panose="02020603050405020304" pitchFamily="18" charset="0"/>
                  </a:rPr>
                  <a:t>表示算法的初始状态，其中</a:t>
                </a:r>
                <a14:m>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𝑎</m:t>
                    </m:r>
                    <m:r>
                      <a:rPr lang="en-US" altLang="zh-CN" i="1">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𝑏</m:t>
                    </m:r>
                  </m:oMath>
                </a14:m>
                <a:r>
                  <a:rPr lang="zh-CN" altLang="zh-CN" dirty="0">
                    <a:latin typeface="Times New Roman" panose="02020603050405020304" pitchFamily="18" charset="0"/>
                    <a:ea typeface="黑体" panose="02010609060101010101" pitchFamily="49" charset="-122"/>
                    <a:cs typeface="Times New Roman" panose="02020603050405020304" pitchFamily="18" charset="0"/>
                  </a:rPr>
                  <a:t>表示</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当前状态下采取两种不同动作</a:t>
                </a:r>
                <a:r>
                  <a:rPr lang="zh-CN" altLang="zh-CN" dirty="0">
                    <a:latin typeface="Times New Roman" panose="02020603050405020304" pitchFamily="18" charset="0"/>
                    <a:ea typeface="黑体" panose="02010609060101010101" pitchFamily="49" charset="-122"/>
                    <a:cs typeface="Times New Roman" panose="02020603050405020304" pitchFamily="18" charset="0"/>
                  </a:rPr>
                  <a:t>的动作</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dirty="0">
                    <a:latin typeface="Times New Roman" panose="02020603050405020304" pitchFamily="18" charset="0"/>
                    <a:ea typeface="黑体" panose="02010609060101010101" pitchFamily="49" charset="-122"/>
                    <a:cs typeface="Times New Roman" panose="02020603050405020304" pitchFamily="18" charset="0"/>
                  </a:rPr>
                  <a:t>价值函数的取值，斜线上方的</a:t>
                </a:r>
                <a14:m>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𝑎</m:t>
                    </m:r>
                  </m:oMath>
                </a14:m>
                <a:r>
                  <a:rPr lang="zh-CN" altLang="zh-CN" dirty="0">
                    <a:latin typeface="Times New Roman" panose="02020603050405020304" pitchFamily="18" charset="0"/>
                    <a:ea typeface="黑体" panose="02010609060101010101" pitchFamily="49" charset="-122"/>
                    <a:cs typeface="Times New Roman" panose="02020603050405020304" pitchFamily="18" charset="0"/>
                  </a:rPr>
                  <a:t>表示</a:t>
                </a:r>
                <a14:m>
                  <m:oMath xmlns:m="http://schemas.openxmlformats.org/officeDocument/2006/math">
                    <m:sSub>
                      <m:sSubPr>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i="1">
                            <a:latin typeface="Cambria Math" panose="02040503050406030204" pitchFamily="18" charset="0"/>
                            <a:ea typeface="等线" panose="02010600030101010101" pitchFamily="2" charset="-122"/>
                            <a:cs typeface="Times New Roman" panose="02020603050405020304" pitchFamily="18" charset="0"/>
                          </a:rPr>
                          <m:t>𝜋</m:t>
                        </m:r>
                      </m:sub>
                    </m:sSub>
                    <m:d>
                      <m:dPr>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ea typeface="等线" panose="02010600030101010101" pitchFamily="2" charset="-122"/>
                            <a:cs typeface="Times New Roman" panose="02020603050405020304" pitchFamily="18" charset="0"/>
                          </a:rPr>
                          <m:t>𝑠</m:t>
                        </m:r>
                        <m:r>
                          <a:rPr lang="en-US" altLang="zh-CN" i="1">
                            <a:latin typeface="Cambria Math" panose="02040503050406030204" pitchFamily="18" charset="0"/>
                            <a:ea typeface="等线" panose="02010600030101010101" pitchFamily="2" charset="-122"/>
                            <a:cs typeface="Times New Roman" panose="02020603050405020304" pitchFamily="18" charset="0"/>
                          </a:rPr>
                          <m:t>,</m:t>
                        </m:r>
                        <m:r>
                          <a:rPr lang="zh-CN" altLang="zh-CN">
                            <a:latin typeface="Cambria Math" panose="02040503050406030204" pitchFamily="18" charset="0"/>
                            <a:ea typeface="等线" panose="02010600030101010101" pitchFamily="2" charset="-122"/>
                            <a:cs typeface="Times New Roman" panose="02020603050405020304" pitchFamily="18" charset="0"/>
                          </a:rPr>
                          <m:t>上</m:t>
                        </m:r>
                      </m:e>
                    </m:d>
                  </m:oMath>
                </a14:m>
                <a:r>
                  <a:rPr lang="zh-CN" altLang="zh-CN" dirty="0">
                    <a:latin typeface="Times New Roman" panose="02020603050405020304" pitchFamily="18" charset="0"/>
                    <a:ea typeface="黑体" panose="02010609060101010101" pitchFamily="49" charset="-122"/>
                    <a:cs typeface="Times New Roman" panose="02020603050405020304" pitchFamily="18" charset="0"/>
                  </a:rPr>
                  <a:t>，斜线右侧的</a:t>
                </a:r>
                <a14:m>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𝑏</m:t>
                    </m:r>
                  </m:oMath>
                </a14:m>
                <a:r>
                  <a:rPr lang="zh-CN" altLang="zh-CN" dirty="0">
                    <a:latin typeface="Times New Roman" panose="02020603050405020304" pitchFamily="18" charset="0"/>
                    <a:ea typeface="黑体" panose="02010609060101010101" pitchFamily="49" charset="-122"/>
                    <a:cs typeface="Times New Roman" panose="02020603050405020304" pitchFamily="18" charset="0"/>
                  </a:rPr>
                  <a:t>表示</a:t>
                </a:r>
                <a14:m>
                  <m:oMath xmlns:m="http://schemas.openxmlformats.org/officeDocument/2006/math">
                    <m:sSub>
                      <m:sSubPr>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i="1">
                            <a:latin typeface="Cambria Math" panose="02040503050406030204" pitchFamily="18" charset="0"/>
                            <a:ea typeface="等线" panose="02010600030101010101" pitchFamily="2" charset="-122"/>
                            <a:cs typeface="Times New Roman" panose="02020603050405020304" pitchFamily="18" charset="0"/>
                          </a:rPr>
                          <m:t>𝜋</m:t>
                        </m:r>
                      </m:sub>
                    </m:sSub>
                    <m:d>
                      <m:dPr>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ea typeface="等线" panose="02010600030101010101" pitchFamily="2" charset="-122"/>
                            <a:cs typeface="Times New Roman" panose="02020603050405020304" pitchFamily="18" charset="0"/>
                          </a:rPr>
                          <m:t>𝑠</m:t>
                        </m:r>
                        <m:r>
                          <a:rPr lang="en-US" altLang="zh-CN" i="1">
                            <a:latin typeface="Cambria Math" panose="02040503050406030204" pitchFamily="18" charset="0"/>
                            <a:ea typeface="等线" panose="02010600030101010101" pitchFamily="2" charset="-122"/>
                            <a:cs typeface="Times New Roman" panose="02020603050405020304" pitchFamily="18" charset="0"/>
                          </a:rPr>
                          <m:t>,</m:t>
                        </m:r>
                        <m:r>
                          <a:rPr lang="zh-CN" altLang="zh-CN">
                            <a:latin typeface="Cambria Math" panose="02040503050406030204" pitchFamily="18" charset="0"/>
                            <a:ea typeface="等线" panose="02010600030101010101" pitchFamily="2" charset="-122"/>
                            <a:cs typeface="Times New Roman" panose="02020603050405020304" pitchFamily="18" charset="0"/>
                          </a:rPr>
                          <m:t>右</m:t>
                        </m:r>
                      </m:e>
                    </m:d>
                  </m:oMath>
                </a14:m>
                <a:r>
                  <a:rPr lang="zh-CN" altLang="zh-CN"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marL="285750" indent="-285750" algn="just">
                  <a:lnSpc>
                    <a:spcPct val="150000"/>
                  </a:lnSpc>
                  <a:buFont typeface="Wingdings" panose="05000000000000000000" pitchFamily="2" charset="2"/>
                  <a:buChar char="l"/>
                </a:pPr>
                <a:r>
                  <a:rPr lang="zh-CN" altLang="zh-CN" dirty="0">
                    <a:latin typeface="Times New Roman" panose="02020603050405020304" pitchFamily="18" charset="0"/>
                    <a:ea typeface="黑体" panose="02010609060101010101" pitchFamily="49" charset="-122"/>
                    <a:cs typeface="Times New Roman" panose="02020603050405020304" pitchFamily="18" charset="0"/>
                  </a:rPr>
                  <a:t>图</a:t>
                </a:r>
                <a:r>
                  <a:rPr lang="en-US" altLang="zh-CN" dirty="0">
                    <a:latin typeface="Times New Roman" panose="02020603050405020304" pitchFamily="18" charset="0"/>
                    <a:ea typeface="黑体" panose="02010609060101010101" pitchFamily="49" charset="-122"/>
                    <a:cs typeface="Times New Roman" panose="02020603050405020304" pitchFamily="18" charset="0"/>
                  </a:rPr>
                  <a:t>6.10(a)</a:t>
                </a:r>
                <a:r>
                  <a:rPr lang="zh-CN" altLang="zh-CN" dirty="0">
                    <a:latin typeface="Times New Roman" panose="02020603050405020304" pitchFamily="18" charset="0"/>
                    <a:ea typeface="黑体" panose="02010609060101010101" pitchFamily="49" charset="-122"/>
                    <a:cs typeface="Times New Roman" panose="02020603050405020304" pitchFamily="18" charset="0"/>
                  </a:rPr>
                  <a:t>中显示除终止状态外的所有的向上的动作</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dirty="0">
                    <a:latin typeface="Times New Roman" panose="02020603050405020304" pitchFamily="18" charset="0"/>
                    <a:ea typeface="黑体" panose="02010609060101010101" pitchFamily="49" charset="-122"/>
                    <a:cs typeface="Times New Roman" panose="02020603050405020304" pitchFamily="18" charset="0"/>
                  </a:rPr>
                  <a:t>价值函数值为</a:t>
                </a:r>
                <a14:m>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0.2</m:t>
                    </m:r>
                  </m:oMath>
                </a14:m>
                <a:r>
                  <a:rPr lang="zh-CN" altLang="zh-CN" dirty="0">
                    <a:latin typeface="Times New Roman" panose="02020603050405020304" pitchFamily="18" charset="0"/>
                    <a:ea typeface="黑体" panose="02010609060101010101" pitchFamily="49" charset="-122"/>
                    <a:cs typeface="Times New Roman" panose="02020603050405020304" pitchFamily="18" charset="0"/>
                  </a:rPr>
                  <a:t>，所有向右的动作</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dirty="0">
                    <a:latin typeface="Times New Roman" panose="02020603050405020304" pitchFamily="18" charset="0"/>
                    <a:ea typeface="黑体" panose="02010609060101010101" pitchFamily="49" charset="-122"/>
                    <a:cs typeface="Times New Roman" panose="02020603050405020304" pitchFamily="18" charset="0"/>
                  </a:rPr>
                  <a:t>价值函数值为</a:t>
                </a:r>
                <a14:m>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0</m:t>
                    </m:r>
                  </m:oMath>
                </a14:m>
                <a:r>
                  <a:rPr lang="zh-CN" altLang="zh-CN" dirty="0">
                    <a:latin typeface="Times New Roman" panose="02020603050405020304" pitchFamily="18" charset="0"/>
                    <a:ea typeface="黑体" panose="02010609060101010101" pitchFamily="49" charset="-122"/>
                    <a:cs typeface="Times New Roman" panose="02020603050405020304" pitchFamily="18" charset="0"/>
                  </a:rPr>
                  <a:t>。当然，令这些动作</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dirty="0">
                    <a:latin typeface="Times New Roman" panose="02020603050405020304" pitchFamily="18" charset="0"/>
                    <a:ea typeface="黑体" panose="02010609060101010101" pitchFamily="49" charset="-122"/>
                    <a:cs typeface="Times New Roman" panose="02020603050405020304" pitchFamily="18" charset="0"/>
                  </a:rPr>
                  <a:t>价值函数的初始值全部为</a:t>
                </a:r>
                <a14:m>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0</m:t>
                    </m:r>
                  </m:oMath>
                </a14:m>
                <a:r>
                  <a:rPr lang="zh-CN" altLang="zh-CN" dirty="0">
                    <a:latin typeface="Times New Roman" panose="02020603050405020304" pitchFamily="18" charset="0"/>
                    <a:ea typeface="黑体" panose="02010609060101010101" pitchFamily="49" charset="-122"/>
                    <a:cs typeface="Times New Roman" panose="02020603050405020304" pitchFamily="18" charset="0"/>
                  </a:rPr>
                  <a:t>也是可以的，图</a:t>
                </a:r>
                <a:r>
                  <a:rPr lang="en-US" altLang="zh-CN" dirty="0">
                    <a:latin typeface="Times New Roman" panose="02020603050405020304" pitchFamily="18" charset="0"/>
                    <a:ea typeface="黑体" panose="02010609060101010101" pitchFamily="49" charset="-122"/>
                    <a:cs typeface="Times New Roman" panose="02020603050405020304" pitchFamily="18" charset="0"/>
                  </a:rPr>
                  <a:t>6.10(a)</a:t>
                </a:r>
                <a:r>
                  <a:rPr lang="zh-CN" altLang="zh-CN" dirty="0">
                    <a:latin typeface="Times New Roman" panose="02020603050405020304" pitchFamily="18" charset="0"/>
                    <a:ea typeface="黑体" panose="02010609060101010101" pitchFamily="49" charset="-122"/>
                    <a:cs typeface="Times New Roman" panose="02020603050405020304" pitchFamily="18" charset="0"/>
                  </a:rPr>
                  <a:t>中所设置的初始值只是为了让这个例子更容易说明策略学习。 </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8A6F7826-0E49-4A7B-89C9-CF8AE80098F7}"/>
                  </a:ext>
                </a:extLst>
              </p:cNvPr>
              <p:cNvSpPr>
                <a:spLocks noRot="1" noChangeAspect="1" noMove="1" noResize="1" noEditPoints="1" noAdjustHandles="1" noChangeArrowheads="1" noChangeShapeType="1" noTextEdit="1"/>
              </p:cNvSpPr>
              <p:nvPr/>
            </p:nvSpPr>
            <p:spPr>
              <a:xfrm>
                <a:off x="65649" y="2094469"/>
                <a:ext cx="5884985" cy="3363741"/>
              </a:xfrm>
              <a:prstGeom prst="rect">
                <a:avLst/>
              </a:prstGeom>
              <a:blipFill>
                <a:blip r:embed="rId4"/>
                <a:stretch>
                  <a:fillRect l="-725" r="-829" b="-16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05516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en-US" altLang="zh-CN"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Q</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学习算法</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p:pic>
        <p:nvPicPr>
          <p:cNvPr id="2" name="图片 1">
            <a:extLst>
              <a:ext uri="{FF2B5EF4-FFF2-40B4-BE49-F238E27FC236}">
                <a16:creationId xmlns:a16="http://schemas.microsoft.com/office/drawing/2014/main" id="{9F384184-6A19-4348-BA6E-F09E17659BA3}"/>
              </a:ext>
            </a:extLst>
          </p:cNvPr>
          <p:cNvPicPr>
            <a:picLocks noChangeAspect="1"/>
          </p:cNvPicPr>
          <p:nvPr/>
        </p:nvPicPr>
        <p:blipFill>
          <a:blip r:embed="rId3"/>
          <a:stretch>
            <a:fillRect/>
          </a:stretch>
        </p:blipFill>
        <p:spPr>
          <a:xfrm>
            <a:off x="5715000" y="1484266"/>
            <a:ext cx="6336887" cy="4363801"/>
          </a:xfrm>
          <a:prstGeom prst="rect">
            <a:avLst/>
          </a:prstGeom>
        </p:spPr>
      </p:pic>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A0C8C11F-7513-4537-A52A-1949D7DDC294}"/>
                  </a:ext>
                </a:extLst>
              </p:cNvPr>
              <p:cNvSpPr/>
              <p:nvPr/>
            </p:nvSpPr>
            <p:spPr>
              <a:xfrm>
                <a:off x="162072" y="1788620"/>
                <a:ext cx="5552928" cy="3722173"/>
              </a:xfrm>
              <a:prstGeom prst="rect">
                <a:avLst/>
              </a:prstGeom>
            </p:spPr>
            <p:txBody>
              <a:bodyPr wrap="square">
                <a:spAutoFit/>
              </a:bodyPr>
              <a:lstStyle/>
              <a:p>
                <a:pPr indent="266700" algn="just">
                  <a:lnSpc>
                    <a:spcPct val="150000"/>
                  </a:lnSpc>
                  <a:spcAft>
                    <a:spcPts val="0"/>
                  </a:spcAft>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图</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6.10(a)</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中</a:t>
                </a:r>
                <a:r>
                  <a:rPr lang="zh-CN" altLang="en-US" sz="1400" dirty="0">
                    <a:solidFill>
                      <a:srgbClr val="000000"/>
                    </a:solidFill>
                    <a:latin typeface="Times New Roman" panose="02020603050405020304" pitchFamily="18" charset="0"/>
                    <a:ea typeface="楷体_GB2312"/>
                    <a:cs typeface="Times New Roman" panose="02020603050405020304" pitchFamily="18" charset="0"/>
                  </a:rPr>
                  <a:t>的红色</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方框代表了智能体当前所处的状态位置。从图</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6.10(a)</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为出发，在算法第</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5</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行，根据当前策略求出智能体应该采取的动作</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𝑎</m:t>
                    </m:r>
                    <m:r>
                      <a:rPr lang="en-US" altLang="zh-CN" sz="14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400">
                            <a:solidFill>
                              <a:srgbClr val="000000"/>
                            </a:solidFill>
                            <a:latin typeface="Cambria Math" panose="02040503050406030204" pitchFamily="18" charset="0"/>
                            <a:ea typeface="楷体_GB2312"/>
                            <a:cs typeface="Times New Roman" panose="02020603050405020304" pitchFamily="18" charset="0"/>
                          </a:rPr>
                          <m:t>argmax</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𝑎</m:t>
                        </m:r>
                      </m:sub>
                    </m:sSub>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𝑞</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𝜋</m:t>
                        </m:r>
                      </m:sub>
                    </m:sSub>
                    <m:d>
                      <m:d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1</m:t>
                            </m:r>
                          </m:sub>
                        </m:sSub>
                        <m:r>
                          <a:rPr lang="en-US" altLang="zh-CN" sz="1400" i="1">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latin typeface="Cambria Math" panose="02040503050406030204" pitchFamily="18" charset="0"/>
                            <a:ea typeface="楷体_GB2312"/>
                            <a:cs typeface="Times New Roman" panose="02020603050405020304" pitchFamily="18" charset="0"/>
                          </a:rPr>
                          <m:t>𝑎</m:t>
                        </m:r>
                      </m:e>
                    </m:d>
                    <m:r>
                      <a:rPr lang="en-US" altLang="zh-CN" sz="1400" i="1">
                        <a:solidFill>
                          <a:srgbClr val="000000"/>
                        </a:solidFill>
                        <a:latin typeface="Cambria Math" panose="02040503050406030204" pitchFamily="18" charset="0"/>
                        <a:ea typeface="楷体_GB2312"/>
                        <a:cs typeface="Times New Roman" panose="02020603050405020304" pitchFamily="18" charset="0"/>
                      </a:rPr>
                      <m:t>=</m:t>
                    </m:r>
                    <m:r>
                      <a:rPr lang="zh-CN" altLang="zh-CN" sz="1400">
                        <a:solidFill>
                          <a:srgbClr val="000000"/>
                        </a:solidFill>
                        <a:latin typeface="Cambria Math" panose="02040503050406030204" pitchFamily="18" charset="0"/>
                        <a:ea typeface="楷体_GB2312"/>
                        <a:cs typeface="Times New Roman" panose="02020603050405020304" pitchFamily="18" charset="0"/>
                      </a:rPr>
                      <m:t>上</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，执行这个动作，得到奖励</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𝑅</m:t>
                    </m:r>
                    <m:r>
                      <a:rPr lang="en-US" altLang="zh-CN" sz="1400" i="1">
                        <a:solidFill>
                          <a:srgbClr val="000000"/>
                        </a:solidFill>
                        <a:latin typeface="Cambria Math" panose="02040503050406030204" pitchFamily="18" charset="0"/>
                        <a:ea typeface="楷体_GB2312"/>
                        <a:cs typeface="Times New Roman" panose="02020603050405020304" pitchFamily="18" charset="0"/>
                      </a:rPr>
                      <m:t>=0</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和进入下一状态</a:t>
                </a:r>
                <a14:m>
                  <m:oMath xmlns:m="http://schemas.openxmlformats.org/officeDocument/2006/math">
                    <m:sSup>
                      <m:sSup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a:solidFill>
                              <a:srgbClr val="000000"/>
                            </a:solidFill>
                            <a:latin typeface="Cambria Math" panose="02040503050406030204" pitchFamily="18" charset="0"/>
                            <a:ea typeface="楷体_GB2312"/>
                            <a:cs typeface="Times New Roman" panose="02020603050405020304" pitchFamily="18" charset="0"/>
                          </a:rPr>
                          <m:t>𝑠</m:t>
                        </m:r>
                      </m:e>
                      <m:sup>
                        <m:r>
                          <a:rPr lang="en-US" altLang="zh-CN" sz="1400" i="1">
                            <a:solidFill>
                              <a:srgbClr val="000000"/>
                            </a:solidFill>
                            <a:latin typeface="Cambria Math" panose="02040503050406030204" pitchFamily="18" charset="0"/>
                            <a:ea typeface="楷体_GB2312"/>
                            <a:cs typeface="Times New Roman" panose="02020603050405020304" pitchFamily="18" charset="0"/>
                          </a:rPr>
                          <m:t>′</m:t>
                        </m:r>
                      </m:sup>
                    </m:sSup>
                    <m:r>
                      <a:rPr lang="en-US" altLang="zh-CN" sz="14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4</m:t>
                        </m:r>
                      </m:sub>
                    </m:sSub>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，因此可如下更新对应的动作</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价值函数：</a:t>
                </a:r>
                <a:br>
                  <a:rPr lang="en-US" altLang="zh-CN" sz="1400" dirty="0">
                    <a:solidFill>
                      <a:srgbClr val="000000"/>
                    </a:solidFill>
                    <a:latin typeface="Times New Roman" panose="02020603050405020304" pitchFamily="18" charset="0"/>
                    <a:ea typeface="楷体_GB2312"/>
                    <a:cs typeface="Times New Roman" panose="02020603050405020304" pitchFamily="18" charset="0"/>
                  </a:rPr>
                </a:br>
                <a14:m>
                  <m:oMathPara xmlns:m="http://schemas.openxmlformats.org/officeDocument/2006/math">
                    <m:oMathParaPr>
                      <m:jc m:val="centerGroup"/>
                    </m:oMathParaPr>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𝑞</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𝜋</m:t>
                          </m:r>
                        </m:sub>
                      </m:sSub>
                      <m:d>
                        <m:d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1</m:t>
                              </m:r>
                            </m:sub>
                          </m:sSub>
                          <m:r>
                            <a:rPr lang="en-US" altLang="zh-CN" sz="1400" i="1">
                              <a:solidFill>
                                <a:srgbClr val="000000"/>
                              </a:solidFill>
                              <a:latin typeface="Cambria Math" panose="02040503050406030204" pitchFamily="18" charset="0"/>
                              <a:ea typeface="楷体_GB2312"/>
                              <a:cs typeface="Times New Roman" panose="02020603050405020304" pitchFamily="18" charset="0"/>
                            </a:rPr>
                            <m:t>,</m:t>
                          </m:r>
                          <m:r>
                            <a:rPr lang="zh-CN" altLang="zh-CN" sz="1400">
                              <a:solidFill>
                                <a:srgbClr val="000000"/>
                              </a:solidFill>
                              <a:latin typeface="Cambria Math" panose="02040503050406030204" pitchFamily="18" charset="0"/>
                              <a:ea typeface="楷体_GB2312"/>
                              <a:cs typeface="Times New Roman" panose="02020603050405020304" pitchFamily="18" charset="0"/>
                            </a:rPr>
                            <m:t>上</m:t>
                          </m:r>
                        </m:e>
                      </m:d>
                      <m:r>
                        <m:rPr>
                          <m:aln/>
                        </m:rPr>
                        <a:rPr lang="en-US" altLang="zh-CN" sz="14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𝑞</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𝜋</m:t>
                          </m:r>
                        </m:sub>
                      </m:sSub>
                      <m:d>
                        <m:d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1</m:t>
                              </m:r>
                            </m:sub>
                          </m:sSub>
                          <m:r>
                            <a:rPr lang="en-US" altLang="zh-CN" sz="1400" i="1">
                              <a:solidFill>
                                <a:srgbClr val="000000"/>
                              </a:solidFill>
                              <a:latin typeface="Cambria Math" panose="02040503050406030204" pitchFamily="18" charset="0"/>
                              <a:ea typeface="楷体_GB2312"/>
                              <a:cs typeface="Times New Roman" panose="02020603050405020304" pitchFamily="18" charset="0"/>
                            </a:rPr>
                            <m:t>,</m:t>
                          </m:r>
                          <m:r>
                            <a:rPr lang="zh-CN" altLang="zh-CN" sz="1400">
                              <a:solidFill>
                                <a:srgbClr val="000000"/>
                              </a:solidFill>
                              <a:latin typeface="Cambria Math" panose="02040503050406030204" pitchFamily="18" charset="0"/>
                              <a:ea typeface="楷体_GB2312"/>
                              <a:cs typeface="Times New Roman" panose="02020603050405020304" pitchFamily="18" charset="0"/>
                            </a:rPr>
                            <m:t>上</m:t>
                          </m:r>
                        </m:e>
                      </m:d>
                      <m:r>
                        <a:rPr lang="en-US" altLang="zh-CN" sz="1400" i="1">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latin typeface="Cambria Math" panose="02040503050406030204" pitchFamily="18" charset="0"/>
                          <a:ea typeface="楷体_GB2312"/>
                          <a:cs typeface="Times New Roman" panose="02020603050405020304" pitchFamily="18" charset="0"/>
                        </a:rPr>
                        <m:t>𝛼</m:t>
                      </m:r>
                      <m:r>
                        <a:rPr lang="en-US" altLang="zh-CN" sz="1400" i="1">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latin typeface="Cambria Math" panose="02040503050406030204" pitchFamily="18" charset="0"/>
                          <a:ea typeface="楷体_GB2312"/>
                          <a:cs typeface="Times New Roman" panose="02020603050405020304" pitchFamily="18" charset="0"/>
                        </a:rPr>
                        <m:t>𝑅</m:t>
                      </m:r>
                      <m:r>
                        <a:rPr lang="en-US" altLang="zh-CN" sz="1400" i="1">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latin typeface="Cambria Math" panose="02040503050406030204" pitchFamily="18" charset="0"/>
                          <a:ea typeface="楷体_GB2312"/>
                          <a:cs typeface="Times New Roman" panose="02020603050405020304" pitchFamily="18" charset="0"/>
                        </a:rPr>
                        <m:t>𝛾</m:t>
                      </m:r>
                      <m:func>
                        <m:func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uncPr>
                        <m:fName>
                          <m:limLow>
                            <m:limLow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limLowPr>
                            <m:e>
                              <m:r>
                                <m:rPr>
                                  <m:sty m:val="p"/>
                                </m:rPr>
                                <a:rPr lang="en-US" altLang="zh-CN" sz="1400">
                                  <a:solidFill>
                                    <a:srgbClr val="000000"/>
                                  </a:solidFill>
                                  <a:latin typeface="Cambria Math" panose="02040503050406030204" pitchFamily="18" charset="0"/>
                                  <a:ea typeface="楷体_GB2312"/>
                                  <a:cs typeface="Times New Roman" panose="02020603050405020304" pitchFamily="18" charset="0"/>
                                </a:rPr>
                                <m:t>max</m:t>
                              </m:r>
                            </m:e>
                            <m:lim>
                              <m:sSup>
                                <m:sSup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a:solidFill>
                                        <a:srgbClr val="000000"/>
                                      </a:solidFill>
                                      <a:latin typeface="Cambria Math" panose="02040503050406030204" pitchFamily="18" charset="0"/>
                                      <a:ea typeface="楷体_GB2312"/>
                                      <a:cs typeface="Times New Roman" panose="02020603050405020304" pitchFamily="18" charset="0"/>
                                    </a:rPr>
                                    <m:t>𝑎</m:t>
                                  </m:r>
                                </m:e>
                                <m:sup>
                                  <m:r>
                                    <a:rPr lang="en-US" altLang="zh-CN" sz="1400" i="1">
                                      <a:solidFill>
                                        <a:srgbClr val="000000"/>
                                      </a:solidFill>
                                      <a:latin typeface="Cambria Math" panose="02040503050406030204" pitchFamily="18" charset="0"/>
                                      <a:ea typeface="楷体_GB2312"/>
                                      <a:cs typeface="Times New Roman" panose="02020603050405020304" pitchFamily="18" charset="0"/>
                                    </a:rPr>
                                    <m:t>′</m:t>
                                  </m:r>
                                </m:sup>
                              </m:sSup>
                            </m:lim>
                          </m:limLow>
                        </m:fName>
                        <m:e>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𝑞</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𝜋</m:t>
                              </m:r>
                            </m:sub>
                          </m:sSub>
                          <m:d>
                            <m:d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a:solidFill>
                                        <a:srgbClr val="000000"/>
                                      </a:solidFill>
                                      <a:latin typeface="Cambria Math" panose="02040503050406030204" pitchFamily="18" charset="0"/>
                                      <a:ea typeface="楷体_GB2312"/>
                                      <a:cs typeface="Times New Roman" panose="02020603050405020304" pitchFamily="18" charset="0"/>
                                    </a:rPr>
                                    <m:t>𝑠</m:t>
                                  </m:r>
                                </m:e>
                                <m:sup>
                                  <m:r>
                                    <a:rPr lang="en-US" altLang="zh-CN" sz="1400" i="1">
                                      <a:solidFill>
                                        <a:srgbClr val="000000"/>
                                      </a:solidFill>
                                      <a:latin typeface="Cambria Math" panose="02040503050406030204" pitchFamily="18" charset="0"/>
                                      <a:ea typeface="楷体_GB2312"/>
                                      <a:cs typeface="Times New Roman" panose="02020603050405020304" pitchFamily="18" charset="0"/>
                                    </a:rPr>
                                    <m:t>′</m:t>
                                  </m:r>
                                </m:sup>
                              </m:sSup>
                              <m:r>
                                <a:rPr lang="en-US" altLang="zh-CN" sz="1400" i="1">
                                  <a:solidFill>
                                    <a:srgbClr val="000000"/>
                                  </a:solidFill>
                                  <a:latin typeface="Cambria Math" panose="02040503050406030204" pitchFamily="18" charset="0"/>
                                  <a:ea typeface="楷体_GB2312"/>
                                  <a:cs typeface="Times New Roman" panose="02020603050405020304" pitchFamily="18" charset="0"/>
                                </a:rPr>
                                <m:t>,</m:t>
                              </m:r>
                              <m:sSup>
                                <m:sSup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a:solidFill>
                                        <a:srgbClr val="000000"/>
                                      </a:solidFill>
                                      <a:latin typeface="Cambria Math" panose="02040503050406030204" pitchFamily="18" charset="0"/>
                                      <a:ea typeface="楷体_GB2312"/>
                                      <a:cs typeface="Times New Roman" panose="02020603050405020304" pitchFamily="18" charset="0"/>
                                    </a:rPr>
                                    <m:t>𝑎</m:t>
                                  </m:r>
                                </m:e>
                                <m:sup>
                                  <m:r>
                                    <a:rPr lang="en-US" altLang="zh-CN" sz="1400" i="1">
                                      <a:solidFill>
                                        <a:srgbClr val="000000"/>
                                      </a:solidFill>
                                      <a:latin typeface="Cambria Math" panose="02040503050406030204" pitchFamily="18" charset="0"/>
                                      <a:ea typeface="楷体_GB2312"/>
                                      <a:cs typeface="Times New Roman" panose="02020603050405020304" pitchFamily="18" charset="0"/>
                                    </a:rPr>
                                    <m:t>′</m:t>
                                  </m:r>
                                </m:sup>
                              </m:sSup>
                            </m:e>
                          </m:d>
                          <m:r>
                            <a:rPr lang="en-US" altLang="zh-CN" sz="14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𝑞</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𝜋</m:t>
                              </m:r>
                            </m:sub>
                          </m:sSub>
                          <m:d>
                            <m:d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a:solidFill>
                                    <a:srgbClr val="000000"/>
                                  </a:solidFill>
                                  <a:latin typeface="Cambria Math" panose="02040503050406030204" pitchFamily="18" charset="0"/>
                                  <a:ea typeface="楷体_GB2312"/>
                                  <a:cs typeface="Times New Roman" panose="02020603050405020304" pitchFamily="18" charset="0"/>
                                </a:rPr>
                                <m:t>𝑠</m:t>
                              </m:r>
                              <m:r>
                                <a:rPr lang="en-US" altLang="zh-CN" sz="1400" i="1">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latin typeface="Cambria Math" panose="02040503050406030204" pitchFamily="18" charset="0"/>
                                  <a:ea typeface="楷体_GB2312"/>
                                  <a:cs typeface="Times New Roman" panose="02020603050405020304" pitchFamily="18" charset="0"/>
                                </a:rPr>
                                <m:t>𝑎</m:t>
                              </m:r>
                            </m:e>
                          </m:d>
                        </m:e>
                      </m:func>
                      <m:r>
                        <a:rPr lang="en-US" altLang="zh-CN" sz="1400" i="1">
                          <a:solidFill>
                            <a:srgbClr val="000000"/>
                          </a:solidFill>
                          <a:latin typeface="Cambria Math" panose="02040503050406030204" pitchFamily="18" charset="0"/>
                          <a:ea typeface="楷体_GB2312"/>
                          <a:cs typeface="Times New Roman" panose="02020603050405020304" pitchFamily="18" charset="0"/>
                        </a:rPr>
                        <m:t>]</m:t>
                      </m:r>
                    </m:oMath>
                    <m:oMath xmlns:m="http://schemas.openxmlformats.org/officeDocument/2006/math">
                      <m:r>
                        <m:rPr>
                          <m:aln/>
                        </m:rPr>
                        <a:rPr lang="en-US" altLang="zh-CN" sz="1400" i="1">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latin typeface="Cambria Math" panose="02040503050406030204" pitchFamily="18" charset="0"/>
                          <a:ea typeface="楷体_GB2312"/>
                          <a:cs typeface="Times New Roman" panose="02020603050405020304" pitchFamily="18" charset="0"/>
                        </a:rPr>
                        <m:t>0.2+0.5×</m:t>
                      </m:r>
                      <m:d>
                        <m:dPr>
                          <m:begChr m:val="["/>
                          <m:endChr m:val="]"/>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a:solidFill>
                                <a:srgbClr val="000000"/>
                              </a:solidFill>
                              <a:latin typeface="Cambria Math" panose="02040503050406030204" pitchFamily="18" charset="0"/>
                              <a:ea typeface="楷体_GB2312"/>
                              <a:cs typeface="Times New Roman" panose="02020603050405020304" pitchFamily="18" charset="0"/>
                            </a:rPr>
                            <m:t>0+0.99×</m:t>
                          </m:r>
                          <m:func>
                            <m:func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400">
                                  <a:solidFill>
                                    <a:srgbClr val="000000"/>
                                  </a:solidFill>
                                  <a:latin typeface="Cambria Math" panose="02040503050406030204" pitchFamily="18" charset="0"/>
                                  <a:ea typeface="楷体_GB2312"/>
                                  <a:cs typeface="Times New Roman" panose="02020603050405020304" pitchFamily="18" charset="0"/>
                                </a:rPr>
                                <m:t>max</m:t>
                              </m:r>
                            </m:fName>
                            <m:e>
                              <m:d>
                                <m:dPr>
                                  <m:begChr m:val="{"/>
                                  <m:endChr m:val="}"/>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a:solidFill>
                                        <a:srgbClr val="000000"/>
                                      </a:solidFill>
                                      <a:latin typeface="Cambria Math" panose="02040503050406030204" pitchFamily="18" charset="0"/>
                                      <a:ea typeface="楷体_GB2312"/>
                                      <a:cs typeface="Times New Roman" panose="02020603050405020304" pitchFamily="18" charset="0"/>
                                    </a:rPr>
                                    <m:t>0,0.2</m:t>
                                  </m:r>
                                </m:e>
                              </m:d>
                            </m:e>
                          </m:func>
                          <m:r>
                            <a:rPr lang="en-US" altLang="zh-CN" sz="1400" i="1">
                              <a:solidFill>
                                <a:srgbClr val="000000"/>
                              </a:solidFill>
                              <a:latin typeface="Cambria Math" panose="02040503050406030204" pitchFamily="18" charset="0"/>
                              <a:ea typeface="楷体_GB2312"/>
                              <a:cs typeface="Times New Roman" panose="02020603050405020304" pitchFamily="18" charset="0"/>
                            </a:rPr>
                            <m:t>−0.2</m:t>
                          </m:r>
                        </m:e>
                      </m:d>
                      <m:r>
                        <a:rPr lang="en-US" altLang="zh-CN" sz="1400" i="1">
                          <a:solidFill>
                            <a:srgbClr val="000000"/>
                          </a:solidFill>
                          <a:latin typeface="Cambria Math" panose="02040503050406030204" pitchFamily="18" charset="0"/>
                          <a:ea typeface="楷体_GB2312"/>
                          <a:cs typeface="Times New Roman" panose="02020603050405020304" pitchFamily="18" charset="0"/>
                        </a:rPr>
                        <m:t>=0.199</m:t>
                      </m:r>
                    </m:oMath>
                  </m:oMathPara>
                </a14:m>
                <a:endParaRPr lang="zh-CN" altLang="zh-CN" sz="1400"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ct val="150000"/>
                  </a:lnSpc>
                  <a:spcAft>
                    <a:spcPts val="0"/>
                  </a:spcAft>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同时令当前状态为</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4</m:t>
                        </m:r>
                      </m:sub>
                    </m:sSub>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，由此得到了图</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6.10(b)</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。同理算法再执行一次内层循环得到图</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6.10(c)</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，接着得到图</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6.10(d)</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。当智能体在图</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6.10(d)</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中到达了损坏状态</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𝑑</m:t>
                        </m:r>
                      </m:sub>
                    </m:sSub>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，一个负的奖励（即奖励为</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-1</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）使</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𝑞</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𝜋</m:t>
                        </m:r>
                      </m:sub>
                    </m:sSub>
                    <m:r>
                      <a:rPr lang="en-US" altLang="zh-CN" sz="14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7</m:t>
                        </m:r>
                      </m:sub>
                    </m:sSub>
                    <m:r>
                      <a:rPr lang="en-US" altLang="zh-CN" sz="1400" i="1">
                        <a:solidFill>
                          <a:srgbClr val="000000"/>
                        </a:solidFill>
                        <a:latin typeface="Cambria Math" panose="02040503050406030204" pitchFamily="18" charset="0"/>
                        <a:ea typeface="楷体_GB2312"/>
                        <a:cs typeface="Times New Roman" panose="02020603050405020304" pitchFamily="18" charset="0"/>
                      </a:rPr>
                      <m:t>,</m:t>
                    </m:r>
                    <m:r>
                      <a:rPr lang="zh-CN" altLang="zh-CN" sz="1400">
                        <a:solidFill>
                          <a:srgbClr val="000000"/>
                        </a:solidFill>
                        <a:latin typeface="Cambria Math" panose="02040503050406030204" pitchFamily="18" charset="0"/>
                        <a:ea typeface="楷体_GB2312"/>
                        <a:cs typeface="Times New Roman" panose="02020603050405020304" pitchFamily="18" charset="0"/>
                      </a:rPr>
                      <m:t>上</m:t>
                    </m:r>
                    <m:r>
                      <a:rPr lang="en-US" altLang="zh-CN" sz="1400"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变为负值，此时策略</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𝜋</m:t>
                    </m:r>
                    <m:r>
                      <a:rPr lang="en-US" altLang="zh-CN" sz="14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7</m:t>
                        </m:r>
                      </m:sub>
                    </m:sSub>
                    <m:r>
                      <a:rPr lang="en-US" altLang="zh-CN" sz="1400"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从</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向上移动一个方格</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变成了</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向右移动一个方格</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，至此智能体完成了一个片段（一次外层循环）的更新。</a:t>
                </a:r>
              </a:p>
            </p:txBody>
          </p:sp>
        </mc:Choice>
        <mc:Fallback xmlns="">
          <p:sp>
            <p:nvSpPr>
              <p:cNvPr id="7" name="矩形 6">
                <a:extLst>
                  <a:ext uri="{FF2B5EF4-FFF2-40B4-BE49-F238E27FC236}">
                    <a16:creationId xmlns:a16="http://schemas.microsoft.com/office/drawing/2014/main" id="{A0C8C11F-7513-4537-A52A-1949D7DDC294}"/>
                  </a:ext>
                </a:extLst>
              </p:cNvPr>
              <p:cNvSpPr>
                <a:spLocks noRot="1" noChangeAspect="1" noMove="1" noResize="1" noEditPoints="1" noAdjustHandles="1" noChangeArrowheads="1" noChangeShapeType="1" noTextEdit="1"/>
              </p:cNvSpPr>
              <p:nvPr/>
            </p:nvSpPr>
            <p:spPr>
              <a:xfrm>
                <a:off x="162072" y="1788620"/>
                <a:ext cx="5552928" cy="3722173"/>
              </a:xfrm>
              <a:prstGeom prst="rect">
                <a:avLst/>
              </a:prstGeom>
              <a:blipFill>
                <a:blip r:embed="rId4"/>
                <a:stretch>
                  <a:fillRect l="-329" r="-329" b="-81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156425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en-US" altLang="zh-CN"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Q</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学习算法</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p:pic>
        <p:nvPicPr>
          <p:cNvPr id="8" name="图片 7">
            <a:extLst>
              <a:ext uri="{FF2B5EF4-FFF2-40B4-BE49-F238E27FC236}">
                <a16:creationId xmlns:a16="http://schemas.microsoft.com/office/drawing/2014/main" id="{C758B320-A401-484B-89CE-650A64BEE03C}"/>
              </a:ext>
            </a:extLst>
          </p:cNvPr>
          <p:cNvPicPr>
            <a:picLocks noChangeAspect="1"/>
          </p:cNvPicPr>
          <p:nvPr/>
        </p:nvPicPr>
        <p:blipFill>
          <a:blip r:embed="rId3"/>
          <a:stretch>
            <a:fillRect/>
          </a:stretch>
        </p:blipFill>
        <p:spPr>
          <a:xfrm>
            <a:off x="5903741" y="1979332"/>
            <a:ext cx="6288259" cy="3671191"/>
          </a:xfrm>
          <a:prstGeom prst="rect">
            <a:avLst/>
          </a:prstGeom>
        </p:spPr>
      </p:pic>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9DBE72D0-C72B-43D7-8DBF-A52AD58BD881}"/>
                  </a:ext>
                </a:extLst>
              </p:cNvPr>
              <p:cNvSpPr/>
              <p:nvPr/>
            </p:nvSpPr>
            <p:spPr>
              <a:xfrm>
                <a:off x="459545" y="2558790"/>
                <a:ext cx="5444197" cy="2778581"/>
              </a:xfrm>
              <a:prstGeom prst="rect">
                <a:avLst/>
              </a:prstGeom>
            </p:spPr>
            <p:txBody>
              <a:bodyPr wrap="square">
                <a:spAutoFit/>
              </a:bodyPr>
              <a:lstStyle/>
              <a:p>
                <a:pPr indent="266700" algn="just">
                  <a:lnSpc>
                    <a:spcPct val="20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图</a:t>
                </a:r>
                <a:r>
                  <a:rPr lang="en-US" altLang="zh-CN" dirty="0">
                    <a:solidFill>
                      <a:srgbClr val="000000"/>
                    </a:solidFill>
                    <a:latin typeface="Times New Roman" panose="02020603050405020304" pitchFamily="18" charset="0"/>
                    <a:ea typeface="楷体_GB2312"/>
                    <a:cs typeface="Times New Roman" panose="02020603050405020304" pitchFamily="18" charset="0"/>
                  </a:rPr>
                  <a:t>6.11</a:t>
                </a:r>
                <a:r>
                  <a:rPr lang="zh-CN" altLang="zh-CN" dirty="0">
                    <a:solidFill>
                      <a:srgbClr val="000000"/>
                    </a:solidFill>
                    <a:latin typeface="Times New Roman" panose="02020603050405020304" pitchFamily="18" charset="0"/>
                    <a:ea typeface="楷体_GB2312"/>
                    <a:cs typeface="Times New Roman" panose="02020603050405020304" pitchFamily="18" charset="0"/>
                  </a:rPr>
                  <a:t>展示了</a:t>
                </a:r>
                <a:r>
                  <a:rPr lang="en-US" altLang="zh-CN" dirty="0">
                    <a:solidFill>
                      <a:srgbClr val="000000"/>
                    </a:solidFill>
                    <a:latin typeface="Times New Roman" panose="02020603050405020304" pitchFamily="18" charset="0"/>
                    <a:ea typeface="楷体_GB2312"/>
                    <a:cs typeface="Times New Roman" panose="02020603050405020304" pitchFamily="18" charset="0"/>
                  </a:rPr>
                  <a:t>Q</a:t>
                </a:r>
                <a:r>
                  <a:rPr lang="zh-CN" altLang="zh-CN" dirty="0">
                    <a:solidFill>
                      <a:srgbClr val="000000"/>
                    </a:solidFill>
                    <a:latin typeface="Times New Roman" panose="02020603050405020304" pitchFamily="18" charset="0"/>
                    <a:ea typeface="楷体_GB2312"/>
                    <a:cs typeface="Times New Roman" panose="02020603050405020304" pitchFamily="18" charset="0"/>
                  </a:rPr>
                  <a:t>学习算法执行三个片段的过程，从第二个片段结束时起，算法已经学习得到了沿着轨迹</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i="1">
                            <a:solidFill>
                              <a:srgbClr val="000000"/>
                            </a:solidFill>
                            <a:latin typeface="Cambria Math" panose="02040503050406030204" pitchFamily="18" charset="0"/>
                            <a:ea typeface="楷体_GB2312"/>
                            <a:cs typeface="Times New Roman" panose="02020603050405020304" pitchFamily="18" charset="0"/>
                          </a:rPr>
                          <m:t>1</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i="1">
                            <a:solidFill>
                              <a:srgbClr val="000000"/>
                            </a:solidFill>
                            <a:latin typeface="Cambria Math" panose="02040503050406030204" pitchFamily="18" charset="0"/>
                            <a:ea typeface="楷体_GB2312"/>
                            <a:cs typeface="Times New Roman" panose="02020603050405020304" pitchFamily="18" charset="0"/>
                          </a:rPr>
                          <m:t>4</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i="1">
                            <a:solidFill>
                              <a:srgbClr val="000000"/>
                            </a:solidFill>
                            <a:latin typeface="Cambria Math" panose="02040503050406030204" pitchFamily="18" charset="0"/>
                            <a:ea typeface="楷体_GB2312"/>
                            <a:cs typeface="Times New Roman" panose="02020603050405020304" pitchFamily="18" charset="0"/>
                          </a:rPr>
                          <m:t>7</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i="1">
                            <a:solidFill>
                              <a:srgbClr val="000000"/>
                            </a:solidFill>
                            <a:latin typeface="Cambria Math" panose="02040503050406030204" pitchFamily="18" charset="0"/>
                            <a:ea typeface="楷体_GB2312"/>
                            <a:cs typeface="Times New Roman" panose="02020603050405020304" pitchFamily="18" charset="0"/>
                          </a:rPr>
                          <m:t>8</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i="1">
                            <a:solidFill>
                              <a:srgbClr val="000000"/>
                            </a:solidFill>
                            <a:latin typeface="Cambria Math" panose="02040503050406030204" pitchFamily="18" charset="0"/>
                            <a:ea typeface="楷体_GB2312"/>
                            <a:cs typeface="Times New Roman" panose="02020603050405020304" pitchFamily="18" charset="0"/>
                          </a:rPr>
                          <m:t>9</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到达目标状态</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i="1">
                            <a:solidFill>
                              <a:srgbClr val="000000"/>
                            </a:solidFill>
                            <a:latin typeface="Cambria Math" panose="02040503050406030204" pitchFamily="18" charset="0"/>
                            <a:ea typeface="楷体_GB2312"/>
                            <a:cs typeface="Times New Roman" panose="02020603050405020304" pitchFamily="18" charset="0"/>
                          </a:rPr>
                          <m:t>9</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的策略。</a:t>
                </a:r>
                <a:r>
                  <a:rPr lang="zh-CN" altLang="zh-CN" dirty="0">
                    <a:solidFill>
                      <a:srgbClr val="FF0000"/>
                    </a:solidFill>
                    <a:latin typeface="Times New Roman" panose="02020603050405020304" pitchFamily="18" charset="0"/>
                    <a:ea typeface="楷体_GB2312"/>
                    <a:cs typeface="Times New Roman" panose="02020603050405020304" pitchFamily="18" charset="0"/>
                  </a:rPr>
                  <a:t>实际上，虽然此时动作</a:t>
                </a:r>
                <a:r>
                  <a:rPr lang="en-US" altLang="zh-CN" dirty="0">
                    <a:solidFill>
                      <a:srgbClr val="FF0000"/>
                    </a:solidFill>
                    <a:latin typeface="Times New Roman" panose="02020603050405020304" pitchFamily="18" charset="0"/>
                    <a:ea typeface="楷体_GB2312"/>
                    <a:cs typeface="Times New Roman" panose="02020603050405020304" pitchFamily="18" charset="0"/>
                  </a:rPr>
                  <a:t>-</a:t>
                </a:r>
                <a:r>
                  <a:rPr lang="zh-CN" altLang="zh-CN" dirty="0">
                    <a:solidFill>
                      <a:srgbClr val="FF0000"/>
                    </a:solidFill>
                    <a:latin typeface="Times New Roman" panose="02020603050405020304" pitchFamily="18" charset="0"/>
                    <a:ea typeface="楷体_GB2312"/>
                    <a:cs typeface="Times New Roman" panose="02020603050405020304" pitchFamily="18" charset="0"/>
                  </a:rPr>
                  <a:t>价值函数尚未收敛，但此后策略已经不会再发生变化了。</a:t>
                </a:r>
              </a:p>
            </p:txBody>
          </p:sp>
        </mc:Choice>
        <mc:Fallback xmlns="">
          <p:sp>
            <p:nvSpPr>
              <p:cNvPr id="9" name="矩形 8">
                <a:extLst>
                  <a:ext uri="{FF2B5EF4-FFF2-40B4-BE49-F238E27FC236}">
                    <a16:creationId xmlns:a16="http://schemas.microsoft.com/office/drawing/2014/main" id="{9DBE72D0-C72B-43D7-8DBF-A52AD58BD881}"/>
                  </a:ext>
                </a:extLst>
              </p:cNvPr>
              <p:cNvSpPr>
                <a:spLocks noRot="1" noChangeAspect="1" noMove="1" noResize="1" noEditPoints="1" noAdjustHandles="1" noChangeArrowheads="1" noChangeShapeType="1" noTextEdit="1"/>
              </p:cNvSpPr>
              <p:nvPr/>
            </p:nvSpPr>
            <p:spPr>
              <a:xfrm>
                <a:off x="459545" y="2558790"/>
                <a:ext cx="5444197" cy="2778581"/>
              </a:xfrm>
              <a:prstGeom prst="rect">
                <a:avLst/>
              </a:prstGeom>
              <a:blipFill>
                <a:blip r:embed="rId4"/>
                <a:stretch>
                  <a:fillRect l="-896" r="-1008" b="-263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588673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探索与利用</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p:pic>
        <p:nvPicPr>
          <p:cNvPr id="2" name="图片 1">
            <a:extLst>
              <a:ext uri="{FF2B5EF4-FFF2-40B4-BE49-F238E27FC236}">
                <a16:creationId xmlns:a16="http://schemas.microsoft.com/office/drawing/2014/main" id="{A047C763-9101-4F6F-A8E4-6CFFAC33B385}"/>
              </a:ext>
            </a:extLst>
          </p:cNvPr>
          <p:cNvPicPr>
            <a:picLocks noChangeAspect="1"/>
          </p:cNvPicPr>
          <p:nvPr/>
        </p:nvPicPr>
        <p:blipFill>
          <a:blip r:embed="rId3"/>
          <a:stretch>
            <a:fillRect/>
          </a:stretch>
        </p:blipFill>
        <p:spPr>
          <a:xfrm>
            <a:off x="5993160" y="1970312"/>
            <a:ext cx="5992069" cy="4160740"/>
          </a:xfrm>
          <a:prstGeom prst="rect">
            <a:avLst/>
          </a:prstGeom>
        </p:spPr>
      </p:pic>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793DA1FE-1575-4100-B56A-FA09754B4424}"/>
                  </a:ext>
                </a:extLst>
              </p:cNvPr>
              <p:cNvSpPr/>
              <p:nvPr/>
            </p:nvSpPr>
            <p:spPr>
              <a:xfrm>
                <a:off x="335263" y="1970312"/>
                <a:ext cx="5535654" cy="3906326"/>
              </a:xfrm>
              <a:prstGeom prst="rect">
                <a:avLst/>
              </a:prstGeom>
            </p:spPr>
            <p:txBody>
              <a:bodyPr wrap="square">
                <a:spAutoFit/>
              </a:bodyPr>
              <a:lstStyle/>
              <a:p>
                <a:pPr indent="266700" algn="just">
                  <a:lnSpc>
                    <a:spcPct val="200000"/>
                  </a:lnSpc>
                  <a:spcAft>
                    <a:spcPts val="0"/>
                  </a:spcAft>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如果将动作</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价值函数初始化为</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1/−2</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，即除了终止状态，对于每个状态，智能体更倾向于向上移动一个方格而非向右一个方格。在这样初始策略下，</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Q</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学习执行过程如图</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6.12</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所示，可见</a:t>
                </a:r>
                <a:r>
                  <a:rPr lang="zh-CN" altLang="zh-CN" sz="1400" dirty="0">
                    <a:solidFill>
                      <a:srgbClr val="FF0000"/>
                    </a:solidFill>
                    <a:latin typeface="Times New Roman" panose="02020603050405020304" pitchFamily="18" charset="0"/>
                    <a:ea typeface="楷体_GB2312"/>
                    <a:cs typeface="Times New Roman" panose="02020603050405020304" pitchFamily="18" charset="0"/>
                  </a:rPr>
                  <a:t>即使在</a:t>
                </a:r>
                <a:r>
                  <a:rPr lang="en-US" altLang="zh-CN" sz="1400" dirty="0">
                    <a:solidFill>
                      <a:srgbClr val="FF0000"/>
                    </a:solidFill>
                    <a:latin typeface="Times New Roman" panose="02020603050405020304" pitchFamily="18" charset="0"/>
                    <a:ea typeface="楷体_GB2312"/>
                    <a:cs typeface="Times New Roman" panose="02020603050405020304" pitchFamily="18" charset="0"/>
                  </a:rPr>
                  <a:t>Q</a:t>
                </a:r>
                <a:r>
                  <a:rPr lang="zh-CN" altLang="zh-CN" sz="1400" dirty="0">
                    <a:solidFill>
                      <a:srgbClr val="FF0000"/>
                    </a:solidFill>
                    <a:latin typeface="Times New Roman" panose="02020603050405020304" pitchFamily="18" charset="0"/>
                    <a:ea typeface="楷体_GB2312"/>
                    <a:cs typeface="Times New Roman" panose="02020603050405020304" pitchFamily="18" charset="0"/>
                  </a:rPr>
                  <a:t>学习算法收敛以后，所得到的策略仍然不能使得机器人抵达目标状态</a:t>
                </a:r>
                <a14:m>
                  <m:oMath xmlns:m="http://schemas.openxmlformats.org/officeDocument/2006/math">
                    <m:sSub>
                      <m:sSubPr>
                        <m:ctrlPr>
                          <a:rPr lang="zh-CN" altLang="zh-CN" sz="14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FF0000"/>
                            </a:solidFill>
                            <a:latin typeface="Cambria Math" panose="02040503050406030204" pitchFamily="18" charset="0"/>
                            <a:ea typeface="楷体_GB2312"/>
                            <a:cs typeface="Times New Roman" panose="02020603050405020304" pitchFamily="18" charset="0"/>
                          </a:rPr>
                          <m:t>𝑠</m:t>
                        </m:r>
                      </m:e>
                      <m:sub>
                        <m:r>
                          <a:rPr lang="en-US" altLang="zh-CN" sz="1400" i="1">
                            <a:solidFill>
                              <a:srgbClr val="FF0000"/>
                            </a:solidFill>
                            <a:latin typeface="Cambria Math" panose="02040503050406030204" pitchFamily="18" charset="0"/>
                            <a:ea typeface="楷体_GB2312"/>
                            <a:cs typeface="Times New Roman" panose="02020603050405020304" pitchFamily="18" charset="0"/>
                          </a:rPr>
                          <m:t>9</m:t>
                        </m:r>
                      </m:sub>
                    </m:sSub>
                  </m:oMath>
                </a14:m>
                <a:r>
                  <a:rPr lang="zh-CN" altLang="zh-CN" sz="1400" dirty="0">
                    <a:solidFill>
                      <a:srgbClr val="FF0000"/>
                    </a:solidFill>
                    <a:latin typeface="Times New Roman" panose="02020603050405020304" pitchFamily="18" charset="0"/>
                    <a:ea typeface="楷体_GB2312"/>
                    <a:cs typeface="Times New Roman" panose="02020603050405020304" pitchFamily="18" charset="0"/>
                  </a:rPr>
                  <a:t>，而是沿着轨迹</a:t>
                </a:r>
                <a14:m>
                  <m:oMath xmlns:m="http://schemas.openxmlformats.org/officeDocument/2006/math">
                    <m:r>
                      <a:rPr lang="en-US" altLang="zh-CN" sz="1400" i="1">
                        <a:solidFill>
                          <a:srgbClr val="FF0000"/>
                        </a:solidFill>
                        <a:latin typeface="Cambria Math" panose="02040503050406030204" pitchFamily="18" charset="0"/>
                        <a:ea typeface="楷体_GB2312"/>
                        <a:cs typeface="Times New Roman" panose="02020603050405020304" pitchFamily="18" charset="0"/>
                      </a:rPr>
                      <m:t>(</m:t>
                    </m:r>
                    <m:sSub>
                      <m:sSubPr>
                        <m:ctrlPr>
                          <a:rPr lang="zh-CN" altLang="zh-CN" sz="14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FF0000"/>
                            </a:solidFill>
                            <a:latin typeface="Cambria Math" panose="02040503050406030204" pitchFamily="18" charset="0"/>
                            <a:ea typeface="楷体_GB2312"/>
                            <a:cs typeface="Times New Roman" panose="02020603050405020304" pitchFamily="18" charset="0"/>
                          </a:rPr>
                          <m:t>𝑠</m:t>
                        </m:r>
                      </m:e>
                      <m:sub>
                        <m:r>
                          <a:rPr lang="en-US" altLang="zh-CN" sz="1400" i="1">
                            <a:solidFill>
                              <a:srgbClr val="FF0000"/>
                            </a:solidFill>
                            <a:latin typeface="Cambria Math" panose="02040503050406030204" pitchFamily="18" charset="0"/>
                            <a:ea typeface="楷体_GB2312"/>
                            <a:cs typeface="Times New Roman" panose="02020603050405020304" pitchFamily="18" charset="0"/>
                          </a:rPr>
                          <m:t>1</m:t>
                        </m:r>
                      </m:sub>
                    </m:sSub>
                    <m:r>
                      <a:rPr lang="en-US" altLang="zh-CN" sz="1400" i="1">
                        <a:solidFill>
                          <a:srgbClr val="FF0000"/>
                        </a:solidFill>
                        <a:latin typeface="Cambria Math" panose="02040503050406030204" pitchFamily="18" charset="0"/>
                        <a:ea typeface="楷体_GB2312"/>
                        <a:cs typeface="Times New Roman" panose="02020603050405020304" pitchFamily="18" charset="0"/>
                      </a:rPr>
                      <m:t>,</m:t>
                    </m:r>
                    <m:sSub>
                      <m:sSubPr>
                        <m:ctrlPr>
                          <a:rPr lang="zh-CN" altLang="zh-CN" sz="14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FF0000"/>
                            </a:solidFill>
                            <a:latin typeface="Cambria Math" panose="02040503050406030204" pitchFamily="18" charset="0"/>
                            <a:ea typeface="楷体_GB2312"/>
                            <a:cs typeface="Times New Roman" panose="02020603050405020304" pitchFamily="18" charset="0"/>
                          </a:rPr>
                          <m:t>𝑠</m:t>
                        </m:r>
                      </m:e>
                      <m:sub>
                        <m:r>
                          <a:rPr lang="en-US" altLang="zh-CN" sz="1400" i="1">
                            <a:solidFill>
                              <a:srgbClr val="FF0000"/>
                            </a:solidFill>
                            <a:latin typeface="Cambria Math" panose="02040503050406030204" pitchFamily="18" charset="0"/>
                            <a:ea typeface="楷体_GB2312"/>
                            <a:cs typeface="Times New Roman" panose="02020603050405020304" pitchFamily="18" charset="0"/>
                          </a:rPr>
                          <m:t>4</m:t>
                        </m:r>
                      </m:sub>
                    </m:sSub>
                    <m:r>
                      <a:rPr lang="en-US" altLang="zh-CN" sz="1400" i="1">
                        <a:solidFill>
                          <a:srgbClr val="FF0000"/>
                        </a:solidFill>
                        <a:latin typeface="Cambria Math" panose="02040503050406030204" pitchFamily="18" charset="0"/>
                        <a:ea typeface="楷体_GB2312"/>
                        <a:cs typeface="Times New Roman" panose="02020603050405020304" pitchFamily="18" charset="0"/>
                      </a:rPr>
                      <m:t>,</m:t>
                    </m:r>
                    <m:sSub>
                      <m:sSubPr>
                        <m:ctrlPr>
                          <a:rPr lang="zh-CN" altLang="zh-CN" sz="14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FF0000"/>
                            </a:solidFill>
                            <a:latin typeface="Cambria Math" panose="02040503050406030204" pitchFamily="18" charset="0"/>
                            <a:ea typeface="楷体_GB2312"/>
                            <a:cs typeface="Times New Roman" panose="02020603050405020304" pitchFamily="18" charset="0"/>
                          </a:rPr>
                          <m:t>𝑠</m:t>
                        </m:r>
                      </m:e>
                      <m:sub>
                        <m:r>
                          <a:rPr lang="en-US" altLang="zh-CN" sz="1400" i="1">
                            <a:solidFill>
                              <a:srgbClr val="FF0000"/>
                            </a:solidFill>
                            <a:latin typeface="Cambria Math" panose="02040503050406030204" pitchFamily="18" charset="0"/>
                            <a:ea typeface="楷体_GB2312"/>
                            <a:cs typeface="Times New Roman" panose="02020603050405020304" pitchFamily="18" charset="0"/>
                          </a:rPr>
                          <m:t>7</m:t>
                        </m:r>
                      </m:sub>
                    </m:sSub>
                    <m:r>
                      <a:rPr lang="en-US" altLang="zh-CN" sz="1400" i="1">
                        <a:solidFill>
                          <a:srgbClr val="FF0000"/>
                        </a:solidFill>
                        <a:latin typeface="Cambria Math" panose="02040503050406030204" pitchFamily="18" charset="0"/>
                        <a:ea typeface="楷体_GB2312"/>
                        <a:cs typeface="Times New Roman" panose="02020603050405020304" pitchFamily="18" charset="0"/>
                      </a:rPr>
                      <m:t>,</m:t>
                    </m:r>
                    <m:sSub>
                      <m:sSubPr>
                        <m:ctrlPr>
                          <a:rPr lang="zh-CN" altLang="zh-CN" sz="14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FF0000"/>
                            </a:solidFill>
                            <a:latin typeface="Cambria Math" panose="02040503050406030204" pitchFamily="18" charset="0"/>
                            <a:ea typeface="楷体_GB2312"/>
                            <a:cs typeface="Times New Roman" panose="02020603050405020304" pitchFamily="18" charset="0"/>
                          </a:rPr>
                          <m:t>𝑠</m:t>
                        </m:r>
                      </m:e>
                      <m:sub>
                        <m:r>
                          <a:rPr lang="en-US" altLang="zh-CN" sz="1400" i="1">
                            <a:solidFill>
                              <a:srgbClr val="FF0000"/>
                            </a:solidFill>
                            <a:latin typeface="Cambria Math" panose="02040503050406030204" pitchFamily="18" charset="0"/>
                            <a:ea typeface="楷体_GB2312"/>
                            <a:cs typeface="Times New Roman" panose="02020603050405020304" pitchFamily="18" charset="0"/>
                          </a:rPr>
                          <m:t>𝑑</m:t>
                        </m:r>
                      </m:sub>
                    </m:sSub>
                    <m:r>
                      <a:rPr lang="en-US" altLang="zh-CN" sz="1400" i="1">
                        <a:solidFill>
                          <a:srgbClr val="FF0000"/>
                        </a:solidFill>
                        <a:latin typeface="Cambria Math" panose="02040503050406030204" pitchFamily="18" charset="0"/>
                        <a:ea typeface="楷体_GB2312"/>
                        <a:cs typeface="Times New Roman" panose="02020603050405020304" pitchFamily="18" charset="0"/>
                      </a:rPr>
                      <m:t>)</m:t>
                    </m:r>
                  </m:oMath>
                </a14:m>
                <a:r>
                  <a:rPr lang="zh-CN" altLang="zh-CN" sz="1400" dirty="0">
                    <a:solidFill>
                      <a:srgbClr val="FF0000"/>
                    </a:solidFill>
                    <a:latin typeface="Times New Roman" panose="02020603050405020304" pitchFamily="18" charset="0"/>
                    <a:ea typeface="楷体_GB2312"/>
                    <a:cs typeface="Times New Roman" panose="02020603050405020304" pitchFamily="18" charset="0"/>
                  </a:rPr>
                  <a:t>导致机器人被损坏。</a:t>
                </a:r>
                <a:endParaRPr lang="zh-CN" altLang="zh-CN" sz="1400"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ct val="200000"/>
                  </a:lnSpc>
                  <a:spcAft>
                    <a:spcPts val="0"/>
                  </a:spcAft>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图</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6.12</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中问题出现的原因概括来说就是</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𝑞</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𝜋</m:t>
                        </m:r>
                      </m:sub>
                    </m:sSub>
                    <m:r>
                      <a:rPr lang="en-US" altLang="zh-CN" sz="1400" i="1">
                        <a:solidFill>
                          <a:srgbClr val="000000"/>
                        </a:solidFill>
                        <a:latin typeface="Cambria Math" panose="02040503050406030204" pitchFamily="18" charset="0"/>
                        <a:ea typeface="楷体_GB2312"/>
                        <a:cs typeface="Times New Roman" panose="02020603050405020304" pitchFamily="18" charset="0"/>
                      </a:rPr>
                      <m:t>(⋅,</m:t>
                    </m:r>
                    <m:r>
                      <a:rPr lang="zh-CN" altLang="zh-CN" sz="1400">
                        <a:solidFill>
                          <a:srgbClr val="000000"/>
                        </a:solidFill>
                        <a:latin typeface="Cambria Math" panose="02040503050406030204" pitchFamily="18" charset="0"/>
                        <a:ea typeface="楷体_GB2312"/>
                        <a:cs typeface="Times New Roman" panose="02020603050405020304" pitchFamily="18" charset="0"/>
                      </a:rPr>
                      <m:t>右</m:t>
                    </m:r>
                    <m:r>
                      <a:rPr lang="en-US" altLang="zh-CN" sz="1400"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的初始值太小，导致机器人被损坏产生的</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−1</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奖励不足以推动智能体来改变策略。</a:t>
                </a:r>
                <a:r>
                  <a:rPr lang="zh-CN" altLang="zh-CN" sz="1400" dirty="0">
                    <a:solidFill>
                      <a:srgbClr val="FF0000"/>
                    </a:solidFill>
                    <a:latin typeface="Times New Roman" panose="02020603050405020304" pitchFamily="18" charset="0"/>
                    <a:ea typeface="楷体_GB2312"/>
                    <a:cs typeface="Times New Roman" panose="02020603050405020304" pitchFamily="18" charset="0"/>
                  </a:rPr>
                  <a:t>既然外部刺激不足以使机器人尝试新的策略，那么不妨从内部入手为智能体改变固有策略来添加一个探索的动力。</a:t>
                </a:r>
              </a:p>
            </p:txBody>
          </p:sp>
        </mc:Choice>
        <mc:Fallback xmlns="">
          <p:sp>
            <p:nvSpPr>
              <p:cNvPr id="7" name="矩形 6">
                <a:extLst>
                  <a:ext uri="{FF2B5EF4-FFF2-40B4-BE49-F238E27FC236}">
                    <a16:creationId xmlns:a16="http://schemas.microsoft.com/office/drawing/2014/main" id="{793DA1FE-1575-4100-B56A-FA09754B4424}"/>
                  </a:ext>
                </a:extLst>
              </p:cNvPr>
              <p:cNvSpPr>
                <a:spLocks noRot="1" noChangeAspect="1" noMove="1" noResize="1" noEditPoints="1" noAdjustHandles="1" noChangeArrowheads="1" noChangeShapeType="1" noTextEdit="1"/>
              </p:cNvSpPr>
              <p:nvPr/>
            </p:nvSpPr>
            <p:spPr>
              <a:xfrm>
                <a:off x="335263" y="1970312"/>
                <a:ext cx="5535654" cy="3906326"/>
              </a:xfrm>
              <a:prstGeom prst="rect">
                <a:avLst/>
              </a:prstGeom>
              <a:blipFill>
                <a:blip r:embed="rId4"/>
                <a:stretch>
                  <a:fillRect l="-330" r="-330" b="-78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363650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探索与利用</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p:sp>
        <p:nvSpPr>
          <p:cNvPr id="9" name="矩形 8">
            <a:extLst>
              <a:ext uri="{FF2B5EF4-FFF2-40B4-BE49-F238E27FC236}">
                <a16:creationId xmlns:a16="http://schemas.microsoft.com/office/drawing/2014/main" id="{6862E26F-D571-49A7-82A3-14A8058C3E5E}"/>
              </a:ext>
            </a:extLst>
          </p:cNvPr>
          <p:cNvSpPr/>
          <p:nvPr/>
        </p:nvSpPr>
        <p:spPr>
          <a:xfrm>
            <a:off x="2168635" y="3246127"/>
            <a:ext cx="4922044" cy="830997"/>
          </a:xfrm>
          <a:prstGeom prst="rect">
            <a:avLst/>
          </a:prstGeom>
        </p:spPr>
        <p:txBody>
          <a:bodyPr wrap="square">
            <a:spAutoFit/>
          </a:bodyPr>
          <a:lstStyle/>
          <a:p>
            <a:br>
              <a:rPr lang="en-US" altLang="zh-CN" sz="2400" dirty="0">
                <a:latin typeface="Times New Roman" panose="02020603050405020304" pitchFamily="18" charset="0"/>
                <a:ea typeface="黑体" panose="02010609060101010101" pitchFamily="49" charset="-122"/>
                <a:cs typeface="Times New Roman" panose="02020603050405020304" pitchFamily="18" charset="0"/>
              </a:rPr>
            </a:br>
            <a:endParaRPr lang="en-US" altLang="zh-CN"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7BFB403D-453C-4EDB-B0A7-B033DA383810}"/>
                  </a:ext>
                </a:extLst>
              </p:cNvPr>
              <p:cNvSpPr txBox="1"/>
              <p:nvPr/>
            </p:nvSpPr>
            <p:spPr>
              <a:xfrm>
                <a:off x="4763443" y="1224882"/>
                <a:ext cx="4654472" cy="1061829"/>
              </a:xfrm>
              <a:prstGeom prst="rect">
                <a:avLst/>
              </a:prstGeom>
              <a:solidFill>
                <a:srgbClr val="FFFF00"/>
              </a:solidFill>
            </p:spPr>
            <p:txBody>
              <a:bodyPr wrap="square" rtlCol="0">
                <a:spAutoFit/>
              </a:bodyPr>
              <a:lstStyle>
                <a:defPPr>
                  <a:defRPr lang="zh-CN"/>
                </a:defPPr>
                <a:lvl1pPr>
                  <a:defRPr sz="2400" b="1">
                    <a:ea typeface="黑体" pitchFamily="49" charset="-122"/>
                  </a:defRPr>
                </a:lvl1pPr>
              </a:lstStyle>
              <a:p>
                <a14:m>
                  <m:oMath xmlns:m="http://schemas.openxmlformats.org/officeDocument/2006/math">
                    <m:r>
                      <a:rPr lang="en-US" altLang="zh-CN" sz="1600" b="0" i="1" smtClean="0">
                        <a:latin typeface="Cambria Math" panose="02040503050406030204" pitchFamily="18" charset="0"/>
                      </a:rPr>
                      <m:t>𝜖</m:t>
                    </m:r>
                  </m:oMath>
                </a14:m>
                <a:r>
                  <a:rPr lang="zh-CN" altLang="en-US" sz="1600" b="0" dirty="0">
                    <a:latin typeface="Times New Roman" panose="02020603050405020304" pitchFamily="18" charset="0"/>
                    <a:cs typeface="Times New Roman" panose="02020603050405020304" pitchFamily="18" charset="0"/>
                  </a:rPr>
                  <a:t>贪心（</a:t>
                </a:r>
                <a14:m>
                  <m:oMath xmlns:m="http://schemas.openxmlformats.org/officeDocument/2006/math">
                    <m:r>
                      <a:rPr lang="en-US" altLang="zh-CN" sz="1600" b="0" i="1" smtClean="0">
                        <a:latin typeface="Cambria Math" panose="02040503050406030204" pitchFamily="18" charset="0"/>
                      </a:rPr>
                      <m:t>𝜖</m:t>
                    </m:r>
                  </m:oMath>
                </a14:m>
                <a:r>
                  <a:rPr lang="en-US" altLang="zh-CN" sz="1600" b="0" dirty="0">
                    <a:latin typeface="Times New Roman" panose="02020603050405020304" pitchFamily="18" charset="0"/>
                    <a:cs typeface="Times New Roman" panose="02020603050405020304" pitchFamily="18" charset="0"/>
                  </a:rPr>
                  <a:t>-greedy</a:t>
                </a:r>
                <a:r>
                  <a:rPr lang="zh-CN" altLang="en-US" sz="1600" b="0" dirty="0">
                    <a:latin typeface="Times New Roman" panose="02020603050405020304" pitchFamily="18" charset="0"/>
                    <a:cs typeface="Times New Roman" panose="02020603050405020304" pitchFamily="18" charset="0"/>
                  </a:rPr>
                  <a:t>）策略</a:t>
                </a:r>
                <a:endParaRPr lang="en-US" altLang="zh-CN" sz="1600" b="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sz="1600" b="0" i="1">
                          <a:latin typeface="Cambria Math" panose="02040503050406030204" pitchFamily="18" charset="0"/>
                        </a:rPr>
                        <m:t>𝜖</m:t>
                      </m:r>
                      <m:r>
                        <m:rPr>
                          <m:nor/>
                        </m:rPr>
                        <a:rPr lang="en-US" altLang="zh-CN" sz="1600" b="0" dirty="0">
                          <a:latin typeface="Times New Roman" panose="02020603050405020304" pitchFamily="18" charset="0"/>
                          <a:cs typeface="Times New Roman" panose="02020603050405020304" pitchFamily="18" charset="0"/>
                        </a:rPr>
                        <m:t>−</m:t>
                      </m:r>
                      <m:r>
                        <a:rPr lang="en-US" altLang="zh-CN" sz="1600" b="0" i="1">
                          <a:latin typeface="Cambria Math" panose="02040503050406030204" pitchFamily="18" charset="0"/>
                        </a:rPr>
                        <m:t>𝑔𝑟𝑒𝑒𝑑</m:t>
                      </m:r>
                      <m:sSub>
                        <m:sSubPr>
                          <m:ctrlPr>
                            <a:rPr lang="en-US" altLang="zh-CN" sz="1600" b="0" i="1">
                              <a:latin typeface="Cambria Math" panose="02040503050406030204" pitchFamily="18" charset="0"/>
                            </a:rPr>
                          </m:ctrlPr>
                        </m:sSubPr>
                        <m:e>
                          <m:r>
                            <a:rPr lang="en-US" altLang="zh-CN" sz="1600" b="0" i="1">
                              <a:latin typeface="Cambria Math" panose="02040503050406030204" pitchFamily="18" charset="0"/>
                            </a:rPr>
                            <m:t>𝑦</m:t>
                          </m:r>
                        </m:e>
                        <m:sub>
                          <m:r>
                            <a:rPr lang="en-US" altLang="zh-CN" sz="1600" b="0" i="1">
                              <a:latin typeface="Cambria Math" panose="02040503050406030204" pitchFamily="18" charset="0"/>
                            </a:rPr>
                            <m:t>𝜋</m:t>
                          </m:r>
                        </m:sub>
                      </m:sSub>
                      <m:d>
                        <m:dPr>
                          <m:ctrlPr>
                            <a:rPr lang="en-US" altLang="zh-CN" sz="1600" b="0" i="1">
                              <a:latin typeface="Cambria Math" panose="02040503050406030204" pitchFamily="18" charset="0"/>
                            </a:rPr>
                          </m:ctrlPr>
                        </m:dPr>
                        <m:e>
                          <m:r>
                            <a:rPr lang="en-US" altLang="zh-CN" sz="1600" b="0" i="1">
                              <a:latin typeface="Cambria Math" panose="02040503050406030204" pitchFamily="18" charset="0"/>
                            </a:rPr>
                            <m:t>𝑠</m:t>
                          </m:r>
                        </m:e>
                      </m:d>
                      <m:r>
                        <a:rPr lang="en-US" altLang="zh-CN" sz="1600" b="0" i="1">
                          <a:latin typeface="Cambria Math" panose="02040503050406030204" pitchFamily="18" charset="0"/>
                        </a:rPr>
                        <m:t>=</m:t>
                      </m:r>
                      <m:d>
                        <m:dPr>
                          <m:begChr m:val="{"/>
                          <m:endChr m:val=""/>
                          <m:ctrlPr>
                            <a:rPr lang="en-US" altLang="zh-CN" sz="1600" b="0" i="1">
                              <a:latin typeface="Cambria Math" panose="02040503050406030204" pitchFamily="18" charset="0"/>
                            </a:rPr>
                          </m:ctrlPr>
                        </m:dPr>
                        <m:e>
                          <m:eqArr>
                            <m:eqArrPr>
                              <m:ctrlPr>
                                <a:rPr lang="en-US" altLang="zh-CN" sz="1600" b="0" i="1">
                                  <a:latin typeface="Cambria Math" panose="02040503050406030204" pitchFamily="18" charset="0"/>
                                </a:rPr>
                              </m:ctrlPr>
                            </m:eqArrPr>
                            <m:e>
                              <m:sSub>
                                <m:sSubPr>
                                  <m:ctrlPr>
                                    <a:rPr lang="en-US" altLang="zh-CN" sz="1600" b="0" i="1">
                                      <a:latin typeface="Cambria Math" panose="02040503050406030204" pitchFamily="18" charset="0"/>
                                    </a:rPr>
                                  </m:ctrlPr>
                                </m:sSubPr>
                                <m:e>
                                  <m:r>
                                    <m:rPr>
                                      <m:sty m:val="p"/>
                                    </m:rPr>
                                    <a:rPr lang="en-US" altLang="zh-CN" sz="1600" b="0">
                                      <a:latin typeface="Cambria Math" panose="02040503050406030204" pitchFamily="18" charset="0"/>
                                    </a:rPr>
                                    <m:t>argmax</m:t>
                                  </m:r>
                                </m:e>
                                <m:sub>
                                  <m:r>
                                    <a:rPr lang="en-US" altLang="zh-CN" sz="1600" b="0" i="1">
                                      <a:latin typeface="Cambria Math" panose="02040503050406030204" pitchFamily="18" charset="0"/>
                                    </a:rPr>
                                    <m:t>𝑎</m:t>
                                  </m:r>
                                </m:sub>
                              </m:sSub>
                              <m:sSub>
                                <m:sSubPr>
                                  <m:ctrlPr>
                                    <a:rPr lang="en-US" altLang="zh-CN" sz="1600" b="0" i="1">
                                      <a:latin typeface="Cambria Math" panose="02040503050406030204" pitchFamily="18" charset="0"/>
                                    </a:rPr>
                                  </m:ctrlPr>
                                </m:sSubPr>
                                <m:e>
                                  <m:r>
                                    <a:rPr lang="en-US" altLang="zh-CN" sz="1600" b="0" i="1">
                                      <a:latin typeface="Cambria Math" panose="02040503050406030204" pitchFamily="18" charset="0"/>
                                    </a:rPr>
                                    <m:t>𝑞</m:t>
                                  </m:r>
                                </m:e>
                                <m:sub>
                                  <m:r>
                                    <a:rPr lang="en-US" altLang="zh-CN" sz="1600" b="0" i="1">
                                      <a:latin typeface="Cambria Math" panose="02040503050406030204" pitchFamily="18" charset="0"/>
                                    </a:rPr>
                                    <m:t>𝜋</m:t>
                                  </m:r>
                                </m:sub>
                              </m:sSub>
                              <m:r>
                                <a:rPr lang="en-US" altLang="zh-CN" sz="1600" b="0" i="1">
                                  <a:latin typeface="Cambria Math" panose="02040503050406030204" pitchFamily="18" charset="0"/>
                                </a:rPr>
                                <m:t>(</m:t>
                              </m:r>
                              <m:r>
                                <a:rPr lang="en-US" altLang="zh-CN" sz="1600" b="0" i="1">
                                  <a:latin typeface="Cambria Math" panose="02040503050406030204" pitchFamily="18" charset="0"/>
                                </a:rPr>
                                <m:t>𝑠</m:t>
                              </m:r>
                              <m:r>
                                <a:rPr lang="en-US" altLang="zh-CN" sz="1600" b="0" i="1">
                                  <a:latin typeface="Cambria Math" panose="02040503050406030204" pitchFamily="18" charset="0"/>
                                </a:rPr>
                                <m:t>,</m:t>
                              </m:r>
                              <m:r>
                                <a:rPr lang="en-US" altLang="zh-CN" sz="1600" b="0" i="1">
                                  <a:latin typeface="Cambria Math" panose="02040503050406030204" pitchFamily="18" charset="0"/>
                                </a:rPr>
                                <m:t>𝑎</m:t>
                              </m:r>
                              <m:r>
                                <a:rPr lang="en-US" altLang="zh-CN" sz="1600" b="0" i="1">
                                  <a:latin typeface="Cambria Math" panose="02040503050406030204" pitchFamily="18" charset="0"/>
                                </a:rPr>
                                <m:t>)</m:t>
                              </m:r>
                            </m:e>
                            <m:e>
                              <m:r>
                                <a:rPr lang="zh-CN" altLang="en-US" sz="1600" b="0" i="1">
                                  <a:latin typeface="Cambria Math" panose="02040503050406030204" pitchFamily="18" charset="0"/>
                                </a:rPr>
                                <m:t>随机的</m:t>
                              </m:r>
                              <m:r>
                                <a:rPr lang="en-US" altLang="zh-CN" sz="1600" b="0" i="1">
                                  <a:latin typeface="Cambria Math" panose="02040503050406030204" pitchFamily="18" charset="0"/>
                                </a:rPr>
                                <m:t>𝑎</m:t>
                              </m:r>
                              <m:r>
                                <a:rPr lang="en-US" altLang="zh-CN" sz="1600" b="0" i="1">
                                  <a:latin typeface="Cambria Math" panose="02040503050406030204" pitchFamily="18" charset="0"/>
                                </a:rPr>
                                <m:t>∈</m:t>
                              </m:r>
                              <m:r>
                                <a:rPr lang="en-US" altLang="zh-CN" sz="1600" b="0" i="1">
                                  <a:latin typeface="Cambria Math" panose="02040503050406030204" pitchFamily="18" charset="0"/>
                                </a:rPr>
                                <m:t>𝐴</m:t>
                              </m:r>
                            </m:e>
                          </m:eqArr>
                          <m:m>
                            <m:mPr>
                              <m:mcs>
                                <m:mc>
                                  <m:mcPr>
                                    <m:count m:val="1"/>
                                    <m:mcJc m:val="center"/>
                                  </m:mcPr>
                                </m:mc>
                              </m:mcs>
                              <m:ctrlPr>
                                <a:rPr lang="en-US" altLang="zh-CN" sz="1600" b="0" i="1">
                                  <a:latin typeface="Cambria Math" panose="02040503050406030204" pitchFamily="18" charset="0"/>
                                </a:rPr>
                              </m:ctrlPr>
                            </m:mPr>
                            <m:mr>
                              <m:e>
                                <m:r>
                                  <m:rPr>
                                    <m:brk m:alnAt="7"/>
                                  </m:rPr>
                                  <a:rPr lang="en-US" altLang="zh-CN" sz="1600" b="0" i="1">
                                    <a:latin typeface="Cambria Math" panose="02040503050406030204" pitchFamily="18" charset="0"/>
                                  </a:rPr>
                                  <m:t>,</m:t>
                                </m:r>
                                <m:r>
                                  <a:rPr lang="en-US" altLang="zh-CN" sz="1600" b="0" i="1">
                                    <a:latin typeface="Cambria Math" panose="02040503050406030204" pitchFamily="18" charset="0"/>
                                  </a:rPr>
                                  <m:t>  </m:t>
                                </m:r>
                                <m:r>
                                  <m:rPr>
                                    <m:brk m:alnAt="7"/>
                                  </m:rPr>
                                  <a:rPr lang="zh-CN" altLang="en-US" sz="1600" b="0" i="1">
                                    <a:latin typeface="Cambria Math" panose="02040503050406030204" pitchFamily="18" charset="0"/>
                                  </a:rPr>
                                  <m:t>以</m:t>
                                </m:r>
                                <m:r>
                                  <m:rPr>
                                    <m:brk m:alnAt="7"/>
                                  </m:rPr>
                                  <a:rPr lang="en-US" altLang="zh-CN" sz="1600" b="0" i="1">
                                    <a:latin typeface="Cambria Math" panose="02040503050406030204" pitchFamily="18" charset="0"/>
                                  </a:rPr>
                                  <m:t>1</m:t>
                                </m:r>
                                <m:r>
                                  <a:rPr lang="en-US" altLang="zh-CN" sz="1600" b="0" i="1">
                                    <a:latin typeface="Cambria Math" panose="02040503050406030204" pitchFamily="18" charset="0"/>
                                  </a:rPr>
                                  <m:t>−</m:t>
                                </m:r>
                                <m:r>
                                  <a:rPr lang="en-US" altLang="zh-CN" sz="1600" b="0" i="1">
                                    <a:latin typeface="Cambria Math" panose="02040503050406030204" pitchFamily="18" charset="0"/>
                                  </a:rPr>
                                  <m:t>𝜖</m:t>
                                </m:r>
                                <m:r>
                                  <a:rPr lang="zh-CN" altLang="en-US" sz="1600" b="0" i="1">
                                    <a:latin typeface="Cambria Math" panose="02040503050406030204" pitchFamily="18" charset="0"/>
                                  </a:rPr>
                                  <m:t>的概率</m:t>
                                </m:r>
                              </m:e>
                            </m:mr>
                            <m:mr>
                              <m:e>
                                <m:r>
                                  <a:rPr lang="en-US" altLang="zh-CN" sz="1600" b="0" i="1">
                                    <a:latin typeface="Cambria Math" panose="02040503050406030204" pitchFamily="18" charset="0"/>
                                  </a:rPr>
                                  <m:t>,  </m:t>
                                </m:r>
                                <m:r>
                                  <a:rPr lang="zh-CN" altLang="en-US" sz="1600" b="0" i="1">
                                    <a:latin typeface="Cambria Math" panose="02040503050406030204" pitchFamily="18" charset="0"/>
                                  </a:rPr>
                                  <m:t>以</m:t>
                                </m:r>
                                <m:r>
                                  <a:rPr lang="en-US" altLang="zh-CN" sz="1600" b="0" i="1">
                                    <a:latin typeface="Cambria Math" panose="02040503050406030204" pitchFamily="18" charset="0"/>
                                  </a:rPr>
                                  <m:t>𝜖</m:t>
                                </m:r>
                                <m:r>
                                  <a:rPr lang="zh-CN" altLang="en-US" sz="1600" b="0" i="1">
                                    <a:latin typeface="Cambria Math" panose="02040503050406030204" pitchFamily="18" charset="0"/>
                                  </a:rPr>
                                  <m:t>的概率</m:t>
                                </m:r>
                                <m:r>
                                  <a:rPr lang="en-US" altLang="zh-CN" sz="1600" b="0" i="1">
                                    <a:latin typeface="Cambria Math" panose="02040503050406030204" pitchFamily="18" charset="0"/>
                                  </a:rPr>
                                  <m:t>        </m:t>
                                </m:r>
                              </m:e>
                            </m:mr>
                          </m:m>
                        </m:e>
                      </m:d>
                    </m:oMath>
                  </m:oMathPara>
                </a14:m>
                <a:endParaRPr lang="en-US" altLang="zh-CN" sz="1600" b="0" dirty="0">
                  <a:latin typeface="Times New Roman" panose="02020603050405020304" pitchFamily="18" charset="0"/>
                  <a:cs typeface="Times New Roman" panose="02020603050405020304" pitchFamily="18" charset="0"/>
                </a:endParaRPr>
              </a:p>
            </p:txBody>
          </p:sp>
        </mc:Choice>
        <mc:Fallback xmlns="">
          <p:sp>
            <p:nvSpPr>
              <p:cNvPr id="10" name="文本框 9">
                <a:extLst>
                  <a:ext uri="{FF2B5EF4-FFF2-40B4-BE49-F238E27FC236}">
                    <a16:creationId xmlns:a16="http://schemas.microsoft.com/office/drawing/2014/main" id="{7BFB403D-453C-4EDB-B0A7-B033DA383810}"/>
                  </a:ext>
                </a:extLst>
              </p:cNvPr>
              <p:cNvSpPr txBox="1">
                <a:spLocks noRot="1" noChangeAspect="1" noMove="1" noResize="1" noEditPoints="1" noAdjustHandles="1" noChangeArrowheads="1" noChangeShapeType="1" noTextEdit="1"/>
              </p:cNvSpPr>
              <p:nvPr/>
            </p:nvSpPr>
            <p:spPr>
              <a:xfrm>
                <a:off x="4763443" y="1224882"/>
                <a:ext cx="4654472" cy="1061829"/>
              </a:xfrm>
              <a:prstGeom prst="rect">
                <a:avLst/>
              </a:prstGeom>
              <a:blipFill>
                <a:blip r:embed="rId3"/>
                <a:stretch>
                  <a:fillRect t="-2299" b="-17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2">
                <a:extLst>
                  <a:ext uri="{FF2B5EF4-FFF2-40B4-BE49-F238E27FC236}">
                    <a16:creationId xmlns:a16="http://schemas.microsoft.com/office/drawing/2014/main" id="{C9709322-CBFE-41F8-8440-DC71B46AFA38}"/>
                  </a:ext>
                </a:extLst>
              </p:cNvPr>
              <p:cNvSpPr txBox="1"/>
              <p:nvPr/>
            </p:nvSpPr>
            <p:spPr>
              <a:xfrm>
                <a:off x="1872908" y="2374519"/>
                <a:ext cx="7196923" cy="3201454"/>
              </a:xfrm>
              <a:prstGeom prst="rect">
                <a:avLst/>
              </a:prstGeom>
              <a:noFill/>
              <a:ln>
                <a:solidFill>
                  <a:schemeClr val="tx1"/>
                </a:solidFill>
              </a:ln>
            </p:spPr>
            <p:txBody>
              <a:bodyPr wrap="square" rtlCol="0">
                <a:spAutoFit/>
              </a:bodyPr>
              <a:lstStyle/>
              <a:p>
                <a:r>
                  <a:rPr lang="zh-CN" altLang="en-US" sz="16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初始化</a:t>
                </a:r>
                <a14:m>
                  <m:oMath xmlns:m="http://schemas.openxmlformats.org/officeDocument/2006/math">
                    <m:sSub>
                      <m:sSubPr>
                        <m:ctrlPr>
                          <a:rPr lang="en-US" altLang="zh-CN" sz="1600" b="1" i="1">
                            <a:solidFill>
                              <a:schemeClr val="tx1"/>
                            </a:solidFill>
                            <a:latin typeface="Cambria Math" panose="02040503050406030204" pitchFamily="18" charset="0"/>
                            <a:ea typeface="黑体" pitchFamily="49" charset="-122"/>
                          </a:rPr>
                        </m:ctrlPr>
                      </m:sSubPr>
                      <m:e>
                        <m:r>
                          <a:rPr lang="en-US" altLang="zh-CN" sz="1600" b="1" i="1">
                            <a:solidFill>
                              <a:schemeClr val="tx1"/>
                            </a:solidFill>
                            <a:latin typeface="Cambria Math" panose="02040503050406030204" pitchFamily="18" charset="0"/>
                            <a:ea typeface="黑体" pitchFamily="49" charset="-122"/>
                          </a:rPr>
                          <m:t>𝒒</m:t>
                        </m:r>
                      </m:e>
                      <m:sub>
                        <m:r>
                          <a:rPr lang="en-US" altLang="zh-CN" sz="1600" b="1" i="1">
                            <a:solidFill>
                              <a:schemeClr val="tx1"/>
                            </a:solidFill>
                            <a:latin typeface="Cambria Math" panose="02040503050406030204" pitchFamily="18" charset="0"/>
                            <a:ea typeface="黑体" pitchFamily="49" charset="-122"/>
                          </a:rPr>
                          <m:t>𝝅</m:t>
                        </m:r>
                      </m:sub>
                    </m:sSub>
                  </m:oMath>
                </a14:m>
                <a:r>
                  <a:rPr lang="zh-CN" altLang="en-US" sz="16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函数</a:t>
                </a:r>
                <a:endParaRPr lang="en-US" altLang="zh-CN" sz="16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16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循环</a:t>
                </a:r>
                <a:endParaRPr lang="en-US" altLang="zh-CN" sz="16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16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16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初始化</a:t>
                </a:r>
                <a:r>
                  <a:rPr lang="en-US" altLang="zh-CN" sz="16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s</a:t>
                </a:r>
              </a:p>
              <a:p>
                <a:r>
                  <a:rPr lang="en-US" altLang="zh-CN" sz="1600"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循环</a:t>
                </a:r>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p>
              <a:p>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14:m>
                  <m:oMath xmlns:m="http://schemas.openxmlformats.org/officeDocument/2006/math">
                    <m:r>
                      <a:rPr lang="en-US" altLang="zh-CN" b="1" i="1" dirty="0" smtClean="0">
                        <a:solidFill>
                          <a:srgbClr val="FF0000"/>
                        </a:solidFill>
                        <a:latin typeface="Cambria Math" panose="02040503050406030204" pitchFamily="18" charset="0"/>
                        <a:ea typeface="黑体" pitchFamily="49" charset="-122"/>
                      </a:rPr>
                      <m:t>𝒂</m:t>
                    </m:r>
                    <m:r>
                      <a:rPr lang="en-US" altLang="zh-CN" b="1" i="1" dirty="0" smtClean="0">
                        <a:solidFill>
                          <a:srgbClr val="FF0000"/>
                        </a:solidFill>
                        <a:latin typeface="Cambria Math" panose="02040503050406030204" pitchFamily="18" charset="0"/>
                        <a:ea typeface="黑体" pitchFamily="49" charset="-122"/>
                      </a:rPr>
                      <m:t>=</m:t>
                    </m:r>
                    <m:sSub>
                      <m:sSubPr>
                        <m:ctrlPr>
                          <a:rPr lang="en-US" altLang="zh-CN" b="1" i="1" dirty="0" smtClean="0">
                            <a:solidFill>
                              <a:srgbClr val="FF0000"/>
                            </a:solidFill>
                            <a:latin typeface="Cambria Math" panose="02040503050406030204" pitchFamily="18" charset="0"/>
                            <a:ea typeface="黑体" pitchFamily="49" charset="-122"/>
                          </a:rPr>
                        </m:ctrlPr>
                      </m:sSubPr>
                      <m:e>
                        <m:r>
                          <a:rPr lang="en-US" altLang="zh-CN" b="1" i="0" dirty="0" smtClean="0">
                            <a:solidFill>
                              <a:srgbClr val="FF0000"/>
                            </a:solidFill>
                            <a:latin typeface="Cambria Math" panose="02040503050406030204" pitchFamily="18" charset="0"/>
                            <a:ea typeface="黑体" pitchFamily="49" charset="-122"/>
                          </a:rPr>
                          <m:t>𝐚𝐫𝐠𝐦𝐚𝐱</m:t>
                        </m:r>
                      </m:e>
                      <m:sub>
                        <m:sSup>
                          <m:sSupPr>
                            <m:ctrlPr>
                              <a:rPr lang="en-US" altLang="zh-CN" b="1" i="1" dirty="0" smtClean="0">
                                <a:solidFill>
                                  <a:srgbClr val="FF0000"/>
                                </a:solidFill>
                                <a:latin typeface="Cambria Math" panose="02040503050406030204" pitchFamily="18" charset="0"/>
                                <a:ea typeface="黑体" pitchFamily="49" charset="-122"/>
                              </a:rPr>
                            </m:ctrlPr>
                          </m:sSupPr>
                          <m:e>
                            <m:r>
                              <a:rPr lang="en-US" altLang="zh-CN" b="1" i="1" dirty="0" smtClean="0">
                                <a:solidFill>
                                  <a:srgbClr val="FF0000"/>
                                </a:solidFill>
                                <a:latin typeface="Cambria Math" panose="02040503050406030204" pitchFamily="18" charset="0"/>
                                <a:ea typeface="黑体" pitchFamily="49" charset="-122"/>
                              </a:rPr>
                              <m:t>𝒂</m:t>
                            </m:r>
                          </m:e>
                          <m:sup>
                            <m:r>
                              <a:rPr lang="en-US" altLang="zh-CN" b="1" i="1" dirty="0" smtClean="0">
                                <a:solidFill>
                                  <a:srgbClr val="FF0000"/>
                                </a:solidFill>
                                <a:latin typeface="Cambria Math" panose="02040503050406030204" pitchFamily="18" charset="0"/>
                                <a:ea typeface="黑体" pitchFamily="49" charset="-122"/>
                              </a:rPr>
                              <m:t>′</m:t>
                            </m:r>
                          </m:sup>
                        </m:sSup>
                      </m:sub>
                    </m:sSub>
                    <m:sSub>
                      <m:sSubPr>
                        <m:ctrlPr>
                          <a:rPr lang="en-US" altLang="zh-CN" b="1" i="1" dirty="0" smtClean="0">
                            <a:solidFill>
                              <a:srgbClr val="FF0000"/>
                            </a:solidFill>
                            <a:latin typeface="Cambria Math" panose="02040503050406030204" pitchFamily="18" charset="0"/>
                            <a:ea typeface="黑体" pitchFamily="49" charset="-122"/>
                          </a:rPr>
                        </m:ctrlPr>
                      </m:sSubPr>
                      <m:e>
                        <m:r>
                          <a:rPr lang="en-US" altLang="zh-CN" b="1" i="1" dirty="0" smtClean="0">
                            <a:solidFill>
                              <a:srgbClr val="FF0000"/>
                            </a:solidFill>
                            <a:latin typeface="Cambria Math" panose="02040503050406030204" pitchFamily="18" charset="0"/>
                            <a:ea typeface="黑体" pitchFamily="49" charset="-122"/>
                          </a:rPr>
                          <m:t>𝒒</m:t>
                        </m:r>
                      </m:e>
                      <m:sub>
                        <m:r>
                          <a:rPr lang="en-US" altLang="zh-CN" b="1" i="1" dirty="0" smtClean="0">
                            <a:solidFill>
                              <a:srgbClr val="FF0000"/>
                            </a:solidFill>
                            <a:latin typeface="Cambria Math" panose="02040503050406030204" pitchFamily="18" charset="0"/>
                            <a:ea typeface="黑体" pitchFamily="49" charset="-122"/>
                          </a:rPr>
                          <m:t>𝝅</m:t>
                        </m:r>
                      </m:sub>
                    </m:sSub>
                    <m:r>
                      <a:rPr lang="en-US" altLang="zh-CN" b="1" i="1" dirty="0" smtClean="0">
                        <a:solidFill>
                          <a:srgbClr val="FF0000"/>
                        </a:solidFill>
                        <a:latin typeface="Cambria Math" panose="02040503050406030204" pitchFamily="18" charset="0"/>
                        <a:ea typeface="黑体" pitchFamily="49" charset="-122"/>
                      </a:rPr>
                      <m:t>(</m:t>
                    </m:r>
                    <m:r>
                      <a:rPr lang="en-US" altLang="zh-CN" b="1" i="1" dirty="0" smtClean="0">
                        <a:solidFill>
                          <a:srgbClr val="FF0000"/>
                        </a:solidFill>
                        <a:latin typeface="Cambria Math" panose="02040503050406030204" pitchFamily="18" charset="0"/>
                        <a:ea typeface="黑体" pitchFamily="49" charset="-122"/>
                      </a:rPr>
                      <m:t>𝒔</m:t>
                    </m:r>
                    <m:r>
                      <a:rPr lang="en-US" altLang="zh-CN" b="1" i="1" dirty="0" smtClean="0">
                        <a:solidFill>
                          <a:srgbClr val="FF0000"/>
                        </a:solidFill>
                        <a:latin typeface="Cambria Math" panose="02040503050406030204" pitchFamily="18" charset="0"/>
                        <a:ea typeface="黑体" pitchFamily="49" charset="-122"/>
                      </a:rPr>
                      <m:t>,</m:t>
                    </m:r>
                    <m:r>
                      <a:rPr lang="en-US" altLang="zh-CN" b="1" i="1" dirty="0" smtClean="0">
                        <a:solidFill>
                          <a:srgbClr val="FF0000"/>
                        </a:solidFill>
                        <a:latin typeface="Cambria Math" panose="02040503050406030204" pitchFamily="18" charset="0"/>
                        <a:ea typeface="黑体" pitchFamily="49" charset="-122"/>
                      </a:rPr>
                      <m:t>𝒂</m:t>
                    </m:r>
                    <m:r>
                      <a:rPr lang="en-US" altLang="zh-CN" b="1" i="1" dirty="0" smtClean="0">
                        <a:solidFill>
                          <a:srgbClr val="FF0000"/>
                        </a:solidFill>
                        <a:latin typeface="Cambria Math" panose="02040503050406030204" pitchFamily="18" charset="0"/>
                        <a:ea typeface="黑体" pitchFamily="49" charset="-122"/>
                      </a:rPr>
                      <m:t>′)</m:t>
                    </m:r>
                  </m:oMath>
                </a14:m>
                <a:endParaRPr lang="en-US" altLang="zh-CN"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p>
              <a:p>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执行动作</a:t>
                </a:r>
                <a14:m>
                  <m:oMath xmlns:m="http://schemas.openxmlformats.org/officeDocument/2006/math">
                    <m:r>
                      <a:rPr lang="en-US" altLang="zh-CN" sz="1600" b="1" i="1" smtClean="0">
                        <a:solidFill>
                          <a:srgbClr val="FF0000"/>
                        </a:solidFill>
                        <a:latin typeface="Cambria Math" panose="02040503050406030204" pitchFamily="18" charset="0"/>
                        <a:ea typeface="黑体" pitchFamily="49" charset="-122"/>
                      </a:rPr>
                      <m:t>𝒂</m:t>
                    </m:r>
                  </m:oMath>
                </a14:m>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，观察奖励</a:t>
                </a:r>
                <a14:m>
                  <m:oMath xmlns:m="http://schemas.openxmlformats.org/officeDocument/2006/math">
                    <m:r>
                      <a:rPr lang="en-US" altLang="zh-CN" sz="1600" b="1" i="1" smtClean="0">
                        <a:solidFill>
                          <a:srgbClr val="FF0000"/>
                        </a:solidFill>
                        <a:latin typeface="Cambria Math" panose="02040503050406030204" pitchFamily="18" charset="0"/>
                        <a:ea typeface="黑体" pitchFamily="49" charset="-122"/>
                      </a:rPr>
                      <m:t>𝑹</m:t>
                    </m:r>
                  </m:oMath>
                </a14:m>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和下一个状态</a:t>
                </a:r>
                <a14:m>
                  <m:oMath xmlns:m="http://schemas.openxmlformats.org/officeDocument/2006/math">
                    <m:r>
                      <a:rPr lang="en-US" altLang="zh-CN" sz="1600" b="1" i="1" smtClean="0">
                        <a:solidFill>
                          <a:srgbClr val="FF0000"/>
                        </a:solidFill>
                        <a:latin typeface="Cambria Math" panose="02040503050406030204" pitchFamily="18" charset="0"/>
                        <a:ea typeface="黑体" pitchFamily="49" charset="-122"/>
                      </a:rPr>
                      <m:t>𝒔</m:t>
                    </m:r>
                    <m:r>
                      <a:rPr lang="en-US" altLang="zh-CN" sz="1600" b="1" i="1" smtClean="0">
                        <a:solidFill>
                          <a:srgbClr val="FF0000"/>
                        </a:solidFill>
                        <a:latin typeface="Cambria Math" panose="02040503050406030204" pitchFamily="18" charset="0"/>
                        <a:ea typeface="黑体" pitchFamily="49" charset="-122"/>
                      </a:rPr>
                      <m:t>′</m:t>
                    </m:r>
                  </m:oMath>
                </a14:m>
                <a:endPar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更新</a:t>
                </a:r>
                <a14:m>
                  <m:oMath xmlns:m="http://schemas.openxmlformats.org/officeDocument/2006/math">
                    <m:sSub>
                      <m:sSubPr>
                        <m:ctrlPr>
                          <a:rPr lang="en-US" altLang="zh-CN" sz="1600" b="1" i="1" smtClean="0">
                            <a:solidFill>
                              <a:srgbClr val="FF0000"/>
                            </a:solidFill>
                            <a:latin typeface="Cambria Math" panose="02040503050406030204" pitchFamily="18" charset="0"/>
                            <a:ea typeface="黑体" pitchFamily="49" charset="-122"/>
                          </a:rPr>
                        </m:ctrlPr>
                      </m:sSubPr>
                      <m:e>
                        <m:r>
                          <a:rPr lang="en-US" altLang="zh-CN" sz="1600" b="1" i="1" smtClean="0">
                            <a:solidFill>
                              <a:srgbClr val="FF0000"/>
                            </a:solidFill>
                            <a:latin typeface="Cambria Math" panose="02040503050406030204" pitchFamily="18" charset="0"/>
                            <a:ea typeface="黑体" pitchFamily="49" charset="-122"/>
                          </a:rPr>
                          <m:t>𝒒</m:t>
                        </m:r>
                      </m:e>
                      <m:sub>
                        <m:r>
                          <a:rPr lang="en-US" altLang="zh-CN" sz="1600" b="1" i="1" smtClean="0">
                            <a:solidFill>
                              <a:srgbClr val="FF0000"/>
                            </a:solidFill>
                            <a:latin typeface="Cambria Math" panose="02040503050406030204" pitchFamily="18" charset="0"/>
                            <a:ea typeface="黑体" pitchFamily="49" charset="-122"/>
                          </a:rPr>
                          <m:t>𝝅</m:t>
                        </m:r>
                      </m:sub>
                    </m:sSub>
                    <m:d>
                      <m:dPr>
                        <m:ctrlPr>
                          <a:rPr lang="en-US" altLang="zh-CN" sz="1600" b="1" i="1" smtClean="0">
                            <a:solidFill>
                              <a:srgbClr val="FF0000"/>
                            </a:solidFill>
                            <a:latin typeface="Cambria Math" panose="02040503050406030204" pitchFamily="18" charset="0"/>
                            <a:ea typeface="黑体" pitchFamily="49" charset="-122"/>
                          </a:rPr>
                        </m:ctrlPr>
                      </m:dPr>
                      <m:e>
                        <m:r>
                          <a:rPr lang="en-US" altLang="zh-CN" sz="1600" b="1" i="1" smtClean="0">
                            <a:solidFill>
                              <a:srgbClr val="FF0000"/>
                            </a:solidFill>
                            <a:latin typeface="Cambria Math" panose="02040503050406030204" pitchFamily="18" charset="0"/>
                            <a:ea typeface="黑体" pitchFamily="49" charset="-122"/>
                          </a:rPr>
                          <m:t>𝒔</m:t>
                        </m:r>
                        <m:r>
                          <a:rPr lang="en-US" altLang="zh-CN" sz="1600" b="1" i="1" smtClean="0">
                            <a:solidFill>
                              <a:srgbClr val="FF0000"/>
                            </a:solidFill>
                            <a:latin typeface="Cambria Math" panose="02040503050406030204" pitchFamily="18" charset="0"/>
                            <a:ea typeface="黑体" pitchFamily="49" charset="-122"/>
                          </a:rPr>
                          <m:t>,</m:t>
                        </m:r>
                        <m:r>
                          <a:rPr lang="en-US" altLang="zh-CN" sz="1600" b="1" i="1" smtClean="0">
                            <a:solidFill>
                              <a:srgbClr val="FF0000"/>
                            </a:solidFill>
                            <a:latin typeface="Cambria Math" panose="02040503050406030204" pitchFamily="18" charset="0"/>
                            <a:ea typeface="黑体" pitchFamily="49" charset="-122"/>
                          </a:rPr>
                          <m:t>𝒂</m:t>
                        </m:r>
                      </m:e>
                    </m:d>
                    <m:r>
                      <a:rPr lang="en-US" altLang="zh-CN" sz="1600" b="1" i="1" smtClean="0">
                        <a:solidFill>
                          <a:srgbClr val="FF0000"/>
                        </a:solidFill>
                        <a:latin typeface="Cambria Math" panose="02040503050406030204" pitchFamily="18" charset="0"/>
                        <a:ea typeface="黑体" pitchFamily="49" charset="-122"/>
                      </a:rPr>
                      <m:t>←</m:t>
                    </m:r>
                    <m:sSub>
                      <m:sSubPr>
                        <m:ctrlPr>
                          <a:rPr lang="en-US" altLang="zh-CN" sz="1600" b="1" i="1" smtClean="0">
                            <a:solidFill>
                              <a:srgbClr val="FF0000"/>
                            </a:solidFill>
                            <a:latin typeface="Cambria Math" panose="02040503050406030204" pitchFamily="18" charset="0"/>
                            <a:ea typeface="黑体" pitchFamily="49" charset="-122"/>
                          </a:rPr>
                        </m:ctrlPr>
                      </m:sSubPr>
                      <m:e>
                        <m:r>
                          <a:rPr lang="en-US" altLang="zh-CN" sz="1600" b="1" i="1" smtClean="0">
                            <a:solidFill>
                              <a:srgbClr val="FF0000"/>
                            </a:solidFill>
                            <a:latin typeface="Cambria Math" panose="02040503050406030204" pitchFamily="18" charset="0"/>
                            <a:ea typeface="黑体" pitchFamily="49" charset="-122"/>
                          </a:rPr>
                          <m:t>𝒒</m:t>
                        </m:r>
                      </m:e>
                      <m:sub>
                        <m:r>
                          <a:rPr lang="en-US" altLang="zh-CN" sz="1600" b="1" i="1" smtClean="0">
                            <a:solidFill>
                              <a:srgbClr val="FF0000"/>
                            </a:solidFill>
                            <a:latin typeface="Cambria Math" panose="02040503050406030204" pitchFamily="18" charset="0"/>
                            <a:ea typeface="黑体" pitchFamily="49" charset="-122"/>
                          </a:rPr>
                          <m:t>𝝅</m:t>
                        </m:r>
                      </m:sub>
                    </m:sSub>
                    <m:d>
                      <m:dPr>
                        <m:ctrlPr>
                          <a:rPr lang="en-US" altLang="zh-CN" sz="1600" b="1" i="1" smtClean="0">
                            <a:solidFill>
                              <a:srgbClr val="FF0000"/>
                            </a:solidFill>
                            <a:latin typeface="Cambria Math" panose="02040503050406030204" pitchFamily="18" charset="0"/>
                            <a:ea typeface="黑体" pitchFamily="49" charset="-122"/>
                          </a:rPr>
                        </m:ctrlPr>
                      </m:dPr>
                      <m:e>
                        <m:r>
                          <a:rPr lang="en-US" altLang="zh-CN" sz="1600" b="1" i="1" smtClean="0">
                            <a:solidFill>
                              <a:srgbClr val="FF0000"/>
                            </a:solidFill>
                            <a:latin typeface="Cambria Math" panose="02040503050406030204" pitchFamily="18" charset="0"/>
                            <a:ea typeface="黑体" pitchFamily="49" charset="-122"/>
                          </a:rPr>
                          <m:t>𝒔</m:t>
                        </m:r>
                        <m:r>
                          <a:rPr lang="en-US" altLang="zh-CN" sz="1600" b="1" i="1" smtClean="0">
                            <a:solidFill>
                              <a:srgbClr val="FF0000"/>
                            </a:solidFill>
                            <a:latin typeface="Cambria Math" panose="02040503050406030204" pitchFamily="18" charset="0"/>
                            <a:ea typeface="黑体" pitchFamily="49" charset="-122"/>
                          </a:rPr>
                          <m:t>,</m:t>
                        </m:r>
                        <m:r>
                          <a:rPr lang="en-US" altLang="zh-CN" sz="1600" b="1" i="1" smtClean="0">
                            <a:solidFill>
                              <a:srgbClr val="FF0000"/>
                            </a:solidFill>
                            <a:latin typeface="Cambria Math" panose="02040503050406030204" pitchFamily="18" charset="0"/>
                            <a:ea typeface="黑体" pitchFamily="49" charset="-122"/>
                          </a:rPr>
                          <m:t>𝒂</m:t>
                        </m:r>
                      </m:e>
                    </m:d>
                    <m:r>
                      <a:rPr lang="en-US" altLang="zh-CN" sz="1600" b="1" i="1" smtClean="0">
                        <a:solidFill>
                          <a:srgbClr val="FF0000"/>
                        </a:solidFill>
                        <a:latin typeface="Cambria Math" panose="02040503050406030204" pitchFamily="18" charset="0"/>
                        <a:ea typeface="黑体" pitchFamily="49" charset="-122"/>
                      </a:rPr>
                      <m:t>+</m:t>
                    </m:r>
                    <m:r>
                      <a:rPr lang="en-US" altLang="zh-CN" sz="1600" b="1" i="1" smtClean="0">
                        <a:solidFill>
                          <a:srgbClr val="FF0000"/>
                        </a:solidFill>
                        <a:latin typeface="Cambria Math" panose="02040503050406030204" pitchFamily="18" charset="0"/>
                        <a:ea typeface="黑体" pitchFamily="49" charset="-122"/>
                      </a:rPr>
                      <m:t>𝜶</m:t>
                    </m:r>
                    <m:d>
                      <m:dPr>
                        <m:begChr m:val="["/>
                        <m:endChr m:val="]"/>
                        <m:ctrlPr>
                          <a:rPr lang="en-US" altLang="zh-CN" sz="1600" b="1" i="1" smtClean="0">
                            <a:solidFill>
                              <a:srgbClr val="FF0000"/>
                            </a:solidFill>
                            <a:latin typeface="Cambria Math" panose="02040503050406030204" pitchFamily="18" charset="0"/>
                            <a:ea typeface="黑体" pitchFamily="49" charset="-122"/>
                          </a:rPr>
                        </m:ctrlPr>
                      </m:dPr>
                      <m:e>
                        <m:r>
                          <a:rPr lang="en-US" altLang="zh-CN" sz="1600" b="1" i="1" smtClean="0">
                            <a:solidFill>
                              <a:srgbClr val="FF0000"/>
                            </a:solidFill>
                            <a:latin typeface="Cambria Math" panose="02040503050406030204" pitchFamily="18" charset="0"/>
                            <a:ea typeface="黑体" pitchFamily="49" charset="-122"/>
                          </a:rPr>
                          <m:t>𝑹</m:t>
                        </m:r>
                        <m:r>
                          <a:rPr lang="en-US" altLang="zh-CN" sz="1600" b="1" i="1" smtClean="0">
                            <a:solidFill>
                              <a:srgbClr val="FF0000"/>
                            </a:solidFill>
                            <a:latin typeface="Cambria Math" panose="02040503050406030204" pitchFamily="18" charset="0"/>
                            <a:ea typeface="黑体" pitchFamily="49" charset="-122"/>
                          </a:rPr>
                          <m:t>+</m:t>
                        </m:r>
                        <m:r>
                          <a:rPr lang="en-US" altLang="zh-CN" sz="1600" b="1" i="1" smtClean="0">
                            <a:solidFill>
                              <a:srgbClr val="FF0000"/>
                            </a:solidFill>
                            <a:latin typeface="Cambria Math" panose="02040503050406030204" pitchFamily="18" charset="0"/>
                            <a:ea typeface="黑体" pitchFamily="49" charset="-122"/>
                          </a:rPr>
                          <m:t>𝜸</m:t>
                        </m:r>
                        <m:sSub>
                          <m:sSubPr>
                            <m:ctrlPr>
                              <a:rPr lang="en-US" altLang="zh-CN" sz="1600" b="1" i="1" smtClean="0">
                                <a:solidFill>
                                  <a:srgbClr val="FF0000"/>
                                </a:solidFill>
                                <a:latin typeface="Cambria Math" panose="02040503050406030204" pitchFamily="18" charset="0"/>
                                <a:ea typeface="黑体" pitchFamily="49" charset="-122"/>
                              </a:rPr>
                            </m:ctrlPr>
                          </m:sSubPr>
                          <m:e>
                            <m:r>
                              <a:rPr lang="en-US" altLang="zh-CN" sz="1600" b="1" i="1" smtClean="0">
                                <a:solidFill>
                                  <a:srgbClr val="FF0000"/>
                                </a:solidFill>
                                <a:latin typeface="Cambria Math" panose="02040503050406030204" pitchFamily="18" charset="0"/>
                                <a:ea typeface="黑体" pitchFamily="49" charset="-122"/>
                              </a:rPr>
                              <m:t> </m:t>
                            </m:r>
                            <m:limLow>
                              <m:limLowPr>
                                <m:ctrlPr>
                                  <a:rPr lang="en-US" altLang="zh-CN" sz="1600" b="1" i="1" smtClean="0">
                                    <a:solidFill>
                                      <a:srgbClr val="FF0000"/>
                                    </a:solidFill>
                                    <a:latin typeface="Cambria Math" panose="02040503050406030204" pitchFamily="18" charset="0"/>
                                    <a:ea typeface="黑体" pitchFamily="49" charset="-122"/>
                                  </a:rPr>
                                </m:ctrlPr>
                              </m:limLowPr>
                              <m:e>
                                <m:r>
                                  <a:rPr lang="en-US" altLang="zh-CN" sz="1600" b="1" i="0" smtClean="0">
                                    <a:solidFill>
                                      <a:srgbClr val="FF0000"/>
                                    </a:solidFill>
                                    <a:latin typeface="Cambria Math" panose="02040503050406030204" pitchFamily="18" charset="0"/>
                                    <a:ea typeface="黑体" pitchFamily="49" charset="-122"/>
                                  </a:rPr>
                                  <m:t>𝐦𝐚𝐱</m:t>
                                </m:r>
                              </m:e>
                              <m:lim>
                                <m:sSup>
                                  <m:sSupPr>
                                    <m:ctrlPr>
                                      <a:rPr lang="en-US" altLang="zh-CN" sz="1600" b="1" i="1" smtClean="0">
                                        <a:solidFill>
                                          <a:srgbClr val="FF0000"/>
                                        </a:solidFill>
                                        <a:latin typeface="Cambria Math" panose="02040503050406030204" pitchFamily="18" charset="0"/>
                                        <a:ea typeface="黑体" pitchFamily="49" charset="-122"/>
                                      </a:rPr>
                                    </m:ctrlPr>
                                  </m:sSupPr>
                                  <m:e>
                                    <m:r>
                                      <a:rPr lang="en-US" altLang="zh-CN" sz="1600" b="1" i="1" smtClean="0">
                                        <a:solidFill>
                                          <a:srgbClr val="FF0000"/>
                                        </a:solidFill>
                                        <a:latin typeface="Cambria Math" panose="02040503050406030204" pitchFamily="18" charset="0"/>
                                        <a:ea typeface="黑体" pitchFamily="49" charset="-122"/>
                                      </a:rPr>
                                      <m:t>𝒂</m:t>
                                    </m:r>
                                  </m:e>
                                  <m:sup>
                                    <m:r>
                                      <a:rPr lang="en-US" altLang="zh-CN" sz="1600" b="1" i="1" smtClean="0">
                                        <a:solidFill>
                                          <a:srgbClr val="FF0000"/>
                                        </a:solidFill>
                                        <a:latin typeface="Cambria Math" panose="02040503050406030204" pitchFamily="18" charset="0"/>
                                        <a:ea typeface="黑体" pitchFamily="49" charset="-122"/>
                                      </a:rPr>
                                      <m:t>′</m:t>
                                    </m:r>
                                  </m:sup>
                                </m:sSup>
                              </m:lim>
                            </m:limLow>
                            <m:r>
                              <a:rPr lang="en-US" altLang="zh-CN" sz="1600" b="1" i="1" smtClean="0">
                                <a:solidFill>
                                  <a:srgbClr val="FF0000"/>
                                </a:solidFill>
                                <a:latin typeface="Cambria Math" panose="02040503050406030204" pitchFamily="18" charset="0"/>
                                <a:ea typeface="黑体" pitchFamily="49" charset="-122"/>
                              </a:rPr>
                              <m:t> </m:t>
                            </m:r>
                            <m:r>
                              <a:rPr lang="en-US" altLang="zh-CN" sz="1600" b="1" i="1" smtClean="0">
                                <a:solidFill>
                                  <a:srgbClr val="FF0000"/>
                                </a:solidFill>
                                <a:latin typeface="Cambria Math" panose="02040503050406030204" pitchFamily="18" charset="0"/>
                                <a:ea typeface="黑体" pitchFamily="49" charset="-122"/>
                              </a:rPr>
                              <m:t>𝒒</m:t>
                            </m:r>
                          </m:e>
                          <m:sub>
                            <m:r>
                              <a:rPr lang="en-US" altLang="zh-CN" sz="1600" b="1" i="1" smtClean="0">
                                <a:solidFill>
                                  <a:srgbClr val="FF0000"/>
                                </a:solidFill>
                                <a:latin typeface="Cambria Math" panose="02040503050406030204" pitchFamily="18" charset="0"/>
                                <a:ea typeface="黑体" pitchFamily="49" charset="-122"/>
                              </a:rPr>
                              <m:t>𝝅</m:t>
                            </m:r>
                          </m:sub>
                        </m:sSub>
                        <m:d>
                          <m:dPr>
                            <m:ctrlPr>
                              <a:rPr lang="en-US" altLang="zh-CN" sz="1600" b="1" i="1" smtClean="0">
                                <a:solidFill>
                                  <a:srgbClr val="FF0000"/>
                                </a:solidFill>
                                <a:latin typeface="Cambria Math" panose="02040503050406030204" pitchFamily="18" charset="0"/>
                                <a:ea typeface="黑体" pitchFamily="49" charset="-122"/>
                              </a:rPr>
                            </m:ctrlPr>
                          </m:dPr>
                          <m:e>
                            <m:sSup>
                              <m:sSupPr>
                                <m:ctrlPr>
                                  <a:rPr lang="en-US" altLang="zh-CN" sz="1600" b="1" i="1" smtClean="0">
                                    <a:solidFill>
                                      <a:srgbClr val="FF0000"/>
                                    </a:solidFill>
                                    <a:latin typeface="Cambria Math" panose="02040503050406030204" pitchFamily="18" charset="0"/>
                                    <a:ea typeface="黑体" pitchFamily="49" charset="-122"/>
                                  </a:rPr>
                                </m:ctrlPr>
                              </m:sSupPr>
                              <m:e>
                                <m:r>
                                  <a:rPr lang="en-US" altLang="zh-CN" sz="1600" b="1" i="1" smtClean="0">
                                    <a:solidFill>
                                      <a:srgbClr val="FF0000"/>
                                    </a:solidFill>
                                    <a:latin typeface="Cambria Math" panose="02040503050406030204" pitchFamily="18" charset="0"/>
                                    <a:ea typeface="黑体" pitchFamily="49" charset="-122"/>
                                  </a:rPr>
                                  <m:t>𝒔</m:t>
                                </m:r>
                              </m:e>
                              <m:sup>
                                <m:r>
                                  <a:rPr lang="en-US" altLang="zh-CN" sz="1600" b="1" i="1" smtClean="0">
                                    <a:solidFill>
                                      <a:srgbClr val="FF0000"/>
                                    </a:solidFill>
                                    <a:latin typeface="Cambria Math" panose="02040503050406030204" pitchFamily="18" charset="0"/>
                                    <a:ea typeface="黑体" pitchFamily="49" charset="-122"/>
                                  </a:rPr>
                                  <m:t>′</m:t>
                                </m:r>
                              </m:sup>
                            </m:sSup>
                            <m:r>
                              <a:rPr lang="en-US" altLang="zh-CN" sz="1600" b="1" i="1" smtClean="0">
                                <a:solidFill>
                                  <a:srgbClr val="FF0000"/>
                                </a:solidFill>
                                <a:latin typeface="Cambria Math" panose="02040503050406030204" pitchFamily="18" charset="0"/>
                                <a:ea typeface="黑体" pitchFamily="49" charset="-122"/>
                              </a:rPr>
                              <m:t>,</m:t>
                            </m:r>
                            <m:r>
                              <a:rPr lang="en-US" altLang="zh-CN" sz="1600" b="1" i="1" smtClean="0">
                                <a:solidFill>
                                  <a:srgbClr val="FF0000"/>
                                </a:solidFill>
                                <a:latin typeface="Cambria Math" panose="02040503050406030204" pitchFamily="18" charset="0"/>
                                <a:ea typeface="黑体" pitchFamily="49" charset="-122"/>
                              </a:rPr>
                              <m:t>𝒂</m:t>
                            </m:r>
                            <m:r>
                              <a:rPr lang="en-US" altLang="zh-CN" sz="1600" b="1" i="1" smtClean="0">
                                <a:solidFill>
                                  <a:srgbClr val="FF0000"/>
                                </a:solidFill>
                                <a:latin typeface="Cambria Math" panose="02040503050406030204" pitchFamily="18" charset="0"/>
                                <a:ea typeface="黑体" pitchFamily="49" charset="-122"/>
                              </a:rPr>
                              <m:t>′</m:t>
                            </m:r>
                          </m:e>
                        </m:d>
                        <m:r>
                          <a:rPr lang="en-US" altLang="zh-CN" sz="1600" b="1" i="1" smtClean="0">
                            <a:solidFill>
                              <a:srgbClr val="FF0000"/>
                            </a:solidFill>
                            <a:latin typeface="Cambria Math" panose="02040503050406030204" pitchFamily="18" charset="0"/>
                            <a:ea typeface="黑体" pitchFamily="49" charset="-122"/>
                          </a:rPr>
                          <m:t>−</m:t>
                        </m:r>
                        <m:sSub>
                          <m:sSubPr>
                            <m:ctrlPr>
                              <a:rPr lang="en-US" altLang="zh-CN" sz="1600" b="1" i="1" smtClean="0">
                                <a:solidFill>
                                  <a:srgbClr val="FF0000"/>
                                </a:solidFill>
                                <a:latin typeface="Cambria Math" panose="02040503050406030204" pitchFamily="18" charset="0"/>
                                <a:ea typeface="黑体" pitchFamily="49" charset="-122"/>
                              </a:rPr>
                            </m:ctrlPr>
                          </m:sSubPr>
                          <m:e>
                            <m:r>
                              <a:rPr lang="en-US" altLang="zh-CN" sz="1600" b="1" i="1" smtClean="0">
                                <a:solidFill>
                                  <a:srgbClr val="FF0000"/>
                                </a:solidFill>
                                <a:latin typeface="Cambria Math" panose="02040503050406030204" pitchFamily="18" charset="0"/>
                                <a:ea typeface="黑体" pitchFamily="49" charset="-122"/>
                              </a:rPr>
                              <m:t>𝒒</m:t>
                            </m:r>
                          </m:e>
                          <m:sub>
                            <m:r>
                              <a:rPr lang="en-US" altLang="zh-CN" sz="1600" b="1" i="1" smtClean="0">
                                <a:solidFill>
                                  <a:srgbClr val="FF0000"/>
                                </a:solidFill>
                                <a:latin typeface="Cambria Math" panose="02040503050406030204" pitchFamily="18" charset="0"/>
                                <a:ea typeface="黑体" pitchFamily="49" charset="-122"/>
                              </a:rPr>
                              <m:t>𝝅</m:t>
                            </m:r>
                          </m:sub>
                        </m:sSub>
                        <m:d>
                          <m:dPr>
                            <m:ctrlPr>
                              <a:rPr lang="en-US" altLang="zh-CN" sz="1600" b="1" i="1" smtClean="0">
                                <a:solidFill>
                                  <a:srgbClr val="FF0000"/>
                                </a:solidFill>
                                <a:latin typeface="Cambria Math" panose="02040503050406030204" pitchFamily="18" charset="0"/>
                                <a:ea typeface="黑体" pitchFamily="49" charset="-122"/>
                              </a:rPr>
                            </m:ctrlPr>
                          </m:dPr>
                          <m:e>
                            <m:r>
                              <a:rPr lang="en-US" altLang="zh-CN" sz="1600" b="1" i="1" smtClean="0">
                                <a:solidFill>
                                  <a:srgbClr val="FF0000"/>
                                </a:solidFill>
                                <a:latin typeface="Cambria Math" panose="02040503050406030204" pitchFamily="18" charset="0"/>
                                <a:ea typeface="黑体" pitchFamily="49" charset="-122"/>
                              </a:rPr>
                              <m:t>𝒔</m:t>
                            </m:r>
                            <m:r>
                              <a:rPr lang="en-US" altLang="zh-CN" sz="1600" b="1" i="1" smtClean="0">
                                <a:solidFill>
                                  <a:srgbClr val="FF0000"/>
                                </a:solidFill>
                                <a:latin typeface="Cambria Math" panose="02040503050406030204" pitchFamily="18" charset="0"/>
                                <a:ea typeface="黑体" pitchFamily="49" charset="-122"/>
                              </a:rPr>
                              <m:t>,</m:t>
                            </m:r>
                            <m:r>
                              <a:rPr lang="en-US" altLang="zh-CN" sz="1600" b="1" i="1" smtClean="0">
                                <a:solidFill>
                                  <a:srgbClr val="FF0000"/>
                                </a:solidFill>
                                <a:latin typeface="Cambria Math" panose="02040503050406030204" pitchFamily="18" charset="0"/>
                                <a:ea typeface="黑体" pitchFamily="49" charset="-122"/>
                              </a:rPr>
                              <m:t>𝒂</m:t>
                            </m:r>
                          </m:e>
                        </m:d>
                      </m:e>
                    </m:d>
                  </m:oMath>
                </a14:m>
                <a:endPar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14:m>
                  <m:oMath xmlns:m="http://schemas.openxmlformats.org/officeDocument/2006/math">
                    <m:r>
                      <a:rPr lang="en-US" altLang="zh-CN" sz="1600" b="1" i="1" smtClean="0">
                        <a:solidFill>
                          <a:srgbClr val="FF0000"/>
                        </a:solidFill>
                        <a:latin typeface="Cambria Math" panose="02040503050406030204" pitchFamily="18" charset="0"/>
                        <a:ea typeface="黑体" pitchFamily="49" charset="-122"/>
                      </a:rPr>
                      <m:t>𝒔</m:t>
                    </m:r>
                    <m:r>
                      <a:rPr lang="en-US" altLang="zh-CN" sz="1600" b="1" i="1" smtClean="0">
                        <a:solidFill>
                          <a:srgbClr val="FF0000"/>
                        </a:solidFill>
                        <a:latin typeface="Cambria Math" panose="02040503050406030204" pitchFamily="18" charset="0"/>
                        <a:ea typeface="黑体" pitchFamily="49" charset="-122"/>
                      </a:rPr>
                      <m:t>←</m:t>
                    </m:r>
                    <m:r>
                      <a:rPr lang="en-US" altLang="zh-CN" sz="1600" b="1" i="1" smtClean="0">
                        <a:solidFill>
                          <a:srgbClr val="FF0000"/>
                        </a:solidFill>
                        <a:latin typeface="Cambria Math" panose="02040503050406030204" pitchFamily="18" charset="0"/>
                        <a:ea typeface="黑体" pitchFamily="49" charset="-122"/>
                      </a:rPr>
                      <m:t>𝒔</m:t>
                    </m:r>
                    <m:r>
                      <a:rPr lang="en-US" altLang="zh-CN" sz="1600" b="1" i="1" smtClean="0">
                        <a:solidFill>
                          <a:srgbClr val="FF0000"/>
                        </a:solidFill>
                        <a:latin typeface="Cambria Math" panose="02040503050406030204" pitchFamily="18" charset="0"/>
                        <a:ea typeface="黑体" pitchFamily="49" charset="-122"/>
                      </a:rPr>
                      <m:t>′</m:t>
                    </m:r>
                  </m:oMath>
                </a14:m>
                <a:endPar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1600"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直到</a:t>
                </a:r>
                <a14:m>
                  <m:oMath xmlns:m="http://schemas.openxmlformats.org/officeDocument/2006/math">
                    <m:r>
                      <a:rPr lang="en-US" altLang="zh-CN" sz="1600" b="1" i="1" smtClean="0">
                        <a:latin typeface="Cambria Math" panose="02040503050406030204" pitchFamily="18" charset="0"/>
                        <a:ea typeface="黑体" pitchFamily="49" charset="-122"/>
                      </a:rPr>
                      <m:t>𝒔</m:t>
                    </m:r>
                  </m:oMath>
                </a14:m>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是终止状态</a:t>
                </a:r>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直到</a:t>
                </a:r>
                <a14:m>
                  <m:oMath xmlns:m="http://schemas.openxmlformats.org/officeDocument/2006/math">
                    <m:sSub>
                      <m:sSubPr>
                        <m:ctrlPr>
                          <a:rPr lang="en-US" altLang="zh-CN" sz="1600" b="1" i="1" smtClean="0">
                            <a:latin typeface="Cambria Math" panose="02040503050406030204" pitchFamily="18" charset="0"/>
                            <a:ea typeface="黑体" pitchFamily="49" charset="-122"/>
                          </a:rPr>
                        </m:ctrlPr>
                      </m:sSubPr>
                      <m:e>
                        <m:r>
                          <a:rPr lang="en-US" altLang="zh-CN" sz="1600" b="1" i="1" smtClean="0">
                            <a:latin typeface="Cambria Math"/>
                            <a:ea typeface="黑体" pitchFamily="49" charset="-122"/>
                          </a:rPr>
                          <m:t>𝒒</m:t>
                        </m:r>
                      </m:e>
                      <m:sub>
                        <m:r>
                          <a:rPr lang="en-US" altLang="zh-CN" sz="1600" b="1" i="1" smtClean="0">
                            <a:latin typeface="Cambria Math" panose="02040503050406030204" pitchFamily="18" charset="0"/>
                            <a:ea typeface="黑体" pitchFamily="49" charset="-122"/>
                          </a:rPr>
                          <m:t>𝝅</m:t>
                        </m:r>
                      </m:sub>
                    </m:sSub>
                    <m:r>
                      <a:rPr lang="zh-CN" altLang="en-US" sz="1600" b="1" i="1">
                        <a:latin typeface="Cambria Math" panose="02040503050406030204" pitchFamily="18" charset="0"/>
                        <a:ea typeface="黑体" pitchFamily="49" charset="-122"/>
                      </a:rPr>
                      <m:t>收敛</m:t>
                    </m:r>
                  </m:oMath>
                </a14:m>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1" name="文本框 12">
                <a:extLst>
                  <a:ext uri="{FF2B5EF4-FFF2-40B4-BE49-F238E27FC236}">
                    <a16:creationId xmlns:a16="http://schemas.microsoft.com/office/drawing/2014/main" id="{C9709322-CBFE-41F8-8440-DC71B46AFA38}"/>
                  </a:ext>
                </a:extLst>
              </p:cNvPr>
              <p:cNvSpPr txBox="1">
                <a:spLocks noRot="1" noChangeAspect="1" noMove="1" noResize="1" noEditPoints="1" noAdjustHandles="1" noChangeArrowheads="1" noChangeShapeType="1" noTextEdit="1"/>
              </p:cNvSpPr>
              <p:nvPr/>
            </p:nvSpPr>
            <p:spPr>
              <a:xfrm>
                <a:off x="1872908" y="2374519"/>
                <a:ext cx="7196923" cy="3201454"/>
              </a:xfrm>
              <a:prstGeom prst="rect">
                <a:avLst/>
              </a:prstGeom>
              <a:blipFill>
                <a:blip r:embed="rId4"/>
                <a:stretch>
                  <a:fillRect l="-338" t="-190" b="-1518"/>
                </a:stretch>
              </a:blipFill>
              <a:ln>
                <a:solidFill>
                  <a:schemeClr val="tx1"/>
                </a:solidFill>
              </a:ln>
            </p:spPr>
            <p:txBody>
              <a:bodyPr/>
              <a:lstStyle/>
              <a:p>
                <a:r>
                  <a:rPr lang="zh-CN" altLang="en-US">
                    <a:noFill/>
                  </a:rPr>
                  <a:t> </a:t>
                </a:r>
              </a:p>
            </p:txBody>
          </p:sp>
        </mc:Fallback>
      </mc:AlternateContent>
      <p:cxnSp>
        <p:nvCxnSpPr>
          <p:cNvPr id="12" name="直接箭头连接符 11">
            <a:extLst>
              <a:ext uri="{FF2B5EF4-FFF2-40B4-BE49-F238E27FC236}">
                <a16:creationId xmlns:a16="http://schemas.microsoft.com/office/drawing/2014/main" id="{A1EBE4E2-E383-49D0-8690-D26D54BE3E66}"/>
              </a:ext>
            </a:extLst>
          </p:cNvPr>
          <p:cNvCxnSpPr/>
          <p:nvPr/>
        </p:nvCxnSpPr>
        <p:spPr>
          <a:xfrm flipH="1">
            <a:off x="3772181" y="1853248"/>
            <a:ext cx="991263" cy="17727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F9D0DAEE-B790-4E41-BCF5-A26CB6BB79B7}"/>
                  </a:ext>
                </a:extLst>
              </p:cNvPr>
              <p:cNvSpPr/>
              <p:nvPr/>
            </p:nvSpPr>
            <p:spPr>
              <a:xfrm>
                <a:off x="4267812" y="2713149"/>
                <a:ext cx="2833724" cy="649537"/>
              </a:xfrm>
              <a:prstGeom prst="rect">
                <a:avLst/>
              </a:prstGeom>
            </p:spPr>
            <p:txBody>
              <a:bodyPr wrap="none">
                <a:spAutoFit/>
              </a:bodyPr>
              <a:lstStyle/>
              <a:p>
                <a:r>
                  <a:rPr lang="zh-CN" altLang="en-US" dirty="0">
                    <a:latin typeface="Times New Roman" panose="02020603050405020304" pitchFamily="18" charset="0"/>
                    <a:ea typeface="黑体" panose="02010609060101010101" pitchFamily="49" charset="-122"/>
                    <a:cs typeface="Times New Roman" panose="02020603050405020304" pitchFamily="18" charset="0"/>
                  </a:rPr>
                  <a:t>用</a:t>
                </a:r>
                <a14:m>
                  <m:oMath xmlns:m="http://schemas.openxmlformats.org/officeDocument/2006/math">
                    <m:r>
                      <a:rPr lang="en-US" altLang="zh-CN" i="1">
                        <a:latin typeface="Cambria Math" panose="02040503050406030204" pitchFamily="18" charset="0"/>
                      </a:rPr>
                      <m:t>𝜖</m:t>
                    </m:r>
                  </m:oMath>
                </a14:m>
                <a:r>
                  <a:rPr lang="zh-CN" altLang="en-US" dirty="0">
                    <a:latin typeface="Times New Roman" panose="02020603050405020304" pitchFamily="18" charset="0"/>
                    <a:ea typeface="黑体" panose="02010609060101010101" pitchFamily="49" charset="-122"/>
                    <a:cs typeface="Times New Roman" panose="02020603050405020304" pitchFamily="18" charset="0"/>
                  </a:rPr>
                  <a:t>贪心（</a:t>
                </a:r>
                <a14:m>
                  <m:oMath xmlns:m="http://schemas.openxmlformats.org/officeDocument/2006/math">
                    <m:r>
                      <a:rPr lang="en-US" altLang="zh-CN" i="1">
                        <a:latin typeface="Cambria Math" panose="02040503050406030204" pitchFamily="18" charset="0"/>
                      </a:rPr>
                      <m:t>𝜖</m:t>
                    </m:r>
                  </m:oMath>
                </a14:m>
                <a:r>
                  <a:rPr lang="en-US" altLang="zh-CN" dirty="0">
                    <a:latin typeface="Times New Roman" panose="02020603050405020304" pitchFamily="18" charset="0"/>
                    <a:ea typeface="黑体" panose="02010609060101010101" pitchFamily="49" charset="-122"/>
                    <a:cs typeface="Times New Roman" panose="02020603050405020304" pitchFamily="18" charset="0"/>
                  </a:rPr>
                  <a:t>-greedy</a:t>
                </a:r>
                <a:r>
                  <a:rPr lang="zh-CN" altLang="en-US" dirty="0">
                    <a:latin typeface="Times New Roman" panose="02020603050405020304" pitchFamily="18" charset="0"/>
                    <a:ea typeface="黑体" panose="02010609060101010101" pitchFamily="49" charset="-122"/>
                    <a:cs typeface="Times New Roman" panose="02020603050405020304" pitchFamily="18" charset="0"/>
                  </a:rPr>
                  <a:t>）策略</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r>
                  <a:rPr lang="zh-CN" altLang="en-US" dirty="0">
                    <a:latin typeface="Times New Roman" panose="02020603050405020304" pitchFamily="18" charset="0"/>
                    <a:ea typeface="黑体" panose="02010609060101010101" pitchFamily="49" charset="-122"/>
                    <a:cs typeface="Times New Roman" panose="02020603050405020304" pitchFamily="18" charset="0"/>
                  </a:rPr>
                  <a:t>代替</a:t>
                </a:r>
                <a14:m>
                  <m:oMath xmlns:m="http://schemas.openxmlformats.org/officeDocument/2006/math">
                    <m:r>
                      <a:rPr lang="en-US" altLang="zh-CN" i="1" dirty="0">
                        <a:solidFill>
                          <a:srgbClr val="FF0000"/>
                        </a:solidFill>
                        <a:latin typeface="Cambria Math" panose="02040503050406030204" pitchFamily="18" charset="0"/>
                        <a:ea typeface="黑体" pitchFamily="49" charset="-122"/>
                      </a:rPr>
                      <m:t>𝑎</m:t>
                    </m:r>
                    <m:r>
                      <a:rPr lang="en-US" altLang="zh-CN" i="1" dirty="0">
                        <a:solidFill>
                          <a:srgbClr val="FF0000"/>
                        </a:solidFill>
                        <a:latin typeface="Cambria Math" panose="02040503050406030204" pitchFamily="18" charset="0"/>
                        <a:ea typeface="黑体" pitchFamily="49" charset="-122"/>
                      </a:rPr>
                      <m:t>=</m:t>
                    </m:r>
                    <m:sSub>
                      <m:sSubPr>
                        <m:ctrlPr>
                          <a:rPr lang="en-US" altLang="zh-CN" i="1" dirty="0">
                            <a:solidFill>
                              <a:srgbClr val="FF0000"/>
                            </a:solidFill>
                            <a:latin typeface="Cambria Math" panose="02040503050406030204" pitchFamily="18" charset="0"/>
                            <a:ea typeface="黑体" pitchFamily="49" charset="-122"/>
                          </a:rPr>
                        </m:ctrlPr>
                      </m:sSubPr>
                      <m:e>
                        <m:r>
                          <m:rPr>
                            <m:sty m:val="p"/>
                          </m:rPr>
                          <a:rPr lang="en-US" altLang="zh-CN" dirty="0">
                            <a:solidFill>
                              <a:srgbClr val="FF0000"/>
                            </a:solidFill>
                            <a:latin typeface="Cambria Math" panose="02040503050406030204" pitchFamily="18" charset="0"/>
                            <a:ea typeface="黑体" pitchFamily="49" charset="-122"/>
                          </a:rPr>
                          <m:t>argmax</m:t>
                        </m:r>
                      </m:e>
                      <m:sub>
                        <m:sSup>
                          <m:sSupPr>
                            <m:ctrlPr>
                              <a:rPr lang="en-US" altLang="zh-CN" i="1" dirty="0">
                                <a:solidFill>
                                  <a:srgbClr val="FF0000"/>
                                </a:solidFill>
                                <a:latin typeface="Cambria Math" panose="02040503050406030204" pitchFamily="18" charset="0"/>
                                <a:ea typeface="黑体" pitchFamily="49" charset="-122"/>
                              </a:rPr>
                            </m:ctrlPr>
                          </m:sSupPr>
                          <m:e>
                            <m:r>
                              <a:rPr lang="en-US" altLang="zh-CN" i="1" dirty="0">
                                <a:solidFill>
                                  <a:srgbClr val="FF0000"/>
                                </a:solidFill>
                                <a:latin typeface="Cambria Math" panose="02040503050406030204" pitchFamily="18" charset="0"/>
                                <a:ea typeface="黑体" pitchFamily="49" charset="-122"/>
                              </a:rPr>
                              <m:t>𝑎</m:t>
                            </m:r>
                          </m:e>
                          <m:sup>
                            <m:r>
                              <a:rPr lang="en-US" altLang="zh-CN" i="1" dirty="0">
                                <a:solidFill>
                                  <a:srgbClr val="FF0000"/>
                                </a:solidFill>
                                <a:latin typeface="Cambria Math" panose="02040503050406030204" pitchFamily="18" charset="0"/>
                                <a:ea typeface="黑体" pitchFamily="49" charset="-122"/>
                              </a:rPr>
                              <m:t>′</m:t>
                            </m:r>
                          </m:sup>
                        </m:sSup>
                      </m:sub>
                    </m:sSub>
                    <m:sSub>
                      <m:sSubPr>
                        <m:ctrlPr>
                          <a:rPr lang="en-US" altLang="zh-CN" i="1" dirty="0">
                            <a:solidFill>
                              <a:srgbClr val="FF0000"/>
                            </a:solidFill>
                            <a:latin typeface="Cambria Math" panose="02040503050406030204" pitchFamily="18" charset="0"/>
                            <a:ea typeface="黑体" pitchFamily="49" charset="-122"/>
                          </a:rPr>
                        </m:ctrlPr>
                      </m:sSubPr>
                      <m:e>
                        <m:r>
                          <a:rPr lang="en-US" altLang="zh-CN" i="1" dirty="0">
                            <a:solidFill>
                              <a:srgbClr val="FF0000"/>
                            </a:solidFill>
                            <a:latin typeface="Cambria Math" panose="02040503050406030204" pitchFamily="18" charset="0"/>
                            <a:ea typeface="黑体" pitchFamily="49" charset="-122"/>
                          </a:rPr>
                          <m:t>𝑞</m:t>
                        </m:r>
                      </m:e>
                      <m:sub>
                        <m:r>
                          <a:rPr lang="en-US" altLang="zh-CN" i="1" dirty="0">
                            <a:solidFill>
                              <a:srgbClr val="FF0000"/>
                            </a:solidFill>
                            <a:latin typeface="Cambria Math" panose="02040503050406030204" pitchFamily="18" charset="0"/>
                            <a:ea typeface="黑体" pitchFamily="49" charset="-122"/>
                          </a:rPr>
                          <m:t>𝜋</m:t>
                        </m:r>
                      </m:sub>
                    </m:sSub>
                    <m:r>
                      <a:rPr lang="en-US" altLang="zh-CN" i="1" dirty="0">
                        <a:solidFill>
                          <a:srgbClr val="FF0000"/>
                        </a:solidFill>
                        <a:latin typeface="Cambria Math" panose="02040503050406030204" pitchFamily="18" charset="0"/>
                        <a:ea typeface="黑体" pitchFamily="49" charset="-122"/>
                      </a:rPr>
                      <m:t>(</m:t>
                    </m:r>
                    <m:r>
                      <a:rPr lang="en-US" altLang="zh-CN" i="1" dirty="0">
                        <a:solidFill>
                          <a:srgbClr val="FF0000"/>
                        </a:solidFill>
                        <a:latin typeface="Cambria Math" panose="02040503050406030204" pitchFamily="18" charset="0"/>
                        <a:ea typeface="黑体" pitchFamily="49" charset="-122"/>
                      </a:rPr>
                      <m:t>𝑠</m:t>
                    </m:r>
                    <m:r>
                      <a:rPr lang="en-US" altLang="zh-CN" i="1" dirty="0">
                        <a:solidFill>
                          <a:srgbClr val="FF0000"/>
                        </a:solidFill>
                        <a:latin typeface="Cambria Math" panose="02040503050406030204" pitchFamily="18" charset="0"/>
                        <a:ea typeface="黑体" pitchFamily="49" charset="-122"/>
                      </a:rPr>
                      <m:t>,</m:t>
                    </m:r>
                    <m:r>
                      <a:rPr lang="en-US" altLang="zh-CN" i="1" dirty="0">
                        <a:solidFill>
                          <a:srgbClr val="FF0000"/>
                        </a:solidFill>
                        <a:latin typeface="Cambria Math" panose="02040503050406030204" pitchFamily="18" charset="0"/>
                        <a:ea typeface="黑体" pitchFamily="49" charset="-122"/>
                      </a:rPr>
                      <m:t>𝑎</m:t>
                    </m:r>
                    <m:r>
                      <a:rPr lang="en-US" altLang="zh-CN" i="1" dirty="0">
                        <a:solidFill>
                          <a:srgbClr val="FF0000"/>
                        </a:solidFill>
                        <a:latin typeface="Cambria Math" panose="02040503050406030204" pitchFamily="18" charset="0"/>
                        <a:ea typeface="黑体" pitchFamily="49" charset="-122"/>
                      </a:rPr>
                      <m:t>′)</m:t>
                    </m:r>
                  </m:oMath>
                </a14:m>
                <a:endParaRPr lang="en-US" altLang="zh-CN" dirty="0">
                  <a:ea typeface="黑体" pitchFamily="49" charset="-122"/>
                </a:endParaRPr>
              </a:p>
            </p:txBody>
          </p:sp>
        </mc:Choice>
        <mc:Fallback xmlns="">
          <p:sp>
            <p:nvSpPr>
              <p:cNvPr id="13" name="矩形 12">
                <a:extLst>
                  <a:ext uri="{FF2B5EF4-FFF2-40B4-BE49-F238E27FC236}">
                    <a16:creationId xmlns:a16="http://schemas.microsoft.com/office/drawing/2014/main" id="{F9D0DAEE-B790-4E41-BCF5-A26CB6BB79B7}"/>
                  </a:ext>
                </a:extLst>
              </p:cNvPr>
              <p:cNvSpPr>
                <a:spLocks noRot="1" noChangeAspect="1" noMove="1" noResize="1" noEditPoints="1" noAdjustHandles="1" noChangeArrowheads="1" noChangeShapeType="1" noTextEdit="1"/>
              </p:cNvSpPr>
              <p:nvPr/>
            </p:nvSpPr>
            <p:spPr>
              <a:xfrm>
                <a:off x="4267812" y="2713149"/>
                <a:ext cx="2833724" cy="649537"/>
              </a:xfrm>
              <a:prstGeom prst="rect">
                <a:avLst/>
              </a:prstGeom>
              <a:blipFill>
                <a:blip r:embed="rId5"/>
                <a:stretch>
                  <a:fillRect l="-1720" t="-6542" b="-10280"/>
                </a:stretch>
              </a:blipFill>
            </p:spPr>
            <p:txBody>
              <a:bodyPr/>
              <a:lstStyle/>
              <a:p>
                <a:r>
                  <a:rPr lang="zh-CN" altLang="en-US">
                    <a:noFill/>
                  </a:rPr>
                  <a:t> </a:t>
                </a:r>
              </a:p>
            </p:txBody>
          </p:sp>
        </mc:Fallback>
      </mc:AlternateContent>
      <p:sp>
        <p:nvSpPr>
          <p:cNvPr id="14" name="矩形 13">
            <a:extLst>
              <a:ext uri="{FF2B5EF4-FFF2-40B4-BE49-F238E27FC236}">
                <a16:creationId xmlns:a16="http://schemas.microsoft.com/office/drawing/2014/main" id="{6E71B95A-4F49-4F0E-A72E-90C5F10DD028}"/>
              </a:ext>
            </a:extLst>
          </p:cNvPr>
          <p:cNvSpPr/>
          <p:nvPr/>
        </p:nvSpPr>
        <p:spPr>
          <a:xfrm>
            <a:off x="2647174" y="3625998"/>
            <a:ext cx="2385130" cy="426019"/>
          </a:xfrm>
          <a:prstGeom prst="rect">
            <a:avLst/>
          </a:prstGeom>
          <a:noFill/>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ea typeface="黑体" pitchFamily="49" charset="-122"/>
            </a:endParaRPr>
          </a:p>
        </p:txBody>
      </p:sp>
      <mc:AlternateContent xmlns:mc="http://schemas.openxmlformats.org/markup-compatibility/2006" xmlns:a14="http://schemas.microsoft.com/office/drawing/2010/main">
        <mc:Choice Requires="a14">
          <p:sp>
            <p:nvSpPr>
              <p:cNvPr id="15" name="文本框 162">
                <a:extLst>
                  <a:ext uri="{FF2B5EF4-FFF2-40B4-BE49-F238E27FC236}">
                    <a16:creationId xmlns:a16="http://schemas.microsoft.com/office/drawing/2014/main" id="{9B4AAD68-3E4B-4612-9052-588F7030C324}"/>
                  </a:ext>
                </a:extLst>
              </p:cNvPr>
              <p:cNvSpPr txBox="1"/>
              <p:nvPr/>
            </p:nvSpPr>
            <p:spPr>
              <a:xfrm>
                <a:off x="929969" y="5663781"/>
                <a:ext cx="10836811" cy="833818"/>
              </a:xfrm>
              <a:prstGeom prst="rect">
                <a:avLst/>
              </a:prstGeom>
              <a:noFill/>
            </p:spPr>
            <p:txBody>
              <a:bodyPr wrap="square" rtlCol="0">
                <a:spAutoFit/>
              </a:bodyPr>
              <a:lstStyle/>
              <a:p>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在</a:t>
                </a:r>
                <a:r>
                  <a:rPr lang="en-US" altLang="zh-CN" sz="1600" b="1" dirty="0">
                    <a:latin typeface="Times New Roman" panose="02020603050405020304" pitchFamily="18" charset="0"/>
                    <a:ea typeface="华文楷体" panose="02010600040101010101" pitchFamily="2" charset="-122"/>
                    <a:cs typeface="Times New Roman" panose="02020603050405020304" pitchFamily="18" charset="0"/>
                  </a:rPr>
                  <a:t>Q</a:t>
                </a: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学习中引入探索（</a:t>
                </a:r>
                <a:r>
                  <a:rPr lang="en-US" altLang="zh-CN" sz="1600" b="1" dirty="0">
                    <a:latin typeface="Times New Roman" panose="02020603050405020304" pitchFamily="18" charset="0"/>
                    <a:ea typeface="华文楷体" panose="02010600040101010101" pitchFamily="2" charset="-122"/>
                    <a:cs typeface="Times New Roman" panose="02020603050405020304" pitchFamily="18" charset="0"/>
                  </a:rPr>
                  <a:t>exploration</a:t>
                </a: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）与利用（</a:t>
                </a:r>
                <a:r>
                  <a:rPr lang="en-US" altLang="zh-CN" sz="1600" b="1" dirty="0">
                    <a:latin typeface="Times New Roman" panose="02020603050405020304" pitchFamily="18" charset="0"/>
                    <a:ea typeface="华文楷体" panose="02010600040101010101" pitchFamily="2" charset="-122"/>
                    <a:cs typeface="Times New Roman" panose="02020603050405020304" pitchFamily="18" charset="0"/>
                  </a:rPr>
                  <a:t>exploitation</a:t>
                </a: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）机制。这一机制用用</a:t>
                </a:r>
                <a14:m>
                  <m:oMath xmlns:m="http://schemas.openxmlformats.org/officeDocument/2006/math">
                    <m:r>
                      <a:rPr lang="en-US" altLang="zh-CN" sz="1600" b="1">
                        <a:latin typeface="Cambria Math" panose="02040503050406030204" pitchFamily="18" charset="0"/>
                        <a:ea typeface="华文楷体" panose="02010600040101010101" pitchFamily="2" charset="-122"/>
                        <a:cs typeface="Times New Roman" panose="02020603050405020304" pitchFamily="18" charset="0"/>
                      </a:rPr>
                      <m:t>𝜖</m:t>
                    </m:r>
                  </m:oMath>
                </a14:m>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贪心（</a:t>
                </a:r>
                <a14:m>
                  <m:oMath xmlns:m="http://schemas.openxmlformats.org/officeDocument/2006/math">
                    <m:r>
                      <a:rPr lang="en-US" altLang="zh-CN" sz="1600" b="1">
                        <a:latin typeface="Cambria Math" panose="02040503050406030204" pitchFamily="18" charset="0"/>
                        <a:ea typeface="华文楷体" panose="02010600040101010101" pitchFamily="2" charset="-122"/>
                        <a:cs typeface="Times New Roman" panose="02020603050405020304" pitchFamily="18" charset="0"/>
                      </a:rPr>
                      <m:t>𝜖</m:t>
                    </m:r>
                  </m:oMath>
                </a14:m>
                <a:r>
                  <a:rPr lang="en-US" altLang="zh-CN" sz="1600" b="1" dirty="0">
                    <a:latin typeface="Times New Roman" panose="02020603050405020304" pitchFamily="18" charset="0"/>
                    <a:ea typeface="华文楷体" panose="02010600040101010101" pitchFamily="2" charset="-122"/>
                    <a:cs typeface="Times New Roman" panose="02020603050405020304" pitchFamily="18" charset="0"/>
                  </a:rPr>
                  <a:t>-greedy</a:t>
                </a: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）策略来代替</a:t>
                </a:r>
                <a14:m>
                  <m:oMath xmlns:m="http://schemas.openxmlformats.org/officeDocument/2006/math">
                    <m:r>
                      <a:rPr lang="en-US" altLang="zh-CN" sz="1600" b="1" dirty="0">
                        <a:latin typeface="Cambria Math" panose="02040503050406030204" pitchFamily="18" charset="0"/>
                        <a:ea typeface="华文楷体" panose="02010600040101010101" pitchFamily="2" charset="-122"/>
                        <a:cs typeface="Times New Roman" panose="02020603050405020304" pitchFamily="18" charset="0"/>
                      </a:rPr>
                      <m:t>𝑎</m:t>
                    </m:r>
                    <m:r>
                      <a:rPr lang="en-US" altLang="zh-CN" sz="1600" b="1" dirty="0">
                        <a:latin typeface="Cambria Math" panose="02040503050406030204" pitchFamily="18" charset="0"/>
                        <a:ea typeface="华文楷体" panose="02010600040101010101" pitchFamily="2" charset="-122"/>
                        <a:cs typeface="Times New Roman" panose="02020603050405020304" pitchFamily="18" charset="0"/>
                      </a:rPr>
                      <m:t>=</m:t>
                    </m:r>
                    <m:sSub>
                      <m:sSubPr>
                        <m:ctrlPr>
                          <a:rPr lang="en-US" altLang="zh-CN" sz="1600" b="1" i="1" dirty="0">
                            <a:latin typeface="Cambria Math" panose="02040503050406030204" pitchFamily="18" charset="0"/>
                            <a:ea typeface="华文楷体" panose="02010600040101010101" pitchFamily="2" charset="-122"/>
                            <a:cs typeface="Times New Roman" panose="02020603050405020304" pitchFamily="18" charset="0"/>
                          </a:rPr>
                        </m:ctrlPr>
                      </m:sSubPr>
                      <m:e>
                        <m:r>
                          <m:rPr>
                            <m:sty m:val="p"/>
                          </m:rPr>
                          <a:rPr lang="en-US" altLang="zh-CN" sz="1600" b="1" dirty="0">
                            <a:latin typeface="Cambria Math" panose="02040503050406030204" pitchFamily="18" charset="0"/>
                            <a:ea typeface="华文楷体" panose="02010600040101010101" pitchFamily="2" charset="-122"/>
                            <a:cs typeface="Times New Roman" panose="02020603050405020304" pitchFamily="18" charset="0"/>
                          </a:rPr>
                          <m:t>argmax</m:t>
                        </m:r>
                      </m:e>
                      <m:sub>
                        <m:sSup>
                          <m:sSupPr>
                            <m:ctrlPr>
                              <a:rPr lang="en-US" altLang="zh-CN" sz="1600" b="1" i="1" dirty="0">
                                <a:latin typeface="Cambria Math" panose="02040503050406030204" pitchFamily="18" charset="0"/>
                                <a:ea typeface="华文楷体" panose="02010600040101010101" pitchFamily="2" charset="-122"/>
                                <a:cs typeface="Times New Roman" panose="02020603050405020304" pitchFamily="18" charset="0"/>
                              </a:rPr>
                            </m:ctrlPr>
                          </m:sSupPr>
                          <m:e>
                            <m:r>
                              <a:rPr lang="en-US" altLang="zh-CN" sz="1600" b="1" dirty="0">
                                <a:latin typeface="Cambria Math" panose="02040503050406030204" pitchFamily="18" charset="0"/>
                                <a:ea typeface="华文楷体" panose="02010600040101010101" pitchFamily="2" charset="-122"/>
                                <a:cs typeface="Times New Roman" panose="02020603050405020304" pitchFamily="18" charset="0"/>
                              </a:rPr>
                              <m:t>𝑎</m:t>
                            </m:r>
                          </m:e>
                          <m:sup>
                            <m:r>
                              <a:rPr lang="en-US" altLang="zh-CN" sz="1600" b="1" dirty="0">
                                <a:latin typeface="Cambria Math" panose="02040503050406030204" pitchFamily="18" charset="0"/>
                                <a:ea typeface="华文楷体" panose="02010600040101010101" pitchFamily="2" charset="-122"/>
                                <a:cs typeface="Times New Roman" panose="02020603050405020304" pitchFamily="18" charset="0"/>
                              </a:rPr>
                              <m:t>′</m:t>
                            </m:r>
                          </m:sup>
                        </m:sSup>
                      </m:sub>
                    </m:sSub>
                    <m:sSub>
                      <m:sSubPr>
                        <m:ctrlPr>
                          <a:rPr lang="en-US" altLang="zh-CN" sz="1600" b="1" i="1" dirty="0">
                            <a:latin typeface="Cambria Math" panose="02040503050406030204" pitchFamily="18" charset="0"/>
                            <a:ea typeface="华文楷体" panose="02010600040101010101" pitchFamily="2" charset="-122"/>
                            <a:cs typeface="Times New Roman" panose="02020603050405020304" pitchFamily="18" charset="0"/>
                          </a:rPr>
                        </m:ctrlPr>
                      </m:sSubPr>
                      <m:e>
                        <m:r>
                          <a:rPr lang="en-US" altLang="zh-CN" sz="1600" b="1" dirty="0">
                            <a:latin typeface="Cambria Math" panose="02040503050406030204" pitchFamily="18" charset="0"/>
                            <a:ea typeface="华文楷体" panose="02010600040101010101" pitchFamily="2" charset="-122"/>
                            <a:cs typeface="Times New Roman" panose="02020603050405020304" pitchFamily="18" charset="0"/>
                          </a:rPr>
                          <m:t>𝑞</m:t>
                        </m:r>
                      </m:e>
                      <m:sub>
                        <m:r>
                          <a:rPr lang="en-US" altLang="zh-CN" sz="1600" b="1" dirty="0">
                            <a:latin typeface="Cambria Math" panose="02040503050406030204" pitchFamily="18" charset="0"/>
                            <a:ea typeface="华文楷体" panose="02010600040101010101" pitchFamily="2" charset="-122"/>
                            <a:cs typeface="Times New Roman" panose="02020603050405020304" pitchFamily="18" charset="0"/>
                          </a:rPr>
                          <m:t>𝜋</m:t>
                        </m:r>
                      </m:sub>
                    </m:sSub>
                    <m:r>
                      <a:rPr lang="en-US" altLang="zh-CN" sz="1600" b="1" dirty="0">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b="1" dirty="0">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600" b="1" dirty="0">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b="1" dirty="0">
                        <a:latin typeface="Cambria Math" panose="02040503050406030204" pitchFamily="18" charset="0"/>
                        <a:ea typeface="华文楷体" panose="02010600040101010101" pitchFamily="2" charset="-122"/>
                        <a:cs typeface="Times New Roman" panose="02020603050405020304" pitchFamily="18" charset="0"/>
                      </a:rPr>
                      <m:t>𝑎</m:t>
                    </m:r>
                    <m:r>
                      <a:rPr lang="en-US" altLang="zh-CN" sz="1600" b="1" dirty="0">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。用</a:t>
                </a:r>
                <a14:m>
                  <m:oMath xmlns:m="http://schemas.openxmlformats.org/officeDocument/2006/math">
                    <m:r>
                      <a:rPr lang="en-US" altLang="zh-CN" sz="1600" b="1">
                        <a:latin typeface="Cambria Math" panose="02040503050406030204" pitchFamily="18" charset="0"/>
                        <a:ea typeface="华文楷体" panose="02010600040101010101" pitchFamily="2" charset="-122"/>
                        <a:cs typeface="Times New Roman" panose="02020603050405020304" pitchFamily="18" charset="0"/>
                      </a:rPr>
                      <m:t>𝜖</m:t>
                    </m:r>
                  </m:oMath>
                </a14:m>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贪心（</a:t>
                </a:r>
                <a14:m>
                  <m:oMath xmlns:m="http://schemas.openxmlformats.org/officeDocument/2006/math">
                    <m:r>
                      <a:rPr lang="en-US" altLang="zh-CN" sz="1600" b="1">
                        <a:latin typeface="Cambria Math" panose="02040503050406030204" pitchFamily="18" charset="0"/>
                        <a:ea typeface="华文楷体" panose="02010600040101010101" pitchFamily="2" charset="-122"/>
                        <a:cs typeface="Times New Roman" panose="02020603050405020304" pitchFamily="18" charset="0"/>
                      </a:rPr>
                      <m:t>𝜖</m:t>
                    </m:r>
                  </m:oMath>
                </a14:m>
                <a:r>
                  <a:rPr lang="en-US" altLang="zh-CN" sz="1600" b="1" dirty="0">
                    <a:latin typeface="Times New Roman" panose="02020603050405020304" pitchFamily="18" charset="0"/>
                    <a:ea typeface="华文楷体" panose="02010600040101010101" pitchFamily="2" charset="-122"/>
                    <a:cs typeface="Times New Roman" panose="02020603050405020304" pitchFamily="18" charset="0"/>
                  </a:rPr>
                  <a:t>-greedy</a:t>
                </a: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）策略定义如下：在状态</a:t>
                </a:r>
                <a14:m>
                  <m:oMath xmlns:m="http://schemas.openxmlformats.org/officeDocument/2006/math">
                    <m:r>
                      <a:rPr lang="en-US" altLang="zh-CN" sz="1600" b="1">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600" b="1">
                        <a:latin typeface="Cambria Math" panose="02040503050406030204" pitchFamily="18" charset="0"/>
                        <a:ea typeface="华文楷体" panose="02010600040101010101" pitchFamily="2" charset="-122"/>
                        <a:cs typeface="Times New Roman" panose="02020603050405020304" pitchFamily="18" charset="0"/>
                      </a:rPr>
                      <m:t>,</m:t>
                    </m:r>
                    <m:r>
                      <m:rPr>
                        <m:brk m:alnAt="7"/>
                      </m:rPr>
                      <a:rPr lang="zh-CN" altLang="en-US" sz="1600" b="1">
                        <a:latin typeface="Cambria Math" panose="02040503050406030204" pitchFamily="18" charset="0"/>
                        <a:ea typeface="华文楷体" panose="02010600040101010101" pitchFamily="2" charset="-122"/>
                        <a:cs typeface="Times New Roman" panose="02020603050405020304" pitchFamily="18" charset="0"/>
                      </a:rPr>
                      <m:t>以</m:t>
                    </m:r>
                    <m:r>
                      <m:rPr>
                        <m:brk m:alnAt="7"/>
                      </m:rPr>
                      <a:rPr lang="en-US" altLang="zh-CN" sz="1600" b="1">
                        <a:latin typeface="Cambria Math" panose="02040503050406030204" pitchFamily="18" charset="0"/>
                        <a:ea typeface="华文楷体" panose="02010600040101010101" pitchFamily="2" charset="-122"/>
                        <a:cs typeface="Times New Roman" panose="02020603050405020304" pitchFamily="18" charset="0"/>
                      </a:rPr>
                      <m:t>1</m:t>
                    </m:r>
                    <m:r>
                      <a:rPr lang="en-US" altLang="zh-CN" sz="1600" b="1">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b="1">
                        <a:latin typeface="Cambria Math" panose="02040503050406030204" pitchFamily="18" charset="0"/>
                        <a:ea typeface="华文楷体" panose="02010600040101010101" pitchFamily="2" charset="-122"/>
                        <a:cs typeface="Times New Roman" panose="02020603050405020304" pitchFamily="18" charset="0"/>
                      </a:rPr>
                      <m:t>𝜖</m:t>
                    </m:r>
                  </m:oMath>
                </a14:m>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的概率来选择带来最大回报的动作，或者以</a:t>
                </a:r>
                <a14:m>
                  <m:oMath xmlns:m="http://schemas.openxmlformats.org/officeDocument/2006/math">
                    <m:r>
                      <a:rPr lang="en-US" altLang="zh-CN" sz="1600" b="1">
                        <a:latin typeface="Cambria Math" panose="02040503050406030204" pitchFamily="18" charset="0"/>
                        <a:ea typeface="华文楷体" panose="02010600040101010101" pitchFamily="2" charset="-122"/>
                        <a:cs typeface="Times New Roman" panose="02020603050405020304" pitchFamily="18" charset="0"/>
                      </a:rPr>
                      <m:t>𝜖</m:t>
                    </m:r>
                  </m:oMath>
                </a14:m>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的概率来随机选择一个动作。</a:t>
                </a:r>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5" name="文本框 162">
                <a:extLst>
                  <a:ext uri="{FF2B5EF4-FFF2-40B4-BE49-F238E27FC236}">
                    <a16:creationId xmlns:a16="http://schemas.microsoft.com/office/drawing/2014/main" id="{9B4AAD68-3E4B-4612-9052-588F7030C324}"/>
                  </a:ext>
                </a:extLst>
              </p:cNvPr>
              <p:cNvSpPr txBox="1">
                <a:spLocks noRot="1" noChangeAspect="1" noMove="1" noResize="1" noEditPoints="1" noAdjustHandles="1" noChangeArrowheads="1" noChangeShapeType="1" noTextEdit="1"/>
              </p:cNvSpPr>
              <p:nvPr/>
            </p:nvSpPr>
            <p:spPr>
              <a:xfrm>
                <a:off x="929969" y="5663781"/>
                <a:ext cx="10836811" cy="833818"/>
              </a:xfrm>
              <a:prstGeom prst="rect">
                <a:avLst/>
              </a:prstGeom>
              <a:blipFill>
                <a:blip r:embed="rId6"/>
                <a:stretch>
                  <a:fillRect l="-338" t="-2920" r="-338" b="-9489"/>
                </a:stretch>
              </a:blipFill>
            </p:spPr>
            <p:txBody>
              <a:bodyPr/>
              <a:lstStyle/>
              <a:p>
                <a:r>
                  <a:rPr lang="zh-CN" altLang="en-US">
                    <a:noFill/>
                  </a:rPr>
                  <a:t> </a:t>
                </a:r>
              </a:p>
            </p:txBody>
          </p:sp>
        </mc:Fallback>
      </mc:AlternateContent>
      <p:pic>
        <p:nvPicPr>
          <p:cNvPr id="16" name="图片 15">
            <a:extLst>
              <a:ext uri="{FF2B5EF4-FFF2-40B4-BE49-F238E27FC236}">
                <a16:creationId xmlns:a16="http://schemas.microsoft.com/office/drawing/2014/main" id="{D9F0F910-AB9D-4EE0-99CF-443C03926A98}"/>
              </a:ext>
            </a:extLst>
          </p:cNvPr>
          <p:cNvPicPr>
            <a:picLocks noChangeAspect="1"/>
          </p:cNvPicPr>
          <p:nvPr/>
        </p:nvPicPr>
        <p:blipFill>
          <a:blip r:embed="rId7"/>
          <a:stretch>
            <a:fillRect/>
          </a:stretch>
        </p:blipFill>
        <p:spPr>
          <a:xfrm>
            <a:off x="2049202" y="3551794"/>
            <a:ext cx="515562" cy="525330"/>
          </a:xfrm>
          <a:prstGeom prst="rect">
            <a:avLst/>
          </a:prstGeom>
        </p:spPr>
      </p:pic>
    </p:spTree>
    <p:extLst>
      <p:ext uri="{BB962C8B-B14F-4D97-AF65-F5344CB8AC3E}">
        <p14:creationId xmlns:p14="http://schemas.microsoft.com/office/powerpoint/2010/main" val="2782628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探索与利用</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p:pic>
        <p:nvPicPr>
          <p:cNvPr id="2" name="图片 1">
            <a:extLst>
              <a:ext uri="{FF2B5EF4-FFF2-40B4-BE49-F238E27FC236}">
                <a16:creationId xmlns:a16="http://schemas.microsoft.com/office/drawing/2014/main" id="{758DB943-BF2D-4D15-97E5-2ACC2BF94E68}"/>
              </a:ext>
            </a:extLst>
          </p:cNvPr>
          <p:cNvPicPr>
            <a:picLocks noChangeAspect="1"/>
          </p:cNvPicPr>
          <p:nvPr/>
        </p:nvPicPr>
        <p:blipFill>
          <a:blip r:embed="rId3"/>
          <a:stretch>
            <a:fillRect/>
          </a:stretch>
        </p:blipFill>
        <p:spPr>
          <a:xfrm>
            <a:off x="5690897" y="1254816"/>
            <a:ext cx="5881978" cy="4014606"/>
          </a:xfrm>
          <a:prstGeom prst="rect">
            <a:avLst/>
          </a:prstGeom>
        </p:spPr>
      </p:pic>
      <p:grpSp>
        <p:nvGrpSpPr>
          <p:cNvPr id="17" name="组合 16">
            <a:extLst>
              <a:ext uri="{FF2B5EF4-FFF2-40B4-BE49-F238E27FC236}">
                <a16:creationId xmlns:a16="http://schemas.microsoft.com/office/drawing/2014/main" id="{D518797B-B020-465E-BEF8-4E341D4DBD13}"/>
              </a:ext>
            </a:extLst>
          </p:cNvPr>
          <p:cNvGrpSpPr/>
          <p:nvPr/>
        </p:nvGrpSpPr>
        <p:grpSpPr>
          <a:xfrm>
            <a:off x="53880" y="1224882"/>
            <a:ext cx="5190208" cy="5288859"/>
            <a:chOff x="669195" y="1885713"/>
            <a:chExt cx="4534133" cy="4297899"/>
          </a:xfrm>
        </p:grpSpPr>
        <p:pic>
          <p:nvPicPr>
            <p:cNvPr id="7" name="图片 6">
              <a:extLst>
                <a:ext uri="{FF2B5EF4-FFF2-40B4-BE49-F238E27FC236}">
                  <a16:creationId xmlns:a16="http://schemas.microsoft.com/office/drawing/2014/main" id="{D34648E7-E54C-46E4-B29F-6CC212608A07}"/>
                </a:ext>
              </a:extLst>
            </p:cNvPr>
            <p:cNvPicPr>
              <a:picLocks noChangeAspect="1"/>
            </p:cNvPicPr>
            <p:nvPr/>
          </p:nvPicPr>
          <p:blipFill>
            <a:blip r:embed="rId4"/>
            <a:stretch>
              <a:fillRect/>
            </a:stretch>
          </p:blipFill>
          <p:spPr>
            <a:xfrm>
              <a:off x="669195" y="1885713"/>
              <a:ext cx="4505557" cy="676310"/>
            </a:xfrm>
            <a:prstGeom prst="rect">
              <a:avLst/>
            </a:prstGeom>
          </p:spPr>
        </p:pic>
        <p:pic>
          <p:nvPicPr>
            <p:cNvPr id="8" name="图片 7">
              <a:extLst>
                <a:ext uri="{FF2B5EF4-FFF2-40B4-BE49-F238E27FC236}">
                  <a16:creationId xmlns:a16="http://schemas.microsoft.com/office/drawing/2014/main" id="{4127CD74-6D3A-4ADA-BA9D-55EA31279D2A}"/>
                </a:ext>
              </a:extLst>
            </p:cNvPr>
            <p:cNvPicPr>
              <a:picLocks noChangeAspect="1"/>
            </p:cNvPicPr>
            <p:nvPr/>
          </p:nvPicPr>
          <p:blipFill>
            <a:blip r:embed="rId5"/>
            <a:stretch>
              <a:fillRect/>
            </a:stretch>
          </p:blipFill>
          <p:spPr>
            <a:xfrm>
              <a:off x="669195" y="2408343"/>
              <a:ext cx="4534133" cy="3775269"/>
            </a:xfrm>
            <a:prstGeom prst="rect">
              <a:avLst/>
            </a:prstGeom>
          </p:spPr>
        </p:pic>
      </p:grpSp>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0862374D-3432-49DF-9683-080E5B97EE5F}"/>
                  </a:ext>
                </a:extLst>
              </p:cNvPr>
              <p:cNvSpPr/>
              <p:nvPr/>
            </p:nvSpPr>
            <p:spPr>
              <a:xfrm>
                <a:off x="5211377" y="5183364"/>
                <a:ext cx="6691532" cy="1199046"/>
              </a:xfrm>
              <a:prstGeom prst="rect">
                <a:avLst/>
              </a:prstGeom>
            </p:spPr>
            <p:txBody>
              <a:bodyPr wrap="square">
                <a:spAutoFit/>
              </a:bodyPr>
              <a:lstStyle/>
              <a:p>
                <a:pPr indent="266700" algn="just">
                  <a:lnSpc>
                    <a:spcPts val="22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由于</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𝜖</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贪心策略具有概率性，因此图</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6.13</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中的</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最终策略</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并不是确定的，有可能经过</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100</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个片段仍不能得到一个合适的策略。</a:t>
                </a: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ts val="22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但随着迭代次数的增加，算法探索到最优策略的可能性也会显著增加，通过适当增大参数</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𝜖</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的值也能够促进算法乐于探索。</a:t>
                </a:r>
              </a:p>
            </p:txBody>
          </p:sp>
        </mc:Choice>
        <mc:Fallback xmlns="">
          <p:sp>
            <p:nvSpPr>
              <p:cNvPr id="18" name="矩形 17">
                <a:extLst>
                  <a:ext uri="{FF2B5EF4-FFF2-40B4-BE49-F238E27FC236}">
                    <a16:creationId xmlns:a16="http://schemas.microsoft.com/office/drawing/2014/main" id="{0862374D-3432-49DF-9683-080E5B97EE5F}"/>
                  </a:ext>
                </a:extLst>
              </p:cNvPr>
              <p:cNvSpPr>
                <a:spLocks noRot="1" noChangeAspect="1" noMove="1" noResize="1" noEditPoints="1" noAdjustHandles="1" noChangeArrowheads="1" noChangeShapeType="1" noTextEdit="1"/>
              </p:cNvSpPr>
              <p:nvPr/>
            </p:nvSpPr>
            <p:spPr>
              <a:xfrm>
                <a:off x="5211377" y="5183364"/>
                <a:ext cx="6691532" cy="1199046"/>
              </a:xfrm>
              <a:prstGeom prst="rect">
                <a:avLst/>
              </a:prstGeom>
              <a:blipFill>
                <a:blip r:embed="rId6"/>
                <a:stretch>
                  <a:fillRect l="-546" t="-508" r="-3370" b="-558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6788867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参数化与深度强化学习</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7CDAD2E5-6C8D-4C6A-B11F-9F3EB217025D}"/>
                  </a:ext>
                </a:extLst>
              </p:cNvPr>
              <p:cNvSpPr/>
              <p:nvPr/>
            </p:nvSpPr>
            <p:spPr>
              <a:xfrm>
                <a:off x="32825" y="1980077"/>
                <a:ext cx="6433624" cy="3372718"/>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考虑在算法</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6.7</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中给出的</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Q</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学习算法流程。在这个算法中，动作</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价值函数需要用一个数组来记录。但是在有些实际问题中，</a:t>
                </a:r>
                <a:r>
                  <a:rPr lang="zh-CN" altLang="zh-CN" sz="1600" dirty="0">
                    <a:solidFill>
                      <a:srgbClr val="FF0000"/>
                    </a:solidFill>
                    <a:latin typeface="Times New Roman" panose="02020603050405020304" pitchFamily="18" charset="0"/>
                    <a:ea typeface="楷体_GB2312"/>
                    <a:cs typeface="Times New Roman" panose="02020603050405020304" pitchFamily="18" charset="0"/>
                  </a:rPr>
                  <a:t>状态数量会非常多甚至是无限的</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，这样会造成如下两个问题：首先是算法很难用一个数组来存储动作</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价值函数的值；其次是有些状态的访问次数可能很少甚至根本没有被访问过，这些状态的价值估计是不可靠的。</a:t>
                </a:r>
              </a:p>
              <a:p>
                <a:pPr marL="285750" indent="-285750" algn="just">
                  <a:lnSpc>
                    <a:spcPct val="150000"/>
                  </a:lnSpc>
                  <a:spcAft>
                    <a:spcPts val="0"/>
                  </a:spcAft>
                  <a:buFont typeface="Wingdings" panose="05000000000000000000" pitchFamily="2" charset="2"/>
                  <a:buChar char="l"/>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为了解决这两个问题，</a:t>
                </a:r>
                <a:r>
                  <a:rPr lang="zh-CN" altLang="zh-CN" sz="1600" dirty="0">
                    <a:solidFill>
                      <a:srgbClr val="FF0000"/>
                    </a:solidFill>
                    <a:latin typeface="Times New Roman" panose="02020603050405020304" pitchFamily="18" charset="0"/>
                    <a:ea typeface="楷体_GB2312"/>
                    <a:cs typeface="Times New Roman" panose="02020603050405020304" pitchFamily="18" charset="0"/>
                  </a:rPr>
                  <a:t>一种解决方案是将动作</a:t>
                </a:r>
                <a:r>
                  <a:rPr lang="en-US" altLang="zh-CN" sz="1600" dirty="0">
                    <a:solidFill>
                      <a:srgbClr val="FF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FF0000"/>
                    </a:solidFill>
                    <a:latin typeface="Times New Roman" panose="02020603050405020304" pitchFamily="18" charset="0"/>
                    <a:ea typeface="楷体_GB2312"/>
                    <a:cs typeface="Times New Roman" panose="02020603050405020304" pitchFamily="18" charset="0"/>
                  </a:rPr>
                  <a:t>价值函数参数化（</a:t>
                </a:r>
                <a:r>
                  <a:rPr lang="en-US" altLang="zh-CN" sz="1600" dirty="0">
                    <a:solidFill>
                      <a:srgbClr val="FF0000"/>
                    </a:solidFill>
                    <a:latin typeface="Times New Roman" panose="02020603050405020304" pitchFamily="18" charset="0"/>
                    <a:ea typeface="楷体_GB2312"/>
                    <a:cs typeface="Times New Roman" panose="02020603050405020304" pitchFamily="18" charset="0"/>
                  </a:rPr>
                  <a:t>parameterized</a:t>
                </a:r>
                <a:r>
                  <a:rPr lang="zh-CN" altLang="zh-CN" sz="1600" dirty="0">
                    <a:solidFill>
                      <a:srgbClr val="FF0000"/>
                    </a:solidFill>
                    <a:latin typeface="Times New Roman" panose="02020603050405020304" pitchFamily="18" charset="0"/>
                    <a:ea typeface="楷体_GB2312"/>
                    <a:cs typeface="Times New Roman" panose="02020603050405020304" pitchFamily="18" charset="0"/>
                  </a:rPr>
                  <a:t>），即用一个回归模型来拟合</a:t>
                </a:r>
                <a14:m>
                  <m:oMath xmlns:m="http://schemas.openxmlformats.org/officeDocument/2006/math">
                    <m:sSub>
                      <m:sSubPr>
                        <m:ctrlPr>
                          <a:rPr lang="zh-CN" altLang="zh-CN" sz="16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FF0000"/>
                            </a:solidFill>
                            <a:latin typeface="Cambria Math" panose="02040503050406030204" pitchFamily="18" charset="0"/>
                            <a:ea typeface="楷体_GB2312"/>
                            <a:cs typeface="Times New Roman" panose="02020603050405020304" pitchFamily="18" charset="0"/>
                          </a:rPr>
                          <m:t>𝑞</m:t>
                        </m:r>
                      </m:e>
                      <m:sub>
                        <m:r>
                          <a:rPr lang="en-US" altLang="zh-CN" sz="1600" i="1">
                            <a:solidFill>
                              <a:srgbClr val="FF0000"/>
                            </a:solidFill>
                            <a:latin typeface="Cambria Math" panose="02040503050406030204" pitchFamily="18" charset="0"/>
                            <a:ea typeface="楷体_GB2312"/>
                            <a:cs typeface="Times New Roman" panose="02020603050405020304" pitchFamily="18" charset="0"/>
                          </a:rPr>
                          <m:t>𝜋</m:t>
                        </m:r>
                      </m:sub>
                    </m:sSub>
                  </m:oMath>
                </a14:m>
                <a:r>
                  <a:rPr lang="zh-CN" altLang="zh-CN" sz="1600" dirty="0">
                    <a:solidFill>
                      <a:srgbClr val="FF0000"/>
                    </a:solidFill>
                    <a:latin typeface="Times New Roman" panose="02020603050405020304" pitchFamily="18" charset="0"/>
                    <a:ea typeface="楷体_GB2312"/>
                    <a:cs typeface="Times New Roman" panose="02020603050405020304" pitchFamily="18" charset="0"/>
                  </a:rPr>
                  <a:t>函数</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。如果回归模型是一个深度神经网络，那么这样的算法就被称为深度强化学习</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(deep reinforcement learning)</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算法。</a:t>
                </a:r>
              </a:p>
            </p:txBody>
          </p:sp>
        </mc:Choice>
        <mc:Fallback xmlns="">
          <p:sp>
            <p:nvSpPr>
              <p:cNvPr id="10" name="矩形 9">
                <a:extLst>
                  <a:ext uri="{FF2B5EF4-FFF2-40B4-BE49-F238E27FC236}">
                    <a16:creationId xmlns:a16="http://schemas.microsoft.com/office/drawing/2014/main" id="{7CDAD2E5-6C8D-4C6A-B11F-9F3EB217025D}"/>
                  </a:ext>
                </a:extLst>
              </p:cNvPr>
              <p:cNvSpPr>
                <a:spLocks noRot="1" noChangeAspect="1" noMove="1" noResize="1" noEditPoints="1" noAdjustHandles="1" noChangeArrowheads="1" noChangeShapeType="1" noTextEdit="1"/>
              </p:cNvSpPr>
              <p:nvPr/>
            </p:nvSpPr>
            <p:spPr>
              <a:xfrm>
                <a:off x="32825" y="1980077"/>
                <a:ext cx="6433624" cy="3372718"/>
              </a:xfrm>
              <a:prstGeom prst="rect">
                <a:avLst/>
              </a:prstGeom>
              <a:blipFill>
                <a:blip r:embed="rId3"/>
                <a:stretch>
                  <a:fillRect l="-379" r="-3693" b="-1447"/>
                </a:stretch>
              </a:blipFill>
            </p:spPr>
            <p:txBody>
              <a:bodyPr/>
              <a:lstStyle/>
              <a:p>
                <a:r>
                  <a:rPr lang="zh-CN" altLang="en-US">
                    <a:noFill/>
                  </a:rPr>
                  <a:t> </a:t>
                </a:r>
              </a:p>
            </p:txBody>
          </p:sp>
        </mc:Fallback>
      </mc:AlternateContent>
      <p:pic>
        <p:nvPicPr>
          <p:cNvPr id="11" name="图片 10"/>
          <p:cNvPicPr>
            <a:picLocks noChangeAspect="1"/>
          </p:cNvPicPr>
          <p:nvPr/>
        </p:nvPicPr>
        <p:blipFill>
          <a:blip r:embed="rId4"/>
          <a:stretch>
            <a:fillRect/>
          </a:stretch>
        </p:blipFill>
        <p:spPr>
          <a:xfrm>
            <a:off x="6651767" y="1415232"/>
            <a:ext cx="5149707" cy="5333146"/>
          </a:xfrm>
          <a:prstGeom prst="rect">
            <a:avLst/>
          </a:prstGeom>
        </p:spPr>
      </p:pic>
    </p:spTree>
    <p:extLst>
      <p:ext uri="{BB962C8B-B14F-4D97-AF65-F5344CB8AC3E}">
        <p14:creationId xmlns:p14="http://schemas.microsoft.com/office/powerpoint/2010/main" val="31983321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参数化与深度强化学习</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p:pic>
        <p:nvPicPr>
          <p:cNvPr id="2" name="图片 1"/>
          <p:cNvPicPr>
            <a:picLocks noChangeAspect="1"/>
          </p:cNvPicPr>
          <p:nvPr/>
        </p:nvPicPr>
        <p:blipFill>
          <a:blip r:embed="rId3"/>
          <a:stretch>
            <a:fillRect/>
          </a:stretch>
        </p:blipFill>
        <p:spPr>
          <a:xfrm>
            <a:off x="6500238" y="1254816"/>
            <a:ext cx="5357407" cy="5548244"/>
          </a:xfrm>
          <a:prstGeom prst="rect">
            <a:avLst/>
          </a:prstGeom>
        </p:spPr>
      </p:pic>
      <p:grpSp>
        <p:nvGrpSpPr>
          <p:cNvPr id="7" name="组合 6">
            <a:extLst>
              <a:ext uri="{FF2B5EF4-FFF2-40B4-BE49-F238E27FC236}">
                <a16:creationId xmlns:a16="http://schemas.microsoft.com/office/drawing/2014/main" id="{5B6490F6-DD8D-93EE-C920-E94E56724E85}"/>
              </a:ext>
            </a:extLst>
          </p:cNvPr>
          <p:cNvGrpSpPr/>
          <p:nvPr/>
        </p:nvGrpSpPr>
        <p:grpSpPr>
          <a:xfrm>
            <a:off x="501555" y="1254816"/>
            <a:ext cx="5508720" cy="5548243"/>
            <a:chOff x="669195" y="1885713"/>
            <a:chExt cx="4534133" cy="4297899"/>
          </a:xfrm>
        </p:grpSpPr>
        <p:pic>
          <p:nvPicPr>
            <p:cNvPr id="8" name="图片 7">
              <a:extLst>
                <a:ext uri="{FF2B5EF4-FFF2-40B4-BE49-F238E27FC236}">
                  <a16:creationId xmlns:a16="http://schemas.microsoft.com/office/drawing/2014/main" id="{A770E799-A9C3-AD65-EAEC-7666CF91CAAE}"/>
                </a:ext>
              </a:extLst>
            </p:cNvPr>
            <p:cNvPicPr>
              <a:picLocks noChangeAspect="1"/>
            </p:cNvPicPr>
            <p:nvPr/>
          </p:nvPicPr>
          <p:blipFill>
            <a:blip r:embed="rId4"/>
            <a:stretch>
              <a:fillRect/>
            </a:stretch>
          </p:blipFill>
          <p:spPr>
            <a:xfrm>
              <a:off x="669195" y="1885713"/>
              <a:ext cx="4505557" cy="676310"/>
            </a:xfrm>
            <a:prstGeom prst="rect">
              <a:avLst/>
            </a:prstGeom>
          </p:spPr>
        </p:pic>
        <p:pic>
          <p:nvPicPr>
            <p:cNvPr id="9" name="图片 8">
              <a:extLst>
                <a:ext uri="{FF2B5EF4-FFF2-40B4-BE49-F238E27FC236}">
                  <a16:creationId xmlns:a16="http://schemas.microsoft.com/office/drawing/2014/main" id="{1FDC4E60-8026-A81D-E94B-696EEC243D20}"/>
                </a:ext>
              </a:extLst>
            </p:cNvPr>
            <p:cNvPicPr>
              <a:picLocks noChangeAspect="1"/>
            </p:cNvPicPr>
            <p:nvPr/>
          </p:nvPicPr>
          <p:blipFill>
            <a:blip r:embed="rId5"/>
            <a:stretch>
              <a:fillRect/>
            </a:stretch>
          </p:blipFill>
          <p:spPr>
            <a:xfrm>
              <a:off x="669195" y="2408343"/>
              <a:ext cx="4534133" cy="3775269"/>
            </a:xfrm>
            <a:prstGeom prst="rect">
              <a:avLst/>
            </a:prstGeom>
          </p:spPr>
        </p:pic>
      </p:grpSp>
      <p:sp>
        <p:nvSpPr>
          <p:cNvPr id="11" name="矩形: 圆角 10">
            <a:extLst>
              <a:ext uri="{FF2B5EF4-FFF2-40B4-BE49-F238E27FC236}">
                <a16:creationId xmlns:a16="http://schemas.microsoft.com/office/drawing/2014/main" id="{2560222D-6B69-C78E-C927-BB1DEE88853C}"/>
              </a:ext>
            </a:extLst>
          </p:cNvPr>
          <p:cNvSpPr/>
          <p:nvPr/>
        </p:nvSpPr>
        <p:spPr>
          <a:xfrm>
            <a:off x="1104900" y="5667375"/>
            <a:ext cx="3067050" cy="247650"/>
          </a:xfrm>
          <a:prstGeom prst="roundRect">
            <a:avLst/>
          </a:prstGeom>
          <a:noFill/>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12" name="矩形: 圆角 11">
            <a:extLst>
              <a:ext uri="{FF2B5EF4-FFF2-40B4-BE49-F238E27FC236}">
                <a16:creationId xmlns:a16="http://schemas.microsoft.com/office/drawing/2014/main" id="{0C74045F-B758-C446-DAA7-9C94F5E4EE7A}"/>
              </a:ext>
            </a:extLst>
          </p:cNvPr>
          <p:cNvSpPr/>
          <p:nvPr/>
        </p:nvSpPr>
        <p:spPr>
          <a:xfrm>
            <a:off x="7410449" y="4366273"/>
            <a:ext cx="4279995" cy="1148701"/>
          </a:xfrm>
          <a:prstGeom prst="roundRect">
            <a:avLst/>
          </a:prstGeom>
          <a:noFill/>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219657073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参数化与深度强化学习</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7CDAD2E5-6C8D-4C6A-B11F-9F3EB217025D}"/>
                  </a:ext>
                </a:extLst>
              </p:cNvPr>
              <p:cNvSpPr/>
              <p:nvPr/>
            </p:nvSpPr>
            <p:spPr>
              <a:xfrm>
                <a:off x="359459" y="1698063"/>
                <a:ext cx="6433624" cy="2750112"/>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r>
                  <a:rPr lang="zh-CN" altLang="zh-CN" dirty="0">
                    <a:latin typeface="Times New Roman" panose="02020603050405020304" pitchFamily="18" charset="0"/>
                    <a:ea typeface="黑体" panose="02010609060101010101" pitchFamily="49" charset="-122"/>
                    <a:cs typeface="Times New Roman" panose="02020603050405020304" pitchFamily="18" charset="0"/>
                  </a:rPr>
                  <a:t>和非参数化的算法</a:t>
                </a:r>
                <a:r>
                  <a:rPr lang="en-US" altLang="zh-CN" dirty="0">
                    <a:latin typeface="Times New Roman" panose="02020603050405020304" pitchFamily="18" charset="0"/>
                    <a:ea typeface="黑体" panose="02010609060101010101" pitchFamily="49" charset="-122"/>
                    <a:cs typeface="Times New Roman" panose="02020603050405020304" pitchFamily="18" charset="0"/>
                  </a:rPr>
                  <a:t>6.7</a:t>
                </a:r>
                <a:r>
                  <a:rPr lang="zh-CN" altLang="zh-CN" dirty="0">
                    <a:latin typeface="Times New Roman" panose="02020603050405020304" pitchFamily="18" charset="0"/>
                    <a:ea typeface="黑体" panose="02010609060101010101" pitchFamily="49" charset="-122"/>
                    <a:cs typeface="Times New Roman" panose="02020603050405020304" pitchFamily="18" charset="0"/>
                  </a:rPr>
                  <a:t>进行对比，不难发现，</a:t>
                </a:r>
                <a:r>
                  <a:rPr lang="zh-CN"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区别主要在算法</a:t>
                </a:r>
                <a:r>
                  <a:rPr lang="en-US"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6.8</a:t>
                </a:r>
                <a:r>
                  <a:rPr lang="zh-CN"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中第</a:t>
                </a:r>
                <a:r>
                  <a:rPr lang="en-US"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7</a:t>
                </a:r>
                <a:r>
                  <a:rPr lang="zh-CN"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行和第</a:t>
                </a:r>
                <a:r>
                  <a:rPr lang="en-US"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8</a:t>
                </a:r>
                <a:r>
                  <a:rPr lang="zh-CN"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行的动作</a:t>
                </a:r>
                <a:r>
                  <a:rPr lang="en-US"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价值函数更新</a:t>
                </a:r>
                <a:r>
                  <a:rPr lang="zh-CN" altLang="zh-CN"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r>
                  <a:rPr lang="zh-CN" altLang="zh-CN" dirty="0">
                    <a:latin typeface="Times New Roman" panose="02020603050405020304" pitchFamily="18" charset="0"/>
                    <a:ea typeface="黑体" panose="02010609060101010101" pitchFamily="49" charset="-122"/>
                    <a:cs typeface="Times New Roman" panose="02020603050405020304" pitchFamily="18" charset="0"/>
                  </a:rPr>
                  <a:t>类似</a:t>
                </a:r>
                <a:r>
                  <a:rPr lang="en-US" altLang="zh-CN" dirty="0">
                    <a:latin typeface="Times New Roman" panose="02020603050405020304" pitchFamily="18" charset="0"/>
                    <a:ea typeface="黑体" panose="02010609060101010101" pitchFamily="49" charset="-122"/>
                    <a:cs typeface="Times New Roman" panose="02020603050405020304" pitchFamily="18" charset="0"/>
                  </a:rPr>
                  <a:t>6.2.3</a:t>
                </a:r>
                <a:r>
                  <a:rPr lang="zh-CN" altLang="zh-CN" dirty="0">
                    <a:latin typeface="Times New Roman" panose="02020603050405020304" pitchFamily="18" charset="0"/>
                    <a:ea typeface="黑体" panose="02010609060101010101" pitchFamily="49" charset="-122"/>
                    <a:cs typeface="Times New Roman" panose="02020603050405020304" pitchFamily="18" charset="0"/>
                  </a:rPr>
                  <a:t>节对时序差分法的分析，</a:t>
                </a:r>
                <a14:m>
                  <m:oMath xmlns:m="http://schemas.openxmlformats.org/officeDocument/2006/math">
                    <m:r>
                      <a:rPr lang="en-US" altLang="zh-CN" i="1" smtClean="0">
                        <a:solidFill>
                          <a:srgbClr val="FF0000"/>
                        </a:solidFill>
                        <a:latin typeface="Cambria Math" panose="02040503050406030204" pitchFamily="18" charset="0"/>
                      </a:rPr>
                      <m:t>𝑅</m:t>
                    </m:r>
                    <m:r>
                      <a:rPr lang="en-US" altLang="zh-CN" i="1" smtClean="0">
                        <a:solidFill>
                          <a:srgbClr val="FF0000"/>
                        </a:solidFill>
                        <a:latin typeface="Cambria Math" panose="02040503050406030204" pitchFamily="18" charset="0"/>
                      </a:rPr>
                      <m:t>+</m:t>
                    </m:r>
                    <m:func>
                      <m:funcPr>
                        <m:ctrlPr>
                          <a:rPr lang="zh-CN" altLang="zh-CN" i="1">
                            <a:solidFill>
                              <a:srgbClr val="FF0000"/>
                            </a:solidFill>
                            <a:latin typeface="Cambria Math" panose="02040503050406030204" pitchFamily="18" charset="0"/>
                          </a:rPr>
                        </m:ctrlPr>
                      </m:funcPr>
                      <m:fName>
                        <m:limLow>
                          <m:limLowPr>
                            <m:ctrlPr>
                              <a:rPr lang="zh-CN" altLang="zh-CN" i="1">
                                <a:solidFill>
                                  <a:srgbClr val="FF0000"/>
                                </a:solidFill>
                                <a:latin typeface="Cambria Math" panose="02040503050406030204" pitchFamily="18" charset="0"/>
                              </a:rPr>
                            </m:ctrlPr>
                          </m:limLowPr>
                          <m:e>
                            <m:r>
                              <m:rPr>
                                <m:sty m:val="p"/>
                              </m:rPr>
                              <a:rPr lang="en-US" altLang="zh-CN">
                                <a:solidFill>
                                  <a:srgbClr val="FF0000"/>
                                </a:solidFill>
                                <a:latin typeface="Cambria Math" panose="02040503050406030204" pitchFamily="18" charset="0"/>
                              </a:rPr>
                              <m:t>max</m:t>
                            </m:r>
                          </m:e>
                          <m:lim>
                            <m:sSup>
                              <m:sSupPr>
                                <m:ctrlPr>
                                  <a:rPr lang="zh-CN" altLang="zh-CN" i="1">
                                    <a:solidFill>
                                      <a:srgbClr val="FF0000"/>
                                    </a:solidFill>
                                    <a:latin typeface="Cambria Math" panose="02040503050406030204" pitchFamily="18" charset="0"/>
                                  </a:rPr>
                                </m:ctrlPr>
                              </m:sSupPr>
                              <m:e>
                                <m:r>
                                  <a:rPr lang="en-US" altLang="zh-CN" i="1">
                                    <a:solidFill>
                                      <a:srgbClr val="FF0000"/>
                                    </a:solidFill>
                                    <a:latin typeface="Cambria Math" panose="02040503050406030204" pitchFamily="18" charset="0"/>
                                  </a:rPr>
                                  <m:t>𝑎</m:t>
                                </m:r>
                              </m:e>
                              <m:sup>
                                <m:r>
                                  <a:rPr lang="en-US" altLang="zh-CN" i="1">
                                    <a:solidFill>
                                      <a:srgbClr val="FF0000"/>
                                    </a:solidFill>
                                    <a:latin typeface="Cambria Math" panose="02040503050406030204" pitchFamily="18" charset="0"/>
                                  </a:rPr>
                                  <m:t>′</m:t>
                                </m:r>
                              </m:sup>
                            </m:sSup>
                          </m:lim>
                        </m:limLow>
                      </m:fName>
                      <m:e>
                        <m:sSub>
                          <m:sSubPr>
                            <m:ctrlPr>
                              <a:rPr lang="zh-CN" altLang="zh-CN"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𝑞</m:t>
                            </m:r>
                          </m:e>
                          <m:sub>
                            <m:r>
                              <a:rPr lang="en-US" altLang="zh-CN" i="1">
                                <a:solidFill>
                                  <a:srgbClr val="FF0000"/>
                                </a:solidFill>
                                <a:latin typeface="Cambria Math" panose="02040503050406030204" pitchFamily="18" charset="0"/>
                              </a:rPr>
                              <m:t>𝜋</m:t>
                            </m:r>
                          </m:sub>
                        </m:sSub>
                        <m:r>
                          <a:rPr lang="en-US" altLang="zh-CN" i="1">
                            <a:solidFill>
                              <a:srgbClr val="FF0000"/>
                            </a:solidFill>
                            <a:latin typeface="Cambria Math" panose="02040503050406030204" pitchFamily="18" charset="0"/>
                          </a:rPr>
                          <m:t>(</m:t>
                        </m:r>
                        <m:sSup>
                          <m:sSupPr>
                            <m:ctrlPr>
                              <a:rPr lang="zh-CN" altLang="zh-CN" i="1">
                                <a:solidFill>
                                  <a:srgbClr val="FF0000"/>
                                </a:solidFill>
                                <a:latin typeface="Cambria Math" panose="02040503050406030204" pitchFamily="18" charset="0"/>
                              </a:rPr>
                            </m:ctrlPr>
                          </m:sSupPr>
                          <m:e>
                            <m:r>
                              <a:rPr lang="en-US" altLang="zh-CN" i="1">
                                <a:solidFill>
                                  <a:srgbClr val="FF0000"/>
                                </a:solidFill>
                                <a:latin typeface="Cambria Math" panose="02040503050406030204" pitchFamily="18" charset="0"/>
                              </a:rPr>
                              <m:t>𝑠</m:t>
                            </m:r>
                          </m:e>
                          <m:sup>
                            <m:r>
                              <a:rPr lang="en-US" altLang="zh-CN" i="1">
                                <a:solidFill>
                                  <a:srgbClr val="FF0000"/>
                                </a:solidFill>
                                <a:latin typeface="Cambria Math" panose="02040503050406030204" pitchFamily="18" charset="0"/>
                              </a:rPr>
                              <m:t>′</m:t>
                            </m:r>
                          </m:sup>
                        </m:sSup>
                        <m:r>
                          <a:rPr lang="en-US" altLang="zh-CN" i="1">
                            <a:solidFill>
                              <a:srgbClr val="FF0000"/>
                            </a:solidFill>
                            <a:latin typeface="Cambria Math" panose="02040503050406030204" pitchFamily="18" charset="0"/>
                          </a:rPr>
                          <m:t>,</m:t>
                        </m:r>
                        <m:sSup>
                          <m:sSupPr>
                            <m:ctrlPr>
                              <a:rPr lang="zh-CN" altLang="zh-CN" i="1">
                                <a:solidFill>
                                  <a:srgbClr val="FF0000"/>
                                </a:solidFill>
                                <a:latin typeface="Cambria Math" panose="02040503050406030204" pitchFamily="18" charset="0"/>
                              </a:rPr>
                            </m:ctrlPr>
                          </m:sSupPr>
                          <m:e>
                            <m:r>
                              <a:rPr lang="en-US" altLang="zh-CN" i="1">
                                <a:solidFill>
                                  <a:srgbClr val="FF0000"/>
                                </a:solidFill>
                                <a:latin typeface="Cambria Math" panose="02040503050406030204" pitchFamily="18" charset="0"/>
                              </a:rPr>
                              <m:t>𝑎</m:t>
                            </m:r>
                          </m:e>
                          <m:sup>
                            <m:r>
                              <a:rPr lang="en-US" altLang="zh-CN" i="1">
                                <a:solidFill>
                                  <a:srgbClr val="FF0000"/>
                                </a:solidFill>
                                <a:latin typeface="Cambria Math" panose="02040503050406030204" pitchFamily="18" charset="0"/>
                              </a:rPr>
                              <m:t>′</m:t>
                            </m:r>
                          </m:sup>
                        </m:sSup>
                        <m:r>
                          <a:rPr lang="en-US" altLang="zh-CN" i="1">
                            <a:solidFill>
                              <a:srgbClr val="FF0000"/>
                            </a:solidFill>
                            <a:latin typeface="Cambria Math" panose="02040503050406030204" pitchFamily="18" charset="0"/>
                          </a:rPr>
                          <m:t>;</m:t>
                        </m:r>
                        <m:r>
                          <a:rPr lang="en-US" altLang="zh-CN" b="1" i="1">
                            <a:solidFill>
                              <a:srgbClr val="FF0000"/>
                            </a:solidFill>
                            <a:latin typeface="Cambria Math" panose="02040503050406030204" pitchFamily="18" charset="0"/>
                          </a:rPr>
                          <m:t>𝜽</m:t>
                        </m:r>
                      </m:e>
                    </m:func>
                    <m:r>
                      <a:rPr lang="en-US" altLang="zh-CN" i="1">
                        <a:solidFill>
                          <a:srgbClr val="FF0000"/>
                        </a:solidFill>
                        <a:latin typeface="Cambria Math" panose="02040503050406030204" pitchFamily="18" charset="0"/>
                      </a:rPr>
                      <m:t>)</m:t>
                    </m:r>
                  </m:oMath>
                </a14:m>
                <a:r>
                  <a:rPr lang="zh-CN"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是对</a:t>
                </a:r>
                <a14:m>
                  <m:oMath xmlns:m="http://schemas.openxmlformats.org/officeDocument/2006/math">
                    <m:sSub>
                      <m:sSubPr>
                        <m:ctrlPr>
                          <a:rPr lang="zh-CN" altLang="zh-CN"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𝑞</m:t>
                        </m:r>
                      </m:e>
                      <m:sub>
                        <m:r>
                          <a:rPr lang="en-US" altLang="zh-CN" i="1">
                            <a:solidFill>
                              <a:srgbClr val="FF0000"/>
                            </a:solidFill>
                            <a:latin typeface="Cambria Math" panose="02040503050406030204" pitchFamily="18" charset="0"/>
                          </a:rPr>
                          <m:t>𝜋</m:t>
                        </m:r>
                      </m:sub>
                    </m:sSub>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𝑠</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𝑎</m:t>
                    </m:r>
                    <m:r>
                      <a:rPr lang="en-US" altLang="zh-CN" i="1">
                        <a:solidFill>
                          <a:srgbClr val="FF0000"/>
                        </a:solidFill>
                        <a:latin typeface="Cambria Math" panose="02040503050406030204" pitchFamily="18" charset="0"/>
                      </a:rPr>
                      <m:t>)</m:t>
                    </m:r>
                  </m:oMath>
                </a14:m>
                <a:r>
                  <a:rPr lang="zh-CN"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的估计值</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，因此算法</a:t>
                </a:r>
                <a:r>
                  <a:rPr lang="en-US" altLang="zh-CN" dirty="0">
                    <a:latin typeface="Times New Roman" panose="02020603050405020304" pitchFamily="18" charset="0"/>
                    <a:ea typeface="黑体" panose="02010609060101010101" pitchFamily="49" charset="-122"/>
                    <a:cs typeface="Times New Roman" panose="02020603050405020304" pitchFamily="18" charset="0"/>
                  </a:rPr>
                  <a:t>6. 8</a:t>
                </a:r>
                <a:r>
                  <a:rPr lang="zh-CN" altLang="zh-CN" dirty="0">
                    <a:latin typeface="Times New Roman" panose="02020603050405020304" pitchFamily="18" charset="0"/>
                    <a:ea typeface="黑体" panose="02010609060101010101" pitchFamily="49" charset="-122"/>
                    <a:cs typeface="Times New Roman" panose="02020603050405020304" pitchFamily="18" charset="0"/>
                  </a:rPr>
                  <a:t>中第</a:t>
                </a:r>
                <a:r>
                  <a:rPr lang="en-US" altLang="zh-CN" dirty="0">
                    <a:latin typeface="Times New Roman" panose="02020603050405020304" pitchFamily="18" charset="0"/>
                    <a:ea typeface="黑体" panose="02010609060101010101" pitchFamily="49" charset="-122"/>
                    <a:cs typeface="Times New Roman" panose="02020603050405020304" pitchFamily="18" charset="0"/>
                  </a:rPr>
                  <a:t>7</a:t>
                </a:r>
                <a:r>
                  <a:rPr lang="zh-CN" altLang="zh-CN" dirty="0">
                    <a:latin typeface="Times New Roman" panose="02020603050405020304" pitchFamily="18" charset="0"/>
                    <a:ea typeface="黑体" panose="02010609060101010101" pitchFamily="49" charset="-122"/>
                    <a:cs typeface="Times New Roman" panose="02020603050405020304" pitchFamily="18" charset="0"/>
                  </a:rPr>
                  <a:t>行计算的是</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𝑞</m:t>
                        </m:r>
                      </m:e>
                      <m:sub>
                        <m:r>
                          <a:rPr lang="en-US" altLang="zh-CN" i="1">
                            <a:latin typeface="Cambria Math" panose="02040503050406030204" pitchFamily="18" charset="0"/>
                          </a:rPr>
                          <m:t>𝜋</m:t>
                        </m:r>
                      </m:sub>
                    </m:sSub>
                    <m:r>
                      <a:rPr lang="en-US" altLang="zh-CN" i="1">
                        <a:latin typeface="Cambria Math" panose="02040503050406030204" pitchFamily="18" charset="0"/>
                      </a:rPr>
                      <m:t>(</m:t>
                    </m:r>
                    <m:r>
                      <a:rPr lang="en-US" altLang="zh-CN" i="1">
                        <a:latin typeface="Cambria Math" panose="02040503050406030204" pitchFamily="18" charset="0"/>
                      </a:rPr>
                      <m:t>𝑠</m:t>
                    </m:r>
                    <m:r>
                      <a:rPr lang="en-US" altLang="zh-CN" i="1">
                        <a:latin typeface="Cambria Math" panose="02040503050406030204" pitchFamily="18" charset="0"/>
                      </a:rPr>
                      <m:t>,</m:t>
                    </m:r>
                    <m:r>
                      <a:rPr lang="en-US" altLang="zh-CN" i="1">
                        <a:latin typeface="Cambria Math" panose="02040503050406030204" pitchFamily="18" charset="0"/>
                      </a:rPr>
                      <m:t>𝑎</m:t>
                    </m:r>
                    <m:r>
                      <a:rPr lang="en-US" altLang="zh-CN" i="1">
                        <a:latin typeface="Cambria Math" panose="02040503050406030204" pitchFamily="18" charset="0"/>
                      </a:rPr>
                      <m:t>)</m:t>
                    </m:r>
                  </m:oMath>
                </a14:m>
                <a:r>
                  <a:rPr lang="zh-CN" altLang="zh-CN" dirty="0">
                    <a:latin typeface="Times New Roman" panose="02020603050405020304" pitchFamily="18" charset="0"/>
                    <a:ea typeface="黑体" panose="02010609060101010101" pitchFamily="49" charset="-122"/>
                    <a:cs typeface="Times New Roman" panose="02020603050405020304" pitchFamily="18" charset="0"/>
                  </a:rPr>
                  <a:t>的估计值和当前值之间误差的平方，第</a:t>
                </a:r>
                <a:r>
                  <a:rPr lang="en-US" altLang="zh-CN" dirty="0">
                    <a:latin typeface="Times New Roman" panose="02020603050405020304" pitchFamily="18" charset="0"/>
                    <a:ea typeface="黑体" panose="02010609060101010101" pitchFamily="49" charset="-122"/>
                    <a:cs typeface="Times New Roman" panose="02020603050405020304" pitchFamily="18" charset="0"/>
                  </a:rPr>
                  <a:t>8</a:t>
                </a:r>
                <a:r>
                  <a:rPr lang="zh-CN" altLang="zh-CN" dirty="0">
                    <a:latin typeface="Times New Roman" panose="02020603050405020304" pitchFamily="18" charset="0"/>
                    <a:ea typeface="黑体" panose="02010609060101010101" pitchFamily="49" charset="-122"/>
                    <a:cs typeface="Times New Roman" panose="02020603050405020304" pitchFamily="18" charset="0"/>
                  </a:rPr>
                  <a:t>行则是将该值作为损失函数，利用梯度下降法来更新参数</a:t>
                </a:r>
                <a14:m>
                  <m:oMath xmlns:m="http://schemas.openxmlformats.org/officeDocument/2006/math">
                    <m:r>
                      <a:rPr lang="en-US" altLang="zh-CN" b="1" i="1">
                        <a:latin typeface="Cambria Math" panose="02040503050406030204" pitchFamily="18" charset="0"/>
                      </a:rPr>
                      <m:t>𝜽</m:t>
                    </m:r>
                  </m:oMath>
                </a14:m>
                <a:r>
                  <a:rPr lang="zh-CN" altLang="zh-CN" dirty="0">
                    <a:latin typeface="Times New Roman" panose="02020603050405020304" pitchFamily="18" charset="0"/>
                    <a:ea typeface="黑体" panose="02010609060101010101" pitchFamily="49" charset="-122"/>
                    <a:cs typeface="Times New Roman" panose="02020603050405020304" pitchFamily="18" charset="0"/>
                  </a:rPr>
                  <a:t>。</a:t>
                </a:r>
                <a:endParaRPr lang="zh-CN" altLang="zh-CN" sz="16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10" name="矩形 9">
                <a:extLst>
                  <a:ext uri="{FF2B5EF4-FFF2-40B4-BE49-F238E27FC236}">
                    <a16:creationId xmlns:a16="http://schemas.microsoft.com/office/drawing/2014/main" id="{7CDAD2E5-6C8D-4C6A-B11F-9F3EB217025D}"/>
                  </a:ext>
                </a:extLst>
              </p:cNvPr>
              <p:cNvSpPr>
                <a:spLocks noRot="1" noChangeAspect="1" noMove="1" noResize="1" noEditPoints="1" noAdjustHandles="1" noChangeArrowheads="1" noChangeShapeType="1" noTextEdit="1"/>
              </p:cNvSpPr>
              <p:nvPr/>
            </p:nvSpPr>
            <p:spPr>
              <a:xfrm>
                <a:off x="359459" y="1698063"/>
                <a:ext cx="6433624" cy="2750112"/>
              </a:xfrm>
              <a:prstGeom prst="rect">
                <a:avLst/>
              </a:prstGeom>
              <a:blipFill>
                <a:blip r:embed="rId3"/>
                <a:stretch>
                  <a:fillRect l="-664" r="-758"/>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AB759ACF-25CC-C507-B358-352B9B0B8A7B}"/>
              </a:ext>
            </a:extLst>
          </p:cNvPr>
          <p:cNvPicPr>
            <a:picLocks noChangeAspect="1"/>
          </p:cNvPicPr>
          <p:nvPr/>
        </p:nvPicPr>
        <p:blipFill>
          <a:blip r:embed="rId4"/>
          <a:stretch>
            <a:fillRect/>
          </a:stretch>
        </p:blipFill>
        <p:spPr>
          <a:xfrm>
            <a:off x="6776335" y="1254816"/>
            <a:ext cx="5357407" cy="5548244"/>
          </a:xfrm>
          <a:prstGeom prst="rect">
            <a:avLst/>
          </a:prstGeom>
        </p:spPr>
      </p:pic>
      <p:sp>
        <p:nvSpPr>
          <p:cNvPr id="9" name="矩形: 圆角 8">
            <a:extLst>
              <a:ext uri="{FF2B5EF4-FFF2-40B4-BE49-F238E27FC236}">
                <a16:creationId xmlns:a16="http://schemas.microsoft.com/office/drawing/2014/main" id="{C15A3D3E-F0D5-D61A-FC8A-B3D57C58891C}"/>
              </a:ext>
            </a:extLst>
          </p:cNvPr>
          <p:cNvSpPr/>
          <p:nvPr/>
        </p:nvSpPr>
        <p:spPr>
          <a:xfrm>
            <a:off x="7686546" y="4366273"/>
            <a:ext cx="4279995" cy="1148701"/>
          </a:xfrm>
          <a:prstGeom prst="roundRect">
            <a:avLst/>
          </a:prstGeom>
          <a:noFill/>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10489858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参数化与深度强化学习</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E8D448F7-319A-4E55-957D-897AF217BA71}"/>
                  </a:ext>
                </a:extLst>
              </p:cNvPr>
              <p:cNvSpPr/>
              <p:nvPr/>
            </p:nvSpPr>
            <p:spPr>
              <a:xfrm>
                <a:off x="267287" y="1562349"/>
                <a:ext cx="11835618" cy="4654992"/>
              </a:xfrm>
              <a:prstGeom prst="rect">
                <a:avLst/>
              </a:prstGeom>
            </p:spPr>
            <p:txBody>
              <a:bodyPr wrap="square">
                <a:spAutoFit/>
              </a:bodyPr>
              <a:lstStyle/>
              <a:p>
                <a:pPr indent="266700" algn="just">
                  <a:lnSpc>
                    <a:spcPct val="150000"/>
                  </a:lnSpc>
                  <a:spcAft>
                    <a:spcPts val="0"/>
                  </a:spcAft>
                </a:pPr>
                <a:r>
                  <a:rPr lang="zh-CN" altLang="en-US"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采样不足：</a:t>
                </a:r>
                <a:r>
                  <a:rPr lang="zh-CN" altLang="zh-CN"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由于相邻的样本来自同一条轨迹，因此样本之间相关性太强，使得集中优化相关性强的样本会导致神经网络处理其他样本无法取得较好效果。</a:t>
                </a:r>
                <a:r>
                  <a:rPr lang="en-US" altLang="zh-CN"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Q</a:t>
                </a:r>
                <a:r>
                  <a:rPr lang="zh-CN" altLang="zh-CN"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学习的一个特性是倾向于反复采样更新一部分状态，这部分状态来源于</a:t>
                </a:r>
                <a:r>
                  <a:rPr lang="en-US" altLang="zh-CN"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Q</a:t>
                </a:r>
                <a:r>
                  <a:rPr lang="zh-CN" altLang="zh-CN"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学习算法采样的轨迹，其并不是均匀分布在整个状态空间中。</a:t>
                </a:r>
                <a:r>
                  <a:rPr lang="en-US"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Q</a:t>
                </a:r>
                <a:r>
                  <a:rPr lang="zh-CN"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学习这个特性在使用数组记录动作</a:t>
                </a:r>
                <a:r>
                  <a:rPr lang="en-US"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价值函数时只会导致对部分状态的价值估计越来越准确，但也会导致对那些没有被更新状态的价值估计产生更大偏差。</a:t>
                </a:r>
                <a:endParaRPr lang="en-US"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indent="266700" algn="just">
                  <a:lnSpc>
                    <a:spcPct val="150000"/>
                  </a:lnSpc>
                  <a:spcAft>
                    <a:spcPts val="0"/>
                  </a:spcAft>
                </a:pPr>
                <a:endParaRPr lang="en-US" altLang="zh-CN"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indent="266700" algn="just">
                  <a:lnSpc>
                    <a:spcPct val="150000"/>
                  </a:lnSpc>
                </a:pPr>
                <a:r>
                  <a:rPr lang="zh-CN" altLang="en-US"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难以收敛：</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在算法</a:t>
                </a:r>
                <a:r>
                  <a:rPr lang="en-US" altLang="zh-CN" dirty="0">
                    <a:latin typeface="Times New Roman" panose="02020603050405020304" pitchFamily="18" charset="0"/>
                    <a:ea typeface="黑体" panose="02010609060101010101" pitchFamily="49" charset="-122"/>
                    <a:cs typeface="Times New Roman" panose="02020603050405020304" pitchFamily="18" charset="0"/>
                  </a:rPr>
                  <a:t>6.8</a:t>
                </a:r>
                <a:r>
                  <a:rPr lang="zh-CN" altLang="zh-CN" dirty="0">
                    <a:latin typeface="Times New Roman" panose="02020603050405020304" pitchFamily="18" charset="0"/>
                    <a:ea typeface="黑体" panose="02010609060101010101" pitchFamily="49" charset="-122"/>
                    <a:cs typeface="Times New Roman" panose="02020603050405020304" pitchFamily="18" charset="0"/>
                  </a:rPr>
                  <a:t>中第</a:t>
                </a:r>
                <a:r>
                  <a:rPr lang="en-US" altLang="zh-CN" dirty="0">
                    <a:latin typeface="Times New Roman" panose="02020603050405020304" pitchFamily="18" charset="0"/>
                    <a:ea typeface="黑体" panose="02010609060101010101" pitchFamily="49" charset="-122"/>
                    <a:cs typeface="Times New Roman" panose="02020603050405020304" pitchFamily="18" charset="0"/>
                  </a:rPr>
                  <a:t>7</a:t>
                </a:r>
                <a:r>
                  <a:rPr lang="zh-CN" altLang="zh-CN" dirty="0">
                    <a:latin typeface="Times New Roman" panose="02020603050405020304" pitchFamily="18" charset="0"/>
                    <a:ea typeface="黑体" panose="02010609060101010101" pitchFamily="49" charset="-122"/>
                    <a:cs typeface="Times New Roman" panose="02020603050405020304" pitchFamily="18" charset="0"/>
                  </a:rPr>
                  <a:t>行计算损失函数时，参数</a:t>
                </a:r>
                <a14:m>
                  <m:oMath xmlns:m="http://schemas.openxmlformats.org/officeDocument/2006/math">
                    <m:r>
                      <a:rPr lang="en-US" altLang="zh-CN" b="1" i="1">
                        <a:latin typeface="Cambria Math" panose="02040503050406030204" pitchFamily="18" charset="0"/>
                      </a:rPr>
                      <m:t>𝜽</m:t>
                    </m:r>
                  </m:oMath>
                </a14:m>
                <a:r>
                  <a:rPr lang="zh-CN" altLang="zh-CN" dirty="0">
                    <a:latin typeface="Times New Roman" panose="02020603050405020304" pitchFamily="18" charset="0"/>
                    <a:ea typeface="黑体" panose="02010609060101010101" pitchFamily="49" charset="-122"/>
                    <a:cs typeface="Times New Roman" panose="02020603050405020304" pitchFamily="18" charset="0"/>
                  </a:rPr>
                  <a:t>被同时用来计算动作</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dirty="0">
                    <a:latin typeface="Times New Roman" panose="02020603050405020304" pitchFamily="18" charset="0"/>
                    <a:ea typeface="黑体" panose="02010609060101010101" pitchFamily="49" charset="-122"/>
                    <a:cs typeface="Times New Roman" panose="02020603050405020304" pitchFamily="18" charset="0"/>
                  </a:rPr>
                  <a:t>价值函数的目标值（估计值）</a:t>
                </a:r>
                <a14:m>
                  <m:oMath xmlns:m="http://schemas.openxmlformats.org/officeDocument/2006/math">
                    <m:r>
                      <a:rPr lang="en-US" altLang="zh-CN" i="1">
                        <a:latin typeface="Cambria Math" panose="02040503050406030204" pitchFamily="18" charset="0"/>
                      </a:rPr>
                      <m:t>𝑅</m:t>
                    </m:r>
                    <m:r>
                      <a:rPr lang="en-US" altLang="zh-CN" i="1">
                        <a:latin typeface="Cambria Math" panose="02040503050406030204" pitchFamily="18" charset="0"/>
                      </a:rPr>
                      <m:t>+</m:t>
                    </m:r>
                    <m:func>
                      <m:funcPr>
                        <m:ctrlPr>
                          <a:rPr lang="zh-CN" altLang="zh-CN" i="1">
                            <a:latin typeface="Cambria Math" panose="02040503050406030204" pitchFamily="18" charset="0"/>
                          </a:rPr>
                        </m:ctrlPr>
                      </m:funcPr>
                      <m:fName>
                        <m:limLow>
                          <m:limLowPr>
                            <m:ctrlPr>
                              <a:rPr lang="zh-CN" altLang="zh-CN" i="1">
                                <a:latin typeface="Cambria Math" panose="02040503050406030204" pitchFamily="18" charset="0"/>
                              </a:rPr>
                            </m:ctrlPr>
                          </m:limLowPr>
                          <m:e>
                            <m:r>
                              <m:rPr>
                                <m:sty m:val="p"/>
                              </m:rPr>
                              <a:rPr lang="en-US" altLang="zh-CN">
                                <a:latin typeface="Cambria Math" panose="02040503050406030204" pitchFamily="18" charset="0"/>
                              </a:rPr>
                              <m:t>max</m:t>
                            </m:r>
                          </m:e>
                          <m:lim>
                            <m:sSup>
                              <m:sSupPr>
                                <m:ctrlPr>
                                  <a:rPr lang="zh-CN" altLang="zh-CN" i="1">
                                    <a:latin typeface="Cambria Math" panose="02040503050406030204" pitchFamily="18" charset="0"/>
                                  </a:rPr>
                                </m:ctrlPr>
                              </m:sSupPr>
                              <m:e>
                                <m:r>
                                  <a:rPr lang="en-US" altLang="zh-CN" i="1">
                                    <a:latin typeface="Cambria Math" panose="02040503050406030204" pitchFamily="18" charset="0"/>
                                  </a:rPr>
                                  <m:t>𝑎</m:t>
                                </m:r>
                              </m:e>
                              <m:sup>
                                <m:r>
                                  <a:rPr lang="en-US" altLang="zh-CN" i="1">
                                    <a:latin typeface="Cambria Math" panose="02040503050406030204" pitchFamily="18" charset="0"/>
                                  </a:rPr>
                                  <m:t>′</m:t>
                                </m:r>
                              </m:sup>
                            </m:sSup>
                          </m:lim>
                        </m:limLow>
                      </m:fName>
                      <m:e>
                        <m:sSub>
                          <m:sSubPr>
                            <m:ctrlPr>
                              <a:rPr lang="zh-CN" altLang="zh-CN" i="1">
                                <a:latin typeface="Cambria Math" panose="02040503050406030204" pitchFamily="18" charset="0"/>
                              </a:rPr>
                            </m:ctrlPr>
                          </m:sSubPr>
                          <m:e>
                            <m:r>
                              <a:rPr lang="en-US" altLang="zh-CN" i="1">
                                <a:latin typeface="Cambria Math" panose="02040503050406030204" pitchFamily="18" charset="0"/>
                              </a:rPr>
                              <m:t>𝑞</m:t>
                            </m:r>
                          </m:e>
                          <m:sub>
                            <m:r>
                              <a:rPr lang="en-US" altLang="zh-CN" i="1">
                                <a:latin typeface="Cambria Math" panose="02040503050406030204" pitchFamily="18" charset="0"/>
                              </a:rPr>
                              <m:t>𝜋</m:t>
                            </m:r>
                          </m:sub>
                        </m:sSub>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𝑠</m:t>
                            </m:r>
                          </m:e>
                          <m:sup>
                            <m:r>
                              <a:rPr lang="en-US" altLang="zh-CN" i="1">
                                <a:latin typeface="Cambria Math" panose="02040503050406030204" pitchFamily="18" charset="0"/>
                              </a:rPr>
                              <m:t>′</m:t>
                            </m:r>
                          </m:sup>
                        </m:sSup>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𝑎</m:t>
                            </m:r>
                          </m:e>
                          <m:sup>
                            <m:r>
                              <a:rPr lang="en-US" altLang="zh-CN" i="1">
                                <a:latin typeface="Cambria Math" panose="02040503050406030204" pitchFamily="18" charset="0"/>
                              </a:rPr>
                              <m:t>′</m:t>
                            </m:r>
                          </m:sup>
                        </m:sSup>
                        <m:r>
                          <a:rPr lang="en-US" altLang="zh-CN" i="1">
                            <a:latin typeface="Cambria Math" panose="02040503050406030204" pitchFamily="18" charset="0"/>
                          </a:rPr>
                          <m:t>;</m:t>
                        </m:r>
                        <m:r>
                          <a:rPr lang="en-US" altLang="zh-CN" b="1" i="1">
                            <a:latin typeface="Cambria Math" panose="02040503050406030204" pitchFamily="18" charset="0"/>
                          </a:rPr>
                          <m:t>𝜽</m:t>
                        </m:r>
                      </m:e>
                    </m:func>
                    <m:r>
                      <a:rPr lang="en-US" altLang="zh-CN" i="1">
                        <a:latin typeface="Cambria Math" panose="02040503050406030204" pitchFamily="18" charset="0"/>
                      </a:rPr>
                      <m:t>)</m:t>
                    </m:r>
                  </m:oMath>
                </a14:m>
                <a:r>
                  <a:rPr lang="zh-CN" altLang="zh-CN" dirty="0">
                    <a:latin typeface="Times New Roman" panose="02020603050405020304" pitchFamily="18" charset="0"/>
                    <a:ea typeface="黑体" panose="02010609060101010101" pitchFamily="49" charset="-122"/>
                    <a:cs typeface="Times New Roman" panose="02020603050405020304" pitchFamily="18" charset="0"/>
                  </a:rPr>
                  <a:t>和当前值</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𝑞</m:t>
                        </m:r>
                      </m:e>
                      <m:sub>
                        <m:r>
                          <a:rPr lang="en-US" altLang="zh-CN" i="1">
                            <a:latin typeface="Cambria Math" panose="02040503050406030204" pitchFamily="18" charset="0"/>
                          </a:rPr>
                          <m:t>𝜋</m:t>
                        </m:r>
                      </m:sub>
                    </m:sSub>
                    <m:r>
                      <a:rPr lang="en-US" altLang="zh-CN" i="1">
                        <a:latin typeface="Cambria Math" panose="02040503050406030204" pitchFamily="18" charset="0"/>
                      </a:rPr>
                      <m:t>(</m:t>
                    </m:r>
                    <m:r>
                      <a:rPr lang="en-US" altLang="zh-CN" i="1">
                        <a:latin typeface="Cambria Math" panose="02040503050406030204" pitchFamily="18" charset="0"/>
                      </a:rPr>
                      <m:t>𝑠</m:t>
                    </m:r>
                    <m:r>
                      <a:rPr lang="en-US" altLang="zh-CN" i="1">
                        <a:latin typeface="Cambria Math" panose="02040503050406030204" pitchFamily="18" charset="0"/>
                      </a:rPr>
                      <m:t>,</m:t>
                    </m:r>
                    <m:r>
                      <a:rPr lang="en-US" altLang="zh-CN" i="1">
                        <a:latin typeface="Cambria Math" panose="02040503050406030204" pitchFamily="18" charset="0"/>
                      </a:rPr>
                      <m:t>𝑎</m:t>
                    </m:r>
                    <m:r>
                      <a:rPr lang="en-US" altLang="zh-CN" i="1">
                        <a:latin typeface="Cambria Math" panose="02040503050406030204" pitchFamily="18" charset="0"/>
                      </a:rPr>
                      <m:t>;</m:t>
                    </m:r>
                    <m:r>
                      <a:rPr lang="en-US" altLang="zh-CN" b="1" i="1">
                        <a:latin typeface="Cambria Math" panose="02040503050406030204" pitchFamily="18" charset="0"/>
                      </a:rPr>
                      <m:t>𝜽</m:t>
                    </m:r>
                    <m:r>
                      <a:rPr lang="en-US" altLang="zh-CN" i="1">
                        <a:latin typeface="Cambria Math" panose="02040503050406030204" pitchFamily="18" charset="0"/>
                      </a:rPr>
                      <m:t>)</m:t>
                    </m:r>
                  </m:oMath>
                </a14:m>
                <a:r>
                  <a:rPr lang="zh-CN" altLang="zh-CN" dirty="0">
                    <a:latin typeface="Times New Roman" panose="02020603050405020304" pitchFamily="18" charset="0"/>
                    <a:ea typeface="黑体" panose="02010609060101010101" pitchFamily="49" charset="-122"/>
                    <a:cs typeface="Times New Roman" panose="02020603050405020304" pitchFamily="18" charset="0"/>
                  </a:rPr>
                  <a:t>，因此</a:t>
                </a:r>
                <a:r>
                  <a:rPr lang="zh-CN"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对</a:t>
                </a:r>
                <a14:m>
                  <m:oMath xmlns:m="http://schemas.openxmlformats.org/officeDocument/2006/math">
                    <m:r>
                      <a:rPr lang="en-US" altLang="zh-CN" b="1" i="1">
                        <a:solidFill>
                          <a:srgbClr val="FF0000"/>
                        </a:solidFill>
                        <a:latin typeface="Cambria Math" panose="02040503050406030204" pitchFamily="18" charset="0"/>
                      </a:rPr>
                      <m:t>𝜽</m:t>
                    </m:r>
                  </m:oMath>
                </a14:m>
                <a:r>
                  <a:rPr lang="zh-CN"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的更新会同时影响这两个值</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。对于当前样本的损失函数计算公式而言，令损失函数值为</a:t>
                </a:r>
                <a:r>
                  <a:rPr lang="en-US" altLang="zh-CN" dirty="0">
                    <a:latin typeface="Times New Roman" panose="02020603050405020304" pitchFamily="18" charset="0"/>
                    <a:ea typeface="黑体" panose="02010609060101010101" pitchFamily="49" charset="-122"/>
                    <a:cs typeface="Times New Roman" panose="02020603050405020304" pitchFamily="18" charset="0"/>
                  </a:rPr>
                  <a:t>0</a:t>
                </a:r>
                <a:r>
                  <a:rPr lang="zh-CN" altLang="zh-CN" dirty="0">
                    <a:latin typeface="Times New Roman" panose="02020603050405020304" pitchFamily="18" charset="0"/>
                    <a:ea typeface="黑体" panose="02010609060101010101" pitchFamily="49" charset="-122"/>
                    <a:cs typeface="Times New Roman" panose="02020603050405020304" pitchFamily="18" charset="0"/>
                  </a:rPr>
                  <a:t>的动作</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dirty="0">
                    <a:latin typeface="Times New Roman" panose="02020603050405020304" pitchFamily="18" charset="0"/>
                    <a:ea typeface="黑体" panose="02010609060101010101" pitchFamily="49" charset="-122"/>
                    <a:cs typeface="Times New Roman" panose="02020603050405020304" pitchFamily="18" charset="0"/>
                  </a:rPr>
                  <a:t>价值函数取值不是唯一的，算法既可以调整当前值</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𝑞</m:t>
                        </m:r>
                      </m:e>
                      <m:sub>
                        <m:r>
                          <a:rPr lang="en-US" altLang="zh-CN" i="1">
                            <a:latin typeface="Cambria Math" panose="02040503050406030204" pitchFamily="18" charset="0"/>
                          </a:rPr>
                          <m:t>𝜋</m:t>
                        </m:r>
                      </m:sub>
                    </m:sSub>
                    <m:r>
                      <a:rPr lang="en-US" altLang="zh-CN" i="1">
                        <a:latin typeface="Cambria Math" panose="02040503050406030204" pitchFamily="18" charset="0"/>
                      </a:rPr>
                      <m:t>(</m:t>
                    </m:r>
                    <m:r>
                      <a:rPr lang="en-US" altLang="zh-CN" i="1">
                        <a:latin typeface="Cambria Math" panose="02040503050406030204" pitchFamily="18" charset="0"/>
                      </a:rPr>
                      <m:t>𝑠</m:t>
                    </m:r>
                    <m:r>
                      <a:rPr lang="en-US" altLang="zh-CN" i="1">
                        <a:latin typeface="Cambria Math" panose="02040503050406030204" pitchFamily="18" charset="0"/>
                      </a:rPr>
                      <m:t>,</m:t>
                    </m:r>
                    <m:r>
                      <a:rPr lang="en-US" altLang="zh-CN" i="1">
                        <a:latin typeface="Cambria Math" panose="02040503050406030204" pitchFamily="18" charset="0"/>
                      </a:rPr>
                      <m:t>𝑎</m:t>
                    </m:r>
                    <m:r>
                      <a:rPr lang="en-US" altLang="zh-CN" i="1">
                        <a:latin typeface="Cambria Math" panose="02040503050406030204" pitchFamily="18" charset="0"/>
                      </a:rPr>
                      <m:t>;</m:t>
                    </m:r>
                    <m:r>
                      <a:rPr lang="en-US" altLang="zh-CN" b="1" i="1">
                        <a:latin typeface="Cambria Math" panose="02040503050406030204" pitchFamily="18" charset="0"/>
                      </a:rPr>
                      <m:t>𝜽</m:t>
                    </m:r>
                    <m:r>
                      <a:rPr lang="en-US" altLang="zh-CN" i="1">
                        <a:latin typeface="Cambria Math" panose="02040503050406030204" pitchFamily="18" charset="0"/>
                      </a:rPr>
                      <m:t>)</m:t>
                    </m:r>
                  </m:oMath>
                </a14:m>
                <a:r>
                  <a:rPr lang="zh-CN" altLang="zh-CN" dirty="0">
                    <a:latin typeface="Times New Roman" panose="02020603050405020304" pitchFamily="18" charset="0"/>
                    <a:ea typeface="黑体" panose="02010609060101010101" pitchFamily="49" charset="-122"/>
                    <a:cs typeface="Times New Roman" panose="02020603050405020304" pitchFamily="18" charset="0"/>
                  </a:rPr>
                  <a:t>使其等于目标值，也可以调整目标值使其等于当前值。在单步优化目标不明确的情况下，由于样本具有概率性，这样会使得算法的收敛可能变得不稳定。</a:t>
                </a:r>
              </a:p>
              <a:p>
                <a:pPr indent="266700" algn="just">
                  <a:lnSpc>
                    <a:spcPts val="2200"/>
                  </a:lnSpc>
                  <a:spcAft>
                    <a:spcPts val="0"/>
                  </a:spcAft>
                </a:pP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p:txBody>
          </p:sp>
        </mc:Choice>
        <mc:Fallback xmlns="">
          <p:sp>
            <p:nvSpPr>
              <p:cNvPr id="2" name="矩形 1">
                <a:extLst>
                  <a:ext uri="{FF2B5EF4-FFF2-40B4-BE49-F238E27FC236}">
                    <a16:creationId xmlns:a16="http://schemas.microsoft.com/office/drawing/2014/main" id="{E8D448F7-319A-4E55-957D-897AF217BA71}"/>
                  </a:ext>
                </a:extLst>
              </p:cNvPr>
              <p:cNvSpPr>
                <a:spLocks noRot="1" noChangeAspect="1" noMove="1" noResize="1" noEditPoints="1" noAdjustHandles="1" noChangeArrowheads="1" noChangeShapeType="1" noTextEdit="1"/>
              </p:cNvSpPr>
              <p:nvPr/>
            </p:nvSpPr>
            <p:spPr>
              <a:xfrm>
                <a:off x="267287" y="1562349"/>
                <a:ext cx="11835618" cy="4654992"/>
              </a:xfrm>
              <a:prstGeom prst="rect">
                <a:avLst/>
              </a:prstGeom>
              <a:blipFill>
                <a:blip r:embed="rId3"/>
                <a:stretch>
                  <a:fillRect l="-464" r="-231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338818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zh-CN"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深度</a:t>
              </a:r>
              <a:r>
                <a:rPr lang="en-US" altLang="zh-CN"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Q</a:t>
              </a:r>
              <a:r>
                <a:rPr lang="zh-CN" altLang="zh-CN"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网络（</a:t>
              </a:r>
              <a:r>
                <a:rPr lang="en-US" altLang="zh-CN"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Deep Q-Network</a:t>
              </a:r>
              <a:r>
                <a:rPr lang="zh-CN" altLang="zh-CN"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DQN</a:t>
              </a:r>
              <a:r>
                <a:rPr lang="zh-CN" altLang="zh-CN"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二、基于价值的强化学习</a:t>
            </a: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6A6019CD-B9C3-4B9D-A0A6-32788B995064}"/>
                  </a:ext>
                </a:extLst>
              </p:cNvPr>
              <p:cNvSpPr/>
              <p:nvPr/>
            </p:nvSpPr>
            <p:spPr>
              <a:xfrm>
                <a:off x="219808" y="1739876"/>
                <a:ext cx="7598974" cy="4269054"/>
              </a:xfrm>
              <a:prstGeom prst="rect">
                <a:avLst/>
              </a:prstGeom>
            </p:spPr>
            <p:txBody>
              <a:bodyPr wrap="square">
                <a:spAutoFit/>
              </a:bodyPr>
              <a:lstStyle/>
              <a:p>
                <a:pPr indent="266700" algn="just">
                  <a:lnSpc>
                    <a:spcPct val="150000"/>
                  </a:lnSpc>
                  <a:spcAft>
                    <a:spcPts val="0"/>
                  </a:spcAft>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对于样本相关性太强的问题，</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DQN</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采用经验重现（</a:t>
                </a:r>
                <a:r>
                  <a:rPr lang="en-US" altLang="zh-CN" sz="1400" dirty="0">
                    <a:solidFill>
                      <a:srgbClr val="FF0000"/>
                    </a:solidFill>
                    <a:latin typeface="Times New Roman" panose="02020603050405020304" pitchFamily="18" charset="0"/>
                    <a:ea typeface="楷体_GB2312"/>
                    <a:cs typeface="Times New Roman" panose="02020603050405020304" pitchFamily="18" charset="0"/>
                  </a:rPr>
                  <a:t>experience replay</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）的方法来应对（如图</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6.15</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）。经验重现将算法探索的片段以</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latin typeface="Cambria Math" panose="02040503050406030204" pitchFamily="18" charset="0"/>
                        <a:ea typeface="楷体_GB2312"/>
                        <a:cs typeface="Times New Roman" panose="02020603050405020304" pitchFamily="18" charset="0"/>
                      </a:rPr>
                      <m:t>𝑠</m:t>
                    </m:r>
                    <m:r>
                      <a:rPr lang="en-US" altLang="zh-CN" sz="1400" i="1">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latin typeface="Cambria Math" panose="02040503050406030204" pitchFamily="18" charset="0"/>
                        <a:ea typeface="楷体_GB2312"/>
                        <a:cs typeface="Times New Roman" panose="02020603050405020304" pitchFamily="18" charset="0"/>
                      </a:rPr>
                      <m:t>𝑎</m:t>
                    </m:r>
                    <m:r>
                      <a:rPr lang="en-US" altLang="zh-CN" sz="1400" i="1">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latin typeface="Cambria Math" panose="02040503050406030204" pitchFamily="18" charset="0"/>
                        <a:ea typeface="楷体_GB2312"/>
                        <a:cs typeface="Times New Roman" panose="02020603050405020304" pitchFamily="18" charset="0"/>
                      </a:rPr>
                      <m:t>𝑅</m:t>
                    </m:r>
                    <m:r>
                      <a:rPr lang="en-US" altLang="zh-CN" sz="1400" i="1">
                        <a:solidFill>
                          <a:srgbClr val="000000"/>
                        </a:solidFill>
                        <a:latin typeface="Cambria Math" panose="02040503050406030204" pitchFamily="18" charset="0"/>
                        <a:ea typeface="楷体_GB2312"/>
                        <a:cs typeface="Times New Roman" panose="02020603050405020304" pitchFamily="18" charset="0"/>
                      </a:rPr>
                      <m:t>,</m:t>
                    </m:r>
                    <m:sSup>
                      <m:sSup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a:solidFill>
                              <a:srgbClr val="000000"/>
                            </a:solidFill>
                            <a:latin typeface="Cambria Math" panose="02040503050406030204" pitchFamily="18" charset="0"/>
                            <a:ea typeface="楷体_GB2312"/>
                            <a:cs typeface="Times New Roman" panose="02020603050405020304" pitchFamily="18" charset="0"/>
                          </a:rPr>
                          <m:t>𝑠</m:t>
                        </m:r>
                      </m:e>
                      <m:sup>
                        <m:r>
                          <a:rPr lang="en-US" altLang="zh-CN" sz="1400" i="1">
                            <a:solidFill>
                              <a:srgbClr val="000000"/>
                            </a:solidFill>
                            <a:latin typeface="Cambria Math" panose="02040503050406030204" pitchFamily="18" charset="0"/>
                            <a:ea typeface="楷体_GB2312"/>
                            <a:cs typeface="Times New Roman" panose="02020603050405020304" pitchFamily="18" charset="0"/>
                          </a:rPr>
                          <m:t>′</m:t>
                        </m:r>
                      </m:sup>
                    </m:sSup>
                    <m:r>
                      <a:rPr lang="en-US" altLang="zh-CN" sz="1400"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的四元组形式存在一张表中，每当算法探索得到一个新的四元组，便将该四元组加入经验重现表；而在算法对参数</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𝜃</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进行更新时，则从经验重现表中随机选取一批样本用于计算损失函数。</a:t>
                </a:r>
                <a:r>
                  <a:rPr lang="zh-CN" altLang="zh-CN" sz="1400" dirty="0">
                    <a:solidFill>
                      <a:srgbClr val="FF0000"/>
                    </a:solidFill>
                    <a:latin typeface="Times New Roman" panose="02020603050405020304" pitchFamily="18" charset="0"/>
                    <a:ea typeface="楷体_GB2312"/>
                    <a:cs typeface="Times New Roman" panose="02020603050405020304" pitchFamily="18" charset="0"/>
                  </a:rPr>
                  <a:t>使用经验重现主要有两个好处，一方面是样本之间的相关性显著减弱，因为随机采样得到的样本状态会更均匀地分布在已探索的样本空间中。另一方面是过去的经验可以被重复利用，因此提高了信息利用的效率。</a:t>
                </a:r>
                <a:endParaRPr lang="en-US" altLang="zh-CN" sz="1400" dirty="0">
                  <a:solidFill>
                    <a:srgbClr val="FF0000"/>
                  </a:solidFill>
                  <a:latin typeface="Times New Roman" panose="02020603050405020304" pitchFamily="18" charset="0"/>
                  <a:ea typeface="楷体_GB2312"/>
                  <a:cs typeface="Times New Roman" panose="02020603050405020304" pitchFamily="18" charset="0"/>
                </a:endParaRPr>
              </a:p>
              <a:p>
                <a:pPr indent="266700" algn="just">
                  <a:lnSpc>
                    <a:spcPct val="150000"/>
                  </a:lnSpc>
                  <a:spcAft>
                    <a:spcPts val="0"/>
                  </a:spcAft>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用另一组参数</a:t>
                </a:r>
                <a14:m>
                  <m:oMath xmlns:m="http://schemas.openxmlformats.org/officeDocument/2006/math">
                    <m:sSup>
                      <m:sSupPr>
                        <m:ctrlPr>
                          <a:rPr lang="zh-CN" altLang="zh-CN" sz="1400" i="1">
                            <a:solidFill>
                              <a:srgbClr val="000000"/>
                            </a:solidFill>
                            <a:latin typeface="Cambria Math" panose="02040503050406030204" pitchFamily="18" charset="0"/>
                            <a:ea typeface="楷体_GB2312"/>
                            <a:cs typeface="Times New Roman" panose="02020603050405020304" pitchFamily="18" charset="0"/>
                          </a:rPr>
                        </m:ctrlPr>
                      </m:sSupPr>
                      <m:e>
                        <m:r>
                          <a:rPr lang="en-US" altLang="zh-CN" sz="1400">
                            <a:solidFill>
                              <a:srgbClr val="000000"/>
                            </a:solidFill>
                            <a:latin typeface="Cambria Math" panose="02040503050406030204" pitchFamily="18" charset="0"/>
                            <a:ea typeface="楷体_GB2312"/>
                            <a:cs typeface="Times New Roman" panose="02020603050405020304" pitchFamily="18" charset="0"/>
                          </a:rPr>
                          <m:t>𝜽</m:t>
                        </m:r>
                      </m:e>
                      <m:sup>
                        <m:r>
                          <a:rPr lang="en-US" altLang="zh-CN" sz="1400">
                            <a:solidFill>
                              <a:srgbClr val="000000"/>
                            </a:solidFill>
                            <a:latin typeface="Cambria Math" panose="02040503050406030204" pitchFamily="18" charset="0"/>
                            <a:ea typeface="楷体_GB2312"/>
                            <a:cs typeface="Times New Roman" panose="02020603050405020304" pitchFamily="18" charset="0"/>
                          </a:rPr>
                          <m:t>−</m:t>
                        </m:r>
                      </m:sup>
                    </m:sSup>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来计算动作</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价值函数的预测值。具体来说，对损失函数进行了如下修改：</a:t>
                </a:r>
              </a:p>
              <a:p>
                <a:pPr>
                  <a:lnSpc>
                    <a:spcPct val="150000"/>
                  </a:lnSpc>
                </a:pPr>
                <a:br>
                  <a:rPr lang="en-US" altLang="zh-CN" sz="1400" dirty="0">
                    <a:solidFill>
                      <a:srgbClr val="000000"/>
                    </a:solidFill>
                    <a:latin typeface="Times New Roman" panose="02020603050405020304" pitchFamily="18" charset="0"/>
                    <a:ea typeface="楷体_GB2312"/>
                    <a:cs typeface="Times New Roman" panose="02020603050405020304" pitchFamily="18" charset="0"/>
                  </a:rPr>
                </a:br>
                <a14:m>
                  <m:oMathPara xmlns:m="http://schemas.openxmlformats.org/officeDocument/2006/math">
                    <m:oMathParaPr>
                      <m:jc m:val="centerGroup"/>
                    </m:oMathParaPr>
                    <m:oMath xmlns:m="http://schemas.openxmlformats.org/officeDocument/2006/math">
                      <m:r>
                        <a:rPr lang="en-US" altLang="zh-CN" sz="1400">
                          <a:solidFill>
                            <a:srgbClr val="000000"/>
                          </a:solidFill>
                          <a:latin typeface="Cambria Math" panose="02040503050406030204" pitchFamily="18" charset="0"/>
                          <a:ea typeface="楷体_GB2312"/>
                          <a:cs typeface="Times New Roman" panose="02020603050405020304" pitchFamily="18" charset="0"/>
                        </a:rPr>
                        <m:t>𝐿</m:t>
                      </m:r>
                      <m:d>
                        <m:dPr>
                          <m:ctrlPr>
                            <a:rPr lang="zh-CN" altLang="zh-CN" sz="1400" i="1">
                              <a:solidFill>
                                <a:srgbClr val="000000"/>
                              </a:solidFill>
                              <a:latin typeface="Cambria Math" panose="02040503050406030204" pitchFamily="18" charset="0"/>
                              <a:ea typeface="楷体_GB2312"/>
                              <a:cs typeface="Times New Roman" panose="02020603050405020304" pitchFamily="18" charset="0"/>
                            </a:rPr>
                          </m:ctrlPr>
                        </m:dPr>
                        <m:e>
                          <m:r>
                            <a:rPr lang="en-US" altLang="zh-CN" sz="1400">
                              <a:solidFill>
                                <a:srgbClr val="000000"/>
                              </a:solidFill>
                              <a:latin typeface="Cambria Math" panose="02040503050406030204" pitchFamily="18" charset="0"/>
                              <a:ea typeface="楷体_GB2312"/>
                              <a:cs typeface="Times New Roman" panose="02020603050405020304" pitchFamily="18" charset="0"/>
                            </a:rPr>
                            <m:t>𝜽</m:t>
                          </m:r>
                        </m:e>
                      </m:d>
                      <m:r>
                        <a:rPr lang="en-US" altLang="zh-CN" sz="1400">
                          <a:solidFill>
                            <a:srgbClr val="000000"/>
                          </a:solidFill>
                          <a:latin typeface="Cambria Math" panose="02040503050406030204" pitchFamily="18" charset="0"/>
                          <a:ea typeface="楷体_GB2312"/>
                          <a:cs typeface="Times New Roman" panose="02020603050405020304" pitchFamily="18" charset="0"/>
                        </a:rPr>
                        <m:t>=</m:t>
                      </m:r>
                      <m:f>
                        <m:fPr>
                          <m:ctrlPr>
                            <a:rPr lang="zh-CN" altLang="zh-CN" sz="1400" i="1">
                              <a:solidFill>
                                <a:srgbClr val="000000"/>
                              </a:solidFill>
                              <a:latin typeface="Cambria Math" panose="02040503050406030204" pitchFamily="18" charset="0"/>
                              <a:ea typeface="楷体_GB2312"/>
                              <a:cs typeface="Times New Roman" panose="02020603050405020304" pitchFamily="18" charset="0"/>
                            </a:rPr>
                          </m:ctrlPr>
                        </m:fPr>
                        <m:num>
                          <m:r>
                            <a:rPr lang="en-US" altLang="zh-CN" sz="1400">
                              <a:solidFill>
                                <a:srgbClr val="000000"/>
                              </a:solidFill>
                              <a:latin typeface="Cambria Math" panose="02040503050406030204" pitchFamily="18" charset="0"/>
                              <a:ea typeface="楷体_GB2312"/>
                              <a:cs typeface="Times New Roman" panose="02020603050405020304" pitchFamily="18" charset="0"/>
                            </a:rPr>
                            <m:t>1</m:t>
                          </m:r>
                        </m:num>
                        <m:den>
                          <m:r>
                            <a:rPr lang="en-US" altLang="zh-CN" sz="1400">
                              <a:solidFill>
                                <a:srgbClr val="000000"/>
                              </a:solidFill>
                              <a:latin typeface="Cambria Math" panose="02040503050406030204" pitchFamily="18" charset="0"/>
                              <a:ea typeface="楷体_GB2312"/>
                              <a:cs typeface="Times New Roman" panose="02020603050405020304" pitchFamily="18" charset="0"/>
                            </a:rPr>
                            <m:t>2</m:t>
                          </m:r>
                        </m:den>
                      </m:f>
                      <m:sSup>
                        <m:sSupPr>
                          <m:ctrlPr>
                            <a:rPr lang="zh-CN" altLang="zh-CN" sz="1400" i="1">
                              <a:solidFill>
                                <a:srgbClr val="000000"/>
                              </a:solidFill>
                              <a:latin typeface="Cambria Math" panose="02040503050406030204" pitchFamily="18" charset="0"/>
                              <a:ea typeface="楷体_GB2312"/>
                              <a:cs typeface="Times New Roman" panose="02020603050405020304" pitchFamily="18" charset="0"/>
                            </a:rPr>
                          </m:ctrlPr>
                        </m:sSupPr>
                        <m:e>
                          <m:d>
                            <m:dPr>
                              <m:begChr m:val="["/>
                              <m:endChr m:val="]"/>
                              <m:ctrlPr>
                                <a:rPr lang="zh-CN" altLang="zh-CN" sz="1400" i="1">
                                  <a:solidFill>
                                    <a:srgbClr val="000000"/>
                                  </a:solidFill>
                                  <a:latin typeface="Cambria Math" panose="02040503050406030204" pitchFamily="18" charset="0"/>
                                  <a:ea typeface="楷体_GB2312"/>
                                  <a:cs typeface="Times New Roman" panose="02020603050405020304" pitchFamily="18" charset="0"/>
                                </a:rPr>
                              </m:ctrlPr>
                            </m:dPr>
                            <m:e>
                              <m:r>
                                <a:rPr lang="en-US" altLang="zh-CN" sz="1400">
                                  <a:solidFill>
                                    <a:srgbClr val="000000"/>
                                  </a:solidFill>
                                  <a:latin typeface="Cambria Math" panose="02040503050406030204" pitchFamily="18" charset="0"/>
                                  <a:ea typeface="楷体_GB2312"/>
                                  <a:cs typeface="Times New Roman" panose="02020603050405020304" pitchFamily="18" charset="0"/>
                                </a:rPr>
                                <m:t>𝑅</m:t>
                              </m:r>
                              <m:r>
                                <a:rPr lang="en-US" altLang="zh-CN" sz="1400">
                                  <a:solidFill>
                                    <a:srgbClr val="000000"/>
                                  </a:solidFill>
                                  <a:latin typeface="Cambria Math" panose="02040503050406030204" pitchFamily="18" charset="0"/>
                                  <a:ea typeface="楷体_GB2312"/>
                                  <a:cs typeface="Times New Roman" panose="02020603050405020304" pitchFamily="18" charset="0"/>
                                </a:rPr>
                                <m:t>+</m:t>
                              </m:r>
                              <m:r>
                                <a:rPr lang="en-US" altLang="zh-CN" sz="1400">
                                  <a:solidFill>
                                    <a:srgbClr val="000000"/>
                                  </a:solidFill>
                                  <a:latin typeface="Cambria Math" panose="02040503050406030204" pitchFamily="18" charset="0"/>
                                  <a:ea typeface="楷体_GB2312"/>
                                  <a:cs typeface="Times New Roman" panose="02020603050405020304" pitchFamily="18" charset="0"/>
                                </a:rPr>
                                <m:t>𝛾</m:t>
                              </m:r>
                              <m:func>
                                <m:funcPr>
                                  <m:ctrlPr>
                                    <a:rPr lang="zh-CN" altLang="zh-CN" sz="1400" i="1">
                                      <a:solidFill>
                                        <a:srgbClr val="000000"/>
                                      </a:solidFill>
                                      <a:latin typeface="Cambria Math" panose="02040503050406030204" pitchFamily="18" charset="0"/>
                                      <a:ea typeface="楷体_GB2312"/>
                                      <a:cs typeface="Times New Roman" panose="02020603050405020304" pitchFamily="18" charset="0"/>
                                    </a:rPr>
                                  </m:ctrlPr>
                                </m:funcPr>
                                <m:fName>
                                  <m:limLow>
                                    <m:limLowPr>
                                      <m:ctrlPr>
                                        <a:rPr lang="zh-CN" altLang="zh-CN" sz="1400" i="1">
                                          <a:solidFill>
                                            <a:srgbClr val="000000"/>
                                          </a:solidFill>
                                          <a:latin typeface="Cambria Math" panose="02040503050406030204" pitchFamily="18" charset="0"/>
                                          <a:ea typeface="楷体_GB2312"/>
                                          <a:cs typeface="Times New Roman" panose="02020603050405020304" pitchFamily="18" charset="0"/>
                                        </a:rPr>
                                      </m:ctrlPr>
                                    </m:limLowPr>
                                    <m:e>
                                      <m:r>
                                        <m:rPr>
                                          <m:sty m:val="p"/>
                                        </m:rPr>
                                        <a:rPr lang="en-US" altLang="zh-CN" sz="1400">
                                          <a:solidFill>
                                            <a:srgbClr val="000000"/>
                                          </a:solidFill>
                                          <a:latin typeface="Cambria Math" panose="02040503050406030204" pitchFamily="18" charset="0"/>
                                          <a:ea typeface="楷体_GB2312"/>
                                          <a:cs typeface="Times New Roman" panose="02020603050405020304" pitchFamily="18" charset="0"/>
                                        </a:rPr>
                                        <m:t>max</m:t>
                                      </m:r>
                                    </m:e>
                                    <m:lim>
                                      <m:sSup>
                                        <m:sSupPr>
                                          <m:ctrlPr>
                                            <a:rPr lang="zh-CN" altLang="zh-CN" sz="1400" i="1">
                                              <a:solidFill>
                                                <a:srgbClr val="000000"/>
                                              </a:solidFill>
                                              <a:latin typeface="Cambria Math" panose="02040503050406030204" pitchFamily="18" charset="0"/>
                                              <a:ea typeface="楷体_GB2312"/>
                                              <a:cs typeface="Times New Roman" panose="02020603050405020304" pitchFamily="18" charset="0"/>
                                            </a:rPr>
                                          </m:ctrlPr>
                                        </m:sSupPr>
                                        <m:e>
                                          <m:r>
                                            <a:rPr lang="en-US" altLang="zh-CN" sz="1400">
                                              <a:solidFill>
                                                <a:srgbClr val="000000"/>
                                              </a:solidFill>
                                              <a:latin typeface="Cambria Math" panose="02040503050406030204" pitchFamily="18" charset="0"/>
                                              <a:ea typeface="楷体_GB2312"/>
                                              <a:cs typeface="Times New Roman" panose="02020603050405020304" pitchFamily="18" charset="0"/>
                                            </a:rPr>
                                            <m:t>𝑎</m:t>
                                          </m:r>
                                        </m:e>
                                        <m:sup>
                                          <m:r>
                                            <a:rPr lang="en-US" altLang="zh-CN" sz="1400">
                                              <a:solidFill>
                                                <a:srgbClr val="000000"/>
                                              </a:solidFill>
                                              <a:latin typeface="Cambria Math" panose="02040503050406030204" pitchFamily="18" charset="0"/>
                                              <a:ea typeface="楷体_GB2312"/>
                                              <a:cs typeface="Times New Roman" panose="02020603050405020304" pitchFamily="18" charset="0"/>
                                            </a:rPr>
                                            <m:t>′</m:t>
                                          </m:r>
                                        </m:sup>
                                      </m:sSup>
                                    </m:lim>
                                  </m:limLow>
                                </m:fName>
                                <m:e>
                                  <m:sSub>
                                    <m:sSubPr>
                                      <m:ctrlPr>
                                        <a:rPr lang="zh-CN" altLang="zh-CN" sz="1400" i="1">
                                          <a:solidFill>
                                            <a:srgbClr val="000000"/>
                                          </a:solidFill>
                                          <a:latin typeface="Cambria Math" panose="02040503050406030204" pitchFamily="18" charset="0"/>
                                          <a:ea typeface="楷体_GB2312"/>
                                          <a:cs typeface="Times New Roman" panose="02020603050405020304" pitchFamily="18" charset="0"/>
                                        </a:rPr>
                                      </m:ctrlPr>
                                    </m:sSubPr>
                                    <m:e>
                                      <m:r>
                                        <a:rPr lang="en-US" altLang="zh-CN" sz="1400">
                                          <a:solidFill>
                                            <a:srgbClr val="000000"/>
                                          </a:solidFill>
                                          <a:latin typeface="Cambria Math" panose="02040503050406030204" pitchFamily="18" charset="0"/>
                                          <a:ea typeface="楷体_GB2312"/>
                                          <a:cs typeface="Times New Roman" panose="02020603050405020304" pitchFamily="18" charset="0"/>
                                        </a:rPr>
                                        <m:t>𝑞</m:t>
                                      </m:r>
                                    </m:e>
                                    <m:sub>
                                      <m:r>
                                        <a:rPr lang="en-US" altLang="zh-CN" sz="1400">
                                          <a:solidFill>
                                            <a:srgbClr val="000000"/>
                                          </a:solidFill>
                                          <a:latin typeface="Cambria Math" panose="02040503050406030204" pitchFamily="18" charset="0"/>
                                          <a:ea typeface="楷体_GB2312"/>
                                          <a:cs typeface="Times New Roman" panose="02020603050405020304" pitchFamily="18" charset="0"/>
                                        </a:rPr>
                                        <m:t>𝜋</m:t>
                                      </m:r>
                                    </m:sub>
                                  </m:sSub>
                                  <m:d>
                                    <m:dPr>
                                      <m:ctrlPr>
                                        <a:rPr lang="zh-CN" altLang="zh-CN" sz="1400" i="1">
                                          <a:solidFill>
                                            <a:srgbClr val="000000"/>
                                          </a:solidFill>
                                          <a:latin typeface="Cambria Math" panose="02040503050406030204" pitchFamily="18" charset="0"/>
                                          <a:ea typeface="楷体_GB2312"/>
                                          <a:cs typeface="Times New Roman" panose="02020603050405020304" pitchFamily="18" charset="0"/>
                                        </a:rPr>
                                      </m:ctrlPr>
                                    </m:dPr>
                                    <m:e>
                                      <m:sSup>
                                        <m:sSupPr>
                                          <m:ctrlPr>
                                            <a:rPr lang="zh-CN" altLang="zh-CN" sz="1400" i="1">
                                              <a:solidFill>
                                                <a:srgbClr val="000000"/>
                                              </a:solidFill>
                                              <a:latin typeface="Cambria Math" panose="02040503050406030204" pitchFamily="18" charset="0"/>
                                              <a:ea typeface="楷体_GB2312"/>
                                              <a:cs typeface="Times New Roman" panose="02020603050405020304" pitchFamily="18" charset="0"/>
                                            </a:rPr>
                                          </m:ctrlPr>
                                        </m:sSupPr>
                                        <m:e>
                                          <m:r>
                                            <a:rPr lang="en-US" altLang="zh-CN" sz="1400">
                                              <a:solidFill>
                                                <a:srgbClr val="000000"/>
                                              </a:solidFill>
                                              <a:latin typeface="Cambria Math" panose="02040503050406030204" pitchFamily="18" charset="0"/>
                                              <a:ea typeface="楷体_GB2312"/>
                                              <a:cs typeface="Times New Roman" panose="02020603050405020304" pitchFamily="18" charset="0"/>
                                            </a:rPr>
                                            <m:t>𝑠</m:t>
                                          </m:r>
                                        </m:e>
                                        <m:sup>
                                          <m:r>
                                            <a:rPr lang="en-US" altLang="zh-CN" sz="1400">
                                              <a:solidFill>
                                                <a:srgbClr val="000000"/>
                                              </a:solidFill>
                                              <a:latin typeface="Cambria Math" panose="02040503050406030204" pitchFamily="18" charset="0"/>
                                              <a:ea typeface="楷体_GB2312"/>
                                              <a:cs typeface="Times New Roman" panose="02020603050405020304" pitchFamily="18" charset="0"/>
                                            </a:rPr>
                                            <m:t>′</m:t>
                                          </m:r>
                                        </m:sup>
                                      </m:sSup>
                                      <m:r>
                                        <a:rPr lang="en-US" altLang="zh-CN" sz="1400">
                                          <a:solidFill>
                                            <a:srgbClr val="000000"/>
                                          </a:solidFill>
                                          <a:latin typeface="Cambria Math" panose="02040503050406030204" pitchFamily="18" charset="0"/>
                                          <a:ea typeface="楷体_GB2312"/>
                                          <a:cs typeface="Times New Roman" panose="02020603050405020304" pitchFamily="18" charset="0"/>
                                        </a:rPr>
                                        <m:t>,</m:t>
                                      </m:r>
                                      <m:sSup>
                                        <m:sSupPr>
                                          <m:ctrlPr>
                                            <a:rPr lang="zh-CN" altLang="zh-CN" sz="1400" i="1">
                                              <a:solidFill>
                                                <a:srgbClr val="000000"/>
                                              </a:solidFill>
                                              <a:latin typeface="Cambria Math" panose="02040503050406030204" pitchFamily="18" charset="0"/>
                                              <a:ea typeface="楷体_GB2312"/>
                                              <a:cs typeface="Times New Roman" panose="02020603050405020304" pitchFamily="18" charset="0"/>
                                            </a:rPr>
                                          </m:ctrlPr>
                                        </m:sSupPr>
                                        <m:e>
                                          <m:r>
                                            <a:rPr lang="en-US" altLang="zh-CN" sz="1400">
                                              <a:solidFill>
                                                <a:srgbClr val="000000"/>
                                              </a:solidFill>
                                              <a:latin typeface="Cambria Math" panose="02040503050406030204" pitchFamily="18" charset="0"/>
                                              <a:ea typeface="楷体_GB2312"/>
                                              <a:cs typeface="Times New Roman" panose="02020603050405020304" pitchFamily="18" charset="0"/>
                                            </a:rPr>
                                            <m:t>𝑎</m:t>
                                          </m:r>
                                        </m:e>
                                        <m:sup>
                                          <m:r>
                                            <a:rPr lang="en-US" altLang="zh-CN" sz="1400">
                                              <a:solidFill>
                                                <a:srgbClr val="000000"/>
                                              </a:solidFill>
                                              <a:latin typeface="Cambria Math" panose="02040503050406030204" pitchFamily="18" charset="0"/>
                                              <a:ea typeface="楷体_GB2312"/>
                                              <a:cs typeface="Times New Roman" panose="02020603050405020304" pitchFamily="18" charset="0"/>
                                            </a:rPr>
                                            <m:t>′</m:t>
                                          </m:r>
                                        </m:sup>
                                      </m:sSup>
                                      <m:r>
                                        <a:rPr lang="en-US" altLang="zh-CN" sz="1400">
                                          <a:solidFill>
                                            <a:srgbClr val="000000"/>
                                          </a:solidFill>
                                          <a:latin typeface="Cambria Math" panose="02040503050406030204" pitchFamily="18" charset="0"/>
                                          <a:ea typeface="楷体_GB2312"/>
                                          <a:cs typeface="Times New Roman" panose="02020603050405020304" pitchFamily="18" charset="0"/>
                                        </a:rPr>
                                        <m:t>;</m:t>
                                      </m:r>
                                      <m:sSup>
                                        <m:sSupPr>
                                          <m:ctrlPr>
                                            <a:rPr lang="zh-CN" altLang="zh-CN" sz="1400" i="1">
                                              <a:solidFill>
                                                <a:srgbClr val="000000"/>
                                              </a:solidFill>
                                              <a:latin typeface="Cambria Math" panose="02040503050406030204" pitchFamily="18" charset="0"/>
                                              <a:ea typeface="楷体_GB2312"/>
                                              <a:cs typeface="Times New Roman" panose="02020603050405020304" pitchFamily="18" charset="0"/>
                                            </a:rPr>
                                          </m:ctrlPr>
                                        </m:sSupPr>
                                        <m:e>
                                          <m:r>
                                            <a:rPr lang="en-US" altLang="zh-CN" sz="1400">
                                              <a:solidFill>
                                                <a:srgbClr val="000000"/>
                                              </a:solidFill>
                                              <a:latin typeface="Cambria Math" panose="02040503050406030204" pitchFamily="18" charset="0"/>
                                              <a:ea typeface="楷体_GB2312"/>
                                              <a:cs typeface="Times New Roman" panose="02020603050405020304" pitchFamily="18" charset="0"/>
                                            </a:rPr>
                                            <m:t>𝜽</m:t>
                                          </m:r>
                                        </m:e>
                                        <m:sup>
                                          <m:r>
                                            <a:rPr lang="en-US" altLang="zh-CN" sz="1400">
                                              <a:solidFill>
                                                <a:srgbClr val="000000"/>
                                              </a:solidFill>
                                              <a:latin typeface="Cambria Math" panose="02040503050406030204" pitchFamily="18" charset="0"/>
                                              <a:ea typeface="楷体_GB2312"/>
                                              <a:cs typeface="Times New Roman" panose="02020603050405020304" pitchFamily="18" charset="0"/>
                                            </a:rPr>
                                            <m:t>−</m:t>
                                          </m:r>
                                        </m:sup>
                                      </m:sSup>
                                    </m:e>
                                  </m:d>
                                </m:e>
                              </m:func>
                              <m:r>
                                <a:rPr lang="en-US" altLang="zh-CN" sz="1400">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400" i="1">
                                      <a:solidFill>
                                        <a:srgbClr val="000000"/>
                                      </a:solidFill>
                                      <a:latin typeface="Cambria Math" panose="02040503050406030204" pitchFamily="18" charset="0"/>
                                      <a:ea typeface="楷体_GB2312"/>
                                      <a:cs typeface="Times New Roman" panose="02020603050405020304" pitchFamily="18" charset="0"/>
                                    </a:rPr>
                                  </m:ctrlPr>
                                </m:sSubPr>
                                <m:e>
                                  <m:r>
                                    <a:rPr lang="en-US" altLang="zh-CN" sz="1400">
                                      <a:solidFill>
                                        <a:srgbClr val="000000"/>
                                      </a:solidFill>
                                      <a:latin typeface="Cambria Math" panose="02040503050406030204" pitchFamily="18" charset="0"/>
                                      <a:ea typeface="楷体_GB2312"/>
                                      <a:cs typeface="Times New Roman" panose="02020603050405020304" pitchFamily="18" charset="0"/>
                                    </a:rPr>
                                    <m:t>𝑞</m:t>
                                  </m:r>
                                </m:e>
                                <m:sub>
                                  <m:r>
                                    <a:rPr lang="en-US" altLang="zh-CN" sz="1400">
                                      <a:solidFill>
                                        <a:srgbClr val="000000"/>
                                      </a:solidFill>
                                      <a:latin typeface="Cambria Math" panose="02040503050406030204" pitchFamily="18" charset="0"/>
                                      <a:ea typeface="楷体_GB2312"/>
                                      <a:cs typeface="Times New Roman" panose="02020603050405020304" pitchFamily="18" charset="0"/>
                                    </a:rPr>
                                    <m:t>𝜋</m:t>
                                  </m:r>
                                </m:sub>
                              </m:sSub>
                              <m:d>
                                <m:dPr>
                                  <m:ctrlPr>
                                    <a:rPr lang="zh-CN" altLang="zh-CN" sz="1400" i="1">
                                      <a:solidFill>
                                        <a:srgbClr val="000000"/>
                                      </a:solidFill>
                                      <a:latin typeface="Cambria Math" panose="02040503050406030204" pitchFamily="18" charset="0"/>
                                      <a:ea typeface="楷体_GB2312"/>
                                      <a:cs typeface="Times New Roman" panose="02020603050405020304" pitchFamily="18" charset="0"/>
                                    </a:rPr>
                                  </m:ctrlPr>
                                </m:dPr>
                                <m:e>
                                  <m:r>
                                    <a:rPr lang="en-US" altLang="zh-CN" sz="1400">
                                      <a:solidFill>
                                        <a:srgbClr val="000000"/>
                                      </a:solidFill>
                                      <a:latin typeface="Cambria Math" panose="02040503050406030204" pitchFamily="18" charset="0"/>
                                      <a:ea typeface="楷体_GB2312"/>
                                      <a:cs typeface="Times New Roman" panose="02020603050405020304" pitchFamily="18" charset="0"/>
                                    </a:rPr>
                                    <m:t>𝑠</m:t>
                                  </m:r>
                                  <m:r>
                                    <a:rPr lang="en-US" altLang="zh-CN" sz="1400">
                                      <a:solidFill>
                                        <a:srgbClr val="000000"/>
                                      </a:solidFill>
                                      <a:latin typeface="Cambria Math" panose="02040503050406030204" pitchFamily="18" charset="0"/>
                                      <a:ea typeface="楷体_GB2312"/>
                                      <a:cs typeface="Times New Roman" panose="02020603050405020304" pitchFamily="18" charset="0"/>
                                    </a:rPr>
                                    <m:t>,</m:t>
                                  </m:r>
                                  <m:r>
                                    <a:rPr lang="en-US" altLang="zh-CN" sz="1400">
                                      <a:solidFill>
                                        <a:srgbClr val="000000"/>
                                      </a:solidFill>
                                      <a:latin typeface="Cambria Math" panose="02040503050406030204" pitchFamily="18" charset="0"/>
                                      <a:ea typeface="楷体_GB2312"/>
                                      <a:cs typeface="Times New Roman" panose="02020603050405020304" pitchFamily="18" charset="0"/>
                                    </a:rPr>
                                    <m:t>𝑎</m:t>
                                  </m:r>
                                  <m:r>
                                    <a:rPr lang="en-US" altLang="zh-CN" sz="1400">
                                      <a:solidFill>
                                        <a:srgbClr val="000000"/>
                                      </a:solidFill>
                                      <a:latin typeface="Cambria Math" panose="02040503050406030204" pitchFamily="18" charset="0"/>
                                      <a:ea typeface="楷体_GB2312"/>
                                      <a:cs typeface="Times New Roman" panose="02020603050405020304" pitchFamily="18" charset="0"/>
                                    </a:rPr>
                                    <m:t>;</m:t>
                                  </m:r>
                                  <m:r>
                                    <a:rPr lang="en-US" altLang="zh-CN" sz="1400">
                                      <a:solidFill>
                                        <a:srgbClr val="000000"/>
                                      </a:solidFill>
                                      <a:latin typeface="Cambria Math" panose="02040503050406030204" pitchFamily="18" charset="0"/>
                                      <a:ea typeface="楷体_GB2312"/>
                                      <a:cs typeface="Times New Roman" panose="02020603050405020304" pitchFamily="18" charset="0"/>
                                    </a:rPr>
                                    <m:t>𝜽</m:t>
                                  </m:r>
                                </m:e>
                              </m:d>
                            </m:e>
                          </m:d>
                        </m:e>
                        <m:sup>
                          <m:r>
                            <a:rPr lang="en-US" altLang="zh-CN" sz="1400">
                              <a:solidFill>
                                <a:srgbClr val="000000"/>
                              </a:solidFill>
                              <a:latin typeface="Cambria Math" panose="02040503050406030204" pitchFamily="18" charset="0"/>
                              <a:ea typeface="楷体_GB2312"/>
                              <a:cs typeface="Times New Roman" panose="02020603050405020304" pitchFamily="18" charset="0"/>
                            </a:rPr>
                            <m:t>2</m:t>
                          </m:r>
                        </m:sup>
                      </m:sSup>
                    </m:oMath>
                  </m:oMathPara>
                </a14:m>
                <a:endParaRPr lang="zh-CN" altLang="zh-CN" sz="1400" dirty="0">
                  <a:solidFill>
                    <a:srgbClr val="000000"/>
                  </a:solidFill>
                  <a:latin typeface="Times New Roman" panose="02020603050405020304" pitchFamily="18" charset="0"/>
                  <a:ea typeface="楷体_GB2312"/>
                  <a:cs typeface="Times New Roman" panose="02020603050405020304" pitchFamily="18" charset="0"/>
                </a:endParaRPr>
              </a:p>
              <a:p>
                <a:pPr>
                  <a:lnSpc>
                    <a:spcPct val="150000"/>
                  </a:lnSpc>
                </a:pPr>
                <a:endParaRPr lang="en-US" altLang="zh-CN" sz="1400" dirty="0">
                  <a:solidFill>
                    <a:srgbClr val="000000"/>
                  </a:solidFill>
                  <a:latin typeface="Times New Roman" panose="02020603050405020304" pitchFamily="18" charset="0"/>
                  <a:ea typeface="楷体_GB2312"/>
                  <a:cs typeface="Times New Roman" panose="02020603050405020304" pitchFamily="18" charset="0"/>
                </a:endParaRPr>
              </a:p>
              <a:p>
                <a:pPr>
                  <a:lnSpc>
                    <a:spcPct val="150000"/>
                  </a:lnSpc>
                </a:pPr>
                <a:r>
                  <a:rPr lang="en-US" altLang="zh-CN" sz="1400" dirty="0">
                    <a:solidFill>
                      <a:srgbClr val="000000"/>
                    </a:solidFill>
                    <a:latin typeface="Times New Roman" panose="02020603050405020304" pitchFamily="18" charset="0"/>
                    <a:ea typeface="楷体_GB2312"/>
                    <a:cs typeface="Times New Roman" panose="02020603050405020304" pitchFamily="18" charset="0"/>
                  </a:rPr>
                  <a:t>      </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参数</a:t>
                </a:r>
                <a14:m>
                  <m:oMath xmlns:m="http://schemas.openxmlformats.org/officeDocument/2006/math">
                    <m:sSup>
                      <m:sSupPr>
                        <m:ctrlPr>
                          <a:rPr lang="zh-CN" altLang="zh-CN" sz="1400" i="1">
                            <a:solidFill>
                              <a:srgbClr val="000000"/>
                            </a:solidFill>
                            <a:latin typeface="Cambria Math" panose="02040503050406030204" pitchFamily="18" charset="0"/>
                            <a:ea typeface="楷体_GB2312"/>
                            <a:cs typeface="Times New Roman" panose="02020603050405020304" pitchFamily="18" charset="0"/>
                          </a:rPr>
                        </m:ctrlPr>
                      </m:sSupPr>
                      <m:e>
                        <m:r>
                          <a:rPr lang="en-US" altLang="zh-CN" sz="1400">
                            <a:solidFill>
                              <a:srgbClr val="000000"/>
                            </a:solidFill>
                            <a:latin typeface="Cambria Math" panose="02040503050406030204" pitchFamily="18" charset="0"/>
                            <a:ea typeface="楷体_GB2312"/>
                            <a:cs typeface="Times New Roman" panose="02020603050405020304" pitchFamily="18" charset="0"/>
                          </a:rPr>
                          <m:t>𝜽</m:t>
                        </m:r>
                      </m:e>
                      <m:sup>
                        <m:r>
                          <a:rPr lang="en-US" altLang="zh-CN" sz="1400">
                            <a:solidFill>
                              <a:srgbClr val="000000"/>
                            </a:solidFill>
                            <a:latin typeface="Cambria Math" panose="02040503050406030204" pitchFamily="18" charset="0"/>
                            <a:ea typeface="楷体_GB2312"/>
                            <a:cs typeface="Times New Roman" panose="02020603050405020304" pitchFamily="18" charset="0"/>
                          </a:rPr>
                          <m:t>−</m:t>
                        </m:r>
                      </m:sup>
                    </m:sSup>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保持相对稳定，以较低的频率更新</a:t>
                </a:r>
                <a14:m>
                  <m:oMath xmlns:m="http://schemas.openxmlformats.org/officeDocument/2006/math">
                    <m:sSup>
                      <m:sSupPr>
                        <m:ctrlPr>
                          <a:rPr lang="zh-CN" altLang="zh-CN" sz="1400" i="1">
                            <a:solidFill>
                              <a:srgbClr val="000000"/>
                            </a:solidFill>
                            <a:latin typeface="Cambria Math" panose="02040503050406030204" pitchFamily="18" charset="0"/>
                            <a:ea typeface="楷体_GB2312"/>
                            <a:cs typeface="Times New Roman" panose="02020603050405020304" pitchFamily="18" charset="0"/>
                          </a:rPr>
                        </m:ctrlPr>
                      </m:sSupPr>
                      <m:e>
                        <m:r>
                          <a:rPr lang="en-US" altLang="zh-CN" sz="1400">
                            <a:solidFill>
                              <a:srgbClr val="000000"/>
                            </a:solidFill>
                            <a:latin typeface="Cambria Math" panose="02040503050406030204" pitchFamily="18" charset="0"/>
                            <a:ea typeface="楷体_GB2312"/>
                            <a:cs typeface="Times New Roman" panose="02020603050405020304" pitchFamily="18" charset="0"/>
                          </a:rPr>
                          <m:t>𝜽</m:t>
                        </m:r>
                      </m:e>
                      <m:sup>
                        <m:r>
                          <a:rPr lang="en-US" altLang="zh-CN" sz="1400">
                            <a:solidFill>
                              <a:srgbClr val="000000"/>
                            </a:solidFill>
                            <a:latin typeface="Cambria Math" panose="02040503050406030204" pitchFamily="18" charset="0"/>
                            <a:ea typeface="楷体_GB2312"/>
                            <a:cs typeface="Times New Roman" panose="02020603050405020304" pitchFamily="18" charset="0"/>
                          </a:rPr>
                          <m:t>−</m:t>
                        </m:r>
                      </m:sup>
                    </m:sSup>
                    <m:r>
                      <a:rPr lang="en-US" altLang="zh-CN" sz="1400">
                        <a:solidFill>
                          <a:srgbClr val="000000"/>
                        </a:solidFill>
                        <a:latin typeface="Cambria Math" panose="02040503050406030204" pitchFamily="18" charset="0"/>
                        <a:ea typeface="楷体_GB2312"/>
                        <a:cs typeface="Times New Roman" panose="02020603050405020304" pitchFamily="18" charset="0"/>
                      </a:rPr>
                      <m:t>←</m:t>
                    </m:r>
                    <m:r>
                      <a:rPr lang="en-US" altLang="zh-CN" sz="1400">
                        <a:solidFill>
                          <a:srgbClr val="000000"/>
                        </a:solidFill>
                        <a:latin typeface="Cambria Math" panose="02040503050406030204" pitchFamily="18" charset="0"/>
                        <a:ea typeface="楷体_GB2312"/>
                        <a:cs typeface="Times New Roman" panose="02020603050405020304" pitchFamily="18" charset="0"/>
                      </a:rPr>
                      <m:t>𝜽</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。因此在算法更新</a:t>
                </a:r>
                <a14:m>
                  <m:oMath xmlns:m="http://schemas.openxmlformats.org/officeDocument/2006/math">
                    <m:r>
                      <a:rPr lang="en-US" altLang="zh-CN" sz="1400">
                        <a:solidFill>
                          <a:srgbClr val="000000"/>
                        </a:solidFill>
                        <a:latin typeface="Cambria Math" panose="02040503050406030204" pitchFamily="18" charset="0"/>
                        <a:ea typeface="楷体_GB2312"/>
                        <a:cs typeface="Times New Roman" panose="02020603050405020304" pitchFamily="18" charset="0"/>
                      </a:rPr>
                      <m:t>𝜃</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时，目标值可以看作一个常数，求解目标变成了一个普通的回归问题，这样使得算法更加稳定</a:t>
                </a:r>
              </a:p>
            </p:txBody>
          </p:sp>
        </mc:Choice>
        <mc:Fallback xmlns="">
          <p:sp>
            <p:nvSpPr>
              <p:cNvPr id="7" name="矩形 6">
                <a:extLst>
                  <a:ext uri="{FF2B5EF4-FFF2-40B4-BE49-F238E27FC236}">
                    <a16:creationId xmlns:a16="http://schemas.microsoft.com/office/drawing/2014/main" id="{6A6019CD-B9C3-4B9D-A0A6-32788B995064}"/>
                  </a:ext>
                </a:extLst>
              </p:cNvPr>
              <p:cNvSpPr>
                <a:spLocks noRot="1" noChangeAspect="1" noMove="1" noResize="1" noEditPoints="1" noAdjustHandles="1" noChangeArrowheads="1" noChangeShapeType="1" noTextEdit="1"/>
              </p:cNvSpPr>
              <p:nvPr/>
            </p:nvSpPr>
            <p:spPr>
              <a:xfrm>
                <a:off x="219808" y="1739876"/>
                <a:ext cx="7598974" cy="4269054"/>
              </a:xfrm>
              <a:prstGeom prst="rect">
                <a:avLst/>
              </a:prstGeom>
              <a:blipFill>
                <a:blip r:embed="rId3"/>
                <a:stretch>
                  <a:fillRect l="-241" r="-160"/>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CFD7935F-C8CC-4DBB-BDE5-459491E1C66C}"/>
              </a:ext>
            </a:extLst>
          </p:cNvPr>
          <p:cNvPicPr>
            <a:picLocks noChangeAspect="1"/>
          </p:cNvPicPr>
          <p:nvPr/>
        </p:nvPicPr>
        <p:blipFill>
          <a:blip r:embed="rId4"/>
          <a:stretch>
            <a:fillRect/>
          </a:stretch>
        </p:blipFill>
        <p:spPr>
          <a:xfrm>
            <a:off x="7741832" y="2619375"/>
            <a:ext cx="4480662" cy="2981471"/>
          </a:xfrm>
          <a:prstGeom prst="rect">
            <a:avLst/>
          </a:prstGeom>
        </p:spPr>
      </p:pic>
    </p:spTree>
    <p:extLst>
      <p:ext uri="{BB962C8B-B14F-4D97-AF65-F5344CB8AC3E}">
        <p14:creationId xmlns:p14="http://schemas.microsoft.com/office/powerpoint/2010/main" val="137645029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zh-CN"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策略梯度法（</a:t>
              </a:r>
              <a:r>
                <a:rPr lang="en-US" altLang="zh-CN"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Policy Gradient Methods</a:t>
              </a:r>
              <a:r>
                <a:rPr lang="zh-CN" altLang="zh-CN"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三、基于策略的强化学习</a:t>
            </a:r>
          </a:p>
        </p:txBody>
      </p:sp>
      <p:sp>
        <p:nvSpPr>
          <p:cNvPr id="2" name="矩形 1">
            <a:extLst>
              <a:ext uri="{FF2B5EF4-FFF2-40B4-BE49-F238E27FC236}">
                <a16:creationId xmlns:a16="http://schemas.microsoft.com/office/drawing/2014/main" id="{601308BB-7281-4604-A190-F2941B1D1890}"/>
              </a:ext>
            </a:extLst>
          </p:cNvPr>
          <p:cNvSpPr/>
          <p:nvPr/>
        </p:nvSpPr>
        <p:spPr>
          <a:xfrm>
            <a:off x="1064455" y="1514200"/>
            <a:ext cx="9772357" cy="646331"/>
          </a:xfrm>
          <a:prstGeom prst="rect">
            <a:avLst/>
          </a:prstGeom>
        </p:spPr>
        <p:txBody>
          <a:bodyPr wrap="square">
            <a:spAutoFit/>
          </a:bodyPr>
          <a:lstStyle/>
          <a:p>
            <a:pPr algn="ctr"/>
            <a:r>
              <a:rPr lang="zh-CN"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通过直接参数化策略函数的方法求解强化学习问题，由于算法需要求参数化的策略函数的梯度，因此这些方法称为策略梯度法（</a:t>
            </a:r>
            <a:r>
              <a:rPr lang="en-US"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Policy Gradient Methods</a:t>
            </a:r>
            <a:r>
              <a:rPr lang="zh-CN"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en-US"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72A06BA1-B018-4F73-9768-DB586218138A}"/>
                  </a:ext>
                </a:extLst>
              </p:cNvPr>
              <p:cNvSpPr/>
              <p:nvPr/>
            </p:nvSpPr>
            <p:spPr>
              <a:xfrm>
                <a:off x="1139482" y="3972910"/>
                <a:ext cx="9250641" cy="1156727"/>
              </a:xfrm>
              <a:prstGeom prst="rect">
                <a:avLst/>
              </a:prstGeom>
            </p:spPr>
            <p:txBody>
              <a:bodyPr wrap="square">
                <a:spAutoFit/>
              </a:bodyPr>
              <a:lstStyle/>
              <a:p>
                <a:pPr algn="r">
                  <a:lnSpc>
                    <a:spcPct val="150000"/>
                  </a:lnSpc>
                  <a:spcAft>
                    <a:spcPts val="0"/>
                  </a:spcAft>
                </a:pPr>
                <a:r>
                  <a:rPr lang="en-US" altLang="zh-CN" sz="16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这是一个关于参数</a:t>
                </a:r>
                <a14:m>
                  <m:oMath xmlns:m="http://schemas.openxmlformats.org/officeDocument/2006/math">
                    <m:r>
                      <a:rPr lang="en-US" altLang="zh-CN" sz="1600" b="1" i="1">
                        <a:solidFill>
                          <a:srgbClr val="000000"/>
                        </a:solidFill>
                        <a:latin typeface="Cambria Math" panose="02040503050406030204" pitchFamily="18" charset="0"/>
                        <a:ea typeface="楷体_GB2312"/>
                        <a:cs typeface="Times New Roman" panose="02020603050405020304" pitchFamily="18" charset="0"/>
                      </a:rPr>
                      <m:t>𝜽</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的函数，其值为从初始状态出发的价值函数。如果能求出梯度</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a:solidFill>
                              <a:srgbClr val="000000"/>
                            </a:solidFill>
                            <a:latin typeface="Cambria Math" panose="02040503050406030204" pitchFamily="18" charset="0"/>
                            <a:ea typeface="楷体_GB2312"/>
                            <a:cs typeface="Times New Roman" panose="02020603050405020304" pitchFamily="18" charset="0"/>
                          </a:rPr>
                          <m:t>𝛻</m:t>
                        </m:r>
                      </m:e>
                      <m:sub>
                        <m:r>
                          <a:rPr lang="en-US" altLang="zh-CN" sz="1600" b="1" i="1">
                            <a:solidFill>
                              <a:srgbClr val="000000"/>
                            </a:solidFill>
                            <a:latin typeface="Cambria Math" panose="02040503050406030204" pitchFamily="18" charset="0"/>
                            <a:ea typeface="楷体_GB2312"/>
                            <a:cs typeface="Times New Roman" panose="02020603050405020304" pitchFamily="18" charset="0"/>
                          </a:rPr>
                          <m:t>𝜽</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𝐽</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b="1" i="1">
                        <a:solidFill>
                          <a:srgbClr val="000000"/>
                        </a:solidFill>
                        <a:latin typeface="Cambria Math" panose="02040503050406030204" pitchFamily="18" charset="0"/>
                        <a:ea typeface="楷体_GB2312"/>
                        <a:cs typeface="Times New Roman" panose="02020603050405020304" pitchFamily="18" charset="0"/>
                      </a:rPr>
                      <m:t>𝜽</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，就可以用梯度上升（</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Gradient Ascent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）法求解这个问题了，即求解价值函数的最大值。</a:t>
                </a:r>
              </a:p>
            </p:txBody>
          </p:sp>
        </mc:Choice>
        <mc:Fallback xmlns="">
          <p:sp>
            <p:nvSpPr>
              <p:cNvPr id="9" name="矩形 8">
                <a:extLst>
                  <a:ext uri="{FF2B5EF4-FFF2-40B4-BE49-F238E27FC236}">
                    <a16:creationId xmlns:a16="http://schemas.microsoft.com/office/drawing/2014/main" id="{72A06BA1-B018-4F73-9768-DB586218138A}"/>
                  </a:ext>
                </a:extLst>
              </p:cNvPr>
              <p:cNvSpPr>
                <a:spLocks noRot="1" noChangeAspect="1" noMove="1" noResize="1" noEditPoints="1" noAdjustHandles="1" noChangeArrowheads="1" noChangeShapeType="1" noTextEdit="1"/>
              </p:cNvSpPr>
              <p:nvPr/>
            </p:nvSpPr>
            <p:spPr>
              <a:xfrm>
                <a:off x="1139482" y="3972910"/>
                <a:ext cx="9250641" cy="1156727"/>
              </a:xfrm>
              <a:prstGeom prst="rect">
                <a:avLst/>
              </a:prstGeom>
              <a:blipFill>
                <a:blip r:embed="rId3"/>
                <a:stretch>
                  <a:fillRect l="-264" r="-330" b="-63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004DCADF-A07B-414D-8C64-3704E0E55B52}"/>
                  </a:ext>
                </a:extLst>
              </p:cNvPr>
              <p:cNvSpPr/>
              <p:nvPr/>
            </p:nvSpPr>
            <p:spPr>
              <a:xfrm>
                <a:off x="1139482" y="2321820"/>
                <a:ext cx="9697330" cy="1946943"/>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策略函数的参数化可以表示为</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e>
                      <m:sub>
                        <m:r>
                          <a:rPr lang="en-US" altLang="zh-CN" sz="1600" b="1" i="1">
                            <a:solidFill>
                              <a:srgbClr val="000000"/>
                            </a:solidFill>
                            <a:latin typeface="Cambria Math" panose="02040503050406030204" pitchFamily="18" charset="0"/>
                            <a:ea typeface="楷体_GB2312"/>
                            <a:cs typeface="Times New Roman" panose="02020603050405020304" pitchFamily="18" charset="0"/>
                          </a:rPr>
                          <m:t>𝜽</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𝑎</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，其中</a:t>
                </a:r>
                <a14:m>
                  <m:oMath xmlns:m="http://schemas.openxmlformats.org/officeDocument/2006/math">
                    <m:r>
                      <a:rPr lang="en-US" altLang="zh-CN" sz="1600" b="1" i="1">
                        <a:solidFill>
                          <a:srgbClr val="000000"/>
                        </a:solidFill>
                        <a:latin typeface="Cambria Math" panose="02040503050406030204" pitchFamily="18" charset="0"/>
                        <a:ea typeface="楷体_GB2312"/>
                        <a:cs typeface="Times New Roman" panose="02020603050405020304" pitchFamily="18" charset="0"/>
                      </a:rPr>
                      <m:t>𝜽</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为一组参数，函数取值表示在状态</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下选择动作</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𝑎</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的概率。</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深度</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Q</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学习的参数化是针对动作</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价值函数的，即</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𝑞</m:t>
                        </m:r>
                      </m:e>
                      <m:sub>
                        <m:r>
                          <a:rPr lang="en-US" altLang="zh-CN" sz="1600" i="1">
                            <a:latin typeface="Cambria Math" panose="02040503050406030204" pitchFamily="18" charset="0"/>
                          </a:rPr>
                          <m:t>𝜋</m:t>
                        </m:r>
                      </m:sub>
                    </m:sSub>
                    <m:r>
                      <a:rPr lang="en-US" altLang="zh-CN" sz="1600" i="1">
                        <a:latin typeface="Cambria Math" panose="02040503050406030204" pitchFamily="18" charset="0"/>
                      </a:rPr>
                      <m:t>(</m:t>
                    </m:r>
                    <m:r>
                      <a:rPr lang="en-US" altLang="zh-CN" sz="1600" i="1">
                        <a:latin typeface="Cambria Math" panose="02040503050406030204" pitchFamily="18" charset="0"/>
                      </a:rPr>
                      <m:t>𝑠</m:t>
                    </m:r>
                    <m:r>
                      <a:rPr lang="en-US" altLang="zh-CN" sz="1600" i="1">
                        <a:latin typeface="Cambria Math" panose="02040503050406030204" pitchFamily="18" charset="0"/>
                      </a:rPr>
                      <m:t>,</m:t>
                    </m:r>
                    <m:r>
                      <a:rPr lang="en-US" altLang="zh-CN" sz="1600" i="1">
                        <a:latin typeface="Cambria Math" panose="02040503050406030204" pitchFamily="18" charset="0"/>
                      </a:rPr>
                      <m:t>𝑎</m:t>
                    </m:r>
                    <m:r>
                      <a:rPr lang="en-US" altLang="zh-CN" sz="1600" i="1">
                        <a:latin typeface="Cambria Math" panose="02040503050406030204" pitchFamily="18" charset="0"/>
                      </a:rPr>
                      <m:t>;</m:t>
                    </m:r>
                    <m:r>
                      <a:rPr lang="en-US" altLang="zh-CN" sz="1600" b="1" i="1">
                        <a:latin typeface="Cambria Math" panose="02040503050406030204" pitchFamily="18" charset="0"/>
                      </a:rPr>
                      <m:t>𝜽</m:t>
                    </m:r>
                    <m:r>
                      <a:rPr lang="en-US" altLang="zh-CN" sz="1600" i="1">
                        <a:latin typeface="Cambria Math" panose="02040503050406030204" pitchFamily="18" charset="0"/>
                      </a:rPr>
                      <m:t>)</m:t>
                    </m:r>
                  </m:oMath>
                </a14:m>
                <a:r>
                  <a:rPr lang="zh-CN" altLang="en-US" sz="1600" dirty="0">
                    <a:solidFill>
                      <a:srgbClr val="000000"/>
                    </a:solidFill>
                    <a:latin typeface="Times New Roman" panose="02020603050405020304" pitchFamily="18" charset="0"/>
                    <a:ea typeface="楷体_GB2312"/>
                    <a:cs typeface="Times New Roman" panose="02020603050405020304" pitchFamily="18" charset="0"/>
                  </a:rPr>
                  <a:t>。</a:t>
                </a: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为了优化策略函数，首先需要有一个对策略函数优劣进行衡量的标准。不妨假设强化学习问题的初始状态为</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0</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，不难定义算法希望达到的最大化目标为</a:t>
                </a:r>
                <a:br>
                  <a:rPr lang="en-US" altLang="zh-CN" sz="1600" dirty="0">
                    <a:solidFill>
                      <a:srgbClr val="000000"/>
                    </a:solidFill>
                    <a:latin typeface="Times New Roman" panose="02020603050405020304" pitchFamily="18" charset="0"/>
                    <a:ea typeface="楷体_GB2312"/>
                    <a:cs typeface="Times New Roman" panose="02020603050405020304" pitchFamily="18" charset="0"/>
                  </a:rPr>
                </a:br>
                <a:endParaRPr lang="zh-CN" altLang="en-US" sz="1600" dirty="0"/>
              </a:p>
            </p:txBody>
          </p:sp>
        </mc:Choice>
        <mc:Fallback xmlns="">
          <p:sp>
            <p:nvSpPr>
              <p:cNvPr id="10" name="矩形 9">
                <a:extLst>
                  <a:ext uri="{FF2B5EF4-FFF2-40B4-BE49-F238E27FC236}">
                    <a16:creationId xmlns:a16="http://schemas.microsoft.com/office/drawing/2014/main" id="{004DCADF-A07B-414D-8C64-3704E0E55B52}"/>
                  </a:ext>
                </a:extLst>
              </p:cNvPr>
              <p:cNvSpPr>
                <a:spLocks noRot="1" noChangeAspect="1" noMove="1" noResize="1" noEditPoints="1" noAdjustHandles="1" noChangeArrowheads="1" noChangeShapeType="1" noTextEdit="1"/>
              </p:cNvSpPr>
              <p:nvPr/>
            </p:nvSpPr>
            <p:spPr>
              <a:xfrm>
                <a:off x="1139482" y="2321820"/>
                <a:ext cx="9697330" cy="1946943"/>
              </a:xfrm>
              <a:prstGeom prst="rect">
                <a:avLst/>
              </a:prstGeom>
              <a:blipFill>
                <a:blip r:embed="rId4"/>
                <a:stretch>
                  <a:fillRect l="-251" r="-3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951E7AA1-6AA2-4AF5-94E9-87912741DC88}"/>
                  </a:ext>
                </a:extLst>
              </p:cNvPr>
              <p:cNvSpPr/>
              <p:nvPr/>
            </p:nvSpPr>
            <p:spPr>
              <a:xfrm>
                <a:off x="5160690" y="3769838"/>
                <a:ext cx="2070250" cy="545149"/>
              </a:xfrm>
              <a:prstGeom prst="rect">
                <a:avLst/>
              </a:prstGeom>
            </p:spPr>
            <p:txBody>
              <a:bodyPr wrap="square">
                <a:spAutoFit/>
              </a:bodyPr>
              <a:lstStyle/>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𝐽</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b="1" i="1">
                              <a:solidFill>
                                <a:srgbClr val="000000"/>
                              </a:solidFill>
                              <a:latin typeface="Cambria Math" panose="02040503050406030204" pitchFamily="18" charset="0"/>
                              <a:ea typeface="楷体_GB2312"/>
                              <a:cs typeface="Times New Roman" panose="02020603050405020304" pitchFamily="18" charset="0"/>
                            </a:rPr>
                            <m:t>𝜽</m:t>
                          </m:r>
                        </m:e>
                      </m:d>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𝑉</m:t>
                          </m:r>
                        </m:e>
                        <m:sub>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𝜋</m:t>
                              </m:r>
                            </m:e>
                            <m:sub>
                              <m:r>
                                <a:rPr lang="en-US" altLang="zh-CN" b="1" i="1">
                                  <a:solidFill>
                                    <a:srgbClr val="000000"/>
                                  </a:solidFill>
                                  <a:latin typeface="Cambria Math" panose="02040503050406030204" pitchFamily="18" charset="0"/>
                                  <a:ea typeface="楷体_GB2312"/>
                                  <a:cs typeface="Times New Roman" panose="02020603050405020304" pitchFamily="18" charset="0"/>
                                </a:rPr>
                                <m:t>𝜽</m:t>
                              </m:r>
                            </m:sub>
                          </m:sSub>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i="1">
                              <a:solidFill>
                                <a:srgbClr val="000000"/>
                              </a:solidFill>
                              <a:latin typeface="Cambria Math" panose="02040503050406030204" pitchFamily="18" charset="0"/>
                              <a:ea typeface="楷体_GB2312"/>
                              <a:cs typeface="Times New Roman" panose="02020603050405020304" pitchFamily="18" charset="0"/>
                            </a:rPr>
                            <m:t>0</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oMath>
                  </m:oMathPara>
                </a14:m>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p:txBody>
          </p:sp>
        </mc:Choice>
        <mc:Fallback xmlns="">
          <p:sp>
            <p:nvSpPr>
              <p:cNvPr id="11" name="矩形 10">
                <a:extLst>
                  <a:ext uri="{FF2B5EF4-FFF2-40B4-BE49-F238E27FC236}">
                    <a16:creationId xmlns:a16="http://schemas.microsoft.com/office/drawing/2014/main" id="{951E7AA1-6AA2-4AF5-94E9-87912741DC88}"/>
                  </a:ext>
                </a:extLst>
              </p:cNvPr>
              <p:cNvSpPr>
                <a:spLocks noRot="1" noChangeAspect="1" noMove="1" noResize="1" noEditPoints="1" noAdjustHandles="1" noChangeArrowheads="1" noChangeShapeType="1" noTextEdit="1"/>
              </p:cNvSpPr>
              <p:nvPr/>
            </p:nvSpPr>
            <p:spPr>
              <a:xfrm>
                <a:off x="5160690" y="3769838"/>
                <a:ext cx="2070250" cy="545149"/>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3513127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zh-CN"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策略梯度</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定理</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三、基于策略的强化学习</a:t>
            </a: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367DE07E-53A6-42C6-8C96-31B6D43E615E}"/>
                  </a:ext>
                </a:extLst>
              </p:cNvPr>
              <p:cNvSpPr/>
              <p:nvPr/>
            </p:nvSpPr>
            <p:spPr>
              <a:xfrm>
                <a:off x="932359" y="3448946"/>
                <a:ext cx="10700824" cy="2648161"/>
              </a:xfrm>
              <a:prstGeom prst="rect">
                <a:avLst/>
              </a:prstGeom>
            </p:spPr>
            <p:txBody>
              <a:bodyPr wrap="square">
                <a:spAutoFit/>
              </a:bodyPr>
              <a:lstStyle/>
              <a:p>
                <a:pPr indent="266700" algn="just">
                  <a:lnSpc>
                    <a:spcPct val="150000"/>
                  </a:lnSpc>
                  <a:spcAft>
                    <a:spcPts val="0"/>
                  </a:spcAft>
                </a:pP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𝜇</m:t>
                        </m:r>
                      </m:e>
                      <m:sub>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𝜋</m:t>
                            </m:r>
                          </m:e>
                          <m:sub>
                            <m:r>
                              <a:rPr lang="en-US" altLang="zh-CN" b="1" i="1">
                                <a:solidFill>
                                  <a:srgbClr val="000000"/>
                                </a:solidFill>
                                <a:latin typeface="Cambria Math" panose="02040503050406030204" pitchFamily="18" charset="0"/>
                                <a:ea typeface="楷体_GB2312"/>
                                <a:cs typeface="Times New Roman" panose="02020603050405020304" pitchFamily="18" charset="0"/>
                              </a:rPr>
                              <m:t>𝜽</m:t>
                            </m:r>
                          </m:sub>
                        </m:sSub>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𝑠</m:t>
                    </m:r>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称为策略</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𝜋</m:t>
                        </m:r>
                      </m:e>
                      <m:sub>
                        <m:r>
                          <a:rPr lang="en-US" altLang="zh-CN" b="1" i="1">
                            <a:solidFill>
                              <a:srgbClr val="000000"/>
                            </a:solidFill>
                            <a:latin typeface="Cambria Math" panose="02040503050406030204" pitchFamily="18" charset="0"/>
                            <a:ea typeface="楷体_GB2312"/>
                            <a:cs typeface="Times New Roman" panose="02020603050405020304" pitchFamily="18" charset="0"/>
                          </a:rPr>
                          <m:t>𝜽</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的策略分布（这里假设折扣系数</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𝛾</m:t>
                    </m:r>
                    <m:r>
                      <a:rPr lang="en-US" altLang="zh-CN" i="1">
                        <a:solidFill>
                          <a:srgbClr val="000000"/>
                        </a:solidFill>
                        <a:latin typeface="Cambria Math" panose="02040503050406030204" pitchFamily="18" charset="0"/>
                        <a:ea typeface="楷体_GB2312"/>
                        <a:cs typeface="Times New Roman" panose="02020603050405020304" pitchFamily="18" charset="0"/>
                      </a:rPr>
                      <m:t>=1</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）。在持续问题中，</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𝜇</m:t>
                        </m:r>
                      </m:e>
                      <m:sub>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𝜋</m:t>
                            </m:r>
                          </m:e>
                          <m:sub>
                            <m:r>
                              <a:rPr lang="en-US" altLang="zh-CN" b="1" i="1">
                                <a:solidFill>
                                  <a:srgbClr val="000000"/>
                                </a:solidFill>
                                <a:latin typeface="Cambria Math" panose="02040503050406030204" pitchFamily="18" charset="0"/>
                                <a:ea typeface="楷体_GB2312"/>
                                <a:cs typeface="Times New Roman" panose="02020603050405020304" pitchFamily="18" charset="0"/>
                              </a:rPr>
                              <m:t>𝜽</m:t>
                            </m:r>
                          </m:sub>
                        </m:sSub>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𝑠</m:t>
                    </m:r>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为算法在策略</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𝜋</m:t>
                        </m:r>
                      </m:e>
                      <m:sub>
                        <m:r>
                          <a:rPr lang="en-US" altLang="zh-CN" b="1" i="1">
                            <a:solidFill>
                              <a:srgbClr val="000000"/>
                            </a:solidFill>
                            <a:latin typeface="Cambria Math" panose="02040503050406030204" pitchFamily="18" charset="0"/>
                            <a:ea typeface="楷体_GB2312"/>
                            <a:cs typeface="Times New Roman" panose="02020603050405020304" pitchFamily="18" charset="0"/>
                          </a:rPr>
                          <m:t>𝜽</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安排下从</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i="1">
                            <a:solidFill>
                              <a:srgbClr val="000000"/>
                            </a:solidFill>
                            <a:latin typeface="Cambria Math" panose="02040503050406030204" pitchFamily="18" charset="0"/>
                            <a:ea typeface="楷体_GB2312"/>
                            <a:cs typeface="Times New Roman" panose="02020603050405020304" pitchFamily="18" charset="0"/>
                          </a:rPr>
                          <m:t>0</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出发经过无限多步后位于状态</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𝑠</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的概率；在分段问题中，</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𝜇</m:t>
                        </m:r>
                      </m:e>
                      <m:sub>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𝜋</m:t>
                            </m:r>
                          </m:e>
                          <m:sub>
                            <m:r>
                              <a:rPr lang="en-US" altLang="zh-CN" b="1" i="1">
                                <a:solidFill>
                                  <a:srgbClr val="000000"/>
                                </a:solidFill>
                                <a:latin typeface="Cambria Math" panose="02040503050406030204" pitchFamily="18" charset="0"/>
                                <a:ea typeface="楷体_GB2312"/>
                                <a:cs typeface="Times New Roman" panose="02020603050405020304" pitchFamily="18" charset="0"/>
                              </a:rPr>
                              <m:t>𝜽</m:t>
                            </m:r>
                          </m:sub>
                        </m:sSub>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𝑠</m:t>
                    </m:r>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为归一化后的算法从</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𝑠</m:t>
                        </m:r>
                      </m:e>
                      <m:sub>
                        <m:r>
                          <a:rPr lang="en-US" altLang="zh-CN" i="1">
                            <a:solidFill>
                              <a:srgbClr val="000000"/>
                            </a:solidFill>
                            <a:latin typeface="Cambria Math" panose="02040503050406030204" pitchFamily="18" charset="0"/>
                            <a:ea typeface="楷体_GB2312"/>
                            <a:cs typeface="Times New Roman" panose="02020603050405020304" pitchFamily="18" charset="0"/>
                          </a:rPr>
                          <m:t>0</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出发访问</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𝑠</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次数的期望。当</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𝛾</m:t>
                    </m:r>
                    <m:r>
                      <a:rPr lang="en-US" altLang="zh-CN" i="1">
                        <a:solidFill>
                          <a:srgbClr val="000000"/>
                        </a:solidFill>
                        <a:latin typeface="Cambria Math" panose="02040503050406030204" pitchFamily="18" charset="0"/>
                        <a:ea typeface="楷体_GB2312"/>
                        <a:cs typeface="Times New Roman" panose="02020603050405020304" pitchFamily="18" charset="0"/>
                      </a:rPr>
                      <m:t>∈(0,1)</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时，则需要给每个状态的</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𝜇</m:t>
                        </m:r>
                      </m:e>
                      <m:sub>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𝜋</m:t>
                            </m:r>
                          </m:e>
                          <m:sub>
                            <m:r>
                              <a:rPr lang="en-US" altLang="zh-CN" b="1" i="1">
                                <a:solidFill>
                                  <a:srgbClr val="000000"/>
                                </a:solidFill>
                                <a:latin typeface="Cambria Math" panose="02040503050406030204" pitchFamily="18" charset="0"/>
                                <a:ea typeface="楷体_GB2312"/>
                                <a:cs typeface="Times New Roman" panose="02020603050405020304" pitchFamily="18" charset="0"/>
                              </a:rPr>
                              <m:t>𝜽</m:t>
                            </m:r>
                          </m:sub>
                        </m:sSub>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𝑠</m:t>
                    </m:r>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值加上一个权重。在保证算法通用性的前提下，为了简化说明，下文在进行公式推导时始终假设</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𝛾</m:t>
                    </m:r>
                    <m:r>
                      <a:rPr lang="en-US" altLang="zh-CN" i="1">
                        <a:solidFill>
                          <a:srgbClr val="000000"/>
                        </a:solidFill>
                        <a:latin typeface="Cambria Math" panose="02040503050406030204" pitchFamily="18" charset="0"/>
                        <a:ea typeface="楷体_GB2312"/>
                        <a:cs typeface="Times New Roman" panose="02020603050405020304" pitchFamily="18" charset="0"/>
                      </a:rPr>
                      <m:t>=1</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，但是在算法流程中会体现折扣系数</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𝛾</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的影响。</a:t>
                </a:r>
              </a:p>
              <a:p>
                <a:pPr indent="266700" algn="just">
                  <a:lnSpc>
                    <a:spcPct val="150000"/>
                  </a:lnSpc>
                  <a:spcAft>
                    <a:spcPts val="0"/>
                  </a:spcAft>
                </a:pPr>
                <a:r>
                  <a:rPr lang="zh-CN" altLang="en-US" dirty="0">
                    <a:solidFill>
                      <a:srgbClr val="000000"/>
                    </a:solidFill>
                    <a:latin typeface="Times New Roman" panose="02020603050405020304" pitchFamily="18" charset="0"/>
                    <a:ea typeface="楷体_GB2312"/>
                    <a:cs typeface="Times New Roman" panose="02020603050405020304" pitchFamily="18" charset="0"/>
                  </a:rPr>
                  <a:t>上式</a:t>
                </a:r>
                <a:r>
                  <a:rPr lang="zh-CN" altLang="zh-CN" dirty="0">
                    <a:solidFill>
                      <a:srgbClr val="000000"/>
                    </a:solidFill>
                    <a:latin typeface="Times New Roman" panose="02020603050405020304" pitchFamily="18" charset="0"/>
                    <a:ea typeface="楷体_GB2312"/>
                    <a:cs typeface="Times New Roman" panose="02020603050405020304" pitchFamily="18" charset="0"/>
                  </a:rPr>
                  <a:t>称为</a:t>
                </a:r>
                <a:r>
                  <a:rPr lang="zh-CN" altLang="zh-CN" b="1" dirty="0">
                    <a:solidFill>
                      <a:srgbClr val="000000"/>
                    </a:solidFill>
                    <a:latin typeface="Times New Roman" panose="02020603050405020304" pitchFamily="18" charset="0"/>
                    <a:ea typeface="楷体_GB2312"/>
                    <a:cs typeface="Times New Roman" panose="02020603050405020304" pitchFamily="18" charset="0"/>
                  </a:rPr>
                  <a:t>策略梯度定理（</a:t>
                </a:r>
                <a:r>
                  <a:rPr lang="en-US" altLang="zh-CN" b="1" dirty="0">
                    <a:solidFill>
                      <a:srgbClr val="000000"/>
                    </a:solidFill>
                    <a:latin typeface="Times New Roman" panose="02020603050405020304" pitchFamily="18" charset="0"/>
                    <a:ea typeface="楷体_GB2312"/>
                    <a:cs typeface="Times New Roman" panose="02020603050405020304" pitchFamily="18" charset="0"/>
                  </a:rPr>
                  <a:t>Policy Gradient Theorem</a:t>
                </a:r>
                <a:r>
                  <a:rPr lang="zh-CN" altLang="zh-CN" b="1"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，它提供了策略梯度法的求解思路：如果能够计算或估计</a:t>
                </a:r>
                <a:r>
                  <a:rPr lang="zh-CN" altLang="en-US" dirty="0">
                    <a:solidFill>
                      <a:srgbClr val="000000"/>
                    </a:solidFill>
                    <a:latin typeface="Times New Roman" panose="02020603050405020304" pitchFamily="18" charset="0"/>
                    <a:ea typeface="楷体_GB2312"/>
                    <a:cs typeface="Times New Roman" panose="02020603050405020304" pitchFamily="18" charset="0"/>
                  </a:rPr>
                  <a:t>策略函数</a:t>
                </a:r>
                <a:r>
                  <a:rPr lang="zh-CN" altLang="zh-CN" dirty="0">
                    <a:solidFill>
                      <a:srgbClr val="000000"/>
                    </a:solidFill>
                    <a:latin typeface="Times New Roman" panose="02020603050405020304" pitchFamily="18" charset="0"/>
                    <a:ea typeface="楷体_GB2312"/>
                    <a:cs typeface="Times New Roman" panose="02020603050405020304" pitchFamily="18" charset="0"/>
                  </a:rPr>
                  <a:t>的梯度，智能体就能直接对策略函数进行优化。</a:t>
                </a:r>
              </a:p>
            </p:txBody>
          </p:sp>
        </mc:Choice>
        <mc:Fallback xmlns="">
          <p:sp>
            <p:nvSpPr>
              <p:cNvPr id="7" name="矩形 6">
                <a:extLst>
                  <a:ext uri="{FF2B5EF4-FFF2-40B4-BE49-F238E27FC236}">
                    <a16:creationId xmlns:a16="http://schemas.microsoft.com/office/drawing/2014/main" id="{367DE07E-53A6-42C6-8C96-31B6D43E615E}"/>
                  </a:ext>
                </a:extLst>
              </p:cNvPr>
              <p:cNvSpPr>
                <a:spLocks noRot="1" noChangeAspect="1" noMove="1" noResize="1" noEditPoints="1" noAdjustHandles="1" noChangeArrowheads="1" noChangeShapeType="1" noTextEdit="1"/>
              </p:cNvSpPr>
              <p:nvPr/>
            </p:nvSpPr>
            <p:spPr>
              <a:xfrm>
                <a:off x="932359" y="3448946"/>
                <a:ext cx="10700824" cy="2648161"/>
              </a:xfrm>
              <a:prstGeom prst="rect">
                <a:avLst/>
              </a:prstGeom>
              <a:blipFill>
                <a:blip r:embed="rId3"/>
                <a:stretch>
                  <a:fillRect l="-513" r="-456" b="-276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BC3F4C5B-26F4-426D-9871-4CA047913DE0}"/>
                  </a:ext>
                </a:extLst>
              </p:cNvPr>
              <p:cNvSpPr/>
              <p:nvPr/>
            </p:nvSpPr>
            <p:spPr>
              <a:xfrm>
                <a:off x="2846363" y="1194948"/>
                <a:ext cx="6096000" cy="2108911"/>
              </a:xfrm>
              <a:prstGeom prst="rect">
                <a:avLst/>
              </a:prstGeom>
            </p:spPr>
            <p:txBody>
              <a:bodyPr>
                <a:spAutoFit/>
              </a:bodyPr>
              <a:lstStyle/>
              <a:p>
                <a:pPr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kern="100">
                              <a:solidFill>
                                <a:srgbClr val="000000"/>
                              </a:solidFill>
                              <a:latin typeface="Cambria Math" panose="02040503050406030204" pitchFamily="18" charset="0"/>
                              <a:ea typeface="楷体_GB2312"/>
                              <a:cs typeface="Times New Roman" panose="02020603050405020304" pitchFamily="18" charset="0"/>
                            </a:rPr>
                            <m:t>𝛻</m:t>
                          </m:r>
                        </m:e>
                        <m:sub>
                          <m:r>
                            <a:rPr lang="en-US" altLang="zh-CN" b="1" i="1" kern="100">
                              <a:solidFill>
                                <a:srgbClr val="000000"/>
                              </a:solidFill>
                              <a:latin typeface="Cambria Math" panose="02040503050406030204" pitchFamily="18" charset="0"/>
                              <a:ea typeface="楷体_GB2312"/>
                              <a:cs typeface="Times New Roman" panose="02020603050405020304" pitchFamily="18" charset="0"/>
                            </a:rPr>
                            <m:t>𝜽</m:t>
                          </m:r>
                        </m:sub>
                      </m:sSub>
                      <m:r>
                        <a:rPr lang="en-US" altLang="zh-CN" i="1" kern="100">
                          <a:solidFill>
                            <a:srgbClr val="000000"/>
                          </a:solidFill>
                          <a:latin typeface="Cambria Math" panose="02040503050406030204" pitchFamily="18" charset="0"/>
                          <a:ea typeface="楷体_GB2312"/>
                          <a:cs typeface="Times New Roman" panose="02020603050405020304" pitchFamily="18" charset="0"/>
                        </a:rPr>
                        <m:t>𝐽</m:t>
                      </m:r>
                      <m:d>
                        <m:d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b="1" i="1" kern="100">
                              <a:solidFill>
                                <a:srgbClr val="000000"/>
                              </a:solidFill>
                              <a:latin typeface="Cambria Math" panose="02040503050406030204" pitchFamily="18" charset="0"/>
                              <a:ea typeface="楷体_GB2312"/>
                              <a:cs typeface="Times New Roman" panose="02020603050405020304" pitchFamily="18" charset="0"/>
                            </a:rPr>
                            <m:t>𝜽</m:t>
                          </m:r>
                        </m:e>
                      </m:d>
                      <m:r>
                        <a:rPr lang="en-US" altLang="zh-CN" i="1" kern="100">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kern="100">
                              <a:solidFill>
                                <a:srgbClr val="000000"/>
                              </a:solidFill>
                              <a:latin typeface="Cambria Math" panose="02040503050406030204" pitchFamily="18" charset="0"/>
                              <a:ea typeface="楷体_GB2312"/>
                              <a:cs typeface="Times New Roman" panose="02020603050405020304" pitchFamily="18" charset="0"/>
                            </a:rPr>
                            <m:t>𝛻</m:t>
                          </m:r>
                        </m:e>
                        <m:sub>
                          <m:r>
                            <a:rPr lang="en-US" altLang="zh-CN" b="1" i="1" kern="100">
                              <a:solidFill>
                                <a:srgbClr val="000000"/>
                              </a:solidFill>
                              <a:latin typeface="Cambria Math" panose="02040503050406030204" pitchFamily="18" charset="0"/>
                              <a:ea typeface="楷体_GB2312"/>
                              <a:cs typeface="Times New Roman" panose="02020603050405020304" pitchFamily="18" charset="0"/>
                            </a:rPr>
                            <m:t>𝜽</m:t>
                          </m:r>
                        </m:sub>
                      </m:sSub>
                      <m:nary>
                        <m:naryPr>
                          <m:chr m:val="∑"/>
                          <m:supHide m:val="on"/>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solidFill>
                                <a:srgbClr val="000000"/>
                              </a:solidFill>
                              <a:latin typeface="Cambria Math" panose="02040503050406030204" pitchFamily="18" charset="0"/>
                              <a:ea typeface="楷体_GB2312"/>
                              <a:cs typeface="Times New Roman" panose="02020603050405020304" pitchFamily="18" charset="0"/>
                            </a:rPr>
                            <m:t>𝑠</m:t>
                          </m:r>
                        </m:sub>
                        <m:sup/>
                        <m:e>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楷体_GB2312"/>
                                  <a:cs typeface="Times New Roman" panose="02020603050405020304" pitchFamily="18" charset="0"/>
                                </a:rPr>
                                <m:t>𝜇</m:t>
                              </m:r>
                            </m:e>
                            <m:sub>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楷体_GB2312"/>
                                      <a:cs typeface="Times New Roman" panose="02020603050405020304" pitchFamily="18" charset="0"/>
                                    </a:rPr>
                                    <m:t>𝜋</m:t>
                                  </m:r>
                                </m:e>
                                <m:sub>
                                  <m:r>
                                    <a:rPr lang="en-US" altLang="zh-CN" b="1" i="1" kern="100">
                                      <a:solidFill>
                                        <a:srgbClr val="000000"/>
                                      </a:solidFill>
                                      <a:latin typeface="Cambria Math" panose="02040503050406030204" pitchFamily="18" charset="0"/>
                                      <a:ea typeface="楷体_GB2312"/>
                                      <a:cs typeface="Times New Roman" panose="02020603050405020304" pitchFamily="18" charset="0"/>
                                    </a:rPr>
                                    <m:t>𝜽</m:t>
                                  </m:r>
                                </m:sub>
                              </m:sSub>
                            </m:sub>
                          </m:sSub>
                          <m:d>
                            <m:d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solidFill>
                                    <a:srgbClr val="000000"/>
                                  </a:solidFill>
                                  <a:latin typeface="Cambria Math" panose="02040503050406030204" pitchFamily="18" charset="0"/>
                                  <a:ea typeface="楷体_GB2312"/>
                                  <a:cs typeface="Times New Roman" panose="02020603050405020304" pitchFamily="18" charset="0"/>
                                </a:rPr>
                                <m:t>𝑠</m:t>
                              </m:r>
                            </m:e>
                          </m:d>
                          <m:nary>
                            <m:naryPr>
                              <m:chr m:val="∑"/>
                              <m:supHide m:val="on"/>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solidFill>
                                    <a:srgbClr val="000000"/>
                                  </a:solidFill>
                                  <a:latin typeface="Cambria Math" panose="02040503050406030204" pitchFamily="18" charset="0"/>
                                  <a:ea typeface="楷体_GB2312"/>
                                  <a:cs typeface="Times New Roman" panose="02020603050405020304" pitchFamily="18" charset="0"/>
                                </a:rPr>
                                <m:t>𝑎</m:t>
                              </m:r>
                            </m:sub>
                            <m:sup/>
                            <m:e>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楷体_GB2312"/>
                                      <a:cs typeface="Times New Roman" panose="02020603050405020304" pitchFamily="18" charset="0"/>
                                    </a:rPr>
                                    <m:t>𝑞</m:t>
                                  </m:r>
                                </m:e>
                                <m:sub>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楷体_GB2312"/>
                                          <a:cs typeface="Times New Roman" panose="02020603050405020304" pitchFamily="18" charset="0"/>
                                        </a:rPr>
                                        <m:t>𝜋</m:t>
                                      </m:r>
                                    </m:e>
                                    <m:sub>
                                      <m:r>
                                        <a:rPr lang="en-US" altLang="zh-CN" b="1" i="1" kern="100">
                                          <a:solidFill>
                                            <a:srgbClr val="000000"/>
                                          </a:solidFill>
                                          <a:latin typeface="Cambria Math" panose="02040503050406030204" pitchFamily="18" charset="0"/>
                                          <a:ea typeface="楷体_GB2312"/>
                                          <a:cs typeface="Times New Roman" panose="02020603050405020304" pitchFamily="18" charset="0"/>
                                        </a:rPr>
                                        <m:t>𝜽</m:t>
                                      </m:r>
                                    </m:sub>
                                  </m:sSub>
                                </m:sub>
                              </m:sSub>
                              <m:d>
                                <m:d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solidFill>
                                        <a:srgbClr val="000000"/>
                                      </a:solidFill>
                                      <a:latin typeface="Cambria Math" panose="02040503050406030204" pitchFamily="18" charset="0"/>
                                      <a:ea typeface="楷体_GB2312"/>
                                      <a:cs typeface="Times New Roman" panose="02020603050405020304" pitchFamily="18" charset="0"/>
                                    </a:rPr>
                                    <m:t>𝑠</m:t>
                                  </m:r>
                                  <m:r>
                                    <a:rPr lang="en-US" altLang="zh-CN" i="1" kern="100">
                                      <a:solidFill>
                                        <a:srgbClr val="000000"/>
                                      </a:solidFill>
                                      <a:latin typeface="Cambria Math" panose="02040503050406030204" pitchFamily="18" charset="0"/>
                                      <a:ea typeface="楷体_GB2312"/>
                                      <a:cs typeface="Times New Roman" panose="02020603050405020304" pitchFamily="18" charset="0"/>
                                    </a:rPr>
                                    <m:t>,</m:t>
                                  </m:r>
                                  <m:r>
                                    <a:rPr lang="en-US" altLang="zh-CN" i="1" kern="100">
                                      <a:solidFill>
                                        <a:srgbClr val="000000"/>
                                      </a:solidFill>
                                      <a:latin typeface="Cambria Math" panose="02040503050406030204" pitchFamily="18" charset="0"/>
                                      <a:ea typeface="楷体_GB2312"/>
                                      <a:cs typeface="Times New Roman" panose="02020603050405020304" pitchFamily="18" charset="0"/>
                                    </a:rPr>
                                    <m:t>𝑎</m:t>
                                  </m:r>
                                </m:e>
                              </m:d>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楷体_GB2312"/>
                                      <a:cs typeface="Times New Roman" panose="02020603050405020304" pitchFamily="18" charset="0"/>
                                    </a:rPr>
                                    <m:t>𝜋</m:t>
                                  </m:r>
                                </m:e>
                                <m:sub>
                                  <m:r>
                                    <a:rPr lang="en-US" altLang="zh-CN" b="1" i="1" kern="100">
                                      <a:solidFill>
                                        <a:srgbClr val="000000"/>
                                      </a:solidFill>
                                      <a:latin typeface="Cambria Math" panose="02040503050406030204" pitchFamily="18" charset="0"/>
                                      <a:ea typeface="楷体_GB2312"/>
                                      <a:cs typeface="Times New Roman" panose="02020603050405020304" pitchFamily="18" charset="0"/>
                                    </a:rPr>
                                    <m:t>𝜽</m:t>
                                  </m:r>
                                </m:sub>
                              </m:sSub>
                              <m:d>
                                <m:d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solidFill>
                                        <a:srgbClr val="000000"/>
                                      </a:solidFill>
                                      <a:latin typeface="Cambria Math" panose="02040503050406030204" pitchFamily="18" charset="0"/>
                                      <a:ea typeface="楷体_GB2312"/>
                                      <a:cs typeface="Times New Roman" panose="02020603050405020304" pitchFamily="18" charset="0"/>
                                    </a:rPr>
                                    <m:t>𝑠</m:t>
                                  </m:r>
                                  <m:r>
                                    <a:rPr lang="en-US" altLang="zh-CN" i="1" kern="100">
                                      <a:solidFill>
                                        <a:srgbClr val="000000"/>
                                      </a:solidFill>
                                      <a:latin typeface="Cambria Math" panose="02040503050406030204" pitchFamily="18" charset="0"/>
                                      <a:ea typeface="楷体_GB2312"/>
                                      <a:cs typeface="Times New Roman" panose="02020603050405020304" pitchFamily="18" charset="0"/>
                                    </a:rPr>
                                    <m:t>,</m:t>
                                  </m:r>
                                  <m:r>
                                    <a:rPr lang="en-US" altLang="zh-CN" i="1" kern="100">
                                      <a:solidFill>
                                        <a:srgbClr val="000000"/>
                                      </a:solidFill>
                                      <a:latin typeface="Cambria Math" panose="02040503050406030204" pitchFamily="18" charset="0"/>
                                      <a:ea typeface="楷体_GB2312"/>
                                      <a:cs typeface="Times New Roman" panose="02020603050405020304" pitchFamily="18" charset="0"/>
                                    </a:rPr>
                                    <m:t>𝑎</m:t>
                                  </m:r>
                                </m:e>
                              </m:d>
                            </m:e>
                          </m:nary>
                        </m:e>
                      </m:nary>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kern="100">
                          <a:solidFill>
                            <a:srgbClr val="000000"/>
                          </a:solidFill>
                          <a:latin typeface="Cambria Math" panose="02040503050406030204" pitchFamily="18" charset="0"/>
                          <a:ea typeface="楷体_GB2312"/>
                          <a:cs typeface="Times New Roman" panose="02020603050405020304" pitchFamily="18" charset="0"/>
                        </a:rPr>
                        <m:t>∝</m:t>
                      </m:r>
                      <m:nary>
                        <m:naryPr>
                          <m:chr m:val="∑"/>
                          <m:supHide m:val="on"/>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solidFill>
                                <a:srgbClr val="000000"/>
                              </a:solidFill>
                              <a:latin typeface="Cambria Math" panose="02040503050406030204" pitchFamily="18" charset="0"/>
                              <a:ea typeface="楷体_GB2312"/>
                              <a:cs typeface="Times New Roman" panose="02020603050405020304" pitchFamily="18" charset="0"/>
                            </a:rPr>
                            <m:t>𝑠</m:t>
                          </m:r>
                        </m:sub>
                        <m:sup/>
                        <m:e>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楷体_GB2312"/>
                                  <a:cs typeface="Times New Roman" panose="02020603050405020304" pitchFamily="18" charset="0"/>
                                </a:rPr>
                                <m:t>𝜇</m:t>
                              </m:r>
                            </m:e>
                            <m:sub>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楷体_GB2312"/>
                                      <a:cs typeface="Times New Roman" panose="02020603050405020304" pitchFamily="18" charset="0"/>
                                    </a:rPr>
                                    <m:t>𝜋</m:t>
                                  </m:r>
                                </m:e>
                                <m:sub>
                                  <m:r>
                                    <a:rPr lang="en-US" altLang="zh-CN" b="1" i="1" kern="100">
                                      <a:solidFill>
                                        <a:srgbClr val="000000"/>
                                      </a:solidFill>
                                      <a:latin typeface="Cambria Math" panose="02040503050406030204" pitchFamily="18" charset="0"/>
                                      <a:ea typeface="楷体_GB2312"/>
                                      <a:cs typeface="Times New Roman" panose="02020603050405020304" pitchFamily="18" charset="0"/>
                                    </a:rPr>
                                    <m:t>𝜽</m:t>
                                  </m:r>
                                </m:sub>
                              </m:sSub>
                            </m:sub>
                          </m:sSub>
                          <m:d>
                            <m:d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solidFill>
                                    <a:srgbClr val="000000"/>
                                  </a:solidFill>
                                  <a:latin typeface="Cambria Math" panose="02040503050406030204" pitchFamily="18" charset="0"/>
                                  <a:ea typeface="楷体_GB2312"/>
                                  <a:cs typeface="Times New Roman" panose="02020603050405020304" pitchFamily="18" charset="0"/>
                                </a:rPr>
                                <m:t>𝑠</m:t>
                              </m:r>
                            </m:e>
                          </m:d>
                          <m:nary>
                            <m:naryPr>
                              <m:chr m:val="∑"/>
                              <m:supHide m:val="on"/>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solidFill>
                                    <a:srgbClr val="000000"/>
                                  </a:solidFill>
                                  <a:latin typeface="Cambria Math" panose="02040503050406030204" pitchFamily="18" charset="0"/>
                                  <a:ea typeface="楷体_GB2312"/>
                                  <a:cs typeface="Times New Roman" panose="02020603050405020304" pitchFamily="18" charset="0"/>
                                </a:rPr>
                                <m:t>𝑎</m:t>
                              </m:r>
                            </m:sub>
                            <m:sup/>
                            <m:e>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楷体_GB2312"/>
                                      <a:cs typeface="Times New Roman" panose="02020603050405020304" pitchFamily="18" charset="0"/>
                                    </a:rPr>
                                    <m:t>𝑞</m:t>
                                  </m:r>
                                </m:e>
                                <m:sub>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楷体_GB2312"/>
                                          <a:cs typeface="Times New Roman" panose="02020603050405020304" pitchFamily="18" charset="0"/>
                                        </a:rPr>
                                        <m:t>𝜋</m:t>
                                      </m:r>
                                    </m:e>
                                    <m:sub>
                                      <m:r>
                                        <a:rPr lang="en-US" altLang="zh-CN" b="1" i="1" kern="100">
                                          <a:solidFill>
                                            <a:srgbClr val="000000"/>
                                          </a:solidFill>
                                          <a:latin typeface="Cambria Math" panose="02040503050406030204" pitchFamily="18" charset="0"/>
                                          <a:ea typeface="楷体_GB2312"/>
                                          <a:cs typeface="Times New Roman" panose="02020603050405020304" pitchFamily="18" charset="0"/>
                                        </a:rPr>
                                        <m:t>𝜽</m:t>
                                      </m:r>
                                    </m:sub>
                                  </m:sSub>
                                </m:sub>
                              </m:sSub>
                              <m:d>
                                <m:d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solidFill>
                                        <a:srgbClr val="000000"/>
                                      </a:solidFill>
                                      <a:latin typeface="Cambria Math" panose="02040503050406030204" pitchFamily="18" charset="0"/>
                                      <a:ea typeface="楷体_GB2312"/>
                                      <a:cs typeface="Times New Roman" panose="02020603050405020304" pitchFamily="18" charset="0"/>
                                    </a:rPr>
                                    <m:t>𝑠</m:t>
                                  </m:r>
                                  <m:r>
                                    <a:rPr lang="en-US" altLang="zh-CN" i="1" kern="100">
                                      <a:solidFill>
                                        <a:srgbClr val="000000"/>
                                      </a:solidFill>
                                      <a:latin typeface="Cambria Math" panose="02040503050406030204" pitchFamily="18" charset="0"/>
                                      <a:ea typeface="楷体_GB2312"/>
                                      <a:cs typeface="Times New Roman" panose="02020603050405020304" pitchFamily="18" charset="0"/>
                                    </a:rPr>
                                    <m:t>,</m:t>
                                  </m:r>
                                  <m:r>
                                    <a:rPr lang="en-US" altLang="zh-CN" i="1" kern="100">
                                      <a:solidFill>
                                        <a:srgbClr val="000000"/>
                                      </a:solidFill>
                                      <a:latin typeface="Cambria Math" panose="02040503050406030204" pitchFamily="18" charset="0"/>
                                      <a:ea typeface="楷体_GB2312"/>
                                      <a:cs typeface="Times New Roman" panose="02020603050405020304" pitchFamily="18" charset="0"/>
                                    </a:rPr>
                                    <m:t>𝑎</m:t>
                                  </m:r>
                                </m:e>
                              </m:d>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kern="100">
                                      <a:solidFill>
                                        <a:srgbClr val="000000"/>
                                      </a:solidFill>
                                      <a:latin typeface="Cambria Math" panose="02040503050406030204" pitchFamily="18" charset="0"/>
                                      <a:ea typeface="楷体_GB2312"/>
                                      <a:cs typeface="Times New Roman" panose="02020603050405020304" pitchFamily="18" charset="0"/>
                                    </a:rPr>
                                    <m:t>𝛻</m:t>
                                  </m:r>
                                </m:e>
                                <m:sub>
                                  <m:r>
                                    <a:rPr lang="en-US" altLang="zh-CN" b="1" i="1" kern="100">
                                      <a:solidFill>
                                        <a:srgbClr val="000000"/>
                                      </a:solidFill>
                                      <a:latin typeface="Cambria Math" panose="02040503050406030204" pitchFamily="18" charset="0"/>
                                      <a:ea typeface="楷体_GB2312"/>
                                      <a:cs typeface="Times New Roman" panose="02020603050405020304" pitchFamily="18" charset="0"/>
                                    </a:rPr>
                                    <m:t>𝜽</m:t>
                                  </m:r>
                                </m:sub>
                              </m:sSub>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楷体_GB2312"/>
                                      <a:cs typeface="Times New Roman" panose="02020603050405020304" pitchFamily="18" charset="0"/>
                                    </a:rPr>
                                    <m:t>𝜋</m:t>
                                  </m:r>
                                </m:e>
                                <m:sub>
                                  <m:r>
                                    <a:rPr lang="en-US" altLang="zh-CN" b="1" i="1" kern="100">
                                      <a:solidFill>
                                        <a:srgbClr val="000000"/>
                                      </a:solidFill>
                                      <a:latin typeface="Cambria Math" panose="02040503050406030204" pitchFamily="18" charset="0"/>
                                      <a:ea typeface="楷体_GB2312"/>
                                      <a:cs typeface="Times New Roman" panose="02020603050405020304" pitchFamily="18" charset="0"/>
                                    </a:rPr>
                                    <m:t>𝜽</m:t>
                                  </m:r>
                                </m:sub>
                              </m:sSub>
                              <m:r>
                                <a:rPr lang="en-US" altLang="zh-CN" i="1" kern="100">
                                  <a:solidFill>
                                    <a:srgbClr val="000000"/>
                                  </a:solidFill>
                                  <a:latin typeface="Cambria Math" panose="02040503050406030204" pitchFamily="18" charset="0"/>
                                  <a:ea typeface="楷体_GB2312"/>
                                  <a:cs typeface="Times New Roman" panose="02020603050405020304" pitchFamily="18" charset="0"/>
                                </a:rPr>
                                <m:t>(</m:t>
                              </m:r>
                              <m:r>
                                <a:rPr lang="en-US" altLang="zh-CN" i="1" kern="100">
                                  <a:solidFill>
                                    <a:srgbClr val="000000"/>
                                  </a:solidFill>
                                  <a:latin typeface="Cambria Math" panose="02040503050406030204" pitchFamily="18" charset="0"/>
                                  <a:ea typeface="楷体_GB2312"/>
                                  <a:cs typeface="Times New Roman" panose="02020603050405020304" pitchFamily="18" charset="0"/>
                                </a:rPr>
                                <m:t>𝑠</m:t>
                              </m:r>
                              <m:r>
                                <a:rPr lang="en-US" altLang="zh-CN" i="1" kern="100">
                                  <a:solidFill>
                                    <a:srgbClr val="000000"/>
                                  </a:solidFill>
                                  <a:latin typeface="Cambria Math" panose="02040503050406030204" pitchFamily="18" charset="0"/>
                                  <a:ea typeface="楷体_GB2312"/>
                                  <a:cs typeface="Times New Roman" panose="02020603050405020304" pitchFamily="18" charset="0"/>
                                </a:rPr>
                                <m:t>,</m:t>
                              </m:r>
                              <m:r>
                                <a:rPr lang="en-US" altLang="zh-CN" i="1" kern="100">
                                  <a:solidFill>
                                    <a:srgbClr val="000000"/>
                                  </a:solidFill>
                                  <a:latin typeface="Cambria Math" panose="02040503050406030204" pitchFamily="18" charset="0"/>
                                  <a:ea typeface="楷体_GB2312"/>
                                  <a:cs typeface="Times New Roman" panose="02020603050405020304" pitchFamily="18" charset="0"/>
                                </a:rPr>
                                <m:t>𝑎</m:t>
                              </m:r>
                              <m:r>
                                <a:rPr lang="en-US" altLang="zh-CN" i="1" kern="100">
                                  <a:solidFill>
                                    <a:srgbClr val="000000"/>
                                  </a:solidFill>
                                  <a:latin typeface="Cambria Math" panose="02040503050406030204" pitchFamily="18" charset="0"/>
                                  <a:ea typeface="楷体_GB2312"/>
                                  <a:cs typeface="Times New Roman" panose="02020603050405020304" pitchFamily="18" charset="0"/>
                                </a:rPr>
                                <m:t>)</m:t>
                              </m:r>
                            </m:e>
                          </m:nary>
                        </m:e>
                      </m:nary>
                    </m:oMath>
                  </m:oMathPara>
                </a14:m>
                <a:endParaRPr lang="zh-CN" altLang="en-US" dirty="0"/>
              </a:p>
            </p:txBody>
          </p:sp>
        </mc:Choice>
        <mc:Fallback xmlns="">
          <p:sp>
            <p:nvSpPr>
              <p:cNvPr id="8" name="矩形 7">
                <a:extLst>
                  <a:ext uri="{FF2B5EF4-FFF2-40B4-BE49-F238E27FC236}">
                    <a16:creationId xmlns:a16="http://schemas.microsoft.com/office/drawing/2014/main" id="{BC3F4C5B-26F4-426D-9871-4CA047913DE0}"/>
                  </a:ext>
                </a:extLst>
              </p:cNvPr>
              <p:cNvSpPr>
                <a:spLocks noRot="1" noChangeAspect="1" noMove="1" noResize="1" noEditPoints="1" noAdjustHandles="1" noChangeArrowheads="1" noChangeShapeType="1" noTextEdit="1"/>
              </p:cNvSpPr>
              <p:nvPr/>
            </p:nvSpPr>
            <p:spPr>
              <a:xfrm>
                <a:off x="2846363" y="1194948"/>
                <a:ext cx="6096000" cy="2108911"/>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5263797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zh-CN"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基于蒙特卡洛采样的策略梯度法</a:t>
              </a:r>
              <a:endPar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三、基于策略的强化学习</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6A900A8E-7EE8-4E4A-9B7C-DC32E130C3E8}"/>
                  </a:ext>
                </a:extLst>
              </p:cNvPr>
              <p:cNvSpPr/>
              <p:nvPr/>
            </p:nvSpPr>
            <p:spPr>
              <a:xfrm>
                <a:off x="370449" y="1613551"/>
                <a:ext cx="4839285" cy="4273093"/>
              </a:xfrm>
              <a:prstGeom prst="rect">
                <a:avLst/>
              </a:prstGeom>
            </p:spPr>
            <p:txBody>
              <a:bodyPr wrap="square">
                <a:spAutoFit/>
              </a:bodyPr>
              <a:lstStyle/>
              <a:p>
                <a:pPr algn="just">
                  <a:lnSpc>
                    <a:spcPct val="200000"/>
                  </a:lnSpc>
                  <a:spcAft>
                    <a:spcPts val="0"/>
                  </a:spcAft>
                </a:pPr>
                <a14:m>
                  <m:oMathPara xmlns:m="http://schemas.openxmlformats.org/officeDocument/2006/math">
                    <m:oMathParaPr>
                      <m:jc m:val="centerGroup"/>
                    </m:oMathParaPr>
                    <m:oMath xmlns:m="http://schemas.openxmlformats.org/officeDocument/2006/math">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e>
                        <m:sub>
                          <m:r>
                            <a:rPr lang="en-US" altLang="zh-CN" sz="1400" b="1"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𝜽</m:t>
                          </m:r>
                        </m:sub>
                      </m:sSub>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𝐽</m:t>
                      </m:r>
                      <m:d>
                        <m:d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b="1"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𝜽</m:t>
                          </m:r>
                        </m:e>
                      </m:d>
                      <m:r>
                        <m:rPr>
                          <m:aln/>
                        </m:rP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nary>
                        <m:naryPr>
                          <m:chr m:val="∑"/>
                          <m:supHide m:val="on"/>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sub>
                        <m:sup/>
                        <m:e>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𝜇</m:t>
                              </m:r>
                            </m:e>
                            <m:sub>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e>
                                <m:sub>
                                  <m:r>
                                    <a:rPr lang="en-US" altLang="zh-CN" sz="1400" b="1"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𝜽</m:t>
                                  </m:r>
                                </m:sub>
                              </m:sSub>
                            </m:sub>
                          </m:sSub>
                          <m:d>
                            <m:d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e>
                          </m:d>
                          <m:nary>
                            <m:naryPr>
                              <m:chr m:val="∑"/>
                              <m:supHide m:val="on"/>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sub>
                            <m:sup/>
                            <m:e>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𝑞</m:t>
                                  </m:r>
                                </m:e>
                                <m:sub>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e>
                                    <m:sub>
                                      <m:r>
                                        <a:rPr lang="en-US" altLang="zh-CN" sz="1400" b="1"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𝜽</m:t>
                                      </m:r>
                                    </m:sub>
                                  </m:sSub>
                                </m:sub>
                              </m:sSub>
                              <m:d>
                                <m:d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e>
                              </m:d>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e>
                                <m:sub>
                                  <m:r>
                                    <a:rPr lang="en-US" altLang="zh-CN" sz="1400" b="1"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𝜽</m:t>
                                  </m:r>
                                </m:sub>
                              </m:sSub>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e>
                                <m:sub>
                                  <m:r>
                                    <a:rPr lang="en-US" altLang="zh-CN" sz="1400" b="1"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𝜽</m:t>
                                  </m:r>
                                </m:sub>
                              </m:sSub>
                              <m:d>
                                <m:d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e>
                              </m:d>
                            </m:e>
                          </m:nary>
                        </m:e>
                      </m:nary>
                    </m:oMath>
                    <m:oMath xmlns:m="http://schemas.openxmlformats.org/officeDocument/2006/math">
                      <m:r>
                        <m:rPr>
                          <m:aln/>
                        </m:rPr>
                        <a:rPr lang="en-US" altLang="zh-CN" sz="1400" i="1" kern="100">
                          <a:latin typeface="Cambria Math" panose="02040503050406030204" pitchFamily="18" charset="0"/>
                          <a:ea typeface="等线" panose="02010600030101010101" pitchFamily="2" charset="-122"/>
                          <a:cs typeface="Times New Roman" panose="02020603050405020304" pitchFamily="18" charset="0"/>
                        </a:rPr>
                        <m:t>=</m:t>
                      </m:r>
                      <m:nary>
                        <m:naryPr>
                          <m:chr m:val="∑"/>
                          <m:supHide m:val="on"/>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sub>
                        <m:sup/>
                        <m:e>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𝜇</m:t>
                              </m:r>
                            </m:e>
                            <m:sub>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e>
                                <m:sub>
                                  <m:r>
                                    <a:rPr lang="en-US" altLang="zh-CN" sz="1400" b="1"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𝜽</m:t>
                                  </m:r>
                                </m:sub>
                              </m:sSub>
                            </m:sub>
                          </m:sSub>
                          <m:d>
                            <m:d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e>
                          </m:d>
                          <m:nary>
                            <m:naryPr>
                              <m:chr m:val="∑"/>
                              <m:supHide m:val="on"/>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sub>
                            <m:sup/>
                            <m:e>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e>
                                <m:sub>
                                  <m:r>
                                    <a:rPr lang="en-US" altLang="zh-CN" sz="1400" b="1"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𝜽</m:t>
                                  </m:r>
                                </m:sub>
                              </m:sSub>
                              <m:d>
                                <m:d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e>
                              </m:d>
                              <m:d>
                                <m:dPr>
                                  <m:begChr m:val="["/>
                                  <m:endChr m:val="]"/>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𝑞</m:t>
                                      </m:r>
                                    </m:e>
                                    <m:sub>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e>
                                        <m:sub>
                                          <m:r>
                                            <a:rPr lang="en-US" altLang="zh-CN" sz="1400" b="1"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𝜽</m:t>
                                          </m:r>
                                        </m:sub>
                                      </m:sSub>
                                    </m:sub>
                                  </m:sSub>
                                  <m:d>
                                    <m:d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e>
                                  </m:d>
                                  <m:f>
                                    <m:f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e>
                                        <m:sub>
                                          <m:r>
                                            <a:rPr lang="en-US" altLang="zh-CN" sz="1400" b="1"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𝜽</m:t>
                                          </m:r>
                                        </m:sub>
                                      </m:sSub>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e>
                                        <m:sub>
                                          <m:r>
                                            <a:rPr lang="en-US" altLang="zh-CN" sz="1400" b="1"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𝜽</m:t>
                                          </m:r>
                                        </m:sub>
                                      </m:sSub>
                                      <m:d>
                                        <m:d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e>
                                      </m:d>
                                    </m:num>
                                    <m:den>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e>
                                        <m:sub>
                                          <m:r>
                                            <a:rPr lang="en-US" altLang="zh-CN" sz="1400" b="1"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𝜽</m:t>
                                          </m:r>
                                        </m:sub>
                                      </m:sSub>
                                      <m:d>
                                        <m:d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e>
                                      </m:d>
                                    </m:den>
                                  </m:f>
                                </m:e>
                              </m:d>
                            </m:e>
                          </m:nary>
                        </m:e>
                      </m:nary>
                    </m:oMath>
                    <m:oMath xmlns:m="http://schemas.openxmlformats.org/officeDocument/2006/math">
                      <m:r>
                        <m:rPr>
                          <m:aln/>
                        </m:rPr>
                        <a:rPr lang="en-US" altLang="zh-CN" sz="14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4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b="1" i="1" kern="100">
                              <a:latin typeface="Cambria Math" panose="02040503050406030204" pitchFamily="18" charset="0"/>
                              <a:ea typeface="华文楷体" panose="02010600040101010101" pitchFamily="2" charset="-122"/>
                              <a:cs typeface="Times New Roman" panose="02020603050405020304" pitchFamily="18" charset="0"/>
                            </a:rPr>
                            <m:t>𝔼</m:t>
                          </m:r>
                        </m:e>
                        <m:sub>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𝑎</m:t>
                          </m:r>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𝜋</m:t>
                          </m:r>
                        </m:sub>
                      </m:sSub>
                      <m:d>
                        <m:dPr>
                          <m:begChr m:val="["/>
                          <m:endChr m:val="]"/>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𝑞</m:t>
                              </m:r>
                            </m:e>
                            <m:sub>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e>
                                <m:sub>
                                  <m:r>
                                    <a:rPr lang="en-US" altLang="zh-CN" sz="1400" b="1"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𝜽</m:t>
                                  </m:r>
                                </m:sub>
                              </m:sSub>
                            </m:sub>
                          </m:sSub>
                          <m:d>
                            <m:d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e>
                          </m:d>
                          <m:f>
                            <m:f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e>
                                <m:sub>
                                  <m:r>
                                    <a:rPr lang="en-US" altLang="zh-CN" sz="1400" b="1"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𝜽</m:t>
                                  </m:r>
                                </m:sub>
                              </m:sSub>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e>
                                <m:sub>
                                  <m:r>
                                    <a:rPr lang="en-US" altLang="zh-CN" sz="1400" b="1"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𝜽</m:t>
                                  </m:r>
                                </m:sub>
                              </m:sSub>
                              <m:d>
                                <m:d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e>
                              </m:d>
                            </m:num>
                            <m:den>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e>
                                <m:sub>
                                  <m:r>
                                    <a:rPr lang="en-US" altLang="zh-CN" sz="1400" b="1"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𝜽</m:t>
                                  </m:r>
                                </m:sub>
                              </m:sSub>
                              <m:d>
                                <m:d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e>
                              </m:d>
                            </m:den>
                          </m:f>
                        </m:e>
                      </m:d>
                    </m:oMath>
                  </m:oMathPara>
                </a14:m>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200000"/>
                  </a:lnSpc>
                  <a:spcAft>
                    <a:spcPts val="0"/>
                  </a:spcAft>
                </a:pPr>
                <a14:m>
                  <m:oMathPara xmlns:m="http://schemas.openxmlformats.org/officeDocument/2006/math">
                    <m:oMathParaPr>
                      <m:jc m:val="centerGroup"/>
                    </m:oMathParaPr>
                    <m:oMath xmlns:m="http://schemas.openxmlformats.org/officeDocument/2006/math">
                      <m:r>
                        <m:rPr>
                          <m:aln/>
                        </m:rPr>
                        <a:rPr lang="en-US" altLang="zh-CN" sz="14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4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b="1" i="1" kern="100">
                              <a:latin typeface="Cambria Math" panose="02040503050406030204" pitchFamily="18" charset="0"/>
                              <a:ea typeface="华文楷体" panose="02010600040101010101" pitchFamily="2" charset="-122"/>
                              <a:cs typeface="Times New Roman" panose="02020603050405020304" pitchFamily="18" charset="0"/>
                            </a:rPr>
                            <m:t>𝔼</m:t>
                          </m:r>
                        </m:e>
                        <m:sub>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𝑎</m:t>
                          </m:r>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𝜋</m:t>
                          </m:r>
                        </m:sub>
                      </m:sSub>
                      <m:d>
                        <m:dPr>
                          <m:begChr m:val="["/>
                          <m:endChr m:val="]"/>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𝑞</m:t>
                              </m:r>
                            </m:e>
                            <m:sub>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e>
                                <m:sub>
                                  <m:r>
                                    <a:rPr lang="en-US" altLang="zh-CN" sz="1400" b="1"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𝜽</m:t>
                                  </m:r>
                                </m:sub>
                              </m:sSub>
                            </m:sub>
                          </m:sSub>
                          <m:d>
                            <m:d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e>
                          </m:d>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e>
                            <m:sub>
                              <m:r>
                                <a:rPr lang="en-US" altLang="zh-CN" sz="1400" b="1"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𝜽</m:t>
                              </m:r>
                            </m:sub>
                          </m:sSub>
                          <m:func>
                            <m:func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4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ln</m:t>
                              </m:r>
                            </m:fName>
                            <m:e>
                              <m:sSub>
                                <m:sSub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e>
                                <m:sub>
                                  <m:r>
                                    <a:rPr lang="en-US" altLang="zh-CN" sz="1400" b="1"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𝜽</m:t>
                                  </m:r>
                                </m:sub>
                              </m:sSub>
                              <m:d>
                                <m:dPr>
                                  <m:ctrlPr>
                                    <a:rPr lang="zh-CN" altLang="zh-CN" sz="14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e>
                              </m:d>
                            </m:e>
                          </m:func>
                        </m:e>
                      </m:d>
                    </m:oMath>
                  </m:oMathPara>
                </a14:m>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200000"/>
                  </a:lnSpc>
                  <a:spcAft>
                    <a:spcPts val="0"/>
                  </a:spcAft>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上述推导中利用了</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a:solidFill>
                              <a:srgbClr val="000000"/>
                            </a:solidFill>
                            <a:latin typeface="Cambria Math" panose="02040503050406030204" pitchFamily="18" charset="0"/>
                            <a:ea typeface="楷体_GB2312"/>
                            <a:cs typeface="Times New Roman" panose="02020603050405020304" pitchFamily="18" charset="0"/>
                          </a:rPr>
                          <m:t>𝛻</m:t>
                        </m:r>
                      </m:e>
                      <m:sub>
                        <m:r>
                          <a:rPr lang="en-US" altLang="zh-CN" sz="1400" b="1" i="1">
                            <a:solidFill>
                              <a:srgbClr val="000000"/>
                            </a:solidFill>
                            <a:latin typeface="Cambria Math" panose="02040503050406030204" pitchFamily="18" charset="0"/>
                            <a:ea typeface="楷体_GB2312"/>
                            <a:cs typeface="Times New Roman" panose="02020603050405020304" pitchFamily="18" charset="0"/>
                          </a:rPr>
                          <m:t>𝜽</m:t>
                        </m:r>
                      </m:sub>
                    </m:sSub>
                    <m:func>
                      <m:func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400">
                            <a:solidFill>
                              <a:srgbClr val="000000"/>
                            </a:solidFill>
                            <a:latin typeface="Cambria Math" panose="02040503050406030204" pitchFamily="18" charset="0"/>
                            <a:ea typeface="楷体_GB2312"/>
                            <a:cs typeface="Times New Roman" panose="02020603050405020304" pitchFamily="18" charset="0"/>
                          </a:rPr>
                          <m:t>ln</m:t>
                        </m:r>
                      </m:fName>
                      <m:e>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𝜋</m:t>
                            </m:r>
                          </m:e>
                          <m:sub>
                            <m:r>
                              <a:rPr lang="en-US" altLang="zh-CN" sz="1400" b="1" i="1">
                                <a:solidFill>
                                  <a:srgbClr val="000000"/>
                                </a:solidFill>
                                <a:latin typeface="Cambria Math" panose="02040503050406030204" pitchFamily="18" charset="0"/>
                                <a:ea typeface="楷体_GB2312"/>
                                <a:cs typeface="Times New Roman" panose="02020603050405020304" pitchFamily="18" charset="0"/>
                              </a:rPr>
                              <m:t>𝜽</m:t>
                            </m:r>
                          </m:sub>
                        </m:sSub>
                        <m:d>
                          <m:d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a:solidFill>
                                  <a:srgbClr val="000000"/>
                                </a:solidFill>
                                <a:latin typeface="Cambria Math" panose="02040503050406030204" pitchFamily="18" charset="0"/>
                                <a:ea typeface="楷体_GB2312"/>
                                <a:cs typeface="Times New Roman" panose="02020603050405020304" pitchFamily="18" charset="0"/>
                              </a:rPr>
                              <m:t>𝑠</m:t>
                            </m:r>
                            <m:r>
                              <a:rPr lang="en-US" altLang="zh-CN" sz="1400">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latin typeface="Cambria Math" panose="02040503050406030204" pitchFamily="18" charset="0"/>
                                <a:ea typeface="楷体_GB2312"/>
                                <a:cs typeface="Times New Roman" panose="02020603050405020304" pitchFamily="18" charset="0"/>
                              </a:rPr>
                              <m:t>𝑎</m:t>
                            </m:r>
                          </m:e>
                        </m:d>
                      </m:e>
                    </m:func>
                    <m:r>
                      <a:rPr lang="en-US" altLang="zh-CN" sz="1400">
                        <a:solidFill>
                          <a:srgbClr val="000000"/>
                        </a:solidFill>
                        <a:latin typeface="Cambria Math" panose="02040503050406030204" pitchFamily="18" charset="0"/>
                        <a:ea typeface="楷体_GB2312"/>
                        <a:cs typeface="Times New Roman" panose="02020603050405020304" pitchFamily="18" charset="0"/>
                      </a:rPr>
                      <m:t>=</m:t>
                    </m:r>
                    <m:f>
                      <m:f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400">
                                <a:solidFill>
                                  <a:srgbClr val="000000"/>
                                </a:solidFill>
                                <a:latin typeface="Cambria Math" panose="02040503050406030204" pitchFamily="18" charset="0"/>
                                <a:ea typeface="楷体_GB2312"/>
                                <a:cs typeface="Times New Roman" panose="02020603050405020304" pitchFamily="18" charset="0"/>
                              </a:rPr>
                              <m:t>Ine</m:t>
                            </m:r>
                            <m:r>
                              <a:rPr lang="en-US" altLang="zh-CN" sz="1400">
                                <a:solidFill>
                                  <a:srgbClr val="000000"/>
                                </a:solidFill>
                                <a:latin typeface="Cambria Math" panose="02040503050406030204" pitchFamily="18" charset="0"/>
                                <a:ea typeface="楷体_GB2312"/>
                                <a:cs typeface="Times New Roman" panose="02020603050405020304" pitchFamily="18" charset="0"/>
                              </a:rPr>
                              <m:t>×</m:t>
                            </m:r>
                            <m:r>
                              <a:rPr lang="en-US" altLang="zh-CN" sz="1400">
                                <a:solidFill>
                                  <a:srgbClr val="000000"/>
                                </a:solidFill>
                                <a:latin typeface="Cambria Math" panose="02040503050406030204" pitchFamily="18" charset="0"/>
                                <a:ea typeface="楷体_GB2312"/>
                                <a:cs typeface="Times New Roman" panose="02020603050405020304" pitchFamily="18" charset="0"/>
                              </a:rPr>
                              <m:t>𝛻</m:t>
                            </m:r>
                          </m:e>
                          <m:sub>
                            <m:r>
                              <a:rPr lang="en-US" altLang="zh-CN" sz="1400" b="1" i="1">
                                <a:solidFill>
                                  <a:srgbClr val="000000"/>
                                </a:solidFill>
                                <a:latin typeface="Cambria Math" panose="02040503050406030204" pitchFamily="18" charset="0"/>
                                <a:ea typeface="楷体_GB2312"/>
                                <a:cs typeface="Times New Roman" panose="02020603050405020304" pitchFamily="18" charset="0"/>
                              </a:rPr>
                              <m:t>𝜽</m:t>
                            </m:r>
                          </m:sub>
                        </m:sSub>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𝜋</m:t>
                            </m:r>
                          </m:e>
                          <m:sub>
                            <m:r>
                              <a:rPr lang="en-US" altLang="zh-CN" sz="1400" b="1" i="1">
                                <a:solidFill>
                                  <a:srgbClr val="000000"/>
                                </a:solidFill>
                                <a:latin typeface="Cambria Math" panose="02040503050406030204" pitchFamily="18" charset="0"/>
                                <a:ea typeface="楷体_GB2312"/>
                                <a:cs typeface="Times New Roman" panose="02020603050405020304" pitchFamily="18" charset="0"/>
                              </a:rPr>
                              <m:t>𝜽</m:t>
                            </m:r>
                          </m:sub>
                        </m:sSub>
                        <m:d>
                          <m:d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a:solidFill>
                                  <a:srgbClr val="000000"/>
                                </a:solidFill>
                                <a:latin typeface="Cambria Math" panose="02040503050406030204" pitchFamily="18" charset="0"/>
                                <a:ea typeface="楷体_GB2312"/>
                                <a:cs typeface="Times New Roman" panose="02020603050405020304" pitchFamily="18" charset="0"/>
                              </a:rPr>
                              <m:t>𝑠</m:t>
                            </m:r>
                            <m:r>
                              <a:rPr lang="en-US" altLang="zh-CN" sz="1400">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latin typeface="Cambria Math" panose="02040503050406030204" pitchFamily="18" charset="0"/>
                                <a:ea typeface="楷体_GB2312"/>
                                <a:cs typeface="Times New Roman" panose="02020603050405020304" pitchFamily="18" charset="0"/>
                              </a:rPr>
                              <m:t>𝑎</m:t>
                            </m:r>
                          </m:e>
                        </m:d>
                      </m:num>
                      <m:den>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𝜋</m:t>
                            </m:r>
                          </m:e>
                          <m:sub>
                            <m:r>
                              <a:rPr lang="en-US" altLang="zh-CN" sz="1400" b="1" i="1">
                                <a:solidFill>
                                  <a:srgbClr val="000000"/>
                                </a:solidFill>
                                <a:latin typeface="Cambria Math" panose="02040503050406030204" pitchFamily="18" charset="0"/>
                                <a:ea typeface="楷体_GB2312"/>
                                <a:cs typeface="Times New Roman" panose="02020603050405020304" pitchFamily="18" charset="0"/>
                              </a:rPr>
                              <m:t>𝜽</m:t>
                            </m:r>
                          </m:sub>
                        </m:sSub>
                        <m:d>
                          <m:d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a:solidFill>
                                  <a:srgbClr val="000000"/>
                                </a:solidFill>
                                <a:latin typeface="Cambria Math" panose="02040503050406030204" pitchFamily="18" charset="0"/>
                                <a:ea typeface="楷体_GB2312"/>
                                <a:cs typeface="Times New Roman" panose="02020603050405020304" pitchFamily="18" charset="0"/>
                              </a:rPr>
                              <m:t>𝑠</m:t>
                            </m:r>
                            <m:r>
                              <a:rPr lang="en-US" altLang="zh-CN" sz="1400">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latin typeface="Cambria Math" panose="02040503050406030204" pitchFamily="18" charset="0"/>
                                <a:ea typeface="楷体_GB2312"/>
                                <a:cs typeface="Times New Roman" panose="02020603050405020304" pitchFamily="18" charset="0"/>
                              </a:rPr>
                              <m:t>𝑎</m:t>
                            </m:r>
                          </m:e>
                        </m:d>
                      </m:den>
                    </m:f>
                    <m:r>
                      <a:rPr lang="en-US" altLang="zh-CN" sz="1400">
                        <a:solidFill>
                          <a:srgbClr val="000000"/>
                        </a:solidFill>
                        <a:latin typeface="Cambria Math" panose="02040503050406030204" pitchFamily="18" charset="0"/>
                        <a:ea typeface="楷体_GB2312"/>
                        <a:cs typeface="Times New Roman" panose="02020603050405020304" pitchFamily="18" charset="0"/>
                      </a:rPr>
                      <m:t>=</m:t>
                    </m:r>
                    <m:f>
                      <m:f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a:solidFill>
                                  <a:srgbClr val="000000"/>
                                </a:solidFill>
                                <a:latin typeface="Cambria Math" panose="02040503050406030204" pitchFamily="18" charset="0"/>
                                <a:ea typeface="楷体_GB2312"/>
                                <a:cs typeface="Times New Roman" panose="02020603050405020304" pitchFamily="18" charset="0"/>
                              </a:rPr>
                              <m:t>𝛻</m:t>
                            </m:r>
                          </m:e>
                          <m:sub>
                            <m:r>
                              <a:rPr lang="en-US" altLang="zh-CN" sz="1400" b="1" i="1">
                                <a:solidFill>
                                  <a:srgbClr val="000000"/>
                                </a:solidFill>
                                <a:latin typeface="Cambria Math" panose="02040503050406030204" pitchFamily="18" charset="0"/>
                                <a:ea typeface="楷体_GB2312"/>
                                <a:cs typeface="Times New Roman" panose="02020603050405020304" pitchFamily="18" charset="0"/>
                              </a:rPr>
                              <m:t>𝜽</m:t>
                            </m:r>
                          </m:sub>
                        </m:sSub>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𝜋</m:t>
                            </m:r>
                          </m:e>
                          <m:sub>
                            <m:r>
                              <a:rPr lang="en-US" altLang="zh-CN" sz="1400" b="1" i="1">
                                <a:solidFill>
                                  <a:srgbClr val="000000"/>
                                </a:solidFill>
                                <a:latin typeface="Cambria Math" panose="02040503050406030204" pitchFamily="18" charset="0"/>
                                <a:ea typeface="楷体_GB2312"/>
                                <a:cs typeface="Times New Roman" panose="02020603050405020304" pitchFamily="18" charset="0"/>
                              </a:rPr>
                              <m:t>𝜽</m:t>
                            </m:r>
                          </m:sub>
                        </m:sSub>
                        <m:d>
                          <m:d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a:solidFill>
                                  <a:srgbClr val="000000"/>
                                </a:solidFill>
                                <a:latin typeface="Cambria Math" panose="02040503050406030204" pitchFamily="18" charset="0"/>
                                <a:ea typeface="楷体_GB2312"/>
                                <a:cs typeface="Times New Roman" panose="02020603050405020304" pitchFamily="18" charset="0"/>
                              </a:rPr>
                              <m:t>𝑠</m:t>
                            </m:r>
                            <m:r>
                              <a:rPr lang="en-US" altLang="zh-CN" sz="1400">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latin typeface="Cambria Math" panose="02040503050406030204" pitchFamily="18" charset="0"/>
                                <a:ea typeface="楷体_GB2312"/>
                                <a:cs typeface="Times New Roman" panose="02020603050405020304" pitchFamily="18" charset="0"/>
                              </a:rPr>
                              <m:t>𝑎</m:t>
                            </m:r>
                          </m:e>
                        </m:d>
                      </m:num>
                      <m:den>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𝜋</m:t>
                            </m:r>
                          </m:e>
                          <m:sub>
                            <m:r>
                              <a:rPr lang="en-US" altLang="zh-CN" sz="1400" b="1" i="1">
                                <a:solidFill>
                                  <a:srgbClr val="000000"/>
                                </a:solidFill>
                                <a:latin typeface="Cambria Math" panose="02040503050406030204" pitchFamily="18" charset="0"/>
                                <a:ea typeface="楷体_GB2312"/>
                                <a:cs typeface="Times New Roman" panose="02020603050405020304" pitchFamily="18" charset="0"/>
                              </a:rPr>
                              <m:t>𝜽</m:t>
                            </m:r>
                          </m:sub>
                        </m:sSub>
                        <m:d>
                          <m:d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a:solidFill>
                                  <a:srgbClr val="000000"/>
                                </a:solidFill>
                                <a:latin typeface="Cambria Math" panose="02040503050406030204" pitchFamily="18" charset="0"/>
                                <a:ea typeface="楷体_GB2312"/>
                                <a:cs typeface="Times New Roman" panose="02020603050405020304" pitchFamily="18" charset="0"/>
                              </a:rPr>
                              <m:t>𝑠</m:t>
                            </m:r>
                            <m:r>
                              <a:rPr lang="en-US" altLang="zh-CN" sz="1400">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latin typeface="Cambria Math" panose="02040503050406030204" pitchFamily="18" charset="0"/>
                                <a:ea typeface="楷体_GB2312"/>
                                <a:cs typeface="Times New Roman" panose="02020603050405020304" pitchFamily="18" charset="0"/>
                              </a:rPr>
                              <m:t>𝑎</m:t>
                            </m:r>
                          </m:e>
                        </m:d>
                      </m:den>
                    </m:f>
                  </m:oMath>
                </a14:m>
                <a:endParaRPr lang="zh-CN" altLang="zh-CN" sz="1400" dirty="0">
                  <a:solidFill>
                    <a:srgbClr val="000000"/>
                  </a:solidFill>
                  <a:latin typeface="Times New Roman" panose="02020603050405020304" pitchFamily="18" charset="0"/>
                  <a:ea typeface="楷体_GB2312"/>
                  <a:cs typeface="Times New Roman" panose="02020603050405020304" pitchFamily="18" charset="0"/>
                </a:endParaRPr>
              </a:p>
            </p:txBody>
          </p:sp>
        </mc:Choice>
        <mc:Fallback xmlns="">
          <p:sp>
            <p:nvSpPr>
              <p:cNvPr id="2" name="矩形 1">
                <a:extLst>
                  <a:ext uri="{FF2B5EF4-FFF2-40B4-BE49-F238E27FC236}">
                    <a16:creationId xmlns:a16="http://schemas.microsoft.com/office/drawing/2014/main" id="{6A900A8E-7EE8-4E4A-9B7C-DC32E130C3E8}"/>
                  </a:ext>
                </a:extLst>
              </p:cNvPr>
              <p:cNvSpPr>
                <a:spLocks noRot="1" noChangeAspect="1" noMove="1" noResize="1" noEditPoints="1" noAdjustHandles="1" noChangeArrowheads="1" noChangeShapeType="1" noTextEdit="1"/>
              </p:cNvSpPr>
              <p:nvPr/>
            </p:nvSpPr>
            <p:spPr>
              <a:xfrm>
                <a:off x="370449" y="1613551"/>
                <a:ext cx="4839285" cy="4273093"/>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C534A4F3-DBB5-43E0-B01F-EBD6712F289A}"/>
                  </a:ext>
                </a:extLst>
              </p:cNvPr>
              <p:cNvSpPr/>
              <p:nvPr/>
            </p:nvSpPr>
            <p:spPr>
              <a:xfrm>
                <a:off x="5744308" y="2497305"/>
                <a:ext cx="6316394" cy="2745688"/>
              </a:xfrm>
              <a:prstGeom prst="rect">
                <a:avLst/>
              </a:prstGeom>
            </p:spPr>
            <p:txBody>
              <a:bodyPr wrap="square">
                <a:spAutoFit/>
              </a:bodyPr>
              <a:lstStyle/>
              <a:p>
                <a:pPr indent="266700" algn="just">
                  <a:lnSpc>
                    <a:spcPct val="1500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由于</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𝑞</m:t>
                        </m:r>
                      </m:e>
                      <m:sub>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e>
                          <m:sub>
                            <m:r>
                              <a:rPr lang="en-US" altLang="zh-CN" sz="1600" b="1" i="1">
                                <a:solidFill>
                                  <a:srgbClr val="000000"/>
                                </a:solidFill>
                                <a:latin typeface="Cambria Math" panose="02040503050406030204" pitchFamily="18" charset="0"/>
                                <a:ea typeface="楷体_GB2312"/>
                                <a:cs typeface="Times New Roman" panose="02020603050405020304" pitchFamily="18" charset="0"/>
                              </a:rPr>
                              <m:t>𝜽</m:t>
                            </m:r>
                          </m:sub>
                        </m:sSub>
                      </m:sub>
                    </m:sSub>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𝑎</m:t>
                        </m:r>
                      </m:e>
                    </m:d>
                    <m:r>
                      <a:rPr lang="en-US" altLang="zh-CN" sz="1600">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a:solidFill>
                              <a:srgbClr val="000000"/>
                            </a:solidFill>
                            <a:latin typeface="Cambria Math" panose="02040503050406030204" pitchFamily="18" charset="0"/>
                            <a:ea typeface="楷体_GB2312"/>
                            <a:cs typeface="Times New Roman" panose="02020603050405020304" pitchFamily="18" charset="0"/>
                          </a:rPr>
                          <m:t>𝔼</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𝜋</m:t>
                        </m:r>
                      </m:sub>
                    </m:sSub>
                    <m:d>
                      <m:dPr>
                        <m:begChr m:val="["/>
                        <m:endChr m:val="]"/>
                        <m:ctrlPr>
                          <a:rPr lang="zh-CN" altLang="zh-CN" sz="16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𝐺</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𝑡</m:t>
                            </m:r>
                          </m:sub>
                        </m:sSub>
                      </m:e>
                      <m:e>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𝑎</m:t>
                        </m:r>
                      </m:e>
                    </m:d>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因此存在</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可变形如下：</a:t>
                </a: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e>
                        <m:sub>
                          <m:r>
                            <a:rPr lang="en-US" altLang="zh-CN" sz="1600" b="1"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𝜽</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𝐽</m:t>
                      </m:r>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b="1"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𝜽</m:t>
                          </m:r>
                        </m:e>
                      </m:d>
                      <m:r>
                        <m:rPr>
                          <m:aln/>
                        </m:rP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latin typeface="Cambria Math" panose="02040503050406030204" pitchFamily="18" charset="0"/>
                              <a:ea typeface="华文楷体" panose="02010600040101010101" pitchFamily="2" charset="-122"/>
                              <a:cs typeface="Times New Roman" panose="02020603050405020304" pitchFamily="18" charset="0"/>
                            </a:rPr>
                            <m:t>𝔼</m:t>
                          </m:r>
                        </m:e>
                        <m:sub>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𝑎</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𝜋</m:t>
                          </m:r>
                        </m:sub>
                      </m:sSub>
                      <m:d>
                        <m:dPr>
                          <m:begChr m:val="["/>
                          <m:end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latin typeface="Cambria Math" panose="02040503050406030204" pitchFamily="18" charset="0"/>
                                  <a:ea typeface="华文楷体" panose="02010600040101010101" pitchFamily="2" charset="-122"/>
                                  <a:cs typeface="Times New Roman" panose="02020603050405020304" pitchFamily="18" charset="0"/>
                                </a:rPr>
                                <m:t>𝔼</m:t>
                              </m:r>
                            </m:e>
                            <m:sub>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𝒯</m:t>
                              </m:r>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𝑎</m:t>
                                  </m:r>
                                </m:e>
                              </m:d>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𝜋</m:t>
                              </m:r>
                            </m:sub>
                          </m:sSub>
                          <m:d>
                            <m:dPr>
                              <m:begChr m:val="["/>
                              <m:endChr m:val="]"/>
                              <m:ctrlPr>
                                <a:rPr lang="zh-CN" altLang="zh-CN" sz="1600" b="1"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𝐺</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𝑡</m:t>
                                  </m:r>
                                </m:sub>
                              </m:sSub>
                            </m:e>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e>
                          </m:d>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e>
                            <m:sub>
                              <m:r>
                                <a:rPr lang="en-US" altLang="zh-CN" sz="1600" b="1"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𝜽</m:t>
                              </m:r>
                            </m:sub>
                          </m:sSub>
                          <m:func>
                            <m:func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6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ln</m:t>
                              </m:r>
                            </m:fName>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e>
                                <m:sub>
                                  <m:r>
                                    <a:rPr lang="en-US" altLang="zh-CN" sz="1600" b="1"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𝜽</m:t>
                                  </m:r>
                                </m:sub>
                              </m:sSub>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e>
                              </m:d>
                            </m:e>
                          </m:func>
                        </m:e>
                      </m:d>
                    </m:oMath>
                    <m:oMath xmlns:m="http://schemas.openxmlformats.org/officeDocument/2006/math">
                      <m:r>
                        <m:rPr>
                          <m:aln/>
                        </m:rP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latin typeface="Cambria Math" panose="02040503050406030204" pitchFamily="18" charset="0"/>
                              <a:ea typeface="华文楷体" panose="02010600040101010101" pitchFamily="2" charset="-122"/>
                              <a:cs typeface="Times New Roman" panose="02020603050405020304" pitchFamily="18" charset="0"/>
                            </a:rPr>
                            <m:t>𝔼</m:t>
                          </m:r>
                        </m:e>
                        <m:sub>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𝑎</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𝒯</m:t>
                          </m:r>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𝑎</m:t>
                              </m:r>
                            </m:e>
                          </m:d>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𝜋</m:t>
                          </m:r>
                        </m:sub>
                      </m:sSub>
                      <m:d>
                        <m:dPr>
                          <m:begChr m:val="["/>
                          <m:end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𝐺</m:t>
                              </m:r>
                            </m:e>
                            <m:sub>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𝑡</m:t>
                              </m:r>
                            </m:sub>
                          </m:sSub>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e>
                            <m:sub>
                              <m:r>
                                <a:rPr lang="en-US" altLang="zh-CN" sz="1600" b="1"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𝜽</m:t>
                              </m:r>
                            </m:sub>
                          </m:sSub>
                          <m:func>
                            <m:func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6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ln</m:t>
                              </m:r>
                            </m:fName>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𝜋</m:t>
                                  </m:r>
                                </m:e>
                                <m:sub>
                                  <m:r>
                                    <a:rPr lang="en-US" altLang="zh-CN" sz="1600" b="1"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𝜽</m:t>
                                  </m:r>
                                </m:sub>
                              </m:sSub>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𝑠</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e>
                              </m:d>
                            </m:e>
                          </m:func>
                        </m:e>
                      </m:d>
                    </m:oMath>
                  </m:oMathPara>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其中</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𝒯</m:t>
                    </m:r>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𝑎</m:t>
                        </m:r>
                      </m:e>
                    </m:d>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表示从状态</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开始执行动作</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𝑎</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得到的一条轨迹（不包括</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和</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𝑎</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𝐺</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𝑡</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为从状态</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开始沿着轨迹</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𝒯</m:t>
                    </m:r>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𝑎</m:t>
                        </m:r>
                      </m:e>
                    </m:d>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运动所得回报。可以使用蒙特卡洛采样法来求解，即算法只需根据策略来采样一个状态</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𝑠</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、一个动作</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𝑎</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和将来的轨迹，就能构造公式中求取期望所对应的一个样本。</a:t>
                </a:r>
              </a:p>
            </p:txBody>
          </p:sp>
        </mc:Choice>
        <mc:Fallback xmlns="">
          <p:sp>
            <p:nvSpPr>
              <p:cNvPr id="9" name="矩形 8">
                <a:extLst>
                  <a:ext uri="{FF2B5EF4-FFF2-40B4-BE49-F238E27FC236}">
                    <a16:creationId xmlns:a16="http://schemas.microsoft.com/office/drawing/2014/main" id="{C534A4F3-DBB5-43E0-B01F-EBD6712F289A}"/>
                  </a:ext>
                </a:extLst>
              </p:cNvPr>
              <p:cNvSpPr>
                <a:spLocks noRot="1" noChangeAspect="1" noMove="1" noResize="1" noEditPoints="1" noAdjustHandles="1" noChangeArrowheads="1" noChangeShapeType="1" noTextEdit="1"/>
              </p:cNvSpPr>
              <p:nvPr/>
            </p:nvSpPr>
            <p:spPr>
              <a:xfrm>
                <a:off x="5744308" y="2497305"/>
                <a:ext cx="6316394" cy="2745688"/>
              </a:xfrm>
              <a:prstGeom prst="rect">
                <a:avLst/>
              </a:prstGeom>
              <a:blipFill>
                <a:blip r:embed="rId4"/>
                <a:stretch>
                  <a:fillRect l="-483" r="-579" b="-20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1333715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zh-CN"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基于蒙特卡洛采样的策略梯度法</a:t>
              </a:r>
              <a:endPar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三、基于策略的强化学习</a:t>
            </a:r>
          </a:p>
        </p:txBody>
      </p:sp>
      <p:grpSp>
        <p:nvGrpSpPr>
          <p:cNvPr id="10" name="组合 9">
            <a:extLst>
              <a:ext uri="{FF2B5EF4-FFF2-40B4-BE49-F238E27FC236}">
                <a16:creationId xmlns:a16="http://schemas.microsoft.com/office/drawing/2014/main" id="{93D11117-2670-47A7-ADA8-FC258174BBA9}"/>
              </a:ext>
            </a:extLst>
          </p:cNvPr>
          <p:cNvGrpSpPr/>
          <p:nvPr/>
        </p:nvGrpSpPr>
        <p:grpSpPr>
          <a:xfrm>
            <a:off x="6429317" y="1865987"/>
            <a:ext cx="5762683" cy="3608288"/>
            <a:chOff x="6282771" y="2107253"/>
            <a:chExt cx="4616687" cy="2518600"/>
          </a:xfrm>
        </p:grpSpPr>
        <p:pic>
          <p:nvPicPr>
            <p:cNvPr id="7" name="图片 6">
              <a:extLst>
                <a:ext uri="{FF2B5EF4-FFF2-40B4-BE49-F238E27FC236}">
                  <a16:creationId xmlns:a16="http://schemas.microsoft.com/office/drawing/2014/main" id="{B1BE39FB-4F7A-48B1-B044-75A144604865}"/>
                </a:ext>
              </a:extLst>
            </p:cNvPr>
            <p:cNvPicPr>
              <a:picLocks noChangeAspect="1"/>
            </p:cNvPicPr>
            <p:nvPr/>
          </p:nvPicPr>
          <p:blipFill>
            <a:blip r:embed="rId3"/>
            <a:stretch>
              <a:fillRect/>
            </a:stretch>
          </p:blipFill>
          <p:spPr>
            <a:xfrm>
              <a:off x="6282771" y="2107253"/>
              <a:ext cx="4616687" cy="730288"/>
            </a:xfrm>
            <a:prstGeom prst="rect">
              <a:avLst/>
            </a:prstGeom>
          </p:spPr>
        </p:pic>
        <p:pic>
          <p:nvPicPr>
            <p:cNvPr id="8" name="图片 7">
              <a:extLst>
                <a:ext uri="{FF2B5EF4-FFF2-40B4-BE49-F238E27FC236}">
                  <a16:creationId xmlns:a16="http://schemas.microsoft.com/office/drawing/2014/main" id="{809D635D-1B6B-45DD-BC5C-407E5874D34C}"/>
                </a:ext>
              </a:extLst>
            </p:cNvPr>
            <p:cNvPicPr>
              <a:picLocks noChangeAspect="1"/>
            </p:cNvPicPr>
            <p:nvPr/>
          </p:nvPicPr>
          <p:blipFill>
            <a:blip r:embed="rId4"/>
            <a:stretch>
              <a:fillRect/>
            </a:stretch>
          </p:blipFill>
          <p:spPr>
            <a:xfrm>
              <a:off x="6282771" y="2714405"/>
              <a:ext cx="4534133" cy="1911448"/>
            </a:xfrm>
            <a:prstGeom prst="rect">
              <a:avLst/>
            </a:prstGeom>
          </p:spPr>
        </p:pic>
      </p:gr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C00AEC88-D8A2-455E-84E0-885741BFB055}"/>
                  </a:ext>
                </a:extLst>
              </p:cNvPr>
              <p:cNvSpPr/>
              <p:nvPr/>
            </p:nvSpPr>
            <p:spPr>
              <a:xfrm>
                <a:off x="159017" y="1865987"/>
                <a:ext cx="6270300" cy="4188326"/>
              </a:xfrm>
              <a:prstGeom prst="rect">
                <a:avLst/>
              </a:prstGeom>
            </p:spPr>
            <p:txBody>
              <a:bodyPr wrap="square">
                <a:spAutoFit/>
              </a:bodyPr>
              <a:lstStyle/>
              <a:p>
                <a:pPr indent="266700" algn="just">
                  <a:lnSpc>
                    <a:spcPct val="150000"/>
                  </a:lnSpc>
                  <a:spcBef>
                    <a:spcPts val="600"/>
                  </a:spcBef>
                  <a:spcAft>
                    <a:spcPts val="0"/>
                  </a:spcAft>
                </a:pPr>
                <a:r>
                  <a:rPr lang="zh-CN" altLang="en-US" sz="1600" dirty="0">
                    <a:solidFill>
                      <a:srgbClr val="000000"/>
                    </a:solidFill>
                    <a:latin typeface="Times New Roman" panose="02020603050405020304" pitchFamily="18" charset="0"/>
                    <a:ea typeface="楷体_GB2312"/>
                    <a:cs typeface="Times New Roman" panose="02020603050405020304" pitchFamily="18" charset="0"/>
                  </a:rPr>
                  <a:t>上述</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估计策略梯度的算法称为</a:t>
                </a:r>
                <a:r>
                  <a:rPr lang="en-US" altLang="zh-CN" sz="1600" dirty="0">
                    <a:solidFill>
                      <a:srgbClr val="FF0000"/>
                    </a:solidFill>
                    <a:latin typeface="Times New Roman" panose="02020603050405020304" pitchFamily="18" charset="0"/>
                    <a:ea typeface="楷体_GB2312"/>
                    <a:cs typeface="Times New Roman" panose="02020603050405020304" pitchFamily="18" charset="0"/>
                  </a:rPr>
                  <a:t>REINFORCE</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，其流程如算法</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6.9</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所示。在这个算法中，通过利用采样得到的轨迹片段来估计梯度，并使用梯度上升法来优化策略。</a:t>
                </a: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ct val="150000"/>
                  </a:lnSpc>
                  <a:spcBef>
                    <a:spcPts val="600"/>
                  </a:spcBef>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注意算法</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6.9</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中第</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6</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行的更新公式</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中</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多了一个</a:t>
                </a:r>
                <a14:m>
                  <m:oMath xmlns:m="http://schemas.openxmlformats.org/officeDocument/2006/math">
                    <m:sSup>
                      <m:s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𝛾</m:t>
                        </m:r>
                      </m:e>
                      <m:sup>
                        <m:r>
                          <a:rPr lang="en-US" altLang="zh-CN" sz="1600" i="1">
                            <a:solidFill>
                              <a:srgbClr val="000000"/>
                            </a:solidFill>
                            <a:latin typeface="Cambria Math" panose="02040503050406030204" pitchFamily="18" charset="0"/>
                            <a:ea typeface="楷体_GB2312"/>
                            <a:cs typeface="Times New Roman" panose="02020603050405020304" pitchFamily="18" charset="0"/>
                          </a:rPr>
                          <m:t>𝑡</m:t>
                        </m:r>
                      </m:sup>
                    </m:sSup>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，这个差别正是由前文所说的公式推导时假设</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𝛾</m:t>
                    </m:r>
                    <m:r>
                      <a:rPr lang="en-US" altLang="zh-CN" sz="1600" i="1">
                        <a:solidFill>
                          <a:srgbClr val="000000"/>
                        </a:solidFill>
                        <a:latin typeface="Cambria Math" panose="02040503050406030204" pitchFamily="18" charset="0"/>
                        <a:ea typeface="楷体_GB2312"/>
                        <a:cs typeface="Times New Roman" panose="02020603050405020304" pitchFamily="18" charset="0"/>
                      </a:rPr>
                      <m:t>=1</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导致的。在实现中，这个</a:t>
                </a:r>
                <a14:m>
                  <m:oMath xmlns:m="http://schemas.openxmlformats.org/officeDocument/2006/math">
                    <m:sSup>
                      <m:s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𝛾</m:t>
                        </m:r>
                      </m:e>
                      <m:sup>
                        <m:r>
                          <a:rPr lang="en-US" altLang="zh-CN" sz="1600" i="1">
                            <a:solidFill>
                              <a:srgbClr val="000000"/>
                            </a:solidFill>
                            <a:latin typeface="Cambria Math" panose="02040503050406030204" pitchFamily="18" charset="0"/>
                            <a:ea typeface="楷体_GB2312"/>
                            <a:cs typeface="Times New Roman" panose="02020603050405020304" pitchFamily="18" charset="0"/>
                          </a:rPr>
                          <m:t>𝑡</m:t>
                        </m:r>
                      </m:sup>
                    </m:sSup>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常常会被省略。另一个需要注意的地方是算法</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6.9</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的第</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6</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行中参数与梯度相加而非减去梯度，这是由于算法的目标是最大化</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𝐽</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b="1" i="1">
                        <a:solidFill>
                          <a:srgbClr val="000000"/>
                        </a:solidFill>
                        <a:latin typeface="Cambria Math" panose="02040503050406030204" pitchFamily="18" charset="0"/>
                        <a:ea typeface="楷体_GB2312"/>
                        <a:cs typeface="Times New Roman" panose="02020603050405020304" pitchFamily="18" charset="0"/>
                      </a:rPr>
                      <m:t>𝜽</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而不是经常所采用的最小化该函数的方法。</a:t>
                </a:r>
              </a:p>
              <a:p>
                <a:pPr indent="266700" algn="just">
                  <a:lnSpc>
                    <a:spcPct val="1500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算法</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6.9</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通过执行完一个完整片段所得实际反馈值来估计策略梯度，这一点和策略评估的蒙特卡洛法很相似，两个算法都要求问题是分段的，且只有在一个片段结束后算法才能进行更新操作。</a:t>
                </a:r>
              </a:p>
            </p:txBody>
          </p:sp>
        </mc:Choice>
        <mc:Fallback xmlns="">
          <p:sp>
            <p:nvSpPr>
              <p:cNvPr id="11" name="矩形 10">
                <a:extLst>
                  <a:ext uri="{FF2B5EF4-FFF2-40B4-BE49-F238E27FC236}">
                    <a16:creationId xmlns:a16="http://schemas.microsoft.com/office/drawing/2014/main" id="{C00AEC88-D8A2-455E-84E0-885741BFB055}"/>
                  </a:ext>
                </a:extLst>
              </p:cNvPr>
              <p:cNvSpPr>
                <a:spLocks noRot="1" noChangeAspect="1" noMove="1" noResize="1" noEditPoints="1" noAdjustHandles="1" noChangeArrowheads="1" noChangeShapeType="1" noTextEdit="1"/>
              </p:cNvSpPr>
              <p:nvPr/>
            </p:nvSpPr>
            <p:spPr>
              <a:xfrm>
                <a:off x="159017" y="1865987"/>
                <a:ext cx="6270300" cy="4188326"/>
              </a:xfrm>
              <a:prstGeom prst="rect">
                <a:avLst/>
              </a:prstGeom>
              <a:blipFill>
                <a:blip r:embed="rId5"/>
                <a:stretch>
                  <a:fillRect l="-486" r="-3790" b="-101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075145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79" y="743673"/>
            <a:ext cx="8129244" cy="481209"/>
            <a:chOff x="4099943" y="2836578"/>
            <a:chExt cx="2799211" cy="481209"/>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099943" y="2836578"/>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839601" y="2870523"/>
              <a:ext cx="2059553" cy="400110"/>
            </a:xfrm>
            <a:prstGeom prst="rect">
              <a:avLst/>
            </a:prstGeom>
          </p:spPr>
          <p:txBody>
            <a:bodyPr wrap="square">
              <a:spAutoFit/>
            </a:bodyPr>
            <a:lstStyle/>
            <a:p>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策略评估：</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Actor-Critic</a:t>
              </a:r>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算法</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三、基于策略的强化学习</a:t>
            </a:r>
          </a:p>
        </p:txBody>
      </p:sp>
      <p:grpSp>
        <p:nvGrpSpPr>
          <p:cNvPr id="12" name="组合 11">
            <a:extLst>
              <a:ext uri="{FF2B5EF4-FFF2-40B4-BE49-F238E27FC236}">
                <a16:creationId xmlns:a16="http://schemas.microsoft.com/office/drawing/2014/main" id="{A83BE345-B953-4E3B-B432-30D79336575F}"/>
              </a:ext>
            </a:extLst>
          </p:cNvPr>
          <p:cNvGrpSpPr/>
          <p:nvPr/>
        </p:nvGrpSpPr>
        <p:grpSpPr>
          <a:xfrm>
            <a:off x="6824931" y="1258827"/>
            <a:ext cx="4556204" cy="2891306"/>
            <a:chOff x="6048528" y="2471556"/>
            <a:chExt cx="4556204" cy="2891306"/>
          </a:xfrm>
        </p:grpSpPr>
        <p:pic>
          <p:nvPicPr>
            <p:cNvPr id="2" name="图片 1">
              <a:extLst>
                <a:ext uri="{FF2B5EF4-FFF2-40B4-BE49-F238E27FC236}">
                  <a16:creationId xmlns:a16="http://schemas.microsoft.com/office/drawing/2014/main" id="{F584C212-4855-4B69-969A-71DDCEDE2709}"/>
                </a:ext>
              </a:extLst>
            </p:cNvPr>
            <p:cNvPicPr>
              <a:picLocks noChangeAspect="1"/>
            </p:cNvPicPr>
            <p:nvPr/>
          </p:nvPicPr>
          <p:blipFill>
            <a:blip r:embed="rId3"/>
            <a:stretch>
              <a:fillRect/>
            </a:stretch>
          </p:blipFill>
          <p:spPr>
            <a:xfrm>
              <a:off x="6048528" y="2471556"/>
              <a:ext cx="4530958" cy="1324043"/>
            </a:xfrm>
            <a:prstGeom prst="rect">
              <a:avLst/>
            </a:prstGeom>
          </p:spPr>
        </p:pic>
        <p:pic>
          <p:nvPicPr>
            <p:cNvPr id="9" name="图片 8">
              <a:extLst>
                <a:ext uri="{FF2B5EF4-FFF2-40B4-BE49-F238E27FC236}">
                  <a16:creationId xmlns:a16="http://schemas.microsoft.com/office/drawing/2014/main" id="{4EC14069-FB45-4FDA-85BE-0A3CF03262A5}"/>
                </a:ext>
              </a:extLst>
            </p:cNvPr>
            <p:cNvPicPr>
              <a:picLocks noChangeAspect="1"/>
            </p:cNvPicPr>
            <p:nvPr/>
          </p:nvPicPr>
          <p:blipFill>
            <a:blip r:embed="rId4"/>
            <a:stretch>
              <a:fillRect/>
            </a:stretch>
          </p:blipFill>
          <p:spPr>
            <a:xfrm>
              <a:off x="6096000" y="3699076"/>
              <a:ext cx="4508732" cy="1663786"/>
            </a:xfrm>
            <a:prstGeom prst="rect">
              <a:avLst/>
            </a:prstGeom>
          </p:spPr>
        </p:pic>
      </p:grp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A978CCF3-978E-407F-9E7C-8B20318F4CA4}"/>
                  </a:ext>
                </a:extLst>
              </p:cNvPr>
              <p:cNvSpPr/>
              <p:nvPr/>
            </p:nvSpPr>
            <p:spPr>
              <a:xfrm>
                <a:off x="0" y="1918522"/>
                <a:ext cx="6691532" cy="4331122"/>
              </a:xfrm>
              <a:prstGeom prst="rect">
                <a:avLst/>
              </a:prstGeom>
            </p:spPr>
            <p:txBody>
              <a:bodyPr wrap="square">
                <a:spAutoFit/>
              </a:bodyPr>
              <a:lstStyle/>
              <a:p>
                <a:pPr marL="285750" indent="-285750" algn="just">
                  <a:lnSpc>
                    <a:spcPts val="2200"/>
                  </a:lnSpc>
                  <a:spcAft>
                    <a:spcPts val="0"/>
                  </a:spcAft>
                  <a:buFont typeface="Wingdings" panose="05000000000000000000" pitchFamily="2" charset="2"/>
                  <a:buChar char="l"/>
                </a:pPr>
                <a:r>
                  <a:rPr lang="zh-CN" altLang="zh-CN" sz="16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是否能够从时序差分的角度设计一个策略梯度求解方法呢？</a:t>
                </a:r>
                <a:r>
                  <a:rPr lang="zh-CN"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时序差分与蒙特卡洛采样的核心差别在于使用下一时刻状态的价值函数来估计当前状态的价值函数，而不是使用整个片段的反馈值，体现在算法中即使用</a:t>
                </a:r>
                <a14:m>
                  <m:oMath xmlns:m="http://schemas.openxmlformats.org/officeDocument/2006/math">
                    <m:r>
                      <a:rPr lang="en-US" altLang="zh-CN" sz="1600" i="1">
                        <a:solidFill>
                          <a:srgbClr val="FF0000"/>
                        </a:solidFill>
                        <a:latin typeface="Cambria Math" panose="02040503050406030204" pitchFamily="18" charset="0"/>
                        <a:ea typeface="楷体_GB2312"/>
                        <a:cs typeface="Times New Roman" panose="02020603050405020304" pitchFamily="18" charset="0"/>
                      </a:rPr>
                      <m:t>𝑅</m:t>
                    </m:r>
                    <m:r>
                      <a:rPr lang="en-US" altLang="zh-CN" sz="1600" i="1">
                        <a:solidFill>
                          <a:srgbClr val="FF0000"/>
                        </a:solidFill>
                        <a:latin typeface="Cambria Math" panose="02040503050406030204" pitchFamily="18" charset="0"/>
                        <a:ea typeface="楷体_GB2312"/>
                        <a:cs typeface="Times New Roman" panose="02020603050405020304" pitchFamily="18" charset="0"/>
                      </a:rPr>
                      <m:t>+</m:t>
                    </m:r>
                    <m:r>
                      <a:rPr lang="en-US" altLang="zh-CN" sz="1600" i="1">
                        <a:solidFill>
                          <a:srgbClr val="FF0000"/>
                        </a:solidFill>
                        <a:latin typeface="Cambria Math" panose="02040503050406030204" pitchFamily="18" charset="0"/>
                        <a:ea typeface="楷体_GB2312"/>
                        <a:cs typeface="Times New Roman" panose="02020603050405020304" pitchFamily="18" charset="0"/>
                      </a:rPr>
                      <m:t>𝛾</m:t>
                    </m:r>
                    <m:sSub>
                      <m:sSubPr>
                        <m:ctrlPr>
                          <a:rPr lang="zh-CN" altLang="zh-CN" sz="16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FF0000"/>
                            </a:solidFill>
                            <a:latin typeface="Cambria Math" panose="02040503050406030204" pitchFamily="18" charset="0"/>
                            <a:ea typeface="楷体_GB2312"/>
                            <a:cs typeface="Times New Roman" panose="02020603050405020304" pitchFamily="18" charset="0"/>
                          </a:rPr>
                          <m:t>𝑉</m:t>
                        </m:r>
                      </m:e>
                      <m:sub>
                        <m:sSub>
                          <m:sSubPr>
                            <m:ctrlPr>
                              <a:rPr lang="zh-CN" altLang="zh-CN" sz="16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FF0000"/>
                                </a:solidFill>
                                <a:latin typeface="Cambria Math" panose="02040503050406030204" pitchFamily="18" charset="0"/>
                                <a:ea typeface="楷体_GB2312"/>
                                <a:cs typeface="Times New Roman" panose="02020603050405020304" pitchFamily="18" charset="0"/>
                              </a:rPr>
                              <m:t>𝜋</m:t>
                            </m:r>
                          </m:e>
                          <m:sub>
                            <m:r>
                              <a:rPr lang="en-US" altLang="zh-CN" sz="1600" i="1">
                                <a:solidFill>
                                  <a:srgbClr val="FF0000"/>
                                </a:solidFill>
                                <a:latin typeface="Cambria Math" panose="02040503050406030204" pitchFamily="18" charset="0"/>
                                <a:ea typeface="楷体_GB2312"/>
                                <a:cs typeface="Times New Roman" panose="02020603050405020304" pitchFamily="18" charset="0"/>
                              </a:rPr>
                              <m:t>𝜃</m:t>
                            </m:r>
                          </m:sub>
                        </m:sSub>
                      </m:sub>
                    </m:sSub>
                    <m:r>
                      <a:rPr lang="en-US" altLang="zh-CN" sz="1600" i="1">
                        <a:solidFill>
                          <a:srgbClr val="FF0000"/>
                        </a:solidFill>
                        <a:latin typeface="Cambria Math" panose="02040503050406030204" pitchFamily="18" charset="0"/>
                        <a:ea typeface="楷体_GB2312"/>
                        <a:cs typeface="Times New Roman" panose="02020603050405020304" pitchFamily="18" charset="0"/>
                      </a:rPr>
                      <m:t>(</m:t>
                    </m:r>
                    <m:sSup>
                      <m:sSupPr>
                        <m:ctrlPr>
                          <a:rPr lang="zh-CN" altLang="zh-CN" sz="16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solidFill>
                              <a:srgbClr val="FF0000"/>
                            </a:solidFill>
                            <a:latin typeface="Cambria Math" panose="02040503050406030204" pitchFamily="18" charset="0"/>
                            <a:ea typeface="楷体_GB2312"/>
                            <a:cs typeface="Times New Roman" panose="02020603050405020304" pitchFamily="18" charset="0"/>
                          </a:rPr>
                          <m:t>𝑠</m:t>
                        </m:r>
                      </m:e>
                      <m:sup>
                        <m:r>
                          <a:rPr lang="en-US" altLang="zh-CN" sz="1600" i="1">
                            <a:solidFill>
                              <a:srgbClr val="FF0000"/>
                            </a:solidFill>
                            <a:latin typeface="Cambria Math" panose="02040503050406030204" pitchFamily="18" charset="0"/>
                            <a:ea typeface="楷体_GB2312"/>
                            <a:cs typeface="Times New Roman" panose="02020603050405020304" pitchFamily="18" charset="0"/>
                          </a:rPr>
                          <m:t>′</m:t>
                        </m:r>
                      </m:sup>
                    </m:sSup>
                    <m:r>
                      <a:rPr lang="en-US" altLang="zh-CN" sz="1600" i="1">
                        <a:solidFill>
                          <a:srgbClr val="FF0000"/>
                        </a:solidFill>
                        <a:latin typeface="Cambria Math" panose="02040503050406030204" pitchFamily="18" charset="0"/>
                        <a:ea typeface="楷体_GB2312"/>
                        <a:cs typeface="Times New Roman" panose="02020603050405020304" pitchFamily="18" charset="0"/>
                      </a:rPr>
                      <m:t>)</m:t>
                    </m:r>
                  </m:oMath>
                </a14:m>
                <a:r>
                  <a:rPr lang="zh-CN"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来代替算法</a:t>
                </a: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6.9</a:t>
                </a:r>
                <a:r>
                  <a:rPr lang="zh-CN"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中的变量</a:t>
                </a:r>
                <a14:m>
                  <m:oMath xmlns:m="http://schemas.openxmlformats.org/officeDocument/2006/math">
                    <m:r>
                      <a:rPr lang="en-US" altLang="zh-CN" sz="1600" i="1">
                        <a:solidFill>
                          <a:srgbClr val="FF0000"/>
                        </a:solidFill>
                        <a:latin typeface="Cambria Math" panose="02040503050406030204" pitchFamily="18" charset="0"/>
                        <a:ea typeface="楷体_GB2312"/>
                        <a:cs typeface="Times New Roman" panose="02020603050405020304" pitchFamily="18" charset="0"/>
                      </a:rPr>
                      <m:t>𝐺</m:t>
                    </m:r>
                  </m:oMath>
                </a14:m>
                <a:r>
                  <a:rPr lang="zh-CN" altLang="zh-CN" sz="16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。算法</a:t>
                </a:r>
                <a:r>
                  <a:rPr lang="en-US" altLang="zh-CN" sz="16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6.10</a:t>
                </a:r>
                <a:r>
                  <a:rPr lang="zh-CN" altLang="zh-CN" sz="16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给出了基于时序差分的策略梯度法的流程，其名称为</a:t>
                </a:r>
                <a:r>
                  <a:rPr lang="en-US" altLang="zh-CN" sz="16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Actor-Critic</a:t>
                </a:r>
                <a:r>
                  <a:rPr lang="zh-CN" altLang="zh-CN" sz="16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算法。</a:t>
                </a:r>
                <a:endParaRPr lang="en-US" altLang="zh-CN" sz="16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285750" indent="-285750">
                  <a:buFont typeface="Wingdings" panose="05000000000000000000" pitchFamily="2" charset="2"/>
                  <a:buChar char="l"/>
                </a:pP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在算法</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6.10</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中，第</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9</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行用</a:t>
                </a:r>
                <a14:m>
                  <m:oMath xmlns:m="http://schemas.openxmlformats.org/officeDocument/2006/math">
                    <m:r>
                      <a:rPr lang="en-US" altLang="zh-CN" sz="1600" i="1">
                        <a:latin typeface="Cambria Math" panose="02040503050406030204" pitchFamily="18" charset="0"/>
                      </a:rPr>
                      <m:t>𝑅</m:t>
                    </m:r>
                    <m:r>
                      <a:rPr lang="en-US" altLang="zh-CN" sz="1600" i="1">
                        <a:latin typeface="Cambria Math" panose="02040503050406030204" pitchFamily="18" charset="0"/>
                      </a:rPr>
                      <m:t>+</m:t>
                    </m:r>
                    <m:r>
                      <a:rPr lang="en-US" altLang="zh-CN" sz="1600" i="1">
                        <a:latin typeface="Cambria Math" panose="02040503050406030204" pitchFamily="18" charset="0"/>
                      </a:rPr>
                      <m:t>𝛾</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𝑉</m:t>
                        </m:r>
                      </m:e>
                      <m:sub>
                        <m:r>
                          <a:rPr lang="en-US" altLang="zh-CN" sz="1600" b="1" i="1">
                            <a:latin typeface="Cambria Math" panose="02040503050406030204" pitchFamily="18" charset="0"/>
                          </a:rPr>
                          <m:t>𝒘</m:t>
                        </m:r>
                      </m:sub>
                    </m:sSub>
                    <m:r>
                      <a:rPr lang="en-US" altLang="zh-CN" sz="1600" i="1">
                        <a:latin typeface="Cambria Math" panose="02040503050406030204" pitchFamily="18" charset="0"/>
                      </a:rPr>
                      <m:t>(</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𝑠</m:t>
                        </m:r>
                      </m:e>
                      <m:sup>
                        <m:r>
                          <a:rPr lang="en-US" altLang="zh-CN" sz="1600" i="1">
                            <a:latin typeface="Cambria Math" panose="02040503050406030204" pitchFamily="18" charset="0"/>
                          </a:rPr>
                          <m:t>′</m:t>
                        </m:r>
                      </m:sup>
                    </m:sSup>
                    <m:r>
                      <a:rPr lang="en-US" altLang="zh-CN" sz="1600" i="1">
                        <a:latin typeface="Cambria Math" panose="02040503050406030204" pitchFamily="18" charset="0"/>
                      </a:rPr>
                      <m:t>)</m:t>
                    </m:r>
                  </m:oMath>
                </a14:m>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作为</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𝑞</m:t>
                        </m:r>
                      </m:e>
                      <m:sub>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𝜋</m:t>
                            </m:r>
                          </m:e>
                          <m:sub>
                            <m:r>
                              <a:rPr lang="en-US" altLang="zh-CN" sz="1600" i="1">
                                <a:latin typeface="Cambria Math" panose="02040503050406030204" pitchFamily="18" charset="0"/>
                              </a:rPr>
                              <m:t>𝜃</m:t>
                            </m:r>
                          </m:sub>
                        </m:sSub>
                      </m:sub>
                    </m:sSub>
                    <m:r>
                      <a:rPr lang="en-US" altLang="zh-CN" sz="1600" i="1">
                        <a:latin typeface="Cambria Math" panose="02040503050406030204" pitchFamily="18" charset="0"/>
                      </a:rPr>
                      <m:t>(</m:t>
                    </m:r>
                    <m:r>
                      <a:rPr lang="en-US" altLang="zh-CN" sz="1600" i="1">
                        <a:latin typeface="Cambria Math" panose="02040503050406030204" pitchFamily="18" charset="0"/>
                      </a:rPr>
                      <m:t>𝑠</m:t>
                    </m:r>
                    <m:r>
                      <a:rPr lang="en-US" altLang="zh-CN" sz="1600" i="1">
                        <a:latin typeface="Cambria Math" panose="02040503050406030204" pitchFamily="18" charset="0"/>
                      </a:rPr>
                      <m:t>,</m:t>
                    </m:r>
                    <m:r>
                      <a:rPr lang="en-US" altLang="zh-CN" sz="1600" i="1">
                        <a:latin typeface="Cambria Math" panose="02040503050406030204" pitchFamily="18" charset="0"/>
                      </a:rPr>
                      <m:t>𝑎</m:t>
                    </m:r>
                    <m:r>
                      <a:rPr lang="en-US" altLang="zh-CN" sz="1600" i="1">
                        <a:latin typeface="Cambria Math" panose="02040503050406030204" pitchFamily="18" charset="0"/>
                      </a:rPr>
                      <m:t>)</m:t>
                    </m:r>
                  </m:oMath>
                </a14:m>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的估计值，而非当前片段的实际回报。第</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8</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行中仍然用价值函数估计值和当前值之间误差的平方作为损失函数，但值得注意的一点是，算法假设</a:t>
                </a:r>
                <a14:m>
                  <m:oMath xmlns:m="http://schemas.openxmlformats.org/officeDocument/2006/math">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m:t>
                        </m:r>
                      </m:e>
                      <m:sub>
                        <m:r>
                          <a:rPr lang="en-US" altLang="zh-CN" sz="1600" b="1" i="1">
                            <a:latin typeface="Cambria Math" panose="02040503050406030204" pitchFamily="18" charset="0"/>
                          </a:rPr>
                          <m:t>𝒘</m:t>
                        </m:r>
                      </m:sub>
                    </m:sSub>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𝑉</m:t>
                        </m:r>
                      </m:e>
                      <m:sub>
                        <m:r>
                          <a:rPr lang="en-US" altLang="zh-CN" sz="1600" b="1" i="1">
                            <a:latin typeface="Cambria Math" panose="02040503050406030204" pitchFamily="18" charset="0"/>
                          </a:rPr>
                          <m:t>𝒘</m:t>
                        </m:r>
                      </m:sub>
                    </m:sSub>
                    <m:d>
                      <m:dPr>
                        <m:ctrlPr>
                          <a:rPr lang="zh-CN" altLang="zh-CN" sz="1600" i="1">
                            <a:latin typeface="Cambria Math" panose="02040503050406030204" pitchFamily="18" charset="0"/>
                          </a:rPr>
                        </m:ctrlPr>
                      </m:dPr>
                      <m:e>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𝑠</m:t>
                            </m:r>
                          </m:e>
                          <m:sup>
                            <m:r>
                              <a:rPr lang="en-US" altLang="zh-CN" sz="1600" i="1">
                                <a:latin typeface="Cambria Math" panose="02040503050406030204" pitchFamily="18" charset="0"/>
                              </a:rPr>
                              <m:t>′</m:t>
                            </m:r>
                          </m:sup>
                        </m:sSup>
                      </m:e>
                    </m:d>
                    <m:r>
                      <a:rPr lang="en-US" altLang="zh-CN" sz="1600" i="1">
                        <a:latin typeface="Cambria Math" panose="02040503050406030204" pitchFamily="18" charset="0"/>
                      </a:rPr>
                      <m:t>=0</m:t>
                    </m:r>
                  </m:oMath>
                </a14:m>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，即假设目标值中的</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𝑉</m:t>
                        </m:r>
                      </m:e>
                      <m:sub>
                        <m:r>
                          <a:rPr lang="en-US" altLang="zh-CN" sz="1600" b="1" i="1">
                            <a:latin typeface="Cambria Math" panose="02040503050406030204" pitchFamily="18" charset="0"/>
                          </a:rPr>
                          <m:t>𝒘</m:t>
                        </m:r>
                      </m:sub>
                    </m:sSub>
                    <m:d>
                      <m:dPr>
                        <m:ctrlPr>
                          <a:rPr lang="zh-CN" altLang="zh-CN" sz="1600" i="1">
                            <a:latin typeface="Cambria Math" panose="02040503050406030204" pitchFamily="18" charset="0"/>
                          </a:rPr>
                        </m:ctrlPr>
                      </m:dPr>
                      <m:e>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𝑠</m:t>
                            </m:r>
                          </m:e>
                          <m:sup>
                            <m:r>
                              <a:rPr lang="en-US" altLang="zh-CN" sz="1600" i="1">
                                <a:latin typeface="Cambria Math" panose="02040503050406030204" pitchFamily="18" charset="0"/>
                              </a:rPr>
                              <m:t>′</m:t>
                            </m:r>
                          </m:sup>
                        </m:sSup>
                      </m:e>
                    </m:d>
                  </m:oMath>
                </a14:m>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是一个常数，这与</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Q</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学习中目标网络的做法不谋而合。</a:t>
                </a:r>
              </a:p>
              <a:p>
                <a:pPr marL="285750" indent="-285750">
                  <a:buFont typeface="Wingdings" panose="05000000000000000000" pitchFamily="2" charset="2"/>
                  <a:buChar char="l"/>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Actor-Critic</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算法最初的研究出现时，人们对策略梯度法还没有形成体系化认识。研究者们认为参数化的策略函数就像一个执行者（</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actor</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），负责动作的选择，而参数化的价值函数就像一个评论家（</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critic</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），评价执行者选出的动作的好坏，并成为执行者更新策略的依据，</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Actor-Critic</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算法由此得名。</a:t>
                </a:r>
              </a:p>
              <a:p>
                <a:pPr indent="266700" algn="just">
                  <a:lnSpc>
                    <a:spcPts val="2200"/>
                  </a:lnSpc>
                  <a:spcAft>
                    <a:spcPts val="0"/>
                  </a:spcAft>
                </a:pP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p:txBody>
          </p:sp>
        </mc:Choice>
        <mc:Fallback xmlns="">
          <p:sp>
            <p:nvSpPr>
              <p:cNvPr id="13" name="矩形 12">
                <a:extLst>
                  <a:ext uri="{FF2B5EF4-FFF2-40B4-BE49-F238E27FC236}">
                    <a16:creationId xmlns:a16="http://schemas.microsoft.com/office/drawing/2014/main" id="{A978CCF3-978E-407F-9E7C-8B20318F4CA4}"/>
                  </a:ext>
                </a:extLst>
              </p:cNvPr>
              <p:cNvSpPr>
                <a:spLocks noRot="1" noChangeAspect="1" noMove="1" noResize="1" noEditPoints="1" noAdjustHandles="1" noChangeArrowheads="1" noChangeShapeType="1" noTextEdit="1"/>
              </p:cNvSpPr>
              <p:nvPr/>
            </p:nvSpPr>
            <p:spPr>
              <a:xfrm>
                <a:off x="0" y="1918522"/>
                <a:ext cx="6691532" cy="4331122"/>
              </a:xfrm>
              <a:prstGeom prst="rect">
                <a:avLst/>
              </a:prstGeom>
              <a:blipFill>
                <a:blip r:embed="rId5"/>
                <a:stretch>
                  <a:fillRect l="-364" t="-423" r="-1548"/>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E4DFC6E0-A5D3-2734-7F8B-2C37D123FE53}"/>
              </a:ext>
            </a:extLst>
          </p:cNvPr>
          <p:cNvPicPr>
            <a:picLocks noChangeAspect="1"/>
          </p:cNvPicPr>
          <p:nvPr/>
        </p:nvPicPr>
        <p:blipFill>
          <a:blip r:embed="rId6"/>
          <a:stretch>
            <a:fillRect/>
          </a:stretch>
        </p:blipFill>
        <p:spPr>
          <a:xfrm>
            <a:off x="6790717" y="4389819"/>
            <a:ext cx="4565172" cy="1975667"/>
          </a:xfrm>
          <a:prstGeom prst="rect">
            <a:avLst/>
          </a:prstGeom>
        </p:spPr>
      </p:pic>
      <p:cxnSp>
        <p:nvCxnSpPr>
          <p:cNvPr id="11" name="直接连接符 10">
            <a:extLst>
              <a:ext uri="{FF2B5EF4-FFF2-40B4-BE49-F238E27FC236}">
                <a16:creationId xmlns:a16="http://schemas.microsoft.com/office/drawing/2014/main" id="{18B1C5DA-23E4-028F-52BE-28AD16099B36}"/>
              </a:ext>
            </a:extLst>
          </p:cNvPr>
          <p:cNvCxnSpPr/>
          <p:nvPr/>
        </p:nvCxnSpPr>
        <p:spPr>
          <a:xfrm>
            <a:off x="8072846" y="3429000"/>
            <a:ext cx="76635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5C088F36-ACFC-0729-36C8-6D20510DD518}"/>
              </a:ext>
            </a:extLst>
          </p:cNvPr>
          <p:cNvCxnSpPr>
            <a:cxnSpLocks/>
          </p:cNvCxnSpPr>
          <p:nvPr/>
        </p:nvCxnSpPr>
        <p:spPr>
          <a:xfrm>
            <a:off x="9090410" y="5784669"/>
            <a:ext cx="178659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连接符: 曲线 16">
            <a:extLst>
              <a:ext uri="{FF2B5EF4-FFF2-40B4-BE49-F238E27FC236}">
                <a16:creationId xmlns:a16="http://schemas.microsoft.com/office/drawing/2014/main" id="{4133DD82-3FE1-FBB7-1905-12CF067FD9BE}"/>
              </a:ext>
            </a:extLst>
          </p:cNvPr>
          <p:cNvCxnSpPr>
            <a:cxnSpLocks/>
          </p:cNvCxnSpPr>
          <p:nvPr/>
        </p:nvCxnSpPr>
        <p:spPr>
          <a:xfrm rot="16200000" flipH="1">
            <a:off x="8427552" y="3710772"/>
            <a:ext cx="2027259" cy="1554476"/>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9AA9A41E-D439-B0D2-C9B1-159EA2AE654A}"/>
              </a:ext>
            </a:extLst>
          </p:cNvPr>
          <p:cNvSpPr txBox="1"/>
          <p:nvPr/>
        </p:nvSpPr>
        <p:spPr>
          <a:xfrm>
            <a:off x="8663943" y="6279183"/>
            <a:ext cx="1144905" cy="369332"/>
          </a:xfrm>
          <a:prstGeom prst="rect">
            <a:avLst/>
          </a:prstGeom>
          <a:noFill/>
        </p:spPr>
        <p:txBody>
          <a:bodyPr wrap="square">
            <a:spAutoFit/>
          </a:bodyPr>
          <a:lstStyle/>
          <a:p>
            <a:r>
              <a:rPr lang="zh-CN" altLang="en-US" dirty="0"/>
              <a:t>时序差分</a:t>
            </a:r>
          </a:p>
        </p:txBody>
      </p:sp>
    </p:spTree>
    <p:extLst>
      <p:ext uri="{BB962C8B-B14F-4D97-AF65-F5344CB8AC3E}">
        <p14:creationId xmlns:p14="http://schemas.microsoft.com/office/powerpoint/2010/main" val="410586504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79" y="743673"/>
            <a:ext cx="8129244" cy="481209"/>
            <a:chOff x="4099943" y="2836578"/>
            <a:chExt cx="2799211" cy="481209"/>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099943" y="2836578"/>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839601" y="2870523"/>
              <a:ext cx="2059553" cy="400110"/>
            </a:xfrm>
            <a:prstGeom prst="rect">
              <a:avLst/>
            </a:prstGeom>
          </p:spPr>
          <p:txBody>
            <a:bodyPr wrap="square">
              <a:spAutoFit/>
            </a:bodyPr>
            <a:lstStyle/>
            <a:p>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深度强化学习在围棋游戏中的应用</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50937"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四、深度强化学习应用</a:t>
            </a:r>
          </a:p>
        </p:txBody>
      </p:sp>
      <p:pic>
        <p:nvPicPr>
          <p:cNvPr id="7" name="图片 6">
            <a:extLst>
              <a:ext uri="{FF2B5EF4-FFF2-40B4-BE49-F238E27FC236}">
                <a16:creationId xmlns:a16="http://schemas.microsoft.com/office/drawing/2014/main" id="{9F8B31FF-8C4D-4D60-87B5-7DF42F5D2ABC}"/>
              </a:ext>
            </a:extLst>
          </p:cNvPr>
          <p:cNvPicPr>
            <a:picLocks noChangeAspect="1"/>
          </p:cNvPicPr>
          <p:nvPr/>
        </p:nvPicPr>
        <p:blipFill>
          <a:blip r:embed="rId3"/>
          <a:stretch>
            <a:fillRect/>
          </a:stretch>
        </p:blipFill>
        <p:spPr>
          <a:xfrm>
            <a:off x="623836" y="2486668"/>
            <a:ext cx="4838949" cy="2352618"/>
          </a:xfrm>
          <a:prstGeom prst="rect">
            <a:avLst/>
          </a:prstGeom>
        </p:spPr>
      </p:pic>
      <p:pic>
        <p:nvPicPr>
          <p:cNvPr id="8" name="图片 7">
            <a:extLst>
              <a:ext uri="{FF2B5EF4-FFF2-40B4-BE49-F238E27FC236}">
                <a16:creationId xmlns:a16="http://schemas.microsoft.com/office/drawing/2014/main" id="{FF6415C7-BAC0-476C-8180-80F5D7EB455F}"/>
              </a:ext>
            </a:extLst>
          </p:cNvPr>
          <p:cNvPicPr>
            <a:picLocks noChangeAspect="1"/>
          </p:cNvPicPr>
          <p:nvPr/>
        </p:nvPicPr>
        <p:blipFill>
          <a:blip r:embed="rId4"/>
          <a:stretch>
            <a:fillRect/>
          </a:stretch>
        </p:blipFill>
        <p:spPr>
          <a:xfrm>
            <a:off x="6063346" y="1906685"/>
            <a:ext cx="4788146" cy="3832422"/>
          </a:xfrm>
          <a:prstGeom prst="rect">
            <a:avLst/>
          </a:prstGeom>
        </p:spPr>
      </p:pic>
    </p:spTree>
    <p:extLst>
      <p:ext uri="{BB962C8B-B14F-4D97-AF65-F5344CB8AC3E}">
        <p14:creationId xmlns:p14="http://schemas.microsoft.com/office/powerpoint/2010/main" val="192594762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78" y="743673"/>
            <a:ext cx="7398782" cy="481209"/>
            <a:chOff x="4099943" y="2836578"/>
            <a:chExt cx="2547685" cy="481209"/>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099943" y="2836578"/>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588075" y="2858951"/>
              <a:ext cx="2059553" cy="400110"/>
            </a:xfrm>
            <a:prstGeom prst="rect">
              <a:avLst/>
            </a:prstGeom>
          </p:spPr>
          <p:txBody>
            <a:bodyPr wrap="square">
              <a:spAutoFit/>
            </a:bodyPr>
            <a:lstStyle/>
            <a:p>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实验：</a:t>
              </a:r>
              <a:r>
                <a:rPr lang="zh-CN" altLang="en-US" sz="2000" b="1" i="0" dirty="0">
                  <a:solidFill>
                    <a:srgbClr val="000000"/>
                  </a:solidFill>
                  <a:effectLst/>
                  <a:latin typeface="pingfang SC"/>
                </a:rPr>
                <a:t>深度</a:t>
              </a:r>
              <a:r>
                <a:rPr lang="en-US" altLang="zh-CN" sz="2000" b="1" i="0" dirty="0">
                  <a:solidFill>
                    <a:srgbClr val="000000"/>
                  </a:solidFill>
                  <a:effectLst/>
                  <a:latin typeface="pingfang SC"/>
                </a:rPr>
                <a:t>Q</a:t>
              </a:r>
              <a:r>
                <a:rPr lang="zh-CN" altLang="en-US" sz="2000" b="1" i="0" dirty="0">
                  <a:solidFill>
                    <a:srgbClr val="000000"/>
                  </a:solidFill>
                  <a:effectLst/>
                  <a:latin typeface="pingfang SC"/>
                </a:rPr>
                <a:t>网络</a:t>
              </a:r>
              <a:r>
                <a:rPr lang="en-US" altLang="zh-CN" sz="2000" b="1" i="0" dirty="0">
                  <a:solidFill>
                    <a:srgbClr val="000000"/>
                  </a:solidFill>
                  <a:effectLst/>
                  <a:latin typeface="pingfang SC"/>
                </a:rPr>
                <a:t>DQN - Cart pole </a:t>
              </a:r>
              <a:r>
                <a:rPr lang="zh-CN" altLang="en-US" sz="2000" b="1" i="0" dirty="0">
                  <a:solidFill>
                    <a:srgbClr val="000000"/>
                  </a:solidFill>
                  <a:effectLst/>
                  <a:latin typeface="pingfang SC"/>
                </a:rPr>
                <a:t>游戏</a:t>
              </a:r>
              <a:endParaRPr lang="en-US" altLang="zh-CN" sz="2000" b="1" i="0" dirty="0">
                <a:solidFill>
                  <a:srgbClr val="000000"/>
                </a:solidFill>
                <a:effectLst/>
                <a:latin typeface="pingfang SC"/>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50937"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四、深度强化学习应用</a:t>
            </a:r>
          </a:p>
        </p:txBody>
      </p:sp>
      <p:pic>
        <p:nvPicPr>
          <p:cNvPr id="1026" name="Picture 2">
            <a:extLst>
              <a:ext uri="{FF2B5EF4-FFF2-40B4-BE49-F238E27FC236}">
                <a16:creationId xmlns:a16="http://schemas.microsoft.com/office/drawing/2014/main" id="{E51E9159-F3CA-DE17-35FF-8039291E63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1666" y="1854926"/>
            <a:ext cx="5251268" cy="3500845"/>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3EA16480-629B-D30A-B8EB-C993A09477B5}"/>
              </a:ext>
            </a:extLst>
          </p:cNvPr>
          <p:cNvSpPr txBox="1"/>
          <p:nvPr/>
        </p:nvSpPr>
        <p:spPr>
          <a:xfrm>
            <a:off x="68697" y="1487782"/>
            <a:ext cx="6277380" cy="5324535"/>
          </a:xfrm>
          <a:prstGeom prst="rect">
            <a:avLst/>
          </a:prstGeom>
          <a:noFill/>
        </p:spPr>
        <p:txBody>
          <a:bodyPr wrap="square">
            <a:spAutoFit/>
          </a:bodyPr>
          <a:lstStyle/>
          <a:p>
            <a:r>
              <a:rPr lang="zh-CN" altLang="en-US" sz="2000" b="1" dirty="0"/>
              <a:t>实验内容：</a:t>
            </a:r>
          </a:p>
          <a:p>
            <a:r>
              <a:rPr lang="en-US" altLang="zh-CN" sz="2000" b="0" i="0" dirty="0">
                <a:effectLst/>
                <a:latin typeface="Inter"/>
              </a:rPr>
              <a:t>Cart Pole</a:t>
            </a:r>
            <a:r>
              <a:rPr lang="zh-CN" altLang="en-US" sz="2000" b="0" i="0" dirty="0">
                <a:effectLst/>
                <a:latin typeface="Inter"/>
              </a:rPr>
              <a:t>（又称推车倒立摆）是</a:t>
            </a:r>
            <a:r>
              <a:rPr lang="zh-CN" altLang="en-US" sz="2000" b="1" i="0" dirty="0">
                <a:solidFill>
                  <a:srgbClr val="000000"/>
                </a:solidFill>
                <a:effectLst/>
                <a:latin typeface="Inter"/>
              </a:rPr>
              <a:t>强化学习领域经典的基准测试任务</a:t>
            </a:r>
            <a:r>
              <a:rPr lang="zh-CN" altLang="en-US" sz="2000" b="0" i="0" dirty="0">
                <a:effectLst/>
                <a:latin typeface="Inter"/>
              </a:rPr>
              <a:t>，常见于 </a:t>
            </a:r>
            <a:r>
              <a:rPr lang="en-US" altLang="zh-CN" sz="2000" b="0" i="0" dirty="0">
                <a:effectLst/>
                <a:latin typeface="Inter"/>
              </a:rPr>
              <a:t>OpenAI Gym </a:t>
            </a:r>
            <a:r>
              <a:rPr lang="zh-CN" altLang="en-US" sz="2000" b="0" i="0" dirty="0">
                <a:effectLst/>
                <a:latin typeface="Inter"/>
              </a:rPr>
              <a:t>等强化学习工具库中，其核心是控制小车左右移动，让杆子尽可能长时间保持竖直。一旦杆子倾斜角度超出阈值（常见 </a:t>
            </a:r>
            <a:r>
              <a:rPr lang="en-US" altLang="zh-CN" sz="2000" b="0" i="0" dirty="0">
                <a:effectLst/>
                <a:latin typeface="Inter"/>
              </a:rPr>
              <a:t>±12° </a:t>
            </a:r>
            <a:r>
              <a:rPr lang="zh-CN" altLang="en-US" sz="2000" b="0" i="0" dirty="0">
                <a:effectLst/>
                <a:latin typeface="Inter"/>
              </a:rPr>
              <a:t>或 </a:t>
            </a:r>
            <a:r>
              <a:rPr lang="en-US" altLang="zh-CN" sz="2000" b="0" i="0" dirty="0">
                <a:effectLst/>
                <a:latin typeface="Inter"/>
              </a:rPr>
              <a:t>±24°</a:t>
            </a:r>
            <a:r>
              <a:rPr lang="zh-CN" altLang="en-US" sz="2000" b="0" i="0" dirty="0">
                <a:effectLst/>
                <a:latin typeface="Inter"/>
              </a:rPr>
              <a:t>）、小车偏离初始位置超出轨道范围（常见 </a:t>
            </a:r>
            <a:r>
              <a:rPr lang="en-US" altLang="zh-CN" sz="2000" b="0" i="0" dirty="0">
                <a:effectLst/>
                <a:latin typeface="Inter"/>
              </a:rPr>
              <a:t>±2.4 </a:t>
            </a:r>
            <a:r>
              <a:rPr lang="zh-CN" altLang="en-US" sz="2000" b="0" i="0" dirty="0">
                <a:effectLst/>
                <a:latin typeface="Inter"/>
              </a:rPr>
              <a:t>单位），则任务终止。</a:t>
            </a:r>
            <a:endParaRPr lang="en-US" altLang="zh-CN" sz="2000" b="0" i="0" dirty="0">
              <a:effectLst/>
              <a:latin typeface="Inter"/>
            </a:endParaRPr>
          </a:p>
          <a:p>
            <a:r>
              <a:rPr lang="zh-CN" altLang="en-US" sz="2000" b="1" dirty="0"/>
              <a:t>实验要求：</a:t>
            </a:r>
          </a:p>
          <a:p>
            <a:pPr marL="228600" indent="-228600">
              <a:buFont typeface="+mj-lt"/>
              <a:buAutoNum type="arabicPeriod"/>
            </a:pPr>
            <a:r>
              <a:rPr lang="zh-CN" altLang="en-US" sz="2000" dirty="0"/>
              <a:t>使用</a:t>
            </a:r>
            <a:r>
              <a:rPr lang="en-US" altLang="zh-CN" sz="2000" dirty="0"/>
              <a:t>Python</a:t>
            </a:r>
            <a:r>
              <a:rPr lang="zh-CN" altLang="en-US" sz="2000" dirty="0"/>
              <a:t>语言和</a:t>
            </a:r>
            <a:r>
              <a:rPr lang="en-US" altLang="zh-CN" sz="2000" dirty="0" err="1"/>
              <a:t>pytorch</a:t>
            </a:r>
            <a:r>
              <a:rPr lang="zh-CN" altLang="en-US" sz="2000" dirty="0"/>
              <a:t>神经网络框架，并使用</a:t>
            </a:r>
            <a:r>
              <a:rPr lang="en-US" altLang="zh-CN" sz="2000" dirty="0"/>
              <a:t>DQN</a:t>
            </a:r>
            <a:r>
              <a:rPr lang="zh-CN" altLang="en-US" sz="2000" dirty="0"/>
              <a:t>算法来实验</a:t>
            </a:r>
          </a:p>
          <a:p>
            <a:pPr marL="228600" indent="-228600">
              <a:buFont typeface="+mj-lt"/>
              <a:buAutoNum type="arabicPeriod"/>
            </a:pPr>
            <a:r>
              <a:rPr lang="zh-CN" altLang="en-US" sz="2000" dirty="0"/>
              <a:t>报告里要说明</a:t>
            </a:r>
            <a:r>
              <a:rPr lang="en-US" altLang="zh-CN" sz="2000" dirty="0"/>
              <a:t>MDP</a:t>
            </a:r>
            <a:r>
              <a:rPr lang="zh-CN" altLang="en-US" sz="2000" dirty="0"/>
              <a:t>的五个要素，展示</a:t>
            </a:r>
            <a:r>
              <a:rPr lang="en-US" altLang="zh-CN" sz="2000" dirty="0"/>
              <a:t>reward</a:t>
            </a:r>
            <a:r>
              <a:rPr lang="zh-CN" altLang="en-US" sz="2000" dirty="0"/>
              <a:t>曲线</a:t>
            </a:r>
            <a:endParaRPr lang="en-US" altLang="zh-CN" sz="2000" dirty="0"/>
          </a:p>
          <a:p>
            <a:pPr marL="228600" indent="-228600">
              <a:buFont typeface="+mj-lt"/>
              <a:buAutoNum type="arabicPeriod"/>
            </a:pPr>
            <a:r>
              <a:rPr lang="zh-CN" altLang="en-US" sz="2000" dirty="0"/>
              <a:t>小推车维持平衡的时间要尽可能长</a:t>
            </a:r>
            <a:endParaRPr lang="en-US" altLang="zh-CN" sz="2000" dirty="0"/>
          </a:p>
          <a:p>
            <a:r>
              <a:rPr lang="zh-CN" altLang="en-US" sz="2000" b="1" dirty="0"/>
              <a:t>提交事项：</a:t>
            </a:r>
            <a:endParaRPr lang="en-US" altLang="zh-CN" sz="2000" b="1" dirty="0"/>
          </a:p>
          <a:p>
            <a:pPr marL="228600" indent="-228600">
              <a:buFontTx/>
              <a:buAutoNum type="arabicPeriod"/>
            </a:pPr>
            <a:r>
              <a:rPr lang="zh-CN" altLang="en-US" sz="2000" dirty="0"/>
              <a:t>提交时间：</a:t>
            </a:r>
            <a:r>
              <a:rPr lang="en-US" altLang="zh-CN" sz="2000" dirty="0"/>
              <a:t>2025</a:t>
            </a:r>
            <a:r>
              <a:rPr lang="zh-CN" altLang="en-US" sz="2000" dirty="0"/>
              <a:t> 年</a:t>
            </a:r>
            <a:r>
              <a:rPr lang="en-US" altLang="zh-CN" sz="2000" dirty="0"/>
              <a:t>12</a:t>
            </a:r>
            <a:r>
              <a:rPr lang="zh-CN" altLang="en-US" sz="2000" dirty="0"/>
              <a:t>月</a:t>
            </a:r>
            <a:r>
              <a:rPr lang="en-US" altLang="zh-CN" sz="2000" dirty="0"/>
              <a:t>14</a:t>
            </a:r>
            <a:r>
              <a:rPr lang="zh-CN" altLang="en-US" sz="2000" dirty="0"/>
              <a:t> 日</a:t>
            </a:r>
            <a:r>
              <a:rPr lang="en-US" altLang="zh-CN" sz="2000" dirty="0"/>
              <a:t>24</a:t>
            </a:r>
            <a:r>
              <a:rPr lang="zh-CN" altLang="en-US" sz="2000" dirty="0"/>
              <a:t>：</a:t>
            </a:r>
            <a:r>
              <a:rPr lang="en-US" altLang="zh-CN" sz="2000" dirty="0"/>
              <a:t>00</a:t>
            </a:r>
          </a:p>
          <a:p>
            <a:pPr marL="228600" indent="-228600">
              <a:buAutoNum type="arabicPeriod"/>
            </a:pPr>
            <a:r>
              <a:rPr lang="zh-CN" altLang="en-US" sz="2000" dirty="0"/>
              <a:t>提交内容：源代码和报告（</a:t>
            </a:r>
            <a:r>
              <a:rPr lang="zh-CN" altLang="en-US" sz="2000" dirty="0">
                <a:solidFill>
                  <a:srgbClr val="FF0000"/>
                </a:solidFill>
              </a:rPr>
              <a:t>禁止抄袭！</a:t>
            </a:r>
            <a:r>
              <a:rPr lang="zh-CN" altLang="en-US" sz="2000" dirty="0"/>
              <a:t>）</a:t>
            </a:r>
            <a:endParaRPr lang="en-US" altLang="zh-CN" sz="2000" dirty="0"/>
          </a:p>
          <a:p>
            <a:pPr marL="228600" indent="-228600">
              <a:buFontTx/>
              <a:buAutoNum type="arabicPeriod"/>
            </a:pPr>
            <a:r>
              <a:rPr lang="zh-CN" altLang="en-US" sz="2000" dirty="0"/>
              <a:t>提交邮箱：</a:t>
            </a:r>
            <a:r>
              <a:rPr lang="en-US" altLang="zh-CN" sz="2000" dirty="0">
                <a:hlinkClick r:id="rId4"/>
              </a:rPr>
              <a:t>23020251154393@stu.xmu.edu.cn</a:t>
            </a:r>
            <a:r>
              <a:rPr lang="zh-CN" altLang="en-US" sz="2000" dirty="0"/>
              <a:t>（助教邮箱）</a:t>
            </a:r>
          </a:p>
        </p:txBody>
      </p:sp>
    </p:spTree>
    <p:extLst>
      <p:ext uri="{BB962C8B-B14F-4D97-AF65-F5344CB8AC3E}">
        <p14:creationId xmlns:p14="http://schemas.microsoft.com/office/powerpoint/2010/main" val="206187506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79" y="743673"/>
            <a:ext cx="8129244" cy="481209"/>
            <a:chOff x="4099943" y="2836578"/>
            <a:chExt cx="2799211" cy="481209"/>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099943" y="2836578"/>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839601" y="2870523"/>
              <a:ext cx="2059553" cy="400110"/>
            </a:xfrm>
            <a:prstGeom prst="rect">
              <a:avLst/>
            </a:prstGeom>
          </p:spPr>
          <p:txBody>
            <a:bodyPr wrap="square">
              <a:spAutoFit/>
            </a:bodyPr>
            <a:lstStyle/>
            <a:p>
              <a:r>
                <a:rPr lang="zh-CN" altLang="en-US" sz="2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深度强化学习应用中面临挑战</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50937"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rPr>
              <a:t>四、深度强化学习应用</a:t>
            </a:r>
          </a:p>
        </p:txBody>
      </p:sp>
      <p:sp>
        <p:nvSpPr>
          <p:cNvPr id="10" name="矩形: 圆角 6">
            <a:extLst>
              <a:ext uri="{FF2B5EF4-FFF2-40B4-BE49-F238E27FC236}">
                <a16:creationId xmlns:a16="http://schemas.microsoft.com/office/drawing/2014/main" id="{0F8BFB39-FD26-4E03-96AA-4631ACCBF530}"/>
              </a:ext>
            </a:extLst>
          </p:cNvPr>
          <p:cNvSpPr/>
          <p:nvPr/>
        </p:nvSpPr>
        <p:spPr>
          <a:xfrm>
            <a:off x="3918115" y="1927274"/>
            <a:ext cx="4599609" cy="3718560"/>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a16="http://schemas.microsoft.com/office/drawing/2014/main" id="{F3256411-D6FA-4B14-8093-69AEF2A98F45}"/>
              </a:ext>
            </a:extLst>
          </p:cNvPr>
          <p:cNvSpPr/>
          <p:nvPr/>
        </p:nvSpPr>
        <p:spPr>
          <a:xfrm>
            <a:off x="4497237" y="2018981"/>
            <a:ext cx="3818126" cy="3576428"/>
          </a:xfrm>
          <a:prstGeom prst="rect">
            <a:avLst/>
          </a:prstGeom>
        </p:spPr>
        <p:txBody>
          <a:bodyPr wrap="square">
            <a:spAutoFit/>
          </a:bodyPr>
          <a:lstStyle/>
          <a:p>
            <a:pPr marL="342900" indent="-342900">
              <a:lnSpc>
                <a:spcPct val="200000"/>
              </a:lnSpc>
              <a:buFont typeface="Wingdings" panose="05000000000000000000" pitchFamily="2" charset="2"/>
              <a:buChar char="l"/>
            </a:pPr>
            <a:r>
              <a:rPr lang="zh-CN" altLang="en-US"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奖励的设置</a:t>
            </a:r>
          </a:p>
          <a:p>
            <a:pPr marL="342900" indent="-342900">
              <a:lnSpc>
                <a:spcPct val="200000"/>
              </a:lnSpc>
              <a:buFont typeface="Wingdings" panose="05000000000000000000" pitchFamily="2" charset="2"/>
              <a:buChar char="l"/>
            </a:pPr>
            <a:r>
              <a:rPr lang="zh-CN" altLang="en-US"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样本的采集</a:t>
            </a:r>
          </a:p>
          <a:p>
            <a:pPr marL="342900" indent="-342900">
              <a:lnSpc>
                <a:spcPct val="200000"/>
              </a:lnSpc>
              <a:buFont typeface="Wingdings" panose="05000000000000000000" pitchFamily="2" charset="2"/>
              <a:buChar char="l"/>
            </a:pPr>
            <a:r>
              <a:rPr lang="zh-CN" altLang="en-US"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局部最优解与探索</a:t>
            </a:r>
          </a:p>
          <a:p>
            <a:pPr marL="342900" indent="-342900">
              <a:lnSpc>
                <a:spcPct val="200000"/>
              </a:lnSpc>
              <a:buFont typeface="Wingdings" panose="05000000000000000000" pitchFamily="2" charset="2"/>
              <a:buChar char="l"/>
            </a:pPr>
            <a:r>
              <a:rPr lang="zh-CN" altLang="en-US"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训练时的不稳定性与方差</a:t>
            </a:r>
          </a:p>
          <a:p>
            <a:pPr marL="342900" indent="-342900">
              <a:lnSpc>
                <a:spcPct val="200000"/>
              </a:lnSpc>
              <a:buFont typeface="Wingdings" panose="05000000000000000000" pitchFamily="2" charset="2"/>
              <a:buChar char="l"/>
            </a:pPr>
            <a:r>
              <a:rPr lang="zh-CN" altLang="en-US"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泛化和迁移能力</a:t>
            </a:r>
          </a:p>
          <a:p>
            <a:pPr marL="342900" indent="-342900" algn="just">
              <a:lnSpc>
                <a:spcPct val="150000"/>
              </a:lnSpc>
              <a:buFont typeface="Wingdings" panose="05000000000000000000" pitchFamily="2" charset="2"/>
              <a:buChar char="l"/>
            </a:pPr>
            <a:endParaRPr lang="en-US" altLang="zh-CN"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46866291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21547" y="725888"/>
            <a:ext cx="11595798" cy="5601196"/>
          </a:xfrm>
          <a:prstGeom prst="rect">
            <a:avLst/>
          </a:prstGeom>
          <a:solidFill>
            <a:srgbClr val="EEF7F8"/>
          </a:solidFill>
          <a:ln>
            <a:noFill/>
          </a:ln>
          <a:effectLst>
            <a:outerShdw blurRad="495300" dist="241300" dir="2700000" algn="tl" rotWithShape="0">
              <a:srgbClr val="222222">
                <a:alpha val="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nvGrpSpPr>
          <p:cNvPr id="7" name="组合 6"/>
          <p:cNvGrpSpPr/>
          <p:nvPr/>
        </p:nvGrpSpPr>
        <p:grpSpPr>
          <a:xfrm>
            <a:off x="590994" y="584180"/>
            <a:ext cx="2579459" cy="708913"/>
            <a:chOff x="3509228" y="1296644"/>
            <a:chExt cx="2754111" cy="756910"/>
          </a:xfrm>
          <a:effectLst/>
        </p:grpSpPr>
        <p:sp>
          <p:nvSpPr>
            <p:cNvPr id="8" name="立方体 7"/>
            <p:cNvSpPr/>
            <p:nvPr/>
          </p:nvSpPr>
          <p:spPr>
            <a:xfrm>
              <a:off x="3522589" y="1312169"/>
              <a:ext cx="2740750" cy="738665"/>
            </a:xfrm>
            <a:prstGeom prst="cube">
              <a:avLst>
                <a:gd name="adj" fmla="val 9465"/>
              </a:avLst>
            </a:prstGeom>
            <a:solidFill>
              <a:srgbClr val="0076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3520104" y="1385123"/>
              <a:ext cx="2658236" cy="668431"/>
              <a:chOff x="766780" y="725067"/>
              <a:chExt cx="3103577" cy="780415"/>
            </a:xfrm>
          </p:grpSpPr>
          <p:grpSp>
            <p:nvGrpSpPr>
              <p:cNvPr id="14" name="组合 13"/>
              <p:cNvGrpSpPr/>
              <p:nvPr/>
            </p:nvGrpSpPr>
            <p:grpSpPr>
              <a:xfrm>
                <a:off x="766780" y="728242"/>
                <a:ext cx="777240" cy="777240"/>
                <a:chOff x="1908810" y="1131040"/>
                <a:chExt cx="777240" cy="777240"/>
              </a:xfrm>
            </p:grpSpPr>
            <p:sp>
              <p:nvSpPr>
                <p:cNvPr id="33" name="矩形 32"/>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4" name="直接连接符 33"/>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 name="直接连接符 35"/>
                <p:cNvCxnSpPr>
                  <a:endCxn id="33"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 name="直接连接符 36"/>
                <p:cNvCxnSpPr>
                  <a:endCxn id="33"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541549" y="725067"/>
                <a:ext cx="777240" cy="777240"/>
                <a:chOff x="1908810" y="1131040"/>
                <a:chExt cx="777240" cy="777240"/>
              </a:xfrm>
            </p:grpSpPr>
            <p:sp>
              <p:nvSpPr>
                <p:cNvPr id="28" name="矩形 27"/>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30"/>
                <p:cNvCxnSpPr>
                  <a:endCxn id="28"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31"/>
                <p:cNvCxnSpPr>
                  <a:endCxn id="28"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2316784" y="725067"/>
                <a:ext cx="777240" cy="777240"/>
                <a:chOff x="1908810" y="1131040"/>
                <a:chExt cx="777240" cy="777240"/>
              </a:xfrm>
            </p:grpSpPr>
            <p:sp>
              <p:nvSpPr>
                <p:cNvPr id="23" name="矩形 22"/>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连接符 23"/>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a:endCxn id="23"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23"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3093117" y="725067"/>
                <a:ext cx="777240" cy="777240"/>
                <a:chOff x="1908810" y="1131040"/>
                <a:chExt cx="777240" cy="777240"/>
              </a:xfrm>
            </p:grpSpPr>
            <p:sp>
              <p:nvSpPr>
                <p:cNvPr id="18" name="矩形 17"/>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a:endCxn id="18"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 name="直接连接符 21"/>
                <p:cNvCxnSpPr>
                  <a:endCxn id="18"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sp>
          <p:nvSpPr>
            <p:cNvPr id="10" name="矩形 9"/>
            <p:cNvSpPr/>
            <p:nvPr/>
          </p:nvSpPr>
          <p:spPr>
            <a:xfrm>
              <a:off x="3509228" y="1300957"/>
              <a:ext cx="671979" cy="677107"/>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延</a:t>
              </a:r>
            </a:p>
          </p:txBody>
        </p:sp>
        <p:sp>
          <p:nvSpPr>
            <p:cNvPr id="11" name="矩形 10"/>
            <p:cNvSpPr/>
            <p:nvPr/>
          </p:nvSpPr>
          <p:spPr>
            <a:xfrm>
              <a:off x="4183692" y="1298239"/>
              <a:ext cx="671979" cy="677108"/>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伸</a:t>
              </a:r>
            </a:p>
          </p:txBody>
        </p:sp>
        <p:sp>
          <p:nvSpPr>
            <p:cNvPr id="12" name="矩形 11"/>
            <p:cNvSpPr/>
            <p:nvPr/>
          </p:nvSpPr>
          <p:spPr>
            <a:xfrm>
              <a:off x="4846347" y="1297103"/>
              <a:ext cx="671979" cy="677108"/>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阅</a:t>
              </a:r>
            </a:p>
          </p:txBody>
        </p:sp>
        <p:sp>
          <p:nvSpPr>
            <p:cNvPr id="13" name="矩形 12"/>
            <p:cNvSpPr/>
            <p:nvPr/>
          </p:nvSpPr>
          <p:spPr>
            <a:xfrm>
              <a:off x="5506300" y="1296644"/>
              <a:ext cx="671979" cy="677108"/>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读</a:t>
              </a:r>
            </a:p>
          </p:txBody>
        </p:sp>
      </p:grpSp>
      <p:sp>
        <p:nvSpPr>
          <p:cNvPr id="40" name="矩形 39"/>
          <p:cNvSpPr/>
          <p:nvPr/>
        </p:nvSpPr>
        <p:spPr>
          <a:xfrm>
            <a:off x="512664" y="1477846"/>
            <a:ext cx="11275023" cy="5663089"/>
          </a:xfrm>
          <a:prstGeom prst="rect">
            <a:avLst/>
          </a:prstGeom>
        </p:spPr>
        <p:txBody>
          <a:bodyPr wrap="square">
            <a:spAutoFit/>
          </a:bodyPr>
          <a:lstStyle/>
          <a:p>
            <a:pPr>
              <a:lnSpc>
                <a:spcPct val="150000"/>
              </a:lnSpc>
            </a:pPr>
            <a:r>
              <a:rPr lang="zh-CN" altLang="zh-CN"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学科交叉使然</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：强化学习理论形成来自于控制领域和机器学习领域两种研究相互结合：控制领域中贝尔曼方程（动态规划）以及机器学习领域试错法（</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trial-and-error</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a:t>
            </a:r>
          </a:p>
          <a:p>
            <a:pPr>
              <a:lnSpc>
                <a:spcPct val="150000"/>
              </a:lnSpc>
            </a:pPr>
            <a:r>
              <a:rPr lang="zh-CN" altLang="zh-CN"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控制领域贡献</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1951</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年美国数学家贝尔曼（</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R</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Bellman</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）提出了贝尔曼方程，指出可以把序贯决策问题转换为一系列互相联系的子过程问题加以解决。为此，他提出了解决这类问题的</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最优化原理</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”(Principle of optimality)</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：一个过程的最优决策具有这样的性质，即无论其初始状态和初始决策如何，其今后诸策略对以第一个决策所形成的状态作为初始状态的过程而言，必须构成最优策略。</a:t>
            </a:r>
          </a:p>
          <a:p>
            <a:pPr>
              <a:lnSpc>
                <a:spcPct val="150000"/>
              </a:lnSpc>
            </a:pPr>
            <a:r>
              <a:rPr lang="zh-CN" altLang="zh-CN"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强化学习升华</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：在贝尔曼等人杰出工作推动下，强化学习开始奠定了坚实数学理论基础和潜在工程应用前景：奖励惩罚由</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价值函数</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动作</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价值函数</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联动完成，行为策略优化由</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基于马尔可夫决策的动态规划</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完成。从此，强化学习从</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摸着石头过河</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之勇蝶变升华为</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先知后行</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之雅。</a:t>
            </a:r>
          </a:p>
          <a:p>
            <a:pPr>
              <a:lnSpc>
                <a:spcPct val="150000"/>
              </a:lnSpc>
            </a:pPr>
            <a:r>
              <a:rPr lang="zh-CN" altLang="zh-CN"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强化学习内在趋利</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20</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世纪</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70</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年代初，在俄亥俄州空军研究实验室担任高级科学家的</a:t>
            </a:r>
            <a:r>
              <a:rPr lang="en-US" altLang="zh-CN" sz="1400" dirty="0" err="1">
                <a:latin typeface="Times New Roman" panose="02020603050405020304" pitchFamily="18" charset="0"/>
                <a:ea typeface="微软雅黑" panose="020B0503020204020204" pitchFamily="34" charset="-122"/>
                <a:cs typeface="Times New Roman" panose="02020603050405020304" pitchFamily="18" charset="0"/>
              </a:rPr>
              <a:t>A.Harry</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00" dirty="0" err="1">
                <a:latin typeface="Times New Roman" panose="02020603050405020304" pitchFamily="18" charset="0"/>
                <a:ea typeface="微软雅黑" panose="020B0503020204020204" pitchFamily="34" charset="-122"/>
                <a:cs typeface="Times New Roman" panose="02020603050405020304" pitchFamily="18" charset="0"/>
              </a:rPr>
              <a:t>Klopf</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认识到强化学习与监督学习存在本质不同，强调强化学习具有内在趋利（</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hedonistic</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）的独特性质。受</a:t>
            </a:r>
            <a:r>
              <a:rPr lang="en-US" altLang="zh-CN" sz="1400" dirty="0" err="1">
                <a:latin typeface="Times New Roman" panose="02020603050405020304" pitchFamily="18" charset="0"/>
                <a:ea typeface="微软雅黑" panose="020B0503020204020204" pitchFamily="34" charset="-122"/>
                <a:cs typeface="Times New Roman" panose="02020603050405020304" pitchFamily="18" charset="0"/>
              </a:rPr>
              <a:t>Klopf</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思想的启发，理查德</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桑顿（</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Richard S. Sutton</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）、安德鲁</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巴图（</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Andrew G. </a:t>
            </a:r>
            <a:r>
              <a:rPr lang="en-US" altLang="zh-CN" sz="1400" dirty="0" err="1">
                <a:latin typeface="Times New Roman" panose="02020603050405020304" pitchFamily="18" charset="0"/>
                <a:ea typeface="微软雅黑" panose="020B0503020204020204" pitchFamily="34" charset="-122"/>
                <a:cs typeface="Times New Roman" panose="02020603050405020304" pitchFamily="18" charset="0"/>
              </a:rPr>
              <a:t>Barto</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）等学者于</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20</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世纪</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80</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年代把最优化原理控制和试错学习优化整合为一个框架，在这个框架中把时序差分概念和方法完整应用于策略函数学习，助力强化学习崛起。</a:t>
            </a:r>
          </a:p>
          <a:p>
            <a:pPr>
              <a:lnSpc>
                <a:spcPct val="150000"/>
              </a:lnSpc>
            </a:pPr>
            <a:r>
              <a:rPr lang="zh-CN" altLang="zh-CN"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深度强化学习</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1989</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年英国学者</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Chris Watkins</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等人提出了著名的</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Q-learning</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算法成功把最优控制、时间差分法和试错法结合起来，这是强化学习历史上一个里程碑工作。</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2013 </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年</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12 </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月份，</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DeepMind</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提出了</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Deep Q-Network</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DQN</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），用深度神经网络来计算</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Q </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函数，解决了传统</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Q-learning</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中无法克服维度灾难的挑战，掀开了深度强化学习的篇章。</a:t>
            </a:r>
          </a:p>
          <a:p>
            <a:endParaRPr lang="zh-CN" altLang="zh-CN" sz="1700" dirty="0">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1700" dirty="0">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1700" dirty="0">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1700"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48" name="组合 47"/>
          <p:cNvGrpSpPr/>
          <p:nvPr/>
        </p:nvGrpSpPr>
        <p:grpSpPr>
          <a:xfrm flipH="1">
            <a:off x="11065702" y="671669"/>
            <a:ext cx="851673" cy="853582"/>
            <a:chOff x="5244327" y="2299574"/>
            <a:chExt cx="851673" cy="853582"/>
          </a:xfrm>
        </p:grpSpPr>
        <p:sp>
          <p:nvSpPr>
            <p:cNvPr id="49" name="L 形 48"/>
            <p:cNvSpPr/>
            <p:nvPr/>
          </p:nvSpPr>
          <p:spPr>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L 形 49"/>
            <p:cNvSpPr/>
            <p:nvPr/>
          </p:nvSpPr>
          <p:spPr>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2" name="组合 51"/>
          <p:cNvGrpSpPr/>
          <p:nvPr/>
        </p:nvGrpSpPr>
        <p:grpSpPr>
          <a:xfrm flipV="1">
            <a:off x="321517" y="5450957"/>
            <a:ext cx="851673" cy="853582"/>
            <a:chOff x="5244327" y="2299574"/>
            <a:chExt cx="851673" cy="853582"/>
          </a:xfrm>
        </p:grpSpPr>
        <p:sp>
          <p:nvSpPr>
            <p:cNvPr id="53" name="L 形 52"/>
            <p:cNvSpPr/>
            <p:nvPr/>
          </p:nvSpPr>
          <p:spPr>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L 形 53"/>
            <p:cNvSpPr/>
            <p:nvPr/>
          </p:nvSpPr>
          <p:spPr>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5" name="组合 54"/>
          <p:cNvGrpSpPr/>
          <p:nvPr/>
        </p:nvGrpSpPr>
        <p:grpSpPr>
          <a:xfrm flipH="1" flipV="1">
            <a:off x="11065672" y="5470438"/>
            <a:ext cx="851673" cy="853582"/>
            <a:chOff x="5244327" y="2299574"/>
            <a:chExt cx="851673" cy="853582"/>
          </a:xfrm>
        </p:grpSpPr>
        <p:sp>
          <p:nvSpPr>
            <p:cNvPr id="56" name="L 形 55"/>
            <p:cNvSpPr/>
            <p:nvPr/>
          </p:nvSpPr>
          <p:spPr>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L 形 56"/>
            <p:cNvSpPr/>
            <p:nvPr/>
          </p:nvSpPr>
          <p:spPr>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a:extLst>
              <a:ext uri="{FF2B5EF4-FFF2-40B4-BE49-F238E27FC236}">
                <a16:creationId xmlns:a16="http://schemas.microsoft.com/office/drawing/2014/main" id="{469AA995-01A2-4488-8818-4A8D7139E178}"/>
              </a:ext>
            </a:extLst>
          </p:cNvPr>
          <p:cNvSpPr/>
          <p:nvPr/>
        </p:nvSpPr>
        <p:spPr>
          <a:xfrm>
            <a:off x="4016794" y="805251"/>
            <a:ext cx="5416868" cy="461665"/>
          </a:xfrm>
          <a:prstGeom prst="rect">
            <a:avLst/>
          </a:prstGeom>
        </p:spPr>
        <p:txBody>
          <a:bodyPr wrap="none">
            <a:spAutoFit/>
          </a:bodyPr>
          <a:lstStyle/>
          <a:p>
            <a:r>
              <a:rPr lang="zh-CN" altLang="zh-CN" sz="2400" b="1" dirty="0">
                <a:solidFill>
                  <a:srgbClr val="C00000"/>
                </a:solidFill>
                <a:latin typeface="微软雅黑" panose="020B0503020204020204" pitchFamily="34" charset="-122"/>
                <a:ea typeface="微软雅黑" panose="020B0503020204020204" pitchFamily="34" charset="-122"/>
              </a:rPr>
              <a:t>最优化之策与试错术之谏的姻缘结合</a:t>
            </a:r>
            <a:r>
              <a:rPr lang="zh-CN" altLang="en-US" sz="2400" b="1" dirty="0">
                <a:solidFill>
                  <a:srgbClr val="C00000"/>
                </a:solidFill>
                <a:latin typeface="微软雅黑" panose="020B0503020204020204" pitchFamily="34" charset="-122"/>
                <a:ea typeface="微软雅黑" panose="020B0503020204020204" pitchFamily="34" charset="-122"/>
              </a:rPr>
              <a:t>？</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gradFill>
          <a:gsLst>
            <a:gs pos="1000">
              <a:srgbClr val="0093A2">
                <a:alpha val="63000"/>
              </a:srgbClr>
            </a:gs>
            <a:gs pos="91000">
              <a:srgbClr val="013F45"/>
            </a:gs>
          </a:gsLst>
          <a:lin ang="5400000" scaled="0"/>
        </a:gradFill>
        <a:effectLst/>
      </p:bgPr>
    </p:bg>
    <p:spTree>
      <p:nvGrpSpPr>
        <p:cNvPr id="1" name=""/>
        <p:cNvGrpSpPr/>
        <p:nvPr/>
      </p:nvGrpSpPr>
      <p:grpSpPr>
        <a:xfrm>
          <a:off x="0" y="0"/>
          <a:ext cx="0" cy="0"/>
          <a:chOff x="0" y="0"/>
          <a:chExt cx="0" cy="0"/>
        </a:xfrm>
      </p:grpSpPr>
      <p:pic>
        <p:nvPicPr>
          <p:cNvPr id="17" name="图片 16"/>
          <p:cNvPicPr>
            <a:picLocks noChangeAspect="1"/>
          </p:cNvPicPr>
          <p:nvPr/>
        </p:nvPicPr>
        <p:blipFill rotWithShape="1">
          <a:blip r:embed="rId3" cstate="print">
            <a:extLst>
              <a:ext uri="{28A0092B-C50C-407E-A947-70E740481C1C}">
                <a14:useLocalDpi xmlns:a14="http://schemas.microsoft.com/office/drawing/2010/main" val="0"/>
              </a:ext>
            </a:extLst>
          </a:blip>
          <a:srcRect l="24826" t="20686" b="9518"/>
          <a:stretch>
            <a:fillRect/>
          </a:stretch>
        </p:blipFill>
        <p:spPr>
          <a:xfrm rot="992355" flipH="1">
            <a:off x="3875496" y="-237272"/>
            <a:ext cx="9134310" cy="3976491"/>
          </a:xfrm>
          <a:prstGeom prst="rect">
            <a:avLst/>
          </a:prstGeom>
        </p:spPr>
      </p:pic>
      <p:sp>
        <p:nvSpPr>
          <p:cNvPr id="2" name="iṩḻíḑe"/>
          <p:cNvSpPr/>
          <p:nvPr/>
        </p:nvSpPr>
        <p:spPr>
          <a:xfrm>
            <a:off x="1234134" y="823236"/>
            <a:ext cx="10080000" cy="5034224"/>
          </a:xfrm>
          <a:prstGeom prst="snip2DiagRect">
            <a:avLst>
              <a:gd name="adj1" fmla="val 0"/>
              <a:gd name="adj2" fmla="val 0"/>
            </a:avLst>
          </a:prstGeom>
          <a:gradFill>
            <a:gsLst>
              <a:gs pos="100000">
                <a:srgbClr val="016773"/>
              </a:gs>
              <a:gs pos="52000">
                <a:srgbClr val="007684"/>
              </a:gs>
              <a:gs pos="0">
                <a:srgbClr val="449FA8"/>
              </a:gs>
            </a:gsLst>
            <a:lin ang="2700000" scaled="0"/>
          </a:gradFill>
          <a:ln>
            <a:gradFill flip="none" rotWithShape="1">
              <a:gsLst>
                <a:gs pos="100000">
                  <a:srgbClr val="FCFCFC"/>
                </a:gs>
                <a:gs pos="75000">
                  <a:srgbClr val="FCFCFC">
                    <a:alpha val="0"/>
                  </a:srgbClr>
                </a:gs>
                <a:gs pos="65000">
                  <a:srgbClr val="FCFCFC">
                    <a:alpha val="0"/>
                  </a:srgbClr>
                </a:gs>
                <a:gs pos="30000">
                  <a:srgbClr val="FCFCFC">
                    <a:alpha val="50000"/>
                  </a:srgbClr>
                </a:gs>
                <a:gs pos="10000">
                  <a:srgbClr val="FAFAFA">
                    <a:alpha val="0"/>
                  </a:srgbClr>
                </a:gs>
              </a:gsLst>
              <a:lin ang="2700000" scaled="0"/>
              <a:tileRect/>
            </a:gradFill>
          </a:ln>
          <a:effectLst>
            <a:outerShdw blurRad="50800" dist="508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700" dirty="0">
              <a:solidFill>
                <a:schemeClr val="lt1"/>
              </a:solidFill>
            </a:endParaRPr>
          </a:p>
        </p:txBody>
      </p:sp>
      <p:sp>
        <p:nvSpPr>
          <p:cNvPr id="7" name="矩形 6"/>
          <p:cNvSpPr/>
          <p:nvPr/>
        </p:nvSpPr>
        <p:spPr>
          <a:xfrm>
            <a:off x="1312990" y="1361537"/>
            <a:ext cx="9818367" cy="4450064"/>
          </a:xfrm>
          <a:prstGeom prst="rect">
            <a:avLst/>
          </a:prstGeom>
        </p:spPr>
        <p:txBody>
          <a:bodyPr wrap="square">
            <a:spAutoFit/>
          </a:bodyPr>
          <a:lstStyle/>
          <a:p>
            <a:pPr marL="285750" indent="-285750">
              <a:lnSpc>
                <a:spcPct val="200000"/>
              </a:lnSpc>
              <a:buClr>
                <a:schemeClr val="bg1"/>
              </a:buClr>
              <a:buSzPct val="80000"/>
              <a:buFont typeface="Wingdings" panose="05000000000000000000" pitchFamily="2" charset="2"/>
              <a:buChar char="u"/>
            </a:pPr>
            <a:r>
              <a:rPr lang="zh-CN" altLang="zh-CN" sz="1600" dirty="0">
                <a:solidFill>
                  <a:schemeClr val="bg1"/>
                </a:solidFill>
                <a:latin typeface="微软雅黑" panose="020B0503020204020204" pitchFamily="34" charset="-122"/>
                <a:ea typeface="微软雅黑" panose="020B0503020204020204" pitchFamily="34" charset="-122"/>
              </a:rPr>
              <a:t>本章介绍了基于价值的强化学习算法和基于策略的强化学习算法，这些算法都可以认为是基于通用策略迭代框架的方法，即算法是</a:t>
            </a:r>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由策略评估和策略优化两个步骤</a:t>
            </a:r>
            <a:r>
              <a:rPr lang="zh-CN" altLang="zh-CN" sz="1600" dirty="0">
                <a:solidFill>
                  <a:schemeClr val="bg1"/>
                </a:solidFill>
                <a:latin typeface="微软雅黑" panose="020B0503020204020204" pitchFamily="34" charset="-122"/>
                <a:ea typeface="微软雅黑" panose="020B0503020204020204" pitchFamily="34" charset="-122"/>
              </a:rPr>
              <a:t>组成的。</a:t>
            </a:r>
            <a:endParaRPr lang="en-US" altLang="zh-CN" sz="1600" dirty="0">
              <a:solidFill>
                <a:schemeClr val="bg1"/>
              </a:solidFill>
              <a:latin typeface="微软雅黑" panose="020B0503020204020204" pitchFamily="34" charset="-122"/>
              <a:ea typeface="微软雅黑" panose="020B0503020204020204" pitchFamily="34" charset="-122"/>
            </a:endParaRPr>
          </a:p>
          <a:p>
            <a:pPr marL="285750" indent="-285750">
              <a:lnSpc>
                <a:spcPct val="200000"/>
              </a:lnSpc>
              <a:buClr>
                <a:schemeClr val="bg1"/>
              </a:buClr>
              <a:buSzPct val="80000"/>
              <a:buFont typeface="Wingdings" panose="05000000000000000000" pitchFamily="2" charset="2"/>
              <a:buChar char="u"/>
            </a:pPr>
            <a:r>
              <a:rPr lang="zh-CN" altLang="en-US" sz="1600" dirty="0">
                <a:solidFill>
                  <a:schemeClr val="bg1"/>
                </a:solidFill>
                <a:latin typeface="微软雅黑" panose="020B0503020204020204" pitchFamily="34" charset="-122"/>
                <a:ea typeface="微软雅黑" panose="020B0503020204020204" pitchFamily="34" charset="-122"/>
              </a:rPr>
              <a:t>强化学习可以分为两类：</a:t>
            </a:r>
            <a:r>
              <a:rPr lang="zh-CN" altLang="zh-CN" sz="1600" dirty="0">
                <a:solidFill>
                  <a:schemeClr val="bg1"/>
                </a:solidFill>
                <a:latin typeface="微软雅黑" panose="020B0503020204020204" pitchFamily="34" charset="-122"/>
                <a:ea typeface="微软雅黑" panose="020B0503020204020204" pitchFamily="34" charset="-122"/>
              </a:rPr>
              <a:t>依靠对环境（即马尔可夫随机过程）的先验知识或建模的算法称为</a:t>
            </a:r>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基于模型（</a:t>
            </a:r>
            <a:r>
              <a:rPr lang="en-US"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Model-based</a:t>
            </a:r>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solidFill>
                <a:latin typeface="微软雅黑" panose="020B0503020204020204" pitchFamily="34" charset="-122"/>
                <a:ea typeface="微软雅黑" panose="020B0503020204020204" pitchFamily="34" charset="-122"/>
              </a:rPr>
              <a:t>的方法，反之称为无模型的方法（</a:t>
            </a:r>
            <a:r>
              <a:rPr lang="en-US" altLang="zh-CN" sz="1600" dirty="0">
                <a:solidFill>
                  <a:schemeClr val="bg1"/>
                </a:solidFill>
                <a:latin typeface="微软雅黑" panose="020B0503020204020204" pitchFamily="34" charset="-122"/>
                <a:ea typeface="微软雅黑" panose="020B0503020204020204" pitchFamily="34" charset="-122"/>
              </a:rPr>
              <a:t>Model-free</a:t>
            </a:r>
            <a:r>
              <a:rPr lang="zh-CN" altLang="zh-CN" sz="1600" dirty="0">
                <a:solidFill>
                  <a:schemeClr val="bg1"/>
                </a:solidFill>
                <a:latin typeface="微软雅黑" panose="020B0503020204020204" pitchFamily="34" charset="-122"/>
                <a:ea typeface="微软雅黑" panose="020B0503020204020204" pitchFamily="34" charset="-122"/>
              </a:rPr>
              <a:t>）；只对价值函数建模并利用策略优化定理求解的方法称为</a:t>
            </a:r>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基于价值（</a:t>
            </a:r>
            <a:r>
              <a:rPr lang="en-US"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Value-based</a:t>
            </a:r>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solidFill>
                <a:latin typeface="微软雅黑" panose="020B0503020204020204" pitchFamily="34" charset="-122"/>
                <a:ea typeface="微软雅黑" panose="020B0503020204020204" pitchFamily="34" charset="-122"/>
              </a:rPr>
              <a:t>的方法，对策略函数建模并利用策略梯度定理求解的方法称为基于策略（</a:t>
            </a:r>
            <a:r>
              <a:rPr lang="en-US" altLang="zh-CN" sz="1600" dirty="0">
                <a:solidFill>
                  <a:schemeClr val="bg1"/>
                </a:solidFill>
                <a:latin typeface="微软雅黑" panose="020B0503020204020204" pitchFamily="34" charset="-122"/>
                <a:ea typeface="微软雅黑" panose="020B0503020204020204" pitchFamily="34" charset="-122"/>
              </a:rPr>
              <a:t>Policy-based</a:t>
            </a:r>
            <a:r>
              <a:rPr lang="zh-CN" altLang="zh-CN" sz="1600" dirty="0">
                <a:solidFill>
                  <a:schemeClr val="bg1"/>
                </a:solidFill>
                <a:latin typeface="微软雅黑" panose="020B0503020204020204" pitchFamily="34" charset="-122"/>
                <a:ea typeface="微软雅黑" panose="020B0503020204020204" pitchFamily="34" charset="-122"/>
              </a:rPr>
              <a:t>）的方法。</a:t>
            </a:r>
            <a:endParaRPr lang="en-US" altLang="zh-CN" sz="1600" dirty="0">
              <a:solidFill>
                <a:schemeClr val="bg1"/>
              </a:solidFill>
              <a:latin typeface="微软雅黑" panose="020B0503020204020204" pitchFamily="34" charset="-122"/>
              <a:ea typeface="微软雅黑" panose="020B0503020204020204" pitchFamily="34" charset="-122"/>
            </a:endParaRPr>
          </a:p>
          <a:p>
            <a:pPr marL="285750" indent="-285750">
              <a:lnSpc>
                <a:spcPct val="200000"/>
              </a:lnSpc>
              <a:buClr>
                <a:schemeClr val="bg1"/>
              </a:buClr>
              <a:buSzPct val="80000"/>
              <a:buFont typeface="Wingdings" panose="05000000000000000000" pitchFamily="2" charset="2"/>
              <a:buChar char="u"/>
            </a:pPr>
            <a:r>
              <a:rPr lang="en-US" altLang="zh-CN" sz="1600" dirty="0">
                <a:solidFill>
                  <a:schemeClr val="bg1"/>
                </a:solidFill>
                <a:latin typeface="微软雅黑" panose="020B0503020204020204" pitchFamily="34" charset="-122"/>
                <a:ea typeface="微软雅黑" panose="020B0503020204020204" pitchFamily="34" charset="-122"/>
              </a:rPr>
              <a:t>“</a:t>
            </a:r>
            <a:r>
              <a:rPr lang="zh-CN" altLang="zh-CN" sz="1600" dirty="0">
                <a:solidFill>
                  <a:schemeClr val="bg1"/>
                </a:solidFill>
                <a:latin typeface="微软雅黑" panose="020B0503020204020204" pitchFamily="34" charset="-122"/>
                <a:ea typeface="微软雅黑" panose="020B0503020204020204" pitchFamily="34" charset="-122"/>
              </a:rPr>
              <a:t>欲粟者务时，欲治者因势</a:t>
            </a:r>
            <a:r>
              <a:rPr lang="en-US" altLang="zh-CN" sz="1600" dirty="0">
                <a:solidFill>
                  <a:schemeClr val="bg1"/>
                </a:solidFill>
                <a:latin typeface="微软雅黑" panose="020B0503020204020204" pitchFamily="34" charset="-122"/>
                <a:ea typeface="微软雅黑" panose="020B0503020204020204" pitchFamily="34" charset="-122"/>
              </a:rPr>
              <a:t>”</a:t>
            </a:r>
            <a:r>
              <a:rPr lang="zh-CN" altLang="zh-CN" sz="1600" dirty="0">
                <a:solidFill>
                  <a:schemeClr val="bg1"/>
                </a:solidFill>
                <a:latin typeface="微软雅黑" panose="020B0503020204020204" pitchFamily="34" charset="-122"/>
                <a:ea typeface="微软雅黑" panose="020B0503020204020204" pitchFamily="34" charset="-122"/>
              </a:rPr>
              <a:t>。强化学习作为一种通用的策略学习框架，向人们展示了其强大的能力和应用前景。虽然强化学习尚不成熟，导致它在很多问题上并不容易应用，但是对强化学习的研究，必将推动人工智能的发展并带来更加广泛的应用。</a:t>
            </a:r>
          </a:p>
        </p:txBody>
      </p:sp>
      <p:sp>
        <p:nvSpPr>
          <p:cNvPr id="9" name="矩形: 圆角 42"/>
          <p:cNvSpPr/>
          <p:nvPr/>
        </p:nvSpPr>
        <p:spPr>
          <a:xfrm>
            <a:off x="5218279" y="785408"/>
            <a:ext cx="1847895" cy="504454"/>
          </a:xfrm>
          <a:prstGeom prst="roundRect">
            <a:avLst>
              <a:gd name="adj" fmla="val 10365"/>
            </a:avLst>
          </a:prstGeom>
          <a:solidFill>
            <a:srgbClr val="9ACBCA"/>
          </a:solidFill>
          <a:ln>
            <a:noFill/>
          </a:ln>
          <a:effectLst>
            <a:outerShdw blurRad="2032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47"/>
          <p:cNvSpPr/>
          <p:nvPr/>
        </p:nvSpPr>
        <p:spPr>
          <a:xfrm>
            <a:off x="5165205" y="732108"/>
            <a:ext cx="1847895" cy="504454"/>
          </a:xfrm>
          <a:prstGeom prst="roundRect">
            <a:avLst>
              <a:gd name="adj" fmla="val 10365"/>
            </a:avLst>
          </a:prstGeom>
          <a:solidFill>
            <a:srgbClr val="FAFCFC"/>
          </a:solidFill>
          <a:ln>
            <a:noFill/>
          </a:ln>
          <a:effectLst>
            <a:outerShdw blurRad="2032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p:nvPicPr>
        <p:blipFill>
          <a:blip r:embed="rId4"/>
          <a:stretch>
            <a:fillRect/>
          </a:stretch>
        </p:blipFill>
        <p:spPr>
          <a:xfrm>
            <a:off x="5139195" y="627721"/>
            <a:ext cx="2165958" cy="208773"/>
          </a:xfrm>
          <a:prstGeom prst="rect">
            <a:avLst/>
          </a:prstGeom>
        </p:spPr>
      </p:pic>
      <p:pic>
        <p:nvPicPr>
          <p:cNvPr id="13" name="图片 12"/>
          <p:cNvPicPr>
            <a:picLocks noChangeAspect="1"/>
          </p:cNvPicPr>
          <p:nvPr/>
        </p:nvPicPr>
        <p:blipFill>
          <a:blip r:embed="rId4"/>
          <a:stretch>
            <a:fillRect/>
          </a:stretch>
        </p:blipFill>
        <p:spPr>
          <a:xfrm flipH="1">
            <a:off x="4554375" y="1126723"/>
            <a:ext cx="2458725" cy="195194"/>
          </a:xfrm>
          <a:prstGeom prst="rect">
            <a:avLst/>
          </a:prstGeom>
        </p:spPr>
      </p:pic>
      <p:sp>
        <p:nvSpPr>
          <p:cNvPr id="18" name="文本框 17"/>
          <p:cNvSpPr txBox="1"/>
          <p:nvPr/>
        </p:nvSpPr>
        <p:spPr>
          <a:xfrm>
            <a:off x="5379329" y="823236"/>
            <a:ext cx="1397310" cy="337970"/>
          </a:xfrm>
          <a:custGeom>
            <a:avLst/>
            <a:gdLst/>
            <a:ahLst/>
            <a:cxnLst/>
            <a:rect l="l" t="t" r="r" b="b"/>
            <a:pathLst>
              <a:path w="1397310" h="337970">
                <a:moveTo>
                  <a:pt x="1317464" y="206499"/>
                </a:moveTo>
                <a:lnTo>
                  <a:pt x="1263774" y="209252"/>
                </a:lnTo>
                <a:lnTo>
                  <a:pt x="1262397" y="275332"/>
                </a:lnTo>
                <a:lnTo>
                  <a:pt x="1294060" y="273955"/>
                </a:lnTo>
                <a:cubicBezTo>
                  <a:pt x="1298649" y="273955"/>
                  <a:pt x="1304156" y="273497"/>
                  <a:pt x="1310580" y="272579"/>
                </a:cubicBezTo>
                <a:cubicBezTo>
                  <a:pt x="1314251" y="272579"/>
                  <a:pt x="1316546" y="272579"/>
                  <a:pt x="1317464" y="272579"/>
                </a:cubicBezTo>
                <a:close/>
                <a:moveTo>
                  <a:pt x="1326412" y="165199"/>
                </a:moveTo>
                <a:cubicBezTo>
                  <a:pt x="1327789" y="164740"/>
                  <a:pt x="1329395" y="165199"/>
                  <a:pt x="1331230" y="166576"/>
                </a:cubicBezTo>
                <a:cubicBezTo>
                  <a:pt x="1356928" y="181260"/>
                  <a:pt x="1373448" y="191356"/>
                  <a:pt x="1380790" y="196862"/>
                </a:cubicBezTo>
                <a:cubicBezTo>
                  <a:pt x="1385379" y="199616"/>
                  <a:pt x="1387673" y="201910"/>
                  <a:pt x="1387673" y="203746"/>
                </a:cubicBezTo>
                <a:cubicBezTo>
                  <a:pt x="1387673" y="205581"/>
                  <a:pt x="1385379" y="207417"/>
                  <a:pt x="1380790" y="209252"/>
                </a:cubicBezTo>
                <a:cubicBezTo>
                  <a:pt x="1376201" y="212006"/>
                  <a:pt x="1374365" y="215677"/>
                  <a:pt x="1375283" y="220266"/>
                </a:cubicBezTo>
                <a:cubicBezTo>
                  <a:pt x="1374365" y="238621"/>
                  <a:pt x="1373907" y="267990"/>
                  <a:pt x="1373907" y="308372"/>
                </a:cubicBezTo>
                <a:cubicBezTo>
                  <a:pt x="1374824" y="313879"/>
                  <a:pt x="1373448" y="316632"/>
                  <a:pt x="1369777" y="316632"/>
                </a:cubicBezTo>
                <a:cubicBezTo>
                  <a:pt x="1366105" y="320303"/>
                  <a:pt x="1353716" y="325351"/>
                  <a:pt x="1332607" y="331775"/>
                </a:cubicBezTo>
                <a:cubicBezTo>
                  <a:pt x="1330771" y="332693"/>
                  <a:pt x="1329395" y="333152"/>
                  <a:pt x="1328477" y="333152"/>
                </a:cubicBezTo>
                <a:cubicBezTo>
                  <a:pt x="1321135" y="335905"/>
                  <a:pt x="1317464" y="334070"/>
                  <a:pt x="1317464" y="327645"/>
                </a:cubicBezTo>
                <a:lnTo>
                  <a:pt x="1317464" y="295982"/>
                </a:lnTo>
                <a:cubicBezTo>
                  <a:pt x="1316546" y="295982"/>
                  <a:pt x="1314251" y="295982"/>
                  <a:pt x="1310580" y="295982"/>
                </a:cubicBezTo>
                <a:cubicBezTo>
                  <a:pt x="1305991" y="296900"/>
                  <a:pt x="1301861" y="297359"/>
                  <a:pt x="1298190" y="297359"/>
                </a:cubicBezTo>
                <a:lnTo>
                  <a:pt x="1262397" y="298735"/>
                </a:lnTo>
                <a:lnTo>
                  <a:pt x="1262397" y="306995"/>
                </a:lnTo>
                <a:cubicBezTo>
                  <a:pt x="1263315" y="315255"/>
                  <a:pt x="1261020" y="320303"/>
                  <a:pt x="1255514" y="322139"/>
                </a:cubicBezTo>
                <a:cubicBezTo>
                  <a:pt x="1243583" y="327645"/>
                  <a:pt x="1228898" y="332693"/>
                  <a:pt x="1211461" y="337282"/>
                </a:cubicBezTo>
                <a:cubicBezTo>
                  <a:pt x="1206872" y="338200"/>
                  <a:pt x="1204577" y="335905"/>
                  <a:pt x="1204577" y="330399"/>
                </a:cubicBezTo>
                <a:cubicBezTo>
                  <a:pt x="1206413" y="303783"/>
                  <a:pt x="1207331" y="277627"/>
                  <a:pt x="1207331" y="251929"/>
                </a:cubicBezTo>
                <a:cubicBezTo>
                  <a:pt x="1195400" y="259271"/>
                  <a:pt x="1191270" y="261566"/>
                  <a:pt x="1194941" y="258812"/>
                </a:cubicBezTo>
                <a:cubicBezTo>
                  <a:pt x="1144463" y="287263"/>
                  <a:pt x="1111423" y="306078"/>
                  <a:pt x="1095821" y="315255"/>
                </a:cubicBezTo>
                <a:cubicBezTo>
                  <a:pt x="1090315" y="318009"/>
                  <a:pt x="1086185" y="317091"/>
                  <a:pt x="1083431" y="312502"/>
                </a:cubicBezTo>
                <a:cubicBezTo>
                  <a:pt x="1073336" y="295064"/>
                  <a:pt x="1065535" y="279462"/>
                  <a:pt x="1060028" y="265696"/>
                </a:cubicBezTo>
                <a:lnTo>
                  <a:pt x="1207331" y="234032"/>
                </a:lnTo>
                <a:cubicBezTo>
                  <a:pt x="1207331" y="232197"/>
                  <a:pt x="1207790" y="229902"/>
                  <a:pt x="1208707" y="227149"/>
                </a:cubicBezTo>
                <a:cubicBezTo>
                  <a:pt x="1208707" y="224396"/>
                  <a:pt x="1208707" y="222560"/>
                  <a:pt x="1208707" y="221642"/>
                </a:cubicBezTo>
                <a:cubicBezTo>
                  <a:pt x="1208707" y="203287"/>
                  <a:pt x="1208249" y="189061"/>
                  <a:pt x="1207331" y="178966"/>
                </a:cubicBezTo>
                <a:cubicBezTo>
                  <a:pt x="1206413" y="174377"/>
                  <a:pt x="1206872" y="171624"/>
                  <a:pt x="1208707" y="170706"/>
                </a:cubicBezTo>
                <a:cubicBezTo>
                  <a:pt x="1209625" y="169788"/>
                  <a:pt x="1211920" y="170247"/>
                  <a:pt x="1215591" y="172083"/>
                </a:cubicBezTo>
                <a:cubicBezTo>
                  <a:pt x="1218344" y="173000"/>
                  <a:pt x="1222474" y="174377"/>
                  <a:pt x="1227981" y="176213"/>
                </a:cubicBezTo>
                <a:cubicBezTo>
                  <a:pt x="1240829" y="180801"/>
                  <a:pt x="1250466" y="184014"/>
                  <a:pt x="1256891" y="185849"/>
                </a:cubicBezTo>
                <a:lnTo>
                  <a:pt x="1309204" y="184473"/>
                </a:lnTo>
                <a:cubicBezTo>
                  <a:pt x="1309204" y="184473"/>
                  <a:pt x="1309662" y="184473"/>
                  <a:pt x="1310580" y="184473"/>
                </a:cubicBezTo>
                <a:cubicBezTo>
                  <a:pt x="1316087" y="183555"/>
                  <a:pt x="1319299" y="181260"/>
                  <a:pt x="1320217" y="177589"/>
                </a:cubicBezTo>
                <a:cubicBezTo>
                  <a:pt x="1322052" y="174836"/>
                  <a:pt x="1322970" y="172541"/>
                  <a:pt x="1322970" y="170706"/>
                </a:cubicBezTo>
                <a:cubicBezTo>
                  <a:pt x="1322970" y="170706"/>
                  <a:pt x="1322970" y="170247"/>
                  <a:pt x="1322970" y="169329"/>
                </a:cubicBezTo>
                <a:cubicBezTo>
                  <a:pt x="1323888" y="167035"/>
                  <a:pt x="1325035" y="165658"/>
                  <a:pt x="1326412" y="165199"/>
                </a:cubicBezTo>
                <a:close/>
                <a:moveTo>
                  <a:pt x="585080" y="150056"/>
                </a:moveTo>
                <a:lnTo>
                  <a:pt x="468064" y="155563"/>
                </a:lnTo>
                <a:lnTo>
                  <a:pt x="468064" y="172083"/>
                </a:lnTo>
                <a:cubicBezTo>
                  <a:pt x="472653" y="172083"/>
                  <a:pt x="479078" y="171624"/>
                  <a:pt x="487338" y="170706"/>
                </a:cubicBezTo>
                <a:cubicBezTo>
                  <a:pt x="491926" y="170706"/>
                  <a:pt x="495139" y="170706"/>
                  <a:pt x="496974" y="170706"/>
                </a:cubicBezTo>
                <a:lnTo>
                  <a:pt x="536897" y="167953"/>
                </a:lnTo>
                <a:cubicBezTo>
                  <a:pt x="546993" y="167953"/>
                  <a:pt x="555712" y="167035"/>
                  <a:pt x="563054" y="165199"/>
                </a:cubicBezTo>
                <a:cubicBezTo>
                  <a:pt x="568561" y="170706"/>
                  <a:pt x="573149" y="176213"/>
                  <a:pt x="576820" y="181719"/>
                </a:cubicBezTo>
                <a:cubicBezTo>
                  <a:pt x="578656" y="183555"/>
                  <a:pt x="579115" y="184473"/>
                  <a:pt x="578197" y="184473"/>
                </a:cubicBezTo>
                <a:cubicBezTo>
                  <a:pt x="578197" y="185390"/>
                  <a:pt x="576820" y="185849"/>
                  <a:pt x="574067" y="185849"/>
                </a:cubicBezTo>
                <a:cubicBezTo>
                  <a:pt x="572232" y="185849"/>
                  <a:pt x="568561" y="185849"/>
                  <a:pt x="563054" y="185849"/>
                </a:cubicBezTo>
                <a:cubicBezTo>
                  <a:pt x="553876" y="186767"/>
                  <a:pt x="547452" y="187226"/>
                  <a:pt x="543781" y="187226"/>
                </a:cubicBezTo>
                <a:lnTo>
                  <a:pt x="505234" y="189979"/>
                </a:lnTo>
                <a:cubicBezTo>
                  <a:pt x="504316" y="189979"/>
                  <a:pt x="499728" y="190438"/>
                  <a:pt x="491468" y="191356"/>
                </a:cubicBezTo>
                <a:cubicBezTo>
                  <a:pt x="481372" y="192274"/>
                  <a:pt x="475407" y="192733"/>
                  <a:pt x="473571" y="192733"/>
                </a:cubicBezTo>
                <a:lnTo>
                  <a:pt x="468064" y="184473"/>
                </a:lnTo>
                <a:lnTo>
                  <a:pt x="468064" y="207876"/>
                </a:lnTo>
                <a:lnTo>
                  <a:pt x="541027" y="205122"/>
                </a:lnTo>
                <a:cubicBezTo>
                  <a:pt x="546534" y="205122"/>
                  <a:pt x="557547" y="204205"/>
                  <a:pt x="574067" y="202369"/>
                </a:cubicBezTo>
                <a:cubicBezTo>
                  <a:pt x="577738" y="201451"/>
                  <a:pt x="580033" y="200992"/>
                  <a:pt x="580950" y="200992"/>
                </a:cubicBezTo>
                <a:lnTo>
                  <a:pt x="583704" y="205122"/>
                </a:lnTo>
                <a:close/>
                <a:moveTo>
                  <a:pt x="589210" y="114263"/>
                </a:moveTo>
                <a:lnTo>
                  <a:pt x="429518" y="121146"/>
                </a:lnTo>
                <a:cubicBezTo>
                  <a:pt x="425847" y="121146"/>
                  <a:pt x="421258" y="121146"/>
                  <a:pt x="415751" y="121146"/>
                </a:cubicBezTo>
                <a:cubicBezTo>
                  <a:pt x="432271" y="124817"/>
                  <a:pt x="448791" y="129406"/>
                  <a:pt x="465311" y="134913"/>
                </a:cubicBezTo>
                <a:lnTo>
                  <a:pt x="576820" y="129406"/>
                </a:lnTo>
                <a:cubicBezTo>
                  <a:pt x="580492" y="129406"/>
                  <a:pt x="583704" y="127571"/>
                  <a:pt x="586457" y="123899"/>
                </a:cubicBezTo>
                <a:cubicBezTo>
                  <a:pt x="587375" y="122982"/>
                  <a:pt x="587834" y="122064"/>
                  <a:pt x="587834" y="121146"/>
                </a:cubicBezTo>
                <a:cubicBezTo>
                  <a:pt x="588752" y="119311"/>
                  <a:pt x="589210" y="117934"/>
                  <a:pt x="589210" y="117016"/>
                </a:cubicBezTo>
                <a:cubicBezTo>
                  <a:pt x="589210" y="115181"/>
                  <a:pt x="589210" y="114263"/>
                  <a:pt x="589210" y="114263"/>
                </a:cubicBezTo>
                <a:close/>
                <a:moveTo>
                  <a:pt x="952649" y="92236"/>
                </a:moveTo>
                <a:cubicBezTo>
                  <a:pt x="995784" y="131701"/>
                  <a:pt x="1024694" y="163823"/>
                  <a:pt x="1039378" y="188603"/>
                </a:cubicBezTo>
                <a:cubicBezTo>
                  <a:pt x="1046720" y="199616"/>
                  <a:pt x="1044885" y="211547"/>
                  <a:pt x="1033872" y="224396"/>
                </a:cubicBezTo>
                <a:cubicBezTo>
                  <a:pt x="1021023" y="240916"/>
                  <a:pt x="1005880" y="255141"/>
                  <a:pt x="988442" y="267072"/>
                </a:cubicBezTo>
                <a:cubicBezTo>
                  <a:pt x="979264" y="223019"/>
                  <a:pt x="963662" y="167035"/>
                  <a:pt x="941635" y="99120"/>
                </a:cubicBezTo>
                <a:close/>
                <a:moveTo>
                  <a:pt x="777297" y="87762"/>
                </a:moveTo>
                <a:cubicBezTo>
                  <a:pt x="779017" y="87992"/>
                  <a:pt x="781025" y="88565"/>
                  <a:pt x="783320" y="89483"/>
                </a:cubicBezTo>
                <a:cubicBezTo>
                  <a:pt x="798922" y="94990"/>
                  <a:pt x="814983" y="101414"/>
                  <a:pt x="831503" y="108756"/>
                </a:cubicBezTo>
                <a:cubicBezTo>
                  <a:pt x="834256" y="109674"/>
                  <a:pt x="836091" y="110592"/>
                  <a:pt x="837009" y="111510"/>
                </a:cubicBezTo>
                <a:cubicBezTo>
                  <a:pt x="837009" y="112427"/>
                  <a:pt x="836091" y="114263"/>
                  <a:pt x="834256" y="117016"/>
                </a:cubicBezTo>
                <a:cubicBezTo>
                  <a:pt x="832420" y="118852"/>
                  <a:pt x="825996" y="131242"/>
                  <a:pt x="814983" y="154186"/>
                </a:cubicBezTo>
                <a:cubicBezTo>
                  <a:pt x="788367" y="209252"/>
                  <a:pt x="759457" y="246881"/>
                  <a:pt x="728253" y="267072"/>
                </a:cubicBezTo>
                <a:lnTo>
                  <a:pt x="722746" y="260189"/>
                </a:lnTo>
                <a:cubicBezTo>
                  <a:pt x="735595" y="227149"/>
                  <a:pt x="748444" y="186308"/>
                  <a:pt x="761293" y="137666"/>
                </a:cubicBezTo>
                <a:cubicBezTo>
                  <a:pt x="765882" y="117475"/>
                  <a:pt x="768635" y="103250"/>
                  <a:pt x="769553" y="94990"/>
                </a:cubicBezTo>
                <a:cubicBezTo>
                  <a:pt x="769553" y="89483"/>
                  <a:pt x="772134" y="87074"/>
                  <a:pt x="777297" y="87762"/>
                </a:cubicBezTo>
                <a:close/>
                <a:moveTo>
                  <a:pt x="563054" y="61950"/>
                </a:moveTo>
                <a:lnTo>
                  <a:pt x="483208" y="66080"/>
                </a:lnTo>
                <a:cubicBezTo>
                  <a:pt x="491468" y="67915"/>
                  <a:pt x="497892" y="70210"/>
                  <a:pt x="502481" y="72963"/>
                </a:cubicBezTo>
                <a:cubicBezTo>
                  <a:pt x="510741" y="77552"/>
                  <a:pt x="512117" y="82600"/>
                  <a:pt x="506611" y="88106"/>
                </a:cubicBezTo>
                <a:lnTo>
                  <a:pt x="499728" y="94990"/>
                </a:lnTo>
                <a:lnTo>
                  <a:pt x="545157" y="93613"/>
                </a:lnTo>
                <a:cubicBezTo>
                  <a:pt x="548828" y="87189"/>
                  <a:pt x="553417" y="79387"/>
                  <a:pt x="558924" y="70210"/>
                </a:cubicBezTo>
                <a:cubicBezTo>
                  <a:pt x="560759" y="67456"/>
                  <a:pt x="562136" y="64703"/>
                  <a:pt x="563054" y="61950"/>
                </a:cubicBezTo>
                <a:close/>
                <a:moveTo>
                  <a:pt x="1267904" y="8260"/>
                </a:moveTo>
                <a:cubicBezTo>
                  <a:pt x="1290848" y="11931"/>
                  <a:pt x="1306909" y="15602"/>
                  <a:pt x="1316087" y="19273"/>
                </a:cubicBezTo>
                <a:cubicBezTo>
                  <a:pt x="1318840" y="20191"/>
                  <a:pt x="1319758" y="22027"/>
                  <a:pt x="1318840" y="24780"/>
                </a:cubicBezTo>
                <a:cubicBezTo>
                  <a:pt x="1318840" y="35793"/>
                  <a:pt x="1318840" y="47265"/>
                  <a:pt x="1318840" y="59196"/>
                </a:cubicBezTo>
                <a:lnTo>
                  <a:pt x="1318840" y="60573"/>
                </a:lnTo>
                <a:lnTo>
                  <a:pt x="1335360" y="60573"/>
                </a:lnTo>
                <a:cubicBezTo>
                  <a:pt x="1337196" y="60573"/>
                  <a:pt x="1340867" y="60114"/>
                  <a:pt x="1346373" y="59196"/>
                </a:cubicBezTo>
                <a:cubicBezTo>
                  <a:pt x="1361976" y="58279"/>
                  <a:pt x="1372071" y="56902"/>
                  <a:pt x="1376660" y="55066"/>
                </a:cubicBezTo>
                <a:cubicBezTo>
                  <a:pt x="1385838" y="66080"/>
                  <a:pt x="1391803" y="72963"/>
                  <a:pt x="1394557" y="75716"/>
                </a:cubicBezTo>
                <a:cubicBezTo>
                  <a:pt x="1396392" y="77552"/>
                  <a:pt x="1396851" y="78929"/>
                  <a:pt x="1395933" y="79846"/>
                </a:cubicBezTo>
                <a:cubicBezTo>
                  <a:pt x="1395015" y="80764"/>
                  <a:pt x="1393180" y="81223"/>
                  <a:pt x="1390427" y="81223"/>
                </a:cubicBezTo>
                <a:cubicBezTo>
                  <a:pt x="1387673" y="81223"/>
                  <a:pt x="1379872" y="81223"/>
                  <a:pt x="1367023" y="81223"/>
                </a:cubicBezTo>
                <a:cubicBezTo>
                  <a:pt x="1354175" y="82141"/>
                  <a:pt x="1345915" y="82600"/>
                  <a:pt x="1342243" y="82600"/>
                </a:cubicBezTo>
                <a:lnTo>
                  <a:pt x="1317464" y="83976"/>
                </a:lnTo>
                <a:lnTo>
                  <a:pt x="1317464" y="128029"/>
                </a:lnTo>
                <a:lnTo>
                  <a:pt x="1329853" y="128029"/>
                </a:lnTo>
                <a:cubicBezTo>
                  <a:pt x="1346373" y="128029"/>
                  <a:pt x="1361976" y="126653"/>
                  <a:pt x="1376660" y="123899"/>
                </a:cubicBezTo>
                <a:cubicBezTo>
                  <a:pt x="1378495" y="125735"/>
                  <a:pt x="1381708" y="129406"/>
                  <a:pt x="1386297" y="134913"/>
                </a:cubicBezTo>
                <a:cubicBezTo>
                  <a:pt x="1390885" y="140419"/>
                  <a:pt x="1393639" y="143632"/>
                  <a:pt x="1394557" y="144549"/>
                </a:cubicBezTo>
                <a:cubicBezTo>
                  <a:pt x="1396392" y="147303"/>
                  <a:pt x="1397310" y="149138"/>
                  <a:pt x="1397310" y="150056"/>
                </a:cubicBezTo>
                <a:cubicBezTo>
                  <a:pt x="1396392" y="150974"/>
                  <a:pt x="1394557" y="151433"/>
                  <a:pt x="1391803" y="151433"/>
                </a:cubicBezTo>
                <a:cubicBezTo>
                  <a:pt x="1374365" y="151433"/>
                  <a:pt x="1356469" y="151433"/>
                  <a:pt x="1338113" y="151433"/>
                </a:cubicBezTo>
                <a:lnTo>
                  <a:pt x="1254137" y="155563"/>
                </a:lnTo>
                <a:cubicBezTo>
                  <a:pt x="1251384" y="155563"/>
                  <a:pt x="1244959" y="156022"/>
                  <a:pt x="1234864" y="156939"/>
                </a:cubicBezTo>
                <a:cubicBezTo>
                  <a:pt x="1222933" y="157857"/>
                  <a:pt x="1215132" y="158316"/>
                  <a:pt x="1211461" y="158316"/>
                </a:cubicBezTo>
                <a:lnTo>
                  <a:pt x="1194941" y="133536"/>
                </a:lnTo>
                <a:cubicBezTo>
                  <a:pt x="1216967" y="133536"/>
                  <a:pt x="1233946" y="133536"/>
                  <a:pt x="1245877" y="133536"/>
                </a:cubicBezTo>
                <a:lnTo>
                  <a:pt x="1259644" y="132159"/>
                </a:lnTo>
                <a:lnTo>
                  <a:pt x="1259644" y="86730"/>
                </a:lnTo>
                <a:cubicBezTo>
                  <a:pt x="1256891" y="86730"/>
                  <a:pt x="1251384" y="87189"/>
                  <a:pt x="1243124" y="88106"/>
                </a:cubicBezTo>
                <a:cubicBezTo>
                  <a:pt x="1229357" y="89024"/>
                  <a:pt x="1217885" y="89942"/>
                  <a:pt x="1208707" y="90860"/>
                </a:cubicBezTo>
                <a:lnTo>
                  <a:pt x="1190811" y="64703"/>
                </a:lnTo>
                <a:cubicBezTo>
                  <a:pt x="1222015" y="64703"/>
                  <a:pt x="1242206" y="64244"/>
                  <a:pt x="1251384" y="63326"/>
                </a:cubicBezTo>
                <a:lnTo>
                  <a:pt x="1259644" y="63326"/>
                </a:lnTo>
                <a:lnTo>
                  <a:pt x="1259644" y="60573"/>
                </a:lnTo>
                <a:cubicBezTo>
                  <a:pt x="1259644" y="43135"/>
                  <a:pt x="1259644" y="27992"/>
                  <a:pt x="1259644" y="15143"/>
                </a:cubicBezTo>
                <a:cubicBezTo>
                  <a:pt x="1259644" y="8719"/>
                  <a:pt x="1262397" y="6425"/>
                  <a:pt x="1267904" y="8260"/>
                </a:cubicBezTo>
                <a:close/>
                <a:moveTo>
                  <a:pt x="861101" y="6883"/>
                </a:moveTo>
                <a:cubicBezTo>
                  <a:pt x="862936" y="6883"/>
                  <a:pt x="865460" y="7342"/>
                  <a:pt x="868672" y="8260"/>
                </a:cubicBezTo>
                <a:cubicBezTo>
                  <a:pt x="892534" y="14684"/>
                  <a:pt x="907678" y="19732"/>
                  <a:pt x="914102" y="23403"/>
                </a:cubicBezTo>
                <a:cubicBezTo>
                  <a:pt x="917773" y="24321"/>
                  <a:pt x="919609" y="27074"/>
                  <a:pt x="919609" y="31663"/>
                </a:cubicBezTo>
                <a:cubicBezTo>
                  <a:pt x="918691" y="41759"/>
                  <a:pt x="918232" y="55984"/>
                  <a:pt x="918232" y="74340"/>
                </a:cubicBezTo>
                <a:cubicBezTo>
                  <a:pt x="918232" y="157857"/>
                  <a:pt x="917314" y="221642"/>
                  <a:pt x="915479" y="265696"/>
                </a:cubicBezTo>
                <a:cubicBezTo>
                  <a:pt x="915479" y="294147"/>
                  <a:pt x="909054" y="309749"/>
                  <a:pt x="896206" y="312502"/>
                </a:cubicBezTo>
                <a:cubicBezTo>
                  <a:pt x="884275" y="318926"/>
                  <a:pt x="874638" y="324892"/>
                  <a:pt x="867296" y="330399"/>
                </a:cubicBezTo>
                <a:cubicBezTo>
                  <a:pt x="859036" y="335905"/>
                  <a:pt x="853529" y="338200"/>
                  <a:pt x="850776" y="337282"/>
                </a:cubicBezTo>
                <a:cubicBezTo>
                  <a:pt x="847105" y="335446"/>
                  <a:pt x="845728" y="330399"/>
                  <a:pt x="846646" y="322139"/>
                </a:cubicBezTo>
                <a:cubicBezTo>
                  <a:pt x="847564" y="307454"/>
                  <a:pt x="843434" y="298735"/>
                  <a:pt x="834256" y="295982"/>
                </a:cubicBezTo>
                <a:cubicBezTo>
                  <a:pt x="827831" y="292311"/>
                  <a:pt x="813606" y="285887"/>
                  <a:pt x="791579" y="276709"/>
                </a:cubicBezTo>
                <a:cubicBezTo>
                  <a:pt x="786991" y="274873"/>
                  <a:pt x="783320" y="273497"/>
                  <a:pt x="780566" y="272579"/>
                </a:cubicBezTo>
                <a:lnTo>
                  <a:pt x="783320" y="260189"/>
                </a:lnTo>
                <a:lnTo>
                  <a:pt x="850776" y="267072"/>
                </a:lnTo>
                <a:cubicBezTo>
                  <a:pt x="855365" y="262483"/>
                  <a:pt x="858118" y="196404"/>
                  <a:pt x="859036" y="68833"/>
                </a:cubicBezTo>
                <a:cubicBezTo>
                  <a:pt x="859036" y="66080"/>
                  <a:pt x="859036" y="59655"/>
                  <a:pt x="859036" y="49560"/>
                </a:cubicBezTo>
                <a:cubicBezTo>
                  <a:pt x="858118" y="34875"/>
                  <a:pt x="857659" y="24321"/>
                  <a:pt x="857659" y="17897"/>
                </a:cubicBezTo>
                <a:cubicBezTo>
                  <a:pt x="856741" y="11472"/>
                  <a:pt x="856741" y="8260"/>
                  <a:pt x="857659" y="8260"/>
                </a:cubicBezTo>
                <a:cubicBezTo>
                  <a:pt x="858118" y="7342"/>
                  <a:pt x="859265" y="6883"/>
                  <a:pt x="861101" y="6883"/>
                </a:cubicBezTo>
                <a:close/>
                <a:moveTo>
                  <a:pt x="1136433" y="4818"/>
                </a:moveTo>
                <a:cubicBezTo>
                  <a:pt x="1137809" y="4360"/>
                  <a:pt x="1139416" y="4589"/>
                  <a:pt x="1141251" y="5507"/>
                </a:cubicBezTo>
                <a:cubicBezTo>
                  <a:pt x="1144004" y="7342"/>
                  <a:pt x="1150429" y="10554"/>
                  <a:pt x="1160524" y="15143"/>
                </a:cubicBezTo>
                <a:cubicBezTo>
                  <a:pt x="1177044" y="23403"/>
                  <a:pt x="1186222" y="28451"/>
                  <a:pt x="1188057" y="30287"/>
                </a:cubicBezTo>
                <a:cubicBezTo>
                  <a:pt x="1190811" y="32122"/>
                  <a:pt x="1190352" y="34875"/>
                  <a:pt x="1186681" y="38547"/>
                </a:cubicBezTo>
                <a:cubicBezTo>
                  <a:pt x="1183928" y="40382"/>
                  <a:pt x="1177962" y="46807"/>
                  <a:pt x="1168784" y="57820"/>
                </a:cubicBezTo>
                <a:cubicBezTo>
                  <a:pt x="1145840" y="82600"/>
                  <a:pt x="1126108" y="100496"/>
                  <a:pt x="1109588" y="111510"/>
                </a:cubicBezTo>
                <a:lnTo>
                  <a:pt x="1150888" y="108756"/>
                </a:lnTo>
                <a:cubicBezTo>
                  <a:pt x="1150888" y="106921"/>
                  <a:pt x="1151805" y="105085"/>
                  <a:pt x="1153641" y="103250"/>
                </a:cubicBezTo>
                <a:cubicBezTo>
                  <a:pt x="1158230" y="94990"/>
                  <a:pt x="1161901" y="86271"/>
                  <a:pt x="1164654" y="77093"/>
                </a:cubicBezTo>
                <a:cubicBezTo>
                  <a:pt x="1166490" y="73422"/>
                  <a:pt x="1169243" y="72504"/>
                  <a:pt x="1172914" y="74340"/>
                </a:cubicBezTo>
                <a:cubicBezTo>
                  <a:pt x="1184845" y="80764"/>
                  <a:pt x="1199071" y="89024"/>
                  <a:pt x="1215591" y="99120"/>
                </a:cubicBezTo>
                <a:cubicBezTo>
                  <a:pt x="1220180" y="101873"/>
                  <a:pt x="1220180" y="104626"/>
                  <a:pt x="1215591" y="107380"/>
                </a:cubicBezTo>
                <a:cubicBezTo>
                  <a:pt x="1211002" y="111968"/>
                  <a:pt x="1204577" y="118393"/>
                  <a:pt x="1196317" y="126653"/>
                </a:cubicBezTo>
                <a:cubicBezTo>
                  <a:pt x="1167866" y="156939"/>
                  <a:pt x="1145381" y="177589"/>
                  <a:pt x="1128861" y="188603"/>
                </a:cubicBezTo>
                <a:lnTo>
                  <a:pt x="1190811" y="181719"/>
                </a:lnTo>
                <a:lnTo>
                  <a:pt x="1196317" y="195486"/>
                </a:lnTo>
                <a:lnTo>
                  <a:pt x="1121978" y="225772"/>
                </a:lnTo>
                <a:cubicBezTo>
                  <a:pt x="1110965" y="229443"/>
                  <a:pt x="1101328" y="234950"/>
                  <a:pt x="1093068" y="242292"/>
                </a:cubicBezTo>
                <a:lnTo>
                  <a:pt x="1072418" y="194109"/>
                </a:lnTo>
                <a:cubicBezTo>
                  <a:pt x="1088938" y="192274"/>
                  <a:pt x="1100410" y="186767"/>
                  <a:pt x="1106835" y="177589"/>
                </a:cubicBezTo>
                <a:cubicBezTo>
                  <a:pt x="1117848" y="163823"/>
                  <a:pt x="1127026" y="150515"/>
                  <a:pt x="1134368" y="137666"/>
                </a:cubicBezTo>
                <a:lnTo>
                  <a:pt x="1109588" y="145926"/>
                </a:lnTo>
                <a:cubicBezTo>
                  <a:pt x="1096739" y="150515"/>
                  <a:pt x="1087561" y="155104"/>
                  <a:pt x="1082055" y="159693"/>
                </a:cubicBezTo>
                <a:lnTo>
                  <a:pt x="1061405" y="115640"/>
                </a:lnTo>
                <a:cubicBezTo>
                  <a:pt x="1074254" y="112886"/>
                  <a:pt x="1082055" y="108756"/>
                  <a:pt x="1084808" y="103250"/>
                </a:cubicBezTo>
                <a:cubicBezTo>
                  <a:pt x="1094903" y="86730"/>
                  <a:pt x="1107752" y="63785"/>
                  <a:pt x="1123354" y="34417"/>
                </a:cubicBezTo>
                <a:cubicBezTo>
                  <a:pt x="1124272" y="31663"/>
                  <a:pt x="1125649" y="27992"/>
                  <a:pt x="1127484" y="23403"/>
                </a:cubicBezTo>
                <a:cubicBezTo>
                  <a:pt x="1129320" y="19732"/>
                  <a:pt x="1131156" y="14684"/>
                  <a:pt x="1132991" y="8260"/>
                </a:cubicBezTo>
                <a:cubicBezTo>
                  <a:pt x="1133909" y="6424"/>
                  <a:pt x="1135056" y="5277"/>
                  <a:pt x="1136433" y="4818"/>
                </a:cubicBezTo>
                <a:close/>
                <a:moveTo>
                  <a:pt x="143173" y="1377"/>
                </a:moveTo>
                <a:cubicBezTo>
                  <a:pt x="144090" y="459"/>
                  <a:pt x="146385" y="459"/>
                  <a:pt x="150056" y="1377"/>
                </a:cubicBezTo>
                <a:cubicBezTo>
                  <a:pt x="170247" y="6883"/>
                  <a:pt x="187685" y="12849"/>
                  <a:pt x="202369" y="19273"/>
                </a:cubicBezTo>
                <a:cubicBezTo>
                  <a:pt x="205122" y="20191"/>
                  <a:pt x="206040" y="22486"/>
                  <a:pt x="205122" y="26157"/>
                </a:cubicBezTo>
                <a:cubicBezTo>
                  <a:pt x="203287" y="39923"/>
                  <a:pt x="202369" y="56443"/>
                  <a:pt x="202369" y="75716"/>
                </a:cubicBezTo>
                <a:lnTo>
                  <a:pt x="246422" y="74340"/>
                </a:lnTo>
                <a:cubicBezTo>
                  <a:pt x="272120" y="71586"/>
                  <a:pt x="292770" y="69292"/>
                  <a:pt x="308372" y="67456"/>
                </a:cubicBezTo>
                <a:cubicBezTo>
                  <a:pt x="318467" y="75716"/>
                  <a:pt x="325351" y="82600"/>
                  <a:pt x="329022" y="88106"/>
                </a:cubicBezTo>
                <a:cubicBezTo>
                  <a:pt x="331775" y="90860"/>
                  <a:pt x="332693" y="92695"/>
                  <a:pt x="331775" y="93613"/>
                </a:cubicBezTo>
                <a:cubicBezTo>
                  <a:pt x="331775" y="95449"/>
                  <a:pt x="329939" y="96366"/>
                  <a:pt x="326268" y="96366"/>
                </a:cubicBezTo>
                <a:cubicBezTo>
                  <a:pt x="306077" y="96366"/>
                  <a:pt x="284051" y="96366"/>
                  <a:pt x="260189" y="96366"/>
                </a:cubicBezTo>
                <a:lnTo>
                  <a:pt x="213382" y="99120"/>
                </a:lnTo>
                <a:cubicBezTo>
                  <a:pt x="256518" y="158775"/>
                  <a:pt x="301947" y="201910"/>
                  <a:pt x="349672" y="228526"/>
                </a:cubicBezTo>
                <a:lnTo>
                  <a:pt x="348295" y="236786"/>
                </a:lnTo>
                <a:cubicBezTo>
                  <a:pt x="334528" y="246881"/>
                  <a:pt x="319385" y="261566"/>
                  <a:pt x="302865" y="280839"/>
                </a:cubicBezTo>
                <a:cubicBezTo>
                  <a:pt x="299194" y="285428"/>
                  <a:pt x="295523" y="285428"/>
                  <a:pt x="291852" y="280839"/>
                </a:cubicBezTo>
                <a:cubicBezTo>
                  <a:pt x="255141" y="246881"/>
                  <a:pt x="224854" y="188144"/>
                  <a:pt x="200992" y="104626"/>
                </a:cubicBezTo>
                <a:cubicBezTo>
                  <a:pt x="200992" y="149597"/>
                  <a:pt x="200992" y="195027"/>
                  <a:pt x="200992" y="240916"/>
                </a:cubicBezTo>
                <a:cubicBezTo>
                  <a:pt x="204663" y="240916"/>
                  <a:pt x="210170" y="240457"/>
                  <a:pt x="217512" y="239539"/>
                </a:cubicBezTo>
                <a:cubicBezTo>
                  <a:pt x="227608" y="238621"/>
                  <a:pt x="234491" y="237703"/>
                  <a:pt x="238162" y="236786"/>
                </a:cubicBezTo>
                <a:cubicBezTo>
                  <a:pt x="247340" y="245963"/>
                  <a:pt x="253305" y="252388"/>
                  <a:pt x="256059" y="256059"/>
                </a:cubicBezTo>
                <a:cubicBezTo>
                  <a:pt x="257894" y="257894"/>
                  <a:pt x="258812" y="259730"/>
                  <a:pt x="258812" y="261566"/>
                </a:cubicBezTo>
                <a:cubicBezTo>
                  <a:pt x="257894" y="262483"/>
                  <a:pt x="256059" y="262942"/>
                  <a:pt x="253305" y="262942"/>
                </a:cubicBezTo>
                <a:cubicBezTo>
                  <a:pt x="229443" y="262942"/>
                  <a:pt x="212464" y="263401"/>
                  <a:pt x="202369" y="264319"/>
                </a:cubicBezTo>
                <a:lnTo>
                  <a:pt x="200992" y="264319"/>
                </a:lnTo>
                <a:cubicBezTo>
                  <a:pt x="200992" y="279921"/>
                  <a:pt x="200992" y="295064"/>
                  <a:pt x="200992" y="309749"/>
                </a:cubicBezTo>
                <a:cubicBezTo>
                  <a:pt x="201910" y="317091"/>
                  <a:pt x="199616" y="321680"/>
                  <a:pt x="194109" y="323515"/>
                </a:cubicBezTo>
                <a:cubicBezTo>
                  <a:pt x="178507" y="329022"/>
                  <a:pt x="161987" y="333611"/>
                  <a:pt x="144549" y="337282"/>
                </a:cubicBezTo>
                <a:cubicBezTo>
                  <a:pt x="141796" y="338200"/>
                  <a:pt x="139960" y="338200"/>
                  <a:pt x="139043" y="337282"/>
                </a:cubicBezTo>
                <a:cubicBezTo>
                  <a:pt x="138125" y="337282"/>
                  <a:pt x="137666" y="335446"/>
                  <a:pt x="137666" y="331775"/>
                </a:cubicBezTo>
                <a:cubicBezTo>
                  <a:pt x="138584" y="324433"/>
                  <a:pt x="139043" y="313879"/>
                  <a:pt x="139043" y="300112"/>
                </a:cubicBezTo>
                <a:cubicBezTo>
                  <a:pt x="139960" y="285428"/>
                  <a:pt x="140419" y="274414"/>
                  <a:pt x="140419" y="267072"/>
                </a:cubicBezTo>
                <a:lnTo>
                  <a:pt x="128029" y="267072"/>
                </a:lnTo>
                <a:cubicBezTo>
                  <a:pt x="111509" y="268908"/>
                  <a:pt x="99578" y="269826"/>
                  <a:pt x="92236" y="269826"/>
                </a:cubicBezTo>
                <a:lnTo>
                  <a:pt x="74340" y="245046"/>
                </a:lnTo>
                <a:cubicBezTo>
                  <a:pt x="92695" y="245046"/>
                  <a:pt x="108297" y="244587"/>
                  <a:pt x="121146" y="243669"/>
                </a:cubicBezTo>
                <a:lnTo>
                  <a:pt x="140419" y="243669"/>
                </a:lnTo>
                <a:cubicBezTo>
                  <a:pt x="141337" y="217971"/>
                  <a:pt x="141796" y="192733"/>
                  <a:pt x="141796" y="167953"/>
                </a:cubicBezTo>
                <a:cubicBezTo>
                  <a:pt x="106003" y="221183"/>
                  <a:pt x="60114" y="262483"/>
                  <a:pt x="4130" y="291852"/>
                </a:cubicBezTo>
                <a:lnTo>
                  <a:pt x="0" y="284969"/>
                </a:lnTo>
                <a:cubicBezTo>
                  <a:pt x="47724" y="229902"/>
                  <a:pt x="85812" y="169329"/>
                  <a:pt x="114263" y="103250"/>
                </a:cubicBezTo>
                <a:lnTo>
                  <a:pt x="83976" y="104626"/>
                </a:lnTo>
                <a:cubicBezTo>
                  <a:pt x="66538" y="105544"/>
                  <a:pt x="51395" y="106462"/>
                  <a:pt x="38546" y="107380"/>
                </a:cubicBezTo>
                <a:lnTo>
                  <a:pt x="17897" y="81223"/>
                </a:lnTo>
                <a:cubicBezTo>
                  <a:pt x="26156" y="82141"/>
                  <a:pt x="42218" y="82141"/>
                  <a:pt x="66080" y="81223"/>
                </a:cubicBezTo>
                <a:cubicBezTo>
                  <a:pt x="71586" y="81223"/>
                  <a:pt x="75257" y="81223"/>
                  <a:pt x="77093" y="81223"/>
                </a:cubicBezTo>
                <a:lnTo>
                  <a:pt x="143173" y="78470"/>
                </a:lnTo>
                <a:cubicBezTo>
                  <a:pt x="143173" y="55525"/>
                  <a:pt x="142714" y="32581"/>
                  <a:pt x="141796" y="9637"/>
                </a:cubicBezTo>
                <a:cubicBezTo>
                  <a:pt x="141796" y="5048"/>
                  <a:pt x="142255" y="2295"/>
                  <a:pt x="143173" y="1377"/>
                </a:cubicBezTo>
                <a:close/>
                <a:moveTo>
                  <a:pt x="488714" y="0"/>
                </a:moveTo>
                <a:cubicBezTo>
                  <a:pt x="522672" y="1836"/>
                  <a:pt x="545616" y="6425"/>
                  <a:pt x="557547" y="13767"/>
                </a:cubicBezTo>
                <a:cubicBezTo>
                  <a:pt x="565807" y="17438"/>
                  <a:pt x="567184" y="22944"/>
                  <a:pt x="561677" y="30287"/>
                </a:cubicBezTo>
                <a:cubicBezTo>
                  <a:pt x="558924" y="33040"/>
                  <a:pt x="555712" y="35793"/>
                  <a:pt x="552041" y="38547"/>
                </a:cubicBezTo>
                <a:lnTo>
                  <a:pt x="593340" y="37170"/>
                </a:lnTo>
                <a:cubicBezTo>
                  <a:pt x="611696" y="35334"/>
                  <a:pt x="627757" y="33040"/>
                  <a:pt x="641524" y="30287"/>
                </a:cubicBezTo>
                <a:cubicBezTo>
                  <a:pt x="644277" y="32122"/>
                  <a:pt x="648407" y="35793"/>
                  <a:pt x="653913" y="41300"/>
                </a:cubicBezTo>
                <a:cubicBezTo>
                  <a:pt x="658502" y="45889"/>
                  <a:pt x="661715" y="49101"/>
                  <a:pt x="663550" y="50937"/>
                </a:cubicBezTo>
                <a:cubicBezTo>
                  <a:pt x="666303" y="53690"/>
                  <a:pt x="667221" y="55525"/>
                  <a:pt x="666303" y="56443"/>
                </a:cubicBezTo>
                <a:cubicBezTo>
                  <a:pt x="665386" y="57361"/>
                  <a:pt x="662632" y="57820"/>
                  <a:pt x="658043" y="57820"/>
                </a:cubicBezTo>
                <a:cubicBezTo>
                  <a:pt x="654372" y="57820"/>
                  <a:pt x="647030" y="57820"/>
                  <a:pt x="636017" y="57820"/>
                </a:cubicBezTo>
                <a:cubicBezTo>
                  <a:pt x="619497" y="58738"/>
                  <a:pt x="608025" y="59196"/>
                  <a:pt x="601600" y="59196"/>
                </a:cubicBezTo>
                <a:cubicBezTo>
                  <a:pt x="603436" y="61032"/>
                  <a:pt x="606189" y="62868"/>
                  <a:pt x="609860" y="64703"/>
                </a:cubicBezTo>
                <a:cubicBezTo>
                  <a:pt x="612614" y="66539"/>
                  <a:pt x="615367" y="68374"/>
                  <a:pt x="618120" y="70210"/>
                </a:cubicBezTo>
                <a:cubicBezTo>
                  <a:pt x="619956" y="71128"/>
                  <a:pt x="620874" y="72504"/>
                  <a:pt x="620874" y="74340"/>
                </a:cubicBezTo>
                <a:cubicBezTo>
                  <a:pt x="619956" y="75258"/>
                  <a:pt x="618579" y="76175"/>
                  <a:pt x="616744" y="77093"/>
                </a:cubicBezTo>
                <a:cubicBezTo>
                  <a:pt x="614908" y="78011"/>
                  <a:pt x="611696" y="79387"/>
                  <a:pt x="607107" y="81223"/>
                </a:cubicBezTo>
                <a:cubicBezTo>
                  <a:pt x="603436" y="83059"/>
                  <a:pt x="600224" y="84435"/>
                  <a:pt x="597470" y="85353"/>
                </a:cubicBezTo>
                <a:cubicBezTo>
                  <a:pt x="593799" y="88106"/>
                  <a:pt x="589669" y="89942"/>
                  <a:pt x="585080" y="90860"/>
                </a:cubicBezTo>
                <a:lnTo>
                  <a:pt x="619497" y="89483"/>
                </a:lnTo>
                <a:cubicBezTo>
                  <a:pt x="620415" y="89483"/>
                  <a:pt x="622250" y="89483"/>
                  <a:pt x="625004" y="89483"/>
                </a:cubicBezTo>
                <a:cubicBezTo>
                  <a:pt x="647948" y="87647"/>
                  <a:pt x="664009" y="85353"/>
                  <a:pt x="673187" y="82600"/>
                </a:cubicBezTo>
                <a:cubicBezTo>
                  <a:pt x="685118" y="94531"/>
                  <a:pt x="692001" y="101873"/>
                  <a:pt x="693837" y="104626"/>
                </a:cubicBezTo>
                <a:cubicBezTo>
                  <a:pt x="695672" y="107380"/>
                  <a:pt x="696590" y="109215"/>
                  <a:pt x="696590" y="110133"/>
                </a:cubicBezTo>
                <a:cubicBezTo>
                  <a:pt x="695672" y="111051"/>
                  <a:pt x="693378" y="111510"/>
                  <a:pt x="689707" y="111510"/>
                </a:cubicBezTo>
                <a:cubicBezTo>
                  <a:pt x="669516" y="111510"/>
                  <a:pt x="648866" y="111968"/>
                  <a:pt x="627757" y="112886"/>
                </a:cubicBezTo>
                <a:lnTo>
                  <a:pt x="598847" y="114263"/>
                </a:lnTo>
                <a:lnTo>
                  <a:pt x="600224" y="114263"/>
                </a:lnTo>
                <a:cubicBezTo>
                  <a:pt x="608484" y="118852"/>
                  <a:pt x="621791" y="126653"/>
                  <a:pt x="640147" y="137666"/>
                </a:cubicBezTo>
                <a:cubicBezTo>
                  <a:pt x="642900" y="139502"/>
                  <a:pt x="644736" y="140878"/>
                  <a:pt x="645654" y="141796"/>
                </a:cubicBezTo>
                <a:cubicBezTo>
                  <a:pt x="650242" y="144549"/>
                  <a:pt x="652537" y="146844"/>
                  <a:pt x="652537" y="148679"/>
                </a:cubicBezTo>
                <a:cubicBezTo>
                  <a:pt x="652537" y="150515"/>
                  <a:pt x="650701" y="152350"/>
                  <a:pt x="647030" y="154186"/>
                </a:cubicBezTo>
                <a:cubicBezTo>
                  <a:pt x="643359" y="155104"/>
                  <a:pt x="641524" y="157857"/>
                  <a:pt x="641524" y="162446"/>
                </a:cubicBezTo>
                <a:cubicBezTo>
                  <a:pt x="640606" y="170706"/>
                  <a:pt x="640147" y="186308"/>
                  <a:pt x="640147" y="209252"/>
                </a:cubicBezTo>
                <a:cubicBezTo>
                  <a:pt x="640147" y="214759"/>
                  <a:pt x="638311" y="218889"/>
                  <a:pt x="634640" y="221642"/>
                </a:cubicBezTo>
                <a:cubicBezTo>
                  <a:pt x="621791" y="227149"/>
                  <a:pt x="608484" y="231738"/>
                  <a:pt x="594717" y="235409"/>
                </a:cubicBezTo>
                <a:cubicBezTo>
                  <a:pt x="587375" y="238162"/>
                  <a:pt x="583704" y="235868"/>
                  <a:pt x="583704" y="228526"/>
                </a:cubicBezTo>
                <a:lnTo>
                  <a:pt x="583704" y="224396"/>
                </a:lnTo>
                <a:cubicBezTo>
                  <a:pt x="574526" y="224396"/>
                  <a:pt x="563513" y="224855"/>
                  <a:pt x="550664" y="225772"/>
                </a:cubicBezTo>
                <a:cubicBezTo>
                  <a:pt x="550664" y="225772"/>
                  <a:pt x="551582" y="226231"/>
                  <a:pt x="553417" y="227149"/>
                </a:cubicBezTo>
                <a:cubicBezTo>
                  <a:pt x="556171" y="228067"/>
                  <a:pt x="557088" y="229443"/>
                  <a:pt x="556171" y="231279"/>
                </a:cubicBezTo>
                <a:cubicBezTo>
                  <a:pt x="556171" y="236786"/>
                  <a:pt x="556171" y="242292"/>
                  <a:pt x="556171" y="247799"/>
                </a:cubicBezTo>
                <a:lnTo>
                  <a:pt x="607107" y="245046"/>
                </a:lnTo>
                <a:cubicBezTo>
                  <a:pt x="630969" y="245046"/>
                  <a:pt x="655290" y="243210"/>
                  <a:pt x="680070" y="239539"/>
                </a:cubicBezTo>
                <a:cubicBezTo>
                  <a:pt x="683741" y="243210"/>
                  <a:pt x="689707" y="250552"/>
                  <a:pt x="697967" y="261566"/>
                </a:cubicBezTo>
                <a:cubicBezTo>
                  <a:pt x="699802" y="264319"/>
                  <a:pt x="700720" y="266154"/>
                  <a:pt x="700720" y="267072"/>
                </a:cubicBezTo>
                <a:cubicBezTo>
                  <a:pt x="699802" y="267990"/>
                  <a:pt x="697967" y="268449"/>
                  <a:pt x="695213" y="268449"/>
                </a:cubicBezTo>
                <a:cubicBezTo>
                  <a:pt x="658502" y="268449"/>
                  <a:pt x="632346" y="268908"/>
                  <a:pt x="616744" y="269826"/>
                </a:cubicBezTo>
                <a:lnTo>
                  <a:pt x="556171" y="271202"/>
                </a:lnTo>
                <a:lnTo>
                  <a:pt x="556171" y="315255"/>
                </a:lnTo>
                <a:cubicBezTo>
                  <a:pt x="557088" y="320762"/>
                  <a:pt x="554794" y="323974"/>
                  <a:pt x="549287" y="324892"/>
                </a:cubicBezTo>
                <a:cubicBezTo>
                  <a:pt x="533685" y="329481"/>
                  <a:pt x="516706" y="332693"/>
                  <a:pt x="498351" y="334529"/>
                </a:cubicBezTo>
                <a:cubicBezTo>
                  <a:pt x="494680" y="335446"/>
                  <a:pt x="492844" y="333611"/>
                  <a:pt x="492844" y="329022"/>
                </a:cubicBezTo>
                <a:cubicBezTo>
                  <a:pt x="493762" y="322598"/>
                  <a:pt x="494221" y="303783"/>
                  <a:pt x="494221" y="272579"/>
                </a:cubicBezTo>
                <a:lnTo>
                  <a:pt x="426765" y="275332"/>
                </a:lnTo>
                <a:cubicBezTo>
                  <a:pt x="414834" y="275332"/>
                  <a:pt x="397855" y="276250"/>
                  <a:pt x="375828" y="278085"/>
                </a:cubicBezTo>
                <a:lnTo>
                  <a:pt x="359308" y="253306"/>
                </a:lnTo>
                <a:cubicBezTo>
                  <a:pt x="394184" y="253306"/>
                  <a:pt x="415292" y="252847"/>
                  <a:pt x="422635" y="251929"/>
                </a:cubicBezTo>
                <a:lnTo>
                  <a:pt x="494221" y="250552"/>
                </a:lnTo>
                <a:lnTo>
                  <a:pt x="494221" y="227149"/>
                </a:lnTo>
                <a:lnTo>
                  <a:pt x="466688" y="228526"/>
                </a:lnTo>
                <a:cubicBezTo>
                  <a:pt x="466688" y="229443"/>
                  <a:pt x="464852" y="230820"/>
                  <a:pt x="461181" y="232656"/>
                </a:cubicBezTo>
                <a:cubicBezTo>
                  <a:pt x="451086" y="237245"/>
                  <a:pt x="435942" y="241375"/>
                  <a:pt x="415751" y="245046"/>
                </a:cubicBezTo>
                <a:cubicBezTo>
                  <a:pt x="412080" y="246881"/>
                  <a:pt x="410245" y="244587"/>
                  <a:pt x="410245" y="238162"/>
                </a:cubicBezTo>
                <a:cubicBezTo>
                  <a:pt x="411162" y="227149"/>
                  <a:pt x="411621" y="203287"/>
                  <a:pt x="411621" y="166576"/>
                </a:cubicBezTo>
                <a:cubicBezTo>
                  <a:pt x="411621" y="155563"/>
                  <a:pt x="411621" y="143173"/>
                  <a:pt x="411621" y="129406"/>
                </a:cubicBezTo>
                <a:cubicBezTo>
                  <a:pt x="411621" y="124817"/>
                  <a:pt x="412080" y="122523"/>
                  <a:pt x="412998" y="122523"/>
                </a:cubicBezTo>
                <a:cubicBezTo>
                  <a:pt x="402902" y="122523"/>
                  <a:pt x="391430" y="123441"/>
                  <a:pt x="378581" y="125276"/>
                </a:cubicBezTo>
                <a:lnTo>
                  <a:pt x="357932" y="99120"/>
                </a:lnTo>
                <a:cubicBezTo>
                  <a:pt x="382711" y="99120"/>
                  <a:pt x="403820" y="99120"/>
                  <a:pt x="421258" y="99120"/>
                </a:cubicBezTo>
                <a:lnTo>
                  <a:pt x="459804" y="96366"/>
                </a:lnTo>
                <a:cubicBezTo>
                  <a:pt x="457051" y="90860"/>
                  <a:pt x="451086" y="81223"/>
                  <a:pt x="441908" y="67456"/>
                </a:cubicBezTo>
                <a:cubicBezTo>
                  <a:pt x="438237" y="68374"/>
                  <a:pt x="431812" y="68833"/>
                  <a:pt x="422635" y="68833"/>
                </a:cubicBezTo>
                <a:cubicBezTo>
                  <a:pt x="412539" y="69751"/>
                  <a:pt x="405656" y="70210"/>
                  <a:pt x="401985" y="70210"/>
                </a:cubicBezTo>
                <a:lnTo>
                  <a:pt x="382711" y="46807"/>
                </a:lnTo>
                <a:cubicBezTo>
                  <a:pt x="390971" y="46807"/>
                  <a:pt x="402902" y="46348"/>
                  <a:pt x="418505" y="45430"/>
                </a:cubicBezTo>
                <a:cubicBezTo>
                  <a:pt x="429518" y="45430"/>
                  <a:pt x="436860" y="45430"/>
                  <a:pt x="440531" y="45430"/>
                </a:cubicBezTo>
                <a:lnTo>
                  <a:pt x="506611" y="41300"/>
                </a:lnTo>
                <a:cubicBezTo>
                  <a:pt x="502940" y="33958"/>
                  <a:pt x="494680" y="22027"/>
                  <a:pt x="481831" y="5507"/>
                </a:cubicBezTo>
                <a:close/>
              </a:path>
            </a:pathLst>
          </a:custGeom>
          <a:solidFill>
            <a:srgbClr val="007684"/>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2800" dirty="0">
              <a:solidFill>
                <a:srgbClr val="007684"/>
              </a:solidFill>
              <a:latin typeface="方正颜宋简体_大" panose="02000000000000000000" pitchFamily="2" charset="-122"/>
              <a:ea typeface="方正颜宋简体_大" panose="02000000000000000000" pitchFamily="2" charset="-122"/>
              <a:cs typeface="方正颜宋简体_大" panose="02000000000000000000" pitchFamily="2"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3" cstate="print">
            <a:extLst>
              <a:ext uri="{28A0092B-C50C-407E-A947-70E740481C1C}">
                <a14:useLocalDpi xmlns:a14="http://schemas.microsoft.com/office/drawing/2010/main" val="0"/>
              </a:ext>
            </a:extLst>
          </a:blip>
          <a:srcRect l="20226" t="32053" r="20333"/>
          <a:stretch>
            <a:fillRect/>
          </a:stretch>
        </p:blipFill>
        <p:spPr>
          <a:xfrm>
            <a:off x="-38911" y="-77822"/>
            <a:ext cx="7247108" cy="3570513"/>
          </a:xfrm>
          <a:prstGeom prst="rect">
            <a:avLst/>
          </a:prstGeom>
        </p:spPr>
      </p:pic>
      <p:pic>
        <p:nvPicPr>
          <p:cNvPr id="3" name="图片 2"/>
          <p:cNvPicPr>
            <a:picLocks noChangeAspect="1"/>
          </p:cNvPicPr>
          <p:nvPr/>
        </p:nvPicPr>
        <p:blipFill rotWithShape="1">
          <a:blip r:embed="rId4" cstate="print">
            <a:extLst>
              <a:ext uri="{28A0092B-C50C-407E-A947-70E740481C1C}">
                <a14:useLocalDpi xmlns:a14="http://schemas.microsoft.com/office/drawing/2010/main" val="0"/>
              </a:ext>
            </a:extLst>
          </a:blip>
          <a:srcRect t="54756" r="67172"/>
          <a:stretch>
            <a:fillRect/>
          </a:stretch>
        </p:blipFill>
        <p:spPr>
          <a:xfrm>
            <a:off x="8244776" y="-48638"/>
            <a:ext cx="4002347" cy="2377520"/>
          </a:xfrm>
          <a:prstGeom prst="rect">
            <a:avLst/>
          </a:prstGeom>
        </p:spPr>
      </p:pic>
      <p:pic>
        <p:nvPicPr>
          <p:cNvPr id="4" name="图片 3"/>
          <p:cNvPicPr>
            <a:picLocks noChangeAspect="1"/>
          </p:cNvPicPr>
          <p:nvPr/>
        </p:nvPicPr>
        <p:blipFill rotWithShape="1">
          <a:blip r:embed="rId5" cstate="print">
            <a:extLst>
              <a:ext uri="{28A0092B-C50C-407E-A947-70E740481C1C}">
                <a14:useLocalDpi xmlns:a14="http://schemas.microsoft.com/office/drawing/2010/main" val="0"/>
              </a:ext>
            </a:extLst>
          </a:blip>
          <a:srcRect l="24826" b="55447"/>
          <a:stretch>
            <a:fillRect/>
          </a:stretch>
        </p:blipFill>
        <p:spPr>
          <a:xfrm>
            <a:off x="-24384" y="4587109"/>
            <a:ext cx="9165288" cy="2546903"/>
          </a:xfrm>
          <a:prstGeom prst="rect">
            <a:avLst/>
          </a:prstGeom>
        </p:spPr>
      </p:pic>
      <p:grpSp>
        <p:nvGrpSpPr>
          <p:cNvPr id="14" name="组合 13"/>
          <p:cNvGrpSpPr/>
          <p:nvPr/>
        </p:nvGrpSpPr>
        <p:grpSpPr>
          <a:xfrm>
            <a:off x="-875295" y="-875664"/>
            <a:ext cx="2974038" cy="2745105"/>
            <a:chOff x="6175344" y="342254"/>
            <a:chExt cx="7829785" cy="7227071"/>
          </a:xfrm>
        </p:grpSpPr>
        <p:sp>
          <p:nvSpPr>
            <p:cNvPr id="15" name="六边形 1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1259840" y="635784"/>
            <a:ext cx="823697" cy="760292"/>
            <a:chOff x="6175344" y="342254"/>
            <a:chExt cx="7829785" cy="7227071"/>
          </a:xfrm>
        </p:grpSpPr>
        <p:sp>
          <p:nvSpPr>
            <p:cNvPr id="18" name="六边形 17"/>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平行四边形 18"/>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 name="矩形: 圆角 7"/>
          <p:cNvSpPr/>
          <p:nvPr/>
        </p:nvSpPr>
        <p:spPr>
          <a:xfrm>
            <a:off x="2421652" y="2038221"/>
            <a:ext cx="7054775" cy="3118500"/>
          </a:xfrm>
          <a:prstGeom prst="roundRect">
            <a:avLst>
              <a:gd name="adj" fmla="val 0"/>
            </a:avLst>
          </a:prstGeom>
          <a:solidFill>
            <a:schemeClr val="tx1">
              <a:lumMod val="95000"/>
              <a:lumOff val="5000"/>
              <a:alpha val="5000"/>
            </a:schemeClr>
          </a:solidFill>
          <a:ln>
            <a:solidFill>
              <a:schemeClr val="bg1"/>
            </a:solidFill>
          </a:ln>
          <a:effectLst>
            <a:outerShdw blurRad="1524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7" name="组合 36"/>
          <p:cNvGrpSpPr/>
          <p:nvPr/>
        </p:nvGrpSpPr>
        <p:grpSpPr>
          <a:xfrm>
            <a:off x="7558543" y="954064"/>
            <a:ext cx="5262302" cy="5007863"/>
            <a:chOff x="6175345" y="153244"/>
            <a:chExt cx="7792878" cy="7416082"/>
          </a:xfrm>
        </p:grpSpPr>
        <p:grpSp>
          <p:nvGrpSpPr>
            <p:cNvPr id="32" name="组合 31"/>
            <p:cNvGrpSpPr/>
            <p:nvPr/>
          </p:nvGrpSpPr>
          <p:grpSpPr>
            <a:xfrm>
              <a:off x="6175345" y="342257"/>
              <a:ext cx="7792878" cy="7227069"/>
              <a:chOff x="5983104" y="1708488"/>
              <a:chExt cx="4080721" cy="3784437"/>
            </a:xfrm>
          </p:grpSpPr>
          <p:sp>
            <p:nvSpPr>
              <p:cNvPr id="33" name="六边形 32"/>
              <p:cNvSpPr/>
              <p:nvPr/>
            </p:nvSpPr>
            <p:spPr>
              <a:xfrm rot="5400000">
                <a:off x="5811401" y="1880191"/>
                <a:ext cx="3784437" cy="3441032"/>
              </a:xfrm>
              <a:prstGeom prst="hexagon">
                <a:avLst>
                  <a:gd name="adj" fmla="val 30493"/>
                  <a:gd name="vf" fmla="val 115470"/>
                </a:avLst>
              </a:prstGeom>
              <a:gradFill>
                <a:gsLst>
                  <a:gs pos="77000">
                    <a:srgbClr val="016773"/>
                  </a:gs>
                  <a:gs pos="100000">
                    <a:srgbClr val="007684"/>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平行四边形 33"/>
              <p:cNvSpPr/>
              <p:nvPr/>
            </p:nvSpPr>
            <p:spPr>
              <a:xfrm rot="19714174">
                <a:off x="7064019" y="3212601"/>
                <a:ext cx="2999806" cy="1616793"/>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6" name="文本框 35"/>
            <p:cNvSpPr txBox="1"/>
            <p:nvPr/>
          </p:nvSpPr>
          <p:spPr>
            <a:xfrm rot="1849986">
              <a:off x="8151150" y="153244"/>
              <a:ext cx="4944370" cy="2163608"/>
            </a:xfrm>
            <a:prstGeom prst="rect">
              <a:avLst/>
            </a:prstGeom>
            <a:noFill/>
          </p:spPr>
          <p:txBody>
            <a:bodyPr wrap="square" rtlCol="0">
              <a:noAutofit/>
              <a:scene3d>
                <a:camera prst="isometricTopUp">
                  <a:rot lat="19176265" lon="2388000" rev="19890000"/>
                </a:camera>
                <a:lightRig rig="threePt" dir="t"/>
              </a:scene3d>
            </a:bodyPr>
            <a:lstStyle/>
            <a:p>
              <a:pPr algn="ctr"/>
              <a:r>
                <a:rPr lang="en-US" altLang="zh-CN" sz="11500" b="1" dirty="0">
                  <a:gradFill>
                    <a:gsLst>
                      <a:gs pos="30000">
                        <a:srgbClr val="007684"/>
                      </a:gs>
                      <a:gs pos="83000">
                        <a:srgbClr val="016773"/>
                      </a:gs>
                    </a:gsLst>
                    <a:lin ang="5400000" scaled="0"/>
                  </a:gradFill>
                  <a:latin typeface="Bauhaus 93" panose="04030905020B02020C02" pitchFamily="82" charset="0"/>
                  <a:ea typeface="Segoe UI Black" panose="020B0A02040204020203" pitchFamily="34" charset="0"/>
                </a:rPr>
                <a:t>101</a:t>
              </a:r>
              <a:endParaRPr lang="zh-CN" altLang="en-US" sz="11500" b="1" dirty="0">
                <a:gradFill>
                  <a:gsLst>
                    <a:gs pos="30000">
                      <a:srgbClr val="007684"/>
                    </a:gs>
                    <a:gs pos="83000">
                      <a:srgbClr val="016773"/>
                    </a:gs>
                  </a:gsLst>
                  <a:lin ang="5400000" scaled="0"/>
                </a:gradFill>
                <a:latin typeface="Bauhaus 93" panose="04030905020B02020C02" pitchFamily="82" charset="0"/>
              </a:endParaRPr>
            </a:p>
          </p:txBody>
        </p:sp>
      </p:grpSp>
      <p:grpSp>
        <p:nvGrpSpPr>
          <p:cNvPr id="23" name="组合 22"/>
          <p:cNvGrpSpPr/>
          <p:nvPr/>
        </p:nvGrpSpPr>
        <p:grpSpPr>
          <a:xfrm>
            <a:off x="3774000" y="4177005"/>
            <a:ext cx="4644000" cy="124808"/>
            <a:chOff x="3774000" y="4177005"/>
            <a:chExt cx="4644000" cy="124808"/>
          </a:xfrm>
        </p:grpSpPr>
        <p:pic>
          <p:nvPicPr>
            <p:cNvPr id="24" name="图片 23"/>
            <p:cNvPicPr>
              <a:picLocks noChangeAspect="1" noChangeArrowheads="1"/>
            </p:cNvPicPr>
            <p:nvPr/>
          </p:nvPicPr>
          <p:blipFill>
            <a:blip r:embed="rId6">
              <a:biLevel thresh="50000"/>
              <a:grayscl/>
              <a:extLst>
                <a:ext uri="{28A0092B-C50C-407E-A947-70E740481C1C}">
                  <a14:useLocalDpi xmlns:a14="http://schemas.microsoft.com/office/drawing/2010/main" val="0"/>
                </a:ext>
              </a:extLst>
            </a:blip>
            <a:srcRect l="88019" t="22713" r="2956" b="25211"/>
            <a:stretch>
              <a:fillRect/>
            </a:stretch>
          </p:blipFill>
          <p:spPr bwMode="auto">
            <a:xfrm rot="5400000">
              <a:off x="6033596" y="1917409"/>
              <a:ext cx="124808" cy="464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pic>
        <p:cxnSp>
          <p:nvCxnSpPr>
            <p:cNvPr id="25" name="直接连接符 24"/>
            <p:cNvCxnSpPr/>
            <p:nvPr/>
          </p:nvCxnSpPr>
          <p:spPr>
            <a:xfrm>
              <a:off x="3936000" y="4177005"/>
              <a:ext cx="4320000" cy="0"/>
            </a:xfrm>
            <a:prstGeom prst="line">
              <a:avLst/>
            </a:prstGeom>
            <a:ln w="12700">
              <a:gradFill>
                <a:gsLst>
                  <a:gs pos="0">
                    <a:schemeClr val="accent1">
                      <a:lumMod val="5000"/>
                      <a:lumOff val="95000"/>
                      <a:alpha val="0"/>
                    </a:schemeClr>
                  </a:gs>
                  <a:gs pos="69000">
                    <a:schemeClr val="bg1"/>
                  </a:gs>
                  <a:gs pos="100000">
                    <a:schemeClr val="bg1">
                      <a:alpha val="0"/>
                    </a:schemeClr>
                  </a:gs>
                  <a:gs pos="40000">
                    <a:schemeClr val="bg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a:off x="890173" y="4315438"/>
            <a:ext cx="2268815" cy="2101347"/>
            <a:chOff x="6175344" y="342254"/>
            <a:chExt cx="7803037" cy="7227071"/>
          </a:xfrm>
        </p:grpSpPr>
        <p:sp>
          <p:nvSpPr>
            <p:cNvPr id="6" name="六边形 5"/>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p:nvGrpSpPr>
        <p:grpSpPr>
          <a:xfrm>
            <a:off x="174548" y="5375868"/>
            <a:ext cx="1123874" cy="1040917"/>
            <a:chOff x="6175344" y="342254"/>
            <a:chExt cx="7803037" cy="7227071"/>
          </a:xfrm>
        </p:grpSpPr>
        <p:sp>
          <p:nvSpPr>
            <p:cNvPr id="12" name="六边形 11"/>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平行四边形 12"/>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4" name="组合 43"/>
          <p:cNvGrpSpPr/>
          <p:nvPr/>
        </p:nvGrpSpPr>
        <p:grpSpPr>
          <a:xfrm>
            <a:off x="10709077" y="4985964"/>
            <a:ext cx="1077639" cy="994687"/>
            <a:chOff x="6175344" y="342254"/>
            <a:chExt cx="7829785" cy="7227071"/>
          </a:xfrm>
        </p:grpSpPr>
        <p:sp>
          <p:nvSpPr>
            <p:cNvPr id="45" name="六边形 4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平行四边形 4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文本框 34"/>
          <p:cNvSpPr txBox="1"/>
          <p:nvPr/>
        </p:nvSpPr>
        <p:spPr>
          <a:xfrm>
            <a:off x="4453603" y="2835325"/>
            <a:ext cx="757461" cy="1054024"/>
          </a:xfrm>
          <a:custGeom>
            <a:avLst/>
            <a:gdLst/>
            <a:ahLst/>
            <a:cxnLst/>
            <a:rect l="l" t="t" r="r" b="b"/>
            <a:pathLst>
              <a:path w="757461" h="1054024">
                <a:moveTo>
                  <a:pt x="339552" y="504974"/>
                </a:moveTo>
                <a:lnTo>
                  <a:pt x="339552" y="583332"/>
                </a:lnTo>
                <a:lnTo>
                  <a:pt x="404850" y="583332"/>
                </a:lnTo>
                <a:lnTo>
                  <a:pt x="404850" y="504974"/>
                </a:lnTo>
                <a:close/>
                <a:moveTo>
                  <a:pt x="513681" y="422263"/>
                </a:moveTo>
                <a:cubicBezTo>
                  <a:pt x="563017" y="471599"/>
                  <a:pt x="587685" y="528191"/>
                  <a:pt x="587685" y="592038"/>
                </a:cubicBezTo>
                <a:cubicBezTo>
                  <a:pt x="587685" y="623962"/>
                  <a:pt x="578979" y="642826"/>
                  <a:pt x="561566" y="648630"/>
                </a:cubicBezTo>
                <a:cubicBezTo>
                  <a:pt x="526740" y="654434"/>
                  <a:pt x="510778" y="638473"/>
                  <a:pt x="513681" y="600745"/>
                </a:cubicBezTo>
                <a:cubicBezTo>
                  <a:pt x="519485" y="545604"/>
                  <a:pt x="516583" y="487561"/>
                  <a:pt x="504974" y="426616"/>
                </a:cubicBezTo>
                <a:close/>
                <a:moveTo>
                  <a:pt x="339552" y="365671"/>
                </a:moveTo>
                <a:lnTo>
                  <a:pt x="339552" y="439675"/>
                </a:lnTo>
                <a:lnTo>
                  <a:pt x="404850" y="439675"/>
                </a:lnTo>
                <a:lnTo>
                  <a:pt x="404850" y="365671"/>
                </a:lnTo>
                <a:close/>
                <a:moveTo>
                  <a:pt x="104478" y="252487"/>
                </a:moveTo>
                <a:lnTo>
                  <a:pt x="222015" y="296019"/>
                </a:lnTo>
                <a:lnTo>
                  <a:pt x="187189" y="339551"/>
                </a:lnTo>
                <a:lnTo>
                  <a:pt x="187189" y="796640"/>
                </a:lnTo>
                <a:cubicBezTo>
                  <a:pt x="204602" y="785031"/>
                  <a:pt x="230721" y="766167"/>
                  <a:pt x="265547" y="740048"/>
                </a:cubicBezTo>
                <a:lnTo>
                  <a:pt x="274253" y="748754"/>
                </a:lnTo>
                <a:cubicBezTo>
                  <a:pt x="227819" y="861938"/>
                  <a:pt x="162521" y="949003"/>
                  <a:pt x="78358" y="1009948"/>
                </a:cubicBezTo>
                <a:cubicBezTo>
                  <a:pt x="63848" y="969318"/>
                  <a:pt x="49337" y="927236"/>
                  <a:pt x="34826" y="883704"/>
                </a:cubicBezTo>
                <a:cubicBezTo>
                  <a:pt x="40630" y="880802"/>
                  <a:pt x="49337" y="876449"/>
                  <a:pt x="60946" y="870645"/>
                </a:cubicBezTo>
                <a:cubicBezTo>
                  <a:pt x="66750" y="864840"/>
                  <a:pt x="71103" y="861938"/>
                  <a:pt x="74005" y="861938"/>
                </a:cubicBezTo>
                <a:lnTo>
                  <a:pt x="74005" y="378730"/>
                </a:lnTo>
                <a:lnTo>
                  <a:pt x="0" y="378730"/>
                </a:lnTo>
                <a:lnTo>
                  <a:pt x="0" y="304726"/>
                </a:lnTo>
                <a:lnTo>
                  <a:pt x="65299" y="304726"/>
                </a:lnTo>
                <a:close/>
                <a:moveTo>
                  <a:pt x="339552" y="226368"/>
                </a:moveTo>
                <a:lnTo>
                  <a:pt x="339552" y="291666"/>
                </a:lnTo>
                <a:lnTo>
                  <a:pt x="404850" y="291666"/>
                </a:lnTo>
                <a:lnTo>
                  <a:pt x="404850" y="226368"/>
                </a:lnTo>
                <a:close/>
                <a:moveTo>
                  <a:pt x="605098" y="4353"/>
                </a:moveTo>
                <a:lnTo>
                  <a:pt x="713929" y="4353"/>
                </a:lnTo>
                <a:lnTo>
                  <a:pt x="713929" y="252487"/>
                </a:lnTo>
                <a:lnTo>
                  <a:pt x="757461" y="252487"/>
                </a:lnTo>
                <a:lnTo>
                  <a:pt x="757461" y="330845"/>
                </a:lnTo>
                <a:lnTo>
                  <a:pt x="713929" y="330845"/>
                </a:lnTo>
                <a:lnTo>
                  <a:pt x="713929" y="983828"/>
                </a:lnTo>
                <a:cubicBezTo>
                  <a:pt x="713929" y="1027361"/>
                  <a:pt x="670397" y="1050578"/>
                  <a:pt x="583332" y="1053480"/>
                </a:cubicBezTo>
                <a:cubicBezTo>
                  <a:pt x="568821" y="1053480"/>
                  <a:pt x="561566" y="1047676"/>
                  <a:pt x="561566" y="1036067"/>
                </a:cubicBezTo>
                <a:cubicBezTo>
                  <a:pt x="561566" y="998339"/>
                  <a:pt x="544153" y="975122"/>
                  <a:pt x="509327" y="966415"/>
                </a:cubicBezTo>
                <a:lnTo>
                  <a:pt x="509327" y="953356"/>
                </a:lnTo>
                <a:cubicBezTo>
                  <a:pt x="578979" y="962062"/>
                  <a:pt x="610903" y="956258"/>
                  <a:pt x="605098" y="935943"/>
                </a:cubicBezTo>
                <a:lnTo>
                  <a:pt x="605098" y="330845"/>
                </a:lnTo>
                <a:lnTo>
                  <a:pt x="509327" y="330845"/>
                </a:lnTo>
                <a:lnTo>
                  <a:pt x="509327" y="252487"/>
                </a:lnTo>
                <a:lnTo>
                  <a:pt x="605098" y="252487"/>
                </a:lnTo>
                <a:close/>
                <a:moveTo>
                  <a:pt x="56592" y="4353"/>
                </a:moveTo>
                <a:cubicBezTo>
                  <a:pt x="134950" y="24668"/>
                  <a:pt x="182836" y="62396"/>
                  <a:pt x="200249" y="117537"/>
                </a:cubicBezTo>
                <a:cubicBezTo>
                  <a:pt x="214759" y="158167"/>
                  <a:pt x="201700" y="187189"/>
                  <a:pt x="161070" y="204601"/>
                </a:cubicBezTo>
                <a:cubicBezTo>
                  <a:pt x="123342" y="216210"/>
                  <a:pt x="100125" y="203150"/>
                  <a:pt x="91418" y="165422"/>
                </a:cubicBezTo>
                <a:cubicBezTo>
                  <a:pt x="85614" y="98673"/>
                  <a:pt x="71103" y="46434"/>
                  <a:pt x="47886" y="8706"/>
                </a:cubicBezTo>
                <a:close/>
                <a:moveTo>
                  <a:pt x="313432" y="0"/>
                </a:moveTo>
                <a:lnTo>
                  <a:pt x="430969" y="0"/>
                </a:lnTo>
                <a:cubicBezTo>
                  <a:pt x="413556" y="72554"/>
                  <a:pt x="383084" y="124792"/>
                  <a:pt x="339552" y="156716"/>
                </a:cubicBezTo>
                <a:lnTo>
                  <a:pt x="400497" y="156716"/>
                </a:lnTo>
                <a:lnTo>
                  <a:pt x="426616" y="117537"/>
                </a:lnTo>
                <a:lnTo>
                  <a:pt x="535447" y="152363"/>
                </a:lnTo>
                <a:lnTo>
                  <a:pt x="496268" y="204601"/>
                </a:lnTo>
                <a:lnTo>
                  <a:pt x="496268" y="975122"/>
                </a:lnTo>
                <a:cubicBezTo>
                  <a:pt x="499170" y="1024458"/>
                  <a:pt x="455638" y="1050578"/>
                  <a:pt x="365671" y="1053480"/>
                </a:cubicBezTo>
                <a:cubicBezTo>
                  <a:pt x="348258" y="1056382"/>
                  <a:pt x="341003" y="1047676"/>
                  <a:pt x="343905" y="1027361"/>
                </a:cubicBezTo>
                <a:cubicBezTo>
                  <a:pt x="343905" y="992535"/>
                  <a:pt x="322139" y="972220"/>
                  <a:pt x="278607" y="966415"/>
                </a:cubicBezTo>
                <a:lnTo>
                  <a:pt x="278607" y="953356"/>
                </a:lnTo>
                <a:cubicBezTo>
                  <a:pt x="371475" y="959160"/>
                  <a:pt x="413556" y="951905"/>
                  <a:pt x="404850" y="931590"/>
                </a:cubicBezTo>
                <a:lnTo>
                  <a:pt x="404850" y="766167"/>
                </a:lnTo>
                <a:cubicBezTo>
                  <a:pt x="341003" y="853232"/>
                  <a:pt x="272802" y="912726"/>
                  <a:pt x="200249" y="944649"/>
                </a:cubicBezTo>
                <a:lnTo>
                  <a:pt x="195895" y="935943"/>
                </a:lnTo>
                <a:cubicBezTo>
                  <a:pt x="245232" y="877900"/>
                  <a:pt x="294568" y="782129"/>
                  <a:pt x="343905" y="648630"/>
                </a:cubicBezTo>
                <a:lnTo>
                  <a:pt x="213308" y="648630"/>
                </a:lnTo>
                <a:lnTo>
                  <a:pt x="213308" y="583332"/>
                </a:lnTo>
                <a:lnTo>
                  <a:pt x="248134" y="583332"/>
                </a:lnTo>
                <a:lnTo>
                  <a:pt x="248134" y="130597"/>
                </a:lnTo>
                <a:lnTo>
                  <a:pt x="300373" y="130597"/>
                </a:lnTo>
                <a:cubicBezTo>
                  <a:pt x="311981" y="84162"/>
                  <a:pt x="316335" y="40630"/>
                  <a:pt x="313432"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38" name="文本框 37"/>
          <p:cNvSpPr txBox="1"/>
          <p:nvPr/>
        </p:nvSpPr>
        <p:spPr>
          <a:xfrm>
            <a:off x="5307690" y="2835325"/>
            <a:ext cx="757461" cy="1054024"/>
          </a:xfrm>
          <a:custGeom>
            <a:avLst/>
            <a:gdLst/>
            <a:ahLst/>
            <a:cxnLst/>
            <a:rect l="l" t="t" r="r" b="b"/>
            <a:pathLst>
              <a:path w="757461" h="1054024">
                <a:moveTo>
                  <a:pt x="339552" y="504974"/>
                </a:moveTo>
                <a:lnTo>
                  <a:pt x="339552" y="583332"/>
                </a:lnTo>
                <a:lnTo>
                  <a:pt x="404850" y="583332"/>
                </a:lnTo>
                <a:lnTo>
                  <a:pt x="404850" y="504974"/>
                </a:lnTo>
                <a:close/>
                <a:moveTo>
                  <a:pt x="513681" y="422263"/>
                </a:moveTo>
                <a:cubicBezTo>
                  <a:pt x="563017" y="471599"/>
                  <a:pt x="587685" y="528191"/>
                  <a:pt x="587685" y="592038"/>
                </a:cubicBezTo>
                <a:cubicBezTo>
                  <a:pt x="587685" y="623962"/>
                  <a:pt x="578979" y="642826"/>
                  <a:pt x="561566" y="648630"/>
                </a:cubicBezTo>
                <a:cubicBezTo>
                  <a:pt x="526740" y="654434"/>
                  <a:pt x="510778" y="638473"/>
                  <a:pt x="513681" y="600745"/>
                </a:cubicBezTo>
                <a:cubicBezTo>
                  <a:pt x="519485" y="545604"/>
                  <a:pt x="516583" y="487561"/>
                  <a:pt x="504974" y="426616"/>
                </a:cubicBezTo>
                <a:close/>
                <a:moveTo>
                  <a:pt x="339552" y="365671"/>
                </a:moveTo>
                <a:lnTo>
                  <a:pt x="339552" y="439675"/>
                </a:lnTo>
                <a:lnTo>
                  <a:pt x="404850" y="439675"/>
                </a:lnTo>
                <a:lnTo>
                  <a:pt x="404850" y="365671"/>
                </a:lnTo>
                <a:close/>
                <a:moveTo>
                  <a:pt x="104478" y="252487"/>
                </a:moveTo>
                <a:lnTo>
                  <a:pt x="222015" y="296019"/>
                </a:lnTo>
                <a:lnTo>
                  <a:pt x="187189" y="339551"/>
                </a:lnTo>
                <a:lnTo>
                  <a:pt x="187189" y="796640"/>
                </a:lnTo>
                <a:cubicBezTo>
                  <a:pt x="204602" y="785031"/>
                  <a:pt x="230721" y="766167"/>
                  <a:pt x="265547" y="740048"/>
                </a:cubicBezTo>
                <a:lnTo>
                  <a:pt x="274253" y="748754"/>
                </a:lnTo>
                <a:cubicBezTo>
                  <a:pt x="227819" y="861938"/>
                  <a:pt x="162521" y="949003"/>
                  <a:pt x="78358" y="1009948"/>
                </a:cubicBezTo>
                <a:cubicBezTo>
                  <a:pt x="63848" y="969318"/>
                  <a:pt x="49337" y="927236"/>
                  <a:pt x="34826" y="883704"/>
                </a:cubicBezTo>
                <a:cubicBezTo>
                  <a:pt x="40630" y="880802"/>
                  <a:pt x="49337" y="876449"/>
                  <a:pt x="60946" y="870645"/>
                </a:cubicBezTo>
                <a:cubicBezTo>
                  <a:pt x="66750" y="864840"/>
                  <a:pt x="71103" y="861938"/>
                  <a:pt x="74005" y="861938"/>
                </a:cubicBezTo>
                <a:lnTo>
                  <a:pt x="74005" y="378730"/>
                </a:lnTo>
                <a:lnTo>
                  <a:pt x="0" y="378730"/>
                </a:lnTo>
                <a:lnTo>
                  <a:pt x="0" y="304726"/>
                </a:lnTo>
                <a:lnTo>
                  <a:pt x="65299" y="304726"/>
                </a:lnTo>
                <a:close/>
                <a:moveTo>
                  <a:pt x="339552" y="226368"/>
                </a:moveTo>
                <a:lnTo>
                  <a:pt x="339552" y="291666"/>
                </a:lnTo>
                <a:lnTo>
                  <a:pt x="404850" y="291666"/>
                </a:lnTo>
                <a:lnTo>
                  <a:pt x="404850" y="226368"/>
                </a:lnTo>
                <a:close/>
                <a:moveTo>
                  <a:pt x="605098" y="4353"/>
                </a:moveTo>
                <a:lnTo>
                  <a:pt x="713929" y="4353"/>
                </a:lnTo>
                <a:lnTo>
                  <a:pt x="713929" y="252487"/>
                </a:lnTo>
                <a:lnTo>
                  <a:pt x="757461" y="252487"/>
                </a:lnTo>
                <a:lnTo>
                  <a:pt x="757461" y="330845"/>
                </a:lnTo>
                <a:lnTo>
                  <a:pt x="713929" y="330845"/>
                </a:lnTo>
                <a:lnTo>
                  <a:pt x="713929" y="983828"/>
                </a:lnTo>
                <a:cubicBezTo>
                  <a:pt x="713929" y="1027361"/>
                  <a:pt x="670397" y="1050578"/>
                  <a:pt x="583332" y="1053480"/>
                </a:cubicBezTo>
                <a:cubicBezTo>
                  <a:pt x="568821" y="1053480"/>
                  <a:pt x="561566" y="1047676"/>
                  <a:pt x="561566" y="1036067"/>
                </a:cubicBezTo>
                <a:cubicBezTo>
                  <a:pt x="561566" y="998339"/>
                  <a:pt x="544153" y="975122"/>
                  <a:pt x="509327" y="966415"/>
                </a:cubicBezTo>
                <a:lnTo>
                  <a:pt x="509327" y="953356"/>
                </a:lnTo>
                <a:cubicBezTo>
                  <a:pt x="578979" y="962062"/>
                  <a:pt x="610903" y="956258"/>
                  <a:pt x="605098" y="935943"/>
                </a:cubicBezTo>
                <a:lnTo>
                  <a:pt x="605098" y="330845"/>
                </a:lnTo>
                <a:lnTo>
                  <a:pt x="509327" y="330845"/>
                </a:lnTo>
                <a:lnTo>
                  <a:pt x="509327" y="252487"/>
                </a:lnTo>
                <a:lnTo>
                  <a:pt x="605098" y="252487"/>
                </a:lnTo>
                <a:close/>
                <a:moveTo>
                  <a:pt x="56592" y="4353"/>
                </a:moveTo>
                <a:cubicBezTo>
                  <a:pt x="134950" y="24668"/>
                  <a:pt x="182836" y="62396"/>
                  <a:pt x="200249" y="117537"/>
                </a:cubicBezTo>
                <a:cubicBezTo>
                  <a:pt x="214759" y="158167"/>
                  <a:pt x="201700" y="187189"/>
                  <a:pt x="161070" y="204601"/>
                </a:cubicBezTo>
                <a:cubicBezTo>
                  <a:pt x="123342" y="216210"/>
                  <a:pt x="100125" y="203150"/>
                  <a:pt x="91418" y="165422"/>
                </a:cubicBezTo>
                <a:cubicBezTo>
                  <a:pt x="85614" y="98673"/>
                  <a:pt x="71103" y="46434"/>
                  <a:pt x="47886" y="8706"/>
                </a:cubicBezTo>
                <a:close/>
                <a:moveTo>
                  <a:pt x="313432" y="0"/>
                </a:moveTo>
                <a:lnTo>
                  <a:pt x="430969" y="0"/>
                </a:lnTo>
                <a:cubicBezTo>
                  <a:pt x="413556" y="72554"/>
                  <a:pt x="383084" y="124792"/>
                  <a:pt x="339552" y="156716"/>
                </a:cubicBezTo>
                <a:lnTo>
                  <a:pt x="400497" y="156716"/>
                </a:lnTo>
                <a:lnTo>
                  <a:pt x="426616" y="117537"/>
                </a:lnTo>
                <a:lnTo>
                  <a:pt x="535447" y="152363"/>
                </a:lnTo>
                <a:lnTo>
                  <a:pt x="496268" y="204601"/>
                </a:lnTo>
                <a:lnTo>
                  <a:pt x="496268" y="975122"/>
                </a:lnTo>
                <a:cubicBezTo>
                  <a:pt x="499170" y="1024458"/>
                  <a:pt x="455638" y="1050578"/>
                  <a:pt x="365671" y="1053480"/>
                </a:cubicBezTo>
                <a:cubicBezTo>
                  <a:pt x="348258" y="1056382"/>
                  <a:pt x="341003" y="1047676"/>
                  <a:pt x="343905" y="1027361"/>
                </a:cubicBezTo>
                <a:cubicBezTo>
                  <a:pt x="343905" y="992535"/>
                  <a:pt x="322139" y="972220"/>
                  <a:pt x="278607" y="966415"/>
                </a:cubicBezTo>
                <a:lnTo>
                  <a:pt x="278607" y="953356"/>
                </a:lnTo>
                <a:cubicBezTo>
                  <a:pt x="371475" y="959160"/>
                  <a:pt x="413556" y="951905"/>
                  <a:pt x="404850" y="931590"/>
                </a:cubicBezTo>
                <a:lnTo>
                  <a:pt x="404850" y="766167"/>
                </a:lnTo>
                <a:cubicBezTo>
                  <a:pt x="341003" y="853232"/>
                  <a:pt x="272802" y="912726"/>
                  <a:pt x="200249" y="944649"/>
                </a:cubicBezTo>
                <a:lnTo>
                  <a:pt x="195895" y="935943"/>
                </a:lnTo>
                <a:cubicBezTo>
                  <a:pt x="245232" y="877900"/>
                  <a:pt x="294568" y="782129"/>
                  <a:pt x="343905" y="648630"/>
                </a:cubicBezTo>
                <a:lnTo>
                  <a:pt x="213308" y="648630"/>
                </a:lnTo>
                <a:lnTo>
                  <a:pt x="213308" y="583332"/>
                </a:lnTo>
                <a:lnTo>
                  <a:pt x="248134" y="583332"/>
                </a:lnTo>
                <a:lnTo>
                  <a:pt x="248134" y="130597"/>
                </a:lnTo>
                <a:lnTo>
                  <a:pt x="300373" y="130597"/>
                </a:lnTo>
                <a:cubicBezTo>
                  <a:pt x="311981" y="84162"/>
                  <a:pt x="316335" y="40630"/>
                  <a:pt x="313432"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40" name="文本框 39"/>
          <p:cNvSpPr txBox="1"/>
          <p:nvPr/>
        </p:nvSpPr>
        <p:spPr>
          <a:xfrm>
            <a:off x="6148718" y="2830973"/>
            <a:ext cx="766167" cy="1054879"/>
          </a:xfrm>
          <a:custGeom>
            <a:avLst/>
            <a:gdLst/>
            <a:ahLst/>
            <a:cxnLst/>
            <a:rect l="l" t="t" r="r" b="b"/>
            <a:pathLst>
              <a:path w="766167" h="1054879">
                <a:moveTo>
                  <a:pt x="478854" y="261193"/>
                </a:moveTo>
                <a:lnTo>
                  <a:pt x="578978" y="261193"/>
                </a:lnTo>
                <a:lnTo>
                  <a:pt x="578978" y="470148"/>
                </a:lnTo>
                <a:cubicBezTo>
                  <a:pt x="578978" y="548506"/>
                  <a:pt x="570272" y="619608"/>
                  <a:pt x="552859" y="683456"/>
                </a:cubicBezTo>
                <a:lnTo>
                  <a:pt x="635570" y="683456"/>
                </a:lnTo>
                <a:lnTo>
                  <a:pt x="635570" y="914177"/>
                </a:lnTo>
                <a:cubicBezTo>
                  <a:pt x="635570" y="922883"/>
                  <a:pt x="638472" y="927236"/>
                  <a:pt x="644277" y="927236"/>
                </a:cubicBezTo>
                <a:cubicBezTo>
                  <a:pt x="650081" y="927236"/>
                  <a:pt x="655885" y="924334"/>
                  <a:pt x="661690" y="918530"/>
                </a:cubicBezTo>
                <a:cubicBezTo>
                  <a:pt x="687809" y="874998"/>
                  <a:pt x="712477" y="824210"/>
                  <a:pt x="735694" y="766167"/>
                </a:cubicBezTo>
                <a:lnTo>
                  <a:pt x="748754" y="770520"/>
                </a:lnTo>
                <a:cubicBezTo>
                  <a:pt x="716830" y="854682"/>
                  <a:pt x="718281" y="908372"/>
                  <a:pt x="753107" y="931589"/>
                </a:cubicBezTo>
                <a:cubicBezTo>
                  <a:pt x="761814" y="937394"/>
                  <a:pt x="764716" y="941747"/>
                  <a:pt x="761814" y="944649"/>
                </a:cubicBezTo>
                <a:cubicBezTo>
                  <a:pt x="735694" y="1020105"/>
                  <a:pt x="690711" y="1056382"/>
                  <a:pt x="626864" y="1053480"/>
                </a:cubicBezTo>
                <a:cubicBezTo>
                  <a:pt x="539799" y="1062186"/>
                  <a:pt x="499169" y="1030262"/>
                  <a:pt x="504973" y="957709"/>
                </a:cubicBezTo>
                <a:lnTo>
                  <a:pt x="504973" y="792286"/>
                </a:lnTo>
                <a:cubicBezTo>
                  <a:pt x="458539" y="885155"/>
                  <a:pt x="358415" y="972220"/>
                  <a:pt x="204601" y="1053480"/>
                </a:cubicBezTo>
                <a:lnTo>
                  <a:pt x="200248" y="1040420"/>
                </a:lnTo>
                <a:cubicBezTo>
                  <a:pt x="385985" y="895313"/>
                  <a:pt x="478854" y="705222"/>
                  <a:pt x="478854" y="470148"/>
                </a:cubicBezTo>
                <a:close/>
                <a:moveTo>
                  <a:pt x="644277" y="0"/>
                </a:moveTo>
                <a:lnTo>
                  <a:pt x="766167" y="47885"/>
                </a:lnTo>
                <a:lnTo>
                  <a:pt x="726988" y="100124"/>
                </a:lnTo>
                <a:lnTo>
                  <a:pt x="726988" y="626864"/>
                </a:lnTo>
                <a:lnTo>
                  <a:pt x="605098" y="626864"/>
                </a:lnTo>
                <a:lnTo>
                  <a:pt x="605098" y="134950"/>
                </a:lnTo>
                <a:lnTo>
                  <a:pt x="452735" y="134950"/>
                </a:lnTo>
                <a:lnTo>
                  <a:pt x="452735" y="622511"/>
                </a:lnTo>
                <a:lnTo>
                  <a:pt x="335198" y="622511"/>
                </a:lnTo>
                <a:lnTo>
                  <a:pt x="330845" y="626864"/>
                </a:lnTo>
                <a:lnTo>
                  <a:pt x="330845" y="69651"/>
                </a:lnTo>
                <a:lnTo>
                  <a:pt x="300372" y="117537"/>
                </a:lnTo>
                <a:cubicBezTo>
                  <a:pt x="300372" y="280057"/>
                  <a:pt x="284410" y="415007"/>
                  <a:pt x="252487" y="522386"/>
                </a:cubicBezTo>
                <a:cubicBezTo>
                  <a:pt x="301823" y="618157"/>
                  <a:pt x="327942" y="703771"/>
                  <a:pt x="330845" y="779227"/>
                </a:cubicBezTo>
                <a:cubicBezTo>
                  <a:pt x="330845" y="837270"/>
                  <a:pt x="314883" y="872095"/>
                  <a:pt x="282959" y="883704"/>
                </a:cubicBezTo>
                <a:cubicBezTo>
                  <a:pt x="242329" y="889508"/>
                  <a:pt x="217661" y="866291"/>
                  <a:pt x="208954" y="814052"/>
                </a:cubicBezTo>
                <a:cubicBezTo>
                  <a:pt x="203150" y="767618"/>
                  <a:pt x="197346" y="726988"/>
                  <a:pt x="191541" y="692162"/>
                </a:cubicBezTo>
                <a:cubicBezTo>
                  <a:pt x="142205" y="790835"/>
                  <a:pt x="81260" y="869193"/>
                  <a:pt x="8706" y="927236"/>
                </a:cubicBezTo>
                <a:lnTo>
                  <a:pt x="0" y="922883"/>
                </a:lnTo>
                <a:cubicBezTo>
                  <a:pt x="63847" y="812601"/>
                  <a:pt x="111732" y="679102"/>
                  <a:pt x="143656" y="522386"/>
                </a:cubicBezTo>
                <a:cubicBezTo>
                  <a:pt x="120439" y="444028"/>
                  <a:pt x="87064" y="351160"/>
                  <a:pt x="43532" y="243780"/>
                </a:cubicBezTo>
                <a:cubicBezTo>
                  <a:pt x="40630" y="235074"/>
                  <a:pt x="37728" y="229269"/>
                  <a:pt x="34826" y="226367"/>
                </a:cubicBezTo>
                <a:lnTo>
                  <a:pt x="43532" y="217661"/>
                </a:lnTo>
                <a:cubicBezTo>
                  <a:pt x="84162" y="261193"/>
                  <a:pt x="126243" y="316334"/>
                  <a:pt x="169775" y="383083"/>
                </a:cubicBezTo>
                <a:cubicBezTo>
                  <a:pt x="181384" y="296019"/>
                  <a:pt x="187188" y="216210"/>
                  <a:pt x="187188" y="143656"/>
                </a:cubicBezTo>
                <a:lnTo>
                  <a:pt x="17413" y="143656"/>
                </a:lnTo>
                <a:lnTo>
                  <a:pt x="17413" y="65298"/>
                </a:lnTo>
                <a:lnTo>
                  <a:pt x="187188" y="65298"/>
                </a:lnTo>
                <a:lnTo>
                  <a:pt x="226367" y="13059"/>
                </a:lnTo>
                <a:lnTo>
                  <a:pt x="330845" y="56592"/>
                </a:lnTo>
                <a:lnTo>
                  <a:pt x="330845" y="8706"/>
                </a:lnTo>
                <a:lnTo>
                  <a:pt x="452735" y="8706"/>
                </a:lnTo>
                <a:lnTo>
                  <a:pt x="452735" y="56592"/>
                </a:lnTo>
                <a:lnTo>
                  <a:pt x="600744" y="56592"/>
                </a:ln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42" name="文本框 41"/>
          <p:cNvSpPr txBox="1"/>
          <p:nvPr/>
        </p:nvSpPr>
        <p:spPr>
          <a:xfrm>
            <a:off x="7011511" y="2830973"/>
            <a:ext cx="757461" cy="1057833"/>
          </a:xfrm>
          <a:custGeom>
            <a:avLst/>
            <a:gdLst/>
            <a:ahLst/>
            <a:cxnLst/>
            <a:rect l="l" t="t" r="r" b="b"/>
            <a:pathLst>
              <a:path w="757461" h="1057833">
                <a:moveTo>
                  <a:pt x="252487" y="892410"/>
                </a:moveTo>
                <a:lnTo>
                  <a:pt x="252487" y="940296"/>
                </a:lnTo>
                <a:lnTo>
                  <a:pt x="531093" y="940296"/>
                </a:lnTo>
                <a:lnTo>
                  <a:pt x="531093" y="892410"/>
                </a:lnTo>
                <a:close/>
                <a:moveTo>
                  <a:pt x="252487" y="761814"/>
                </a:moveTo>
                <a:lnTo>
                  <a:pt x="252487" y="818406"/>
                </a:lnTo>
                <a:lnTo>
                  <a:pt x="531093" y="818406"/>
                </a:lnTo>
                <a:lnTo>
                  <a:pt x="531093" y="761814"/>
                </a:lnTo>
                <a:close/>
                <a:moveTo>
                  <a:pt x="252487" y="635570"/>
                </a:moveTo>
                <a:lnTo>
                  <a:pt x="252487" y="692162"/>
                </a:lnTo>
                <a:lnTo>
                  <a:pt x="531093" y="692162"/>
                </a:lnTo>
                <a:lnTo>
                  <a:pt x="531093" y="635570"/>
                </a:lnTo>
                <a:close/>
                <a:moveTo>
                  <a:pt x="565919" y="0"/>
                </a:moveTo>
                <a:lnTo>
                  <a:pt x="687809" y="100124"/>
                </a:lnTo>
                <a:cubicBezTo>
                  <a:pt x="609451" y="123341"/>
                  <a:pt x="525289" y="136401"/>
                  <a:pt x="435322" y="139303"/>
                </a:cubicBezTo>
                <a:cubicBezTo>
                  <a:pt x="435322" y="145107"/>
                  <a:pt x="433871" y="155265"/>
                  <a:pt x="430969" y="169775"/>
                </a:cubicBezTo>
                <a:cubicBezTo>
                  <a:pt x="428067" y="187188"/>
                  <a:pt x="425165" y="198797"/>
                  <a:pt x="422263" y="204601"/>
                </a:cubicBezTo>
                <a:lnTo>
                  <a:pt x="692163" y="204601"/>
                </a:lnTo>
                <a:lnTo>
                  <a:pt x="692163" y="282959"/>
                </a:lnTo>
                <a:lnTo>
                  <a:pt x="400497" y="282959"/>
                </a:lnTo>
                <a:cubicBezTo>
                  <a:pt x="397594" y="291666"/>
                  <a:pt x="391790" y="306176"/>
                  <a:pt x="383084" y="326491"/>
                </a:cubicBezTo>
                <a:cubicBezTo>
                  <a:pt x="374377" y="349709"/>
                  <a:pt x="368573" y="365670"/>
                  <a:pt x="365671" y="374377"/>
                </a:cubicBezTo>
                <a:lnTo>
                  <a:pt x="757461" y="374377"/>
                </a:lnTo>
                <a:lnTo>
                  <a:pt x="757461" y="448382"/>
                </a:lnTo>
                <a:lnTo>
                  <a:pt x="326492" y="448382"/>
                </a:lnTo>
                <a:cubicBezTo>
                  <a:pt x="300372" y="489012"/>
                  <a:pt x="271351" y="526740"/>
                  <a:pt x="239427" y="561565"/>
                </a:cubicBezTo>
                <a:lnTo>
                  <a:pt x="522387" y="561565"/>
                </a:lnTo>
                <a:lnTo>
                  <a:pt x="557213" y="509327"/>
                </a:lnTo>
                <a:lnTo>
                  <a:pt x="692163" y="548506"/>
                </a:lnTo>
                <a:lnTo>
                  <a:pt x="657337" y="600744"/>
                </a:lnTo>
                <a:lnTo>
                  <a:pt x="657337" y="1057833"/>
                </a:lnTo>
                <a:lnTo>
                  <a:pt x="531093" y="1057833"/>
                </a:lnTo>
                <a:lnTo>
                  <a:pt x="531093" y="1009947"/>
                </a:lnTo>
                <a:lnTo>
                  <a:pt x="252487" y="1009947"/>
                </a:lnTo>
                <a:lnTo>
                  <a:pt x="252487" y="1057833"/>
                </a:lnTo>
                <a:lnTo>
                  <a:pt x="126244" y="1057833"/>
                </a:lnTo>
                <a:lnTo>
                  <a:pt x="126244" y="661690"/>
                </a:lnTo>
                <a:cubicBezTo>
                  <a:pt x="120439" y="664592"/>
                  <a:pt x="110282" y="670396"/>
                  <a:pt x="95771" y="679102"/>
                </a:cubicBezTo>
                <a:cubicBezTo>
                  <a:pt x="63847" y="699418"/>
                  <a:pt x="33375" y="716830"/>
                  <a:pt x="4353" y="731341"/>
                </a:cubicBezTo>
                <a:lnTo>
                  <a:pt x="0" y="722635"/>
                </a:lnTo>
                <a:cubicBezTo>
                  <a:pt x="84162" y="635570"/>
                  <a:pt x="149461" y="544153"/>
                  <a:pt x="195895" y="448382"/>
                </a:cubicBezTo>
                <a:lnTo>
                  <a:pt x="8707" y="448382"/>
                </a:lnTo>
                <a:lnTo>
                  <a:pt x="8707" y="374377"/>
                </a:lnTo>
                <a:lnTo>
                  <a:pt x="230721" y="374377"/>
                </a:lnTo>
                <a:cubicBezTo>
                  <a:pt x="242330" y="342453"/>
                  <a:pt x="253938" y="311981"/>
                  <a:pt x="265547" y="282959"/>
                </a:cubicBezTo>
                <a:lnTo>
                  <a:pt x="74005" y="282959"/>
                </a:lnTo>
                <a:lnTo>
                  <a:pt x="74005" y="204601"/>
                </a:lnTo>
                <a:lnTo>
                  <a:pt x="287313" y="204601"/>
                </a:lnTo>
                <a:cubicBezTo>
                  <a:pt x="287313" y="198797"/>
                  <a:pt x="290215" y="184286"/>
                  <a:pt x="296019" y="161069"/>
                </a:cubicBezTo>
                <a:cubicBezTo>
                  <a:pt x="298921" y="152363"/>
                  <a:pt x="300372" y="145107"/>
                  <a:pt x="300372" y="139303"/>
                </a:cubicBezTo>
                <a:cubicBezTo>
                  <a:pt x="236525" y="136401"/>
                  <a:pt x="153814" y="124792"/>
                  <a:pt x="52239" y="104477"/>
                </a:cubicBezTo>
                <a:lnTo>
                  <a:pt x="52239" y="91417"/>
                </a:lnTo>
                <a:cubicBezTo>
                  <a:pt x="240878" y="82711"/>
                  <a:pt x="412105" y="52238"/>
                  <a:pt x="565919"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12458</TotalTime>
  <Words>10599</Words>
  <Application>Microsoft Office PowerPoint</Application>
  <PresentationFormat>宽屏</PresentationFormat>
  <Paragraphs>837</Paragraphs>
  <Slides>76</Slides>
  <Notes>67</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76</vt:i4>
      </vt:variant>
    </vt:vector>
  </HeadingPairs>
  <TitlesOfParts>
    <vt:vector size="93" baseType="lpstr">
      <vt:lpstr>Inter</vt:lpstr>
      <vt:lpstr>pingfang SC</vt:lpstr>
      <vt:lpstr>PingFangSC-Regular</vt:lpstr>
      <vt:lpstr>等线</vt:lpstr>
      <vt:lpstr>方正美黑简体</vt:lpstr>
      <vt:lpstr>方正颜宋简体_大</vt:lpstr>
      <vt:lpstr>方正颜宋简体_中</vt:lpstr>
      <vt:lpstr>黑体</vt:lpstr>
      <vt:lpstr>华文中宋</vt:lpstr>
      <vt:lpstr>微软雅黑</vt:lpstr>
      <vt:lpstr>Arial</vt:lpstr>
      <vt:lpstr>Bauhaus 93</vt:lpstr>
      <vt:lpstr>Calibri</vt:lpstr>
      <vt:lpstr>Cambria Math</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dell</cp:lastModifiedBy>
  <cp:revision>978</cp:revision>
  <dcterms:created xsi:type="dcterms:W3CDTF">2023-07-27T09:00:19Z</dcterms:created>
  <dcterms:modified xsi:type="dcterms:W3CDTF">2026-07-15T10:45:49Z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99C1EA3A909EDAC79730C264AE7BE5BF_42</vt:lpwstr>
  </property>
  <property fmtid="{D5CDD505-2E9C-101B-9397-08002B2CF9AE}" pid="3" name="KSOProductBuildVer">
    <vt:lpwstr>2052-5.4.0.7910</vt:lpwstr>
  </property>
</Properties>
</file>